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BBD89F-D304-44FA-9312-65AF567DA420}" v="44" dt="2026-01-16T00:28:11.2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FBBA31AC-D69A-4B8F-A84D-0F01E4B53C10}" type="datetimeFigureOut">
              <a:rPr lang="en-US" smtClean="0"/>
              <a:t>1/15/2026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7658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BA31AC-D69A-4B8F-A84D-0F01E4B53C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6307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BA31AC-D69A-4B8F-A84D-0F01E4B53C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142507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3568388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BA31AC-D69A-4B8F-A84D-0F01E4B53C10}"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229713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BBA31AC-D69A-4B8F-A84D-0F01E4B53C10}"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783849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BA31AC-D69A-4B8F-A84D-0F01E4B53C10}"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1678240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420132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645460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1706643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1506297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727584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BA31AC-D69A-4B8F-A84D-0F01E4B53C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768387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BA31AC-D69A-4B8F-A84D-0F01E4B53C10}"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553255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BA31AC-D69A-4B8F-A84D-0F01E4B53C10}"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3870714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BA31AC-D69A-4B8F-A84D-0F01E4B53C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3632312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BA31AC-D69A-4B8F-A84D-0F01E4B53C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00BF55-2ABC-4B83-BF33-ED9A421A10A3}" type="slidenum">
              <a:rPr lang="en-US" smtClean="0"/>
              <a:t>‹#›</a:t>
            </a:fld>
            <a:endParaRPr lang="en-US"/>
          </a:p>
        </p:txBody>
      </p:sp>
    </p:spTree>
    <p:extLst>
      <p:ext uri="{BB962C8B-B14F-4D97-AF65-F5344CB8AC3E}">
        <p14:creationId xmlns:p14="http://schemas.microsoft.com/office/powerpoint/2010/main" val="122505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BBA31AC-D69A-4B8F-A84D-0F01E4B53C10}" type="datetimeFigureOut">
              <a:rPr lang="en-US" smtClean="0"/>
              <a:t>1/15/2026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F00BF55-2ABC-4B83-BF33-ED9A421A10A3}" type="slidenum">
              <a:rPr lang="en-US" smtClean="0"/>
              <a:t>‹#›</a:t>
            </a:fld>
            <a:endParaRPr lang="en-US"/>
          </a:p>
        </p:txBody>
      </p:sp>
    </p:spTree>
    <p:extLst>
      <p:ext uri="{BB962C8B-B14F-4D97-AF65-F5344CB8AC3E}">
        <p14:creationId xmlns:p14="http://schemas.microsoft.com/office/powerpoint/2010/main" val="1660551554"/>
      </p:ext>
    </p:extLst>
  </p:cSld>
  <p:clrMap bg1="dk1" tx1="lt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5AA99-8E76-E6FC-60D5-63A5CAD18D79}"/>
              </a:ext>
            </a:extLst>
          </p:cNvPr>
          <p:cNvSpPr>
            <a:spLocks noGrp="1"/>
          </p:cNvSpPr>
          <p:nvPr>
            <p:ph type="ctrTitle"/>
          </p:nvPr>
        </p:nvSpPr>
        <p:spPr>
          <a:xfrm>
            <a:off x="1170243" y="1271998"/>
            <a:ext cx="11054922" cy="3028925"/>
          </a:xfrm>
        </p:spPr>
        <p:txBody>
          <a:bodyPr>
            <a:normAutofit/>
          </a:bodyPr>
          <a:lstStyle/>
          <a:p>
            <a:pPr algn="ctr"/>
            <a:r>
              <a:rPr lang="en-US" sz="5000">
                <a:solidFill>
                  <a:schemeClr val="tx2">
                    <a:lumMod val="60000"/>
                    <a:lumOff val="40000"/>
                  </a:schemeClr>
                </a:solidFill>
              </a:rPr>
              <a:t>The Regulation of “Dopamine-Hacking," an Abuse of Biological Mechanisms by Companies and Software Engineers Alike</a:t>
            </a:r>
          </a:p>
        </p:txBody>
      </p:sp>
      <p:sp>
        <p:nvSpPr>
          <p:cNvPr id="3" name="Subtitle 2">
            <a:extLst>
              <a:ext uri="{FF2B5EF4-FFF2-40B4-BE49-F238E27FC236}">
                <a16:creationId xmlns:a16="http://schemas.microsoft.com/office/drawing/2014/main" id="{C18CE05A-3B6A-E0F5-483B-64B7C5727972}"/>
              </a:ext>
            </a:extLst>
          </p:cNvPr>
          <p:cNvSpPr>
            <a:spLocks noGrp="1"/>
          </p:cNvSpPr>
          <p:nvPr>
            <p:ph type="subTitle" idx="1"/>
          </p:nvPr>
        </p:nvSpPr>
        <p:spPr>
          <a:xfrm>
            <a:off x="3547052" y="4763647"/>
            <a:ext cx="9144000" cy="402872"/>
          </a:xfrm>
        </p:spPr>
        <p:txBody>
          <a:bodyPr>
            <a:normAutofit fontScale="92500" lnSpcReduction="10000"/>
          </a:bodyPr>
          <a:lstStyle/>
          <a:p>
            <a:r>
              <a:rPr lang="en-US">
                <a:solidFill>
                  <a:schemeClr val="accent5">
                    <a:lumMod val="60000"/>
                    <a:lumOff val="40000"/>
                  </a:schemeClr>
                </a:solidFill>
              </a:rPr>
              <a:t>By Garrett Brownlee</a:t>
            </a:r>
          </a:p>
        </p:txBody>
      </p:sp>
      <p:pic>
        <p:nvPicPr>
          <p:cNvPr id="6" name="Camera 5">
            <a:extLst>
              <a:ext uri="{FF2B5EF4-FFF2-40B4-BE49-F238E27FC236}">
                <a16:creationId xmlns:a16="http://schemas.microsoft.com/office/drawing/2014/main" id="{954C4356-48DC-C026-AB04-C8E3BD5C2E41}"/>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6382955" y="4229856"/>
            <a:ext cx="3970770" cy="2233558"/>
          </a:xfrm>
          <a:prstGeom prst="rect">
            <a:avLst/>
          </a:prstGeom>
          <a:ln>
            <a:solidFill>
              <a:schemeClr val="tx2"/>
            </a:solidFill>
          </a:ln>
          <a:effectLst>
            <a:softEdge rad="127000"/>
          </a:effectLst>
        </p:spPr>
      </p:pic>
    </p:spTree>
    <p:extLst>
      <p:ext uri="{BB962C8B-B14F-4D97-AF65-F5344CB8AC3E}">
        <p14:creationId xmlns:p14="http://schemas.microsoft.com/office/powerpoint/2010/main" val="2026135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AE4EA-9C56-1155-36E1-467CEC82EFF0}"/>
              </a:ext>
            </a:extLst>
          </p:cNvPr>
          <p:cNvSpPr>
            <a:spLocks noGrp="1"/>
          </p:cNvSpPr>
          <p:nvPr>
            <p:ph type="title"/>
          </p:nvPr>
        </p:nvSpPr>
        <p:spPr>
          <a:xfrm>
            <a:off x="1215317" y="291212"/>
            <a:ext cx="9761366" cy="1478570"/>
          </a:xfrm>
        </p:spPr>
        <p:txBody>
          <a:bodyPr>
            <a:normAutofit fontScale="90000"/>
          </a:bodyPr>
          <a:lstStyle/>
          <a:p>
            <a:pPr algn="ctr"/>
            <a:r>
              <a:rPr lang="en-US"/>
              <a:t>Testimonies from our fellow classmates highlight how this “brain-hijacking” struggle affects their lives</a:t>
            </a:r>
          </a:p>
        </p:txBody>
      </p:sp>
      <p:pic>
        <p:nvPicPr>
          <p:cNvPr id="4" name="Camera 3">
            <a:extLst>
              <a:ext uri="{FF2B5EF4-FFF2-40B4-BE49-F238E27FC236}">
                <a16:creationId xmlns:a16="http://schemas.microsoft.com/office/drawing/2014/main" id="{6B303DE0-F1BF-7DAE-9E12-D78419B66E91}"/>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3873763" y="4226785"/>
            <a:ext cx="4469712" cy="2514213"/>
          </a:xfrm>
          <a:prstGeom prst="rect">
            <a:avLst/>
          </a:prstGeom>
          <a:ln>
            <a:noFill/>
          </a:ln>
          <a:effectLst>
            <a:softEdge rad="127000"/>
          </a:effectLst>
        </p:spPr>
      </p:pic>
      <p:sp>
        <p:nvSpPr>
          <p:cNvPr id="5" name="TextBox 4">
            <a:extLst>
              <a:ext uri="{FF2B5EF4-FFF2-40B4-BE49-F238E27FC236}">
                <a16:creationId xmlns:a16="http://schemas.microsoft.com/office/drawing/2014/main" id="{19F0B29E-5C4D-F07D-83A5-21EE26809D7C}"/>
              </a:ext>
            </a:extLst>
          </p:cNvPr>
          <p:cNvSpPr txBox="1"/>
          <p:nvPr/>
        </p:nvSpPr>
        <p:spPr>
          <a:xfrm>
            <a:off x="440942" y="3009055"/>
            <a:ext cx="11751058" cy="1631216"/>
          </a:xfrm>
          <a:prstGeom prst="rect">
            <a:avLst/>
          </a:prstGeom>
          <a:noFill/>
        </p:spPr>
        <p:txBody>
          <a:bodyPr wrap="square" rtlCol="0">
            <a:spAutoFit/>
          </a:bodyPr>
          <a:lstStyle/>
          <a:p>
            <a:pPr marL="342900" indent="-342900">
              <a:buFont typeface="Arial" panose="020B0604020202020204" pitchFamily="34" charset="0"/>
              <a:buChar char="•"/>
            </a:pPr>
            <a:r>
              <a:rPr lang="en-US" sz="2000"/>
              <a:t>Another classmate of ours, Marlee Wilson, was kind enough to share how they also have been personally impacted, saying, “While I can't recall a specific instance of this, I know it has happened to me multiple times. It makes me so sad to think that I am not being aware or hospitable to people that I care about when I'm on my phone!”</a:t>
            </a:r>
          </a:p>
          <a:p>
            <a:endParaRPr lang="en-US" sz="2000"/>
          </a:p>
        </p:txBody>
      </p:sp>
      <p:sp>
        <p:nvSpPr>
          <p:cNvPr id="6" name="TextBox 5">
            <a:extLst>
              <a:ext uri="{FF2B5EF4-FFF2-40B4-BE49-F238E27FC236}">
                <a16:creationId xmlns:a16="http://schemas.microsoft.com/office/drawing/2014/main" id="{6A95A9F5-90EB-CB4D-052D-CAC87D80A8D7}"/>
              </a:ext>
            </a:extLst>
          </p:cNvPr>
          <p:cNvSpPr txBox="1"/>
          <p:nvPr/>
        </p:nvSpPr>
        <p:spPr>
          <a:xfrm>
            <a:off x="1151251" y="1822101"/>
            <a:ext cx="9914736" cy="1292662"/>
          </a:xfrm>
          <a:prstGeom prst="rect">
            <a:avLst/>
          </a:prstGeom>
          <a:noFill/>
        </p:spPr>
        <p:txBody>
          <a:bodyPr wrap="square" rtlCol="0">
            <a:spAutoFit/>
          </a:bodyPr>
          <a:lstStyle/>
          <a:p>
            <a:pPr marL="285750" indent="-285750">
              <a:buFont typeface="Arial" panose="020B0604020202020204" pitchFamily="34" charset="0"/>
              <a:buChar char="•"/>
            </a:pPr>
            <a:r>
              <a:rPr lang="en-US" sz="2000"/>
              <a:t>Our peer, Rosalynd Van Pelt, said this: “When I had difficult papers to write, I lost motivation and used scrolling as a way to forget it. Even if the app had an automated suggested break, my attention was already too low to consider my present moment.” </a:t>
            </a:r>
          </a:p>
          <a:p>
            <a:endParaRPr lang="en-US"/>
          </a:p>
        </p:txBody>
      </p:sp>
    </p:spTree>
    <p:extLst>
      <p:ext uri="{BB962C8B-B14F-4D97-AF65-F5344CB8AC3E}">
        <p14:creationId xmlns:p14="http://schemas.microsoft.com/office/powerpoint/2010/main" val="1301053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38CFD-5A4D-6DF0-B9FD-907B22A2C368}"/>
              </a:ext>
            </a:extLst>
          </p:cNvPr>
          <p:cNvSpPr>
            <a:spLocks noGrp="1"/>
          </p:cNvSpPr>
          <p:nvPr>
            <p:ph type="title"/>
          </p:nvPr>
        </p:nvSpPr>
        <p:spPr/>
        <p:txBody>
          <a:bodyPr/>
          <a:lstStyle/>
          <a:p>
            <a:r>
              <a:rPr lang="en-US" b="1"/>
              <a:t>Credibility &amp; Thesis</a:t>
            </a:r>
            <a:endParaRPr lang="en-US"/>
          </a:p>
        </p:txBody>
      </p:sp>
      <p:sp>
        <p:nvSpPr>
          <p:cNvPr id="3" name="Content Placeholder 2">
            <a:extLst>
              <a:ext uri="{FF2B5EF4-FFF2-40B4-BE49-F238E27FC236}">
                <a16:creationId xmlns:a16="http://schemas.microsoft.com/office/drawing/2014/main" id="{E198F5CE-10AE-D340-FFF7-526775FAACC2}"/>
              </a:ext>
            </a:extLst>
          </p:cNvPr>
          <p:cNvSpPr>
            <a:spLocks noGrp="1"/>
          </p:cNvSpPr>
          <p:nvPr>
            <p:ph idx="1"/>
          </p:nvPr>
        </p:nvSpPr>
        <p:spPr/>
        <p:txBody>
          <a:bodyPr/>
          <a:lstStyle/>
          <a:p>
            <a:endParaRPr lang="en-US"/>
          </a:p>
        </p:txBody>
      </p:sp>
      <p:pic>
        <p:nvPicPr>
          <p:cNvPr id="4" name="Camera 3">
            <a:extLst>
              <a:ext uri="{FF2B5EF4-FFF2-40B4-BE49-F238E27FC236}">
                <a16:creationId xmlns:a16="http://schemas.microsoft.com/office/drawing/2014/main" id="{185545FB-94B8-A40F-EB0B-EB29D7F5A58F}"/>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24634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E65F9E-6DDD-1F9D-B40D-694A11E4BA8F}"/>
              </a:ext>
            </a:extLst>
          </p:cNvPr>
          <p:cNvSpPr>
            <a:spLocks noGrp="1"/>
          </p:cNvSpPr>
          <p:nvPr>
            <p:ph idx="1"/>
          </p:nvPr>
        </p:nvSpPr>
        <p:spPr>
          <a:xfrm>
            <a:off x="586787" y="2517401"/>
            <a:ext cx="10794193" cy="2947145"/>
          </a:xfrm>
        </p:spPr>
        <p:txBody>
          <a:bodyPr>
            <a:normAutofit lnSpcReduction="10000"/>
          </a:bodyPr>
          <a:lstStyle/>
          <a:p>
            <a:pPr lvl="0"/>
            <a:r>
              <a:rPr lang="en-US"/>
              <a:t>Subpoint #1: One primary method of “dopamine-hijacking” is utilizing it to lock users into an “infinite scroll” (better known to some of you as the “doom scroll”) so that their product becomes your primary focus, and you forget all your pressing responsibilities</a:t>
            </a:r>
          </a:p>
          <a:p>
            <a:pPr lvl="1"/>
            <a:r>
              <a:rPr lang="en-US"/>
              <a:t>Sub-Subpoint: Software engineers utilize "infinite scroll" to remove natural stopping points, keeping users in a state of constant consumption.</a:t>
            </a:r>
          </a:p>
          <a:p>
            <a:pPr lvl="1"/>
            <a:r>
              <a:rPr lang="en-US"/>
              <a:t>Sub-Subpoint: This design choice prevents the brain from processing the "completion" of a task, leading to the "brain fry" many of us feel.</a:t>
            </a:r>
          </a:p>
          <a:p>
            <a:endParaRPr lang="en-US"/>
          </a:p>
        </p:txBody>
      </p:sp>
      <p:pic>
        <p:nvPicPr>
          <p:cNvPr id="4" name="Camera 3">
            <a:extLst>
              <a:ext uri="{FF2B5EF4-FFF2-40B4-BE49-F238E27FC236}">
                <a16:creationId xmlns:a16="http://schemas.microsoft.com/office/drawing/2014/main" id="{757DCEBD-2736-B920-D7AE-69B68F643BE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506279" y="5202456"/>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8EC81352-1F3E-CC41-82D1-21140EDADA9F}"/>
              </a:ext>
            </a:extLst>
          </p:cNvPr>
          <p:cNvSpPr txBox="1"/>
          <p:nvPr/>
        </p:nvSpPr>
        <p:spPr>
          <a:xfrm>
            <a:off x="4800113" y="241317"/>
            <a:ext cx="2591771" cy="605717"/>
          </a:xfrm>
          <a:prstGeom prst="rect">
            <a:avLst/>
          </a:prstGeom>
          <a:noFill/>
        </p:spPr>
        <p:txBody>
          <a:bodyPr wrap="square" rtlCol="0">
            <a:spAutoFit/>
          </a:bodyPr>
          <a:lstStyle/>
          <a:p>
            <a:r>
              <a:rPr lang="en-US" sz="3200" b="1"/>
              <a:t>Main Point #1</a:t>
            </a:r>
          </a:p>
        </p:txBody>
      </p:sp>
      <p:sp>
        <p:nvSpPr>
          <p:cNvPr id="8" name="TextBox 7">
            <a:extLst>
              <a:ext uri="{FF2B5EF4-FFF2-40B4-BE49-F238E27FC236}">
                <a16:creationId xmlns:a16="http://schemas.microsoft.com/office/drawing/2014/main" id="{61D9799F-B565-7516-CC53-7978A49BFF9B}"/>
              </a:ext>
            </a:extLst>
          </p:cNvPr>
          <p:cNvSpPr txBox="1"/>
          <p:nvPr/>
        </p:nvSpPr>
        <p:spPr>
          <a:xfrm>
            <a:off x="883336" y="847034"/>
            <a:ext cx="10794193" cy="1292662"/>
          </a:xfrm>
          <a:prstGeom prst="rect">
            <a:avLst/>
          </a:prstGeom>
          <a:noFill/>
        </p:spPr>
        <p:txBody>
          <a:bodyPr wrap="square" rtlCol="0">
            <a:spAutoFit/>
          </a:bodyPr>
          <a:lstStyle/>
          <a:p>
            <a:pPr algn="ctr"/>
            <a:r>
              <a:rPr lang="en-US" sz="2600" i="1"/>
              <a:t>There are numerous mechanisms behind how technology companies and software developers intentionally exploit the dopamine systems of our neurobiology, which keep us engaged with their product or provided service.</a:t>
            </a:r>
          </a:p>
        </p:txBody>
      </p:sp>
    </p:spTree>
    <p:extLst>
      <p:ext uri="{BB962C8B-B14F-4D97-AF65-F5344CB8AC3E}">
        <p14:creationId xmlns:p14="http://schemas.microsoft.com/office/powerpoint/2010/main" val="4047561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C2BF2-CF35-762A-DD02-61D5295FF2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A0AAF-3FA6-2133-7AE1-AB57624EBD52}"/>
              </a:ext>
            </a:extLst>
          </p:cNvPr>
          <p:cNvSpPr>
            <a:spLocks noGrp="1"/>
          </p:cNvSpPr>
          <p:nvPr>
            <p:ph idx="1"/>
          </p:nvPr>
        </p:nvSpPr>
        <p:spPr>
          <a:xfrm>
            <a:off x="518351" y="2576029"/>
            <a:ext cx="11159178" cy="3434936"/>
          </a:xfrm>
        </p:spPr>
        <p:txBody>
          <a:bodyPr>
            <a:normAutofit/>
          </a:bodyPr>
          <a:lstStyle/>
          <a:p>
            <a:r>
              <a:rPr lang="en-US"/>
              <a:t>Subpoint #2: Another primary method of dopamine-hijacking is the use of variable-ratio reinforcement.</a:t>
            </a:r>
          </a:p>
          <a:p>
            <a:pPr lvl="1"/>
            <a:r>
              <a:rPr lang="en-US"/>
              <a:t>Sub-Subpoint: According to research by Montag et al. (2019), these features are specifically designed to trigger a physiological addiction response rather than a choice.  </a:t>
            </a:r>
          </a:p>
          <a:p>
            <a:pPr lvl="1"/>
            <a:r>
              <a:rPr lang="en-US"/>
              <a:t>Sub-Subpoint: This tactic targets internal reward circuits, making the "addiction" a result of intentional engineering.</a:t>
            </a:r>
          </a:p>
          <a:p>
            <a:endParaRPr lang="en-US"/>
          </a:p>
        </p:txBody>
      </p:sp>
      <p:pic>
        <p:nvPicPr>
          <p:cNvPr id="4" name="Camera 3">
            <a:extLst>
              <a:ext uri="{FF2B5EF4-FFF2-40B4-BE49-F238E27FC236}">
                <a16:creationId xmlns:a16="http://schemas.microsoft.com/office/drawing/2014/main" id="{8678896F-5CCA-7704-97B0-DDC9E1CE88FA}"/>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506279" y="5202456"/>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761F618B-20FB-79CF-EBFF-0BD6CAF6D53C}"/>
              </a:ext>
            </a:extLst>
          </p:cNvPr>
          <p:cNvSpPr txBox="1"/>
          <p:nvPr/>
        </p:nvSpPr>
        <p:spPr>
          <a:xfrm>
            <a:off x="4800113" y="241317"/>
            <a:ext cx="2591771" cy="605717"/>
          </a:xfrm>
          <a:prstGeom prst="rect">
            <a:avLst/>
          </a:prstGeom>
          <a:noFill/>
        </p:spPr>
        <p:txBody>
          <a:bodyPr wrap="square" rtlCol="0">
            <a:spAutoFit/>
          </a:bodyPr>
          <a:lstStyle/>
          <a:p>
            <a:r>
              <a:rPr lang="en-US" sz="3200" b="1"/>
              <a:t>Main Point #1</a:t>
            </a:r>
          </a:p>
        </p:txBody>
      </p:sp>
      <p:sp>
        <p:nvSpPr>
          <p:cNvPr id="8" name="TextBox 7">
            <a:extLst>
              <a:ext uri="{FF2B5EF4-FFF2-40B4-BE49-F238E27FC236}">
                <a16:creationId xmlns:a16="http://schemas.microsoft.com/office/drawing/2014/main" id="{9F686C8B-43C3-CA90-066D-D26D315EFC3A}"/>
              </a:ext>
            </a:extLst>
          </p:cNvPr>
          <p:cNvSpPr txBox="1"/>
          <p:nvPr/>
        </p:nvSpPr>
        <p:spPr>
          <a:xfrm>
            <a:off x="883336" y="847034"/>
            <a:ext cx="10794193" cy="1292662"/>
          </a:xfrm>
          <a:prstGeom prst="rect">
            <a:avLst/>
          </a:prstGeom>
          <a:noFill/>
        </p:spPr>
        <p:txBody>
          <a:bodyPr wrap="square" rtlCol="0">
            <a:spAutoFit/>
          </a:bodyPr>
          <a:lstStyle/>
          <a:p>
            <a:pPr algn="ctr"/>
            <a:r>
              <a:rPr lang="en-US" sz="2600" i="1"/>
              <a:t>There are numerous mechanisms behind how technology companies and software developers intentionally exploit the dopamine systems of our neurobiology, which keep us engaged with their product or provided service.</a:t>
            </a:r>
          </a:p>
        </p:txBody>
      </p:sp>
    </p:spTree>
    <p:extLst>
      <p:ext uri="{BB962C8B-B14F-4D97-AF65-F5344CB8AC3E}">
        <p14:creationId xmlns:p14="http://schemas.microsoft.com/office/powerpoint/2010/main" val="3379086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19D3-631B-3028-A07B-97BC606AF0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CDC744-E94F-4DD5-EE8C-8AC73A557E43}"/>
              </a:ext>
            </a:extLst>
          </p:cNvPr>
          <p:cNvSpPr>
            <a:spLocks noGrp="1"/>
          </p:cNvSpPr>
          <p:nvPr>
            <p:ph idx="1"/>
          </p:nvPr>
        </p:nvSpPr>
        <p:spPr>
          <a:xfrm>
            <a:off x="658132" y="2820259"/>
            <a:ext cx="11159178" cy="2743297"/>
          </a:xfrm>
        </p:spPr>
        <p:txBody>
          <a:bodyPr>
            <a:normAutofit/>
          </a:bodyPr>
          <a:lstStyle/>
          <a:p>
            <a:pPr lvl="0"/>
            <a:r>
              <a:rPr lang="en-US"/>
              <a:t>Subpoint #3: Dopamine-hijacking’s impact on student well-being.</a:t>
            </a:r>
          </a:p>
          <a:p>
            <a:pPr lvl="1"/>
            <a:r>
              <a:rPr lang="en-US"/>
              <a:t>Sub-Subpoint: This exploitation leads to significant sleep problems and academic struggles for students in our generation (Center for Humane Technology, 2023).</a:t>
            </a:r>
          </a:p>
          <a:p>
            <a:pPr lvl="1"/>
            <a:r>
              <a:rPr lang="en-US"/>
              <a:t>Sub-Subpoint: My fellow classmates are essentially the "victims" of these strategies, facing daily battles with their own focus.</a:t>
            </a:r>
          </a:p>
          <a:p>
            <a:endParaRPr lang="en-US"/>
          </a:p>
        </p:txBody>
      </p:sp>
      <p:pic>
        <p:nvPicPr>
          <p:cNvPr id="4" name="Camera 3">
            <a:extLst>
              <a:ext uri="{FF2B5EF4-FFF2-40B4-BE49-F238E27FC236}">
                <a16:creationId xmlns:a16="http://schemas.microsoft.com/office/drawing/2014/main" id="{F4C341C2-723D-3710-AED6-C9837655FFEC}"/>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506279" y="5202456"/>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58ABD951-A631-F26C-E5FC-0E58B5B70696}"/>
              </a:ext>
            </a:extLst>
          </p:cNvPr>
          <p:cNvSpPr txBox="1"/>
          <p:nvPr/>
        </p:nvSpPr>
        <p:spPr>
          <a:xfrm>
            <a:off x="4800113" y="241317"/>
            <a:ext cx="2591771" cy="605717"/>
          </a:xfrm>
          <a:prstGeom prst="rect">
            <a:avLst/>
          </a:prstGeom>
          <a:noFill/>
        </p:spPr>
        <p:txBody>
          <a:bodyPr wrap="square" rtlCol="0">
            <a:spAutoFit/>
          </a:bodyPr>
          <a:lstStyle/>
          <a:p>
            <a:r>
              <a:rPr lang="en-US" sz="3200" b="1"/>
              <a:t>Main Point #1</a:t>
            </a:r>
          </a:p>
        </p:txBody>
      </p:sp>
      <p:sp>
        <p:nvSpPr>
          <p:cNvPr id="8" name="TextBox 7">
            <a:extLst>
              <a:ext uri="{FF2B5EF4-FFF2-40B4-BE49-F238E27FC236}">
                <a16:creationId xmlns:a16="http://schemas.microsoft.com/office/drawing/2014/main" id="{2EC62517-4144-3C3E-2613-DDB5D0AE2C7C}"/>
              </a:ext>
            </a:extLst>
          </p:cNvPr>
          <p:cNvSpPr txBox="1"/>
          <p:nvPr/>
        </p:nvSpPr>
        <p:spPr>
          <a:xfrm>
            <a:off x="883336" y="847034"/>
            <a:ext cx="10794193" cy="1292662"/>
          </a:xfrm>
          <a:prstGeom prst="rect">
            <a:avLst/>
          </a:prstGeom>
          <a:noFill/>
        </p:spPr>
        <p:txBody>
          <a:bodyPr wrap="square" rtlCol="0">
            <a:spAutoFit/>
          </a:bodyPr>
          <a:lstStyle/>
          <a:p>
            <a:pPr algn="ctr"/>
            <a:r>
              <a:rPr lang="en-US" sz="2600" i="1"/>
              <a:t>There are numerous mechanisms behind how technology companies and software developers intentionally exploit the dopamine systems of our neurobiology, which keep us engaged with their product or provided service.</a:t>
            </a:r>
          </a:p>
        </p:txBody>
      </p:sp>
    </p:spTree>
    <p:extLst>
      <p:ext uri="{BB962C8B-B14F-4D97-AF65-F5344CB8AC3E}">
        <p14:creationId xmlns:p14="http://schemas.microsoft.com/office/powerpoint/2010/main" val="54427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437D-458D-2FB4-AE7C-A5AD098088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F940BA-7212-F9DB-9968-9319021AADA2}"/>
              </a:ext>
            </a:extLst>
          </p:cNvPr>
          <p:cNvSpPr>
            <a:spLocks noGrp="1"/>
          </p:cNvSpPr>
          <p:nvPr>
            <p:ph idx="1"/>
          </p:nvPr>
        </p:nvSpPr>
        <p:spPr>
          <a:xfrm>
            <a:off x="698901" y="2459159"/>
            <a:ext cx="11159178" cy="2743297"/>
          </a:xfrm>
        </p:spPr>
        <p:txBody>
          <a:bodyPr>
            <a:normAutofit/>
          </a:bodyPr>
          <a:lstStyle/>
          <a:p>
            <a:pPr lvl="0"/>
            <a:r>
              <a:rPr lang="en-US"/>
              <a:t>Subpoint #1: We must address the counterargument that distraction is merely a "failure of willpower.“</a:t>
            </a:r>
          </a:p>
          <a:p>
            <a:pPr lvl="1"/>
            <a:r>
              <a:rPr lang="en-US"/>
              <a:t>Sub-Subpoint: A common belief is that distraction is a personal failure, but neuroimaging evidence shows that these apps actually suppress the prefrontal cortex (Lorenz, R. C., et al. (2015)).</a:t>
            </a:r>
          </a:p>
          <a:p>
            <a:pPr lvl="1"/>
            <a:r>
              <a:rPr lang="en-US"/>
              <a:t>Sub-Subpoint: Because this area of the brain is required for executive function, users are biologically disadvantaged when trying to resist.</a:t>
            </a:r>
          </a:p>
          <a:p>
            <a:endParaRPr lang="en-US"/>
          </a:p>
        </p:txBody>
      </p:sp>
      <p:pic>
        <p:nvPicPr>
          <p:cNvPr id="4" name="Camera 3">
            <a:extLst>
              <a:ext uri="{FF2B5EF4-FFF2-40B4-BE49-F238E27FC236}">
                <a16:creationId xmlns:a16="http://schemas.microsoft.com/office/drawing/2014/main" id="{40D7A124-335E-D18C-EFD5-A93ADD564B06}"/>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506279" y="5202456"/>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B4F1C42C-079D-DB0E-F20C-64742760DDE4}"/>
              </a:ext>
            </a:extLst>
          </p:cNvPr>
          <p:cNvSpPr txBox="1"/>
          <p:nvPr/>
        </p:nvSpPr>
        <p:spPr>
          <a:xfrm>
            <a:off x="4683629" y="229669"/>
            <a:ext cx="2591771" cy="605717"/>
          </a:xfrm>
          <a:prstGeom prst="rect">
            <a:avLst/>
          </a:prstGeom>
          <a:noFill/>
        </p:spPr>
        <p:txBody>
          <a:bodyPr wrap="square" rtlCol="0">
            <a:spAutoFit/>
          </a:bodyPr>
          <a:lstStyle/>
          <a:p>
            <a:r>
              <a:rPr lang="en-US" sz="3200" b="1"/>
              <a:t>Main Point #2</a:t>
            </a:r>
          </a:p>
        </p:txBody>
      </p:sp>
      <p:sp>
        <p:nvSpPr>
          <p:cNvPr id="8" name="TextBox 7">
            <a:extLst>
              <a:ext uri="{FF2B5EF4-FFF2-40B4-BE49-F238E27FC236}">
                <a16:creationId xmlns:a16="http://schemas.microsoft.com/office/drawing/2014/main" id="{C9F75B9D-B00D-5CD7-1F72-88110BDABB0E}"/>
              </a:ext>
            </a:extLst>
          </p:cNvPr>
          <p:cNvSpPr txBox="1"/>
          <p:nvPr/>
        </p:nvSpPr>
        <p:spPr>
          <a:xfrm>
            <a:off x="698901" y="1002056"/>
            <a:ext cx="10794193" cy="584775"/>
          </a:xfrm>
          <a:prstGeom prst="rect">
            <a:avLst/>
          </a:prstGeom>
          <a:noFill/>
        </p:spPr>
        <p:txBody>
          <a:bodyPr wrap="square" rtlCol="0">
            <a:spAutoFit/>
          </a:bodyPr>
          <a:lstStyle/>
          <a:p>
            <a:pPr algn="ctr"/>
            <a:r>
              <a:rPr lang="en-US" sz="3200" i="1"/>
              <a:t>We must shift from "self-control" to policy-based solutions</a:t>
            </a:r>
          </a:p>
        </p:txBody>
      </p:sp>
    </p:spTree>
    <p:extLst>
      <p:ext uri="{BB962C8B-B14F-4D97-AF65-F5344CB8AC3E}">
        <p14:creationId xmlns:p14="http://schemas.microsoft.com/office/powerpoint/2010/main" val="227385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AD55B-FC50-7E92-5850-AD71234694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9ACC9-7598-38FE-C8D7-8D1B4B44C8C6}"/>
              </a:ext>
            </a:extLst>
          </p:cNvPr>
          <p:cNvSpPr>
            <a:spLocks noGrp="1"/>
          </p:cNvSpPr>
          <p:nvPr>
            <p:ph idx="1"/>
          </p:nvPr>
        </p:nvSpPr>
        <p:spPr>
          <a:xfrm>
            <a:off x="658131" y="2820260"/>
            <a:ext cx="11159178" cy="2743297"/>
          </a:xfrm>
        </p:spPr>
        <p:txBody>
          <a:bodyPr>
            <a:normAutofit/>
          </a:bodyPr>
          <a:lstStyle/>
          <a:p>
            <a:pPr lvl="0"/>
            <a:r>
              <a:rPr lang="en-US"/>
              <a:t>Subpoint #2: Benefits and procedure for implementing neuro-ethical design standards.</a:t>
            </a:r>
          </a:p>
          <a:p>
            <a:pPr lvl="1"/>
            <a:r>
              <a:rPr lang="en-US"/>
              <a:t>Sub-Subpoint: We must support legislative policies, like the SMART Act, to limit exploitative features used in software engineering (SMART Act, S.2314, 116th Cong. (2019)).</a:t>
            </a:r>
          </a:p>
          <a:p>
            <a:pPr lvl="1"/>
            <a:r>
              <a:rPr lang="en-US"/>
              <a:t>Sub-Subpoint: This act aims to ban the very features, such as auto-play and infinite scroll, that create the dopamine loops we've discussed.</a:t>
            </a:r>
          </a:p>
          <a:p>
            <a:endParaRPr lang="en-US"/>
          </a:p>
        </p:txBody>
      </p:sp>
      <p:pic>
        <p:nvPicPr>
          <p:cNvPr id="4" name="Camera 3">
            <a:extLst>
              <a:ext uri="{FF2B5EF4-FFF2-40B4-BE49-F238E27FC236}">
                <a16:creationId xmlns:a16="http://schemas.microsoft.com/office/drawing/2014/main" id="{CFD4ABC5-889F-7EE1-5A22-32B944C61C11}"/>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506279" y="5202456"/>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F6C879CA-4B90-8022-1198-7E800F226A33}"/>
              </a:ext>
            </a:extLst>
          </p:cNvPr>
          <p:cNvSpPr txBox="1"/>
          <p:nvPr/>
        </p:nvSpPr>
        <p:spPr>
          <a:xfrm>
            <a:off x="4683629" y="229669"/>
            <a:ext cx="2591771" cy="605717"/>
          </a:xfrm>
          <a:prstGeom prst="rect">
            <a:avLst/>
          </a:prstGeom>
          <a:noFill/>
        </p:spPr>
        <p:txBody>
          <a:bodyPr wrap="square" rtlCol="0">
            <a:spAutoFit/>
          </a:bodyPr>
          <a:lstStyle/>
          <a:p>
            <a:r>
              <a:rPr lang="en-US" sz="3200" b="1"/>
              <a:t>Main Point #2</a:t>
            </a:r>
          </a:p>
        </p:txBody>
      </p:sp>
      <p:sp>
        <p:nvSpPr>
          <p:cNvPr id="8" name="TextBox 7">
            <a:extLst>
              <a:ext uri="{FF2B5EF4-FFF2-40B4-BE49-F238E27FC236}">
                <a16:creationId xmlns:a16="http://schemas.microsoft.com/office/drawing/2014/main" id="{F3065845-2D6C-CDB9-389E-20A14AB38451}"/>
              </a:ext>
            </a:extLst>
          </p:cNvPr>
          <p:cNvSpPr txBox="1"/>
          <p:nvPr/>
        </p:nvSpPr>
        <p:spPr>
          <a:xfrm>
            <a:off x="698901" y="1002056"/>
            <a:ext cx="10794193" cy="584775"/>
          </a:xfrm>
          <a:prstGeom prst="rect">
            <a:avLst/>
          </a:prstGeom>
          <a:noFill/>
        </p:spPr>
        <p:txBody>
          <a:bodyPr wrap="square" rtlCol="0">
            <a:spAutoFit/>
          </a:bodyPr>
          <a:lstStyle/>
          <a:p>
            <a:pPr algn="ctr"/>
            <a:r>
              <a:rPr lang="en-US" sz="3200" i="1"/>
              <a:t>We must shift from "self-control" to policy-based solutions</a:t>
            </a:r>
          </a:p>
        </p:txBody>
      </p:sp>
    </p:spTree>
    <p:extLst>
      <p:ext uri="{BB962C8B-B14F-4D97-AF65-F5344CB8AC3E}">
        <p14:creationId xmlns:p14="http://schemas.microsoft.com/office/powerpoint/2010/main" val="3053095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163F9-F256-88E9-03BD-DD924C6474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56C365-12BD-6A20-CBA4-CC03792A1656}"/>
              </a:ext>
            </a:extLst>
          </p:cNvPr>
          <p:cNvSpPr>
            <a:spLocks noGrp="1"/>
          </p:cNvSpPr>
          <p:nvPr>
            <p:ph idx="1"/>
          </p:nvPr>
        </p:nvSpPr>
        <p:spPr>
          <a:xfrm>
            <a:off x="698901" y="2709600"/>
            <a:ext cx="11159178" cy="2743297"/>
          </a:xfrm>
        </p:spPr>
        <p:txBody>
          <a:bodyPr>
            <a:normAutofit/>
          </a:bodyPr>
          <a:lstStyle/>
          <a:p>
            <a:pPr lvl="0"/>
            <a:r>
              <a:rPr lang="en-US"/>
              <a:t>Subpoint #3: Shifting the burden of responsibility from the individual onto the policy-makers and developers</a:t>
            </a:r>
          </a:p>
          <a:p>
            <a:pPr lvl="1"/>
            <a:r>
              <a:rPr lang="en-US"/>
              <a:t>Sub-Subpoint: My goal is to pursue a career where I serve people and protect their health; this starts with advocating for neuro-ethics (Bhargava, V. R., &amp; Velasquez, M. (2021)).</a:t>
            </a:r>
          </a:p>
          <a:p>
            <a:pPr lvl="1"/>
            <a:r>
              <a:rPr lang="en-US"/>
              <a:t>Sub-Subpoint: Policy restores cognitive autonomy by ensuring companies can no longer operate outside the confines of law.</a:t>
            </a:r>
          </a:p>
        </p:txBody>
      </p:sp>
      <p:pic>
        <p:nvPicPr>
          <p:cNvPr id="4" name="Camera 3">
            <a:extLst>
              <a:ext uri="{FF2B5EF4-FFF2-40B4-BE49-F238E27FC236}">
                <a16:creationId xmlns:a16="http://schemas.microsoft.com/office/drawing/2014/main" id="{FBECCCBA-64B9-6AC9-48AF-188DF3B1490B}"/>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506279" y="5202456"/>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EC853CF6-4EEE-37B8-2876-32BED8137289}"/>
              </a:ext>
            </a:extLst>
          </p:cNvPr>
          <p:cNvSpPr txBox="1"/>
          <p:nvPr/>
        </p:nvSpPr>
        <p:spPr>
          <a:xfrm>
            <a:off x="4683629" y="229669"/>
            <a:ext cx="2591771" cy="605717"/>
          </a:xfrm>
          <a:prstGeom prst="rect">
            <a:avLst/>
          </a:prstGeom>
          <a:noFill/>
        </p:spPr>
        <p:txBody>
          <a:bodyPr wrap="square" rtlCol="0">
            <a:spAutoFit/>
          </a:bodyPr>
          <a:lstStyle/>
          <a:p>
            <a:r>
              <a:rPr lang="en-US" sz="3200" b="1"/>
              <a:t>Main Point #2</a:t>
            </a:r>
          </a:p>
        </p:txBody>
      </p:sp>
      <p:sp>
        <p:nvSpPr>
          <p:cNvPr id="8" name="TextBox 7">
            <a:extLst>
              <a:ext uri="{FF2B5EF4-FFF2-40B4-BE49-F238E27FC236}">
                <a16:creationId xmlns:a16="http://schemas.microsoft.com/office/drawing/2014/main" id="{53AFCA94-ED48-5449-7C29-7B730B93C9F3}"/>
              </a:ext>
            </a:extLst>
          </p:cNvPr>
          <p:cNvSpPr txBox="1"/>
          <p:nvPr/>
        </p:nvSpPr>
        <p:spPr>
          <a:xfrm>
            <a:off x="698901" y="1002056"/>
            <a:ext cx="10794193" cy="584775"/>
          </a:xfrm>
          <a:prstGeom prst="rect">
            <a:avLst/>
          </a:prstGeom>
          <a:noFill/>
        </p:spPr>
        <p:txBody>
          <a:bodyPr wrap="square" rtlCol="0">
            <a:spAutoFit/>
          </a:bodyPr>
          <a:lstStyle/>
          <a:p>
            <a:pPr algn="ctr"/>
            <a:r>
              <a:rPr lang="en-US" sz="3200" i="1"/>
              <a:t>We must shift from "self-control" to policy-based solutions</a:t>
            </a:r>
          </a:p>
        </p:txBody>
      </p:sp>
    </p:spTree>
    <p:extLst>
      <p:ext uri="{BB962C8B-B14F-4D97-AF65-F5344CB8AC3E}">
        <p14:creationId xmlns:p14="http://schemas.microsoft.com/office/powerpoint/2010/main" val="475009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8AF8-50C7-AF76-53F1-E21B220F43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790AE7-AC16-B5E8-76FC-14FBD9DD7F5D}"/>
              </a:ext>
            </a:extLst>
          </p:cNvPr>
          <p:cNvSpPr>
            <a:spLocks noGrp="1"/>
          </p:cNvSpPr>
          <p:nvPr>
            <p:ph idx="1"/>
          </p:nvPr>
        </p:nvSpPr>
        <p:spPr>
          <a:xfrm>
            <a:off x="698899" y="2459159"/>
            <a:ext cx="11159178" cy="2743297"/>
          </a:xfrm>
        </p:spPr>
        <p:txBody>
          <a:bodyPr>
            <a:normAutofit/>
          </a:bodyPr>
          <a:lstStyle/>
          <a:p>
            <a:pPr lvl="0"/>
            <a:r>
              <a:rPr lang="en-US"/>
              <a:t>Subpoint #1: Imagine what life could be like with you back in the "driver's seat."</a:t>
            </a:r>
            <a:endParaRPr lang="en-US" sz="2800"/>
          </a:p>
          <a:p>
            <a:pPr lvl="1"/>
            <a:r>
              <a:rPr lang="en-US"/>
              <a:t>Sub-Subpoint: Imagine the mental clarity you would gain by being in complete control of your own mind and actions. </a:t>
            </a:r>
          </a:p>
          <a:p>
            <a:pPr lvl="1"/>
            <a:r>
              <a:rPr lang="en-US"/>
              <a:t>Sub-Subpoint: This clarity allows for greater academic success and more meaningful professional relationships.</a:t>
            </a:r>
          </a:p>
        </p:txBody>
      </p:sp>
      <p:pic>
        <p:nvPicPr>
          <p:cNvPr id="4" name="Camera 3">
            <a:extLst>
              <a:ext uri="{FF2B5EF4-FFF2-40B4-BE49-F238E27FC236}">
                <a16:creationId xmlns:a16="http://schemas.microsoft.com/office/drawing/2014/main" id="{F19C36B0-C584-EAFD-4295-047414E4784F}"/>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209245" y="4975312"/>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EB8B16D0-CCD9-1CC9-1712-59BA57B8D1F5}"/>
              </a:ext>
            </a:extLst>
          </p:cNvPr>
          <p:cNvSpPr txBox="1"/>
          <p:nvPr/>
        </p:nvSpPr>
        <p:spPr>
          <a:xfrm>
            <a:off x="4420572" y="321925"/>
            <a:ext cx="2843182" cy="615553"/>
          </a:xfrm>
          <a:prstGeom prst="rect">
            <a:avLst/>
          </a:prstGeom>
          <a:noFill/>
        </p:spPr>
        <p:txBody>
          <a:bodyPr wrap="square" rtlCol="0">
            <a:spAutoFit/>
          </a:bodyPr>
          <a:lstStyle/>
          <a:p>
            <a:r>
              <a:rPr lang="en-US" sz="3400" b="1"/>
              <a:t>Main Point #3</a:t>
            </a:r>
          </a:p>
        </p:txBody>
      </p:sp>
      <p:sp>
        <p:nvSpPr>
          <p:cNvPr id="8" name="TextBox 7">
            <a:extLst>
              <a:ext uri="{FF2B5EF4-FFF2-40B4-BE49-F238E27FC236}">
                <a16:creationId xmlns:a16="http://schemas.microsoft.com/office/drawing/2014/main" id="{0140B6FF-9ADC-9F76-8F08-C84DE3609B65}"/>
              </a:ext>
            </a:extLst>
          </p:cNvPr>
          <p:cNvSpPr txBox="1"/>
          <p:nvPr/>
        </p:nvSpPr>
        <p:spPr>
          <a:xfrm>
            <a:off x="881392" y="927642"/>
            <a:ext cx="10794193" cy="584775"/>
          </a:xfrm>
          <a:prstGeom prst="rect">
            <a:avLst/>
          </a:prstGeom>
          <a:noFill/>
        </p:spPr>
        <p:txBody>
          <a:bodyPr wrap="square" rtlCol="0">
            <a:spAutoFit/>
          </a:bodyPr>
          <a:lstStyle/>
          <a:p>
            <a:pPr algn="ctr"/>
            <a:r>
              <a:rPr lang="en-US" sz="3200" i="1"/>
              <a:t>What life looks like when we reclaim our cognitive autonomy.</a:t>
            </a:r>
          </a:p>
        </p:txBody>
      </p:sp>
    </p:spTree>
    <p:extLst>
      <p:ext uri="{BB962C8B-B14F-4D97-AF65-F5344CB8AC3E}">
        <p14:creationId xmlns:p14="http://schemas.microsoft.com/office/powerpoint/2010/main" val="2166716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D4E4F-B4CA-9283-B418-0D13434A8D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88A66-C579-ECB3-3B5D-59F655E37C82}"/>
              </a:ext>
            </a:extLst>
          </p:cNvPr>
          <p:cNvSpPr>
            <a:spLocks noGrp="1"/>
          </p:cNvSpPr>
          <p:nvPr>
            <p:ph idx="1"/>
          </p:nvPr>
        </p:nvSpPr>
        <p:spPr>
          <a:xfrm>
            <a:off x="698899" y="2272784"/>
            <a:ext cx="11159178" cy="2743297"/>
          </a:xfrm>
        </p:spPr>
        <p:txBody>
          <a:bodyPr>
            <a:normAutofit/>
          </a:bodyPr>
          <a:lstStyle/>
          <a:p>
            <a:pPr lvl="0"/>
            <a:r>
              <a:rPr lang="en-US"/>
              <a:t>Subpoint #2: Let's hear an inspiring transformation story from somebody who has reformed their technology use.</a:t>
            </a:r>
            <a:endParaRPr lang="en-US" sz="2800"/>
          </a:p>
          <a:p>
            <a:pPr lvl="1"/>
            <a:r>
              <a:rPr lang="en-US"/>
              <a:t>Sub-Subpoint: Consider a student who, after breaking free from these dopamine loops, regained their focus and peace of mind.</a:t>
            </a:r>
          </a:p>
          <a:p>
            <a:pPr lvl="1"/>
            <a:r>
              <a:rPr lang="en-US"/>
              <a:t>Sub-Subpoint: This transformation shows that we deserve to be in control of our own cognitive health.</a:t>
            </a:r>
          </a:p>
        </p:txBody>
      </p:sp>
      <p:pic>
        <p:nvPicPr>
          <p:cNvPr id="4" name="Camera 3">
            <a:extLst>
              <a:ext uri="{FF2B5EF4-FFF2-40B4-BE49-F238E27FC236}">
                <a16:creationId xmlns:a16="http://schemas.microsoft.com/office/drawing/2014/main" id="{E4C46246-EBE9-DBC2-4BD2-46B95C04FCCA}"/>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156827" y="4967938"/>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F4A15262-551D-FDD6-AA1A-C1DA5B01A4BD}"/>
              </a:ext>
            </a:extLst>
          </p:cNvPr>
          <p:cNvSpPr txBox="1"/>
          <p:nvPr/>
        </p:nvSpPr>
        <p:spPr>
          <a:xfrm>
            <a:off x="4449692" y="312089"/>
            <a:ext cx="2860655" cy="615553"/>
          </a:xfrm>
          <a:prstGeom prst="rect">
            <a:avLst/>
          </a:prstGeom>
          <a:noFill/>
        </p:spPr>
        <p:txBody>
          <a:bodyPr wrap="square" rtlCol="0">
            <a:spAutoFit/>
          </a:bodyPr>
          <a:lstStyle/>
          <a:p>
            <a:r>
              <a:rPr lang="en-US" sz="3400" b="1"/>
              <a:t>Main Point #3</a:t>
            </a:r>
          </a:p>
        </p:txBody>
      </p:sp>
      <p:sp>
        <p:nvSpPr>
          <p:cNvPr id="8" name="TextBox 7">
            <a:extLst>
              <a:ext uri="{FF2B5EF4-FFF2-40B4-BE49-F238E27FC236}">
                <a16:creationId xmlns:a16="http://schemas.microsoft.com/office/drawing/2014/main" id="{D560F93C-7A1D-62BC-9447-AD00B7F89C22}"/>
              </a:ext>
            </a:extLst>
          </p:cNvPr>
          <p:cNvSpPr txBox="1"/>
          <p:nvPr/>
        </p:nvSpPr>
        <p:spPr>
          <a:xfrm>
            <a:off x="881392" y="927642"/>
            <a:ext cx="10794193" cy="584775"/>
          </a:xfrm>
          <a:prstGeom prst="rect">
            <a:avLst/>
          </a:prstGeom>
          <a:noFill/>
        </p:spPr>
        <p:txBody>
          <a:bodyPr wrap="square" rtlCol="0">
            <a:spAutoFit/>
          </a:bodyPr>
          <a:lstStyle/>
          <a:p>
            <a:pPr algn="ctr"/>
            <a:r>
              <a:rPr lang="en-US" sz="3200" i="1"/>
              <a:t>What life looks like when we reclaim our cognitive autonomy.</a:t>
            </a:r>
          </a:p>
        </p:txBody>
      </p:sp>
    </p:spTree>
    <p:extLst>
      <p:ext uri="{BB962C8B-B14F-4D97-AF65-F5344CB8AC3E}">
        <p14:creationId xmlns:p14="http://schemas.microsoft.com/office/powerpoint/2010/main" val="3606436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C0AB-03AA-D462-D1FC-4BCA929160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EA4F3E-906D-C218-4672-F04D716F92BA}"/>
              </a:ext>
            </a:extLst>
          </p:cNvPr>
          <p:cNvSpPr>
            <a:spLocks noGrp="1"/>
          </p:cNvSpPr>
          <p:nvPr>
            <p:ph idx="1"/>
          </p:nvPr>
        </p:nvSpPr>
        <p:spPr>
          <a:xfrm>
            <a:off x="698899" y="2598939"/>
            <a:ext cx="11159178" cy="2743297"/>
          </a:xfrm>
        </p:spPr>
        <p:txBody>
          <a:bodyPr>
            <a:normAutofit/>
          </a:bodyPr>
          <a:lstStyle/>
          <a:p>
            <a:pPr lvl="0"/>
            <a:r>
              <a:rPr lang="en-US"/>
              <a:t>Subpoint #3: Cognitive autonomy will help protect your future careers and well-being.</a:t>
            </a:r>
            <a:endParaRPr lang="en-US" sz="2800"/>
          </a:p>
          <a:p>
            <a:pPr lvl="1"/>
            <a:r>
              <a:rPr lang="en-US"/>
              <a:t>Sub-Subpoint: As future professionals, we must ensure our focus is preserved to be successful in our chosen fields.</a:t>
            </a:r>
          </a:p>
          <a:p>
            <a:pPr lvl="1"/>
            <a:r>
              <a:rPr lang="en-US"/>
              <a:t>Sub-Subpoint: Reclaiming our autonomy means technology becomes a tool we use, rather than a system that uses us.</a:t>
            </a:r>
          </a:p>
        </p:txBody>
      </p:sp>
      <p:pic>
        <p:nvPicPr>
          <p:cNvPr id="4" name="Camera 3">
            <a:extLst>
              <a:ext uri="{FF2B5EF4-FFF2-40B4-BE49-F238E27FC236}">
                <a16:creationId xmlns:a16="http://schemas.microsoft.com/office/drawing/2014/main" id="{A88946B8-4941-D14D-8C45-C1371F20AB08}"/>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8156827" y="4967938"/>
            <a:ext cx="2874701" cy="1617019"/>
          </a:xfrm>
          <a:prstGeom prst="rect">
            <a:avLst/>
          </a:prstGeom>
          <a:ln>
            <a:noFill/>
          </a:ln>
          <a:effectLst>
            <a:softEdge rad="127000"/>
          </a:effectLst>
        </p:spPr>
      </p:pic>
      <p:sp>
        <p:nvSpPr>
          <p:cNvPr id="5" name="TextBox 4">
            <a:extLst>
              <a:ext uri="{FF2B5EF4-FFF2-40B4-BE49-F238E27FC236}">
                <a16:creationId xmlns:a16="http://schemas.microsoft.com/office/drawing/2014/main" id="{15163735-0850-5C8E-612D-BBE8C0B91DA4}"/>
              </a:ext>
            </a:extLst>
          </p:cNvPr>
          <p:cNvSpPr txBox="1"/>
          <p:nvPr/>
        </p:nvSpPr>
        <p:spPr>
          <a:xfrm>
            <a:off x="4449692" y="321925"/>
            <a:ext cx="2814061" cy="615553"/>
          </a:xfrm>
          <a:prstGeom prst="rect">
            <a:avLst/>
          </a:prstGeom>
          <a:noFill/>
        </p:spPr>
        <p:txBody>
          <a:bodyPr wrap="square" rtlCol="0">
            <a:spAutoFit/>
          </a:bodyPr>
          <a:lstStyle/>
          <a:p>
            <a:r>
              <a:rPr lang="en-US" sz="3400" b="1"/>
              <a:t>Main Point #3</a:t>
            </a:r>
          </a:p>
        </p:txBody>
      </p:sp>
      <p:sp>
        <p:nvSpPr>
          <p:cNvPr id="8" name="TextBox 7">
            <a:extLst>
              <a:ext uri="{FF2B5EF4-FFF2-40B4-BE49-F238E27FC236}">
                <a16:creationId xmlns:a16="http://schemas.microsoft.com/office/drawing/2014/main" id="{68F881E8-03F3-1DF6-E181-41EC38F8D9A8}"/>
              </a:ext>
            </a:extLst>
          </p:cNvPr>
          <p:cNvSpPr txBox="1"/>
          <p:nvPr/>
        </p:nvSpPr>
        <p:spPr>
          <a:xfrm>
            <a:off x="881392" y="927642"/>
            <a:ext cx="10794193" cy="584775"/>
          </a:xfrm>
          <a:prstGeom prst="rect">
            <a:avLst/>
          </a:prstGeom>
          <a:noFill/>
        </p:spPr>
        <p:txBody>
          <a:bodyPr wrap="square" rtlCol="0">
            <a:spAutoFit/>
          </a:bodyPr>
          <a:lstStyle/>
          <a:p>
            <a:pPr algn="ctr"/>
            <a:r>
              <a:rPr lang="en-US" sz="3200" i="1"/>
              <a:t>What life looks like when we reclaim our cognitive autonomy.</a:t>
            </a:r>
          </a:p>
        </p:txBody>
      </p:sp>
    </p:spTree>
    <p:extLst>
      <p:ext uri="{BB962C8B-B14F-4D97-AF65-F5344CB8AC3E}">
        <p14:creationId xmlns:p14="http://schemas.microsoft.com/office/powerpoint/2010/main" val="4000759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9932-BADA-C8B9-FEC3-A6DD4350E55C}"/>
              </a:ext>
            </a:extLst>
          </p:cNvPr>
          <p:cNvSpPr>
            <a:spLocks noGrp="1"/>
          </p:cNvSpPr>
          <p:nvPr>
            <p:ph type="title"/>
          </p:nvPr>
        </p:nvSpPr>
        <p:spPr>
          <a:xfrm>
            <a:off x="4519451" y="223442"/>
            <a:ext cx="2964651" cy="948193"/>
          </a:xfrm>
        </p:spPr>
        <p:txBody>
          <a:bodyPr>
            <a:normAutofit/>
          </a:bodyPr>
          <a:lstStyle/>
          <a:p>
            <a:r>
              <a:rPr lang="en-US" sz="3400" b="1"/>
              <a:t>Conclusion</a:t>
            </a:r>
            <a:endParaRPr lang="en-US" sz="3400"/>
          </a:p>
        </p:txBody>
      </p:sp>
      <p:sp>
        <p:nvSpPr>
          <p:cNvPr id="3" name="Content Placeholder 2">
            <a:extLst>
              <a:ext uri="{FF2B5EF4-FFF2-40B4-BE49-F238E27FC236}">
                <a16:creationId xmlns:a16="http://schemas.microsoft.com/office/drawing/2014/main" id="{78432867-47A2-33DA-C13A-26E0399D6D2D}"/>
              </a:ext>
            </a:extLst>
          </p:cNvPr>
          <p:cNvSpPr>
            <a:spLocks noGrp="1"/>
          </p:cNvSpPr>
          <p:nvPr>
            <p:ph idx="1"/>
          </p:nvPr>
        </p:nvSpPr>
        <p:spPr>
          <a:xfrm>
            <a:off x="1096406" y="1212778"/>
            <a:ext cx="10167604" cy="4553183"/>
          </a:xfrm>
        </p:spPr>
        <p:txBody>
          <a:bodyPr>
            <a:normAutofit fontScale="85000" lnSpcReduction="10000"/>
          </a:bodyPr>
          <a:lstStyle/>
          <a:p>
            <a:pPr lvl="0"/>
            <a:r>
              <a:rPr lang="en-US" b="1"/>
              <a:t>Summary:</a:t>
            </a:r>
            <a:r>
              <a:rPr lang="en-US"/>
              <a:t> (Restate goal and main points): We have examined the science of exploitation, why willpower is insufficient against engineering, and how the SMART Act can restore our autonomy. You can take action yourself by supporting neuro-ethical legislation and advocating for more standards that protect our collective cognitive health. Give your local congressmen a call, they’ll never make a change if they don’t know the extent of this issues negative affects. </a:t>
            </a:r>
          </a:p>
          <a:p>
            <a:pPr lvl="0"/>
            <a:r>
              <a:rPr lang="en-US" b="1"/>
              <a:t>Memorable Close:</a:t>
            </a:r>
            <a:r>
              <a:rPr lang="en-US"/>
              <a:t> (Provide closure and leave a lasting impression): To conclude, I want to leave you with a comparison: casinos are designed to turn off executive-functioning regions of your brain through the intentional lack of windows and clocks to keep you gambling. Technology should be a tool that we pick up and put down, not a casino with no clocks. We must not let ourselves become enslaved by it, forgetting our responsibilities…forgetting ourselves. Let’s all advocate for a world where the exit door is easy to find and reclaim control over our lives!</a:t>
            </a:r>
          </a:p>
          <a:p>
            <a:endParaRPr lang="en-US"/>
          </a:p>
        </p:txBody>
      </p:sp>
      <p:pic>
        <p:nvPicPr>
          <p:cNvPr id="4" name="Camera 3">
            <a:extLst>
              <a:ext uri="{FF2B5EF4-FFF2-40B4-BE49-F238E27FC236}">
                <a16:creationId xmlns:a16="http://schemas.microsoft.com/office/drawing/2014/main" id="{E4734494-2090-2D35-E9E4-45ACCA12FD7E}"/>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4375116" y="5096786"/>
            <a:ext cx="3253319" cy="1829992"/>
          </a:xfrm>
          <a:prstGeom prst="rect">
            <a:avLst/>
          </a:prstGeom>
          <a:ln>
            <a:noFill/>
          </a:ln>
          <a:effectLst>
            <a:softEdge rad="127000"/>
          </a:effectLst>
        </p:spPr>
      </p:pic>
    </p:spTree>
    <p:extLst>
      <p:ext uri="{BB962C8B-B14F-4D97-AF65-F5344CB8AC3E}">
        <p14:creationId xmlns:p14="http://schemas.microsoft.com/office/powerpoint/2010/main" val="507335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B03C5-FD61-CDE5-9393-2802FE5B13FE}"/>
              </a:ext>
            </a:extLst>
          </p:cNvPr>
          <p:cNvSpPr>
            <a:spLocks noGrp="1"/>
          </p:cNvSpPr>
          <p:nvPr>
            <p:ph type="title"/>
          </p:nvPr>
        </p:nvSpPr>
        <p:spPr>
          <a:xfrm>
            <a:off x="4756765" y="334338"/>
            <a:ext cx="2399703" cy="814236"/>
          </a:xfrm>
        </p:spPr>
        <p:txBody>
          <a:bodyPr>
            <a:normAutofit/>
          </a:bodyPr>
          <a:lstStyle/>
          <a:p>
            <a:r>
              <a:rPr lang="en-US" sz="3400"/>
              <a:t>References</a:t>
            </a:r>
          </a:p>
        </p:txBody>
      </p:sp>
      <p:sp>
        <p:nvSpPr>
          <p:cNvPr id="3" name="Content Placeholder 2">
            <a:extLst>
              <a:ext uri="{FF2B5EF4-FFF2-40B4-BE49-F238E27FC236}">
                <a16:creationId xmlns:a16="http://schemas.microsoft.com/office/drawing/2014/main" id="{2BE46859-89ED-D086-2351-FD053D9EC48F}"/>
              </a:ext>
            </a:extLst>
          </p:cNvPr>
          <p:cNvSpPr>
            <a:spLocks noGrp="1"/>
          </p:cNvSpPr>
          <p:nvPr>
            <p:ph idx="1"/>
          </p:nvPr>
        </p:nvSpPr>
        <p:spPr>
          <a:xfrm>
            <a:off x="1294229" y="1058332"/>
            <a:ext cx="9905999" cy="3982713"/>
          </a:xfrm>
        </p:spPr>
        <p:txBody>
          <a:bodyPr>
            <a:normAutofit fontScale="85000" lnSpcReduction="10000"/>
          </a:bodyPr>
          <a:lstStyle/>
          <a:p>
            <a:pPr marL="0" indent="0">
              <a:buNone/>
            </a:pPr>
            <a:r>
              <a:rPr lang="en-US"/>
              <a:t>Bhargava, V. R., &amp; Velasquez, M. (2021). Ethics of the Attention Economy: The Problem of Social Media Addiction. Business Ethics Quarterly, 31(3), 321-359. </a:t>
            </a:r>
          </a:p>
          <a:p>
            <a:pPr marL="0" indent="0">
              <a:spcBef>
                <a:spcPts val="0"/>
              </a:spcBef>
              <a:buNone/>
            </a:pPr>
            <a:endParaRPr lang="en-US" sz="1400"/>
          </a:p>
          <a:p>
            <a:pPr marL="0" indent="0">
              <a:spcBef>
                <a:spcPts val="0"/>
              </a:spcBef>
              <a:buNone/>
            </a:pPr>
            <a:r>
              <a:rPr lang="en-US"/>
              <a:t>Center for Humane Technology. (2023). Ledger of Harms: Dopamine and the Brain.</a:t>
            </a:r>
          </a:p>
          <a:p>
            <a:pPr marL="0" indent="0">
              <a:spcBef>
                <a:spcPts val="0"/>
              </a:spcBef>
              <a:buNone/>
            </a:pPr>
            <a:endParaRPr lang="en-US" sz="1300"/>
          </a:p>
          <a:p>
            <a:pPr marL="0" indent="0">
              <a:spcBef>
                <a:spcPts val="0"/>
              </a:spcBef>
              <a:buNone/>
            </a:pPr>
            <a:r>
              <a:rPr lang="en-US"/>
              <a:t>Lorenz, R. C., et al. (2015). Video game training and the prefrontal cortex. </a:t>
            </a:r>
            <a:r>
              <a:rPr lang="en-US" i="1"/>
              <a:t>Molecular Psychiatry, 20</a:t>
            </a:r>
            <a:r>
              <a:rPr lang="en-US"/>
              <a:t>, 34–39. </a:t>
            </a:r>
          </a:p>
          <a:p>
            <a:pPr marL="0" indent="0">
              <a:spcBef>
                <a:spcPts val="0"/>
              </a:spcBef>
              <a:buNone/>
            </a:pPr>
            <a:endParaRPr lang="en-US" sz="1400"/>
          </a:p>
          <a:p>
            <a:pPr marL="0" indent="0">
              <a:spcBef>
                <a:spcPts val="0"/>
              </a:spcBef>
              <a:buNone/>
            </a:pPr>
            <a:r>
              <a:rPr lang="en-US"/>
              <a:t>Montag, C., Lachmann, B., Herrlich, M., &amp; Zweig, K. (2019). Addictive features of social media/messenger platforms and free-to-play games: A design perspective from psychology and informatics. </a:t>
            </a:r>
            <a:r>
              <a:rPr lang="en-US" i="1"/>
              <a:t>International Journal of Environmental Research and Public Health, 16</a:t>
            </a:r>
            <a:r>
              <a:rPr lang="en-US"/>
              <a:t>(14), 2612.</a:t>
            </a:r>
          </a:p>
          <a:p>
            <a:pPr marL="0" indent="0">
              <a:spcBef>
                <a:spcPts val="0"/>
              </a:spcBef>
              <a:buNone/>
            </a:pPr>
            <a:endParaRPr lang="en-US" sz="1400"/>
          </a:p>
          <a:p>
            <a:pPr marL="0" indent="0">
              <a:spcBef>
                <a:spcPts val="0"/>
              </a:spcBef>
              <a:buNone/>
            </a:pPr>
            <a:r>
              <a:rPr lang="en-US"/>
              <a:t>Social Media Addiction Reduction Technology (SMART) Act, S.2314, 116th Cong. (2019).</a:t>
            </a:r>
          </a:p>
        </p:txBody>
      </p:sp>
      <p:pic>
        <p:nvPicPr>
          <p:cNvPr id="4" name="Camera 3">
            <a:extLst>
              <a:ext uri="{FF2B5EF4-FFF2-40B4-BE49-F238E27FC236}">
                <a16:creationId xmlns:a16="http://schemas.microsoft.com/office/drawing/2014/main" id="{4884F251-184D-D560-BDBC-6A6A99AF6EC8}"/>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4127816" y="4891435"/>
            <a:ext cx="3657600" cy="2057400"/>
          </a:xfrm>
          <a:prstGeom prst="rect">
            <a:avLst/>
          </a:prstGeom>
          <a:ln>
            <a:noFill/>
          </a:ln>
          <a:effectLst>
            <a:softEdge rad="127000"/>
          </a:effectLst>
        </p:spPr>
      </p:pic>
    </p:spTree>
    <p:extLst>
      <p:ext uri="{BB962C8B-B14F-4D97-AF65-F5344CB8AC3E}">
        <p14:creationId xmlns:p14="http://schemas.microsoft.com/office/powerpoint/2010/main" val="7614852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0</TotalTime>
  <Words>1324</Words>
  <Application>Microsoft Office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Tw Cen MT</vt:lpstr>
      <vt:lpstr>Circuit</vt:lpstr>
      <vt:lpstr>The Regulation of “Dopamine-Hacking," an Abuse of Biological Mechanisms by Companies and Software Engineers Alike</vt:lpstr>
      <vt:lpstr>Testimonies from our fellow classmates highlight how this “brain-hijacking” struggle affects their lives</vt:lpstr>
      <vt:lpstr>Credibility &amp; 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Garrett Brownlee</dc:creator>
  <cp:lastModifiedBy>Garrett Brownlee</cp:lastModifiedBy>
  <cp:revision>1</cp:revision>
  <dcterms:created xsi:type="dcterms:W3CDTF">2026-01-15T22:16:40Z</dcterms:created>
  <dcterms:modified xsi:type="dcterms:W3CDTF">2026-01-16T01:03:14Z</dcterms:modified>
</cp:coreProperties>
</file>