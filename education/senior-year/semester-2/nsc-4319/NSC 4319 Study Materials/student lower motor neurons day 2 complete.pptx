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679" r:id="rId2"/>
    <p:sldId id="687" r:id="rId3"/>
    <p:sldId id="438" r:id="rId4"/>
    <p:sldId id="457" r:id="rId5"/>
    <p:sldId id="685" r:id="rId6"/>
    <p:sldId id="690" r:id="rId7"/>
    <p:sldId id="379" r:id="rId8"/>
    <p:sldId id="380" r:id="rId9"/>
    <p:sldId id="686" r:id="rId10"/>
    <p:sldId id="688" r:id="rId11"/>
    <p:sldId id="364" r:id="rId12"/>
    <p:sldId id="448" r:id="rId13"/>
    <p:sldId id="449" r:id="rId14"/>
    <p:sldId id="6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52"/>
    <a:srgbClr val="F67A7A"/>
    <a:srgbClr val="F46262"/>
    <a:srgbClr val="F99787"/>
    <a:srgbClr val="FB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6728" autoAdjust="0"/>
  </p:normalViewPr>
  <p:slideViewPr>
    <p:cSldViewPr snapToGrid="0">
      <p:cViewPr varScale="1">
        <p:scale>
          <a:sx n="122" d="100"/>
          <a:sy n="122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39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9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3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58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https://www.youtube.com/watch?v=c-dD0N53QRg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1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4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33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https://www.youtube.com/watch?v=4oUCcIt3TtU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3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15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36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21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without a cerebrum/cortex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240EF-9219-455B-8610-9C6F4A565BF6}"/>
              </a:ext>
            </a:extLst>
          </p:cNvPr>
          <p:cNvSpPr txBox="1"/>
          <p:nvPr/>
        </p:nvSpPr>
        <p:spPr>
          <a:xfrm>
            <a:off x="0" y="0"/>
            <a:ext cx="3894667" cy="371087"/>
          </a:xfrm>
          <a:prstGeom prst="rect">
            <a:avLst/>
          </a:prstGeom>
          <a:noFill/>
        </p:spPr>
        <p:txBody>
          <a:bodyPr vert="horz" lIns="93177" tIns="46589" rIns="93177" bIns="46589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2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60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cbi.nlm.nih.gov/books/NBK551629/#:~:text=The%20myotatic%20reflex%20begins%20when,a%20muscle%20or%20muscle%20grou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-dD0N53QRg?feature=oembed" TargetMode="Externa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4oUCcIt3TtU?feature=oembed" TargetMode="Externa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PiLLplofYw?feature=oembed" TargetMode="Externa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087D-AA12-4A69-A5A1-4A8B2B93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82" y="0"/>
            <a:ext cx="10449564" cy="1478570"/>
          </a:xfrm>
        </p:spPr>
        <p:txBody>
          <a:bodyPr/>
          <a:lstStyle/>
          <a:p>
            <a:pPr algn="ctr"/>
            <a:r>
              <a:rPr lang="en-US" dirty="0"/>
              <a:t>Some motor commands originate in the Spinal 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C1A2E-B9E1-458B-B37B-AC4ACC478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32" y="1487603"/>
            <a:ext cx="4657970" cy="5370397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Reflex</a:t>
            </a:r>
            <a:r>
              <a:rPr lang="en-US" altLang="en-US" sz="2800" dirty="0"/>
              <a:t>: a simple, unvarying, unlearned response to </a:t>
            </a:r>
            <a:r>
              <a:rPr lang="en-US" altLang="en-US" sz="2800" i="1" dirty="0"/>
              <a:t>sensory stimuli</a:t>
            </a:r>
          </a:p>
          <a:p>
            <a:pPr lvl="1"/>
            <a:r>
              <a:rPr lang="en-US" sz="2800" dirty="0"/>
              <a:t>Ex. Knee jerk reflex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altLang="en-US" sz="2800" b="1" dirty="0"/>
              <a:t>Central pattern generator</a:t>
            </a:r>
            <a:r>
              <a:rPr lang="en-US" altLang="en-US" sz="2800" dirty="0"/>
              <a:t>: neural circuitry responsible for rhythmic behavior, such as walking. </a:t>
            </a: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A18FC-0D58-66DC-6359-C46E5E077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1" y="1474199"/>
            <a:ext cx="6908800" cy="538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0084-5EDF-32BE-A9E3-F862D7B7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67401" cy="1325563"/>
          </a:xfrm>
        </p:spPr>
        <p:txBody>
          <a:bodyPr/>
          <a:lstStyle/>
          <a:p>
            <a:pPr algn="ctr"/>
            <a:r>
              <a:rPr lang="en-US" dirty="0"/>
              <a:t>Muscle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4587-5912-1AFF-C363-6DD882962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62" y="1825624"/>
            <a:ext cx="5963139" cy="503237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Many muscles work in </a:t>
            </a:r>
            <a:r>
              <a:rPr lang="en-US" altLang="en-US" sz="2400" b="1" dirty="0"/>
              <a:t>antagonistic</a:t>
            </a:r>
            <a:r>
              <a:rPr lang="en-US" altLang="en-US" sz="2400" dirty="0"/>
              <a:t> pairs.</a:t>
            </a:r>
          </a:p>
          <a:p>
            <a:pPr lvl="1"/>
            <a:r>
              <a:rPr lang="en-US" altLang="en-US" dirty="0"/>
              <a:t>when one contracts, the other extends/lengthens.</a:t>
            </a:r>
          </a:p>
          <a:p>
            <a:pPr lvl="1"/>
            <a:r>
              <a:rPr lang="en-US" b="1" dirty="0"/>
              <a:t>Flexor</a:t>
            </a:r>
            <a:r>
              <a:rPr lang="en-US" dirty="0"/>
              <a:t> muscles contract to bend or flex a joint. (e.g. biceps)</a:t>
            </a:r>
          </a:p>
          <a:p>
            <a:pPr lvl="1"/>
            <a:r>
              <a:rPr lang="en-US" altLang="en-US" b="1" dirty="0"/>
              <a:t>Extensor</a:t>
            </a:r>
            <a:r>
              <a:rPr lang="en-US" altLang="en-US" dirty="0"/>
              <a:t> muscles </a:t>
            </a:r>
            <a:r>
              <a:rPr lang="en-US" dirty="0"/>
              <a:t>extend or straighten a limb or other part of the body when they contract. (e.g. triceps)</a:t>
            </a:r>
          </a:p>
          <a:p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BE849-F15F-3384-D9A8-E65C4866E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7454"/>
            <a:ext cx="5486400" cy="68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8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D2C21B1-4090-4415-A8F5-D0950F0DA9D8}"/>
              </a:ext>
            </a:extLst>
          </p:cNvPr>
          <p:cNvSpPr txBox="1">
            <a:spLocks/>
          </p:cNvSpPr>
          <p:nvPr/>
        </p:nvSpPr>
        <p:spPr>
          <a:xfrm>
            <a:off x="0" y="771036"/>
            <a:ext cx="3510380" cy="1085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Stretch Reflex</a:t>
            </a:r>
          </a:p>
          <a:p>
            <a:pPr algn="ctr"/>
            <a:r>
              <a:rPr lang="en-US" sz="2800" i="0" dirty="0">
                <a:solidFill>
                  <a:srgbClr val="000000"/>
                </a:solidFill>
                <a:effectLst/>
              </a:rPr>
              <a:t>passive stretching</a:t>
            </a:r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2A9627-B264-424F-BCF4-4E882EDED487}"/>
              </a:ext>
            </a:extLst>
          </p:cNvPr>
          <p:cNvSpPr txBox="1">
            <a:spLocks/>
          </p:cNvSpPr>
          <p:nvPr/>
        </p:nvSpPr>
        <p:spPr>
          <a:xfrm>
            <a:off x="3793433" y="913241"/>
            <a:ext cx="4785806" cy="1014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Golgi Tendon Reflex</a:t>
            </a:r>
            <a:endParaRPr lang="en-US" sz="3600" i="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n-US" sz="2800" i="0" dirty="0">
                <a:solidFill>
                  <a:srgbClr val="000000"/>
                </a:solidFill>
                <a:effectLst/>
              </a:rPr>
              <a:t>muscle tension</a:t>
            </a:r>
          </a:p>
        </p:txBody>
      </p:sp>
      <p:pic>
        <p:nvPicPr>
          <p:cNvPr id="8" name="Picture 7" descr="Neuroscience6e-Fig-16-12-0.jpg">
            <a:extLst>
              <a:ext uri="{FF2B5EF4-FFF2-40B4-BE49-F238E27FC236}">
                <a16:creationId xmlns:a16="http://schemas.microsoft.com/office/drawing/2014/main" id="{0F209F90-4F42-4CF8-A531-089C0A4B0C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7"/>
          <a:stretch/>
        </p:blipFill>
        <p:spPr>
          <a:xfrm>
            <a:off x="4082283" y="1928089"/>
            <a:ext cx="4208105" cy="3451777"/>
          </a:xfrm>
          <a:prstGeom prst="rect">
            <a:avLst/>
          </a:prstGeom>
        </p:spPr>
      </p:pic>
      <p:pic>
        <p:nvPicPr>
          <p:cNvPr id="9" name="Picture 8" descr="Neuroscience6e-Fig-16-10-2R.jpg">
            <a:extLst>
              <a:ext uri="{FF2B5EF4-FFF2-40B4-BE49-F238E27FC236}">
                <a16:creationId xmlns:a16="http://schemas.microsoft.com/office/drawing/2014/main" id="{63254930-4945-4945-A6A2-34E7D7D480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" b="8049"/>
          <a:stretch/>
        </p:blipFill>
        <p:spPr>
          <a:xfrm>
            <a:off x="400780" y="1856792"/>
            <a:ext cx="2622338" cy="497920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AB3D261-3EA5-4C65-B8CB-1AB056FB2428}"/>
              </a:ext>
            </a:extLst>
          </p:cNvPr>
          <p:cNvSpPr txBox="1">
            <a:spLocks/>
          </p:cNvSpPr>
          <p:nvPr/>
        </p:nvSpPr>
        <p:spPr>
          <a:xfrm>
            <a:off x="8674513" y="900383"/>
            <a:ext cx="3309258" cy="951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</a:rPr>
              <a:t>Flexion Reflex</a:t>
            </a:r>
            <a:endParaRPr lang="en-US" sz="3600" b="1" i="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n-US" sz="2800" i="0" dirty="0">
                <a:solidFill>
                  <a:srgbClr val="000000"/>
                </a:solidFill>
                <a:effectLst/>
              </a:rPr>
              <a:t>away from pain</a:t>
            </a:r>
          </a:p>
        </p:txBody>
      </p:sp>
      <p:pic>
        <p:nvPicPr>
          <p:cNvPr id="12" name="Picture 11" descr="Neuroscience6e-Fig-16-14-0.jpg">
            <a:extLst>
              <a:ext uri="{FF2B5EF4-FFF2-40B4-BE49-F238E27FC236}">
                <a16:creationId xmlns:a16="http://schemas.microsoft.com/office/drawing/2014/main" id="{C1F61DE0-DE4F-4836-B38B-14D62BD25C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8"/>
          <a:stretch/>
        </p:blipFill>
        <p:spPr>
          <a:xfrm>
            <a:off x="9017973" y="1928089"/>
            <a:ext cx="2622338" cy="491481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057FF3-FDAA-477B-A8C4-2E2573BCD3BB}"/>
              </a:ext>
            </a:extLst>
          </p:cNvPr>
          <p:cNvSpPr txBox="1">
            <a:spLocks/>
          </p:cNvSpPr>
          <p:nvPr/>
        </p:nvSpPr>
        <p:spPr>
          <a:xfrm>
            <a:off x="488829" y="15101"/>
            <a:ext cx="11214339" cy="831402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Spinal reflexes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D00AAF-BC6B-4669-92D2-74D505D05685}"/>
              </a:ext>
            </a:extLst>
          </p:cNvPr>
          <p:cNvCxnSpPr/>
          <p:nvPr/>
        </p:nvCxnSpPr>
        <p:spPr>
          <a:xfrm>
            <a:off x="3729199" y="829931"/>
            <a:ext cx="0" cy="57497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28FE2B-7C60-4FAA-8A16-61CFD144CF03}"/>
              </a:ext>
            </a:extLst>
          </p:cNvPr>
          <p:cNvCxnSpPr/>
          <p:nvPr/>
        </p:nvCxnSpPr>
        <p:spPr>
          <a:xfrm>
            <a:off x="8616561" y="913241"/>
            <a:ext cx="0" cy="57497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5DF9928-AEA9-4328-B798-0A58A3D8AEB8}"/>
              </a:ext>
            </a:extLst>
          </p:cNvPr>
          <p:cNvSpPr/>
          <p:nvPr/>
        </p:nvSpPr>
        <p:spPr>
          <a:xfrm>
            <a:off x="192462" y="2081719"/>
            <a:ext cx="1202503" cy="259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429F2ED-31C7-4BCC-B3B9-DE28E196E2A9}"/>
              </a:ext>
            </a:extLst>
          </p:cNvPr>
          <p:cNvSpPr/>
          <p:nvPr/>
        </p:nvSpPr>
        <p:spPr>
          <a:xfrm>
            <a:off x="6488848" y="1865076"/>
            <a:ext cx="616791" cy="259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F179F2-DEBC-4D5A-8935-1B678250B46C}"/>
              </a:ext>
            </a:extLst>
          </p:cNvPr>
          <p:cNvSpPr/>
          <p:nvPr/>
        </p:nvSpPr>
        <p:spPr>
          <a:xfrm>
            <a:off x="9379796" y="1856792"/>
            <a:ext cx="2411424" cy="259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1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642F4-4D66-F36F-840A-30BA8516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388" y="0"/>
            <a:ext cx="451661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1BEC15-ED34-43CC-3DFF-D909F190C0F7}"/>
              </a:ext>
            </a:extLst>
          </p:cNvPr>
          <p:cNvSpPr txBox="1">
            <a:spLocks/>
          </p:cNvSpPr>
          <p:nvPr/>
        </p:nvSpPr>
        <p:spPr>
          <a:xfrm>
            <a:off x="1310378" y="459409"/>
            <a:ext cx="5669693" cy="861391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The Stretch Reflex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C3172-DBA3-2964-0FD5-9442CEBFBEBF}"/>
              </a:ext>
            </a:extLst>
          </p:cNvPr>
          <p:cNvSpPr txBox="1"/>
          <p:nvPr/>
        </p:nvSpPr>
        <p:spPr>
          <a:xfrm>
            <a:off x="988829" y="6642556"/>
            <a:ext cx="67524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https://www.ncbi.nlm.nih.gov/books/NBK551629/#:~:text=The%20myotatic%20reflex%20begins%20when,a%20muscle%20or%20muscle%20group</a:t>
            </a:r>
            <a:endParaRPr lang="en-US" sz="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6CB4E3-928A-6FF3-6FB1-C9C8D27C6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60248"/>
            <a:ext cx="6447326" cy="4982308"/>
          </a:xfrm>
        </p:spPr>
        <p:txBody>
          <a:bodyPr>
            <a:normAutofit/>
          </a:bodyPr>
          <a:lstStyle/>
          <a:p>
            <a:r>
              <a:rPr lang="en-US" sz="2400" dirty="0"/>
              <a:t>Stretching a muscle spindle increases activity in </a:t>
            </a:r>
            <a:r>
              <a:rPr lang="en-US" sz="2400" b="1" dirty="0" err="1"/>
              <a:t>Ia</a:t>
            </a:r>
            <a:r>
              <a:rPr lang="en-US" sz="2400" b="1" dirty="0"/>
              <a:t> afferents </a:t>
            </a:r>
            <a:r>
              <a:rPr lang="en-US" sz="2400" dirty="0"/>
              <a:t>and subsequently </a:t>
            </a:r>
            <a:r>
              <a:rPr lang="en-US" sz="2400" b="1" dirty="0"/>
              <a:t>α motor neurons </a:t>
            </a:r>
            <a:r>
              <a:rPr lang="en-US" sz="2400" dirty="0"/>
              <a:t>that innervate the same muscle. </a:t>
            </a:r>
          </a:p>
          <a:p>
            <a:r>
              <a:rPr lang="en-US" sz="2400" dirty="0"/>
              <a:t>Activity of the sensory afferent also excites interneurons that inhibit motor neurons innervating </a:t>
            </a:r>
            <a:r>
              <a:rPr lang="en-US" sz="2400" u="sng" dirty="0"/>
              <a:t>antagonist</a:t>
            </a:r>
            <a:r>
              <a:rPr lang="en-US" sz="2400" dirty="0"/>
              <a:t> muscles.</a:t>
            </a:r>
          </a:p>
          <a:p>
            <a:r>
              <a:rPr lang="en-US" sz="2400" i="1" dirty="0"/>
              <a:t>High gain </a:t>
            </a:r>
            <a:r>
              <a:rPr lang="en-US" sz="2400" dirty="0"/>
              <a:t>reflexes only need a small amount of stretch to influence many motor neurons.</a:t>
            </a:r>
          </a:p>
          <a:p>
            <a:pPr lvl="1"/>
            <a:r>
              <a:rPr lang="en-US" sz="2000" dirty="0"/>
              <a:t>Ex. Knee jerk</a:t>
            </a:r>
          </a:p>
          <a:p>
            <a:r>
              <a:rPr lang="en-US" sz="2400" i="1" dirty="0"/>
              <a:t>Low gain </a:t>
            </a:r>
            <a:r>
              <a:rPr lang="en-US" sz="2400" dirty="0"/>
              <a:t>reflexes require a greater amount of stretch to generate a similar degree of motor neuron recruitment.</a:t>
            </a:r>
          </a:p>
          <a:p>
            <a:pPr lvl="1"/>
            <a:r>
              <a:rPr lang="en-US" sz="2000" dirty="0"/>
              <a:t>Ex. Weight change of a held object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202E9-91A1-2087-42E9-C85CB9212AE2}"/>
              </a:ext>
            </a:extLst>
          </p:cNvPr>
          <p:cNvSpPr/>
          <p:nvPr/>
        </p:nvSpPr>
        <p:spPr>
          <a:xfrm>
            <a:off x="10019323" y="359508"/>
            <a:ext cx="1750646" cy="859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4131C-3C42-5C79-8EE3-6E472D7448CE}"/>
              </a:ext>
            </a:extLst>
          </p:cNvPr>
          <p:cNvSpPr/>
          <p:nvPr/>
        </p:nvSpPr>
        <p:spPr>
          <a:xfrm>
            <a:off x="10019323" y="1219200"/>
            <a:ext cx="1750646" cy="656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10708-855C-D319-A71E-3BE453B9A2BF}"/>
              </a:ext>
            </a:extLst>
          </p:cNvPr>
          <p:cNvSpPr/>
          <p:nvPr/>
        </p:nvSpPr>
        <p:spPr>
          <a:xfrm>
            <a:off x="10054125" y="1875692"/>
            <a:ext cx="1750646" cy="1125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2C89B7-25DC-23DB-76E2-2101FF4630CC}"/>
              </a:ext>
            </a:extLst>
          </p:cNvPr>
          <p:cNvSpPr/>
          <p:nvPr/>
        </p:nvSpPr>
        <p:spPr>
          <a:xfrm>
            <a:off x="7989434" y="2082800"/>
            <a:ext cx="1750646" cy="134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BC7EF-1207-4F0F-4085-6F7355BFD5A2}"/>
              </a:ext>
            </a:extLst>
          </p:cNvPr>
          <p:cNvSpPr/>
          <p:nvPr/>
        </p:nvSpPr>
        <p:spPr>
          <a:xfrm>
            <a:off x="7989434" y="3428998"/>
            <a:ext cx="1750646" cy="9163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08534B-8BA5-2EE9-8BE5-A7A75A179E4F}"/>
              </a:ext>
            </a:extLst>
          </p:cNvPr>
          <p:cNvSpPr/>
          <p:nvPr/>
        </p:nvSpPr>
        <p:spPr>
          <a:xfrm>
            <a:off x="10019323" y="3027483"/>
            <a:ext cx="1750646" cy="48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32EE-101B-9310-3763-4069F53F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Knee Jerk Reflex</a:t>
            </a:r>
          </a:p>
        </p:txBody>
      </p:sp>
      <p:pic>
        <p:nvPicPr>
          <p:cNvPr id="5" name="Online Media 4" title="2-Minute Neuroscience: Knee-jerk Reflex">
            <a:hlinkClick r:id="" action="ppaction://media"/>
            <a:extLst>
              <a:ext uri="{FF2B5EF4-FFF2-40B4-BE49-F238E27FC236}">
                <a16:creationId xmlns:a16="http://schemas.microsoft.com/office/drawing/2014/main" id="{AFAB76EA-D30B-03C1-10DA-DE8018BE913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74514" y="1070708"/>
            <a:ext cx="10242971" cy="578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9D4A-8F4F-8836-B18A-2C8EC332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8172938" cy="1325563"/>
          </a:xfrm>
        </p:spPr>
        <p:txBody>
          <a:bodyPr/>
          <a:lstStyle/>
          <a:p>
            <a:pPr algn="ctr"/>
            <a:r>
              <a:rPr lang="en-US" dirty="0"/>
              <a:t>Another Example of Stretch Reflex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7219-638F-5854-6BD1-8880E718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462" y="1630241"/>
            <a:ext cx="8065477" cy="4351338"/>
          </a:xfrm>
        </p:spPr>
        <p:txBody>
          <a:bodyPr/>
          <a:lstStyle/>
          <a:p>
            <a:r>
              <a:rPr lang="en-US" dirty="0"/>
              <a:t>Adding liquid to the held mug stretches the bicep.</a:t>
            </a:r>
          </a:p>
          <a:p>
            <a:r>
              <a:rPr lang="en-US" dirty="0"/>
              <a:t>Muscle spindle activates and in turn activates the motor neuron innervating the bicep.</a:t>
            </a:r>
          </a:p>
          <a:p>
            <a:r>
              <a:rPr lang="en-US" dirty="0"/>
              <a:t>The afferent fiber also activates an inhibitory interneuron.</a:t>
            </a:r>
          </a:p>
          <a:p>
            <a:r>
              <a:rPr lang="en-US" dirty="0"/>
              <a:t>The interneuron inhibits the motor neuron innervating the </a:t>
            </a:r>
            <a:r>
              <a:rPr lang="en-US" dirty="0" err="1"/>
              <a:t>tricep</a:t>
            </a:r>
            <a:r>
              <a:rPr lang="en-US" dirty="0"/>
              <a:t> (antagonist)</a:t>
            </a:r>
          </a:p>
          <a:p>
            <a:r>
              <a:rPr lang="en-US" b="1" dirty="0"/>
              <a:t>Result: </a:t>
            </a:r>
            <a:r>
              <a:rPr lang="en-US" dirty="0"/>
              <a:t>bicep contracts to counteract the added weight to the mug. </a:t>
            </a:r>
            <a:r>
              <a:rPr lang="en-US" dirty="0" err="1"/>
              <a:t>Tricep</a:t>
            </a:r>
            <a:r>
              <a:rPr lang="en-US" dirty="0"/>
              <a:t> remains lengthened.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5F0A8-A726-E080-A5FB-A08A5F9E1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54"/>
          <a:stretch>
            <a:fillRect/>
          </a:stretch>
        </p:blipFill>
        <p:spPr>
          <a:xfrm>
            <a:off x="9011138" y="0"/>
            <a:ext cx="3180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4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uroscience6e-Fig-16-12-0.jpg">
            <a:extLst>
              <a:ext uri="{FF2B5EF4-FFF2-40B4-BE49-F238E27FC236}">
                <a16:creationId xmlns:a16="http://schemas.microsoft.com/office/drawing/2014/main" id="{9FD18B64-D364-4092-8A34-BB9192B519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7"/>
          <a:stretch/>
        </p:blipFill>
        <p:spPr>
          <a:xfrm>
            <a:off x="5419226" y="1185273"/>
            <a:ext cx="6772774" cy="55554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C336DE-824B-4371-BA2C-ED74705E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023" y="0"/>
            <a:ext cx="4827954" cy="1302504"/>
          </a:xfrm>
        </p:spPr>
        <p:txBody>
          <a:bodyPr/>
          <a:lstStyle/>
          <a:p>
            <a:r>
              <a:rPr lang="en-US" sz="4400" i="0" dirty="0">
                <a:solidFill>
                  <a:srgbClr val="000000"/>
                </a:solidFill>
                <a:effectLst/>
              </a:rPr>
              <a:t>Golgi Tendon Reflex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B105-0E4E-413D-9228-85CDA1AFE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85273"/>
            <a:ext cx="4911226" cy="5555496"/>
          </a:xfrm>
        </p:spPr>
        <p:txBody>
          <a:bodyPr>
            <a:noAutofit/>
          </a:bodyPr>
          <a:lstStyle/>
          <a:p>
            <a:r>
              <a:rPr lang="en-US" sz="2400" dirty="0"/>
              <a:t>Negative Feedback System: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muscle generates force </a:t>
            </a:r>
            <a:r>
              <a:rPr lang="en-US" dirty="0">
                <a:sym typeface="Wingdings" panose="05000000000000000000" pitchFamily="2" charset="2"/>
              </a:rPr>
              <a:t>deforming GTO </a:t>
            </a:r>
            <a:r>
              <a:rPr lang="en-US" b="1" dirty="0" err="1">
                <a:sym typeface="Wingdings" panose="05000000000000000000" pitchFamily="2" charset="2"/>
              </a:rPr>
              <a:t>Ib</a:t>
            </a:r>
            <a:r>
              <a:rPr lang="en-US" b="1" dirty="0">
                <a:sym typeface="Wingdings" panose="05000000000000000000" pitchFamily="2" charset="2"/>
              </a:rPr>
              <a:t> afferent </a:t>
            </a:r>
            <a:r>
              <a:rPr lang="en-US" dirty="0">
                <a:sym typeface="Wingdings" panose="05000000000000000000" pitchFamily="2" charset="2"/>
              </a:rPr>
              <a:t>receptors.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err="1">
                <a:sym typeface="Wingdings" panose="05000000000000000000" pitchFamily="2" charset="2"/>
              </a:rPr>
              <a:t>Ib</a:t>
            </a:r>
            <a:r>
              <a:rPr lang="en-US" sz="2400" dirty="0">
                <a:sym typeface="Wingdings" panose="05000000000000000000" pitchFamily="2" charset="2"/>
              </a:rPr>
              <a:t> afferents can excite inhibitory interneurons in the spinal cord.</a:t>
            </a:r>
            <a:endParaRPr lang="en-US" dirty="0">
              <a:sym typeface="Wingdings" panose="05000000000000000000" pitchFamily="2" charset="2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</a:t>
            </a:r>
            <a:r>
              <a:rPr lang="en-US" sz="2400" dirty="0">
                <a:sym typeface="Wingdings" panose="05000000000000000000" pitchFamily="2" charset="2"/>
              </a:rPr>
              <a:t>nterneuron inhibits </a:t>
            </a:r>
            <a:r>
              <a:rPr lang="el-GR" sz="2400" dirty="0">
                <a:sym typeface="Wingdings" panose="05000000000000000000" pitchFamily="2" charset="2"/>
              </a:rPr>
              <a:t>α</a:t>
            </a:r>
            <a:r>
              <a:rPr lang="en-US" sz="2400" dirty="0">
                <a:sym typeface="Wingdings" panose="05000000000000000000" pitchFamily="2" charset="2"/>
              </a:rPr>
              <a:t> motor neurons of the </a:t>
            </a:r>
            <a:r>
              <a:rPr lang="en-US" sz="2400" u="sng" dirty="0">
                <a:sym typeface="Wingdings" panose="05000000000000000000" pitchFamily="2" charset="2"/>
              </a:rPr>
              <a:t>same muscle </a:t>
            </a:r>
            <a:r>
              <a:rPr lang="en-US" sz="2400" dirty="0">
                <a:sym typeface="Wingdings" panose="05000000000000000000" pitchFamily="2" charset="2"/>
              </a:rPr>
              <a:t>leading to </a:t>
            </a:r>
            <a:r>
              <a:rPr lang="en-US" sz="2400" u="sng" dirty="0">
                <a:sym typeface="Wingdings" panose="05000000000000000000" pitchFamily="2" charset="2"/>
              </a:rPr>
              <a:t>decreased </a:t>
            </a:r>
            <a:r>
              <a:rPr lang="en-US" sz="2400" dirty="0">
                <a:sym typeface="Wingdings" panose="05000000000000000000" pitchFamily="2" charset="2"/>
              </a:rPr>
              <a:t>activation of the muscle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There are also excitatory interneurons that when excited by </a:t>
            </a:r>
            <a:r>
              <a:rPr lang="en-US" dirty="0" err="1">
                <a:sym typeface="Wingdings" panose="05000000000000000000" pitchFamily="2" charset="2"/>
              </a:rPr>
              <a:t>Ib</a:t>
            </a:r>
            <a:r>
              <a:rPr lang="en-US" dirty="0">
                <a:sym typeface="Wingdings" panose="05000000000000000000" pitchFamily="2" charset="2"/>
              </a:rPr>
              <a:t> afferents then excite </a:t>
            </a:r>
            <a:r>
              <a:rPr lang="en-US" u="sng" dirty="0">
                <a:sym typeface="Wingdings" panose="05000000000000000000" pitchFamily="2" charset="2"/>
              </a:rPr>
              <a:t>antagonist </a:t>
            </a:r>
            <a:r>
              <a:rPr lang="en-US" dirty="0">
                <a:sym typeface="Wingdings" panose="05000000000000000000" pitchFamily="2" charset="2"/>
              </a:rPr>
              <a:t>motor neurons.</a:t>
            </a: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3934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3BF5-8DC6-4E4D-9CDB-7F287F6F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607" y="146347"/>
            <a:ext cx="3522785" cy="845994"/>
          </a:xfrm>
        </p:spPr>
        <p:txBody>
          <a:bodyPr/>
          <a:lstStyle/>
          <a:p>
            <a:r>
              <a:rPr lang="en-US" dirty="0"/>
              <a:t>Flexion Reflex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095A7-F21E-4720-8763-38E2AA2D1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38687"/>
            <a:ext cx="7689131" cy="5454137"/>
          </a:xfrm>
        </p:spPr>
        <p:txBody>
          <a:bodyPr>
            <a:normAutofit/>
          </a:bodyPr>
          <a:lstStyle/>
          <a:p>
            <a:r>
              <a:rPr lang="en-US" sz="2400" dirty="0"/>
              <a:t>Nociceptors send A</a:t>
            </a:r>
            <a:r>
              <a:rPr lang="el-GR" sz="2400" dirty="0"/>
              <a:t>δ</a:t>
            </a:r>
            <a:r>
              <a:rPr lang="en-US" sz="2400" dirty="0"/>
              <a:t> fibers</a:t>
            </a:r>
            <a:r>
              <a:rPr lang="el-GR" sz="2400" dirty="0">
                <a:solidFill>
                  <a:schemeClr val="bg1"/>
                </a:solidFill>
              </a:rPr>
              <a:t> </a:t>
            </a:r>
            <a:r>
              <a:rPr lang="en-US" sz="2400" dirty="0"/>
              <a:t>to dorsal horn interneurons</a:t>
            </a:r>
          </a:p>
          <a:p>
            <a:pPr lvl="1"/>
            <a:r>
              <a:rPr lang="en-US" dirty="0"/>
              <a:t>Limb withdrawal</a:t>
            </a:r>
          </a:p>
          <a:p>
            <a:pPr lvl="2"/>
            <a:r>
              <a:rPr lang="en-US" sz="2400" dirty="0"/>
              <a:t>activate ipsilateral excitatory interneurons leading to contraction of flexor muscle </a:t>
            </a:r>
          </a:p>
          <a:p>
            <a:pPr lvl="2"/>
            <a:r>
              <a:rPr lang="en-US" sz="2400" dirty="0"/>
              <a:t>activate ipsilateral inhibitory interneurons to the extensor muscle</a:t>
            </a:r>
          </a:p>
          <a:p>
            <a:pPr lvl="1"/>
            <a:r>
              <a:rPr lang="en-US" dirty="0"/>
              <a:t>Stabilize body via opposite contralateral response</a:t>
            </a:r>
          </a:p>
          <a:p>
            <a:pPr lvl="2"/>
            <a:r>
              <a:rPr lang="en-US" sz="2400" dirty="0"/>
              <a:t>inhibit contralateral flexor muscle</a:t>
            </a:r>
          </a:p>
          <a:p>
            <a:pPr lvl="2"/>
            <a:r>
              <a:rPr lang="en-US" sz="2400" dirty="0"/>
              <a:t>activate contralateral extensor muscle</a:t>
            </a:r>
          </a:p>
          <a:p>
            <a:endParaRPr lang="en-US" sz="2400" dirty="0"/>
          </a:p>
          <a:p>
            <a:pPr lvl="2"/>
            <a:endParaRPr lang="en-US" dirty="0"/>
          </a:p>
        </p:txBody>
      </p:sp>
      <p:pic>
        <p:nvPicPr>
          <p:cNvPr id="4" name="Picture 3" descr="Neuroscience6e-Fig-16-14-0.jpg">
            <a:extLst>
              <a:ext uri="{FF2B5EF4-FFF2-40B4-BE49-F238E27FC236}">
                <a16:creationId xmlns:a16="http://schemas.microsoft.com/office/drawing/2014/main" id="{7BF1E94A-D7B5-45C1-94B1-228D82DAF8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8"/>
          <a:stretch/>
        </p:blipFill>
        <p:spPr>
          <a:xfrm>
            <a:off x="7993931" y="0"/>
            <a:ext cx="3659052" cy="685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3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BBE5-034E-EC61-10CC-B854B9A8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C93C-661D-7621-BCD2-39ABFCE2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Flexion (Withdrawal) Reflex</a:t>
            </a:r>
          </a:p>
        </p:txBody>
      </p:sp>
      <p:pic>
        <p:nvPicPr>
          <p:cNvPr id="3" name="Online Media 2" title="2-Minute Neuroscience: Withdrawal Reflex">
            <a:hlinkClick r:id="" action="ppaction://media"/>
            <a:extLst>
              <a:ext uri="{FF2B5EF4-FFF2-40B4-BE49-F238E27FC236}">
                <a16:creationId xmlns:a16="http://schemas.microsoft.com/office/drawing/2014/main" id="{DDF883D1-B07F-4462-5B86-D7350A70F9F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50593" y="1156677"/>
            <a:ext cx="10090814" cy="57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3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B777-4155-6F3A-F322-8B0905DD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00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Comparing and Contrasting Spinal Reflexes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13F9AD-DE4E-23CE-BD5C-6E5F4DC49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281685"/>
              </p:ext>
            </p:extLst>
          </p:nvPr>
        </p:nvGraphicFramePr>
        <p:xfrm>
          <a:off x="902804" y="1565642"/>
          <a:ext cx="10386392" cy="4297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596598">
                  <a:extLst>
                    <a:ext uri="{9D8B030D-6E8A-4147-A177-3AD203B41FA5}">
                      <a16:colId xmlns:a16="http://schemas.microsoft.com/office/drawing/2014/main" val="247917757"/>
                    </a:ext>
                  </a:extLst>
                </a:gridCol>
                <a:gridCol w="2596598">
                  <a:extLst>
                    <a:ext uri="{9D8B030D-6E8A-4147-A177-3AD203B41FA5}">
                      <a16:colId xmlns:a16="http://schemas.microsoft.com/office/drawing/2014/main" val="1271243593"/>
                    </a:ext>
                  </a:extLst>
                </a:gridCol>
                <a:gridCol w="2596598">
                  <a:extLst>
                    <a:ext uri="{9D8B030D-6E8A-4147-A177-3AD203B41FA5}">
                      <a16:colId xmlns:a16="http://schemas.microsoft.com/office/drawing/2014/main" val="1213951931"/>
                    </a:ext>
                  </a:extLst>
                </a:gridCol>
                <a:gridCol w="2596598">
                  <a:extLst>
                    <a:ext uri="{9D8B030D-6E8A-4147-A177-3AD203B41FA5}">
                      <a16:colId xmlns:a16="http://schemas.microsoft.com/office/drawing/2014/main" val="2280088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Stretch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Golgi Tendon Organ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Flexion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905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9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Sensory Afferent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956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Resulting Muscle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8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Stimulus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72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62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C2F3-5DB6-425D-AB02-5F10C7EC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Central Pattern Generators (CPGs)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CD2EA-6279-49BA-8FE1-0CFBB9B79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25600"/>
            <a:ext cx="6328509" cy="4027201"/>
          </a:xfrm>
        </p:spPr>
        <p:txBody>
          <a:bodyPr>
            <a:normAutofit/>
          </a:bodyPr>
          <a:lstStyle/>
          <a:p>
            <a:r>
              <a:rPr lang="en-US" dirty="0"/>
              <a:t>CPGs</a:t>
            </a:r>
            <a:r>
              <a:rPr lang="en-US" b="1" dirty="0"/>
              <a:t> </a:t>
            </a:r>
            <a:r>
              <a:rPr lang="en-US" dirty="0"/>
              <a:t>within local spinal cord circuits can control timing and coordination of complex movement patterns and  adjust in response to changes. </a:t>
            </a:r>
          </a:p>
          <a:p>
            <a:pPr lvl="1"/>
            <a:r>
              <a:rPr lang="en-US" sz="2800" b="0" i="0" dirty="0">
                <a:effectLst/>
              </a:rPr>
              <a:t>supports rhythmic motor behavior</a:t>
            </a:r>
          </a:p>
        </p:txBody>
      </p:sp>
      <p:pic>
        <p:nvPicPr>
          <p:cNvPr id="1028" name="Picture 4" descr="White Cat Walking GIFs | Tenor">
            <a:extLst>
              <a:ext uri="{FF2B5EF4-FFF2-40B4-BE49-F238E27FC236}">
                <a16:creationId xmlns:a16="http://schemas.microsoft.com/office/drawing/2014/main" id="{00D4F5C4-687F-F0EA-33EE-B85276C6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708" y="1625600"/>
            <a:ext cx="4187092" cy="523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769E9B-9AA3-BE94-EC31-1D2BDECAD0CE}"/>
              </a:ext>
            </a:extLst>
          </p:cNvPr>
          <p:cNvSpPr txBox="1"/>
          <p:nvPr/>
        </p:nvSpPr>
        <p:spPr>
          <a:xfrm>
            <a:off x="4204677" y="6611779"/>
            <a:ext cx="29620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https://tenor.com/search/white-cat-walking-gifs</a:t>
            </a:r>
          </a:p>
        </p:txBody>
      </p:sp>
    </p:spTree>
    <p:extLst>
      <p:ext uri="{BB962C8B-B14F-4D97-AF65-F5344CB8AC3E}">
        <p14:creationId xmlns:p14="http://schemas.microsoft.com/office/powerpoint/2010/main" val="412427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C2F3-5DB6-425D-AB02-5F10C7EC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CPGs and Walking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CD2EA-6279-49BA-8FE1-0CFBB9B79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8" y="1376312"/>
            <a:ext cx="5512426" cy="54816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 phases:</a:t>
            </a:r>
          </a:p>
          <a:p>
            <a:pPr lvl="1"/>
            <a:r>
              <a:rPr lang="en-US" sz="2800" dirty="0"/>
              <a:t>Stance: limb is extended and placed in contact with the ground</a:t>
            </a:r>
          </a:p>
          <a:p>
            <a:pPr lvl="1"/>
            <a:r>
              <a:rPr lang="en-US" sz="2800" dirty="0"/>
              <a:t>Swing: limb is flexed, lifted and brought forward</a:t>
            </a:r>
          </a:p>
          <a:p>
            <a:r>
              <a:rPr lang="en-US" dirty="0"/>
              <a:t>Modules for flexion and extension receive input from excitatory rhythm generating interneurons, which are reciprocally inhibited by interneurons.</a:t>
            </a:r>
          </a:p>
          <a:p>
            <a:r>
              <a:rPr lang="en-US" dirty="0"/>
              <a:t>While higher regions contribute, they are </a:t>
            </a:r>
            <a:r>
              <a:rPr lang="en-US" b="1" i="1" dirty="0"/>
              <a:t>not required</a:t>
            </a:r>
            <a:r>
              <a:rPr lang="en-US" dirty="0"/>
              <a:t>. </a:t>
            </a:r>
          </a:p>
          <a:p>
            <a:pPr lvl="1"/>
            <a:r>
              <a:rPr lang="en-US" sz="2800" dirty="0"/>
              <a:t>Stepping &amp; pace changes can occur in fully spinally transected and decerebrate animals. </a:t>
            </a:r>
          </a:p>
          <a:p>
            <a:endParaRPr lang="en-US" dirty="0"/>
          </a:p>
        </p:txBody>
      </p:sp>
      <p:pic>
        <p:nvPicPr>
          <p:cNvPr id="4" name="Picture 3" descr="Neuroscience6e-Fig-16-15-3R.jpg">
            <a:extLst>
              <a:ext uri="{FF2B5EF4-FFF2-40B4-BE49-F238E27FC236}">
                <a16:creationId xmlns:a16="http://schemas.microsoft.com/office/drawing/2014/main" id="{8E39343F-F901-4486-83FD-97ED30592E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7" r="2380" b="7309"/>
          <a:stretch/>
        </p:blipFill>
        <p:spPr>
          <a:xfrm>
            <a:off x="5956681" y="1376312"/>
            <a:ext cx="5816751" cy="33088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A0807-E2BF-B899-787F-B3B16C874C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387" r="46613"/>
          <a:stretch>
            <a:fillRect/>
          </a:stretch>
        </p:blipFill>
        <p:spPr>
          <a:xfrm>
            <a:off x="5956680" y="4415692"/>
            <a:ext cx="2908375" cy="244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7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Decerebrate Cat walks and exhibits multiple gait patterns">
            <a:hlinkClick r:id="" action="ppaction://media"/>
            <a:extLst>
              <a:ext uri="{FF2B5EF4-FFF2-40B4-BE49-F238E27FC236}">
                <a16:creationId xmlns:a16="http://schemas.microsoft.com/office/drawing/2014/main" id="{1C5746D5-1948-BAAA-D283-E4792DB5311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12741" y="0"/>
            <a:ext cx="9166517" cy="687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4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24C1-E40B-D9C7-519B-026BCE7D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02877"/>
          </a:xfrm>
        </p:spPr>
        <p:txBody>
          <a:bodyPr/>
          <a:lstStyle/>
          <a:p>
            <a:pPr algn="ctr"/>
            <a:r>
              <a:rPr lang="en-US" dirty="0"/>
              <a:t>Signs of LMN Damage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8158E-4E40-4DE3-7029-54D9444FA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93" r="43048" b="5228"/>
          <a:stretch>
            <a:fillRect/>
          </a:stretch>
        </p:blipFill>
        <p:spPr>
          <a:xfrm>
            <a:off x="5684194" y="1045134"/>
            <a:ext cx="6507806" cy="58128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B01770-0E1B-E846-8789-B2F247700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8" y="1102876"/>
            <a:ext cx="5296006" cy="5755123"/>
          </a:xfrm>
        </p:spPr>
        <p:txBody>
          <a:bodyPr>
            <a:normAutofit/>
          </a:bodyPr>
          <a:lstStyle/>
          <a:p>
            <a:r>
              <a:rPr lang="en-US" b="1" dirty="0"/>
              <a:t>Paralysis: </a:t>
            </a:r>
            <a:r>
              <a:rPr lang="en-US" dirty="0"/>
              <a:t>loss of movement</a:t>
            </a:r>
          </a:p>
          <a:p>
            <a:r>
              <a:rPr lang="en-US" sz="2800" b="1" dirty="0"/>
              <a:t>Paresis: </a:t>
            </a:r>
            <a:r>
              <a:rPr lang="en-US" sz="2800" dirty="0"/>
              <a:t>weakness of muscles</a:t>
            </a:r>
          </a:p>
          <a:p>
            <a:endParaRPr lang="en-US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b="1" dirty="0"/>
              <a:t>Fibrillations: </a:t>
            </a:r>
            <a:r>
              <a:rPr lang="en-US" dirty="0"/>
              <a:t>spontaneous twitch associated with a denervated muscle fiber</a:t>
            </a:r>
          </a:p>
          <a:p>
            <a:r>
              <a:rPr lang="en-US" sz="2800" b="1" dirty="0"/>
              <a:t>Fasciculations</a:t>
            </a:r>
            <a:r>
              <a:rPr lang="en-US" b="1" dirty="0"/>
              <a:t>: </a:t>
            </a:r>
            <a:r>
              <a:rPr lang="en-US" dirty="0"/>
              <a:t>spontaneous twitches associated with pathological activity of injured motor neurons.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03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</TotalTime>
  <Words>636</Words>
  <Application>Microsoft Office PowerPoint</Application>
  <PresentationFormat>Widescreen</PresentationFormat>
  <Paragraphs>91</Paragraphs>
  <Slides>14</Slides>
  <Notes>13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Some motor commands originate in the Spinal cord</vt:lpstr>
      <vt:lpstr>Muscle Pairs</vt:lpstr>
      <vt:lpstr>PowerPoint Presentation</vt:lpstr>
      <vt:lpstr>PowerPoint Presentation</vt:lpstr>
      <vt:lpstr>The Knee Jerk Reflex</vt:lpstr>
      <vt:lpstr>Another Example of Stretch Reflex</vt:lpstr>
      <vt:lpstr>Golgi Tendon Reflex</vt:lpstr>
      <vt:lpstr>Flexion Reflex</vt:lpstr>
      <vt:lpstr>The Flexion (Withdrawal) Reflex</vt:lpstr>
      <vt:lpstr>Comparing and Contrasting Spinal Reflexes</vt:lpstr>
      <vt:lpstr>Central Pattern Generators (CPGs)</vt:lpstr>
      <vt:lpstr>CPGs and Walking</vt:lpstr>
      <vt:lpstr>PowerPoint Presentation</vt:lpstr>
      <vt:lpstr>Signs of LMN Damage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82</cp:revision>
  <dcterms:created xsi:type="dcterms:W3CDTF">2025-10-21T15:15:45Z</dcterms:created>
  <dcterms:modified xsi:type="dcterms:W3CDTF">2026-03-24T17:56:42Z</dcterms:modified>
</cp:coreProperties>
</file>