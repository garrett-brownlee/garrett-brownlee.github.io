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3"/>
  </p:notesMasterIdLst>
  <p:sldIdLst>
    <p:sldId id="453" r:id="rId2"/>
    <p:sldId id="382" r:id="rId3"/>
    <p:sldId id="383" r:id="rId4"/>
    <p:sldId id="384" r:id="rId5"/>
    <p:sldId id="454" r:id="rId6"/>
    <p:sldId id="360" r:id="rId7"/>
    <p:sldId id="455" r:id="rId8"/>
    <p:sldId id="367" r:id="rId9"/>
    <p:sldId id="368" r:id="rId10"/>
    <p:sldId id="456" r:id="rId11"/>
    <p:sldId id="457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286" autoAdjust="0"/>
    <p:restoredTop sz="84758" autoAdjust="0"/>
  </p:normalViewPr>
  <p:slideViewPr>
    <p:cSldViewPr snapToGrid="0">
      <p:cViewPr varScale="1">
        <p:scale>
          <a:sx n="53" d="100"/>
          <a:sy n="53" d="100"/>
        </p:scale>
        <p:origin x="10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42B88F-780F-478B-BCB1-9EEE6F75E934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D6773D-0560-4D5A-A480-BC64BA8E872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469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2BDEBD-FF02-8EB5-250E-5D08CBA95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9852766-6355-31E4-FA78-FBB81C4FD6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462668-DE0C-2F61-9883-288330A61A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0B3C76-4A85-231F-D782-D4D0527697C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614059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6999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8765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6817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861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86706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18236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E5F915-560F-4B82-ABB4-161B81F34C1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03973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62898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73AE10-E53F-78B3-D1C7-47A142EAB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B2BFF29-8DC5-37C5-1BFE-468DD2AFDA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CC3B12-C3D2-8073-6FA3-C58D8B2A6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BA14E1-C81F-37DB-313D-B3A4D02D74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AD6773D-0560-4D5A-A480-BC64BA8E8722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1100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1513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0708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58081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35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32780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28467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2839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51169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89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3606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78486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954235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676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5798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924272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42227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801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731A2-3C6B-4801-98CD-7F4FBF32C4E7}" type="datetimeFigureOut">
              <a:rPr lang="en-US" smtClean="0"/>
              <a:t>3/14/2026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1DFBA-BA18-471D-9A6D-C34F3937D9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67170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A8B3C-3E3E-2F71-7961-DBDFBE064C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22981C42-0A67-9B2D-D3C3-EC083BE46680}"/>
              </a:ext>
            </a:extLst>
          </p:cNvPr>
          <p:cNvSpPr txBox="1">
            <a:spLocks/>
          </p:cNvSpPr>
          <p:nvPr/>
        </p:nvSpPr>
        <p:spPr>
          <a:xfrm>
            <a:off x="571500" y="2405417"/>
            <a:ext cx="11048999" cy="20471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5400" kern="1200" spc="-120" baseline="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dirty="0">
                <a:solidFill>
                  <a:schemeClr val="bg1"/>
                </a:solidFill>
              </a:rPr>
              <a:t>Perception of Pain</a:t>
            </a:r>
            <a:endParaRPr lang="en-US" sz="6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2401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85FA42-17E0-49C5-918F-986956016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1570" y="1091388"/>
            <a:ext cx="5304430" cy="578495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Brain to</a:t>
            </a: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 spinal cord pathway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Stimulating any of these regions is associated with analgesia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Can inhibit or facilitate signaling within spinal cord circuits</a:t>
            </a:r>
          </a:p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Sensitive to endogenous opioids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Enkephalins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Endorphins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Dynorphins  </a:t>
            </a:r>
          </a:p>
          <a:p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Also involved in pain relief of endocannabinoids.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endParaRPr lang="en-US" dirty="0"/>
          </a:p>
        </p:txBody>
      </p:sp>
      <p:pic>
        <p:nvPicPr>
          <p:cNvPr id="5" name="Picture 4" descr="Neuroscience6e-Fig-10-08-1R.jpg">
            <a:extLst>
              <a:ext uri="{FF2B5EF4-FFF2-40B4-BE49-F238E27FC236}">
                <a16:creationId xmlns:a16="http://schemas.microsoft.com/office/drawing/2014/main" id="{2C3E70DD-0E61-418F-BA9E-312D002A1F54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271"/>
          <a:stretch/>
        </p:blipFill>
        <p:spPr>
          <a:xfrm>
            <a:off x="6075716" y="1060043"/>
            <a:ext cx="6116284" cy="58163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65A8B7C-6B14-4C62-97DA-FB851B255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6435" y="-18344"/>
            <a:ext cx="6398561" cy="1062714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</a:rPr>
              <a:t>Descending Control of Pain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0E4ADCC-35BD-6F4B-A762-DB69B5AE367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0406"/>
          <a:stretch>
            <a:fillRect/>
          </a:stretch>
        </p:blipFill>
        <p:spPr>
          <a:xfrm>
            <a:off x="2235949" y="1075715"/>
            <a:ext cx="3839766" cy="5377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3944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444B0-694A-4AB6-A675-5A6186D978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27296"/>
            <a:ext cx="10058400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Descending control of pain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7AD884-C367-4B62-B4C8-EF1C2BE760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799" y="1371599"/>
            <a:ext cx="7716983" cy="5459105"/>
          </a:xfrm>
        </p:spPr>
        <p:txBody>
          <a:bodyPr>
            <a:no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Pain perception depends on may factors: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Activity of the autonomic nervous system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Attention/Distraction: 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Generally, distraction reduces pain experience</a:t>
            </a:r>
          </a:p>
          <a:p>
            <a:pPr lvl="2"/>
            <a:r>
              <a:rPr lang="en-US" sz="2400" dirty="0">
                <a:solidFill>
                  <a:schemeClr val="bg1"/>
                </a:solidFill>
              </a:rPr>
              <a:t>Contrasts with mindfulness meditation approach: non-judgmental awareness of the present-moment experience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Expectation </a:t>
            </a:r>
          </a:p>
          <a:p>
            <a:pPr lvl="2"/>
            <a:r>
              <a:rPr lang="en-US" sz="2400" b="1" dirty="0">
                <a:solidFill>
                  <a:schemeClr val="bg1"/>
                </a:solidFill>
              </a:rPr>
              <a:t>Placebo Effect: </a:t>
            </a:r>
            <a:r>
              <a:rPr lang="en-US" sz="2400" dirty="0">
                <a:solidFill>
                  <a:schemeClr val="bg1"/>
                </a:solidFill>
              </a:rPr>
              <a:t>effect of an “inert” remedy; associated with the </a:t>
            </a:r>
            <a:r>
              <a:rPr lang="en-US" sz="2400" u="sng" dirty="0">
                <a:solidFill>
                  <a:schemeClr val="bg1"/>
                </a:solidFill>
              </a:rPr>
              <a:t>release of endogenous opioids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Acupuncture and hypnosis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BA7D19-590A-BFFF-3C22-D0C603C5E8C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9898" t="6667" r="36263" b="4242"/>
          <a:stretch>
            <a:fillRect/>
          </a:stretch>
        </p:blipFill>
        <p:spPr>
          <a:xfrm>
            <a:off x="8783782" y="1344303"/>
            <a:ext cx="1468016" cy="5486401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910E3BE-90D2-BA8E-741C-EC5586313FEF}"/>
              </a:ext>
            </a:extLst>
          </p:cNvPr>
          <p:cNvSpPr/>
          <p:nvPr/>
        </p:nvSpPr>
        <p:spPr>
          <a:xfrm>
            <a:off x="8783782" y="2024743"/>
            <a:ext cx="142504" cy="1121228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22A95991-C84D-3379-FC11-FE40635944BE}"/>
              </a:ext>
            </a:extLst>
          </p:cNvPr>
          <p:cNvSpPr/>
          <p:nvPr/>
        </p:nvSpPr>
        <p:spPr>
          <a:xfrm>
            <a:off x="10515600" y="1344303"/>
            <a:ext cx="435429" cy="5132697"/>
          </a:xfrm>
          <a:prstGeom prst="down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7401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F35B60-3F84-49E7-97DB-76184C06C7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50537"/>
            <a:ext cx="10058400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Local circuit modulation of pain: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Gate Control Theory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4BB194-4EAB-465C-8CFD-5B092A600B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444872"/>
            <a:ext cx="5268038" cy="174321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Mechanism 2:</a:t>
            </a:r>
            <a:r>
              <a:rPr lang="en-US" dirty="0">
                <a:solidFill>
                  <a:schemeClr val="bg1"/>
                </a:solidFill>
              </a:rPr>
              <a:t> By activating low threshold mechanoreceptors, we can block transmission of pain signals to the brain.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FB62EF8-2794-58D2-132F-AD803B5015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754" r="7909" b="-1"/>
          <a:stretch>
            <a:fillRect/>
          </a:stretch>
        </p:blipFill>
        <p:spPr>
          <a:xfrm>
            <a:off x="596430" y="3188166"/>
            <a:ext cx="5644248" cy="368497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8B3528C-94E8-CAEF-2B55-F1D7903619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46269"/>
          <a:stretch>
            <a:fillRect/>
          </a:stretch>
        </p:blipFill>
        <p:spPr>
          <a:xfrm>
            <a:off x="6240676" y="3188166"/>
            <a:ext cx="5123362" cy="3684896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25610B2-3D14-5834-0360-FDD4CC604C68}"/>
              </a:ext>
            </a:extLst>
          </p:cNvPr>
          <p:cNvSpPr txBox="1">
            <a:spLocks/>
          </p:cNvSpPr>
          <p:nvPr/>
        </p:nvSpPr>
        <p:spPr>
          <a:xfrm>
            <a:off x="596429" y="1444873"/>
            <a:ext cx="5644247" cy="17432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b="1" dirty="0">
                <a:solidFill>
                  <a:schemeClr val="bg1"/>
                </a:solidFill>
              </a:rPr>
              <a:t>Mechanism 1:</a:t>
            </a:r>
            <a:r>
              <a:rPr lang="en-US" dirty="0">
                <a:solidFill>
                  <a:schemeClr val="bg1"/>
                </a:solidFill>
              </a:rPr>
              <a:t> Descending inputs from the brainstem modulate the transmission of pain signals in the dorsal horn.</a:t>
            </a:r>
          </a:p>
        </p:txBody>
      </p:sp>
    </p:spTree>
    <p:extLst>
      <p:ext uri="{BB962C8B-B14F-4D97-AF65-F5344CB8AC3E}">
        <p14:creationId xmlns:p14="http://schemas.microsoft.com/office/powerpoint/2010/main" val="963749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3EEEB7-DD61-BB65-7551-8516932A4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20982"/>
            <a:ext cx="9905998" cy="147857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There are two types of pain sensitization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C074385-3E31-6455-F230-2BF3F38A9EA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39874556"/>
              </p:ext>
            </p:extLst>
          </p:nvPr>
        </p:nvGraphicFramePr>
        <p:xfrm>
          <a:off x="1749132" y="2280521"/>
          <a:ext cx="8690558" cy="3779520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4345279">
                  <a:extLst>
                    <a:ext uri="{9D8B030D-6E8A-4147-A177-3AD203B41FA5}">
                      <a16:colId xmlns:a16="http://schemas.microsoft.com/office/drawing/2014/main" val="972214528"/>
                    </a:ext>
                  </a:extLst>
                </a:gridCol>
                <a:gridCol w="4345279">
                  <a:extLst>
                    <a:ext uri="{9D8B030D-6E8A-4147-A177-3AD203B41FA5}">
                      <a16:colId xmlns:a16="http://schemas.microsoft.com/office/drawing/2014/main" val="384944948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Peripheral Sensitization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Central sensitization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140380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Slightly noxious stimuli perceived as </a:t>
                      </a:r>
                      <a:r>
                        <a:rPr lang="en-US" sz="2800" b="1" dirty="0">
                          <a:solidFill>
                            <a:schemeClr val="bg1"/>
                          </a:solidFill>
                        </a:rPr>
                        <a:t>more painful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Innocuous stimuli perceived as painful (aka </a:t>
                      </a:r>
                      <a:r>
                        <a:rPr lang="en-US" sz="2800" i="1" dirty="0">
                          <a:solidFill>
                            <a:schemeClr val="bg1"/>
                          </a:solidFill>
                        </a:rPr>
                        <a:t>allodynia</a:t>
                      </a: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)</a:t>
                      </a:r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67637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Ex. Going into a hot tub with a bad sunburn.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dirty="0"/>
                        <a:t>Ex. Poking a sunburn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057495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Involves mechanisms of </a:t>
                      </a:r>
                      <a:r>
                        <a:rPr lang="en-US" sz="2800" i="1" u="sng" dirty="0">
                          <a:solidFill>
                            <a:schemeClr val="bg1"/>
                          </a:solidFill>
                        </a:rPr>
                        <a:t>primary hyperalgesia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>
                          <a:solidFill>
                            <a:schemeClr val="bg1"/>
                          </a:solidFill>
                        </a:rPr>
                        <a:t>Involves mechanisms of </a:t>
                      </a:r>
                      <a:r>
                        <a:rPr lang="en-US" sz="2800" i="1" u="sng" dirty="0">
                          <a:solidFill>
                            <a:schemeClr val="bg1"/>
                          </a:solidFill>
                        </a:rPr>
                        <a:t>secondary hyperalgesia</a:t>
                      </a:r>
                    </a:p>
                    <a:p>
                      <a:endParaRPr lang="en-US" sz="2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7057476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245E1E-929E-DD27-20E7-88BB9A935A4F}"/>
              </a:ext>
            </a:extLst>
          </p:cNvPr>
          <p:cNvSpPr txBox="1">
            <a:spLocks/>
          </p:cNvSpPr>
          <p:nvPr/>
        </p:nvSpPr>
        <p:spPr>
          <a:xfrm>
            <a:off x="2247746" y="1311724"/>
            <a:ext cx="7693329" cy="7809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SzPct val="125000"/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SzPct val="125000"/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800" dirty="0">
                <a:solidFill>
                  <a:schemeClr val="bg1"/>
                </a:solidFill>
              </a:rPr>
              <a:t>Pain sensitization = becoming </a:t>
            </a:r>
            <a:r>
              <a:rPr lang="en-US" sz="2800" b="1" dirty="0">
                <a:solidFill>
                  <a:schemeClr val="bg1"/>
                </a:solidFill>
              </a:rPr>
              <a:t>more sensitive </a:t>
            </a:r>
            <a:r>
              <a:rPr lang="en-US" sz="2800" dirty="0">
                <a:solidFill>
                  <a:schemeClr val="bg1"/>
                </a:solidFill>
              </a:rPr>
              <a:t>to pain</a:t>
            </a:r>
          </a:p>
        </p:txBody>
      </p:sp>
    </p:spTree>
    <p:extLst>
      <p:ext uri="{BB962C8B-B14F-4D97-AF65-F5344CB8AC3E}">
        <p14:creationId xmlns:p14="http://schemas.microsoft.com/office/powerpoint/2010/main" val="3836795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8C30-0012-4A6D-8447-9E46A8B0C8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40943"/>
            <a:ext cx="10058400" cy="873457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Peripheral sensitization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BDF36A-E9FE-42C0-89CE-9B25FECE36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7516" y="914400"/>
            <a:ext cx="6942400" cy="5902657"/>
          </a:xfrm>
        </p:spPr>
        <p:txBody>
          <a:bodyPr>
            <a:normAutofit fontScale="92500" lnSpcReduction="10000"/>
          </a:bodyPr>
          <a:lstStyle/>
          <a:p>
            <a:r>
              <a:rPr lang="en-US" sz="2600" dirty="0">
                <a:solidFill>
                  <a:schemeClr val="bg1"/>
                </a:solidFill>
              </a:rPr>
              <a:t>Tissue damage elicits an inflammatory response that </a:t>
            </a:r>
            <a:r>
              <a:rPr lang="en-US" sz="2600" b="1" dirty="0">
                <a:solidFill>
                  <a:schemeClr val="bg1"/>
                </a:solidFill>
              </a:rPr>
              <a:t>enhances</a:t>
            </a:r>
            <a:r>
              <a:rPr lang="en-US" sz="2600" dirty="0">
                <a:solidFill>
                  <a:schemeClr val="bg1"/>
                </a:solidFill>
              </a:rPr>
              <a:t> nociception.</a:t>
            </a:r>
          </a:p>
          <a:p>
            <a:pPr lvl="1"/>
            <a:r>
              <a:rPr lang="en-US" sz="2600" dirty="0">
                <a:solidFill>
                  <a:schemeClr val="bg1"/>
                </a:solidFill>
                <a:sym typeface="Wingdings" panose="05000000000000000000" pitchFamily="2" charset="2"/>
              </a:rPr>
              <a:t>breaks cells &amp; allows in potential infectious agents</a:t>
            </a:r>
          </a:p>
          <a:p>
            <a:pPr lvl="1"/>
            <a:r>
              <a:rPr lang="en-US" sz="2600" dirty="0">
                <a:solidFill>
                  <a:schemeClr val="bg1"/>
                </a:solidFill>
                <a:sym typeface="Wingdings" panose="05000000000000000000" pitchFamily="2" charset="2"/>
              </a:rPr>
              <a:t>This activates nociceptors and immune cells </a:t>
            </a:r>
          </a:p>
          <a:p>
            <a:pPr lvl="2"/>
            <a:r>
              <a:rPr lang="en-US" sz="2600" dirty="0">
                <a:solidFill>
                  <a:schemeClr val="bg1"/>
                </a:solidFill>
                <a:sym typeface="Wingdings" panose="05000000000000000000" pitchFamily="2" charset="2"/>
              </a:rPr>
              <a:t>Nociceptors release more inflammatory mediators (e.g., Substance P, CGRP, ATP) </a:t>
            </a:r>
          </a:p>
          <a:p>
            <a:pPr lvl="2"/>
            <a:r>
              <a:rPr lang="en-US" sz="2600" dirty="0">
                <a:solidFill>
                  <a:schemeClr val="bg1"/>
                </a:solidFill>
                <a:sym typeface="Wingdings" panose="05000000000000000000" pitchFamily="2" charset="2"/>
              </a:rPr>
              <a:t>Non-neural cells release protons, histamine, prostaglandins, bradykinin, 5-HT …)  inflammation</a:t>
            </a:r>
          </a:p>
          <a:p>
            <a:pPr lvl="1"/>
            <a:r>
              <a:rPr lang="en-US" sz="2600" dirty="0">
                <a:solidFill>
                  <a:schemeClr val="bg1"/>
                </a:solidFill>
                <a:sym typeface="Wingdings" panose="05000000000000000000" pitchFamily="2" charset="2"/>
              </a:rPr>
              <a:t>Stimulates production of chemicals that act on nociceptors to </a:t>
            </a:r>
            <a:r>
              <a:rPr lang="en-US" sz="2600" b="1" dirty="0">
                <a:solidFill>
                  <a:schemeClr val="bg1"/>
                </a:solidFill>
                <a:sym typeface="Wingdings" panose="05000000000000000000" pitchFamily="2" charset="2"/>
              </a:rPr>
              <a:t>increase firing rates</a:t>
            </a:r>
            <a:r>
              <a:rPr lang="en-US" sz="2600" dirty="0">
                <a:solidFill>
                  <a:schemeClr val="bg1"/>
                </a:solidFill>
                <a:sym typeface="Wingdings" panose="05000000000000000000" pitchFamily="2" charset="2"/>
              </a:rPr>
              <a:t>. </a:t>
            </a:r>
          </a:p>
          <a:p>
            <a:pPr lvl="1"/>
            <a:r>
              <a:rPr lang="en-US" sz="2600" dirty="0">
                <a:solidFill>
                  <a:schemeClr val="bg1"/>
                </a:solidFill>
              </a:rPr>
              <a:t>These effects aim to promote healing and guard against infection.</a:t>
            </a:r>
          </a:p>
          <a:p>
            <a:endParaRPr lang="en-US" dirty="0"/>
          </a:p>
        </p:txBody>
      </p:sp>
      <p:pic>
        <p:nvPicPr>
          <p:cNvPr id="4" name="Picture 3" descr="Neuroscience6e-Fig-10-07-0.jpg">
            <a:extLst>
              <a:ext uri="{FF2B5EF4-FFF2-40B4-BE49-F238E27FC236}">
                <a16:creationId xmlns:a16="http://schemas.microsoft.com/office/drawing/2014/main" id="{845DEA1F-30EE-4FFA-A51C-4CF7A608EBD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848"/>
          <a:stretch/>
        </p:blipFill>
        <p:spPr>
          <a:xfrm>
            <a:off x="7519916" y="937273"/>
            <a:ext cx="4672084" cy="59207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71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B43AD-F1F7-4B24-A3C2-56671F028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193218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“Inflammatory soup ingredients”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C95EB7-9819-4866-A46C-A51055A4FB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17630" y="1030256"/>
            <a:ext cx="10556740" cy="5827744"/>
          </a:xfrm>
        </p:spPr>
        <p:txBody>
          <a:bodyPr>
            <a:noAutofit/>
          </a:bodyPr>
          <a:lstStyle/>
          <a:p>
            <a:r>
              <a:rPr lang="en-US" sz="2200" b="1" dirty="0">
                <a:solidFill>
                  <a:schemeClr val="bg1"/>
                </a:solidFill>
                <a:sym typeface="Wingdings" panose="05000000000000000000" pitchFamily="2" charset="2"/>
              </a:rPr>
              <a:t>Substance P: </a:t>
            </a:r>
            <a:r>
              <a:rPr lang="en-US" sz="2200" b="0" i="0" dirty="0">
                <a:solidFill>
                  <a:schemeClr val="bg1"/>
                </a:solidFill>
                <a:effectLst/>
              </a:rPr>
              <a:t>produces vasodilation &amp; edema around the initial damage.</a:t>
            </a:r>
            <a:endParaRPr lang="en-US" sz="22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sz="2200" b="1" dirty="0">
                <a:solidFill>
                  <a:schemeClr val="bg1"/>
                </a:solidFill>
                <a:sym typeface="Wingdings" panose="05000000000000000000" pitchFamily="2" charset="2"/>
              </a:rPr>
              <a:t>Arachidonic acid (AA)/Prostaglandin E2 (PGE2): </a:t>
            </a:r>
            <a:r>
              <a:rPr lang="en-US" sz="2200" b="0" i="0" dirty="0">
                <a:solidFill>
                  <a:schemeClr val="bg1"/>
                </a:solidFill>
                <a:effectLst/>
              </a:rPr>
              <a:t>AA is metabolized into PGE2. </a:t>
            </a:r>
            <a:r>
              <a:rPr lang="en-US" sz="2200" dirty="0">
                <a:solidFill>
                  <a:schemeClr val="bg1"/>
                </a:solidFill>
              </a:rPr>
              <a:t>PGE2 activates a </a:t>
            </a:r>
            <a:r>
              <a:rPr lang="en-US" sz="2200" b="0" i="0" dirty="0" err="1">
                <a:solidFill>
                  <a:schemeClr val="bg1"/>
                </a:solidFill>
                <a:effectLst/>
              </a:rPr>
              <a:t>Gs</a:t>
            </a:r>
            <a:r>
              <a:rPr lang="en-US" sz="2200" b="0" i="0" dirty="0">
                <a:solidFill>
                  <a:schemeClr val="bg1"/>
                </a:solidFill>
                <a:effectLst/>
              </a:rPr>
              <a:t> receptor (aka, PKA cascade), which blocks K+ efflux and enhances depolarization</a:t>
            </a:r>
            <a:r>
              <a:rPr lang="en-US" sz="2200" dirty="0">
                <a:solidFill>
                  <a:schemeClr val="bg1"/>
                </a:solidFill>
              </a:rPr>
              <a:t> (more APs)</a:t>
            </a:r>
            <a:r>
              <a:rPr lang="en-US" sz="2200" b="0" i="0" dirty="0">
                <a:solidFill>
                  <a:schemeClr val="bg1"/>
                </a:solidFill>
                <a:effectLst/>
              </a:rPr>
              <a:t> &amp; </a:t>
            </a:r>
            <a:r>
              <a:rPr lang="en-US" sz="2200" b="0" i="0" dirty="0" err="1">
                <a:solidFill>
                  <a:schemeClr val="bg1"/>
                </a:solidFill>
                <a:effectLst/>
              </a:rPr>
              <a:t>Gq</a:t>
            </a:r>
            <a:r>
              <a:rPr lang="en-US" sz="2200" b="0" i="0" dirty="0">
                <a:solidFill>
                  <a:schemeClr val="bg1"/>
                </a:solidFill>
                <a:effectLst/>
              </a:rPr>
              <a:t> (aka, PLC cascade) </a:t>
            </a:r>
          </a:p>
          <a:p>
            <a:r>
              <a:rPr lang="en-US" sz="2200" b="1" dirty="0">
                <a:solidFill>
                  <a:schemeClr val="bg1"/>
                </a:solidFill>
                <a:sym typeface="Wingdings" panose="05000000000000000000" pitchFamily="2" charset="2"/>
              </a:rPr>
              <a:t>Histamine: </a:t>
            </a:r>
            <a:r>
              <a:rPr lang="en-US" sz="2200" dirty="0">
                <a:solidFill>
                  <a:schemeClr val="bg1"/>
                </a:solidFill>
              </a:rPr>
              <a:t>increases the permeability of blood vessels. This allows immune cells to reach an infected area.</a:t>
            </a:r>
          </a:p>
          <a:p>
            <a:r>
              <a:rPr lang="en-US" sz="2200" b="1" dirty="0">
                <a:solidFill>
                  <a:schemeClr val="bg1"/>
                </a:solidFill>
                <a:sym typeface="Wingdings" panose="05000000000000000000" pitchFamily="2" charset="2"/>
              </a:rPr>
              <a:t>ATP:</a:t>
            </a:r>
            <a:r>
              <a:rPr lang="en-US" sz="2200" dirty="0">
                <a:solidFill>
                  <a:schemeClr val="bg1"/>
                </a:solidFill>
                <a:sym typeface="Wingdings" panose="05000000000000000000" pitchFamily="2" charset="2"/>
              </a:rPr>
              <a:t> </a:t>
            </a:r>
            <a:r>
              <a:rPr lang="en-US" sz="2200" b="0" i="0" dirty="0">
                <a:solidFill>
                  <a:schemeClr val="bg1"/>
                </a:solidFill>
                <a:effectLst/>
              </a:rPr>
              <a:t>acts on P2X receptors on nociceptors.</a:t>
            </a:r>
            <a:endParaRPr lang="en-US" sz="2200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sz="2200" b="1" dirty="0">
                <a:solidFill>
                  <a:schemeClr val="bg1"/>
                </a:solidFill>
                <a:sym typeface="Wingdings" panose="05000000000000000000" pitchFamily="2" charset="2"/>
              </a:rPr>
              <a:t>Bradykinin: </a:t>
            </a:r>
            <a:r>
              <a:rPr lang="en-US" sz="2200" dirty="0">
                <a:solidFill>
                  <a:schemeClr val="bg1"/>
                </a:solidFill>
                <a:sym typeface="Wingdings" panose="05000000000000000000" pitchFamily="2" charset="2"/>
              </a:rPr>
              <a:t>promotes inflammation and vasodilation, sensitizes TRPV1 receptor via PLC cascade </a:t>
            </a:r>
          </a:p>
          <a:p>
            <a:r>
              <a:rPr lang="en-US" sz="2200" b="1" dirty="0">
                <a:solidFill>
                  <a:schemeClr val="bg1"/>
                </a:solidFill>
                <a:sym typeface="Wingdings" panose="05000000000000000000" pitchFamily="2" charset="2"/>
              </a:rPr>
              <a:t>Serotonin: </a:t>
            </a:r>
            <a:r>
              <a:rPr lang="en-US" sz="2200" dirty="0">
                <a:solidFill>
                  <a:schemeClr val="bg1"/>
                </a:solidFill>
                <a:sym typeface="Wingdings" panose="05000000000000000000" pitchFamily="2" charset="2"/>
              </a:rPr>
              <a:t>enhances pain via TRPV1 in the spinal cord, but also use of SSRIs to treat pain</a:t>
            </a:r>
          </a:p>
          <a:p>
            <a:r>
              <a:rPr lang="en-US" sz="2200" b="1" dirty="0">
                <a:solidFill>
                  <a:schemeClr val="bg1"/>
                </a:solidFill>
                <a:sym typeface="Wingdings" panose="05000000000000000000" pitchFamily="2" charset="2"/>
              </a:rPr>
              <a:t>Extracellular Protons: </a:t>
            </a:r>
            <a:r>
              <a:rPr lang="en-US" sz="2200" dirty="0">
                <a:solidFill>
                  <a:schemeClr val="bg1"/>
                </a:solidFill>
                <a:sym typeface="Wingdings" panose="05000000000000000000" pitchFamily="2" charset="2"/>
              </a:rPr>
              <a:t>tissue acidification</a:t>
            </a:r>
            <a:endParaRPr lang="en-US" sz="2200" b="1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r>
              <a:rPr lang="en-US" sz="2200" b="1" dirty="0">
                <a:solidFill>
                  <a:schemeClr val="bg1"/>
                </a:solidFill>
                <a:sym typeface="Wingdings" panose="05000000000000000000" pitchFamily="2" charset="2"/>
              </a:rPr>
              <a:t>Inflammatory cytokines </a:t>
            </a:r>
            <a:r>
              <a:rPr lang="en-US" sz="2200" dirty="0">
                <a:solidFill>
                  <a:schemeClr val="bg1"/>
                </a:solidFill>
                <a:sym typeface="Wingdings" panose="05000000000000000000" pitchFamily="2" charset="2"/>
              </a:rPr>
              <a:t>(e.g., IL-1</a:t>
            </a:r>
            <a:r>
              <a:rPr lang="el-GR" sz="2200" dirty="0">
                <a:solidFill>
                  <a:schemeClr val="bg1"/>
                </a:solidFill>
                <a:sym typeface="Wingdings" panose="05000000000000000000" pitchFamily="2" charset="2"/>
              </a:rPr>
              <a:t>β</a:t>
            </a:r>
            <a:r>
              <a:rPr lang="en-US" sz="2200" dirty="0">
                <a:solidFill>
                  <a:schemeClr val="bg1"/>
                </a:solidFill>
                <a:sym typeface="Wingdings" panose="05000000000000000000" pitchFamily="2" charset="2"/>
              </a:rPr>
              <a:t>, TNF) act on nociceptor receptors to increase firing</a:t>
            </a:r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14005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219F3-259D-44DF-B529-AE755BF53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157" y="25130"/>
            <a:ext cx="10058400" cy="1371600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Central Sensitization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B8368-BC5E-4A03-84FD-053D6E4CF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188" y="1382823"/>
            <a:ext cx="11214339" cy="5475177"/>
          </a:xfrm>
        </p:spPr>
        <p:txBody>
          <a:bodyPr>
            <a:normAutofit fontScale="92500"/>
          </a:bodyPr>
          <a:lstStyle/>
          <a:p>
            <a:pPr>
              <a:tabLst>
                <a:tab pos="5195888" algn="l"/>
              </a:tabLst>
            </a:pPr>
            <a:r>
              <a:rPr lang="en-US" dirty="0">
                <a:solidFill>
                  <a:schemeClr val="bg1"/>
                </a:solidFill>
              </a:rPr>
              <a:t>Increase in excitability of neurons in the </a:t>
            </a:r>
            <a:r>
              <a:rPr lang="en-US" b="1" dirty="0">
                <a:solidFill>
                  <a:schemeClr val="bg1"/>
                </a:solidFill>
              </a:rPr>
              <a:t>dorsal horn </a:t>
            </a:r>
            <a:r>
              <a:rPr lang="en-US" dirty="0">
                <a:solidFill>
                  <a:schemeClr val="bg1"/>
                </a:solidFill>
              </a:rPr>
              <a:t>as a result of a </a:t>
            </a:r>
          </a:p>
          <a:p>
            <a:pPr marL="0" indent="0">
              <a:buNone/>
              <a:tabLst>
                <a:tab pos="5195888" algn="l"/>
              </a:tabLst>
            </a:pPr>
            <a:r>
              <a:rPr lang="en-US" dirty="0">
                <a:solidFill>
                  <a:schemeClr val="bg1"/>
                </a:solidFill>
              </a:rPr>
              <a:t>   high level of activity.</a:t>
            </a:r>
          </a:p>
          <a:p>
            <a:pPr>
              <a:tabLst>
                <a:tab pos="5195888" algn="l"/>
              </a:tabLst>
            </a:pPr>
            <a:r>
              <a:rPr lang="en-US" dirty="0">
                <a:solidFill>
                  <a:schemeClr val="bg1"/>
                </a:solidFill>
              </a:rPr>
              <a:t>typically occurs immediately after the noxious event and can outlast </a:t>
            </a:r>
          </a:p>
          <a:p>
            <a:pPr marL="0" indent="0">
              <a:buNone/>
              <a:tabLst>
                <a:tab pos="5195888" algn="l"/>
              </a:tabLst>
            </a:pPr>
            <a:r>
              <a:rPr lang="en-US" dirty="0">
                <a:solidFill>
                  <a:schemeClr val="bg1"/>
                </a:solidFill>
              </a:rPr>
              <a:t>   the pain of the original stimulus by several hours.</a:t>
            </a:r>
            <a:endParaRPr lang="en-US" dirty="0">
              <a:solidFill>
                <a:schemeClr val="bg1"/>
              </a:solidFill>
              <a:sym typeface="Wingdings" panose="05000000000000000000" pitchFamily="2" charset="2"/>
            </a:endParaRPr>
          </a:p>
          <a:p>
            <a:pPr>
              <a:tabLst>
                <a:tab pos="5195888" algn="l"/>
              </a:tabLst>
            </a:pPr>
            <a:r>
              <a:rPr lang="en-US" dirty="0">
                <a:solidFill>
                  <a:schemeClr val="bg1"/>
                </a:solidFill>
                <a:sym typeface="Wingdings" panose="05000000000000000000" pitchFamily="2" charset="2"/>
              </a:rPr>
              <a:t>Experimentally induced example  wind-up: </a:t>
            </a:r>
          </a:p>
          <a:p>
            <a:pPr lvl="1">
              <a:tabLst>
                <a:tab pos="5195888" algn="l"/>
              </a:tabLst>
            </a:pP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exposure to repeated, low-frequency stimulation causes dorsal horn neurons to increase firing rates.</a:t>
            </a:r>
          </a:p>
          <a:p>
            <a:pPr lvl="1">
              <a:tabLst>
                <a:tab pos="5195888" algn="l"/>
              </a:tabLst>
            </a:pP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while intensity of the stimulus remains constant, it is perceived as more and more painful</a:t>
            </a:r>
          </a:p>
          <a:p>
            <a:pPr lvl="1">
              <a:tabLst>
                <a:tab pos="5195888" algn="l"/>
              </a:tabLst>
            </a:pP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short-lived phenomena, only during stimulation</a:t>
            </a:r>
          </a:p>
          <a:p>
            <a:pPr lvl="1">
              <a:tabLst>
                <a:tab pos="5195888" algn="l"/>
              </a:tabLst>
            </a:pPr>
            <a:r>
              <a:rPr lang="en-US" sz="2400" dirty="0">
                <a:solidFill>
                  <a:schemeClr val="bg1"/>
                </a:solidFill>
              </a:rPr>
              <a:t>Likely results from sustained depolarization of the dorsal horn neurons leading to activation of voltage-gated Ca2+ channels and removal of the Mg2+ block from NMDA receptors.</a:t>
            </a:r>
          </a:p>
          <a:p>
            <a:pPr lvl="1">
              <a:tabLst>
                <a:tab pos="5195888" algn="l"/>
              </a:tabLst>
            </a:pPr>
            <a:endParaRPr lang="en-US" sz="2000" dirty="0"/>
          </a:p>
        </p:txBody>
      </p:sp>
      <p:pic>
        <p:nvPicPr>
          <p:cNvPr id="4" name="Picture 3" descr="Neuroscience6e-Fig-10-07-0.jpg">
            <a:extLst>
              <a:ext uri="{FF2B5EF4-FFF2-40B4-BE49-F238E27FC236}">
                <a16:creationId xmlns:a16="http://schemas.microsoft.com/office/drawing/2014/main" id="{D091441F-53D8-BC02-DB78-32DA0C8E2A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809" t="63759" b="6848"/>
          <a:stretch/>
        </p:blipFill>
        <p:spPr>
          <a:xfrm>
            <a:off x="8742113" y="1382823"/>
            <a:ext cx="3061699" cy="2488801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6EF2FBC1-437B-57AB-E50C-1E7AF75D3A75}"/>
              </a:ext>
            </a:extLst>
          </p:cNvPr>
          <p:cNvSpPr/>
          <p:nvPr/>
        </p:nvSpPr>
        <p:spPr>
          <a:xfrm>
            <a:off x="9381909" y="2386484"/>
            <a:ext cx="801384" cy="503434"/>
          </a:xfrm>
          <a:prstGeom prst="ellipse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8778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F9BC1-4265-4400-A1EA-0035EA6A6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25237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LTP-like Central Sensitization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E49F20-646C-4FED-A4DD-ECF85C32F4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5642" y="1252371"/>
            <a:ext cx="4698833" cy="55115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Requires NMDA receptor-mediated Ca2+ influx into spinal neurons.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May also involve GABAergic or Glycine receptors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Reduced activity at these receptors = loss of inhibition = facilitation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732C16-9A91-D431-CAA6-0B335D753B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475" y="1252371"/>
            <a:ext cx="5800725" cy="41529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B709450-AE37-3273-322A-3FEA7474F25D}"/>
              </a:ext>
            </a:extLst>
          </p:cNvPr>
          <p:cNvSpPr/>
          <p:nvPr/>
        </p:nvSpPr>
        <p:spPr>
          <a:xfrm>
            <a:off x="6578221" y="1252371"/>
            <a:ext cx="2838734" cy="1252371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55905E3-9970-9B8F-4701-318A40B25F09}"/>
              </a:ext>
            </a:extLst>
          </p:cNvPr>
          <p:cNvSpPr txBox="1"/>
          <p:nvPr/>
        </p:nvSpPr>
        <p:spPr>
          <a:xfrm>
            <a:off x="5324475" y="5420963"/>
            <a:ext cx="61005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Ferreira-Junior et al., 2018</a:t>
            </a:r>
          </a:p>
        </p:txBody>
      </p:sp>
    </p:spTree>
    <p:extLst>
      <p:ext uri="{BB962C8B-B14F-4D97-AF65-F5344CB8AC3E}">
        <p14:creationId xmlns:p14="http://schemas.microsoft.com/office/powerpoint/2010/main" val="4229468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DB4A5-EFE2-E5EF-338A-7A7478CA2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670DD-B87D-9B55-2610-1BB87F2A9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252371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Glial cells involved in Central Sensitization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AE669-F9EE-2EB7-418B-75B1F78686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0251" y="1252371"/>
            <a:ext cx="5795749" cy="55115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Astrocytes: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produce chemokines that enhance neuronal excitability </a:t>
            </a:r>
          </a:p>
          <a:p>
            <a:r>
              <a:rPr lang="en-US" dirty="0">
                <a:solidFill>
                  <a:schemeClr val="bg1"/>
                </a:solidFill>
              </a:rPr>
              <a:t>Microglia: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</a:rPr>
              <a:t>release cytokines (e.g., IL-1β, TNF) that promote COX-2 transcription </a:t>
            </a:r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(AA  PGE2) that enhance neuron excitability </a:t>
            </a:r>
          </a:p>
          <a:p>
            <a:pPr lvl="1"/>
            <a:r>
              <a:rPr lang="en-US" sz="2400" dirty="0">
                <a:solidFill>
                  <a:schemeClr val="bg1"/>
                </a:solidFill>
                <a:sym typeface="Wingdings" panose="05000000000000000000" pitchFamily="2" charset="2"/>
              </a:rPr>
              <a:t>Produce </a:t>
            </a:r>
            <a:r>
              <a:rPr lang="en-US" sz="2400" dirty="0">
                <a:solidFill>
                  <a:schemeClr val="bg1"/>
                </a:solidFill>
              </a:rPr>
              <a:t>TNF-</a:t>
            </a:r>
            <a:r>
              <a:rPr lang="el-GR" sz="2400" dirty="0">
                <a:solidFill>
                  <a:schemeClr val="bg1"/>
                </a:solidFill>
              </a:rPr>
              <a:t>α </a:t>
            </a:r>
            <a:r>
              <a:rPr lang="en-US" sz="2400" dirty="0">
                <a:solidFill>
                  <a:schemeClr val="bg1"/>
                </a:solidFill>
              </a:rPr>
              <a:t>and BDNF, which enhance excitatory synaptic transmission and suppress inhibitory synaptic transmission</a:t>
            </a: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DE87FCC-F43D-E322-25BD-A9EE8F84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1110"/>
          <a:stretch>
            <a:fillRect/>
          </a:stretch>
        </p:blipFill>
        <p:spPr>
          <a:xfrm>
            <a:off x="6096000" y="1869743"/>
            <a:ext cx="6096000" cy="32509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DF28C9-765C-613C-8679-AE6F4C3A3739}"/>
              </a:ext>
            </a:extLst>
          </p:cNvPr>
          <p:cNvSpPr txBox="1"/>
          <p:nvPr/>
        </p:nvSpPr>
        <p:spPr>
          <a:xfrm>
            <a:off x="9994711" y="5120693"/>
            <a:ext cx="22609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bg1"/>
                </a:solidFill>
              </a:rPr>
              <a:t>Salvesen et al., 2019</a:t>
            </a:r>
          </a:p>
        </p:txBody>
      </p:sp>
    </p:spTree>
    <p:extLst>
      <p:ext uri="{BB962C8B-B14F-4D97-AF65-F5344CB8AC3E}">
        <p14:creationId xmlns:p14="http://schemas.microsoft.com/office/powerpoint/2010/main" val="33339245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30AD7-69E1-44B0-20FA-62EAA6397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0"/>
            <a:ext cx="9905998" cy="1564104"/>
          </a:xfrm>
        </p:spPr>
        <p:txBody>
          <a:bodyPr/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Main Takeaways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B46525-CAB8-91A6-EBB2-31288BC4C9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564104"/>
            <a:ext cx="10361612" cy="5293895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Perception of pain is complex! And therefore, so too is pain relief</a:t>
            </a:r>
          </a:p>
          <a:p>
            <a:r>
              <a:rPr lang="en-US" dirty="0">
                <a:solidFill>
                  <a:schemeClr val="bg1"/>
                </a:solidFill>
              </a:rPr>
              <a:t>Nociceptive information can be sent to the brain, but the brain can exert top-down control and alter such pathways.</a:t>
            </a:r>
          </a:p>
          <a:p>
            <a:r>
              <a:rPr lang="en-US" dirty="0">
                <a:solidFill>
                  <a:schemeClr val="bg1"/>
                </a:solidFill>
              </a:rPr>
              <a:t>Mechanical stimulation at the site of an injury can potentially “gate” pain signals.</a:t>
            </a:r>
          </a:p>
          <a:p>
            <a:r>
              <a:rPr lang="en-US" dirty="0">
                <a:solidFill>
                  <a:schemeClr val="bg1"/>
                </a:solidFill>
              </a:rPr>
              <a:t>Tissue damage releases many different chemicals that lead to inflammation.</a:t>
            </a:r>
          </a:p>
          <a:p>
            <a:r>
              <a:rPr lang="en-US" dirty="0">
                <a:solidFill>
                  <a:schemeClr val="bg1"/>
                </a:solidFill>
              </a:rPr>
              <a:t>Peripheral sensitization makes slightly painful stimuli seem more painful because of inflammation and increased firing rate of nociceptors.</a:t>
            </a:r>
          </a:p>
          <a:p>
            <a:r>
              <a:rPr lang="en-US" dirty="0">
                <a:solidFill>
                  <a:schemeClr val="bg1"/>
                </a:solidFill>
              </a:rPr>
              <a:t>Central sensitization makes a non-noxious stimulus seem painful due to increased excitability of neurons in the dorsal horn.</a:t>
            </a:r>
          </a:p>
        </p:txBody>
      </p:sp>
    </p:spTree>
    <p:extLst>
      <p:ext uri="{BB962C8B-B14F-4D97-AF65-F5344CB8AC3E}">
        <p14:creationId xmlns:p14="http://schemas.microsoft.com/office/powerpoint/2010/main" val="1118547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Violet II">
      <a:dk1>
        <a:sysClr val="windowText" lastClr="000000"/>
      </a:dk1>
      <a:lt1>
        <a:sysClr val="window" lastClr="FFFFFF"/>
      </a:lt1>
      <a:dk2>
        <a:srgbClr val="632E62"/>
      </a:dk2>
      <a:lt2>
        <a:srgbClr val="EAE5EB"/>
      </a:lt2>
      <a:accent1>
        <a:srgbClr val="92278F"/>
      </a:accent1>
      <a:accent2>
        <a:srgbClr val="9B57D3"/>
      </a:accent2>
      <a:accent3>
        <a:srgbClr val="755DD9"/>
      </a:accent3>
      <a:accent4>
        <a:srgbClr val="665EB8"/>
      </a:accent4>
      <a:accent5>
        <a:srgbClr val="45A5ED"/>
      </a:accent5>
      <a:accent6>
        <a:srgbClr val="5982DB"/>
      </a:accent6>
      <a:hlink>
        <a:srgbClr val="0066FF"/>
      </a:hlink>
      <a:folHlink>
        <a:srgbClr val="666699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1755</TotalTime>
  <Words>772</Words>
  <Application>Microsoft Office PowerPoint</Application>
  <PresentationFormat>Widescreen</PresentationFormat>
  <Paragraphs>89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Tw Cen MT</vt:lpstr>
      <vt:lpstr>Wingdings</vt:lpstr>
      <vt:lpstr>Circuit</vt:lpstr>
      <vt:lpstr>PowerPoint Presentation</vt:lpstr>
      <vt:lpstr>Descending Control of Pain</vt:lpstr>
      <vt:lpstr>Descending control of pain</vt:lpstr>
      <vt:lpstr>Local circuit modulation of pain: Gate Control Theory</vt:lpstr>
      <vt:lpstr>There are two types of pain sensitization</vt:lpstr>
      <vt:lpstr>Peripheral sensitization</vt:lpstr>
      <vt:lpstr>“Inflammatory soup ingredients”</vt:lpstr>
      <vt:lpstr>Central Sensitization </vt:lpstr>
      <vt:lpstr>LTP-like Central Sensitization </vt:lpstr>
      <vt:lpstr>Glial cells involved in Central Sensitization </vt:lpstr>
      <vt:lpstr>Main Takeaways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sensory processing: Touch and pain</dc:title>
  <dc:creator>Nicole Forner</dc:creator>
  <cp:lastModifiedBy>Phillips, Nicole</cp:lastModifiedBy>
  <cp:revision>178</cp:revision>
  <dcterms:created xsi:type="dcterms:W3CDTF">2020-09-22T01:09:55Z</dcterms:created>
  <dcterms:modified xsi:type="dcterms:W3CDTF">2026-03-14T19:24:16Z</dcterms:modified>
</cp:coreProperties>
</file>