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30"/>
  </p:notesMasterIdLst>
  <p:handoutMasterIdLst>
    <p:handoutMasterId r:id="rId31"/>
  </p:handoutMasterIdLst>
  <p:sldIdLst>
    <p:sldId id="450" r:id="rId2"/>
    <p:sldId id="664" r:id="rId3"/>
    <p:sldId id="452" r:id="rId4"/>
    <p:sldId id="629" r:id="rId5"/>
    <p:sldId id="652" r:id="rId6"/>
    <p:sldId id="654" r:id="rId7"/>
    <p:sldId id="655" r:id="rId8"/>
    <p:sldId id="650" r:id="rId9"/>
    <p:sldId id="383" r:id="rId10"/>
    <p:sldId id="590" r:id="rId11"/>
    <p:sldId id="465" r:id="rId12"/>
    <p:sldId id="667" r:id="rId13"/>
    <p:sldId id="466" r:id="rId14"/>
    <p:sldId id="467" r:id="rId15"/>
    <p:sldId id="665" r:id="rId16"/>
    <p:sldId id="545" r:id="rId17"/>
    <p:sldId id="469" r:id="rId18"/>
    <p:sldId id="659" r:id="rId19"/>
    <p:sldId id="668" r:id="rId20"/>
    <p:sldId id="607" r:id="rId21"/>
    <p:sldId id="669" r:id="rId22"/>
    <p:sldId id="670" r:id="rId23"/>
    <p:sldId id="671" r:id="rId24"/>
    <p:sldId id="672" r:id="rId25"/>
    <p:sldId id="586" r:id="rId26"/>
    <p:sldId id="509" r:id="rId27"/>
    <p:sldId id="587" r:id="rId28"/>
    <p:sldId id="364" r:id="rId29"/>
  </p:sldIdLst>
  <p:sldSz cx="12192000" cy="6858000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E59"/>
    <a:srgbClr val="B2B3B6"/>
    <a:srgbClr val="8C8EC1"/>
    <a:srgbClr val="FFEAAB"/>
    <a:srgbClr val="F9B4AD"/>
    <a:srgbClr val="B8B67D"/>
    <a:srgbClr val="D65746"/>
    <a:srgbClr val="E69558"/>
    <a:srgbClr val="C8D5AE"/>
    <a:srgbClr val="9876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64" autoAdjust="0"/>
    <p:restoredTop sz="84473" autoAdjust="0"/>
  </p:normalViewPr>
  <p:slideViewPr>
    <p:cSldViewPr>
      <p:cViewPr varScale="1">
        <p:scale>
          <a:sx n="53" d="100"/>
          <a:sy n="53" d="100"/>
        </p:scale>
        <p:origin x="8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6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8796"/>
    </p:cViewPr>
  </p:sorterViewPr>
  <p:notesViewPr>
    <p:cSldViewPr>
      <p:cViewPr varScale="1">
        <p:scale>
          <a:sx n="104" d="100"/>
          <a:sy n="104" d="100"/>
        </p:scale>
        <p:origin x="2508" y="11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834926-3B8A-4EA0-B47D-FCA082A89A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1A825A0-EC8A-4E15-95E4-A5C104ADC134}">
      <dgm:prSet custT="1"/>
      <dgm:spPr/>
      <dgm:t>
        <a:bodyPr/>
        <a:lstStyle/>
        <a:p>
          <a:r>
            <a:rPr lang="en-US" sz="2400" b="1" dirty="0"/>
            <a:t>Small molecule</a:t>
          </a:r>
          <a:endParaRPr lang="en-US" sz="2400" dirty="0"/>
        </a:p>
      </dgm:t>
    </dgm:pt>
    <dgm:pt modelId="{04F9F652-8739-4019-9759-7531E5E5CE95}" type="parTrans" cxnId="{3E23AA96-5793-44E5-A64D-CB306AE09430}">
      <dgm:prSet/>
      <dgm:spPr/>
      <dgm:t>
        <a:bodyPr/>
        <a:lstStyle/>
        <a:p>
          <a:endParaRPr lang="en-US" sz="2400"/>
        </a:p>
      </dgm:t>
    </dgm:pt>
    <dgm:pt modelId="{9A02C5BD-C1BA-422B-9501-34A09E61F8FE}" type="sibTrans" cxnId="{3E23AA96-5793-44E5-A64D-CB306AE09430}">
      <dgm:prSet/>
      <dgm:spPr/>
      <dgm:t>
        <a:bodyPr/>
        <a:lstStyle/>
        <a:p>
          <a:endParaRPr lang="en-US" sz="2400"/>
        </a:p>
      </dgm:t>
    </dgm:pt>
    <dgm:pt modelId="{7EF02287-D03E-49A3-961C-DDCC2A82C72F}">
      <dgm:prSet custT="1"/>
      <dgm:spPr/>
      <dgm:t>
        <a:bodyPr/>
        <a:lstStyle/>
        <a:p>
          <a:r>
            <a:rPr lang="en-US" sz="2400" dirty="0"/>
            <a:t>Synthesized in final form</a:t>
          </a:r>
        </a:p>
      </dgm:t>
    </dgm:pt>
    <dgm:pt modelId="{07490C7B-214D-4E9D-A703-A8239B46B7AA}" type="parTrans" cxnId="{47966D68-1016-4263-8CCA-3E45EEE290DE}">
      <dgm:prSet/>
      <dgm:spPr/>
      <dgm:t>
        <a:bodyPr/>
        <a:lstStyle/>
        <a:p>
          <a:endParaRPr lang="en-US" sz="2400"/>
        </a:p>
      </dgm:t>
    </dgm:pt>
    <dgm:pt modelId="{F8A7A982-BB05-401F-B641-2193875CF4EC}" type="sibTrans" cxnId="{47966D68-1016-4263-8CCA-3E45EEE290DE}">
      <dgm:prSet/>
      <dgm:spPr/>
      <dgm:t>
        <a:bodyPr/>
        <a:lstStyle/>
        <a:p>
          <a:endParaRPr lang="en-US" sz="2400"/>
        </a:p>
      </dgm:t>
    </dgm:pt>
    <dgm:pt modelId="{04B72E6C-E601-49B9-8C39-B0FC3A1BC9CB}">
      <dgm:prSet custT="1"/>
      <dgm:spPr/>
      <dgm:t>
        <a:bodyPr/>
        <a:lstStyle/>
        <a:p>
          <a:r>
            <a:rPr lang="en-US" sz="2400" dirty="0"/>
            <a:t>Synthesis in NT</a:t>
          </a:r>
        </a:p>
      </dgm:t>
    </dgm:pt>
    <dgm:pt modelId="{51A6881D-4A9A-47B7-931C-4528BCE18F33}" type="parTrans" cxnId="{5C69D4D4-7843-4178-B346-B293D69D1AB9}">
      <dgm:prSet/>
      <dgm:spPr/>
      <dgm:t>
        <a:bodyPr/>
        <a:lstStyle/>
        <a:p>
          <a:endParaRPr lang="en-US" sz="2400"/>
        </a:p>
      </dgm:t>
    </dgm:pt>
    <dgm:pt modelId="{E821E710-007F-4171-9F49-AF5A4314DD72}" type="sibTrans" cxnId="{5C69D4D4-7843-4178-B346-B293D69D1AB9}">
      <dgm:prSet/>
      <dgm:spPr/>
      <dgm:t>
        <a:bodyPr/>
        <a:lstStyle/>
        <a:p>
          <a:endParaRPr lang="en-US" sz="2400"/>
        </a:p>
      </dgm:t>
    </dgm:pt>
    <dgm:pt modelId="{C6C26BFB-24AD-49C7-A746-EF9FD898B389}">
      <dgm:prSet custT="1"/>
      <dgm:spPr/>
      <dgm:t>
        <a:bodyPr/>
        <a:lstStyle/>
        <a:p>
          <a:r>
            <a:rPr lang="en-US" sz="2400" dirty="0"/>
            <a:t>enzymes localized to NT</a:t>
          </a:r>
        </a:p>
      </dgm:t>
    </dgm:pt>
    <dgm:pt modelId="{A85745D2-ADCF-4CB3-9EDF-D5459B1FF322}" type="parTrans" cxnId="{6CCE9988-CFA3-4133-8382-545FE68E242B}">
      <dgm:prSet/>
      <dgm:spPr/>
      <dgm:t>
        <a:bodyPr/>
        <a:lstStyle/>
        <a:p>
          <a:endParaRPr lang="en-US" sz="2400"/>
        </a:p>
      </dgm:t>
    </dgm:pt>
    <dgm:pt modelId="{47F07D3C-2E70-4980-A3C7-80921FD4489D}" type="sibTrans" cxnId="{6CCE9988-CFA3-4133-8382-545FE68E242B}">
      <dgm:prSet/>
      <dgm:spPr/>
      <dgm:t>
        <a:bodyPr/>
        <a:lstStyle/>
        <a:p>
          <a:endParaRPr lang="en-US" sz="2400"/>
        </a:p>
      </dgm:t>
    </dgm:pt>
    <dgm:pt modelId="{02DD4588-3E2E-4C99-AA8E-1C33519852CB}">
      <dgm:prSet custT="1"/>
      <dgm:spPr/>
      <dgm:t>
        <a:bodyPr/>
        <a:lstStyle/>
        <a:p>
          <a:r>
            <a:rPr lang="en-US" sz="2400"/>
            <a:t>often a rate-limiting step</a:t>
          </a:r>
        </a:p>
      </dgm:t>
    </dgm:pt>
    <dgm:pt modelId="{F1601624-8DD9-4940-812B-8935AF5CADFE}" type="parTrans" cxnId="{5BC2C5C0-025F-4D30-8508-428CC1228F57}">
      <dgm:prSet/>
      <dgm:spPr/>
      <dgm:t>
        <a:bodyPr/>
        <a:lstStyle/>
        <a:p>
          <a:endParaRPr lang="en-US" sz="2400"/>
        </a:p>
      </dgm:t>
    </dgm:pt>
    <dgm:pt modelId="{FEF475E3-99BF-4B68-A716-A5889CF1EE24}" type="sibTrans" cxnId="{5BC2C5C0-025F-4D30-8508-428CC1228F57}">
      <dgm:prSet/>
      <dgm:spPr/>
      <dgm:t>
        <a:bodyPr/>
        <a:lstStyle/>
        <a:p>
          <a:endParaRPr lang="en-US" sz="2400"/>
        </a:p>
      </dgm:t>
    </dgm:pt>
    <dgm:pt modelId="{AB3C546A-DF57-4304-8053-12F4C8669522}" type="pres">
      <dgm:prSet presAssocID="{8D834926-3B8A-4EA0-B47D-FCA082A89AE8}" presName="linear" presStyleCnt="0">
        <dgm:presLayoutVars>
          <dgm:animLvl val="lvl"/>
          <dgm:resizeHandles val="exact"/>
        </dgm:presLayoutVars>
      </dgm:prSet>
      <dgm:spPr/>
    </dgm:pt>
    <dgm:pt modelId="{BD9DE308-0FAC-46DD-9927-4AB61B2EF7E9}" type="pres">
      <dgm:prSet presAssocID="{11A825A0-EC8A-4E15-95E4-A5C104ADC134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7814B2A0-18FD-46C0-A137-4CC89729CFB1}" type="pres">
      <dgm:prSet presAssocID="{11A825A0-EC8A-4E15-95E4-A5C104ADC13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5F35872C-FE33-4D3C-B5EA-D5F448EA59DF}" type="presOf" srcId="{8D834926-3B8A-4EA0-B47D-FCA082A89AE8}" destId="{AB3C546A-DF57-4304-8053-12F4C8669522}" srcOrd="0" destOrd="0" presId="urn:microsoft.com/office/officeart/2005/8/layout/vList2"/>
    <dgm:cxn modelId="{09513566-9A39-4E3B-A2E4-F652A3B55A46}" type="presOf" srcId="{11A825A0-EC8A-4E15-95E4-A5C104ADC134}" destId="{BD9DE308-0FAC-46DD-9927-4AB61B2EF7E9}" srcOrd="0" destOrd="0" presId="urn:microsoft.com/office/officeart/2005/8/layout/vList2"/>
    <dgm:cxn modelId="{47966D68-1016-4263-8CCA-3E45EEE290DE}" srcId="{11A825A0-EC8A-4E15-95E4-A5C104ADC134}" destId="{7EF02287-D03E-49A3-961C-DDCC2A82C72F}" srcOrd="0" destOrd="0" parTransId="{07490C7B-214D-4E9D-A703-A8239B46B7AA}" sibTransId="{F8A7A982-BB05-401F-B641-2193875CF4EC}"/>
    <dgm:cxn modelId="{6CCE9988-CFA3-4133-8382-545FE68E242B}" srcId="{04B72E6C-E601-49B9-8C39-B0FC3A1BC9CB}" destId="{C6C26BFB-24AD-49C7-A746-EF9FD898B389}" srcOrd="0" destOrd="0" parTransId="{A85745D2-ADCF-4CB3-9EDF-D5459B1FF322}" sibTransId="{47F07D3C-2E70-4980-A3C7-80921FD4489D}"/>
    <dgm:cxn modelId="{3E23AA96-5793-44E5-A64D-CB306AE09430}" srcId="{8D834926-3B8A-4EA0-B47D-FCA082A89AE8}" destId="{11A825A0-EC8A-4E15-95E4-A5C104ADC134}" srcOrd="0" destOrd="0" parTransId="{04F9F652-8739-4019-9759-7531E5E5CE95}" sibTransId="{9A02C5BD-C1BA-422B-9501-34A09E61F8FE}"/>
    <dgm:cxn modelId="{4A4080B7-DAC6-4D40-8684-C0B04D7FABDD}" type="presOf" srcId="{C6C26BFB-24AD-49C7-A746-EF9FD898B389}" destId="{7814B2A0-18FD-46C0-A137-4CC89729CFB1}" srcOrd="0" destOrd="2" presId="urn:microsoft.com/office/officeart/2005/8/layout/vList2"/>
    <dgm:cxn modelId="{9F4294B9-8DF6-4B93-9961-CB5A671AACDD}" type="presOf" srcId="{7EF02287-D03E-49A3-961C-DDCC2A82C72F}" destId="{7814B2A0-18FD-46C0-A137-4CC89729CFB1}" srcOrd="0" destOrd="0" presId="urn:microsoft.com/office/officeart/2005/8/layout/vList2"/>
    <dgm:cxn modelId="{5BC2C5C0-025F-4D30-8508-428CC1228F57}" srcId="{04B72E6C-E601-49B9-8C39-B0FC3A1BC9CB}" destId="{02DD4588-3E2E-4C99-AA8E-1C33519852CB}" srcOrd="1" destOrd="0" parTransId="{F1601624-8DD9-4940-812B-8935AF5CADFE}" sibTransId="{FEF475E3-99BF-4B68-A716-A5889CF1EE24}"/>
    <dgm:cxn modelId="{5C69D4D4-7843-4178-B346-B293D69D1AB9}" srcId="{11A825A0-EC8A-4E15-95E4-A5C104ADC134}" destId="{04B72E6C-E601-49B9-8C39-B0FC3A1BC9CB}" srcOrd="1" destOrd="0" parTransId="{51A6881D-4A9A-47B7-931C-4528BCE18F33}" sibTransId="{E821E710-007F-4171-9F49-AF5A4314DD72}"/>
    <dgm:cxn modelId="{FFEE4BE0-E9EE-410B-BD39-F64DF5FC7AB5}" type="presOf" srcId="{02DD4588-3E2E-4C99-AA8E-1C33519852CB}" destId="{7814B2A0-18FD-46C0-A137-4CC89729CFB1}" srcOrd="0" destOrd="3" presId="urn:microsoft.com/office/officeart/2005/8/layout/vList2"/>
    <dgm:cxn modelId="{BBB25FF9-B933-402C-90D4-65FC69669CD8}" type="presOf" srcId="{04B72E6C-E601-49B9-8C39-B0FC3A1BC9CB}" destId="{7814B2A0-18FD-46C0-A137-4CC89729CFB1}" srcOrd="0" destOrd="1" presId="urn:microsoft.com/office/officeart/2005/8/layout/vList2"/>
    <dgm:cxn modelId="{FEA04D89-B9DA-4ADB-9D56-63EF1110B311}" type="presParOf" srcId="{AB3C546A-DF57-4304-8053-12F4C8669522}" destId="{BD9DE308-0FAC-46DD-9927-4AB61B2EF7E9}" srcOrd="0" destOrd="0" presId="urn:microsoft.com/office/officeart/2005/8/layout/vList2"/>
    <dgm:cxn modelId="{B36987D6-3DBA-4E6C-B7AA-90C51E0F060F}" type="presParOf" srcId="{AB3C546A-DF57-4304-8053-12F4C8669522}" destId="{7814B2A0-18FD-46C0-A137-4CC89729CFB1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CB861F-CE57-43E2-88EB-33DD211662D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C0B9D1-7391-40C7-8030-57130FFEA55E}">
      <dgm:prSet custT="1"/>
      <dgm:spPr/>
      <dgm:t>
        <a:bodyPr/>
        <a:lstStyle/>
        <a:p>
          <a:r>
            <a:rPr lang="en-US" sz="2400" b="1"/>
            <a:t>Peptide</a:t>
          </a:r>
          <a:endParaRPr lang="en-US" sz="2400"/>
        </a:p>
      </dgm:t>
    </dgm:pt>
    <dgm:pt modelId="{A98664CC-720B-4B65-A9E9-98B5CF30CB63}" type="parTrans" cxnId="{6F548B92-C0B7-44AA-8883-65032A65B622}">
      <dgm:prSet/>
      <dgm:spPr/>
      <dgm:t>
        <a:bodyPr/>
        <a:lstStyle/>
        <a:p>
          <a:endParaRPr lang="en-US" sz="2400"/>
        </a:p>
      </dgm:t>
    </dgm:pt>
    <dgm:pt modelId="{A2D86A81-C67E-47E7-9AE9-5C6907A116E3}" type="sibTrans" cxnId="{6F548B92-C0B7-44AA-8883-65032A65B622}">
      <dgm:prSet/>
      <dgm:spPr/>
      <dgm:t>
        <a:bodyPr/>
        <a:lstStyle/>
        <a:p>
          <a:endParaRPr lang="en-US" sz="2400"/>
        </a:p>
      </dgm:t>
    </dgm:pt>
    <dgm:pt modelId="{81B0BE37-CEAA-44C8-A695-A40942AC82C4}">
      <dgm:prSet custT="1"/>
      <dgm:spPr/>
      <dgm:t>
        <a:bodyPr/>
        <a:lstStyle/>
        <a:p>
          <a:r>
            <a:rPr lang="en-US" sz="2400"/>
            <a:t>Synthesis of precursor</a:t>
          </a:r>
        </a:p>
      </dgm:t>
    </dgm:pt>
    <dgm:pt modelId="{7D12CAD9-FC7B-4AA3-B96C-91AE5885C8AF}" type="parTrans" cxnId="{38C30919-9F3F-4010-8179-E4974EE89175}">
      <dgm:prSet/>
      <dgm:spPr/>
      <dgm:t>
        <a:bodyPr/>
        <a:lstStyle/>
        <a:p>
          <a:endParaRPr lang="en-US" sz="2400"/>
        </a:p>
      </dgm:t>
    </dgm:pt>
    <dgm:pt modelId="{EDD2B7B2-7710-4A0E-A589-AF42F140DA92}" type="sibTrans" cxnId="{38C30919-9F3F-4010-8179-E4974EE89175}">
      <dgm:prSet/>
      <dgm:spPr/>
      <dgm:t>
        <a:bodyPr/>
        <a:lstStyle/>
        <a:p>
          <a:endParaRPr lang="en-US" sz="2400"/>
        </a:p>
      </dgm:t>
    </dgm:pt>
    <dgm:pt modelId="{EA91A1A0-B3B4-4303-B0BE-32138F52473B}">
      <dgm:prSet custT="1"/>
      <dgm:spPr/>
      <dgm:t>
        <a:bodyPr/>
        <a:lstStyle/>
        <a:p>
          <a:r>
            <a:rPr lang="en-US" sz="2400"/>
            <a:t>Synthesis required in soma</a:t>
          </a:r>
        </a:p>
      </dgm:t>
    </dgm:pt>
    <dgm:pt modelId="{2BD42AE9-8095-41B0-A896-F430DF3F97B4}" type="parTrans" cxnId="{BC4D3C49-128E-45BE-B639-69CD67E5D959}">
      <dgm:prSet/>
      <dgm:spPr/>
      <dgm:t>
        <a:bodyPr/>
        <a:lstStyle/>
        <a:p>
          <a:endParaRPr lang="en-US" sz="2400"/>
        </a:p>
      </dgm:t>
    </dgm:pt>
    <dgm:pt modelId="{2FD21482-7988-4741-8B9A-ECB3A9B69321}" type="sibTrans" cxnId="{BC4D3C49-128E-45BE-B639-69CD67E5D959}">
      <dgm:prSet/>
      <dgm:spPr/>
      <dgm:t>
        <a:bodyPr/>
        <a:lstStyle/>
        <a:p>
          <a:endParaRPr lang="en-US" sz="2400"/>
        </a:p>
      </dgm:t>
    </dgm:pt>
    <dgm:pt modelId="{0C08195A-A31C-49D4-A84A-4C0A5A351922}">
      <dgm:prSet custT="1"/>
      <dgm:spPr/>
      <dgm:t>
        <a:bodyPr/>
        <a:lstStyle/>
        <a:p>
          <a:r>
            <a:rPr lang="en-US" sz="2400" dirty="0"/>
            <a:t>transcription, translation</a:t>
          </a:r>
        </a:p>
      </dgm:t>
    </dgm:pt>
    <dgm:pt modelId="{95A52BD3-8C40-41F8-8DE6-7B46452C1966}" type="parTrans" cxnId="{98DB1A73-CFEC-46E2-BD13-041C4776F744}">
      <dgm:prSet/>
      <dgm:spPr/>
      <dgm:t>
        <a:bodyPr/>
        <a:lstStyle/>
        <a:p>
          <a:endParaRPr lang="en-US" sz="2400"/>
        </a:p>
      </dgm:t>
    </dgm:pt>
    <dgm:pt modelId="{7D824C77-35D7-46CB-BDC8-C9CFE975C159}" type="sibTrans" cxnId="{98DB1A73-CFEC-46E2-BD13-041C4776F744}">
      <dgm:prSet/>
      <dgm:spPr/>
      <dgm:t>
        <a:bodyPr/>
        <a:lstStyle/>
        <a:p>
          <a:endParaRPr lang="en-US" sz="2400"/>
        </a:p>
      </dgm:t>
    </dgm:pt>
    <dgm:pt modelId="{89C92867-ED7C-4428-B7CE-5F058125B58E}">
      <dgm:prSet custT="1"/>
      <dgm:spPr/>
      <dgm:t>
        <a:bodyPr/>
        <a:lstStyle/>
        <a:p>
          <a:r>
            <a:rPr lang="en-US" sz="2400"/>
            <a:t>transport to NT</a:t>
          </a:r>
        </a:p>
      </dgm:t>
    </dgm:pt>
    <dgm:pt modelId="{D6C91F43-9E23-41D6-B174-1CB4B8E4F0BC}" type="parTrans" cxnId="{E586EFD8-F2D7-45C6-AE2B-146098F0ACEB}">
      <dgm:prSet/>
      <dgm:spPr/>
      <dgm:t>
        <a:bodyPr/>
        <a:lstStyle/>
        <a:p>
          <a:endParaRPr lang="en-US" sz="2400"/>
        </a:p>
      </dgm:t>
    </dgm:pt>
    <dgm:pt modelId="{53FF31DA-8A81-4775-9430-231878256507}" type="sibTrans" cxnId="{E586EFD8-F2D7-45C6-AE2B-146098F0ACEB}">
      <dgm:prSet/>
      <dgm:spPr/>
      <dgm:t>
        <a:bodyPr/>
        <a:lstStyle/>
        <a:p>
          <a:endParaRPr lang="en-US" sz="2400"/>
        </a:p>
      </dgm:t>
    </dgm:pt>
    <dgm:pt modelId="{9017C782-07F5-4989-9E9D-C2AFB9C3FB23}" type="pres">
      <dgm:prSet presAssocID="{E0CB861F-CE57-43E2-88EB-33DD211662DD}" presName="Name0" presStyleCnt="0">
        <dgm:presLayoutVars>
          <dgm:dir/>
          <dgm:animLvl val="lvl"/>
          <dgm:resizeHandles val="exact"/>
        </dgm:presLayoutVars>
      </dgm:prSet>
      <dgm:spPr/>
    </dgm:pt>
    <dgm:pt modelId="{D9F7F3FC-9B85-4785-B311-237C9BD1906B}" type="pres">
      <dgm:prSet presAssocID="{98C0B9D1-7391-40C7-8030-57130FFEA55E}" presName="composite" presStyleCnt="0"/>
      <dgm:spPr/>
    </dgm:pt>
    <dgm:pt modelId="{E6995DD3-D575-4CC3-A520-A0862CEC7540}" type="pres">
      <dgm:prSet presAssocID="{98C0B9D1-7391-40C7-8030-57130FFEA55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4DF59965-A82D-4152-A4EE-952230602829}" type="pres">
      <dgm:prSet presAssocID="{98C0B9D1-7391-40C7-8030-57130FFEA55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38C30919-9F3F-4010-8179-E4974EE89175}" srcId="{98C0B9D1-7391-40C7-8030-57130FFEA55E}" destId="{81B0BE37-CEAA-44C8-A695-A40942AC82C4}" srcOrd="0" destOrd="0" parTransId="{7D12CAD9-FC7B-4AA3-B96C-91AE5885C8AF}" sibTransId="{EDD2B7B2-7710-4A0E-A589-AF42F140DA92}"/>
    <dgm:cxn modelId="{A061E028-4B22-43CE-B872-79FEC5EBCCC7}" type="presOf" srcId="{E0CB861F-CE57-43E2-88EB-33DD211662DD}" destId="{9017C782-07F5-4989-9E9D-C2AFB9C3FB23}" srcOrd="0" destOrd="0" presId="urn:microsoft.com/office/officeart/2005/8/layout/hList1"/>
    <dgm:cxn modelId="{65B1375C-21D0-45BE-99C8-06ACB8D1EAF6}" type="presOf" srcId="{0C08195A-A31C-49D4-A84A-4C0A5A351922}" destId="{4DF59965-A82D-4152-A4EE-952230602829}" srcOrd="0" destOrd="2" presId="urn:microsoft.com/office/officeart/2005/8/layout/hList1"/>
    <dgm:cxn modelId="{BC4D3C49-128E-45BE-B639-69CD67E5D959}" srcId="{98C0B9D1-7391-40C7-8030-57130FFEA55E}" destId="{EA91A1A0-B3B4-4303-B0BE-32138F52473B}" srcOrd="1" destOrd="0" parTransId="{2BD42AE9-8095-41B0-A896-F430DF3F97B4}" sibTransId="{2FD21482-7988-4741-8B9A-ECB3A9B69321}"/>
    <dgm:cxn modelId="{98DB1A73-CFEC-46E2-BD13-041C4776F744}" srcId="{EA91A1A0-B3B4-4303-B0BE-32138F52473B}" destId="{0C08195A-A31C-49D4-A84A-4C0A5A351922}" srcOrd="0" destOrd="0" parTransId="{95A52BD3-8C40-41F8-8DE6-7B46452C1966}" sibTransId="{7D824C77-35D7-46CB-BDC8-C9CFE975C159}"/>
    <dgm:cxn modelId="{F7B68674-7B6E-479A-965E-44C51624D6CB}" type="presOf" srcId="{EA91A1A0-B3B4-4303-B0BE-32138F52473B}" destId="{4DF59965-A82D-4152-A4EE-952230602829}" srcOrd="0" destOrd="1" presId="urn:microsoft.com/office/officeart/2005/8/layout/hList1"/>
    <dgm:cxn modelId="{53D64177-0C06-4CD5-953A-F8169BBB182E}" type="presOf" srcId="{89C92867-ED7C-4428-B7CE-5F058125B58E}" destId="{4DF59965-A82D-4152-A4EE-952230602829}" srcOrd="0" destOrd="3" presId="urn:microsoft.com/office/officeart/2005/8/layout/hList1"/>
    <dgm:cxn modelId="{6F548B92-C0B7-44AA-8883-65032A65B622}" srcId="{E0CB861F-CE57-43E2-88EB-33DD211662DD}" destId="{98C0B9D1-7391-40C7-8030-57130FFEA55E}" srcOrd="0" destOrd="0" parTransId="{A98664CC-720B-4B65-A9E9-98B5CF30CB63}" sibTransId="{A2D86A81-C67E-47E7-9AE9-5C6907A116E3}"/>
    <dgm:cxn modelId="{497755B6-90F5-4DB8-85D5-DF5101DB29E4}" type="presOf" srcId="{81B0BE37-CEAA-44C8-A695-A40942AC82C4}" destId="{4DF59965-A82D-4152-A4EE-952230602829}" srcOrd="0" destOrd="0" presId="urn:microsoft.com/office/officeart/2005/8/layout/hList1"/>
    <dgm:cxn modelId="{4E177CD5-B045-4A9C-BCE9-34789CD4E3B3}" type="presOf" srcId="{98C0B9D1-7391-40C7-8030-57130FFEA55E}" destId="{E6995DD3-D575-4CC3-A520-A0862CEC7540}" srcOrd="0" destOrd="0" presId="urn:microsoft.com/office/officeart/2005/8/layout/hList1"/>
    <dgm:cxn modelId="{E586EFD8-F2D7-45C6-AE2B-146098F0ACEB}" srcId="{EA91A1A0-B3B4-4303-B0BE-32138F52473B}" destId="{89C92867-ED7C-4428-B7CE-5F058125B58E}" srcOrd="1" destOrd="0" parTransId="{D6C91F43-9E23-41D6-B174-1CB4B8E4F0BC}" sibTransId="{53FF31DA-8A81-4775-9430-231878256507}"/>
    <dgm:cxn modelId="{6345EB36-DEAE-4949-88A4-AFC17E26AD57}" type="presParOf" srcId="{9017C782-07F5-4989-9E9D-C2AFB9C3FB23}" destId="{D9F7F3FC-9B85-4785-B311-237C9BD1906B}" srcOrd="0" destOrd="0" presId="urn:microsoft.com/office/officeart/2005/8/layout/hList1"/>
    <dgm:cxn modelId="{2A4DAE79-084B-433A-A8D6-7B7DAD43AF28}" type="presParOf" srcId="{D9F7F3FC-9B85-4785-B311-237C9BD1906B}" destId="{E6995DD3-D575-4CC3-A520-A0862CEC7540}" srcOrd="0" destOrd="0" presId="urn:microsoft.com/office/officeart/2005/8/layout/hList1"/>
    <dgm:cxn modelId="{38D2B581-E893-4E35-B622-41983342FC94}" type="presParOf" srcId="{D9F7F3FC-9B85-4785-B311-237C9BD1906B}" destId="{4DF59965-A82D-4152-A4EE-95223060282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EAD64F-57F4-41E0-849C-F72E978F95B6}" type="doc">
      <dgm:prSet loTypeId="urn:microsoft.com/office/officeart/2005/8/layout/vList5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CD3559C5-888D-4AB2-A0B6-C1F215CDFFFD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Location</a:t>
          </a:r>
        </a:p>
      </dgm:t>
    </dgm:pt>
    <dgm:pt modelId="{1C81A411-7001-46D2-98BA-A945E4503847}" type="parTrans" cxnId="{5CB9047E-1254-4237-B4C5-81839ABFA219}">
      <dgm:prSet/>
      <dgm:spPr/>
      <dgm:t>
        <a:bodyPr/>
        <a:lstStyle/>
        <a:p>
          <a:endParaRPr lang="en-US" sz="3200"/>
        </a:p>
      </dgm:t>
    </dgm:pt>
    <dgm:pt modelId="{5CABB716-1E11-4B1E-9AEF-30476F94245B}" type="sibTrans" cxnId="{5CB9047E-1254-4237-B4C5-81839ABFA219}">
      <dgm:prSet/>
      <dgm:spPr/>
      <dgm:t>
        <a:bodyPr/>
        <a:lstStyle/>
        <a:p>
          <a:endParaRPr lang="en-US" sz="3200"/>
        </a:p>
      </dgm:t>
    </dgm:pt>
    <dgm:pt modelId="{706ABF31-8597-4FA4-B023-5A16259F67BB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Synthesis</a:t>
          </a:r>
        </a:p>
      </dgm:t>
    </dgm:pt>
    <dgm:pt modelId="{22C811D7-89B2-481D-BC53-862EFC576A94}" type="parTrans" cxnId="{8FF0FD7D-308A-487E-A2B3-02D81CEBA856}">
      <dgm:prSet/>
      <dgm:spPr/>
      <dgm:t>
        <a:bodyPr/>
        <a:lstStyle/>
        <a:p>
          <a:endParaRPr lang="en-US" sz="3200"/>
        </a:p>
      </dgm:t>
    </dgm:pt>
    <dgm:pt modelId="{84B964ED-67AD-4E05-9D05-4BF15378E273}" type="sibTrans" cxnId="{8FF0FD7D-308A-487E-A2B3-02D81CEBA856}">
      <dgm:prSet/>
      <dgm:spPr/>
      <dgm:t>
        <a:bodyPr/>
        <a:lstStyle/>
        <a:p>
          <a:endParaRPr lang="en-US" sz="3200"/>
        </a:p>
      </dgm:t>
    </dgm:pt>
    <dgm:pt modelId="{FE469D24-72A8-4F7A-99EE-744E8601FC00}">
      <dgm:prSet custT="1"/>
      <dgm:spPr/>
      <dgm:t>
        <a:bodyPr/>
        <a:lstStyle/>
        <a:p>
          <a:r>
            <a:rPr lang="en-US" sz="3200" dirty="0"/>
            <a:t>Precursors, enzymes</a:t>
          </a:r>
        </a:p>
      </dgm:t>
    </dgm:pt>
    <dgm:pt modelId="{60955A30-F1F4-4A30-AC20-890D83496581}" type="parTrans" cxnId="{BC88E173-F4AC-4075-9EAE-6DBCF9451B1A}">
      <dgm:prSet/>
      <dgm:spPr/>
      <dgm:t>
        <a:bodyPr/>
        <a:lstStyle/>
        <a:p>
          <a:endParaRPr lang="en-US" sz="3200"/>
        </a:p>
      </dgm:t>
    </dgm:pt>
    <dgm:pt modelId="{1D240010-FD45-4811-B7CC-9C61A21A8609}" type="sibTrans" cxnId="{BC88E173-F4AC-4075-9EAE-6DBCF9451B1A}">
      <dgm:prSet/>
      <dgm:spPr/>
      <dgm:t>
        <a:bodyPr/>
        <a:lstStyle/>
        <a:p>
          <a:endParaRPr lang="en-US" sz="3200"/>
        </a:p>
      </dgm:t>
    </dgm:pt>
    <dgm:pt modelId="{FC4F2BA8-2684-4824-926C-3C9BBC8DE1DC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>
              <a:solidFill>
                <a:schemeClr val="tx1"/>
              </a:solidFill>
            </a:rPr>
            <a:t>Inactivation</a:t>
          </a:r>
        </a:p>
      </dgm:t>
    </dgm:pt>
    <dgm:pt modelId="{B62FCD98-6258-418A-A4F6-41732644116E}" type="parTrans" cxnId="{549D099D-28A9-4486-8F63-FED6C04128BE}">
      <dgm:prSet/>
      <dgm:spPr/>
      <dgm:t>
        <a:bodyPr/>
        <a:lstStyle/>
        <a:p>
          <a:endParaRPr lang="en-US" sz="3200"/>
        </a:p>
      </dgm:t>
    </dgm:pt>
    <dgm:pt modelId="{3888CEA6-6BD4-4C97-9FC7-2882FCEAAD41}" type="sibTrans" cxnId="{549D099D-28A9-4486-8F63-FED6C04128BE}">
      <dgm:prSet/>
      <dgm:spPr/>
      <dgm:t>
        <a:bodyPr/>
        <a:lstStyle/>
        <a:p>
          <a:endParaRPr lang="en-US" sz="3200"/>
        </a:p>
      </dgm:t>
    </dgm:pt>
    <dgm:pt modelId="{0B1C1ED5-2F4C-4C36-9F0B-BDBDB9931A7B}">
      <dgm:prSet custT="1"/>
      <dgm:spPr/>
      <dgm:t>
        <a:bodyPr/>
        <a:lstStyle/>
        <a:p>
          <a:r>
            <a:rPr lang="en-US" sz="3200"/>
            <a:t>enzymatic and/or reuptake</a:t>
          </a:r>
        </a:p>
      </dgm:t>
    </dgm:pt>
    <dgm:pt modelId="{B1823D88-C0CE-401E-8034-D4BE617D23D1}" type="parTrans" cxnId="{F3E0C682-2756-4A78-B118-F47EFF7F992A}">
      <dgm:prSet/>
      <dgm:spPr/>
      <dgm:t>
        <a:bodyPr/>
        <a:lstStyle/>
        <a:p>
          <a:endParaRPr lang="en-US" sz="3200"/>
        </a:p>
      </dgm:t>
    </dgm:pt>
    <dgm:pt modelId="{11E63D46-FC7C-4849-A347-24E8D4C78E23}" type="sibTrans" cxnId="{F3E0C682-2756-4A78-B118-F47EFF7F992A}">
      <dgm:prSet/>
      <dgm:spPr/>
      <dgm:t>
        <a:bodyPr/>
        <a:lstStyle/>
        <a:p>
          <a:endParaRPr lang="en-US" sz="3200"/>
        </a:p>
      </dgm:t>
    </dgm:pt>
    <dgm:pt modelId="{7FA26DF7-2481-4FF1-B7A1-218584EAE50E}">
      <dgm:prSet custT="1"/>
      <dgm:spPr>
        <a:solidFill>
          <a:schemeClr val="accent6">
            <a:lumMod val="60000"/>
            <a:lumOff val="4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Receptors</a:t>
          </a:r>
        </a:p>
      </dgm:t>
    </dgm:pt>
    <dgm:pt modelId="{E7AAC8F7-D72C-49C0-AE66-1AB071795BB9}" type="parTrans" cxnId="{E6FBD6E2-0C81-4C84-9CB1-92048B3417A1}">
      <dgm:prSet/>
      <dgm:spPr/>
      <dgm:t>
        <a:bodyPr/>
        <a:lstStyle/>
        <a:p>
          <a:endParaRPr lang="en-US" sz="3200"/>
        </a:p>
      </dgm:t>
    </dgm:pt>
    <dgm:pt modelId="{12D2A409-960E-462B-A354-BEC155DA649A}" type="sibTrans" cxnId="{E6FBD6E2-0C81-4C84-9CB1-92048B3417A1}">
      <dgm:prSet/>
      <dgm:spPr/>
      <dgm:t>
        <a:bodyPr/>
        <a:lstStyle/>
        <a:p>
          <a:endParaRPr lang="en-US" sz="3200"/>
        </a:p>
      </dgm:t>
    </dgm:pt>
    <dgm:pt modelId="{0A03D6EE-10A9-4456-A39C-160CF2F4E971}">
      <dgm:prSet custT="1"/>
      <dgm:spPr/>
      <dgm:t>
        <a:bodyPr/>
        <a:lstStyle/>
        <a:p>
          <a:r>
            <a:rPr lang="en-US" sz="3200"/>
            <a:t>Ionotropic, metabotropic</a:t>
          </a:r>
        </a:p>
      </dgm:t>
    </dgm:pt>
    <dgm:pt modelId="{5B15367C-E676-40E8-909F-2C1D595998CA}" type="parTrans" cxnId="{90BEE28B-4D78-4FEB-A0BC-AB568EDF976B}">
      <dgm:prSet/>
      <dgm:spPr/>
      <dgm:t>
        <a:bodyPr/>
        <a:lstStyle/>
        <a:p>
          <a:endParaRPr lang="en-US" sz="3200"/>
        </a:p>
      </dgm:t>
    </dgm:pt>
    <dgm:pt modelId="{B7468898-B1A3-4335-B9B7-274A11CCDFD0}" type="sibTrans" cxnId="{90BEE28B-4D78-4FEB-A0BC-AB568EDF976B}">
      <dgm:prSet/>
      <dgm:spPr/>
      <dgm:t>
        <a:bodyPr/>
        <a:lstStyle/>
        <a:p>
          <a:endParaRPr lang="en-US" sz="3200"/>
        </a:p>
      </dgm:t>
    </dgm:pt>
    <dgm:pt modelId="{B47BC36E-E39B-4CCB-8186-0C6A2F5F3F03}">
      <dgm:prSet custT="1"/>
      <dgm:spPr/>
      <dgm:t>
        <a:bodyPr/>
        <a:lstStyle/>
        <a:p>
          <a:r>
            <a:rPr lang="en-US" sz="3200" dirty="0"/>
            <a:t>Subunit composition, topology</a:t>
          </a:r>
        </a:p>
      </dgm:t>
    </dgm:pt>
    <dgm:pt modelId="{A75708C3-6AB3-4991-A5E1-EAFBC61E9225}" type="parTrans" cxnId="{019A28A8-B577-40B0-BCDA-E948065318FE}">
      <dgm:prSet/>
      <dgm:spPr/>
      <dgm:t>
        <a:bodyPr/>
        <a:lstStyle/>
        <a:p>
          <a:endParaRPr lang="en-US" sz="3200"/>
        </a:p>
      </dgm:t>
    </dgm:pt>
    <dgm:pt modelId="{71C0B0E7-07BC-4D75-912E-817E3C94762A}" type="sibTrans" cxnId="{019A28A8-B577-40B0-BCDA-E948065318FE}">
      <dgm:prSet/>
      <dgm:spPr/>
      <dgm:t>
        <a:bodyPr/>
        <a:lstStyle/>
        <a:p>
          <a:endParaRPr lang="en-US" sz="3200"/>
        </a:p>
      </dgm:t>
    </dgm:pt>
    <dgm:pt modelId="{01B0B114-ADE6-4878-901A-27067C37BA0C}">
      <dgm:prSet custT="1"/>
      <dgm:spPr/>
      <dgm:t>
        <a:bodyPr/>
        <a:lstStyle/>
        <a:p>
          <a:r>
            <a:rPr lang="en-US" sz="3200" dirty="0"/>
            <a:t>Functional domains</a:t>
          </a:r>
        </a:p>
      </dgm:t>
    </dgm:pt>
    <dgm:pt modelId="{E7A146F2-7663-4E51-83A3-9409B3FADE48}" type="parTrans" cxnId="{E564C966-BFC5-4DDB-9955-6D770ECFAD89}">
      <dgm:prSet/>
      <dgm:spPr/>
      <dgm:t>
        <a:bodyPr/>
        <a:lstStyle/>
        <a:p>
          <a:endParaRPr lang="en-US" sz="3200"/>
        </a:p>
      </dgm:t>
    </dgm:pt>
    <dgm:pt modelId="{E9AC5C51-6CBD-44EE-B4CF-79FDAB6021BE}" type="sibTrans" cxnId="{E564C966-BFC5-4DDB-9955-6D770ECFAD89}">
      <dgm:prSet/>
      <dgm:spPr/>
      <dgm:t>
        <a:bodyPr/>
        <a:lstStyle/>
        <a:p>
          <a:endParaRPr lang="en-US" sz="3200"/>
        </a:p>
      </dgm:t>
    </dgm:pt>
    <dgm:pt modelId="{17965BD4-4D8C-4806-A9AE-6BC558201481}" type="pres">
      <dgm:prSet presAssocID="{26EAD64F-57F4-41E0-849C-F72E978F95B6}" presName="Name0" presStyleCnt="0">
        <dgm:presLayoutVars>
          <dgm:dir/>
          <dgm:animLvl val="lvl"/>
          <dgm:resizeHandles val="exact"/>
        </dgm:presLayoutVars>
      </dgm:prSet>
      <dgm:spPr/>
    </dgm:pt>
    <dgm:pt modelId="{4E7011BE-72FD-4110-B915-8FDBC1547E2B}" type="pres">
      <dgm:prSet presAssocID="{CD3559C5-888D-4AB2-A0B6-C1F215CDFFFD}" presName="linNode" presStyleCnt="0"/>
      <dgm:spPr/>
    </dgm:pt>
    <dgm:pt modelId="{EB0CDE3E-D0B1-423A-AAB0-98A776452D0D}" type="pres">
      <dgm:prSet presAssocID="{CD3559C5-888D-4AB2-A0B6-C1F215CDFFFD}" presName="parentText" presStyleLbl="node1" presStyleIdx="0" presStyleCnt="4" custScaleX="71327" custScaleY="65149" custLinFactNeighborX="-64089">
        <dgm:presLayoutVars>
          <dgm:chMax val="1"/>
          <dgm:bulletEnabled val="1"/>
        </dgm:presLayoutVars>
      </dgm:prSet>
      <dgm:spPr/>
    </dgm:pt>
    <dgm:pt modelId="{31081BB0-0722-4330-B533-222B11856748}" type="pres">
      <dgm:prSet presAssocID="{5CABB716-1E11-4B1E-9AEF-30476F94245B}" presName="sp" presStyleCnt="0"/>
      <dgm:spPr/>
    </dgm:pt>
    <dgm:pt modelId="{71DAFC72-780C-4C11-86D3-B8B5F083A22E}" type="pres">
      <dgm:prSet presAssocID="{706ABF31-8597-4FA4-B023-5A16259F67BB}" presName="linNode" presStyleCnt="0"/>
      <dgm:spPr/>
    </dgm:pt>
    <dgm:pt modelId="{2FA2CDCB-2BE6-4492-8BB7-28FBBA4F03E1}" type="pres">
      <dgm:prSet presAssocID="{706ABF31-8597-4FA4-B023-5A16259F67BB}" presName="parentText" presStyleLbl="node1" presStyleIdx="1" presStyleCnt="4" custScaleX="71748" custScaleY="65149" custLinFactNeighborX="-36047">
        <dgm:presLayoutVars>
          <dgm:chMax val="1"/>
          <dgm:bulletEnabled val="1"/>
        </dgm:presLayoutVars>
      </dgm:prSet>
      <dgm:spPr/>
    </dgm:pt>
    <dgm:pt modelId="{23A85F34-62E8-4C88-8772-3A48C60D77E0}" type="pres">
      <dgm:prSet presAssocID="{706ABF31-8597-4FA4-B023-5A16259F67BB}" presName="descendantText" presStyleLbl="alignAccFollowNode1" presStyleIdx="0" presStyleCnt="3" custScaleX="116740">
        <dgm:presLayoutVars>
          <dgm:bulletEnabled val="1"/>
        </dgm:presLayoutVars>
      </dgm:prSet>
      <dgm:spPr/>
    </dgm:pt>
    <dgm:pt modelId="{299B762E-1E73-4160-A5E7-7E59FE8CD43D}" type="pres">
      <dgm:prSet presAssocID="{84B964ED-67AD-4E05-9D05-4BF15378E273}" presName="sp" presStyleCnt="0"/>
      <dgm:spPr/>
    </dgm:pt>
    <dgm:pt modelId="{7D7DF638-ABC3-412E-A3B5-CE458D480C9A}" type="pres">
      <dgm:prSet presAssocID="{FC4F2BA8-2684-4824-926C-3C9BBC8DE1DC}" presName="linNode" presStyleCnt="0"/>
      <dgm:spPr/>
    </dgm:pt>
    <dgm:pt modelId="{575A7642-C028-4467-92E7-83C79D739E2F}" type="pres">
      <dgm:prSet presAssocID="{FC4F2BA8-2684-4824-926C-3C9BBC8DE1DC}" presName="parentText" presStyleLbl="node1" presStyleIdx="2" presStyleCnt="4" custScaleX="71748" custScaleY="66138" custLinFactNeighborX="-36047">
        <dgm:presLayoutVars>
          <dgm:chMax val="1"/>
          <dgm:bulletEnabled val="1"/>
        </dgm:presLayoutVars>
      </dgm:prSet>
      <dgm:spPr/>
    </dgm:pt>
    <dgm:pt modelId="{66EA4F96-7A20-41DA-8EA6-70743F479318}" type="pres">
      <dgm:prSet presAssocID="{FC4F2BA8-2684-4824-926C-3C9BBC8DE1DC}" presName="descendantText" presStyleLbl="alignAccFollowNode1" presStyleIdx="1" presStyleCnt="3" custScaleX="116740">
        <dgm:presLayoutVars>
          <dgm:bulletEnabled val="1"/>
        </dgm:presLayoutVars>
      </dgm:prSet>
      <dgm:spPr/>
    </dgm:pt>
    <dgm:pt modelId="{941CFE09-35F8-4018-A1D1-E0CFB946C09C}" type="pres">
      <dgm:prSet presAssocID="{3888CEA6-6BD4-4C97-9FC7-2882FCEAAD41}" presName="sp" presStyleCnt="0"/>
      <dgm:spPr/>
    </dgm:pt>
    <dgm:pt modelId="{37C5BC59-5D97-4B7B-8E18-989E8FBEFCD1}" type="pres">
      <dgm:prSet presAssocID="{7FA26DF7-2481-4FF1-B7A1-218584EAE50E}" presName="linNode" presStyleCnt="0"/>
      <dgm:spPr/>
    </dgm:pt>
    <dgm:pt modelId="{37B76510-9C4A-442B-B5D8-1E58C041B90A}" type="pres">
      <dgm:prSet presAssocID="{7FA26DF7-2481-4FF1-B7A1-218584EAE50E}" presName="parentText" presStyleLbl="node1" presStyleIdx="3" presStyleCnt="4" custScaleX="71748" custLinFactNeighborX="-36047">
        <dgm:presLayoutVars>
          <dgm:chMax val="1"/>
          <dgm:bulletEnabled val="1"/>
        </dgm:presLayoutVars>
      </dgm:prSet>
      <dgm:spPr/>
    </dgm:pt>
    <dgm:pt modelId="{6A51E076-EC35-4C50-B801-789729F525E6}" type="pres">
      <dgm:prSet presAssocID="{7FA26DF7-2481-4FF1-B7A1-218584EAE50E}" presName="descendantText" presStyleLbl="alignAccFollowNode1" presStyleIdx="2" presStyleCnt="3" custScaleX="116740" custScaleY="205211">
        <dgm:presLayoutVars>
          <dgm:bulletEnabled val="1"/>
        </dgm:presLayoutVars>
      </dgm:prSet>
      <dgm:spPr/>
    </dgm:pt>
  </dgm:ptLst>
  <dgm:cxnLst>
    <dgm:cxn modelId="{F40D6F21-EFC9-4AB4-9D18-4E839EB55859}" type="presOf" srcId="{CD3559C5-888D-4AB2-A0B6-C1F215CDFFFD}" destId="{EB0CDE3E-D0B1-423A-AAB0-98A776452D0D}" srcOrd="0" destOrd="0" presId="urn:microsoft.com/office/officeart/2005/8/layout/vList5"/>
    <dgm:cxn modelId="{B9ED4427-FDB8-43CC-A32B-C177624F4A1C}" type="presOf" srcId="{01B0B114-ADE6-4878-901A-27067C37BA0C}" destId="{6A51E076-EC35-4C50-B801-789729F525E6}" srcOrd="0" destOrd="2" presId="urn:microsoft.com/office/officeart/2005/8/layout/vList5"/>
    <dgm:cxn modelId="{E564C966-BFC5-4DDB-9955-6D770ECFAD89}" srcId="{7FA26DF7-2481-4FF1-B7A1-218584EAE50E}" destId="{01B0B114-ADE6-4878-901A-27067C37BA0C}" srcOrd="2" destOrd="0" parTransId="{E7A146F2-7663-4E51-83A3-9409B3FADE48}" sibTransId="{E9AC5C51-6CBD-44EE-B4CF-79FDAB6021BE}"/>
    <dgm:cxn modelId="{BC88E173-F4AC-4075-9EAE-6DBCF9451B1A}" srcId="{706ABF31-8597-4FA4-B023-5A16259F67BB}" destId="{FE469D24-72A8-4F7A-99EE-744E8601FC00}" srcOrd="0" destOrd="0" parTransId="{60955A30-F1F4-4A30-AC20-890D83496581}" sibTransId="{1D240010-FD45-4811-B7CC-9C61A21A8609}"/>
    <dgm:cxn modelId="{8FF0FD7D-308A-487E-A2B3-02D81CEBA856}" srcId="{26EAD64F-57F4-41E0-849C-F72E978F95B6}" destId="{706ABF31-8597-4FA4-B023-5A16259F67BB}" srcOrd="1" destOrd="0" parTransId="{22C811D7-89B2-481D-BC53-862EFC576A94}" sibTransId="{84B964ED-67AD-4E05-9D05-4BF15378E273}"/>
    <dgm:cxn modelId="{5CB9047E-1254-4237-B4C5-81839ABFA219}" srcId="{26EAD64F-57F4-41E0-849C-F72E978F95B6}" destId="{CD3559C5-888D-4AB2-A0B6-C1F215CDFFFD}" srcOrd="0" destOrd="0" parTransId="{1C81A411-7001-46D2-98BA-A945E4503847}" sibTransId="{5CABB716-1E11-4B1E-9AEF-30476F94245B}"/>
    <dgm:cxn modelId="{F3E0C682-2756-4A78-B118-F47EFF7F992A}" srcId="{FC4F2BA8-2684-4824-926C-3C9BBC8DE1DC}" destId="{0B1C1ED5-2F4C-4C36-9F0B-BDBDB9931A7B}" srcOrd="0" destOrd="0" parTransId="{B1823D88-C0CE-401E-8034-D4BE617D23D1}" sibTransId="{11E63D46-FC7C-4849-A347-24E8D4C78E23}"/>
    <dgm:cxn modelId="{90BEE28B-4D78-4FEB-A0BC-AB568EDF976B}" srcId="{7FA26DF7-2481-4FF1-B7A1-218584EAE50E}" destId="{0A03D6EE-10A9-4456-A39C-160CF2F4E971}" srcOrd="0" destOrd="0" parTransId="{5B15367C-E676-40E8-909F-2C1D595998CA}" sibTransId="{B7468898-B1A3-4335-B9B7-274A11CCDFD0}"/>
    <dgm:cxn modelId="{5DA38992-12F7-44E2-AAE2-731EF553B799}" type="presOf" srcId="{FC4F2BA8-2684-4824-926C-3C9BBC8DE1DC}" destId="{575A7642-C028-4467-92E7-83C79D739E2F}" srcOrd="0" destOrd="0" presId="urn:microsoft.com/office/officeart/2005/8/layout/vList5"/>
    <dgm:cxn modelId="{549D099D-28A9-4486-8F63-FED6C04128BE}" srcId="{26EAD64F-57F4-41E0-849C-F72E978F95B6}" destId="{FC4F2BA8-2684-4824-926C-3C9BBC8DE1DC}" srcOrd="2" destOrd="0" parTransId="{B62FCD98-6258-418A-A4F6-41732644116E}" sibTransId="{3888CEA6-6BD4-4C97-9FC7-2882FCEAAD41}"/>
    <dgm:cxn modelId="{B25C169E-AE0A-44EF-B635-CD2CCC78AEE5}" type="presOf" srcId="{FE469D24-72A8-4F7A-99EE-744E8601FC00}" destId="{23A85F34-62E8-4C88-8772-3A48C60D77E0}" srcOrd="0" destOrd="0" presId="urn:microsoft.com/office/officeart/2005/8/layout/vList5"/>
    <dgm:cxn modelId="{019A28A8-B577-40B0-BCDA-E948065318FE}" srcId="{7FA26DF7-2481-4FF1-B7A1-218584EAE50E}" destId="{B47BC36E-E39B-4CCB-8186-0C6A2F5F3F03}" srcOrd="1" destOrd="0" parTransId="{A75708C3-6AB3-4991-A5E1-EAFBC61E9225}" sibTransId="{71C0B0E7-07BC-4D75-912E-817E3C94762A}"/>
    <dgm:cxn modelId="{0ADA35B2-5BB2-4803-961D-C96EBC304A07}" type="presOf" srcId="{0A03D6EE-10A9-4456-A39C-160CF2F4E971}" destId="{6A51E076-EC35-4C50-B801-789729F525E6}" srcOrd="0" destOrd="0" presId="urn:microsoft.com/office/officeart/2005/8/layout/vList5"/>
    <dgm:cxn modelId="{E5F354C4-DFF6-472C-8C27-AB673F47E150}" type="presOf" srcId="{706ABF31-8597-4FA4-B023-5A16259F67BB}" destId="{2FA2CDCB-2BE6-4492-8BB7-28FBBA4F03E1}" srcOrd="0" destOrd="0" presId="urn:microsoft.com/office/officeart/2005/8/layout/vList5"/>
    <dgm:cxn modelId="{26D50EC7-07F6-42E3-909A-70981CE56862}" type="presOf" srcId="{26EAD64F-57F4-41E0-849C-F72E978F95B6}" destId="{17965BD4-4D8C-4806-A9AE-6BC558201481}" srcOrd="0" destOrd="0" presId="urn:microsoft.com/office/officeart/2005/8/layout/vList5"/>
    <dgm:cxn modelId="{EF050CD6-32F4-45C8-BFD2-8F0DED5E420A}" type="presOf" srcId="{7FA26DF7-2481-4FF1-B7A1-218584EAE50E}" destId="{37B76510-9C4A-442B-B5D8-1E58C041B90A}" srcOrd="0" destOrd="0" presId="urn:microsoft.com/office/officeart/2005/8/layout/vList5"/>
    <dgm:cxn modelId="{382E74E2-1B45-49F6-A810-00455DE9133A}" type="presOf" srcId="{B47BC36E-E39B-4CCB-8186-0C6A2F5F3F03}" destId="{6A51E076-EC35-4C50-B801-789729F525E6}" srcOrd="0" destOrd="1" presId="urn:microsoft.com/office/officeart/2005/8/layout/vList5"/>
    <dgm:cxn modelId="{E6FBD6E2-0C81-4C84-9CB1-92048B3417A1}" srcId="{26EAD64F-57F4-41E0-849C-F72E978F95B6}" destId="{7FA26DF7-2481-4FF1-B7A1-218584EAE50E}" srcOrd="3" destOrd="0" parTransId="{E7AAC8F7-D72C-49C0-AE66-1AB071795BB9}" sibTransId="{12D2A409-960E-462B-A354-BEC155DA649A}"/>
    <dgm:cxn modelId="{2DDE9DF2-63E8-4A45-BEAC-D9BFE1E815BC}" type="presOf" srcId="{0B1C1ED5-2F4C-4C36-9F0B-BDBDB9931A7B}" destId="{66EA4F96-7A20-41DA-8EA6-70743F479318}" srcOrd="0" destOrd="0" presId="urn:microsoft.com/office/officeart/2005/8/layout/vList5"/>
    <dgm:cxn modelId="{EDFA47DB-8269-4C9C-946A-526EE9E2A79D}" type="presParOf" srcId="{17965BD4-4D8C-4806-A9AE-6BC558201481}" destId="{4E7011BE-72FD-4110-B915-8FDBC1547E2B}" srcOrd="0" destOrd="0" presId="urn:microsoft.com/office/officeart/2005/8/layout/vList5"/>
    <dgm:cxn modelId="{48CC27BB-BC6B-40A9-A96C-D97A3B07E07B}" type="presParOf" srcId="{4E7011BE-72FD-4110-B915-8FDBC1547E2B}" destId="{EB0CDE3E-D0B1-423A-AAB0-98A776452D0D}" srcOrd="0" destOrd="0" presId="urn:microsoft.com/office/officeart/2005/8/layout/vList5"/>
    <dgm:cxn modelId="{ABAF3BD3-DF80-452E-A29A-5B15ED67D18F}" type="presParOf" srcId="{17965BD4-4D8C-4806-A9AE-6BC558201481}" destId="{31081BB0-0722-4330-B533-222B11856748}" srcOrd="1" destOrd="0" presId="urn:microsoft.com/office/officeart/2005/8/layout/vList5"/>
    <dgm:cxn modelId="{6BE14B8C-7A26-4256-ABDF-77AEEA0A7D6D}" type="presParOf" srcId="{17965BD4-4D8C-4806-A9AE-6BC558201481}" destId="{71DAFC72-780C-4C11-86D3-B8B5F083A22E}" srcOrd="2" destOrd="0" presId="urn:microsoft.com/office/officeart/2005/8/layout/vList5"/>
    <dgm:cxn modelId="{F4BB8296-7ABF-42B7-971B-98ECC8C5C7F0}" type="presParOf" srcId="{71DAFC72-780C-4C11-86D3-B8B5F083A22E}" destId="{2FA2CDCB-2BE6-4492-8BB7-28FBBA4F03E1}" srcOrd="0" destOrd="0" presId="urn:microsoft.com/office/officeart/2005/8/layout/vList5"/>
    <dgm:cxn modelId="{C5B75B11-AF60-4D4D-9A1C-6CF350AE3833}" type="presParOf" srcId="{71DAFC72-780C-4C11-86D3-B8B5F083A22E}" destId="{23A85F34-62E8-4C88-8772-3A48C60D77E0}" srcOrd="1" destOrd="0" presId="urn:microsoft.com/office/officeart/2005/8/layout/vList5"/>
    <dgm:cxn modelId="{0B3F6459-7BD3-488E-BB17-03B9A57A0E5C}" type="presParOf" srcId="{17965BD4-4D8C-4806-A9AE-6BC558201481}" destId="{299B762E-1E73-4160-A5E7-7E59FE8CD43D}" srcOrd="3" destOrd="0" presId="urn:microsoft.com/office/officeart/2005/8/layout/vList5"/>
    <dgm:cxn modelId="{7378CD5E-58FB-41B7-86A0-80208A3A5C3F}" type="presParOf" srcId="{17965BD4-4D8C-4806-A9AE-6BC558201481}" destId="{7D7DF638-ABC3-412E-A3B5-CE458D480C9A}" srcOrd="4" destOrd="0" presId="urn:microsoft.com/office/officeart/2005/8/layout/vList5"/>
    <dgm:cxn modelId="{989FD942-64E3-4AAF-A39A-4F8515BF248C}" type="presParOf" srcId="{7D7DF638-ABC3-412E-A3B5-CE458D480C9A}" destId="{575A7642-C028-4467-92E7-83C79D739E2F}" srcOrd="0" destOrd="0" presId="urn:microsoft.com/office/officeart/2005/8/layout/vList5"/>
    <dgm:cxn modelId="{D4C2090B-D423-4F1C-8530-8DB50BB13DD2}" type="presParOf" srcId="{7D7DF638-ABC3-412E-A3B5-CE458D480C9A}" destId="{66EA4F96-7A20-41DA-8EA6-70743F479318}" srcOrd="1" destOrd="0" presId="urn:microsoft.com/office/officeart/2005/8/layout/vList5"/>
    <dgm:cxn modelId="{F2A8E4CC-657C-4579-90C2-865B635F466F}" type="presParOf" srcId="{17965BD4-4D8C-4806-A9AE-6BC558201481}" destId="{941CFE09-35F8-4018-A1D1-E0CFB946C09C}" srcOrd="5" destOrd="0" presId="urn:microsoft.com/office/officeart/2005/8/layout/vList5"/>
    <dgm:cxn modelId="{4D9BF1B8-A1C4-4F9D-A2AA-4A5100E3BD6D}" type="presParOf" srcId="{17965BD4-4D8C-4806-A9AE-6BC558201481}" destId="{37C5BC59-5D97-4B7B-8E18-989E8FBEFCD1}" srcOrd="6" destOrd="0" presId="urn:microsoft.com/office/officeart/2005/8/layout/vList5"/>
    <dgm:cxn modelId="{F0EA97A9-8987-4B50-8D53-3D08BA65BD5B}" type="presParOf" srcId="{37C5BC59-5D97-4B7B-8E18-989E8FBEFCD1}" destId="{37B76510-9C4A-442B-B5D8-1E58C041B90A}" srcOrd="0" destOrd="0" presId="urn:microsoft.com/office/officeart/2005/8/layout/vList5"/>
    <dgm:cxn modelId="{ABF687A4-54BA-40A8-BB70-B388E10DE6F6}" type="presParOf" srcId="{37C5BC59-5D97-4B7B-8E18-989E8FBEFCD1}" destId="{6A51E076-EC35-4C50-B801-789729F525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0EA3B8-C878-437A-8600-22D9A624F73E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D08095-D84D-4471-B8D1-6E52EDEA82A2}">
      <dgm:prSet custT="1"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>
              <a:solidFill>
                <a:schemeClr val="tx1"/>
              </a:solidFill>
            </a:rPr>
            <a:t>irreversible AChE inhibitors</a:t>
          </a:r>
        </a:p>
      </dgm:t>
    </dgm:pt>
    <dgm:pt modelId="{8B7B7058-BA2D-49C6-8B04-358D82D2A512}" type="parTrans" cxnId="{06801974-6614-4113-8352-61D714E7831B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F21A0B45-95AF-41E3-8BEA-3F6AED232CE3}" type="sibTrans" cxnId="{06801974-6614-4113-8352-61D714E7831B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6111AA91-46F5-4CCF-8A57-4A98663792F3}">
      <dgm:prSet custT="1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Sarin, VX; insecticides</a:t>
          </a:r>
        </a:p>
      </dgm:t>
    </dgm:pt>
    <dgm:pt modelId="{3638E2D3-0856-4D81-9F43-FD4603287F07}" type="parTrans" cxnId="{90A2748F-F029-47A1-AF52-59B3666D7AF9}">
      <dgm:prSet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DC6E7C40-8FE4-41C8-BACE-8A9B4B514219}" type="sibTrans" cxnId="{90A2748F-F029-47A1-AF52-59B3666D7AF9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2D1BE99B-05CC-4239-A238-D2989F450AC6}">
      <dgm:prSet custT="1"/>
      <dgm:spPr>
        <a:solidFill>
          <a:schemeClr val="accent6">
            <a:lumMod val="40000"/>
            <a:lumOff val="60000"/>
          </a:schemeClr>
        </a:solidFill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>
              <a:solidFill>
                <a:schemeClr val="tx1"/>
              </a:solidFill>
            </a:rPr>
            <a:t>reversible AChE inhibitors</a:t>
          </a:r>
        </a:p>
      </dgm:t>
    </dgm:pt>
    <dgm:pt modelId="{712D366C-1ED6-4125-874F-57931EC612F2}" type="parTrans" cxnId="{9A141145-22D6-4786-9970-B80D02B9F050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DD61DEEE-3E65-4A55-81B8-C0F54851AD8A}" type="sibTrans" cxnId="{9A141145-22D6-4786-9970-B80D02B9F050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1F8AE64B-8A59-4533-BA1E-942B5BEDBCFE}">
      <dgm:prSet custT="1"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Aricept (donepezil); Exelon (rivastigmine)</a:t>
          </a:r>
        </a:p>
      </dgm:t>
    </dgm:pt>
    <dgm:pt modelId="{A9D9FB2A-BA23-4BEE-B3DB-CA25DA368CBB}" type="parTrans" cxnId="{73C09849-C108-4D17-8C54-93F3A829F1C1}">
      <dgm:prSet/>
      <dgm:spPr>
        <a:ln>
          <a:solidFill>
            <a:schemeClr val="accent6">
              <a:lumMod val="50000"/>
            </a:schemeClr>
          </a:solidFill>
        </a:ln>
      </dgm:spPr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EED23DA1-BEEA-42A3-A29E-73681F88F468}" type="sibTrans" cxnId="{73C09849-C108-4D17-8C54-93F3A829F1C1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066F4A94-D5A7-43BD-B276-F4440DE19BC4}" type="pres">
      <dgm:prSet presAssocID="{500EA3B8-C878-437A-8600-22D9A624F73E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1EE9200-6A03-47B5-A77B-E5CE4A130A3F}" type="pres">
      <dgm:prSet presAssocID="{F0D08095-D84D-4471-B8D1-6E52EDEA82A2}" presName="root" presStyleCnt="0"/>
      <dgm:spPr/>
    </dgm:pt>
    <dgm:pt modelId="{2C57A80C-D518-4B9A-A390-ED4A45728AFB}" type="pres">
      <dgm:prSet presAssocID="{F0D08095-D84D-4471-B8D1-6E52EDEA82A2}" presName="rootComposite" presStyleCnt="0"/>
      <dgm:spPr/>
    </dgm:pt>
    <dgm:pt modelId="{78CCC284-B068-4D79-BB01-6F36ED3D4BF0}" type="pres">
      <dgm:prSet presAssocID="{F0D08095-D84D-4471-B8D1-6E52EDEA82A2}" presName="rootText" presStyleLbl="node1" presStyleIdx="0" presStyleCnt="2" custScaleY="50079"/>
      <dgm:spPr/>
    </dgm:pt>
    <dgm:pt modelId="{8A417F66-B8F7-4881-A898-63864325B916}" type="pres">
      <dgm:prSet presAssocID="{F0D08095-D84D-4471-B8D1-6E52EDEA82A2}" presName="rootConnector" presStyleLbl="node1" presStyleIdx="0" presStyleCnt="2"/>
      <dgm:spPr/>
    </dgm:pt>
    <dgm:pt modelId="{580821AB-364C-4128-B8BF-4404876BB24E}" type="pres">
      <dgm:prSet presAssocID="{F0D08095-D84D-4471-B8D1-6E52EDEA82A2}" presName="childShape" presStyleCnt="0"/>
      <dgm:spPr/>
    </dgm:pt>
    <dgm:pt modelId="{B371C3CC-38EE-4ADD-A8C6-49D1A81759F9}" type="pres">
      <dgm:prSet presAssocID="{3638E2D3-0856-4D81-9F43-FD4603287F07}" presName="Name13" presStyleLbl="parChTrans1D2" presStyleIdx="0" presStyleCnt="2"/>
      <dgm:spPr/>
    </dgm:pt>
    <dgm:pt modelId="{9B2C8884-932F-408C-82B3-385D14FAA860}" type="pres">
      <dgm:prSet presAssocID="{6111AA91-46F5-4CCF-8A57-4A98663792F3}" presName="childText" presStyleLbl="bgAcc1" presStyleIdx="0" presStyleCnt="2" custScaleX="131725" custScaleY="62599">
        <dgm:presLayoutVars>
          <dgm:bulletEnabled val="1"/>
        </dgm:presLayoutVars>
      </dgm:prSet>
      <dgm:spPr/>
    </dgm:pt>
    <dgm:pt modelId="{4B826EE7-F284-4118-8833-4F6CA15B07E7}" type="pres">
      <dgm:prSet presAssocID="{2D1BE99B-05CC-4239-A238-D2989F450AC6}" presName="root" presStyleCnt="0"/>
      <dgm:spPr/>
    </dgm:pt>
    <dgm:pt modelId="{8B9AE084-1B19-42AE-AB89-97951FDC87C1}" type="pres">
      <dgm:prSet presAssocID="{2D1BE99B-05CC-4239-A238-D2989F450AC6}" presName="rootComposite" presStyleCnt="0"/>
      <dgm:spPr/>
    </dgm:pt>
    <dgm:pt modelId="{4F4FA5B4-DA3A-4EB5-B063-81F48B9D829E}" type="pres">
      <dgm:prSet presAssocID="{2D1BE99B-05CC-4239-A238-D2989F450AC6}" presName="rootText" presStyleLbl="node1" presStyleIdx="1" presStyleCnt="2" custScaleY="50079"/>
      <dgm:spPr/>
    </dgm:pt>
    <dgm:pt modelId="{53F248B5-49DD-4017-924E-7F8BF7B487D2}" type="pres">
      <dgm:prSet presAssocID="{2D1BE99B-05CC-4239-A238-D2989F450AC6}" presName="rootConnector" presStyleLbl="node1" presStyleIdx="1" presStyleCnt="2"/>
      <dgm:spPr/>
    </dgm:pt>
    <dgm:pt modelId="{1E8F565E-AA07-418C-95D9-40F986F0D8AD}" type="pres">
      <dgm:prSet presAssocID="{2D1BE99B-05CC-4239-A238-D2989F450AC6}" presName="childShape" presStyleCnt="0"/>
      <dgm:spPr/>
    </dgm:pt>
    <dgm:pt modelId="{AB17EBB2-F96E-4713-98FC-F10AC3F9F1B5}" type="pres">
      <dgm:prSet presAssocID="{A9D9FB2A-BA23-4BEE-B3DB-CA25DA368CBB}" presName="Name13" presStyleLbl="parChTrans1D2" presStyleIdx="1" presStyleCnt="2"/>
      <dgm:spPr/>
    </dgm:pt>
    <dgm:pt modelId="{9C3CE28E-EE47-41AA-A4D6-65FD5EADDD0A}" type="pres">
      <dgm:prSet presAssocID="{1F8AE64B-8A59-4533-BA1E-942B5BEDBCFE}" presName="childText" presStyleLbl="bgAcc1" presStyleIdx="1" presStyleCnt="2" custScaleX="131725" custScaleY="62599">
        <dgm:presLayoutVars>
          <dgm:bulletEnabled val="1"/>
        </dgm:presLayoutVars>
      </dgm:prSet>
      <dgm:spPr/>
    </dgm:pt>
  </dgm:ptLst>
  <dgm:cxnLst>
    <dgm:cxn modelId="{1F05440B-CFFC-4F31-A441-51E83A968068}" type="presOf" srcId="{2D1BE99B-05CC-4239-A238-D2989F450AC6}" destId="{4F4FA5B4-DA3A-4EB5-B063-81F48B9D829E}" srcOrd="0" destOrd="0" presId="urn:microsoft.com/office/officeart/2005/8/layout/hierarchy3"/>
    <dgm:cxn modelId="{B37F2D1E-852D-4A6F-83C2-79457254C88B}" type="presOf" srcId="{2D1BE99B-05CC-4239-A238-D2989F450AC6}" destId="{53F248B5-49DD-4017-924E-7F8BF7B487D2}" srcOrd="1" destOrd="0" presId="urn:microsoft.com/office/officeart/2005/8/layout/hierarchy3"/>
    <dgm:cxn modelId="{9C41901E-01D9-4A2F-B6C1-C7846931108F}" type="presOf" srcId="{A9D9FB2A-BA23-4BEE-B3DB-CA25DA368CBB}" destId="{AB17EBB2-F96E-4713-98FC-F10AC3F9F1B5}" srcOrd="0" destOrd="0" presId="urn:microsoft.com/office/officeart/2005/8/layout/hierarchy3"/>
    <dgm:cxn modelId="{60BBD744-E880-4A6C-8251-883D2014F220}" type="presOf" srcId="{F0D08095-D84D-4471-B8D1-6E52EDEA82A2}" destId="{78CCC284-B068-4D79-BB01-6F36ED3D4BF0}" srcOrd="0" destOrd="0" presId="urn:microsoft.com/office/officeart/2005/8/layout/hierarchy3"/>
    <dgm:cxn modelId="{9A141145-22D6-4786-9970-B80D02B9F050}" srcId="{500EA3B8-C878-437A-8600-22D9A624F73E}" destId="{2D1BE99B-05CC-4239-A238-D2989F450AC6}" srcOrd="1" destOrd="0" parTransId="{712D366C-1ED6-4125-874F-57931EC612F2}" sibTransId="{DD61DEEE-3E65-4A55-81B8-C0F54851AD8A}"/>
    <dgm:cxn modelId="{73C09849-C108-4D17-8C54-93F3A829F1C1}" srcId="{2D1BE99B-05CC-4239-A238-D2989F450AC6}" destId="{1F8AE64B-8A59-4533-BA1E-942B5BEDBCFE}" srcOrd="0" destOrd="0" parTransId="{A9D9FB2A-BA23-4BEE-B3DB-CA25DA368CBB}" sibTransId="{EED23DA1-BEEA-42A3-A29E-73681F88F468}"/>
    <dgm:cxn modelId="{F24DF870-61AC-45CD-B1F3-86177DD10BB9}" type="presOf" srcId="{500EA3B8-C878-437A-8600-22D9A624F73E}" destId="{066F4A94-D5A7-43BD-B276-F4440DE19BC4}" srcOrd="0" destOrd="0" presId="urn:microsoft.com/office/officeart/2005/8/layout/hierarchy3"/>
    <dgm:cxn modelId="{7993AB73-0DB7-484C-A9F9-0AC1B4BD1DE7}" type="presOf" srcId="{F0D08095-D84D-4471-B8D1-6E52EDEA82A2}" destId="{8A417F66-B8F7-4881-A898-63864325B916}" srcOrd="1" destOrd="0" presId="urn:microsoft.com/office/officeart/2005/8/layout/hierarchy3"/>
    <dgm:cxn modelId="{06801974-6614-4113-8352-61D714E7831B}" srcId="{500EA3B8-C878-437A-8600-22D9A624F73E}" destId="{F0D08095-D84D-4471-B8D1-6E52EDEA82A2}" srcOrd="0" destOrd="0" parTransId="{8B7B7058-BA2D-49C6-8B04-358D82D2A512}" sibTransId="{F21A0B45-95AF-41E3-8BEA-3F6AED232CE3}"/>
    <dgm:cxn modelId="{C89B5887-1682-4F9F-97AA-9DE28B0890B7}" type="presOf" srcId="{6111AA91-46F5-4CCF-8A57-4A98663792F3}" destId="{9B2C8884-932F-408C-82B3-385D14FAA860}" srcOrd="0" destOrd="0" presId="urn:microsoft.com/office/officeart/2005/8/layout/hierarchy3"/>
    <dgm:cxn modelId="{86A29687-D196-4D31-812A-DBF8C9859BF3}" type="presOf" srcId="{1F8AE64B-8A59-4533-BA1E-942B5BEDBCFE}" destId="{9C3CE28E-EE47-41AA-A4D6-65FD5EADDD0A}" srcOrd="0" destOrd="0" presId="urn:microsoft.com/office/officeart/2005/8/layout/hierarchy3"/>
    <dgm:cxn modelId="{90A2748F-F029-47A1-AF52-59B3666D7AF9}" srcId="{F0D08095-D84D-4471-B8D1-6E52EDEA82A2}" destId="{6111AA91-46F5-4CCF-8A57-4A98663792F3}" srcOrd="0" destOrd="0" parTransId="{3638E2D3-0856-4D81-9F43-FD4603287F07}" sibTransId="{DC6E7C40-8FE4-41C8-BACE-8A9B4B514219}"/>
    <dgm:cxn modelId="{664DBD90-5357-4CB8-986E-DE15BA92B754}" type="presOf" srcId="{3638E2D3-0856-4D81-9F43-FD4603287F07}" destId="{B371C3CC-38EE-4ADD-A8C6-49D1A81759F9}" srcOrd="0" destOrd="0" presId="urn:microsoft.com/office/officeart/2005/8/layout/hierarchy3"/>
    <dgm:cxn modelId="{DD0117AC-EBED-4B1A-92CB-AC2242BF27C1}" type="presParOf" srcId="{066F4A94-D5A7-43BD-B276-F4440DE19BC4}" destId="{01EE9200-6A03-47B5-A77B-E5CE4A130A3F}" srcOrd="0" destOrd="0" presId="urn:microsoft.com/office/officeart/2005/8/layout/hierarchy3"/>
    <dgm:cxn modelId="{FCEB3EAE-65F2-4CE3-93AC-63608240C63E}" type="presParOf" srcId="{01EE9200-6A03-47B5-A77B-E5CE4A130A3F}" destId="{2C57A80C-D518-4B9A-A390-ED4A45728AFB}" srcOrd="0" destOrd="0" presId="urn:microsoft.com/office/officeart/2005/8/layout/hierarchy3"/>
    <dgm:cxn modelId="{0B7CC791-E215-4C79-9DF6-9A6D5840D156}" type="presParOf" srcId="{2C57A80C-D518-4B9A-A390-ED4A45728AFB}" destId="{78CCC284-B068-4D79-BB01-6F36ED3D4BF0}" srcOrd="0" destOrd="0" presId="urn:microsoft.com/office/officeart/2005/8/layout/hierarchy3"/>
    <dgm:cxn modelId="{8ED9A2C8-1B63-4E54-B4CF-F4D5C8F40200}" type="presParOf" srcId="{2C57A80C-D518-4B9A-A390-ED4A45728AFB}" destId="{8A417F66-B8F7-4881-A898-63864325B916}" srcOrd="1" destOrd="0" presId="urn:microsoft.com/office/officeart/2005/8/layout/hierarchy3"/>
    <dgm:cxn modelId="{DC184C69-E8D8-41E4-A142-C4C558317977}" type="presParOf" srcId="{01EE9200-6A03-47B5-A77B-E5CE4A130A3F}" destId="{580821AB-364C-4128-B8BF-4404876BB24E}" srcOrd="1" destOrd="0" presId="urn:microsoft.com/office/officeart/2005/8/layout/hierarchy3"/>
    <dgm:cxn modelId="{12E8C645-ECE4-47E0-8723-893DB0FF4E23}" type="presParOf" srcId="{580821AB-364C-4128-B8BF-4404876BB24E}" destId="{B371C3CC-38EE-4ADD-A8C6-49D1A81759F9}" srcOrd="0" destOrd="0" presId="urn:microsoft.com/office/officeart/2005/8/layout/hierarchy3"/>
    <dgm:cxn modelId="{42A840B4-32DC-45BF-93B0-8D0A047D9F72}" type="presParOf" srcId="{580821AB-364C-4128-B8BF-4404876BB24E}" destId="{9B2C8884-932F-408C-82B3-385D14FAA860}" srcOrd="1" destOrd="0" presId="urn:microsoft.com/office/officeart/2005/8/layout/hierarchy3"/>
    <dgm:cxn modelId="{A617FA28-186C-4ED7-A681-1361C141F854}" type="presParOf" srcId="{066F4A94-D5A7-43BD-B276-F4440DE19BC4}" destId="{4B826EE7-F284-4118-8833-4F6CA15B07E7}" srcOrd="1" destOrd="0" presId="urn:microsoft.com/office/officeart/2005/8/layout/hierarchy3"/>
    <dgm:cxn modelId="{8A6C1D41-52AC-4639-B575-C16E20073153}" type="presParOf" srcId="{4B826EE7-F284-4118-8833-4F6CA15B07E7}" destId="{8B9AE084-1B19-42AE-AB89-97951FDC87C1}" srcOrd="0" destOrd="0" presId="urn:microsoft.com/office/officeart/2005/8/layout/hierarchy3"/>
    <dgm:cxn modelId="{D78431AD-34D1-40D8-8920-EAD12B3A64E8}" type="presParOf" srcId="{8B9AE084-1B19-42AE-AB89-97951FDC87C1}" destId="{4F4FA5B4-DA3A-4EB5-B063-81F48B9D829E}" srcOrd="0" destOrd="0" presId="urn:microsoft.com/office/officeart/2005/8/layout/hierarchy3"/>
    <dgm:cxn modelId="{AC4326B4-F73F-46FF-83C1-6966199D5255}" type="presParOf" srcId="{8B9AE084-1B19-42AE-AB89-97951FDC87C1}" destId="{53F248B5-49DD-4017-924E-7F8BF7B487D2}" srcOrd="1" destOrd="0" presId="urn:microsoft.com/office/officeart/2005/8/layout/hierarchy3"/>
    <dgm:cxn modelId="{51386CAC-2E03-4E88-9AF6-F34F68096686}" type="presParOf" srcId="{4B826EE7-F284-4118-8833-4F6CA15B07E7}" destId="{1E8F565E-AA07-418C-95D9-40F986F0D8AD}" srcOrd="1" destOrd="0" presId="urn:microsoft.com/office/officeart/2005/8/layout/hierarchy3"/>
    <dgm:cxn modelId="{0D0309EE-9321-48CA-885A-BCD9CBAEF4F8}" type="presParOf" srcId="{1E8F565E-AA07-418C-95D9-40F986F0D8AD}" destId="{AB17EBB2-F96E-4713-98FC-F10AC3F9F1B5}" srcOrd="0" destOrd="0" presId="urn:microsoft.com/office/officeart/2005/8/layout/hierarchy3"/>
    <dgm:cxn modelId="{F130141B-5806-4AD6-B4A4-37A14CC08401}" type="presParOf" srcId="{1E8F565E-AA07-418C-95D9-40F986F0D8AD}" destId="{9C3CE28E-EE47-41AA-A4D6-65FD5EADDD0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9DE308-0FAC-46DD-9927-4AB61B2EF7E9}">
      <dsp:nvSpPr>
        <dsp:cNvPr id="0" name=""/>
        <dsp:cNvSpPr/>
      </dsp:nvSpPr>
      <dsp:spPr>
        <a:xfrm>
          <a:off x="0" y="2879"/>
          <a:ext cx="548640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Small molecule</a:t>
          </a:r>
          <a:endParaRPr lang="en-US" sz="2400" kern="1200" dirty="0"/>
        </a:p>
      </dsp:txBody>
      <dsp:txXfrm>
        <a:off x="40209" y="43088"/>
        <a:ext cx="5405982" cy="743262"/>
      </dsp:txXfrm>
    </dsp:sp>
    <dsp:sp modelId="{7814B2A0-18FD-46C0-A137-4CC89729CFB1}">
      <dsp:nvSpPr>
        <dsp:cNvPr id="0" name=""/>
        <dsp:cNvSpPr/>
      </dsp:nvSpPr>
      <dsp:spPr>
        <a:xfrm>
          <a:off x="0" y="826559"/>
          <a:ext cx="5486400" cy="163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19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Synthesized in final form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Synthesis in NT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enzymes localized to NT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often a rate-limiting step</a:t>
          </a:r>
        </a:p>
      </dsp:txBody>
      <dsp:txXfrm>
        <a:off x="0" y="826559"/>
        <a:ext cx="5486400" cy="1639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95DD3-D575-4CC3-A520-A0862CEC7540}">
      <dsp:nvSpPr>
        <dsp:cNvPr id="0" name=""/>
        <dsp:cNvSpPr/>
      </dsp:nvSpPr>
      <dsp:spPr>
        <a:xfrm>
          <a:off x="0" y="10878"/>
          <a:ext cx="5212080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Peptide</a:t>
          </a:r>
          <a:endParaRPr lang="en-US" sz="2400" kern="1200"/>
        </a:p>
      </dsp:txBody>
      <dsp:txXfrm>
        <a:off x="0" y="10878"/>
        <a:ext cx="5212080" cy="720000"/>
      </dsp:txXfrm>
    </dsp:sp>
    <dsp:sp modelId="{4DF59965-A82D-4152-A4EE-952230602829}">
      <dsp:nvSpPr>
        <dsp:cNvPr id="0" name=""/>
        <dsp:cNvSpPr/>
      </dsp:nvSpPr>
      <dsp:spPr>
        <a:xfrm>
          <a:off x="0" y="730878"/>
          <a:ext cx="5212080" cy="181856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Synthesis of precursor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Synthesis required in soma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transcription, translation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transport to NT</a:t>
          </a:r>
        </a:p>
      </dsp:txBody>
      <dsp:txXfrm>
        <a:off x="0" y="730878"/>
        <a:ext cx="5212080" cy="1818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CDE3E-D0B1-423A-AAB0-98A776452D0D}">
      <dsp:nvSpPr>
        <dsp:cNvPr id="0" name=""/>
        <dsp:cNvSpPr/>
      </dsp:nvSpPr>
      <dsp:spPr>
        <a:xfrm>
          <a:off x="0" y="136"/>
          <a:ext cx="2880340" cy="692403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Location</a:t>
          </a:r>
        </a:p>
      </dsp:txBody>
      <dsp:txXfrm>
        <a:off x="33800" y="33936"/>
        <a:ext cx="2812740" cy="624803"/>
      </dsp:txXfrm>
    </dsp:sp>
    <dsp:sp modelId="{23A85F34-62E8-4C88-8772-3A48C60D77E0}">
      <dsp:nvSpPr>
        <dsp:cNvPr id="0" name=""/>
        <dsp:cNvSpPr/>
      </dsp:nvSpPr>
      <dsp:spPr>
        <a:xfrm rot="5400000">
          <a:off x="6623699" y="-2995061"/>
          <a:ext cx="850239" cy="8331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Precursors, enzymes</a:t>
          </a:r>
        </a:p>
      </dsp:txBody>
      <dsp:txXfrm rot="-5400000">
        <a:off x="2882958" y="787185"/>
        <a:ext cx="8290218" cy="767229"/>
      </dsp:txXfrm>
    </dsp:sp>
    <dsp:sp modelId="{2FA2CDCB-2BE6-4492-8BB7-28FBBA4F03E1}">
      <dsp:nvSpPr>
        <dsp:cNvPr id="0" name=""/>
        <dsp:cNvSpPr/>
      </dsp:nvSpPr>
      <dsp:spPr>
        <a:xfrm>
          <a:off x="0" y="824598"/>
          <a:ext cx="2880364" cy="692403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Synthesis</a:t>
          </a:r>
        </a:p>
      </dsp:txBody>
      <dsp:txXfrm>
        <a:off x="33800" y="858398"/>
        <a:ext cx="2812764" cy="624803"/>
      </dsp:txXfrm>
    </dsp:sp>
    <dsp:sp modelId="{66EA4F96-7A20-41DA-8EA6-70743F479318}">
      <dsp:nvSpPr>
        <dsp:cNvPr id="0" name=""/>
        <dsp:cNvSpPr/>
      </dsp:nvSpPr>
      <dsp:spPr>
        <a:xfrm rot="5400000">
          <a:off x="6623699" y="-2091681"/>
          <a:ext cx="850239" cy="8331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enzymatic and/or reuptake</a:t>
          </a:r>
        </a:p>
      </dsp:txBody>
      <dsp:txXfrm rot="-5400000">
        <a:off x="2882958" y="1690565"/>
        <a:ext cx="8290218" cy="767229"/>
      </dsp:txXfrm>
    </dsp:sp>
    <dsp:sp modelId="{575A7642-C028-4467-92E7-83C79D739E2F}">
      <dsp:nvSpPr>
        <dsp:cNvPr id="0" name=""/>
        <dsp:cNvSpPr/>
      </dsp:nvSpPr>
      <dsp:spPr>
        <a:xfrm>
          <a:off x="0" y="1722722"/>
          <a:ext cx="2880364" cy="702914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1"/>
              </a:solidFill>
            </a:rPr>
            <a:t>Inactivation</a:t>
          </a:r>
        </a:p>
      </dsp:txBody>
      <dsp:txXfrm>
        <a:off x="34313" y="1757035"/>
        <a:ext cx="2811738" cy="634288"/>
      </dsp:txXfrm>
    </dsp:sp>
    <dsp:sp modelId="{6A51E076-EC35-4C50-B801-789729F525E6}">
      <dsp:nvSpPr>
        <dsp:cNvPr id="0" name=""/>
        <dsp:cNvSpPr/>
      </dsp:nvSpPr>
      <dsp:spPr>
        <a:xfrm rot="5400000">
          <a:off x="6176426" y="-741028"/>
          <a:ext cx="1744785" cy="8331723"/>
        </a:xfrm>
        <a:prstGeom prst="round2Same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/>
            <a:t>Ionotropic, metabotropic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Subunit composition, topology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Functional domains</a:t>
          </a:r>
        </a:p>
      </dsp:txBody>
      <dsp:txXfrm rot="-5400000">
        <a:off x="2882958" y="2637613"/>
        <a:ext cx="8246550" cy="1574439"/>
      </dsp:txXfrm>
    </dsp:sp>
    <dsp:sp modelId="{37B76510-9C4A-442B-B5D8-1E58C041B90A}">
      <dsp:nvSpPr>
        <dsp:cNvPr id="0" name=""/>
        <dsp:cNvSpPr/>
      </dsp:nvSpPr>
      <dsp:spPr>
        <a:xfrm>
          <a:off x="0" y="2893433"/>
          <a:ext cx="2880364" cy="1062799"/>
        </a:xfrm>
        <a:prstGeom prst="round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Receptors</a:t>
          </a:r>
        </a:p>
      </dsp:txBody>
      <dsp:txXfrm>
        <a:off x="51882" y="2945315"/>
        <a:ext cx="2776600" cy="959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CC284-B068-4D79-BB01-6F36ED3D4BF0}">
      <dsp:nvSpPr>
        <dsp:cNvPr id="0" name=""/>
        <dsp:cNvSpPr/>
      </dsp:nvSpPr>
      <dsp:spPr>
        <a:xfrm>
          <a:off x="5258" y="442"/>
          <a:ext cx="4382160" cy="1097271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1"/>
              </a:solidFill>
            </a:rPr>
            <a:t>irreversible AChE inhibitors</a:t>
          </a:r>
        </a:p>
      </dsp:txBody>
      <dsp:txXfrm>
        <a:off x="37396" y="32580"/>
        <a:ext cx="4317884" cy="1032995"/>
      </dsp:txXfrm>
    </dsp:sp>
    <dsp:sp modelId="{B371C3CC-38EE-4ADD-A8C6-49D1A81759F9}">
      <dsp:nvSpPr>
        <dsp:cNvPr id="0" name=""/>
        <dsp:cNvSpPr/>
      </dsp:nvSpPr>
      <dsp:spPr>
        <a:xfrm>
          <a:off x="443474" y="1097713"/>
          <a:ext cx="438216" cy="1233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567"/>
              </a:lnTo>
              <a:lnTo>
                <a:pt x="438216" y="1233567"/>
              </a:lnTo>
            </a:path>
          </a:pathLst>
        </a:custGeom>
        <a:noFill/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2C8884-932F-408C-82B3-385D14FAA860}">
      <dsp:nvSpPr>
        <dsp:cNvPr id="0" name=""/>
        <dsp:cNvSpPr/>
      </dsp:nvSpPr>
      <dsp:spPr>
        <a:xfrm>
          <a:off x="881690" y="1645483"/>
          <a:ext cx="4617921" cy="1371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Sarin, VX; insecticides</a:t>
          </a:r>
        </a:p>
      </dsp:txBody>
      <dsp:txXfrm>
        <a:off x="921863" y="1685656"/>
        <a:ext cx="4537575" cy="1291248"/>
      </dsp:txXfrm>
    </dsp:sp>
    <dsp:sp modelId="{4F4FA5B4-DA3A-4EB5-B063-81F48B9D829E}">
      <dsp:nvSpPr>
        <dsp:cNvPr id="0" name=""/>
        <dsp:cNvSpPr/>
      </dsp:nvSpPr>
      <dsp:spPr>
        <a:xfrm>
          <a:off x="5718720" y="442"/>
          <a:ext cx="4382160" cy="1097271"/>
        </a:xfrm>
        <a:prstGeom prst="roundRect">
          <a:avLst>
            <a:gd name="adj" fmla="val 10000"/>
          </a:avLst>
        </a:prstGeom>
        <a:solidFill>
          <a:schemeClr val="accent6">
            <a:lumMod val="40000"/>
            <a:lumOff val="6000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solidFill>
                <a:schemeClr val="tx1"/>
              </a:solidFill>
            </a:rPr>
            <a:t>reversible AChE inhibitors</a:t>
          </a:r>
        </a:p>
      </dsp:txBody>
      <dsp:txXfrm>
        <a:off x="5750858" y="32580"/>
        <a:ext cx="4317884" cy="1032995"/>
      </dsp:txXfrm>
    </dsp:sp>
    <dsp:sp modelId="{AB17EBB2-F96E-4713-98FC-F10AC3F9F1B5}">
      <dsp:nvSpPr>
        <dsp:cNvPr id="0" name=""/>
        <dsp:cNvSpPr/>
      </dsp:nvSpPr>
      <dsp:spPr>
        <a:xfrm>
          <a:off x="6156936" y="1097713"/>
          <a:ext cx="438216" cy="1233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3567"/>
              </a:lnTo>
              <a:lnTo>
                <a:pt x="438216" y="1233567"/>
              </a:lnTo>
            </a:path>
          </a:pathLst>
        </a:custGeom>
        <a:noFill/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CE28E-EE47-41AA-A4D6-65FD5EADDD0A}">
      <dsp:nvSpPr>
        <dsp:cNvPr id="0" name=""/>
        <dsp:cNvSpPr/>
      </dsp:nvSpPr>
      <dsp:spPr>
        <a:xfrm>
          <a:off x="6595152" y="1645483"/>
          <a:ext cx="4617921" cy="13715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lumMod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Aricept (donepezil); Exelon (rivastigmine)</a:t>
          </a:r>
        </a:p>
      </dsp:txBody>
      <dsp:txXfrm>
        <a:off x="6635325" y="1685656"/>
        <a:ext cx="4537575" cy="12912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5800" y="30480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r>
              <a:rPr lang="en-US" dirty="0"/>
              <a:t>Ch 06 – Transmitters &amp; Receptors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7800" y="664464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fld id="{8D7DF48F-BE4C-487E-AE9D-DDD4308B59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2947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1" y="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1" y="3474721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1" y="6949441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9" tIns="48330" rIns="96659" bIns="4833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Times New Roman" pitchFamily="18" charset="0"/>
              </a:defRPr>
            </a:lvl1pPr>
          </a:lstStyle>
          <a:p>
            <a:fld id="{D00DACB7-4095-4A12-A9FF-0B91CD463D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39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37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02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92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705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6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18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349D-A2AB-5AC3-06AD-DE6DBC81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6D0690-48E1-12F3-DBBD-C981FA66B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B0D434-8BD5-98EA-E76B-A5BD8A6D5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F5F6-D5E3-CCEE-D691-65B48191B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10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23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702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77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76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19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1669C-B570-22D0-DAAA-190D0A1B3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6D813-05D4-1487-7CBD-58100406C1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C0351-6278-5570-E9F0-297997E76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2FA8E-8BFE-6417-1DE4-992F10C9D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27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C234E-8EB6-4D81-CE80-30517427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D5CE2-22B0-F2F5-1C29-42E104F29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D7BA7-D889-1558-8B32-52FF30C13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4EC18-36F5-7DC2-349D-9FDF1A9DF9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51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CB22-B928-BF43-158F-EA54CB453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9BC6C-2684-CAE2-352C-4C40111D1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04934-CB6A-2868-7BA4-0711AF748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CDDB4-87BA-3CD1-253E-5FCB24403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076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849D7-B470-4CBA-B387-859226495325}" type="slidenum">
              <a:rPr lang="en-US"/>
              <a:pPr/>
              <a:t>26</a:t>
            </a:fld>
            <a:endParaRPr lang="en-US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0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DACB7-4095-4A12-A9FF-0B91CD463D8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3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9286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accent3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6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3000">
                    <a:schemeClr val="accent3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287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287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7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287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28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287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7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8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4F4863-3735-4241-A151-99B5A200952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8FEF19C7-5D7C-4371-ADF7-1E0E0AF7751D}"/>
              </a:ext>
            </a:extLst>
          </p:cNvPr>
          <p:cNvSpPr>
            <a:spLocks noGrp="1" noChangeArrowheads="1"/>
          </p:cNvSpPr>
          <p:nvPr>
            <p:ph idx="13"/>
          </p:nvPr>
        </p:nvSpPr>
        <p:spPr bwMode="auto">
          <a:xfrm>
            <a:off x="609600" y="2133600"/>
            <a:ext cx="109728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318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876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6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80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/>
          <a:lstStyle>
            <a:lvl1pPr>
              <a:buClr>
                <a:schemeClr val="accent5">
                  <a:lumMod val="50000"/>
                </a:schemeClr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A855A86-6A6D-4840-88B7-5E435C5E43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7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D6F1507-CE6E-4D6F-81CA-4ADFDB980D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AD2A7AB-A2C3-4C4E-9114-97859ED2E21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2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1764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C8D82D-0AAE-4124-8DB1-70B7AA3231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15FB13B-A49B-4F15-8A7A-1B957C561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82" y="1981200"/>
            <a:ext cx="5303520" cy="4495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n"/>
              <a:defRPr lang="en-US" sz="3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9886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2DD7685-B2C1-419F-B2B5-A4A7B485CF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55910D-CFFB-47C3-A4AF-71D427E44CE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9A44F33-B12A-4F02-8315-13E4B5D9B15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FCB7C75-21B4-43C8-B732-11CCDF8028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F06FDCA-43BD-4D6A-ADD6-C6E665D6A9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1785" y="2251075"/>
            <a:ext cx="11218332" cy="429768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50ECB99-716E-47EF-9188-25B801A5FD5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73F2839-37B9-477D-ABA7-9C1D4F43B66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5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accent3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accent4">
                  <a:lumMod val="40000"/>
                  <a:lumOff val="60000"/>
                </a:schemeClr>
              </a:gs>
              <a:gs pos="100000">
                <a:schemeClr val="accent4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7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047815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18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2133600"/>
            <a:ext cx="10972800" cy="448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6" r:id="rId3"/>
    <p:sldLayoutId id="2147483687" r:id="rId4"/>
    <p:sldLayoutId id="2147483689" r:id="rId5"/>
    <p:sldLayoutId id="2147483691" r:id="rId6"/>
    <p:sldLayoutId id="2147483677" r:id="rId7"/>
    <p:sldLayoutId id="2147483678" r:id="rId8"/>
    <p:sldLayoutId id="2147483688" r:id="rId9"/>
    <p:sldLayoutId id="2147483690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3"/>
        </a:buClr>
        <a:buSzPct val="60000"/>
        <a:buFont typeface="Wingdings" pitchFamily="2" charset="2"/>
        <a:buChar char="n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4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Neurotransmitters and Their Receptors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By: Nicole Phillips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1941-9E1B-22AF-8CBB-37FB9688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58FC-34F2-6A55-3DCE-D7B64BCA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Differentiate classes of Neurotransmitters</a:t>
            </a:r>
          </a:p>
          <a:p>
            <a:r>
              <a:rPr lang="en-US" dirty="0"/>
              <a:t>Describe the location, synthesis, &amp; inactivation of neurotransmitters discussed in class and in text</a:t>
            </a:r>
          </a:p>
          <a:p>
            <a:r>
              <a:rPr lang="en-US" dirty="0"/>
              <a:t>Explain the structure and function different types of receptor proteins</a:t>
            </a:r>
          </a:p>
        </p:txBody>
      </p:sp>
    </p:spTree>
    <p:extLst>
      <p:ext uri="{BB962C8B-B14F-4D97-AF65-F5344CB8AC3E}">
        <p14:creationId xmlns:p14="http://schemas.microsoft.com/office/powerpoint/2010/main" val="1306630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There are 2 major classes of neurotransmitter (NT)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640F092-D0FE-4752-BC6E-2F537CEA5681}"/>
              </a:ext>
            </a:extLst>
          </p:cNvPr>
          <p:cNvSpPr/>
          <p:nvPr/>
        </p:nvSpPr>
        <p:spPr>
          <a:xfrm>
            <a:off x="152400" y="2210209"/>
            <a:ext cx="6461831" cy="722969"/>
          </a:xfrm>
          <a:custGeom>
            <a:avLst/>
            <a:gdLst>
              <a:gd name="connsiteX0" fmla="*/ 0 w 6461831"/>
              <a:gd name="connsiteY0" fmla="*/ 72297 h 722969"/>
              <a:gd name="connsiteX1" fmla="*/ 72297 w 6461831"/>
              <a:gd name="connsiteY1" fmla="*/ 0 h 722969"/>
              <a:gd name="connsiteX2" fmla="*/ 6389534 w 6461831"/>
              <a:gd name="connsiteY2" fmla="*/ 0 h 722969"/>
              <a:gd name="connsiteX3" fmla="*/ 6461831 w 6461831"/>
              <a:gd name="connsiteY3" fmla="*/ 72297 h 722969"/>
              <a:gd name="connsiteX4" fmla="*/ 6461831 w 6461831"/>
              <a:gd name="connsiteY4" fmla="*/ 650672 h 722969"/>
              <a:gd name="connsiteX5" fmla="*/ 6389534 w 6461831"/>
              <a:gd name="connsiteY5" fmla="*/ 722969 h 722969"/>
              <a:gd name="connsiteX6" fmla="*/ 72297 w 6461831"/>
              <a:gd name="connsiteY6" fmla="*/ 722969 h 722969"/>
              <a:gd name="connsiteX7" fmla="*/ 0 w 6461831"/>
              <a:gd name="connsiteY7" fmla="*/ 650672 h 722969"/>
              <a:gd name="connsiteX8" fmla="*/ 0 w 6461831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61831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6389534" y="0"/>
                </a:lnTo>
                <a:cubicBezTo>
                  <a:pt x="6429463" y="0"/>
                  <a:pt x="6461831" y="32368"/>
                  <a:pt x="6461831" y="72297"/>
                </a:cubicBezTo>
                <a:lnTo>
                  <a:pt x="6461831" y="650672"/>
                </a:lnTo>
                <a:cubicBezTo>
                  <a:pt x="6461831" y="690601"/>
                  <a:pt x="6429463" y="722969"/>
                  <a:pt x="6389534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Small molecule NT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BFAF0D1-D97D-4FE0-BC65-4185A5CB6E69}"/>
              </a:ext>
            </a:extLst>
          </p:cNvPr>
          <p:cNvSpPr/>
          <p:nvPr/>
        </p:nvSpPr>
        <p:spPr>
          <a:xfrm>
            <a:off x="798583" y="2933179"/>
            <a:ext cx="646183" cy="542227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227"/>
                </a:lnTo>
                <a:lnTo>
                  <a:pt x="646183" y="542227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58E92F3-1F0A-470A-9656-56339404ED52}"/>
              </a:ext>
            </a:extLst>
          </p:cNvPr>
          <p:cNvSpPr/>
          <p:nvPr/>
        </p:nvSpPr>
        <p:spPr>
          <a:xfrm>
            <a:off x="1444766" y="3063240"/>
            <a:ext cx="3138602" cy="822960"/>
          </a:xfrm>
          <a:custGeom>
            <a:avLst/>
            <a:gdLst>
              <a:gd name="connsiteX0" fmla="*/ 0 w 3138602"/>
              <a:gd name="connsiteY0" fmla="*/ 72297 h 722969"/>
              <a:gd name="connsiteX1" fmla="*/ 72297 w 3138602"/>
              <a:gd name="connsiteY1" fmla="*/ 0 h 722969"/>
              <a:gd name="connsiteX2" fmla="*/ 3066305 w 3138602"/>
              <a:gd name="connsiteY2" fmla="*/ 0 h 722969"/>
              <a:gd name="connsiteX3" fmla="*/ 3138602 w 3138602"/>
              <a:gd name="connsiteY3" fmla="*/ 72297 h 722969"/>
              <a:gd name="connsiteX4" fmla="*/ 3138602 w 3138602"/>
              <a:gd name="connsiteY4" fmla="*/ 650672 h 722969"/>
              <a:gd name="connsiteX5" fmla="*/ 3066305 w 3138602"/>
              <a:gd name="connsiteY5" fmla="*/ 722969 h 722969"/>
              <a:gd name="connsiteX6" fmla="*/ 72297 w 3138602"/>
              <a:gd name="connsiteY6" fmla="*/ 722969 h 722969"/>
              <a:gd name="connsiteX7" fmla="*/ 0 w 3138602"/>
              <a:gd name="connsiteY7" fmla="*/ 650672 h 722969"/>
              <a:gd name="connsiteX8" fmla="*/ 0 w 3138602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8602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3066305" y="0"/>
                </a:lnTo>
                <a:cubicBezTo>
                  <a:pt x="3106234" y="0"/>
                  <a:pt x="3138602" y="32368"/>
                  <a:pt x="3138602" y="72297"/>
                </a:cubicBezTo>
                <a:lnTo>
                  <a:pt x="3138602" y="650672"/>
                </a:lnTo>
                <a:cubicBezTo>
                  <a:pt x="3138602" y="690601"/>
                  <a:pt x="3106234" y="722969"/>
                  <a:pt x="3066305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Acetylcholine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B4A3CB2-6583-4D60-BE31-AA4DB5A55FC9}"/>
              </a:ext>
            </a:extLst>
          </p:cNvPr>
          <p:cNvSpPr/>
          <p:nvPr/>
        </p:nvSpPr>
        <p:spPr>
          <a:xfrm>
            <a:off x="798583" y="2933179"/>
            <a:ext cx="646183" cy="1445939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5939"/>
                </a:lnTo>
                <a:lnTo>
                  <a:pt x="646183" y="1445939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0A7401-9CC7-403B-A5EE-F66F337D5BF0}"/>
              </a:ext>
            </a:extLst>
          </p:cNvPr>
          <p:cNvSpPr/>
          <p:nvPr/>
        </p:nvSpPr>
        <p:spPr>
          <a:xfrm>
            <a:off x="1444766" y="3977640"/>
            <a:ext cx="3138602" cy="822960"/>
          </a:xfrm>
          <a:custGeom>
            <a:avLst/>
            <a:gdLst>
              <a:gd name="connsiteX0" fmla="*/ 0 w 3138602"/>
              <a:gd name="connsiteY0" fmla="*/ 72297 h 722969"/>
              <a:gd name="connsiteX1" fmla="*/ 72297 w 3138602"/>
              <a:gd name="connsiteY1" fmla="*/ 0 h 722969"/>
              <a:gd name="connsiteX2" fmla="*/ 3066305 w 3138602"/>
              <a:gd name="connsiteY2" fmla="*/ 0 h 722969"/>
              <a:gd name="connsiteX3" fmla="*/ 3138602 w 3138602"/>
              <a:gd name="connsiteY3" fmla="*/ 72297 h 722969"/>
              <a:gd name="connsiteX4" fmla="*/ 3138602 w 3138602"/>
              <a:gd name="connsiteY4" fmla="*/ 650672 h 722969"/>
              <a:gd name="connsiteX5" fmla="*/ 3066305 w 3138602"/>
              <a:gd name="connsiteY5" fmla="*/ 722969 h 722969"/>
              <a:gd name="connsiteX6" fmla="*/ 72297 w 3138602"/>
              <a:gd name="connsiteY6" fmla="*/ 722969 h 722969"/>
              <a:gd name="connsiteX7" fmla="*/ 0 w 3138602"/>
              <a:gd name="connsiteY7" fmla="*/ 650672 h 722969"/>
              <a:gd name="connsiteX8" fmla="*/ 0 w 3138602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8602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3066305" y="0"/>
                </a:lnTo>
                <a:cubicBezTo>
                  <a:pt x="3106234" y="0"/>
                  <a:pt x="3138602" y="32368"/>
                  <a:pt x="3138602" y="72297"/>
                </a:cubicBezTo>
                <a:lnTo>
                  <a:pt x="3138602" y="650672"/>
                </a:lnTo>
                <a:cubicBezTo>
                  <a:pt x="3138602" y="690601"/>
                  <a:pt x="3106234" y="722969"/>
                  <a:pt x="3066305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solidFill>
            <a:schemeClr val="bg2">
              <a:lumMod val="40000"/>
              <a:lumOff val="60000"/>
              <a:alpha val="90000"/>
            </a:schemeClr>
          </a:solidFill>
          <a:ln>
            <a:solidFill>
              <a:schemeClr val="bg2"/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Amino acids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2E3E20-8D4D-4853-AE43-96BFFC427F18}"/>
              </a:ext>
            </a:extLst>
          </p:cNvPr>
          <p:cNvSpPr/>
          <p:nvPr/>
        </p:nvSpPr>
        <p:spPr>
          <a:xfrm>
            <a:off x="798583" y="2933179"/>
            <a:ext cx="646183" cy="2349651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49651"/>
                </a:lnTo>
                <a:lnTo>
                  <a:pt x="646183" y="2349651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F103C7-C060-4AA2-AB8E-DE0E3CA84943}"/>
              </a:ext>
            </a:extLst>
          </p:cNvPr>
          <p:cNvSpPr/>
          <p:nvPr/>
        </p:nvSpPr>
        <p:spPr>
          <a:xfrm>
            <a:off x="1444766" y="4876800"/>
            <a:ext cx="3138602" cy="822960"/>
          </a:xfrm>
          <a:custGeom>
            <a:avLst/>
            <a:gdLst>
              <a:gd name="connsiteX0" fmla="*/ 0 w 3138602"/>
              <a:gd name="connsiteY0" fmla="*/ 72297 h 722969"/>
              <a:gd name="connsiteX1" fmla="*/ 72297 w 3138602"/>
              <a:gd name="connsiteY1" fmla="*/ 0 h 722969"/>
              <a:gd name="connsiteX2" fmla="*/ 3066305 w 3138602"/>
              <a:gd name="connsiteY2" fmla="*/ 0 h 722969"/>
              <a:gd name="connsiteX3" fmla="*/ 3138602 w 3138602"/>
              <a:gd name="connsiteY3" fmla="*/ 72297 h 722969"/>
              <a:gd name="connsiteX4" fmla="*/ 3138602 w 3138602"/>
              <a:gd name="connsiteY4" fmla="*/ 650672 h 722969"/>
              <a:gd name="connsiteX5" fmla="*/ 3066305 w 3138602"/>
              <a:gd name="connsiteY5" fmla="*/ 722969 h 722969"/>
              <a:gd name="connsiteX6" fmla="*/ 72297 w 3138602"/>
              <a:gd name="connsiteY6" fmla="*/ 722969 h 722969"/>
              <a:gd name="connsiteX7" fmla="*/ 0 w 3138602"/>
              <a:gd name="connsiteY7" fmla="*/ 650672 h 722969"/>
              <a:gd name="connsiteX8" fmla="*/ 0 w 3138602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8602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3066305" y="0"/>
                </a:lnTo>
                <a:cubicBezTo>
                  <a:pt x="3106234" y="0"/>
                  <a:pt x="3138602" y="32368"/>
                  <a:pt x="3138602" y="72297"/>
                </a:cubicBezTo>
                <a:lnTo>
                  <a:pt x="3138602" y="650672"/>
                </a:lnTo>
                <a:cubicBezTo>
                  <a:pt x="3138602" y="690601"/>
                  <a:pt x="3106234" y="722969"/>
                  <a:pt x="3066305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Biogenic amines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4A8CE53-71CE-4ADF-B33E-6DA1D0C98F17}"/>
              </a:ext>
            </a:extLst>
          </p:cNvPr>
          <p:cNvSpPr/>
          <p:nvPr/>
        </p:nvSpPr>
        <p:spPr>
          <a:xfrm>
            <a:off x="798583" y="2933179"/>
            <a:ext cx="646183" cy="3253364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3253364"/>
                </a:lnTo>
                <a:lnTo>
                  <a:pt x="646183" y="3253364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CBAC6BD-2CED-42A2-BC6D-899F637CB06E}"/>
              </a:ext>
            </a:extLst>
          </p:cNvPr>
          <p:cNvSpPr/>
          <p:nvPr/>
        </p:nvSpPr>
        <p:spPr>
          <a:xfrm>
            <a:off x="1444766" y="5791200"/>
            <a:ext cx="3138602" cy="822960"/>
          </a:xfrm>
          <a:custGeom>
            <a:avLst/>
            <a:gdLst>
              <a:gd name="connsiteX0" fmla="*/ 0 w 3138602"/>
              <a:gd name="connsiteY0" fmla="*/ 72297 h 722969"/>
              <a:gd name="connsiteX1" fmla="*/ 72297 w 3138602"/>
              <a:gd name="connsiteY1" fmla="*/ 0 h 722969"/>
              <a:gd name="connsiteX2" fmla="*/ 3066305 w 3138602"/>
              <a:gd name="connsiteY2" fmla="*/ 0 h 722969"/>
              <a:gd name="connsiteX3" fmla="*/ 3138602 w 3138602"/>
              <a:gd name="connsiteY3" fmla="*/ 72297 h 722969"/>
              <a:gd name="connsiteX4" fmla="*/ 3138602 w 3138602"/>
              <a:gd name="connsiteY4" fmla="*/ 650672 h 722969"/>
              <a:gd name="connsiteX5" fmla="*/ 3066305 w 3138602"/>
              <a:gd name="connsiteY5" fmla="*/ 722969 h 722969"/>
              <a:gd name="connsiteX6" fmla="*/ 72297 w 3138602"/>
              <a:gd name="connsiteY6" fmla="*/ 722969 h 722969"/>
              <a:gd name="connsiteX7" fmla="*/ 0 w 3138602"/>
              <a:gd name="connsiteY7" fmla="*/ 650672 h 722969"/>
              <a:gd name="connsiteX8" fmla="*/ 0 w 3138602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38602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3066305" y="0"/>
                </a:lnTo>
                <a:cubicBezTo>
                  <a:pt x="3106234" y="0"/>
                  <a:pt x="3138602" y="32368"/>
                  <a:pt x="3138602" y="72297"/>
                </a:cubicBezTo>
                <a:lnTo>
                  <a:pt x="3138602" y="650672"/>
                </a:lnTo>
                <a:cubicBezTo>
                  <a:pt x="3138602" y="690601"/>
                  <a:pt x="3106234" y="722969"/>
                  <a:pt x="3066305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90000"/>
            </a:schemeClr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Purines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7D7911C-C561-4515-B962-8433E6638C7A}"/>
              </a:ext>
            </a:extLst>
          </p:cNvPr>
          <p:cNvSpPr/>
          <p:nvPr/>
        </p:nvSpPr>
        <p:spPr>
          <a:xfrm>
            <a:off x="7540414" y="2210209"/>
            <a:ext cx="3877099" cy="722969"/>
          </a:xfrm>
          <a:custGeom>
            <a:avLst/>
            <a:gdLst>
              <a:gd name="connsiteX0" fmla="*/ 0 w 3877099"/>
              <a:gd name="connsiteY0" fmla="*/ 72297 h 722969"/>
              <a:gd name="connsiteX1" fmla="*/ 72297 w 3877099"/>
              <a:gd name="connsiteY1" fmla="*/ 0 h 722969"/>
              <a:gd name="connsiteX2" fmla="*/ 3804802 w 3877099"/>
              <a:gd name="connsiteY2" fmla="*/ 0 h 722969"/>
              <a:gd name="connsiteX3" fmla="*/ 3877099 w 3877099"/>
              <a:gd name="connsiteY3" fmla="*/ 72297 h 722969"/>
              <a:gd name="connsiteX4" fmla="*/ 3877099 w 3877099"/>
              <a:gd name="connsiteY4" fmla="*/ 650672 h 722969"/>
              <a:gd name="connsiteX5" fmla="*/ 3804802 w 3877099"/>
              <a:gd name="connsiteY5" fmla="*/ 722969 h 722969"/>
              <a:gd name="connsiteX6" fmla="*/ 72297 w 3877099"/>
              <a:gd name="connsiteY6" fmla="*/ 722969 h 722969"/>
              <a:gd name="connsiteX7" fmla="*/ 0 w 3877099"/>
              <a:gd name="connsiteY7" fmla="*/ 650672 h 722969"/>
              <a:gd name="connsiteX8" fmla="*/ 0 w 3877099"/>
              <a:gd name="connsiteY8" fmla="*/ 72297 h 72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7099" h="722969">
                <a:moveTo>
                  <a:pt x="0" y="72297"/>
                </a:moveTo>
                <a:cubicBezTo>
                  <a:pt x="0" y="32368"/>
                  <a:pt x="32368" y="0"/>
                  <a:pt x="72297" y="0"/>
                </a:cubicBezTo>
                <a:lnTo>
                  <a:pt x="3804802" y="0"/>
                </a:lnTo>
                <a:cubicBezTo>
                  <a:pt x="3844731" y="0"/>
                  <a:pt x="3877099" y="32368"/>
                  <a:pt x="3877099" y="72297"/>
                </a:cubicBezTo>
                <a:lnTo>
                  <a:pt x="3877099" y="650672"/>
                </a:lnTo>
                <a:cubicBezTo>
                  <a:pt x="3877099" y="690601"/>
                  <a:pt x="3844731" y="722969"/>
                  <a:pt x="3804802" y="722969"/>
                </a:cubicBezTo>
                <a:lnTo>
                  <a:pt x="72297" y="722969"/>
                </a:lnTo>
                <a:cubicBezTo>
                  <a:pt x="32368" y="722969"/>
                  <a:pt x="0" y="690601"/>
                  <a:pt x="0" y="650672"/>
                </a:cubicBezTo>
                <a:lnTo>
                  <a:pt x="0" y="7229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35" tIns="61815" rIns="82135" bIns="61815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Peptide NT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A364C06-E8CC-4E61-8E66-C518823B3112}"/>
              </a:ext>
            </a:extLst>
          </p:cNvPr>
          <p:cNvSpPr/>
          <p:nvPr/>
        </p:nvSpPr>
        <p:spPr>
          <a:xfrm>
            <a:off x="7925075" y="2933179"/>
            <a:ext cx="387709" cy="16115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11575"/>
                </a:lnTo>
                <a:lnTo>
                  <a:pt x="387709" y="1611575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4BB6311-6FB4-48A0-88A0-773CA507858D}"/>
              </a:ext>
            </a:extLst>
          </p:cNvPr>
          <p:cNvSpPr/>
          <p:nvPr/>
        </p:nvSpPr>
        <p:spPr>
          <a:xfrm>
            <a:off x="8312784" y="3113921"/>
            <a:ext cx="3749040" cy="822960"/>
          </a:xfrm>
          <a:custGeom>
            <a:avLst/>
            <a:gdLst>
              <a:gd name="connsiteX0" fmla="*/ 0 w 3692467"/>
              <a:gd name="connsiteY0" fmla="*/ 286167 h 2861666"/>
              <a:gd name="connsiteX1" fmla="*/ 286167 w 3692467"/>
              <a:gd name="connsiteY1" fmla="*/ 0 h 2861666"/>
              <a:gd name="connsiteX2" fmla="*/ 3406300 w 3692467"/>
              <a:gd name="connsiteY2" fmla="*/ 0 h 2861666"/>
              <a:gd name="connsiteX3" fmla="*/ 3692467 w 3692467"/>
              <a:gd name="connsiteY3" fmla="*/ 286167 h 2861666"/>
              <a:gd name="connsiteX4" fmla="*/ 3692467 w 3692467"/>
              <a:gd name="connsiteY4" fmla="*/ 2575499 h 2861666"/>
              <a:gd name="connsiteX5" fmla="*/ 3406300 w 3692467"/>
              <a:gd name="connsiteY5" fmla="*/ 2861666 h 2861666"/>
              <a:gd name="connsiteX6" fmla="*/ 286167 w 3692467"/>
              <a:gd name="connsiteY6" fmla="*/ 2861666 h 2861666"/>
              <a:gd name="connsiteX7" fmla="*/ 0 w 3692467"/>
              <a:gd name="connsiteY7" fmla="*/ 2575499 h 2861666"/>
              <a:gd name="connsiteX8" fmla="*/ 0 w 3692467"/>
              <a:gd name="connsiteY8" fmla="*/ 286167 h 286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2467" h="2861666">
                <a:moveTo>
                  <a:pt x="0" y="286167"/>
                </a:moveTo>
                <a:cubicBezTo>
                  <a:pt x="0" y="128121"/>
                  <a:pt x="128121" y="0"/>
                  <a:pt x="286167" y="0"/>
                </a:cubicBezTo>
                <a:lnTo>
                  <a:pt x="3406300" y="0"/>
                </a:lnTo>
                <a:cubicBezTo>
                  <a:pt x="3564346" y="0"/>
                  <a:pt x="3692467" y="128121"/>
                  <a:pt x="3692467" y="286167"/>
                </a:cubicBezTo>
                <a:lnTo>
                  <a:pt x="3692467" y="2575499"/>
                </a:lnTo>
                <a:cubicBezTo>
                  <a:pt x="3692467" y="2733545"/>
                  <a:pt x="3564346" y="2861666"/>
                  <a:pt x="3406300" y="2861666"/>
                </a:cubicBezTo>
                <a:lnTo>
                  <a:pt x="286167" y="2861666"/>
                </a:lnTo>
                <a:cubicBezTo>
                  <a:pt x="128121" y="2861666"/>
                  <a:pt x="0" y="2733545"/>
                  <a:pt x="0" y="2575499"/>
                </a:cubicBezTo>
                <a:lnTo>
                  <a:pt x="0" y="28616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775" tIns="124455" rIns="144775" bIns="124455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en-US" sz="3200" kern="1200" dirty="0"/>
              <a:t>Opioids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47C7AE-5C36-4F4B-AABB-C54DE3AE7D84}"/>
              </a:ext>
            </a:extLst>
          </p:cNvPr>
          <p:cNvSpPr/>
          <p:nvPr/>
        </p:nvSpPr>
        <p:spPr>
          <a:xfrm>
            <a:off x="4847708" y="3485334"/>
            <a:ext cx="1920240" cy="54864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Glutamate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1FC33B-3F81-41F9-8320-BDB7A7F7A618}"/>
              </a:ext>
            </a:extLst>
          </p:cNvPr>
          <p:cNvSpPr/>
          <p:nvPr/>
        </p:nvSpPr>
        <p:spPr>
          <a:xfrm>
            <a:off x="6364596" y="5500104"/>
            <a:ext cx="1097280" cy="5486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5-HT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1581E54-2F06-419E-8570-7932E4BF673E}"/>
              </a:ext>
            </a:extLst>
          </p:cNvPr>
          <p:cNvSpPr/>
          <p:nvPr/>
        </p:nvSpPr>
        <p:spPr>
          <a:xfrm>
            <a:off x="5186892" y="6223913"/>
            <a:ext cx="2743200" cy="5486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adenosine, ATP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34C2A0F-76C4-4629-AC7A-BE80B5F7CA7A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4600135" y="3759654"/>
            <a:ext cx="247573" cy="62946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BAB9878-2F6E-4D5C-8BC2-A2CDD4D69CDA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4616902" y="5087798"/>
            <a:ext cx="467534" cy="1950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3973991-05E5-4682-94DF-9A043FCCC32B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4583368" y="6180588"/>
            <a:ext cx="603524" cy="31764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EE8A325-D278-47D5-85C0-40AFAB8016BE}"/>
              </a:ext>
            </a:extLst>
          </p:cNvPr>
          <p:cNvSpPr/>
          <p:nvPr/>
        </p:nvSpPr>
        <p:spPr>
          <a:xfrm>
            <a:off x="5579228" y="4087869"/>
            <a:ext cx="1188720" cy="54864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GABA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D8081EA-7152-467D-80C2-12F66A0FC44B}"/>
              </a:ext>
            </a:extLst>
          </p:cNvPr>
          <p:cNvSpPr/>
          <p:nvPr/>
        </p:nvSpPr>
        <p:spPr>
          <a:xfrm>
            <a:off x="5084436" y="4767758"/>
            <a:ext cx="2377440" cy="64008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chemeClr val="tx1"/>
                </a:solidFill>
              </a:rPr>
              <a:t>DA, NE &amp; Epi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5AB53DF-61FE-4597-86AF-F805E3D0E4EA}"/>
              </a:ext>
            </a:extLst>
          </p:cNvPr>
          <p:cNvSpPr/>
          <p:nvPr/>
        </p:nvSpPr>
        <p:spPr>
          <a:xfrm>
            <a:off x="8312784" y="4137730"/>
            <a:ext cx="3749040" cy="822960"/>
          </a:xfrm>
          <a:custGeom>
            <a:avLst/>
            <a:gdLst>
              <a:gd name="connsiteX0" fmla="*/ 0 w 3692467"/>
              <a:gd name="connsiteY0" fmla="*/ 286167 h 2861666"/>
              <a:gd name="connsiteX1" fmla="*/ 286167 w 3692467"/>
              <a:gd name="connsiteY1" fmla="*/ 0 h 2861666"/>
              <a:gd name="connsiteX2" fmla="*/ 3406300 w 3692467"/>
              <a:gd name="connsiteY2" fmla="*/ 0 h 2861666"/>
              <a:gd name="connsiteX3" fmla="*/ 3692467 w 3692467"/>
              <a:gd name="connsiteY3" fmla="*/ 286167 h 2861666"/>
              <a:gd name="connsiteX4" fmla="*/ 3692467 w 3692467"/>
              <a:gd name="connsiteY4" fmla="*/ 2575499 h 2861666"/>
              <a:gd name="connsiteX5" fmla="*/ 3406300 w 3692467"/>
              <a:gd name="connsiteY5" fmla="*/ 2861666 h 2861666"/>
              <a:gd name="connsiteX6" fmla="*/ 286167 w 3692467"/>
              <a:gd name="connsiteY6" fmla="*/ 2861666 h 2861666"/>
              <a:gd name="connsiteX7" fmla="*/ 0 w 3692467"/>
              <a:gd name="connsiteY7" fmla="*/ 2575499 h 2861666"/>
              <a:gd name="connsiteX8" fmla="*/ 0 w 3692467"/>
              <a:gd name="connsiteY8" fmla="*/ 286167 h 286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2467" h="2861666">
                <a:moveTo>
                  <a:pt x="0" y="286167"/>
                </a:moveTo>
                <a:cubicBezTo>
                  <a:pt x="0" y="128121"/>
                  <a:pt x="128121" y="0"/>
                  <a:pt x="286167" y="0"/>
                </a:cubicBezTo>
                <a:lnTo>
                  <a:pt x="3406300" y="0"/>
                </a:lnTo>
                <a:cubicBezTo>
                  <a:pt x="3564346" y="0"/>
                  <a:pt x="3692467" y="128121"/>
                  <a:pt x="3692467" y="286167"/>
                </a:cubicBezTo>
                <a:lnTo>
                  <a:pt x="3692467" y="2575499"/>
                </a:lnTo>
                <a:cubicBezTo>
                  <a:pt x="3692467" y="2733545"/>
                  <a:pt x="3564346" y="2861666"/>
                  <a:pt x="3406300" y="2861666"/>
                </a:cubicBezTo>
                <a:lnTo>
                  <a:pt x="286167" y="2861666"/>
                </a:lnTo>
                <a:cubicBezTo>
                  <a:pt x="128121" y="2861666"/>
                  <a:pt x="0" y="2733545"/>
                  <a:pt x="0" y="2575499"/>
                </a:cubicBezTo>
                <a:lnTo>
                  <a:pt x="0" y="28616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775" tIns="124455" rIns="144775" bIns="124455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en-US" sz="3200" kern="1200" dirty="0"/>
              <a:t>Hypothalamic RF’s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E98E70A-EB85-41F4-AEFE-25778A483544}"/>
              </a:ext>
            </a:extLst>
          </p:cNvPr>
          <p:cNvSpPr/>
          <p:nvPr/>
        </p:nvSpPr>
        <p:spPr>
          <a:xfrm>
            <a:off x="8312784" y="5311652"/>
            <a:ext cx="3749040" cy="1097280"/>
          </a:xfrm>
          <a:custGeom>
            <a:avLst/>
            <a:gdLst>
              <a:gd name="connsiteX0" fmla="*/ 0 w 3692467"/>
              <a:gd name="connsiteY0" fmla="*/ 286167 h 2861666"/>
              <a:gd name="connsiteX1" fmla="*/ 286167 w 3692467"/>
              <a:gd name="connsiteY1" fmla="*/ 0 h 2861666"/>
              <a:gd name="connsiteX2" fmla="*/ 3406300 w 3692467"/>
              <a:gd name="connsiteY2" fmla="*/ 0 h 2861666"/>
              <a:gd name="connsiteX3" fmla="*/ 3692467 w 3692467"/>
              <a:gd name="connsiteY3" fmla="*/ 286167 h 2861666"/>
              <a:gd name="connsiteX4" fmla="*/ 3692467 w 3692467"/>
              <a:gd name="connsiteY4" fmla="*/ 2575499 h 2861666"/>
              <a:gd name="connsiteX5" fmla="*/ 3406300 w 3692467"/>
              <a:gd name="connsiteY5" fmla="*/ 2861666 h 2861666"/>
              <a:gd name="connsiteX6" fmla="*/ 286167 w 3692467"/>
              <a:gd name="connsiteY6" fmla="*/ 2861666 h 2861666"/>
              <a:gd name="connsiteX7" fmla="*/ 0 w 3692467"/>
              <a:gd name="connsiteY7" fmla="*/ 2575499 h 2861666"/>
              <a:gd name="connsiteX8" fmla="*/ 0 w 3692467"/>
              <a:gd name="connsiteY8" fmla="*/ 286167 h 286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2467" h="2861666">
                <a:moveTo>
                  <a:pt x="0" y="286167"/>
                </a:moveTo>
                <a:cubicBezTo>
                  <a:pt x="0" y="128121"/>
                  <a:pt x="128121" y="0"/>
                  <a:pt x="286167" y="0"/>
                </a:cubicBezTo>
                <a:lnTo>
                  <a:pt x="3406300" y="0"/>
                </a:lnTo>
                <a:cubicBezTo>
                  <a:pt x="3564346" y="0"/>
                  <a:pt x="3692467" y="128121"/>
                  <a:pt x="3692467" y="286167"/>
                </a:cubicBezTo>
                <a:lnTo>
                  <a:pt x="3692467" y="2575499"/>
                </a:lnTo>
                <a:cubicBezTo>
                  <a:pt x="3692467" y="2733545"/>
                  <a:pt x="3564346" y="2861666"/>
                  <a:pt x="3406300" y="2861666"/>
                </a:cubicBezTo>
                <a:lnTo>
                  <a:pt x="286167" y="2861666"/>
                </a:lnTo>
                <a:cubicBezTo>
                  <a:pt x="128121" y="2861666"/>
                  <a:pt x="0" y="2733545"/>
                  <a:pt x="0" y="2575499"/>
                </a:cubicBezTo>
                <a:lnTo>
                  <a:pt x="0" y="286167"/>
                </a:lnTo>
                <a:close/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1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4775" tIns="124455" rIns="144775" bIns="124455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Font typeface="Arial" panose="020B0604020202020204" pitchFamily="34" charset="0"/>
              <a:buNone/>
            </a:pPr>
            <a:r>
              <a:rPr lang="en-US" sz="3200" kern="1200" dirty="0"/>
              <a:t>Vasopressin, Oxytocin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7C8491-5636-4146-80CF-908A36F0BB7A}"/>
              </a:ext>
            </a:extLst>
          </p:cNvPr>
          <p:cNvSpPr/>
          <p:nvPr/>
        </p:nvSpPr>
        <p:spPr>
          <a:xfrm>
            <a:off x="7925074" y="4315423"/>
            <a:ext cx="387709" cy="161157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611575"/>
                </a:lnTo>
                <a:lnTo>
                  <a:pt x="387709" y="1611575"/>
                </a:lnTo>
              </a:path>
            </a:pathLst>
          </a:cu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29CE09-E2FE-4632-8991-EA3DA2F3D2A9}"/>
              </a:ext>
            </a:extLst>
          </p:cNvPr>
          <p:cNvCxnSpPr/>
          <p:nvPr/>
        </p:nvCxnSpPr>
        <p:spPr>
          <a:xfrm flipH="1">
            <a:off x="7925074" y="3525401"/>
            <a:ext cx="387709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4713" y="214313"/>
            <a:ext cx="10047287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2 classes of NT differ in synthesis, storage, release &amp; inactivation</a:t>
            </a: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60914F63-8700-4116-A3CE-D0A8A83BFAB4}"/>
              </a:ext>
            </a:extLst>
          </p:cNvPr>
          <p:cNvSpPr/>
          <p:nvPr/>
        </p:nvSpPr>
        <p:spPr>
          <a:xfrm>
            <a:off x="-4569488" y="1190597"/>
            <a:ext cx="6257980" cy="6257980"/>
          </a:xfrm>
          <a:prstGeom prst="blockArc">
            <a:avLst>
              <a:gd name="adj1" fmla="val 18900000"/>
              <a:gd name="adj2" fmla="val 2700000"/>
              <a:gd name="adj3" fmla="val 345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rgbClr r="0" g="0" b="0"/>
          </a:lnRef>
          <a:fillRef idx="0">
            <a:schemeClr val="accent2">
              <a:tint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24C04D6-D324-4979-83D1-740C24FDB129}"/>
              </a:ext>
            </a:extLst>
          </p:cNvPr>
          <p:cNvSpPr/>
          <p:nvPr/>
        </p:nvSpPr>
        <p:spPr>
          <a:xfrm>
            <a:off x="1210778" y="2352840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DC9A61-91C9-4E19-9798-1C3B0B16FEBB}"/>
              </a:ext>
            </a:extLst>
          </p:cNvPr>
          <p:cNvSpPr/>
          <p:nvPr/>
        </p:nvSpPr>
        <p:spPr>
          <a:xfrm>
            <a:off x="763853" y="2263455"/>
            <a:ext cx="893848" cy="893848"/>
          </a:xfrm>
          <a:prstGeom prst="ellipse">
            <a:avLst/>
          </a:prstGeom>
          <a:blipFill dpi="0" rotWithShape="0">
            <a:blip r:embed="rId2"/>
            <a:srcRect/>
            <a:stretch>
              <a:fillRect l="-34307" t="-53417" r="-95867" b="-76753"/>
            </a:stretch>
          </a:blip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261B788-A424-478F-93AF-2F61D6699521}"/>
              </a:ext>
            </a:extLst>
          </p:cNvPr>
          <p:cNvSpPr/>
          <p:nvPr/>
        </p:nvSpPr>
        <p:spPr>
          <a:xfrm>
            <a:off x="1620749" y="3425645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3882235"/>
              <a:satOff val="249"/>
              <a:lumOff val="-268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F6717B-B03D-4E9C-8211-6839E2F1969C}"/>
              </a:ext>
            </a:extLst>
          </p:cNvPr>
          <p:cNvSpPr/>
          <p:nvPr/>
        </p:nvSpPr>
        <p:spPr>
          <a:xfrm>
            <a:off x="1173825" y="3336260"/>
            <a:ext cx="893848" cy="893848"/>
          </a:xfrm>
          <a:prstGeom prst="ellipse">
            <a:avLst/>
          </a:prstGeom>
          <a:blipFill dpi="0" rotWithShape="0">
            <a:blip r:embed="rId3"/>
            <a:srcRect/>
            <a:stretch>
              <a:fillRect l="-11974" t="-2939" r="-6706" b="-15738"/>
            </a:stretch>
          </a:blip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619920A-0037-48A2-8CD6-FE6C1EB791DB}"/>
              </a:ext>
            </a:extLst>
          </p:cNvPr>
          <p:cNvSpPr/>
          <p:nvPr/>
        </p:nvSpPr>
        <p:spPr>
          <a:xfrm>
            <a:off x="1620749" y="4498449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7764470"/>
              <a:satOff val="497"/>
              <a:lumOff val="-53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Release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75A142-4DC8-40D8-A8BA-EE587001782B}"/>
              </a:ext>
            </a:extLst>
          </p:cNvPr>
          <p:cNvSpPr/>
          <p:nvPr/>
        </p:nvSpPr>
        <p:spPr>
          <a:xfrm>
            <a:off x="1173825" y="4409064"/>
            <a:ext cx="893848" cy="893848"/>
          </a:xfrm>
          <a:prstGeom prst="ellipse">
            <a:avLst/>
          </a:prstGeom>
          <a:blipFill dpi="0" rotWithShape="0">
            <a:blip r:embed="rId4"/>
            <a:srcRect/>
            <a:stretch>
              <a:fillRect l="-3448" t="-12136" r="-6707" b="1984"/>
            </a:stretch>
          </a:blip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4C138B-66DC-425F-A4B5-204FD2638E50}"/>
              </a:ext>
            </a:extLst>
          </p:cNvPr>
          <p:cNvSpPr/>
          <p:nvPr/>
        </p:nvSpPr>
        <p:spPr>
          <a:xfrm>
            <a:off x="1210778" y="5571254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11646705"/>
              <a:satOff val="746"/>
              <a:lumOff val="-80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Inactivation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9E4FD0-D307-4A96-9D00-4BD56F736227}"/>
              </a:ext>
            </a:extLst>
          </p:cNvPr>
          <p:cNvSpPr/>
          <p:nvPr/>
        </p:nvSpPr>
        <p:spPr>
          <a:xfrm>
            <a:off x="763853" y="5481869"/>
            <a:ext cx="893848" cy="893848"/>
          </a:xfrm>
          <a:prstGeom prst="ellipse">
            <a:avLst/>
          </a:prstGeom>
          <a:blipFill dpi="0" rotWithShape="0">
            <a:blip r:embed="rId5"/>
            <a:srcRect/>
            <a:stretch>
              <a:fillRect l="-51357" t="-8892" r="-15231" b="-57692"/>
            </a:stretch>
          </a:blip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AE288D1-F40C-4511-9312-396B02044E15}"/>
              </a:ext>
            </a:extLst>
          </p:cNvPr>
          <p:cNvSpPr/>
          <p:nvPr/>
        </p:nvSpPr>
        <p:spPr>
          <a:xfrm>
            <a:off x="12793081" y="-1647162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Small Molecule</a:t>
            </a: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D682F89-9696-40C1-BA59-C8CA1B289E63}"/>
              </a:ext>
            </a:extLst>
          </p:cNvPr>
          <p:cNvSpPr/>
          <p:nvPr/>
        </p:nvSpPr>
        <p:spPr>
          <a:xfrm>
            <a:off x="13140240" y="-923438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!!SMBox1">
            <a:extLst>
              <a:ext uri="{FF2B5EF4-FFF2-40B4-BE49-F238E27FC236}">
                <a16:creationId xmlns:a16="http://schemas.microsoft.com/office/drawing/2014/main" id="{2767C3D1-6782-4529-AF95-113C28E26DDF}"/>
              </a:ext>
            </a:extLst>
          </p:cNvPr>
          <p:cNvSpPr/>
          <p:nvPr/>
        </p:nvSpPr>
        <p:spPr>
          <a:xfrm>
            <a:off x="13487400" y="-742508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/>
              <a:t>enzymatic</a:t>
            </a:r>
            <a:endParaRPr lang="en-US" sz="3200" kern="1200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67E3900-EDB1-43D7-A6BF-9C34C94A216D}"/>
              </a:ext>
            </a:extLst>
          </p:cNvPr>
          <p:cNvSpPr/>
          <p:nvPr/>
        </p:nvSpPr>
        <p:spPr>
          <a:xfrm>
            <a:off x="13140240" y="-923438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!!SMBox2">
            <a:extLst>
              <a:ext uri="{FF2B5EF4-FFF2-40B4-BE49-F238E27FC236}">
                <a16:creationId xmlns:a16="http://schemas.microsoft.com/office/drawing/2014/main" id="{4196C217-569D-48FE-859B-E5619A2BC081}"/>
              </a:ext>
            </a:extLst>
          </p:cNvPr>
          <p:cNvSpPr/>
          <p:nvPr/>
        </p:nvSpPr>
        <p:spPr>
          <a:xfrm>
            <a:off x="13487400" y="162146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in final form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6FC19B8-F734-4AC2-B2F1-45BE37BEBB29}"/>
              </a:ext>
            </a:extLst>
          </p:cNvPr>
          <p:cNvSpPr/>
          <p:nvPr/>
        </p:nvSpPr>
        <p:spPr>
          <a:xfrm>
            <a:off x="13140240" y="-923438"/>
            <a:ext cx="347159" cy="23521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52100"/>
                </a:lnTo>
                <a:lnTo>
                  <a:pt x="347159" y="2352100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49" name="!!SMBox3">
            <a:extLst>
              <a:ext uri="{FF2B5EF4-FFF2-40B4-BE49-F238E27FC236}">
                <a16:creationId xmlns:a16="http://schemas.microsoft.com/office/drawing/2014/main" id="{7F1620D6-7856-4923-8F5E-E044DD87F032}"/>
              </a:ext>
            </a:extLst>
          </p:cNvPr>
          <p:cNvSpPr/>
          <p:nvPr/>
        </p:nvSpPr>
        <p:spPr>
          <a:xfrm>
            <a:off x="13487400" y="1066800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in nerve terminal</a:t>
            </a: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2F100796-4BF3-4FFE-ABD3-EED5B4B57C8D}"/>
              </a:ext>
            </a:extLst>
          </p:cNvPr>
          <p:cNvSpPr/>
          <p:nvPr/>
        </p:nvSpPr>
        <p:spPr>
          <a:xfrm>
            <a:off x="18112602" y="-1647162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Peptide</a:t>
            </a: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E1B6723-C15B-4CC6-9C09-03C31488AE8F}"/>
              </a:ext>
            </a:extLst>
          </p:cNvPr>
          <p:cNvSpPr/>
          <p:nvPr/>
        </p:nvSpPr>
        <p:spPr>
          <a:xfrm>
            <a:off x="18459762" y="-923438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2" name="!!PBox1">
            <a:extLst>
              <a:ext uri="{FF2B5EF4-FFF2-40B4-BE49-F238E27FC236}">
                <a16:creationId xmlns:a16="http://schemas.microsoft.com/office/drawing/2014/main" id="{2F933A67-07D4-46BC-9383-9D79EFB7D400}"/>
              </a:ext>
            </a:extLst>
          </p:cNvPr>
          <p:cNvSpPr/>
          <p:nvPr/>
        </p:nvSpPr>
        <p:spPr>
          <a:xfrm>
            <a:off x="18806922" y="-742508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/>
              <a:t>propeptide</a:t>
            </a:r>
            <a:endParaRPr lang="en-US" sz="3200" kern="1200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907CADC5-0091-4A33-B5D1-A0A5DE27E33E}"/>
              </a:ext>
            </a:extLst>
          </p:cNvPr>
          <p:cNvSpPr/>
          <p:nvPr/>
        </p:nvSpPr>
        <p:spPr>
          <a:xfrm>
            <a:off x="18459762" y="-923438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4" name="!!PBox2">
            <a:extLst>
              <a:ext uri="{FF2B5EF4-FFF2-40B4-BE49-F238E27FC236}">
                <a16:creationId xmlns:a16="http://schemas.microsoft.com/office/drawing/2014/main" id="{E1D4CDAA-8983-4C65-AC31-1A8EBE9AA47C}"/>
              </a:ext>
            </a:extLst>
          </p:cNvPr>
          <p:cNvSpPr/>
          <p:nvPr/>
        </p:nvSpPr>
        <p:spPr>
          <a:xfrm>
            <a:off x="18806922" y="162146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/>
              <a:t>in soma</a:t>
            </a:r>
            <a:endParaRPr lang="en-US" sz="3200" kern="1200" dirty="0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4F04F6F1-9EF7-4261-85A9-52FEDAAB18F3}"/>
              </a:ext>
            </a:extLst>
          </p:cNvPr>
          <p:cNvSpPr/>
          <p:nvPr/>
        </p:nvSpPr>
        <p:spPr>
          <a:xfrm>
            <a:off x="18459762" y="-923438"/>
            <a:ext cx="347159" cy="23521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52100"/>
                </a:lnTo>
                <a:lnTo>
                  <a:pt x="347159" y="2352100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6" name="!!PBox3">
            <a:extLst>
              <a:ext uri="{FF2B5EF4-FFF2-40B4-BE49-F238E27FC236}">
                <a16:creationId xmlns:a16="http://schemas.microsoft.com/office/drawing/2014/main" id="{83FFEDE0-2C66-43B8-A1C3-99B7D4CA7D52}"/>
              </a:ext>
            </a:extLst>
          </p:cNvPr>
          <p:cNvSpPr/>
          <p:nvPr/>
        </p:nvSpPr>
        <p:spPr>
          <a:xfrm>
            <a:off x="18806922" y="1066800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axonal transport to NT</a:t>
            </a:r>
          </a:p>
        </p:txBody>
      </p:sp>
    </p:spTree>
    <p:extLst>
      <p:ext uri="{BB962C8B-B14F-4D97-AF65-F5344CB8AC3E}">
        <p14:creationId xmlns:p14="http://schemas.microsoft.com/office/powerpoint/2010/main" val="357644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53356" y="167021"/>
            <a:ext cx="10047287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2 classes of NT differ in synthesis, storage, release &amp; inactivation</a:t>
            </a: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60914F63-8700-4116-A3CE-D0A8A83BFAB4}"/>
              </a:ext>
            </a:extLst>
          </p:cNvPr>
          <p:cNvSpPr/>
          <p:nvPr/>
        </p:nvSpPr>
        <p:spPr>
          <a:xfrm>
            <a:off x="-4569488" y="1190597"/>
            <a:ext cx="6257980" cy="6257980"/>
          </a:xfrm>
          <a:prstGeom prst="blockArc">
            <a:avLst>
              <a:gd name="adj1" fmla="val 18900000"/>
              <a:gd name="adj2" fmla="val 2700000"/>
              <a:gd name="adj3" fmla="val 345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rgbClr r="0" g="0" b="0"/>
          </a:lnRef>
          <a:fillRef idx="0">
            <a:schemeClr val="accent2">
              <a:tint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24C04D6-D324-4979-83D1-740C24FDB129}"/>
              </a:ext>
            </a:extLst>
          </p:cNvPr>
          <p:cNvSpPr/>
          <p:nvPr/>
        </p:nvSpPr>
        <p:spPr>
          <a:xfrm>
            <a:off x="1210778" y="2352840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DC9A61-91C9-4E19-9798-1C3B0B16FEBB}"/>
              </a:ext>
            </a:extLst>
          </p:cNvPr>
          <p:cNvSpPr/>
          <p:nvPr/>
        </p:nvSpPr>
        <p:spPr>
          <a:xfrm>
            <a:off x="763853" y="2263455"/>
            <a:ext cx="893848" cy="893848"/>
          </a:xfrm>
          <a:prstGeom prst="ellipse">
            <a:avLst/>
          </a:prstGeom>
          <a:blipFill dpi="0" rotWithShape="0">
            <a:blip r:embed="rId3"/>
            <a:srcRect/>
            <a:stretch>
              <a:fillRect l="-34307" t="-53417" r="-95867" b="-76753"/>
            </a:stretch>
          </a:blip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261B788-A424-478F-93AF-2F61D6699521}"/>
              </a:ext>
            </a:extLst>
          </p:cNvPr>
          <p:cNvSpPr/>
          <p:nvPr/>
        </p:nvSpPr>
        <p:spPr>
          <a:xfrm>
            <a:off x="-5686029" y="-3364809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3882235"/>
              <a:satOff val="249"/>
              <a:lumOff val="-268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F6717B-B03D-4E9C-8211-6839E2F1969C}"/>
              </a:ext>
            </a:extLst>
          </p:cNvPr>
          <p:cNvSpPr/>
          <p:nvPr/>
        </p:nvSpPr>
        <p:spPr>
          <a:xfrm>
            <a:off x="-6132953" y="-3454194"/>
            <a:ext cx="893848" cy="893848"/>
          </a:xfrm>
          <a:prstGeom prst="ellipse">
            <a:avLst/>
          </a:prstGeom>
          <a:blipFill dpi="0" rotWithShape="0">
            <a:blip r:embed="rId4"/>
            <a:srcRect/>
            <a:stretch>
              <a:fillRect l="-11974" t="-2939" r="-6706" b="-15738"/>
            </a:stretch>
          </a:blip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619920A-0037-48A2-8CD6-FE6C1EB791DB}"/>
              </a:ext>
            </a:extLst>
          </p:cNvPr>
          <p:cNvSpPr/>
          <p:nvPr/>
        </p:nvSpPr>
        <p:spPr>
          <a:xfrm>
            <a:off x="-5686029" y="-2292005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7764470"/>
              <a:satOff val="497"/>
              <a:lumOff val="-53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Release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75A142-4DC8-40D8-A8BA-EE587001782B}"/>
              </a:ext>
            </a:extLst>
          </p:cNvPr>
          <p:cNvSpPr/>
          <p:nvPr/>
        </p:nvSpPr>
        <p:spPr>
          <a:xfrm>
            <a:off x="-6132953" y="-2381390"/>
            <a:ext cx="893848" cy="893848"/>
          </a:xfrm>
          <a:prstGeom prst="ellipse">
            <a:avLst/>
          </a:prstGeom>
          <a:blipFill dpi="0" rotWithShape="0">
            <a:blip r:embed="rId5"/>
            <a:srcRect/>
            <a:stretch>
              <a:fillRect l="-3448" t="-12136" r="-6707" b="1984"/>
            </a:stretch>
          </a:blip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4C138B-66DC-425F-A4B5-204FD2638E50}"/>
              </a:ext>
            </a:extLst>
          </p:cNvPr>
          <p:cNvSpPr/>
          <p:nvPr/>
        </p:nvSpPr>
        <p:spPr>
          <a:xfrm>
            <a:off x="-6096000" y="-1219200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11646705"/>
              <a:satOff val="746"/>
              <a:lumOff val="-80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Inactivation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9E4FD0-D307-4A96-9D00-4BD56F736227}"/>
              </a:ext>
            </a:extLst>
          </p:cNvPr>
          <p:cNvSpPr/>
          <p:nvPr/>
        </p:nvSpPr>
        <p:spPr>
          <a:xfrm>
            <a:off x="-6542925" y="-1308585"/>
            <a:ext cx="893848" cy="893848"/>
          </a:xfrm>
          <a:prstGeom prst="ellipse">
            <a:avLst/>
          </a:prstGeom>
          <a:blipFill dpi="0" rotWithShape="0">
            <a:blip r:embed="rId6"/>
            <a:srcRect/>
            <a:stretch>
              <a:fillRect l="-51357" t="-8892" r="-15231" b="-57692"/>
            </a:stretch>
          </a:blip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0BFA8DB-018B-4448-94A0-BCA57391513F}"/>
              </a:ext>
            </a:extLst>
          </p:cNvPr>
          <p:cNvSpPr/>
          <p:nvPr/>
        </p:nvSpPr>
        <p:spPr>
          <a:xfrm>
            <a:off x="1393561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Small Molecule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6D87331-72E4-40C2-8238-11CED6FC3AB8}"/>
              </a:ext>
            </a:extLst>
          </p:cNvPr>
          <p:cNvSpPr/>
          <p:nvPr/>
        </p:nvSpPr>
        <p:spPr>
          <a:xfrm>
            <a:off x="1740720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!!SMBox1">
            <a:extLst>
              <a:ext uri="{FF2B5EF4-FFF2-40B4-BE49-F238E27FC236}">
                <a16:creationId xmlns:a16="http://schemas.microsoft.com/office/drawing/2014/main" id="{160FE8CB-969C-4C2F-9D5A-D5CE503C0262}"/>
              </a:ext>
            </a:extLst>
          </p:cNvPr>
          <p:cNvSpPr/>
          <p:nvPr/>
        </p:nvSpPr>
        <p:spPr>
          <a:xfrm>
            <a:off x="2087880" y="4112164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enzymatic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F294079-9064-4A1E-AD3D-49B71880DAD0}"/>
              </a:ext>
            </a:extLst>
          </p:cNvPr>
          <p:cNvSpPr/>
          <p:nvPr/>
        </p:nvSpPr>
        <p:spPr>
          <a:xfrm>
            <a:off x="1740720" y="3931234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!!SMBox2">
            <a:extLst>
              <a:ext uri="{FF2B5EF4-FFF2-40B4-BE49-F238E27FC236}">
                <a16:creationId xmlns:a16="http://schemas.microsoft.com/office/drawing/2014/main" id="{B999FAC7-AE8C-490E-9272-FC78C5A5E33D}"/>
              </a:ext>
            </a:extLst>
          </p:cNvPr>
          <p:cNvSpPr/>
          <p:nvPr/>
        </p:nvSpPr>
        <p:spPr>
          <a:xfrm>
            <a:off x="2087880" y="5016818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in final form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E46B9AB-0DEA-41DC-A451-AB2D6E0ED5EB}"/>
              </a:ext>
            </a:extLst>
          </p:cNvPr>
          <p:cNvSpPr/>
          <p:nvPr/>
        </p:nvSpPr>
        <p:spPr>
          <a:xfrm>
            <a:off x="1740720" y="3931234"/>
            <a:ext cx="347159" cy="23521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52100"/>
                </a:lnTo>
                <a:lnTo>
                  <a:pt x="347159" y="2352100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28" name="!!SMBox3">
            <a:extLst>
              <a:ext uri="{FF2B5EF4-FFF2-40B4-BE49-F238E27FC236}">
                <a16:creationId xmlns:a16="http://schemas.microsoft.com/office/drawing/2014/main" id="{0A7F4E98-E455-429D-A4F3-5557176F0B59}"/>
              </a:ext>
            </a:extLst>
          </p:cNvPr>
          <p:cNvSpPr/>
          <p:nvPr/>
        </p:nvSpPr>
        <p:spPr>
          <a:xfrm>
            <a:off x="2087880" y="5921472"/>
            <a:ext cx="438912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in nerve terminal</a:t>
            </a:r>
          </a:p>
        </p:txBody>
      </p:sp>
      <p:sp>
        <p:nvSpPr>
          <p:cNvPr id="329729" name="Freeform: Shape 329728">
            <a:extLst>
              <a:ext uri="{FF2B5EF4-FFF2-40B4-BE49-F238E27FC236}">
                <a16:creationId xmlns:a16="http://schemas.microsoft.com/office/drawing/2014/main" id="{6FB39004-8968-4ACA-8442-55C1CB8F4A5E}"/>
              </a:ext>
            </a:extLst>
          </p:cNvPr>
          <p:cNvSpPr/>
          <p:nvPr/>
        </p:nvSpPr>
        <p:spPr>
          <a:xfrm>
            <a:off x="6713082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Peptide</a:t>
            </a:r>
          </a:p>
        </p:txBody>
      </p:sp>
      <p:sp>
        <p:nvSpPr>
          <p:cNvPr id="329733" name="Freeform: Shape 329732">
            <a:extLst>
              <a:ext uri="{FF2B5EF4-FFF2-40B4-BE49-F238E27FC236}">
                <a16:creationId xmlns:a16="http://schemas.microsoft.com/office/drawing/2014/main" id="{7B9ADD97-9705-4E9A-B6F0-9D16F7220EFF}"/>
              </a:ext>
            </a:extLst>
          </p:cNvPr>
          <p:cNvSpPr/>
          <p:nvPr/>
        </p:nvSpPr>
        <p:spPr>
          <a:xfrm>
            <a:off x="7060242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34" name="!!PBox1">
            <a:extLst>
              <a:ext uri="{FF2B5EF4-FFF2-40B4-BE49-F238E27FC236}">
                <a16:creationId xmlns:a16="http://schemas.microsoft.com/office/drawing/2014/main" id="{2DE1A059-112B-4F6C-B38B-3FDAF71A132A}"/>
              </a:ext>
            </a:extLst>
          </p:cNvPr>
          <p:cNvSpPr/>
          <p:nvPr/>
        </p:nvSpPr>
        <p:spPr>
          <a:xfrm>
            <a:off x="7407402" y="4112164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/>
              <a:t>propeptide</a:t>
            </a:r>
            <a:endParaRPr lang="en-US" sz="3200" kern="1200" dirty="0"/>
          </a:p>
        </p:txBody>
      </p:sp>
      <p:sp>
        <p:nvSpPr>
          <p:cNvPr id="329735" name="Freeform: Shape 329734">
            <a:extLst>
              <a:ext uri="{FF2B5EF4-FFF2-40B4-BE49-F238E27FC236}">
                <a16:creationId xmlns:a16="http://schemas.microsoft.com/office/drawing/2014/main" id="{9C1FD121-C88A-4F86-9D76-BE5C079BA965}"/>
              </a:ext>
            </a:extLst>
          </p:cNvPr>
          <p:cNvSpPr/>
          <p:nvPr/>
        </p:nvSpPr>
        <p:spPr>
          <a:xfrm>
            <a:off x="7060242" y="3931234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36" name="!!PBox2">
            <a:extLst>
              <a:ext uri="{FF2B5EF4-FFF2-40B4-BE49-F238E27FC236}">
                <a16:creationId xmlns:a16="http://schemas.microsoft.com/office/drawing/2014/main" id="{E54F4EB3-A2EA-4A62-8C06-92056A330F34}"/>
              </a:ext>
            </a:extLst>
          </p:cNvPr>
          <p:cNvSpPr/>
          <p:nvPr/>
        </p:nvSpPr>
        <p:spPr>
          <a:xfrm>
            <a:off x="7407402" y="5016818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/>
              <a:t>in soma</a:t>
            </a:r>
            <a:endParaRPr lang="en-US" sz="3200" kern="1200" dirty="0"/>
          </a:p>
        </p:txBody>
      </p:sp>
      <p:sp>
        <p:nvSpPr>
          <p:cNvPr id="329737" name="Freeform: Shape 329736">
            <a:extLst>
              <a:ext uri="{FF2B5EF4-FFF2-40B4-BE49-F238E27FC236}">
                <a16:creationId xmlns:a16="http://schemas.microsoft.com/office/drawing/2014/main" id="{EA4145E2-9272-407B-96D0-DEF84E348C74}"/>
              </a:ext>
            </a:extLst>
          </p:cNvPr>
          <p:cNvSpPr/>
          <p:nvPr/>
        </p:nvSpPr>
        <p:spPr>
          <a:xfrm>
            <a:off x="7060242" y="3931234"/>
            <a:ext cx="347159" cy="235210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52100"/>
                </a:lnTo>
                <a:lnTo>
                  <a:pt x="347159" y="2352100"/>
                </a:lnTo>
              </a:path>
            </a:pathLst>
          </a:custGeom>
          <a:noFill/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38" name="!!PBox3">
            <a:extLst>
              <a:ext uri="{FF2B5EF4-FFF2-40B4-BE49-F238E27FC236}">
                <a16:creationId xmlns:a16="http://schemas.microsoft.com/office/drawing/2014/main" id="{045C9B41-8A61-4083-993D-7230B9F33737}"/>
              </a:ext>
            </a:extLst>
          </p:cNvPr>
          <p:cNvSpPr/>
          <p:nvPr/>
        </p:nvSpPr>
        <p:spPr>
          <a:xfrm>
            <a:off x="7407402" y="5921472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axonal transport to 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42E0E7-8013-451F-8E48-58E1FEE6CD9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92" t="21407" r="-292" b="25294"/>
          <a:stretch/>
        </p:blipFill>
        <p:spPr>
          <a:xfrm>
            <a:off x="6389016" y="1531720"/>
            <a:ext cx="5602125" cy="164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930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36598" y="158965"/>
            <a:ext cx="10047287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2 classes of NT differ in synthesis, storage, release &amp; inactivation</a:t>
            </a: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60914F63-8700-4116-A3CE-D0A8A83BFAB4}"/>
              </a:ext>
            </a:extLst>
          </p:cNvPr>
          <p:cNvSpPr/>
          <p:nvPr/>
        </p:nvSpPr>
        <p:spPr>
          <a:xfrm>
            <a:off x="-4569488" y="1190597"/>
            <a:ext cx="6257980" cy="6257980"/>
          </a:xfrm>
          <a:prstGeom prst="blockArc">
            <a:avLst>
              <a:gd name="adj1" fmla="val 18900000"/>
              <a:gd name="adj2" fmla="val 2700000"/>
              <a:gd name="adj3" fmla="val 345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rgbClr r="0" g="0" b="0"/>
          </a:lnRef>
          <a:fillRef idx="0">
            <a:schemeClr val="accent2">
              <a:tint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24C04D6-D324-4979-83D1-740C24FDB129}"/>
              </a:ext>
            </a:extLst>
          </p:cNvPr>
          <p:cNvSpPr/>
          <p:nvPr/>
        </p:nvSpPr>
        <p:spPr>
          <a:xfrm>
            <a:off x="-6096000" y="-4258751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DC9A61-91C9-4E19-9798-1C3B0B16FEBB}"/>
              </a:ext>
            </a:extLst>
          </p:cNvPr>
          <p:cNvSpPr/>
          <p:nvPr/>
        </p:nvSpPr>
        <p:spPr>
          <a:xfrm>
            <a:off x="-6542925" y="-4348136"/>
            <a:ext cx="893848" cy="893848"/>
          </a:xfrm>
          <a:prstGeom prst="ellipse">
            <a:avLst/>
          </a:prstGeom>
          <a:blipFill dpi="0" rotWithShape="0">
            <a:blip r:embed="rId2"/>
            <a:srcRect/>
            <a:stretch>
              <a:fillRect l="-34307" t="-53417" r="-95867" b="-76753"/>
            </a:stretch>
          </a:blip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261B788-A424-478F-93AF-2F61D6699521}"/>
              </a:ext>
            </a:extLst>
          </p:cNvPr>
          <p:cNvSpPr/>
          <p:nvPr/>
        </p:nvSpPr>
        <p:spPr>
          <a:xfrm>
            <a:off x="-5686029" y="-3364809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3882235"/>
              <a:satOff val="249"/>
              <a:lumOff val="-268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F6717B-B03D-4E9C-8211-6839E2F1969C}"/>
              </a:ext>
            </a:extLst>
          </p:cNvPr>
          <p:cNvSpPr/>
          <p:nvPr/>
        </p:nvSpPr>
        <p:spPr>
          <a:xfrm>
            <a:off x="-6132953" y="-3454194"/>
            <a:ext cx="893848" cy="893848"/>
          </a:xfrm>
          <a:prstGeom prst="ellipse">
            <a:avLst/>
          </a:prstGeom>
          <a:blipFill dpi="0" rotWithShape="0">
            <a:blip r:embed="rId3"/>
            <a:srcRect/>
            <a:stretch>
              <a:fillRect l="-11974" t="-2939" r="-6706" b="-15738"/>
            </a:stretch>
          </a:blip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619920A-0037-48A2-8CD6-FE6C1EB791DB}"/>
              </a:ext>
            </a:extLst>
          </p:cNvPr>
          <p:cNvSpPr/>
          <p:nvPr/>
        </p:nvSpPr>
        <p:spPr>
          <a:xfrm>
            <a:off x="1207008" y="2350008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7764470"/>
              <a:satOff val="497"/>
              <a:lumOff val="-53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Release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75A142-4DC8-40D8-A8BA-EE587001782B}"/>
              </a:ext>
            </a:extLst>
          </p:cNvPr>
          <p:cNvSpPr/>
          <p:nvPr/>
        </p:nvSpPr>
        <p:spPr>
          <a:xfrm>
            <a:off x="768096" y="2267712"/>
            <a:ext cx="893848" cy="893848"/>
          </a:xfrm>
          <a:prstGeom prst="ellipse">
            <a:avLst/>
          </a:prstGeom>
          <a:blipFill dpi="0" rotWithShape="0">
            <a:blip r:embed="rId4"/>
            <a:srcRect/>
            <a:stretch>
              <a:fillRect l="-3448" t="-12136" r="-6707" b="1984"/>
            </a:stretch>
          </a:blip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4C138B-66DC-425F-A4B5-204FD2638E50}"/>
              </a:ext>
            </a:extLst>
          </p:cNvPr>
          <p:cNvSpPr/>
          <p:nvPr/>
        </p:nvSpPr>
        <p:spPr>
          <a:xfrm>
            <a:off x="-6096000" y="-1219200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11646705"/>
              <a:satOff val="746"/>
              <a:lumOff val="-80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Inactivation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9E4FD0-D307-4A96-9D00-4BD56F736227}"/>
              </a:ext>
            </a:extLst>
          </p:cNvPr>
          <p:cNvSpPr/>
          <p:nvPr/>
        </p:nvSpPr>
        <p:spPr>
          <a:xfrm>
            <a:off x="-6542925" y="-1308585"/>
            <a:ext cx="893848" cy="893848"/>
          </a:xfrm>
          <a:prstGeom prst="ellipse">
            <a:avLst/>
          </a:prstGeom>
          <a:blipFill dpi="0" rotWithShape="0">
            <a:blip r:embed="rId5"/>
            <a:srcRect/>
            <a:stretch>
              <a:fillRect l="-51357" t="-8892" r="-15231" b="-57692"/>
            </a:stretch>
          </a:blip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0BFA8DB-018B-4448-94A0-BCA57391513F}"/>
              </a:ext>
            </a:extLst>
          </p:cNvPr>
          <p:cNvSpPr/>
          <p:nvPr/>
        </p:nvSpPr>
        <p:spPr>
          <a:xfrm>
            <a:off x="1393561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Small Molecule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6D87331-72E4-40C2-8238-11CED6FC3AB8}"/>
              </a:ext>
            </a:extLst>
          </p:cNvPr>
          <p:cNvSpPr/>
          <p:nvPr/>
        </p:nvSpPr>
        <p:spPr>
          <a:xfrm>
            <a:off x="1740720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!!SMBox1">
            <a:extLst>
              <a:ext uri="{FF2B5EF4-FFF2-40B4-BE49-F238E27FC236}">
                <a16:creationId xmlns:a16="http://schemas.microsoft.com/office/drawing/2014/main" id="{160FE8CB-969C-4C2F-9D5A-D5CE503C0262}"/>
              </a:ext>
            </a:extLst>
          </p:cNvPr>
          <p:cNvSpPr/>
          <p:nvPr/>
        </p:nvSpPr>
        <p:spPr>
          <a:xfrm>
            <a:off x="2087880" y="4112164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dirty="0"/>
              <a:t>close to target site</a:t>
            </a:r>
            <a:endParaRPr lang="en-US" sz="3200" kern="1200" dirty="0"/>
          </a:p>
        </p:txBody>
      </p:sp>
      <p:sp>
        <p:nvSpPr>
          <p:cNvPr id="329729" name="Freeform: Shape 329728">
            <a:extLst>
              <a:ext uri="{FF2B5EF4-FFF2-40B4-BE49-F238E27FC236}">
                <a16:creationId xmlns:a16="http://schemas.microsoft.com/office/drawing/2014/main" id="{6FB39004-8968-4ACA-8442-55C1CB8F4A5E}"/>
              </a:ext>
            </a:extLst>
          </p:cNvPr>
          <p:cNvSpPr/>
          <p:nvPr/>
        </p:nvSpPr>
        <p:spPr>
          <a:xfrm>
            <a:off x="6713082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Peptide</a:t>
            </a:r>
          </a:p>
        </p:txBody>
      </p:sp>
      <p:sp>
        <p:nvSpPr>
          <p:cNvPr id="329733" name="Freeform: Shape 329732">
            <a:extLst>
              <a:ext uri="{FF2B5EF4-FFF2-40B4-BE49-F238E27FC236}">
                <a16:creationId xmlns:a16="http://schemas.microsoft.com/office/drawing/2014/main" id="{7B9ADD97-9705-4E9A-B6F0-9D16F7220EFF}"/>
              </a:ext>
            </a:extLst>
          </p:cNvPr>
          <p:cNvSpPr/>
          <p:nvPr/>
        </p:nvSpPr>
        <p:spPr>
          <a:xfrm>
            <a:off x="7060242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34" name="!!PBox1">
            <a:extLst>
              <a:ext uri="{FF2B5EF4-FFF2-40B4-BE49-F238E27FC236}">
                <a16:creationId xmlns:a16="http://schemas.microsoft.com/office/drawing/2014/main" id="{2DE1A059-112B-4F6C-B38B-3FDAF71A132A}"/>
              </a:ext>
            </a:extLst>
          </p:cNvPr>
          <p:cNvSpPr/>
          <p:nvPr/>
        </p:nvSpPr>
        <p:spPr>
          <a:xfrm>
            <a:off x="7407402" y="4112164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target often distant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2C47830-DCE6-43D5-B4E0-3D7A415484E4}"/>
              </a:ext>
            </a:extLst>
          </p:cNvPr>
          <p:cNvSpPr/>
          <p:nvPr/>
        </p:nvSpPr>
        <p:spPr>
          <a:xfrm>
            <a:off x="1740719" y="3982649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!!SMBox2">
            <a:extLst>
              <a:ext uri="{FF2B5EF4-FFF2-40B4-BE49-F238E27FC236}">
                <a16:creationId xmlns:a16="http://schemas.microsoft.com/office/drawing/2014/main" id="{E5A8D6A1-5B79-4DFD-961B-F58CEB411F1A}"/>
              </a:ext>
            </a:extLst>
          </p:cNvPr>
          <p:cNvSpPr/>
          <p:nvPr/>
        </p:nvSpPr>
        <p:spPr>
          <a:xfrm>
            <a:off x="2087879" y="5068233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Aft>
                <a:spcPct val="35000"/>
              </a:spcAft>
            </a:pPr>
            <a:r>
              <a:rPr lang="en-US" sz="3200" dirty="0"/>
              <a:t>usually synaptic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9400836-D17D-4ECC-8A7A-E0A2AFEE8892}"/>
              </a:ext>
            </a:extLst>
          </p:cNvPr>
          <p:cNvSpPr/>
          <p:nvPr/>
        </p:nvSpPr>
        <p:spPr>
          <a:xfrm>
            <a:off x="7060242" y="3982649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!!PBox2">
            <a:extLst>
              <a:ext uri="{FF2B5EF4-FFF2-40B4-BE49-F238E27FC236}">
                <a16:creationId xmlns:a16="http://schemas.microsoft.com/office/drawing/2014/main" id="{3D41C30E-5755-48E6-A9B1-35757C2DBBC0}"/>
              </a:ext>
            </a:extLst>
          </p:cNvPr>
          <p:cNvSpPr/>
          <p:nvPr/>
        </p:nvSpPr>
        <p:spPr>
          <a:xfrm>
            <a:off x="7407401" y="5068233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Aft>
                <a:spcPct val="35000"/>
              </a:spcAft>
            </a:pPr>
            <a:r>
              <a:rPr lang="en-US" sz="3200" dirty="0"/>
              <a:t>frequently hormonal</a:t>
            </a:r>
          </a:p>
        </p:txBody>
      </p:sp>
    </p:spTree>
    <p:extLst>
      <p:ext uri="{BB962C8B-B14F-4D97-AF65-F5344CB8AC3E}">
        <p14:creationId xmlns:p14="http://schemas.microsoft.com/office/powerpoint/2010/main" val="409502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36598" y="184017"/>
            <a:ext cx="10047287" cy="1462087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2 classes of NT differ in synthesis, storage, release &amp; inactivation</a:t>
            </a:r>
          </a:p>
        </p:txBody>
      </p:sp>
      <p:sp>
        <p:nvSpPr>
          <p:cNvPr id="16" name="Block Arc 15">
            <a:extLst>
              <a:ext uri="{FF2B5EF4-FFF2-40B4-BE49-F238E27FC236}">
                <a16:creationId xmlns:a16="http://schemas.microsoft.com/office/drawing/2014/main" id="{60914F63-8700-4116-A3CE-D0A8A83BFAB4}"/>
              </a:ext>
            </a:extLst>
          </p:cNvPr>
          <p:cNvSpPr/>
          <p:nvPr/>
        </p:nvSpPr>
        <p:spPr>
          <a:xfrm>
            <a:off x="-4569488" y="1190597"/>
            <a:ext cx="6257980" cy="6257980"/>
          </a:xfrm>
          <a:prstGeom prst="blockArc">
            <a:avLst>
              <a:gd name="adj1" fmla="val 18900000"/>
              <a:gd name="adj2" fmla="val 2700000"/>
              <a:gd name="adj3" fmla="val 345"/>
            </a:avLst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rgbClr r="0" g="0" b="0"/>
          </a:lnRef>
          <a:fillRef idx="0">
            <a:schemeClr val="accent2">
              <a:tint val="9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9000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24C04D6-D324-4979-83D1-740C24FDB129}"/>
              </a:ext>
            </a:extLst>
          </p:cNvPr>
          <p:cNvSpPr/>
          <p:nvPr/>
        </p:nvSpPr>
        <p:spPr>
          <a:xfrm>
            <a:off x="-6096000" y="-4258751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Synthesis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FDC9A61-91C9-4E19-9798-1C3B0B16FEBB}"/>
              </a:ext>
            </a:extLst>
          </p:cNvPr>
          <p:cNvSpPr/>
          <p:nvPr/>
        </p:nvSpPr>
        <p:spPr>
          <a:xfrm>
            <a:off x="-6542925" y="-4348136"/>
            <a:ext cx="893848" cy="893848"/>
          </a:xfrm>
          <a:prstGeom prst="ellipse">
            <a:avLst/>
          </a:prstGeom>
          <a:blipFill dpi="0" rotWithShape="0">
            <a:blip r:embed="rId2"/>
            <a:srcRect/>
            <a:stretch>
              <a:fillRect l="-34307" t="-53417" r="-95867" b="-76753"/>
            </a:stretch>
          </a:blipFill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261B788-A424-478F-93AF-2F61D6699521}"/>
              </a:ext>
            </a:extLst>
          </p:cNvPr>
          <p:cNvSpPr/>
          <p:nvPr/>
        </p:nvSpPr>
        <p:spPr>
          <a:xfrm>
            <a:off x="-5686029" y="-3364809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3882235"/>
              <a:satOff val="249"/>
              <a:lumOff val="-268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Storage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DF6717B-B03D-4E9C-8211-6839E2F1969C}"/>
              </a:ext>
            </a:extLst>
          </p:cNvPr>
          <p:cNvSpPr/>
          <p:nvPr/>
        </p:nvSpPr>
        <p:spPr>
          <a:xfrm>
            <a:off x="-6132953" y="-3454194"/>
            <a:ext cx="893848" cy="893848"/>
          </a:xfrm>
          <a:prstGeom prst="ellipse">
            <a:avLst/>
          </a:prstGeom>
          <a:blipFill dpi="0" rotWithShape="0">
            <a:blip r:embed="rId3"/>
            <a:srcRect/>
            <a:stretch>
              <a:fillRect l="-11974" t="-2939" r="-6706" b="-15738"/>
            </a:stretch>
          </a:blipFill>
          <a:ln>
            <a:solidFill>
              <a:schemeClr val="accent5">
                <a:lumMod val="10000"/>
              </a:schemeClr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619920A-0037-48A2-8CD6-FE6C1EB791DB}"/>
              </a:ext>
            </a:extLst>
          </p:cNvPr>
          <p:cNvSpPr/>
          <p:nvPr/>
        </p:nvSpPr>
        <p:spPr>
          <a:xfrm>
            <a:off x="-5686029" y="-2292005"/>
            <a:ext cx="4182237" cy="715079"/>
          </a:xfrm>
          <a:custGeom>
            <a:avLst/>
            <a:gdLst>
              <a:gd name="connsiteX0" fmla="*/ 0 w 4182237"/>
              <a:gd name="connsiteY0" fmla="*/ 0 h 715079"/>
              <a:gd name="connsiteX1" fmla="*/ 4182237 w 4182237"/>
              <a:gd name="connsiteY1" fmla="*/ 0 h 715079"/>
              <a:gd name="connsiteX2" fmla="*/ 4182237 w 4182237"/>
              <a:gd name="connsiteY2" fmla="*/ 715079 h 715079"/>
              <a:gd name="connsiteX3" fmla="*/ 0 w 4182237"/>
              <a:gd name="connsiteY3" fmla="*/ 715079 h 715079"/>
              <a:gd name="connsiteX4" fmla="*/ 0 w 4182237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82237" h="715079">
                <a:moveTo>
                  <a:pt x="0" y="0"/>
                </a:moveTo>
                <a:lnTo>
                  <a:pt x="4182237" y="0"/>
                </a:lnTo>
                <a:lnTo>
                  <a:pt x="4182237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7764470"/>
              <a:satOff val="497"/>
              <a:lumOff val="-53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Release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75A142-4DC8-40D8-A8BA-EE587001782B}"/>
              </a:ext>
            </a:extLst>
          </p:cNvPr>
          <p:cNvSpPr/>
          <p:nvPr/>
        </p:nvSpPr>
        <p:spPr>
          <a:xfrm>
            <a:off x="-6124941" y="-2374301"/>
            <a:ext cx="893848" cy="893848"/>
          </a:xfrm>
          <a:prstGeom prst="ellipse">
            <a:avLst/>
          </a:prstGeom>
          <a:blipFill dpi="0" rotWithShape="0">
            <a:blip r:embed="rId4"/>
            <a:srcRect/>
            <a:stretch>
              <a:fillRect l="-3448" t="-12136" r="-6707" b="1984"/>
            </a:stretch>
          </a:blipFill>
          <a:ln>
            <a:solidFill>
              <a:schemeClr val="accent1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E4C138B-66DC-425F-A4B5-204FD2638E50}"/>
              </a:ext>
            </a:extLst>
          </p:cNvPr>
          <p:cNvSpPr/>
          <p:nvPr/>
        </p:nvSpPr>
        <p:spPr>
          <a:xfrm>
            <a:off x="1207008" y="2350008"/>
            <a:ext cx="4592208" cy="715079"/>
          </a:xfrm>
          <a:custGeom>
            <a:avLst/>
            <a:gdLst>
              <a:gd name="connsiteX0" fmla="*/ 0 w 4592208"/>
              <a:gd name="connsiteY0" fmla="*/ 0 h 715079"/>
              <a:gd name="connsiteX1" fmla="*/ 4592208 w 4592208"/>
              <a:gd name="connsiteY1" fmla="*/ 0 h 715079"/>
              <a:gd name="connsiteX2" fmla="*/ 4592208 w 4592208"/>
              <a:gd name="connsiteY2" fmla="*/ 715079 h 715079"/>
              <a:gd name="connsiteX3" fmla="*/ 0 w 4592208"/>
              <a:gd name="connsiteY3" fmla="*/ 715079 h 715079"/>
              <a:gd name="connsiteX4" fmla="*/ 0 w 4592208"/>
              <a:gd name="connsiteY4" fmla="*/ 0 h 7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92208" h="715079">
                <a:moveTo>
                  <a:pt x="0" y="0"/>
                </a:moveTo>
                <a:lnTo>
                  <a:pt x="4592208" y="0"/>
                </a:lnTo>
                <a:lnTo>
                  <a:pt x="4592208" y="715079"/>
                </a:lnTo>
                <a:lnTo>
                  <a:pt x="0" y="7150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11646705"/>
              <a:satOff val="746"/>
              <a:lumOff val="-80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67594" tIns="93980" rIns="93980" bIns="93980" numCol="1" spcCol="1270" anchor="ctr" anchorCtr="0">
            <a:noAutofit/>
          </a:bodyPr>
          <a:lstStyle/>
          <a:p>
            <a:pPr marL="0" lvl="0" indent="0" algn="l" defTabSz="16446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700" kern="1200" dirty="0">
                <a:solidFill>
                  <a:schemeClr val="tx1"/>
                </a:solidFill>
              </a:rPr>
              <a:t>Inactivation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69E4FD0-D307-4A96-9D00-4BD56F736227}"/>
              </a:ext>
            </a:extLst>
          </p:cNvPr>
          <p:cNvSpPr/>
          <p:nvPr/>
        </p:nvSpPr>
        <p:spPr>
          <a:xfrm>
            <a:off x="768096" y="2267712"/>
            <a:ext cx="893848" cy="893848"/>
          </a:xfrm>
          <a:prstGeom prst="ellipse">
            <a:avLst/>
          </a:prstGeom>
          <a:blipFill dpi="0" rotWithShape="0">
            <a:blip r:embed="rId5"/>
            <a:srcRect/>
            <a:stretch>
              <a:fillRect l="-51357" t="-8892" r="-15231" b="-57692"/>
            </a:stretch>
          </a:blipFill>
          <a:ln>
            <a:solidFill>
              <a:schemeClr val="accent4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0BFA8DB-018B-4448-94A0-BCA57391513F}"/>
              </a:ext>
            </a:extLst>
          </p:cNvPr>
          <p:cNvSpPr/>
          <p:nvPr/>
        </p:nvSpPr>
        <p:spPr>
          <a:xfrm>
            <a:off x="1393561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ln>
            <a:solidFill>
              <a:schemeClr val="accent4"/>
            </a:solidFill>
          </a:ln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Small Molecule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6D87331-72E4-40C2-8238-11CED6FC3AB8}"/>
              </a:ext>
            </a:extLst>
          </p:cNvPr>
          <p:cNvSpPr/>
          <p:nvPr/>
        </p:nvSpPr>
        <p:spPr>
          <a:xfrm>
            <a:off x="1740720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!!SMBox1">
            <a:extLst>
              <a:ext uri="{FF2B5EF4-FFF2-40B4-BE49-F238E27FC236}">
                <a16:creationId xmlns:a16="http://schemas.microsoft.com/office/drawing/2014/main" id="{160FE8CB-969C-4C2F-9D5A-D5CE503C0262}"/>
              </a:ext>
            </a:extLst>
          </p:cNvPr>
          <p:cNvSpPr/>
          <p:nvPr/>
        </p:nvSpPr>
        <p:spPr>
          <a:xfrm>
            <a:off x="2087880" y="4112164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dirty="0"/>
              <a:t>reuptake</a:t>
            </a:r>
            <a:endParaRPr lang="en-US" sz="3200" kern="1200" dirty="0"/>
          </a:p>
        </p:txBody>
      </p:sp>
      <p:sp>
        <p:nvSpPr>
          <p:cNvPr id="329729" name="Freeform: Shape 329728">
            <a:extLst>
              <a:ext uri="{FF2B5EF4-FFF2-40B4-BE49-F238E27FC236}">
                <a16:creationId xmlns:a16="http://schemas.microsoft.com/office/drawing/2014/main" id="{6FB39004-8968-4ACA-8442-55C1CB8F4A5E}"/>
              </a:ext>
            </a:extLst>
          </p:cNvPr>
          <p:cNvSpPr/>
          <p:nvPr/>
        </p:nvSpPr>
        <p:spPr>
          <a:xfrm>
            <a:off x="6713082" y="3207510"/>
            <a:ext cx="3471599" cy="723723"/>
          </a:xfrm>
          <a:custGeom>
            <a:avLst/>
            <a:gdLst>
              <a:gd name="connsiteX0" fmla="*/ 0 w 3471599"/>
              <a:gd name="connsiteY0" fmla="*/ 72372 h 723723"/>
              <a:gd name="connsiteX1" fmla="*/ 72372 w 3471599"/>
              <a:gd name="connsiteY1" fmla="*/ 0 h 723723"/>
              <a:gd name="connsiteX2" fmla="*/ 3399227 w 3471599"/>
              <a:gd name="connsiteY2" fmla="*/ 0 h 723723"/>
              <a:gd name="connsiteX3" fmla="*/ 3471599 w 3471599"/>
              <a:gd name="connsiteY3" fmla="*/ 72372 h 723723"/>
              <a:gd name="connsiteX4" fmla="*/ 3471599 w 3471599"/>
              <a:gd name="connsiteY4" fmla="*/ 651351 h 723723"/>
              <a:gd name="connsiteX5" fmla="*/ 3399227 w 3471599"/>
              <a:gd name="connsiteY5" fmla="*/ 723723 h 723723"/>
              <a:gd name="connsiteX6" fmla="*/ 72372 w 3471599"/>
              <a:gd name="connsiteY6" fmla="*/ 723723 h 723723"/>
              <a:gd name="connsiteX7" fmla="*/ 0 w 3471599"/>
              <a:gd name="connsiteY7" fmla="*/ 651351 h 723723"/>
              <a:gd name="connsiteX8" fmla="*/ 0 w 3471599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71599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3399227" y="0"/>
                </a:lnTo>
                <a:cubicBezTo>
                  <a:pt x="3439197" y="0"/>
                  <a:pt x="3471599" y="32402"/>
                  <a:pt x="3471599" y="72372"/>
                </a:cubicBezTo>
                <a:lnTo>
                  <a:pt x="3471599" y="651351"/>
                </a:lnTo>
                <a:cubicBezTo>
                  <a:pt x="3471599" y="691321"/>
                  <a:pt x="3439197" y="723723"/>
                  <a:pt x="3399227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ln>
            <a:solidFill>
              <a:schemeClr val="accent4"/>
            </a:solidFill>
          </a:ln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9777" tIns="66917" rIns="89777" bIns="66917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Peptide</a:t>
            </a:r>
          </a:p>
        </p:txBody>
      </p:sp>
      <p:sp>
        <p:nvSpPr>
          <p:cNvPr id="329733" name="Freeform: Shape 329732">
            <a:extLst>
              <a:ext uri="{FF2B5EF4-FFF2-40B4-BE49-F238E27FC236}">
                <a16:creationId xmlns:a16="http://schemas.microsoft.com/office/drawing/2014/main" id="{7B9ADD97-9705-4E9A-B6F0-9D16F7220EFF}"/>
              </a:ext>
            </a:extLst>
          </p:cNvPr>
          <p:cNvSpPr/>
          <p:nvPr/>
        </p:nvSpPr>
        <p:spPr>
          <a:xfrm>
            <a:off x="7060242" y="3931234"/>
            <a:ext cx="347159" cy="54279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542792"/>
                </a:lnTo>
                <a:lnTo>
                  <a:pt x="347159" y="542792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29734" name="!!PBox1">
            <a:extLst>
              <a:ext uri="{FF2B5EF4-FFF2-40B4-BE49-F238E27FC236}">
                <a16:creationId xmlns:a16="http://schemas.microsoft.com/office/drawing/2014/main" id="{2DE1A059-112B-4F6C-B38B-3FDAF71A132A}"/>
              </a:ext>
            </a:extLst>
          </p:cNvPr>
          <p:cNvSpPr/>
          <p:nvPr/>
        </p:nvSpPr>
        <p:spPr>
          <a:xfrm>
            <a:off x="7407402" y="4112164"/>
            <a:ext cx="4293821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Aft>
                <a:spcPct val="35000"/>
              </a:spcAft>
            </a:pPr>
            <a:r>
              <a:rPr lang="en-US" sz="3200" dirty="0"/>
              <a:t>enzymatic degradation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2C47830-DCE6-43D5-B4E0-3D7A415484E4}"/>
              </a:ext>
            </a:extLst>
          </p:cNvPr>
          <p:cNvSpPr/>
          <p:nvPr/>
        </p:nvSpPr>
        <p:spPr>
          <a:xfrm>
            <a:off x="1740719" y="3982649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!!SMBox2">
            <a:extLst>
              <a:ext uri="{FF2B5EF4-FFF2-40B4-BE49-F238E27FC236}">
                <a16:creationId xmlns:a16="http://schemas.microsoft.com/office/drawing/2014/main" id="{E5A8D6A1-5B79-4DFD-961B-F58CEB411F1A}"/>
              </a:ext>
            </a:extLst>
          </p:cNvPr>
          <p:cNvSpPr/>
          <p:nvPr/>
        </p:nvSpPr>
        <p:spPr>
          <a:xfrm>
            <a:off x="2087879" y="5068233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Aft>
                <a:spcPct val="35000"/>
              </a:spcAft>
            </a:pPr>
            <a:r>
              <a:rPr lang="en-US" sz="3200" dirty="0"/>
              <a:t>enzymatic degradation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9400836-D17D-4ECC-8A7A-E0A2AFEE8892}"/>
              </a:ext>
            </a:extLst>
          </p:cNvPr>
          <p:cNvSpPr/>
          <p:nvPr/>
        </p:nvSpPr>
        <p:spPr>
          <a:xfrm>
            <a:off x="7060242" y="3982649"/>
            <a:ext cx="347159" cy="1447446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447446"/>
                </a:lnTo>
                <a:lnTo>
                  <a:pt x="347159" y="1447446"/>
                </a:ln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3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!!PBox2">
            <a:extLst>
              <a:ext uri="{FF2B5EF4-FFF2-40B4-BE49-F238E27FC236}">
                <a16:creationId xmlns:a16="http://schemas.microsoft.com/office/drawing/2014/main" id="{3D41C30E-5755-48E6-A9B1-35757C2DBBC0}"/>
              </a:ext>
            </a:extLst>
          </p:cNvPr>
          <p:cNvSpPr/>
          <p:nvPr/>
        </p:nvSpPr>
        <p:spPr>
          <a:xfrm>
            <a:off x="7407401" y="5068233"/>
            <a:ext cx="4297680" cy="723723"/>
          </a:xfrm>
          <a:custGeom>
            <a:avLst/>
            <a:gdLst>
              <a:gd name="connsiteX0" fmla="*/ 0 w 4293821"/>
              <a:gd name="connsiteY0" fmla="*/ 72372 h 723723"/>
              <a:gd name="connsiteX1" fmla="*/ 72372 w 4293821"/>
              <a:gd name="connsiteY1" fmla="*/ 0 h 723723"/>
              <a:gd name="connsiteX2" fmla="*/ 4221449 w 4293821"/>
              <a:gd name="connsiteY2" fmla="*/ 0 h 723723"/>
              <a:gd name="connsiteX3" fmla="*/ 4293821 w 4293821"/>
              <a:gd name="connsiteY3" fmla="*/ 72372 h 723723"/>
              <a:gd name="connsiteX4" fmla="*/ 4293821 w 4293821"/>
              <a:gd name="connsiteY4" fmla="*/ 651351 h 723723"/>
              <a:gd name="connsiteX5" fmla="*/ 4221449 w 4293821"/>
              <a:gd name="connsiteY5" fmla="*/ 723723 h 723723"/>
              <a:gd name="connsiteX6" fmla="*/ 72372 w 4293821"/>
              <a:gd name="connsiteY6" fmla="*/ 723723 h 723723"/>
              <a:gd name="connsiteX7" fmla="*/ 0 w 4293821"/>
              <a:gd name="connsiteY7" fmla="*/ 651351 h 723723"/>
              <a:gd name="connsiteX8" fmla="*/ 0 w 4293821"/>
              <a:gd name="connsiteY8" fmla="*/ 72372 h 723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93821" h="723723">
                <a:moveTo>
                  <a:pt x="0" y="72372"/>
                </a:moveTo>
                <a:cubicBezTo>
                  <a:pt x="0" y="32402"/>
                  <a:pt x="32402" y="0"/>
                  <a:pt x="72372" y="0"/>
                </a:cubicBezTo>
                <a:lnTo>
                  <a:pt x="4221449" y="0"/>
                </a:lnTo>
                <a:cubicBezTo>
                  <a:pt x="4261419" y="0"/>
                  <a:pt x="4293821" y="32402"/>
                  <a:pt x="4293821" y="72372"/>
                </a:cubicBezTo>
                <a:lnTo>
                  <a:pt x="4293821" y="651351"/>
                </a:lnTo>
                <a:cubicBezTo>
                  <a:pt x="4293821" y="691321"/>
                  <a:pt x="4261419" y="723723"/>
                  <a:pt x="4221449" y="723723"/>
                </a:cubicBezTo>
                <a:lnTo>
                  <a:pt x="72372" y="723723"/>
                </a:lnTo>
                <a:cubicBezTo>
                  <a:pt x="32402" y="723723"/>
                  <a:pt x="0" y="691321"/>
                  <a:pt x="0" y="651351"/>
                </a:cubicBezTo>
                <a:lnTo>
                  <a:pt x="0" y="72372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  <a:alpha val="9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3">
              <a:hueOff val="0"/>
              <a:satOff val="0"/>
              <a:lumOff val="0"/>
              <a:alphaOff val="0"/>
            </a:schemeClr>
          </a:lnRef>
          <a:fillRef idx="1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2157" tIns="61837" rIns="82157" bIns="61837" numCol="1" spcCol="1270" anchor="ctr" anchorCtr="0">
            <a:noAutofit/>
          </a:bodyPr>
          <a:lstStyle/>
          <a:p>
            <a:pPr defTabSz="1422400">
              <a:lnSpc>
                <a:spcPct val="90000"/>
              </a:lnSpc>
              <a:spcAft>
                <a:spcPct val="35000"/>
              </a:spcAft>
            </a:pPr>
            <a:r>
              <a:rPr lang="en-US" sz="3200" dirty="0"/>
              <a:t>(peptidases)</a:t>
            </a:r>
          </a:p>
        </p:txBody>
      </p:sp>
    </p:spTree>
    <p:extLst>
      <p:ext uri="{BB962C8B-B14F-4D97-AF65-F5344CB8AC3E}">
        <p14:creationId xmlns:p14="http://schemas.microsoft.com/office/powerpoint/2010/main" val="146879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2 classes of NT differ in synthesis, storage, release &amp; inactivation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12E78A5-6004-4CC0-AC8E-7BDF8A61766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496800" y="63358"/>
          <a:ext cx="5486400" cy="246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B1F2B13-211D-4F9D-BC28-1B04D5A0310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2573000" y="2971800"/>
          <a:ext cx="5212080" cy="256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DB6F419-F636-4925-AC3D-3E75180162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94146"/>
              </p:ext>
            </p:extLst>
          </p:nvPr>
        </p:nvGraphicFramePr>
        <p:xfrm>
          <a:off x="335280" y="2217237"/>
          <a:ext cx="11521440" cy="4419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182293268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345390852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152640956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Small molecule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Peptide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9778631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enzymatic</a:t>
                      </a:r>
                    </a:p>
                    <a:p>
                      <a:r>
                        <a:rPr lang="en-US" sz="2800" dirty="0"/>
                        <a:t>in final form</a:t>
                      </a:r>
                    </a:p>
                    <a:p>
                      <a:r>
                        <a:rPr lang="en-US" sz="2800" dirty="0"/>
                        <a:t>in nerve terminal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propeptide</a:t>
                      </a:r>
                      <a:endParaRPr lang="en-US" sz="2800" dirty="0"/>
                    </a:p>
                    <a:p>
                      <a:r>
                        <a:rPr lang="en-US" sz="2800" dirty="0"/>
                        <a:t>in soma</a:t>
                      </a:r>
                    </a:p>
                    <a:p>
                      <a:r>
                        <a:rPr lang="en-US" sz="2800" dirty="0"/>
                        <a:t>axonal transport to 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7231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Storage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small, clear-core vesicles</a:t>
                      </a:r>
                    </a:p>
                    <a:p>
                      <a:r>
                        <a:rPr lang="en-US" sz="2800" dirty="0"/>
                        <a:t>vesicle recycling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large, dense-core vesicles</a:t>
                      </a:r>
                    </a:p>
                    <a:p>
                      <a:r>
                        <a:rPr lang="en-US" sz="2800" dirty="0"/>
                        <a:t>no vesicle recycling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9053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Release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close to target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target often distant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84802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Inactivation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reuptake</a:t>
                      </a:r>
                    </a:p>
                    <a:p>
                      <a:r>
                        <a:rPr lang="en-US" sz="2800" dirty="0"/>
                        <a:t>enzymatic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enzymatic degradation (peptidases)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608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8684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F1E6AB-201D-4776-A87B-638E6A2FE9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5038" y="154598"/>
            <a:ext cx="8745987" cy="6548804"/>
          </a:xfrm>
        </p:spPr>
      </p:pic>
      <p:pic>
        <p:nvPicPr>
          <p:cNvPr id="4098" name="Picture 2" descr="Image result for small clear core large dense">
            <a:extLst>
              <a:ext uri="{FF2B5EF4-FFF2-40B4-BE49-F238E27FC236}">
                <a16:creationId xmlns:a16="http://schemas.microsoft.com/office/drawing/2014/main" id="{F8459AAC-8855-4A47-8218-4D4B94ABF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156" y="1995107"/>
            <a:ext cx="3021844" cy="2284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892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 Key points for each major transmitter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D65E502E-CF83-43C6-9875-E71C806992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619550"/>
              </p:ext>
            </p:extLst>
          </p:nvPr>
        </p:nvGraphicFramePr>
        <p:xfrm>
          <a:off x="722313" y="2251075"/>
          <a:ext cx="11217275" cy="429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4 Key points for each major transmitter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A102036-8EE3-4B13-94F7-B940E3DE86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9709458"/>
              </p:ext>
            </p:extLst>
          </p:nvPr>
        </p:nvGraphicFramePr>
        <p:xfrm>
          <a:off x="731520" y="2046286"/>
          <a:ext cx="11003280" cy="459740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Transmitter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Synthesis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Inactivation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Receptors</a:t>
                      </a:r>
                    </a:p>
                  </a:txBody>
                  <a:tcPr>
                    <a:solidFill>
                      <a:srgbClr val="9876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Neuromuscular junctions,</a:t>
                      </a:r>
                      <a:r>
                        <a:rPr lang="en-US" baseline="0" dirty="0"/>
                        <a:t> </a:t>
                      </a:r>
                    </a:p>
                    <a:p>
                      <a:r>
                        <a:rPr lang="en-US" baseline="0" dirty="0"/>
                        <a:t>Autonomic Nervous System </a:t>
                      </a:r>
                    </a:p>
                    <a:p>
                      <a:r>
                        <a:rPr lang="en-US" baseline="0" dirty="0"/>
                        <a:t>N. basalis, tegmentum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Choline+Acetyl</a:t>
                      </a:r>
                      <a:r>
                        <a:rPr lang="en-US" dirty="0"/>
                        <a:t> CoA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ChAT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AChE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(i)   </a:t>
                      </a:r>
                      <a:r>
                        <a:rPr lang="en-US" dirty="0" err="1"/>
                        <a:t>nAChR</a:t>
                      </a:r>
                      <a:endParaRPr lang="en-US" dirty="0"/>
                    </a:p>
                    <a:p>
                      <a:r>
                        <a:rPr lang="en-US" dirty="0"/>
                        <a:t>(m)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mAChR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Glutamate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&gt;90% CNS</a:t>
                      </a:r>
                      <a:r>
                        <a:rPr lang="en-US" baseline="0" dirty="0"/>
                        <a:t> synapses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Glutamine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 err="1"/>
                        <a:t>Glutaminase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00050" indent="-400050">
                        <a:buAutoNum type="romanLcParenBoth"/>
                      </a:pPr>
                      <a:r>
                        <a:rPr lang="en-US" baseline="0" dirty="0"/>
                        <a:t>NMDA (NR)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      AMPA (</a:t>
                      </a:r>
                      <a:r>
                        <a:rPr lang="en-US" dirty="0" err="1"/>
                        <a:t>GluA</a:t>
                      </a:r>
                      <a:r>
                        <a:rPr lang="en-US" dirty="0"/>
                        <a:t>), </a:t>
                      </a:r>
                      <a:r>
                        <a:rPr lang="en-US" baseline="0" dirty="0"/>
                        <a:t>KA</a:t>
                      </a:r>
                      <a:endParaRPr lang="en-US" dirty="0"/>
                    </a:p>
                    <a:p>
                      <a:r>
                        <a:rPr lang="en-US" dirty="0"/>
                        <a:t>(m)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mGlu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NE/Epi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5-HT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Peptides, GF’s </a:t>
                      </a:r>
                    </a:p>
                    <a:p>
                      <a:r>
                        <a:rPr lang="en-US" dirty="0"/>
                        <a:t>NO/CB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4FD81BE-221F-EB66-C850-98E68E81A5BA}"/>
              </a:ext>
            </a:extLst>
          </p:cNvPr>
          <p:cNvSpPr txBox="1">
            <a:spLocks/>
          </p:cNvSpPr>
          <p:nvPr/>
        </p:nvSpPr>
        <p:spPr>
          <a:xfrm>
            <a:off x="914400" y="-1"/>
            <a:ext cx="10363200" cy="914401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</a:rPr>
              <a:t>Acetylcholine (ACh)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D3EE84-094C-4E01-6351-7691D9272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705" y="914400"/>
            <a:ext cx="4584589" cy="595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11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ACh Location</a:t>
            </a:r>
          </a:p>
        </p:txBody>
      </p:sp>
      <p:sp>
        <p:nvSpPr>
          <p:cNvPr id="343043" name="Rectangle 3"/>
          <p:cNvSpPr>
            <a:spLocks noGrp="1" noChangeArrowheads="1"/>
          </p:cNvSpPr>
          <p:nvPr>
            <p:ph idx="1"/>
          </p:nvPr>
        </p:nvSpPr>
        <p:spPr>
          <a:xfrm>
            <a:off x="721785" y="2251075"/>
            <a:ext cx="7126815" cy="4297680"/>
          </a:xfrm>
        </p:spPr>
        <p:txBody>
          <a:bodyPr/>
          <a:lstStyle/>
          <a:p>
            <a:r>
              <a:rPr lang="en-US" dirty="0"/>
              <a:t>Peripheral NS</a:t>
            </a:r>
          </a:p>
          <a:p>
            <a:pPr lvl="1"/>
            <a:r>
              <a:rPr lang="en-US" dirty="0"/>
              <a:t>Neuromuscular junction (NMJ)</a:t>
            </a:r>
          </a:p>
          <a:p>
            <a:pPr lvl="1"/>
            <a:r>
              <a:rPr lang="en-US" dirty="0"/>
              <a:t>Autonomic nervous system (ANS)</a:t>
            </a:r>
          </a:p>
          <a:p>
            <a:r>
              <a:rPr lang="en-US" dirty="0"/>
              <a:t>Central NS</a:t>
            </a:r>
          </a:p>
          <a:p>
            <a:pPr lvl="1"/>
            <a:r>
              <a:rPr lang="en-US" dirty="0"/>
              <a:t>basal forebrain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298C9B-545F-F652-2448-208A3BEA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8381" y="2214980"/>
            <a:ext cx="4519661" cy="4622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ACh Synthesis</a:t>
            </a:r>
          </a:p>
        </p:txBody>
      </p:sp>
      <p:sp>
        <p:nvSpPr>
          <p:cNvPr id="344068" name="Rectangle 4"/>
          <p:cNvSpPr>
            <a:spLocks noGrp="1" noChangeArrowheads="1"/>
          </p:cNvSpPr>
          <p:nvPr>
            <p:ph idx="1"/>
          </p:nvPr>
        </p:nvSpPr>
        <p:spPr>
          <a:xfrm>
            <a:off x="990600" y="2017712"/>
            <a:ext cx="5105400" cy="4840287"/>
          </a:xfrm>
        </p:spPr>
        <p:txBody>
          <a:bodyPr/>
          <a:lstStyle/>
          <a:p>
            <a:r>
              <a:rPr lang="en-US" sz="2400" dirty="0"/>
              <a:t>Occurs in axon terminals</a:t>
            </a:r>
          </a:p>
          <a:p>
            <a:endParaRPr lang="en-US" sz="2400" dirty="0"/>
          </a:p>
          <a:p>
            <a:r>
              <a:rPr lang="en-US" sz="2400" dirty="0"/>
              <a:t>Precursors:</a:t>
            </a:r>
          </a:p>
          <a:p>
            <a:pPr lvl="1"/>
            <a:r>
              <a:rPr lang="en-US" sz="2400" dirty="0"/>
              <a:t>Acetyl CoA</a:t>
            </a:r>
          </a:p>
          <a:p>
            <a:pPr lvl="1"/>
            <a:r>
              <a:rPr lang="en-US" sz="2400" dirty="0"/>
              <a:t>Choline</a:t>
            </a:r>
          </a:p>
          <a:p>
            <a:r>
              <a:rPr lang="en-US" sz="2400" dirty="0" err="1"/>
              <a:t>ChAT</a:t>
            </a:r>
            <a:r>
              <a:rPr lang="en-US" sz="2400" dirty="0"/>
              <a:t> combines the precursors to form ACh!</a:t>
            </a:r>
          </a:p>
          <a:p>
            <a:endParaRPr lang="en-US" sz="2400" dirty="0"/>
          </a:p>
          <a:p>
            <a:r>
              <a:rPr lang="en-US" sz="2400" dirty="0"/>
              <a:t>VAchT loads 10,000 ACh molecules into each vesicle!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EA8F-4A2B-25EC-B6A9-7F6C838B6D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755"/>
          <a:stretch>
            <a:fillRect/>
          </a:stretch>
        </p:blipFill>
        <p:spPr>
          <a:xfrm>
            <a:off x="6001610" y="2017713"/>
            <a:ext cx="6190390" cy="48402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22CF-85A5-2E92-05F3-357FEC1D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5531F0D7-E12F-D5F5-1063-56314D0039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ACh Inactivation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68320974-DD37-180C-CC62-450AFDFF0F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2017712"/>
            <a:ext cx="10591800" cy="4840287"/>
          </a:xfrm>
        </p:spPr>
        <p:txBody>
          <a:bodyPr/>
          <a:lstStyle/>
          <a:p>
            <a:r>
              <a:rPr lang="en-US" sz="2400" dirty="0"/>
              <a:t>Primarily accomplished through the activity of acetylcholinesterase (</a:t>
            </a:r>
            <a:r>
              <a:rPr lang="en-US" sz="2400" dirty="0" err="1"/>
              <a:t>AChE</a:t>
            </a:r>
            <a:r>
              <a:rPr lang="en-US" sz="2400" dirty="0"/>
              <a:t>)</a:t>
            </a:r>
          </a:p>
          <a:p>
            <a:pPr lvl="1"/>
            <a:r>
              <a:rPr lang="en-US" sz="2400" dirty="0"/>
              <a:t>Breaks down Ach into Acetate and Choline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7479F-1544-02CA-4FE6-81042DAB45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b="16704"/>
          <a:stretch>
            <a:fillRect/>
          </a:stretch>
        </p:blipFill>
        <p:spPr>
          <a:xfrm>
            <a:off x="1771650" y="3120521"/>
            <a:ext cx="8648700" cy="373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02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Clinical Applications: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</a:rPr>
              <a:t>AChE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is a target of nerve agents and dementia meds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224734D5-060B-40B9-8DF7-91BAF6BAB4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1841473"/>
              </p:ext>
            </p:extLst>
          </p:nvPr>
        </p:nvGraphicFramePr>
        <p:xfrm>
          <a:off x="486834" y="2514600"/>
          <a:ext cx="11218332" cy="301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534584" y="214314"/>
            <a:ext cx="10241280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Nicotinic ACh receptors (</a:t>
            </a:r>
            <a:r>
              <a:rPr lang="en-US" dirty="0" err="1">
                <a:solidFill>
                  <a:schemeClr val="tx1"/>
                </a:solidFill>
              </a:rPr>
              <a:t>nAChR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8E4EF8C-92CE-4EF0-A979-7DF2410A82B6}"/>
              </a:ext>
            </a:extLst>
          </p:cNvPr>
          <p:cNvSpPr/>
          <p:nvPr/>
        </p:nvSpPr>
        <p:spPr>
          <a:xfrm>
            <a:off x="457199" y="1981200"/>
            <a:ext cx="5617723" cy="4495800"/>
          </a:xfrm>
          <a:custGeom>
            <a:avLst/>
            <a:gdLst>
              <a:gd name="connsiteX0" fmla="*/ 0 w 5303520"/>
              <a:gd name="connsiteY0" fmla="*/ 0 h 2421899"/>
              <a:gd name="connsiteX1" fmla="*/ 5303520 w 5303520"/>
              <a:gd name="connsiteY1" fmla="*/ 0 h 2421899"/>
              <a:gd name="connsiteX2" fmla="*/ 5303520 w 5303520"/>
              <a:gd name="connsiteY2" fmla="*/ 2421899 h 2421899"/>
              <a:gd name="connsiteX3" fmla="*/ 0 w 5303520"/>
              <a:gd name="connsiteY3" fmla="*/ 2421899 h 2421899"/>
              <a:gd name="connsiteX4" fmla="*/ 0 w 5303520"/>
              <a:gd name="connsiteY4" fmla="*/ 0 h 242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3520" h="2421899">
                <a:moveTo>
                  <a:pt x="0" y="0"/>
                </a:moveTo>
                <a:lnTo>
                  <a:pt x="5303520" y="0"/>
                </a:lnTo>
                <a:lnTo>
                  <a:pt x="5303520" y="2421899"/>
                </a:lnTo>
                <a:lnTo>
                  <a:pt x="0" y="242189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68387" tIns="66040" rIns="369824" bIns="66040" numCol="1" spcCol="1270" anchor="t" anchorCtr="0">
            <a:noAutofit/>
          </a:bodyPr>
          <a:lstStyle/>
          <a:p>
            <a:pPr lvl="1" indent="-457200" defTabSz="1822450">
              <a:lnSpc>
                <a:spcPct val="114000"/>
              </a:lnSpc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nACh receptors are ionotropic</a:t>
            </a:r>
          </a:p>
          <a:p>
            <a:pPr lvl="2" indent="-457200" defTabSz="1822450">
              <a:lnSpc>
                <a:spcPct val="114000"/>
              </a:lnSpc>
              <a:spcAft>
                <a:spcPct val="20000"/>
              </a:spcAft>
              <a:buFont typeface="Arial" panose="020B0604020202020204" pitchFamily="34" charset="0"/>
              <a:buChar char="•"/>
            </a:pPr>
            <a:r>
              <a:rPr lang="en-US" sz="2800" kern="1200" dirty="0"/>
              <a:t>ACh binding opens a pore that allows both Na</a:t>
            </a:r>
            <a:r>
              <a:rPr lang="en-US" sz="2800" kern="1200" baseline="30000" dirty="0"/>
              <a:t>+</a:t>
            </a:r>
            <a:r>
              <a:rPr lang="en-US" sz="2800" kern="1200" dirty="0"/>
              <a:t> and K</a:t>
            </a:r>
            <a:r>
              <a:rPr lang="en-US" sz="2800" kern="1200" baseline="30000" dirty="0"/>
              <a:t>+ </a:t>
            </a:r>
            <a:r>
              <a:rPr lang="en-US" sz="2800" kern="1200" dirty="0"/>
              <a:t>to pass through the cell membrane resulting in EPSP</a:t>
            </a:r>
          </a:p>
          <a:p>
            <a:pPr marL="457200" lvl="2" defTabSz="1822450">
              <a:lnSpc>
                <a:spcPct val="114000"/>
              </a:lnSpc>
              <a:spcAft>
                <a:spcPct val="20000"/>
              </a:spcAft>
            </a:pPr>
            <a:endParaRPr lang="en-US" sz="2800" kern="1200" dirty="0"/>
          </a:p>
        </p:txBody>
      </p:sp>
      <p:pic>
        <p:nvPicPr>
          <p:cNvPr id="4" name="Picture 3" descr="Neurscience5e-Fig-0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" t="9908" r="1363" b="23560"/>
          <a:stretch/>
        </p:blipFill>
        <p:spPr bwMode="auto">
          <a:xfrm>
            <a:off x="6074923" y="1981200"/>
            <a:ext cx="5499372" cy="4876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12DB9-29CB-4026-BC76-5F9EB3F1C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and function of nACh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42A1F-03A0-4127-8535-4B668D0D8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785" y="2251075"/>
            <a:ext cx="5374215" cy="429768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Always 5 Subunits</a:t>
            </a:r>
          </a:p>
          <a:p>
            <a:pPr lvl="1"/>
            <a:r>
              <a:rPr lang="en-US" sz="2800" dirty="0"/>
              <a:t>Subunits arranged around a pore</a:t>
            </a:r>
          </a:p>
          <a:p>
            <a:pPr lvl="1"/>
            <a:r>
              <a:rPr lang="en-US" sz="2800" dirty="0"/>
              <a:t>2 or more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dirty="0"/>
              <a:t> subunits</a:t>
            </a:r>
          </a:p>
          <a:p>
            <a:pPr lvl="1"/>
            <a:r>
              <a:rPr lang="en-US" sz="2800" dirty="0"/>
              <a:t>NMJ: 2α:1β:1δ:1γ/ε</a:t>
            </a:r>
          </a:p>
          <a:p>
            <a:pPr lvl="1"/>
            <a:r>
              <a:rPr lang="en-US" sz="2800" dirty="0"/>
              <a:t>ANS: </a:t>
            </a:r>
            <a:r>
              <a:rPr lang="el-GR" sz="2800" dirty="0"/>
              <a:t>3α:2β</a:t>
            </a:r>
            <a:endParaRPr lang="en-US" sz="2800" dirty="0"/>
          </a:p>
          <a:p>
            <a:pPr lvl="1"/>
            <a:r>
              <a:rPr lang="en-US" sz="2800" dirty="0"/>
              <a:t>2 ACh molecules bind 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800" dirty="0"/>
              <a:t> subunit to open the ion channel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ECF1B-CDD3-65DC-B3D4-507D6A0C2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1" y="1966357"/>
            <a:ext cx="4917014" cy="483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4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B8BD1-FEB3-305F-592E-6B8BBA339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>
            <a:extLst>
              <a:ext uri="{FF2B5EF4-FFF2-40B4-BE49-F238E27FC236}">
                <a16:creationId xmlns:a16="http://schemas.microsoft.com/office/drawing/2014/main" id="{E67CFD23-3157-93BE-8E6F-CD393D931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Muscarinic Ach Receptors (</a:t>
            </a:r>
            <a:r>
              <a:rPr lang="en-US" dirty="0" err="1">
                <a:solidFill>
                  <a:schemeClr val="tx1"/>
                </a:solidFill>
              </a:rPr>
              <a:t>mAChRs</a:t>
            </a:r>
            <a:r>
              <a:rPr lang="en-US" dirty="0">
                <a:solidFill>
                  <a:schemeClr val="tx1"/>
                </a:solidFill>
              </a:rPr>
              <a:t>) </a:t>
            </a:r>
          </a:p>
        </p:txBody>
      </p:sp>
      <p:sp>
        <p:nvSpPr>
          <p:cNvPr id="443397" name="Rectangle 5">
            <a:extLst>
              <a:ext uri="{FF2B5EF4-FFF2-40B4-BE49-F238E27FC236}">
                <a16:creationId xmlns:a16="http://schemas.microsoft.com/office/drawing/2014/main" id="{08660C2A-A0A3-07F7-4D94-1584682ADE36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990600" y="2036761"/>
            <a:ext cx="10591800" cy="4606925"/>
          </a:xfrm>
        </p:spPr>
        <p:txBody>
          <a:bodyPr/>
          <a:lstStyle/>
          <a:p>
            <a:r>
              <a:rPr lang="en-US" sz="2400" dirty="0"/>
              <a:t>Metabotropic</a:t>
            </a:r>
          </a:p>
          <a:p>
            <a:r>
              <a:rPr lang="en-US" sz="2400" dirty="0"/>
              <a:t>coded by 5 genes that result in 5 different receptors (M1 - M5)</a:t>
            </a:r>
          </a:p>
          <a:p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D68A27-F3C7-0B42-6F2A-CE276C241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270" y="3220823"/>
            <a:ext cx="7731460" cy="363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3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Clinical Applications: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Drugs that target </a:t>
            </a:r>
            <a:r>
              <a:rPr lang="en-US" dirty="0" err="1">
                <a:solidFill>
                  <a:schemeClr val="tx1"/>
                </a:solidFill>
              </a:rPr>
              <a:t>mAChRs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0215" name="Rectangle 7"/>
          <p:cNvSpPr>
            <a:spLocks noGrp="1" noChangeArrowheads="1"/>
          </p:cNvSpPr>
          <p:nvPr>
            <p:ph type="body" idx="4294967295"/>
          </p:nvPr>
        </p:nvSpPr>
        <p:spPr>
          <a:xfrm>
            <a:off x="974725" y="2251075"/>
            <a:ext cx="6340475" cy="4606925"/>
          </a:xfrm>
        </p:spPr>
        <p:txBody>
          <a:bodyPr/>
          <a:lstStyle/>
          <a:p>
            <a:pPr lvl="1"/>
            <a:r>
              <a:rPr lang="en-US" sz="2800" dirty="0"/>
              <a:t>Agonist</a:t>
            </a:r>
          </a:p>
          <a:p>
            <a:pPr lvl="2"/>
            <a:r>
              <a:rPr lang="en-US" sz="2800" dirty="0"/>
              <a:t>Muscarine: sympathetic activation</a:t>
            </a:r>
          </a:p>
          <a:p>
            <a:pPr marL="914400" lvl="2" indent="0">
              <a:buNone/>
            </a:pPr>
            <a:endParaRPr lang="en-US" sz="2800" dirty="0"/>
          </a:p>
          <a:p>
            <a:pPr lvl="1"/>
            <a:r>
              <a:rPr lang="en-US" sz="2800" dirty="0"/>
              <a:t>Antagonists</a:t>
            </a:r>
          </a:p>
          <a:p>
            <a:pPr lvl="2"/>
            <a:r>
              <a:rPr lang="en-US" sz="2800" dirty="0"/>
              <a:t>Atropine: pupil dilation</a:t>
            </a:r>
          </a:p>
          <a:p>
            <a:pPr lvl="2"/>
            <a:r>
              <a:rPr lang="en-US" sz="2800" dirty="0" err="1"/>
              <a:t>Scopolomine</a:t>
            </a:r>
            <a:r>
              <a:rPr lang="en-US" sz="2800" dirty="0"/>
              <a:t>: motion sickness</a:t>
            </a:r>
          </a:p>
          <a:p>
            <a:pPr lvl="2"/>
            <a:r>
              <a:rPr lang="en-US" sz="2800" dirty="0"/>
              <a:t>Ipratropium: asthma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E92ED3-C1FE-B026-1B12-3559DCBA8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96" y="2251074"/>
            <a:ext cx="5330513" cy="28543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74147C-FBB4-97CA-D6F1-45C4EB13F7CF}"/>
              </a:ext>
            </a:extLst>
          </p:cNvPr>
          <p:cNvSpPr txBox="1"/>
          <p:nvPr/>
        </p:nvSpPr>
        <p:spPr>
          <a:xfrm>
            <a:off x="8914397" y="5996226"/>
            <a:ext cx="327760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https://encrypted-tbn0.gstatic.com/images?q=tbn:ANd9GcSMwL7BJ710hfufn7QdGkBPUyMfNX70xa20ptKWx5HzpiIo1YlD2sCtxjmQgGLTOHvkKZUtvoiH3Oo9YqCm5PhNksuP_INn1QxtsOZyc5vO1w</a:t>
            </a:r>
          </a:p>
        </p:txBody>
      </p:sp>
    </p:spTree>
    <p:extLst>
      <p:ext uri="{BB962C8B-B14F-4D97-AF65-F5344CB8AC3E}">
        <p14:creationId xmlns:p14="http://schemas.microsoft.com/office/powerpoint/2010/main" val="379901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D6EC-B5A2-D9C1-7F17-27AC418BE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FBF8545-C3AD-CB8F-6BA9-B6556AAA255D}"/>
              </a:ext>
            </a:extLst>
          </p:cNvPr>
          <p:cNvSpPr txBox="1">
            <a:spLocks/>
          </p:cNvSpPr>
          <p:nvPr/>
        </p:nvSpPr>
        <p:spPr>
          <a:xfrm>
            <a:off x="914400" y="-1"/>
            <a:ext cx="10363200" cy="914401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kern="0" dirty="0">
                <a:solidFill>
                  <a:schemeClr val="tx1"/>
                </a:solidFill>
              </a:rPr>
              <a:t>Glutamate (Glu)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7D39F-3960-5081-2A0F-2582AE256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900" y="982579"/>
            <a:ext cx="60822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668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E91C-4AD1-8086-7BFC-40E3E886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07A80A84-66D8-AED2-8851-C64CD7DCBC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Glu Location and Synthesis</a:t>
            </a:r>
          </a:p>
        </p:txBody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59A569E5-1A39-39D2-25D8-A61D2994F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1785" y="2251075"/>
            <a:ext cx="5853097" cy="4297680"/>
          </a:xfrm>
        </p:spPr>
        <p:txBody>
          <a:bodyPr/>
          <a:lstStyle/>
          <a:p>
            <a:r>
              <a:rPr lang="en-US" sz="2400" dirty="0"/>
              <a:t>Located pretty much anywhere there are excitatory neurons</a:t>
            </a:r>
          </a:p>
          <a:p>
            <a:r>
              <a:rPr lang="en-US" sz="2400" dirty="0"/>
              <a:t>Synthesized in axon terminals</a:t>
            </a:r>
          </a:p>
          <a:p>
            <a:r>
              <a:rPr lang="en-US" sz="2400" dirty="0"/>
              <a:t>Precursor:</a:t>
            </a:r>
          </a:p>
          <a:p>
            <a:pPr lvl="1"/>
            <a:r>
              <a:rPr lang="en-US" sz="2400" dirty="0"/>
              <a:t>Glutamine</a:t>
            </a:r>
          </a:p>
          <a:p>
            <a:pPr lvl="1"/>
            <a:r>
              <a:rPr lang="en-US" sz="2400" dirty="0"/>
              <a:t>Metabolized into glutamate by Glutaminase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VGLUTs load glutamate into vesicles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67DAE8-2C9E-D1A2-F775-ADA70D86E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224" b="33127"/>
          <a:stretch>
            <a:fillRect/>
          </a:stretch>
        </p:blipFill>
        <p:spPr>
          <a:xfrm>
            <a:off x="6574882" y="1905000"/>
            <a:ext cx="489533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3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18D9-E3C3-D7E0-C7CD-19EB60F9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E09D0FF2-1C42-2E80-88D4-A2DA93E006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Glu Inactivation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6D864080-8690-655F-2607-2A304B0176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2017712"/>
            <a:ext cx="5914288" cy="4840287"/>
          </a:xfrm>
        </p:spPr>
        <p:txBody>
          <a:bodyPr/>
          <a:lstStyle/>
          <a:p>
            <a:r>
              <a:rPr lang="en-US" sz="2400" dirty="0"/>
              <a:t>Primarily accomplished through the activity of excitatory amino acid transporters (EATTs)</a:t>
            </a:r>
          </a:p>
          <a:p>
            <a:pPr lvl="1"/>
            <a:r>
              <a:rPr lang="en-US" sz="2400" dirty="0"/>
              <a:t>Reuptake to a glial cell or the presynaptic nerve terminal</a:t>
            </a:r>
          </a:p>
          <a:p>
            <a:pPr lvl="1"/>
            <a:r>
              <a:rPr lang="en-US" sz="2400" dirty="0"/>
              <a:t>Once inside the cell, Glu is turned back into Glutamine by Glutamine synthetase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EF3FC6-A044-0880-0A5A-B689A8C6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961" b="22744"/>
          <a:stretch>
            <a:fillRect/>
          </a:stretch>
        </p:blipFill>
        <p:spPr>
          <a:xfrm>
            <a:off x="6904888" y="1905000"/>
            <a:ext cx="465344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86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46F1-F902-E83F-CF5E-0988B7A4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1EA3FCB6-812F-A009-9B15-597BF3EA82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Ionotropic Glu Receptors (</a:t>
            </a:r>
            <a:r>
              <a:rPr lang="en-US" dirty="0" err="1">
                <a:solidFill>
                  <a:schemeClr val="tx1"/>
                </a:solidFill>
              </a:rPr>
              <a:t>iGlus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44068" name="Rectangle 4">
            <a:extLst>
              <a:ext uri="{FF2B5EF4-FFF2-40B4-BE49-F238E27FC236}">
                <a16:creationId xmlns:a16="http://schemas.microsoft.com/office/drawing/2014/main" id="{FF239A19-839E-5940-004E-AF5206B4D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2017712"/>
            <a:ext cx="4648200" cy="4840287"/>
          </a:xfrm>
        </p:spPr>
        <p:txBody>
          <a:bodyPr/>
          <a:lstStyle/>
          <a:p>
            <a:r>
              <a:rPr lang="en-US" sz="2400" dirty="0"/>
              <a:t>3 types:</a:t>
            </a:r>
          </a:p>
          <a:p>
            <a:pPr lvl="1"/>
            <a:r>
              <a:rPr lang="en-US" sz="2400" dirty="0"/>
              <a:t>AMPA</a:t>
            </a:r>
          </a:p>
          <a:p>
            <a:pPr lvl="1"/>
            <a:r>
              <a:rPr lang="en-US" sz="2400" dirty="0" err="1"/>
              <a:t>Kainate</a:t>
            </a:r>
            <a:endParaRPr lang="en-US" sz="2400" dirty="0"/>
          </a:p>
          <a:p>
            <a:pPr lvl="1"/>
            <a:r>
              <a:rPr lang="en-US" sz="2400" dirty="0"/>
              <a:t>NMDA</a:t>
            </a:r>
          </a:p>
          <a:p>
            <a:r>
              <a:rPr lang="en-US" sz="2400" kern="1200" dirty="0"/>
              <a:t>Glu binding opens a pore that allows both Na</a:t>
            </a:r>
            <a:r>
              <a:rPr lang="en-US" sz="2400" kern="1200" baseline="30000" dirty="0"/>
              <a:t>+</a:t>
            </a:r>
            <a:r>
              <a:rPr lang="en-US" sz="2400" kern="1200" dirty="0"/>
              <a:t> and K</a:t>
            </a:r>
            <a:r>
              <a:rPr lang="en-US" sz="2400" kern="1200" baseline="30000" dirty="0"/>
              <a:t>+ </a:t>
            </a:r>
            <a:r>
              <a:rPr lang="en-US" sz="2400" kern="1200" dirty="0"/>
              <a:t>to pass through the cell membrane resulting in EPSP</a:t>
            </a:r>
          </a:p>
          <a:p>
            <a:r>
              <a:rPr lang="en-US" sz="2400" kern="1200" dirty="0"/>
              <a:t>4 subunits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9B504-1474-5325-0269-D0EB6AF94C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186" b="51111"/>
          <a:stretch>
            <a:fillRect/>
          </a:stretch>
        </p:blipFill>
        <p:spPr>
          <a:xfrm>
            <a:off x="5634788" y="2017712"/>
            <a:ext cx="6557211" cy="37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8382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!!Title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NMDA receptors are both ligand- and voltage-gated channels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9814586A-34EC-44E4-B5F6-3BDB2E6273DC}"/>
              </a:ext>
            </a:extLst>
          </p:cNvPr>
          <p:cNvSpPr/>
          <p:nvPr/>
        </p:nvSpPr>
        <p:spPr>
          <a:xfrm>
            <a:off x="729138" y="2352743"/>
            <a:ext cx="5310414" cy="822960"/>
          </a:xfrm>
          <a:custGeom>
            <a:avLst/>
            <a:gdLst>
              <a:gd name="connsiteX0" fmla="*/ 0 w 5310414"/>
              <a:gd name="connsiteY0" fmla="*/ 82296 h 822960"/>
              <a:gd name="connsiteX1" fmla="*/ 82296 w 5310414"/>
              <a:gd name="connsiteY1" fmla="*/ 0 h 822960"/>
              <a:gd name="connsiteX2" fmla="*/ 5228118 w 5310414"/>
              <a:gd name="connsiteY2" fmla="*/ 0 h 822960"/>
              <a:gd name="connsiteX3" fmla="*/ 5310414 w 5310414"/>
              <a:gd name="connsiteY3" fmla="*/ 82296 h 822960"/>
              <a:gd name="connsiteX4" fmla="*/ 5310414 w 5310414"/>
              <a:gd name="connsiteY4" fmla="*/ 740664 h 822960"/>
              <a:gd name="connsiteX5" fmla="*/ 5228118 w 5310414"/>
              <a:gd name="connsiteY5" fmla="*/ 822960 h 822960"/>
              <a:gd name="connsiteX6" fmla="*/ 82296 w 5310414"/>
              <a:gd name="connsiteY6" fmla="*/ 822960 h 822960"/>
              <a:gd name="connsiteX7" fmla="*/ 0 w 5310414"/>
              <a:gd name="connsiteY7" fmla="*/ 740664 h 822960"/>
              <a:gd name="connsiteX8" fmla="*/ 0 w 5310414"/>
              <a:gd name="connsiteY8" fmla="*/ 82296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10414" h="822960">
                <a:moveTo>
                  <a:pt x="0" y="82296"/>
                </a:moveTo>
                <a:cubicBezTo>
                  <a:pt x="0" y="36845"/>
                  <a:pt x="36845" y="0"/>
                  <a:pt x="82296" y="0"/>
                </a:cubicBezTo>
                <a:lnTo>
                  <a:pt x="5228118" y="0"/>
                </a:lnTo>
                <a:cubicBezTo>
                  <a:pt x="5273569" y="0"/>
                  <a:pt x="5310414" y="36845"/>
                  <a:pt x="5310414" y="82296"/>
                </a:cubicBezTo>
                <a:lnTo>
                  <a:pt x="5310414" y="740664"/>
                </a:lnTo>
                <a:cubicBezTo>
                  <a:pt x="5310414" y="786115"/>
                  <a:pt x="5273569" y="822960"/>
                  <a:pt x="5228118" y="822960"/>
                </a:cubicBezTo>
                <a:lnTo>
                  <a:pt x="82296" y="822960"/>
                </a:lnTo>
                <a:cubicBezTo>
                  <a:pt x="36845" y="822960"/>
                  <a:pt x="0" y="786115"/>
                  <a:pt x="0" y="740664"/>
                </a:cubicBezTo>
                <a:lnTo>
                  <a:pt x="0" y="82296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2684" tIns="69824" rIns="92684" bIns="69824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Ligand-gated ion channel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FAE3150-97D8-4673-BCDE-73C2BEA9AA7E}"/>
              </a:ext>
            </a:extLst>
          </p:cNvPr>
          <p:cNvSpPr/>
          <p:nvPr/>
        </p:nvSpPr>
        <p:spPr>
          <a:xfrm>
            <a:off x="1260179" y="3175703"/>
            <a:ext cx="531041" cy="122405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1224052"/>
                </a:lnTo>
                <a:lnTo>
                  <a:pt x="531041" y="1224052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E4ABD1-DD4F-4A7A-8D53-8D18D6540EDF}"/>
              </a:ext>
            </a:extLst>
          </p:cNvPr>
          <p:cNvSpPr/>
          <p:nvPr/>
        </p:nvSpPr>
        <p:spPr>
          <a:xfrm>
            <a:off x="1791221" y="3439635"/>
            <a:ext cx="4761060" cy="1920241"/>
          </a:xfrm>
          <a:custGeom>
            <a:avLst/>
            <a:gdLst>
              <a:gd name="connsiteX0" fmla="*/ 0 w 4761060"/>
              <a:gd name="connsiteY0" fmla="*/ 192024 h 1920241"/>
              <a:gd name="connsiteX1" fmla="*/ 192024 w 4761060"/>
              <a:gd name="connsiteY1" fmla="*/ 0 h 1920241"/>
              <a:gd name="connsiteX2" fmla="*/ 4569036 w 4761060"/>
              <a:gd name="connsiteY2" fmla="*/ 0 h 1920241"/>
              <a:gd name="connsiteX3" fmla="*/ 4761060 w 4761060"/>
              <a:gd name="connsiteY3" fmla="*/ 192024 h 1920241"/>
              <a:gd name="connsiteX4" fmla="*/ 4761060 w 4761060"/>
              <a:gd name="connsiteY4" fmla="*/ 1728217 h 1920241"/>
              <a:gd name="connsiteX5" fmla="*/ 4569036 w 4761060"/>
              <a:gd name="connsiteY5" fmla="*/ 1920241 h 1920241"/>
              <a:gd name="connsiteX6" fmla="*/ 192024 w 4761060"/>
              <a:gd name="connsiteY6" fmla="*/ 1920241 h 1920241"/>
              <a:gd name="connsiteX7" fmla="*/ 0 w 4761060"/>
              <a:gd name="connsiteY7" fmla="*/ 1728217 h 1920241"/>
              <a:gd name="connsiteX8" fmla="*/ 0 w 4761060"/>
              <a:gd name="connsiteY8" fmla="*/ 192024 h 192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1060" h="1920241">
                <a:moveTo>
                  <a:pt x="0" y="192024"/>
                </a:moveTo>
                <a:cubicBezTo>
                  <a:pt x="0" y="85972"/>
                  <a:pt x="85972" y="0"/>
                  <a:pt x="192024" y="0"/>
                </a:cubicBezTo>
                <a:lnTo>
                  <a:pt x="4569036" y="0"/>
                </a:lnTo>
                <a:cubicBezTo>
                  <a:pt x="4675088" y="0"/>
                  <a:pt x="4761060" y="85972"/>
                  <a:pt x="4761060" y="192024"/>
                </a:cubicBezTo>
                <a:lnTo>
                  <a:pt x="4761060" y="1728217"/>
                </a:lnTo>
                <a:cubicBezTo>
                  <a:pt x="4761060" y="1834269"/>
                  <a:pt x="4675088" y="1920241"/>
                  <a:pt x="4569036" y="1920241"/>
                </a:cubicBezTo>
                <a:lnTo>
                  <a:pt x="192024" y="1920241"/>
                </a:lnTo>
                <a:cubicBezTo>
                  <a:pt x="85972" y="1920241"/>
                  <a:pt x="0" y="1834269"/>
                  <a:pt x="0" y="1728217"/>
                </a:cubicBezTo>
                <a:lnTo>
                  <a:pt x="0" y="192024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02" tIns="96882" rIns="117202" bIns="96882" numCol="1" spcCol="1270" anchor="t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glycine is a co-agonist</a:t>
            </a:r>
          </a:p>
          <a:p>
            <a:pPr marL="285750" lvl="1" indent="-285750" algn="l" defTabSz="1422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3200" kern="1200" dirty="0"/>
              <a:t>both </a:t>
            </a:r>
            <a:r>
              <a:rPr lang="en-US" sz="3200" kern="1200" dirty="0" err="1"/>
              <a:t>glu</a:t>
            </a:r>
            <a:r>
              <a:rPr lang="en-US" sz="3200" kern="1200" dirty="0"/>
              <a:t> AND </a:t>
            </a:r>
            <a:r>
              <a:rPr lang="en-US" sz="3200" kern="1200" dirty="0" err="1"/>
              <a:t>gly</a:t>
            </a:r>
            <a:r>
              <a:rPr lang="en-US" sz="3200" kern="1200" dirty="0"/>
              <a:t> </a:t>
            </a:r>
            <a:r>
              <a:rPr lang="en-US" sz="3200" i="1" u="sng" kern="1200" dirty="0"/>
              <a:t>required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4AA4D42-5237-4FEA-A78F-A36FB738A3CB}"/>
              </a:ext>
            </a:extLst>
          </p:cNvPr>
          <p:cNvSpPr/>
          <p:nvPr/>
        </p:nvSpPr>
        <p:spPr>
          <a:xfrm>
            <a:off x="1260179" y="3175703"/>
            <a:ext cx="531041" cy="285958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859585"/>
                </a:lnTo>
                <a:lnTo>
                  <a:pt x="531041" y="2859585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!!Ca2+">
            <a:extLst>
              <a:ext uri="{FF2B5EF4-FFF2-40B4-BE49-F238E27FC236}">
                <a16:creationId xmlns:a16="http://schemas.microsoft.com/office/drawing/2014/main" id="{E96BE952-A7ED-4B75-BDE9-52A945E4B120}"/>
              </a:ext>
            </a:extLst>
          </p:cNvPr>
          <p:cNvSpPr/>
          <p:nvPr/>
        </p:nvSpPr>
        <p:spPr>
          <a:xfrm>
            <a:off x="1791221" y="5623809"/>
            <a:ext cx="4761060" cy="822960"/>
          </a:xfrm>
          <a:custGeom>
            <a:avLst/>
            <a:gdLst>
              <a:gd name="connsiteX0" fmla="*/ 0 w 4761060"/>
              <a:gd name="connsiteY0" fmla="*/ 82296 h 822960"/>
              <a:gd name="connsiteX1" fmla="*/ 82296 w 4761060"/>
              <a:gd name="connsiteY1" fmla="*/ 0 h 822960"/>
              <a:gd name="connsiteX2" fmla="*/ 4678764 w 4761060"/>
              <a:gd name="connsiteY2" fmla="*/ 0 h 822960"/>
              <a:gd name="connsiteX3" fmla="*/ 4761060 w 4761060"/>
              <a:gd name="connsiteY3" fmla="*/ 82296 h 822960"/>
              <a:gd name="connsiteX4" fmla="*/ 4761060 w 4761060"/>
              <a:gd name="connsiteY4" fmla="*/ 740664 h 822960"/>
              <a:gd name="connsiteX5" fmla="*/ 4678764 w 4761060"/>
              <a:gd name="connsiteY5" fmla="*/ 822960 h 822960"/>
              <a:gd name="connsiteX6" fmla="*/ 82296 w 4761060"/>
              <a:gd name="connsiteY6" fmla="*/ 822960 h 822960"/>
              <a:gd name="connsiteX7" fmla="*/ 0 w 4761060"/>
              <a:gd name="connsiteY7" fmla="*/ 740664 h 822960"/>
              <a:gd name="connsiteX8" fmla="*/ 0 w 4761060"/>
              <a:gd name="connsiteY8" fmla="*/ 82296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61060" h="822960">
                <a:moveTo>
                  <a:pt x="0" y="82296"/>
                </a:moveTo>
                <a:cubicBezTo>
                  <a:pt x="0" y="36845"/>
                  <a:pt x="36845" y="0"/>
                  <a:pt x="82296" y="0"/>
                </a:cubicBezTo>
                <a:lnTo>
                  <a:pt x="4678764" y="0"/>
                </a:lnTo>
                <a:cubicBezTo>
                  <a:pt x="4724215" y="0"/>
                  <a:pt x="4761060" y="36845"/>
                  <a:pt x="4761060" y="82296"/>
                </a:cubicBezTo>
                <a:lnTo>
                  <a:pt x="4761060" y="740664"/>
                </a:lnTo>
                <a:cubicBezTo>
                  <a:pt x="4761060" y="786115"/>
                  <a:pt x="4724215" y="822960"/>
                  <a:pt x="4678764" y="822960"/>
                </a:cubicBezTo>
                <a:lnTo>
                  <a:pt x="82296" y="822960"/>
                </a:lnTo>
                <a:cubicBezTo>
                  <a:pt x="36845" y="822960"/>
                  <a:pt x="0" y="786115"/>
                  <a:pt x="0" y="740664"/>
                </a:cubicBezTo>
                <a:lnTo>
                  <a:pt x="0" y="82296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064" tIns="64744" rIns="85064" bIns="64744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high permeability to Ca</a:t>
            </a:r>
            <a:r>
              <a:rPr lang="en-US" sz="3200" kern="1200" baseline="30000" dirty="0"/>
              <a:t>2+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D546C3-2D99-45CA-AD10-046EE3BB30C9}"/>
              </a:ext>
            </a:extLst>
          </p:cNvPr>
          <p:cNvSpPr/>
          <p:nvPr/>
        </p:nvSpPr>
        <p:spPr>
          <a:xfrm>
            <a:off x="6400800" y="2352743"/>
            <a:ext cx="5643646" cy="822960"/>
          </a:xfrm>
          <a:custGeom>
            <a:avLst/>
            <a:gdLst>
              <a:gd name="connsiteX0" fmla="*/ 0 w 5310414"/>
              <a:gd name="connsiteY0" fmla="*/ 82296 h 822960"/>
              <a:gd name="connsiteX1" fmla="*/ 82296 w 5310414"/>
              <a:gd name="connsiteY1" fmla="*/ 0 h 822960"/>
              <a:gd name="connsiteX2" fmla="*/ 5228118 w 5310414"/>
              <a:gd name="connsiteY2" fmla="*/ 0 h 822960"/>
              <a:gd name="connsiteX3" fmla="*/ 5310414 w 5310414"/>
              <a:gd name="connsiteY3" fmla="*/ 82296 h 822960"/>
              <a:gd name="connsiteX4" fmla="*/ 5310414 w 5310414"/>
              <a:gd name="connsiteY4" fmla="*/ 740664 h 822960"/>
              <a:gd name="connsiteX5" fmla="*/ 5228118 w 5310414"/>
              <a:gd name="connsiteY5" fmla="*/ 822960 h 822960"/>
              <a:gd name="connsiteX6" fmla="*/ 82296 w 5310414"/>
              <a:gd name="connsiteY6" fmla="*/ 822960 h 822960"/>
              <a:gd name="connsiteX7" fmla="*/ 0 w 5310414"/>
              <a:gd name="connsiteY7" fmla="*/ 740664 h 822960"/>
              <a:gd name="connsiteX8" fmla="*/ 0 w 5310414"/>
              <a:gd name="connsiteY8" fmla="*/ 82296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10414" h="822960">
                <a:moveTo>
                  <a:pt x="0" y="82296"/>
                </a:moveTo>
                <a:cubicBezTo>
                  <a:pt x="0" y="36845"/>
                  <a:pt x="36845" y="0"/>
                  <a:pt x="82296" y="0"/>
                </a:cubicBezTo>
                <a:lnTo>
                  <a:pt x="5228118" y="0"/>
                </a:lnTo>
                <a:cubicBezTo>
                  <a:pt x="5273569" y="0"/>
                  <a:pt x="5310414" y="36845"/>
                  <a:pt x="5310414" y="82296"/>
                </a:cubicBezTo>
                <a:lnTo>
                  <a:pt x="5310414" y="740664"/>
                </a:lnTo>
                <a:cubicBezTo>
                  <a:pt x="5310414" y="786115"/>
                  <a:pt x="5273569" y="822960"/>
                  <a:pt x="5228118" y="822960"/>
                </a:cubicBezTo>
                <a:lnTo>
                  <a:pt x="82296" y="822960"/>
                </a:lnTo>
                <a:cubicBezTo>
                  <a:pt x="36845" y="822960"/>
                  <a:pt x="0" y="786115"/>
                  <a:pt x="0" y="740664"/>
                </a:cubicBezTo>
                <a:lnTo>
                  <a:pt x="0" y="82296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prstMaterial="dkEdge">
            <a:bevelT w="8200" h="38100"/>
          </a:sp3d>
        </p:spPr>
        <p:style>
          <a:lnRef idx="0">
            <a:schemeClr val="accent1">
              <a:shade val="80000"/>
              <a:hueOff val="0"/>
              <a:satOff val="0"/>
              <a:lumOff val="0"/>
              <a:alphaOff val="0"/>
            </a:schemeClr>
          </a:lnRef>
          <a:fillRef idx="2">
            <a:schemeClr val="lt1">
              <a:hueOff val="0"/>
              <a:satOff val="0"/>
              <a:lumOff val="0"/>
              <a:alphaOff val="0"/>
            </a:schemeClr>
          </a:fillRef>
          <a:effectRef idx="1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2684" tIns="69824" rIns="92684" bIns="69824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/>
              <a:t>Voltage-activated channel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49C147F-1289-4606-9277-C8062F340338}"/>
              </a:ext>
            </a:extLst>
          </p:cNvPr>
          <p:cNvSpPr/>
          <p:nvPr/>
        </p:nvSpPr>
        <p:spPr>
          <a:xfrm>
            <a:off x="7098458" y="3175703"/>
            <a:ext cx="531041" cy="675412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675412"/>
                </a:lnTo>
                <a:lnTo>
                  <a:pt x="531041" y="675412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A8F99-C241-4B0B-BD34-8A39915DB9D9}"/>
              </a:ext>
            </a:extLst>
          </p:cNvPr>
          <p:cNvSpPr/>
          <p:nvPr/>
        </p:nvSpPr>
        <p:spPr>
          <a:xfrm>
            <a:off x="7629499" y="3439635"/>
            <a:ext cx="4303263" cy="822960"/>
          </a:xfrm>
          <a:custGeom>
            <a:avLst/>
            <a:gdLst>
              <a:gd name="connsiteX0" fmla="*/ 0 w 4303263"/>
              <a:gd name="connsiteY0" fmla="*/ 82296 h 822960"/>
              <a:gd name="connsiteX1" fmla="*/ 82296 w 4303263"/>
              <a:gd name="connsiteY1" fmla="*/ 0 h 822960"/>
              <a:gd name="connsiteX2" fmla="*/ 4220967 w 4303263"/>
              <a:gd name="connsiteY2" fmla="*/ 0 h 822960"/>
              <a:gd name="connsiteX3" fmla="*/ 4303263 w 4303263"/>
              <a:gd name="connsiteY3" fmla="*/ 82296 h 822960"/>
              <a:gd name="connsiteX4" fmla="*/ 4303263 w 4303263"/>
              <a:gd name="connsiteY4" fmla="*/ 740664 h 822960"/>
              <a:gd name="connsiteX5" fmla="*/ 4220967 w 4303263"/>
              <a:gd name="connsiteY5" fmla="*/ 822960 h 822960"/>
              <a:gd name="connsiteX6" fmla="*/ 82296 w 4303263"/>
              <a:gd name="connsiteY6" fmla="*/ 822960 h 822960"/>
              <a:gd name="connsiteX7" fmla="*/ 0 w 4303263"/>
              <a:gd name="connsiteY7" fmla="*/ 740664 h 822960"/>
              <a:gd name="connsiteX8" fmla="*/ 0 w 4303263"/>
              <a:gd name="connsiteY8" fmla="*/ 82296 h 82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3263" h="822960">
                <a:moveTo>
                  <a:pt x="0" y="82296"/>
                </a:moveTo>
                <a:cubicBezTo>
                  <a:pt x="0" y="36845"/>
                  <a:pt x="36845" y="0"/>
                  <a:pt x="82296" y="0"/>
                </a:cubicBezTo>
                <a:lnTo>
                  <a:pt x="4220967" y="0"/>
                </a:lnTo>
                <a:cubicBezTo>
                  <a:pt x="4266418" y="0"/>
                  <a:pt x="4303263" y="36845"/>
                  <a:pt x="4303263" y="82296"/>
                </a:cubicBezTo>
                <a:lnTo>
                  <a:pt x="4303263" y="740664"/>
                </a:lnTo>
                <a:cubicBezTo>
                  <a:pt x="4303263" y="786115"/>
                  <a:pt x="4266418" y="822960"/>
                  <a:pt x="4220967" y="822960"/>
                </a:cubicBezTo>
                <a:lnTo>
                  <a:pt x="82296" y="822960"/>
                </a:lnTo>
                <a:cubicBezTo>
                  <a:pt x="36845" y="822960"/>
                  <a:pt x="0" y="786115"/>
                  <a:pt x="0" y="740664"/>
                </a:cubicBezTo>
                <a:lnTo>
                  <a:pt x="0" y="82296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064" tIns="64744" rIns="85064" bIns="64744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turns on with voltage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86D95A1-761F-45CD-AD20-A38444FB562D}"/>
              </a:ext>
            </a:extLst>
          </p:cNvPr>
          <p:cNvSpPr/>
          <p:nvPr/>
        </p:nvSpPr>
        <p:spPr>
          <a:xfrm>
            <a:off x="7098458" y="3175703"/>
            <a:ext cx="531041" cy="2310945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2310945"/>
                </a:lnTo>
                <a:lnTo>
                  <a:pt x="531041" y="2310945"/>
                </a:lnTo>
              </a:path>
            </a:pathLst>
          </a:custGeom>
          <a:noFill/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!!Depol">
            <a:extLst>
              <a:ext uri="{FF2B5EF4-FFF2-40B4-BE49-F238E27FC236}">
                <a16:creationId xmlns:a16="http://schemas.microsoft.com/office/drawing/2014/main" id="{C41C1766-A136-4AEB-B029-7C2F14382099}"/>
              </a:ext>
            </a:extLst>
          </p:cNvPr>
          <p:cNvSpPr/>
          <p:nvPr/>
        </p:nvSpPr>
        <p:spPr>
          <a:xfrm>
            <a:off x="7629499" y="4526528"/>
            <a:ext cx="4303263" cy="1920241"/>
          </a:xfrm>
          <a:custGeom>
            <a:avLst/>
            <a:gdLst>
              <a:gd name="connsiteX0" fmla="*/ 0 w 4303263"/>
              <a:gd name="connsiteY0" fmla="*/ 192024 h 1920241"/>
              <a:gd name="connsiteX1" fmla="*/ 192024 w 4303263"/>
              <a:gd name="connsiteY1" fmla="*/ 0 h 1920241"/>
              <a:gd name="connsiteX2" fmla="*/ 4111239 w 4303263"/>
              <a:gd name="connsiteY2" fmla="*/ 0 h 1920241"/>
              <a:gd name="connsiteX3" fmla="*/ 4303263 w 4303263"/>
              <a:gd name="connsiteY3" fmla="*/ 192024 h 1920241"/>
              <a:gd name="connsiteX4" fmla="*/ 4303263 w 4303263"/>
              <a:gd name="connsiteY4" fmla="*/ 1728217 h 1920241"/>
              <a:gd name="connsiteX5" fmla="*/ 4111239 w 4303263"/>
              <a:gd name="connsiteY5" fmla="*/ 1920241 h 1920241"/>
              <a:gd name="connsiteX6" fmla="*/ 192024 w 4303263"/>
              <a:gd name="connsiteY6" fmla="*/ 1920241 h 1920241"/>
              <a:gd name="connsiteX7" fmla="*/ 0 w 4303263"/>
              <a:gd name="connsiteY7" fmla="*/ 1728217 h 1920241"/>
              <a:gd name="connsiteX8" fmla="*/ 0 w 4303263"/>
              <a:gd name="connsiteY8" fmla="*/ 192024 h 1920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03263" h="1920241">
                <a:moveTo>
                  <a:pt x="0" y="192024"/>
                </a:moveTo>
                <a:cubicBezTo>
                  <a:pt x="0" y="85972"/>
                  <a:pt x="85972" y="0"/>
                  <a:pt x="192024" y="0"/>
                </a:cubicBezTo>
                <a:lnTo>
                  <a:pt x="4111239" y="0"/>
                </a:lnTo>
                <a:cubicBezTo>
                  <a:pt x="4217291" y="0"/>
                  <a:pt x="4303263" y="85972"/>
                  <a:pt x="4303263" y="192024"/>
                </a:cubicBezTo>
                <a:lnTo>
                  <a:pt x="4303263" y="1728217"/>
                </a:lnTo>
                <a:cubicBezTo>
                  <a:pt x="4303263" y="1834269"/>
                  <a:pt x="4217291" y="1920241"/>
                  <a:pt x="4111239" y="1920241"/>
                </a:cubicBezTo>
                <a:lnTo>
                  <a:pt x="192024" y="1920241"/>
                </a:lnTo>
                <a:cubicBezTo>
                  <a:pt x="85972" y="1920241"/>
                  <a:pt x="0" y="1834269"/>
                  <a:pt x="0" y="1728217"/>
                </a:cubicBezTo>
                <a:lnTo>
                  <a:pt x="0" y="192024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7202" tIns="96882" rIns="117202" bIns="96882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depolarization-dependent removal of Mg</a:t>
            </a:r>
            <a:r>
              <a:rPr lang="en-US" sz="3200" kern="1200" baseline="30000" dirty="0"/>
              <a:t>2+</a:t>
            </a:r>
            <a:r>
              <a:rPr lang="en-US" sz="3200" kern="1200" dirty="0"/>
              <a:t> from the pore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/>
          <p:cNvSpPr>
            <a:spLocks noGrp="1"/>
          </p:cNvSpPr>
          <p:nvPr>
            <p:ph type="title"/>
          </p:nvPr>
        </p:nvSpPr>
        <p:spPr bwMode="auto">
          <a:xfrm>
            <a:off x="-685800" y="2209800"/>
            <a:ext cx="5715001" cy="5715000"/>
          </a:xfrm>
          <a:prstGeom prst="ellipse">
            <a:avLst/>
          </a:prstGeom>
          <a:gradFill flip="none" rotWithShape="1">
            <a:gsLst>
              <a:gs pos="27000">
                <a:schemeClr val="accent1">
                  <a:lumMod val="20000"/>
                  <a:lumOff val="80000"/>
                </a:schemeClr>
              </a:gs>
              <a:gs pos="83000">
                <a:schemeClr val="accent1"/>
              </a:gs>
            </a:gsLst>
            <a:lin ang="2700000" scaled="1"/>
            <a:tileRect/>
          </a:gradFill>
          <a:ln w="28575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 anchor="t">
            <a:normAutofit/>
          </a:bodyPr>
          <a:lstStyle/>
          <a:p>
            <a:r>
              <a:rPr lang="en-US" dirty="0"/>
              <a:t>NMDA receptors are both ligand- and voltage-gated channels</a:t>
            </a:r>
          </a:p>
        </p:txBody>
      </p:sp>
      <p:pic>
        <p:nvPicPr>
          <p:cNvPr id="9" name="Picture 2" descr="Rosenzweig 16">
            <a:extLst>
              <a:ext uri="{FF2B5EF4-FFF2-40B4-BE49-F238E27FC236}">
                <a16:creationId xmlns:a16="http://schemas.microsoft.com/office/drawing/2014/main" id="{658B3A30-BE6C-4A07-ADCE-04CCB7AF89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4" cstate="print"/>
          <a:srcRect l="53970" t="7747" r="5093" b="4733"/>
          <a:stretch/>
        </p:blipFill>
        <p:spPr bwMode="auto">
          <a:xfrm>
            <a:off x="6477000" y="0"/>
            <a:ext cx="5715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!!Depol">
            <a:extLst>
              <a:ext uri="{FF2B5EF4-FFF2-40B4-BE49-F238E27FC236}">
                <a16:creationId xmlns:a16="http://schemas.microsoft.com/office/drawing/2014/main" id="{868C25E5-53BE-47CE-9CFF-502CFA936BFB}"/>
              </a:ext>
            </a:extLst>
          </p:cNvPr>
          <p:cNvSpPr txBox="1"/>
          <p:nvPr/>
        </p:nvSpPr>
        <p:spPr>
          <a:xfrm>
            <a:off x="2438400" y="-381000"/>
            <a:ext cx="4038600" cy="3592175"/>
          </a:xfrm>
          <a:prstGeom prst="ellipse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 lvl="0" algn="ctr"/>
            <a:r>
              <a:rPr lang="en-US" sz="3200" dirty="0"/>
              <a:t>depolarization-dependent removal of Mg</a:t>
            </a:r>
            <a:r>
              <a:rPr lang="en-US" sz="3200" baseline="30000" dirty="0"/>
              <a:t>2+</a:t>
            </a:r>
            <a:r>
              <a:rPr lang="en-US" sz="3200" dirty="0"/>
              <a:t> from the pore</a:t>
            </a:r>
          </a:p>
        </p:txBody>
      </p:sp>
      <p:sp>
        <p:nvSpPr>
          <p:cNvPr id="6" name="!!Ca2+">
            <a:extLst>
              <a:ext uri="{FF2B5EF4-FFF2-40B4-BE49-F238E27FC236}">
                <a16:creationId xmlns:a16="http://schemas.microsoft.com/office/drawing/2014/main" id="{B9759B7F-4508-45E4-B77C-1B78891930AE}"/>
              </a:ext>
            </a:extLst>
          </p:cNvPr>
          <p:cNvSpPr/>
          <p:nvPr/>
        </p:nvSpPr>
        <p:spPr>
          <a:xfrm>
            <a:off x="4572000" y="3505200"/>
            <a:ext cx="3351880" cy="3017769"/>
          </a:xfrm>
          <a:prstGeom prst="ellips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064" tIns="64744" rIns="85064" bIns="64744" numCol="1" spcCol="1270" anchor="ctr" anchorCtr="0">
            <a:noAutofit/>
          </a:bodyPr>
          <a:lstStyle/>
          <a:p>
            <a:pPr marL="0" lvl="0" indent="0" algn="ctr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/>
              <a:t>high permeability to Ca</a:t>
            </a:r>
            <a:r>
              <a:rPr lang="en-US" sz="3200" kern="1200" baseline="30000" dirty="0"/>
              <a:t>2+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Metabotropic Glutamate Receptors (</a:t>
            </a:r>
            <a:r>
              <a:rPr lang="en-US" dirty="0" err="1">
                <a:solidFill>
                  <a:schemeClr val="tx1"/>
                </a:solidFill>
              </a:rPr>
              <a:t>mGluRs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9357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74725" y="2251075"/>
            <a:ext cx="4054475" cy="4297363"/>
          </a:xfrm>
        </p:spPr>
        <p:txBody>
          <a:bodyPr/>
          <a:lstStyle/>
          <a:p>
            <a:r>
              <a:rPr lang="en-US" sz="2800" dirty="0"/>
              <a:t>Class 1: mGlu1 &amp; 5</a:t>
            </a:r>
          </a:p>
          <a:p>
            <a:r>
              <a:rPr lang="en-US" sz="2800" dirty="0"/>
              <a:t>Class 2: mGlu2 &amp; 3</a:t>
            </a:r>
          </a:p>
          <a:p>
            <a:r>
              <a:rPr lang="en-US" sz="2800" dirty="0"/>
              <a:t>Class 3: mGlu4 &amp; 6-8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ED396A-3822-357D-580A-EE3152AB1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92491"/>
            <a:ext cx="5638800" cy="496551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17BDB-05D7-4BE7-ADE9-F3A8BDB9F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059" y="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Clinical Applications: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excitotoxicity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5F8DE-B2D9-45E9-A516-4182AF9DB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54" y="2133600"/>
            <a:ext cx="5945705" cy="4616608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Glutamate excitotoxicity:</a:t>
            </a:r>
          </a:p>
          <a:p>
            <a:pPr lvl="1"/>
            <a:r>
              <a:rPr lang="en-US" dirty="0"/>
              <a:t>pathological process by which nerve cells are damaged or killed due to excessive stimulation of glutamate receptors. </a:t>
            </a:r>
          </a:p>
          <a:p>
            <a:pPr lvl="1"/>
            <a:r>
              <a:rPr lang="en-US" dirty="0"/>
              <a:t>This stimulation allows high levels of Ca2+ and Na+ to enter the cell activating enzymes that can go on to damage the cytoskeleton, membrane, and/or DNA.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May be involved in spinal cord injury, stroke, and neurodegenerative disease</a:t>
            </a:r>
            <a:br>
              <a:rPr lang="en-US" dirty="0"/>
            </a:br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C15B003F-1D0C-41EB-A79F-4A51CE94FB43}"/>
              </a:ext>
            </a:extLst>
          </p:cNvPr>
          <p:cNvSpPr/>
          <p:nvPr/>
        </p:nvSpPr>
        <p:spPr>
          <a:xfrm>
            <a:off x="7085670" y="5721274"/>
            <a:ext cx="3581400" cy="113672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805397E-4DD3-4686-831D-866ED6CEA8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828800"/>
            <a:ext cx="5255941" cy="389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39078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aylor Colors">
      <a:dk1>
        <a:sysClr val="windowText" lastClr="000000"/>
      </a:dk1>
      <a:lt1>
        <a:sysClr val="window" lastClr="FFFFFF"/>
      </a:lt1>
      <a:dk2>
        <a:srgbClr val="154734"/>
      </a:dk2>
      <a:lt2>
        <a:srgbClr val="FFB81C"/>
      </a:lt2>
      <a:accent1>
        <a:srgbClr val="3F693C"/>
      </a:accent1>
      <a:accent2>
        <a:srgbClr val="D19E12"/>
      </a:accent2>
      <a:accent3>
        <a:srgbClr val="9E3223"/>
      </a:accent3>
      <a:accent4>
        <a:srgbClr val="1B5A7D"/>
      </a:accent4>
      <a:accent5>
        <a:srgbClr val="DDDBD3"/>
      </a:accent5>
      <a:accent6>
        <a:srgbClr val="653A2B"/>
      </a:accent6>
      <a:hlink>
        <a:srgbClr val="0070C0"/>
      </a:hlink>
      <a:folHlink>
        <a:srgbClr val="FF0000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aylor Colors">
    <a:dk1>
      <a:sysClr val="windowText" lastClr="000000"/>
    </a:dk1>
    <a:lt1>
      <a:sysClr val="window" lastClr="FFFFFF"/>
    </a:lt1>
    <a:dk2>
      <a:srgbClr val="154734"/>
    </a:dk2>
    <a:lt2>
      <a:srgbClr val="FFB81C"/>
    </a:lt2>
    <a:accent1>
      <a:srgbClr val="3F693C"/>
    </a:accent1>
    <a:accent2>
      <a:srgbClr val="D19E12"/>
    </a:accent2>
    <a:accent3>
      <a:srgbClr val="9E3223"/>
    </a:accent3>
    <a:accent4>
      <a:srgbClr val="1B5A7D"/>
    </a:accent4>
    <a:accent5>
      <a:srgbClr val="DDDBD3"/>
    </a:accent5>
    <a:accent6>
      <a:srgbClr val="653A2B"/>
    </a:accent6>
    <a:hlink>
      <a:srgbClr val="0070C0"/>
    </a:hlink>
    <a:folHlink>
      <a:srgbClr val="FF0000"/>
    </a:folHlink>
  </a:clrScheme>
</a:themeOverride>
</file>

<file path=ppt/theme/themeOverride2.xml><?xml version="1.0" encoding="utf-8"?>
<a:themeOverride xmlns:a="http://schemas.openxmlformats.org/drawingml/2006/main">
  <a:clrScheme name="Baylor Colors">
    <a:dk1>
      <a:sysClr val="windowText" lastClr="000000"/>
    </a:dk1>
    <a:lt1>
      <a:sysClr val="window" lastClr="FFFFFF"/>
    </a:lt1>
    <a:dk2>
      <a:srgbClr val="154734"/>
    </a:dk2>
    <a:lt2>
      <a:srgbClr val="FFB81C"/>
    </a:lt2>
    <a:accent1>
      <a:srgbClr val="3F693C"/>
    </a:accent1>
    <a:accent2>
      <a:srgbClr val="D19E12"/>
    </a:accent2>
    <a:accent3>
      <a:srgbClr val="9E3223"/>
    </a:accent3>
    <a:accent4>
      <a:srgbClr val="1B5A7D"/>
    </a:accent4>
    <a:accent5>
      <a:srgbClr val="DDDBD3"/>
    </a:accent5>
    <a:accent6>
      <a:srgbClr val="653A2B"/>
    </a:accent6>
    <a:hlink>
      <a:srgbClr val="0070C0"/>
    </a:hlink>
    <a:folHlink>
      <a:srgbClr val="FF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</TotalTime>
  <Words>932</Words>
  <Application>Microsoft Office PowerPoint</Application>
  <PresentationFormat>Widescreen</PresentationFormat>
  <Paragraphs>247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Tahoma</vt:lpstr>
      <vt:lpstr>Times New Roman</vt:lpstr>
      <vt:lpstr>Wingdings</vt:lpstr>
      <vt:lpstr>Blends</vt:lpstr>
      <vt:lpstr>Neurotransmitters and Their Receptors</vt:lpstr>
      <vt:lpstr>Learning Objectives</vt:lpstr>
      <vt:lpstr>There are 2 major classes of neurotransmitter (NT)</vt:lpstr>
      <vt:lpstr>The 2 classes of NT differ in synthesis, storage, release &amp; inactivation</vt:lpstr>
      <vt:lpstr>The 2 classes of NT differ in synthesis, storage, release &amp; inactivation</vt:lpstr>
      <vt:lpstr>The 2 classes of NT differ in synthesis, storage, release &amp; inactivation</vt:lpstr>
      <vt:lpstr>The 2 classes of NT differ in synthesis, storage, release &amp; inactivation</vt:lpstr>
      <vt:lpstr>The 2 classes of NT differ in synthesis, storage, release &amp; inactivation</vt:lpstr>
      <vt:lpstr>PowerPoint Presentation</vt:lpstr>
      <vt:lpstr>4 Key points for each major transmitter</vt:lpstr>
      <vt:lpstr>4 Key points for each major transmitter</vt:lpstr>
      <vt:lpstr>PowerPoint Presentation</vt:lpstr>
      <vt:lpstr>ACh Location</vt:lpstr>
      <vt:lpstr>ACh Synthesis</vt:lpstr>
      <vt:lpstr>ACh Inactivation</vt:lpstr>
      <vt:lpstr>Clinical Applications: AChE is a target of nerve agents and dementia meds</vt:lpstr>
      <vt:lpstr>Nicotinic ACh receptors (nAChR)</vt:lpstr>
      <vt:lpstr>Structure and function of nACh receptors</vt:lpstr>
      <vt:lpstr>Muscarinic Ach Receptors (mAChRs) </vt:lpstr>
      <vt:lpstr>Clinical Applications:  Drugs that target mAChRs</vt:lpstr>
      <vt:lpstr>PowerPoint Presentation</vt:lpstr>
      <vt:lpstr>Glu Location and Synthesis</vt:lpstr>
      <vt:lpstr>Glu Inactivation</vt:lpstr>
      <vt:lpstr>Ionotropic Glu Receptors (iGlus)</vt:lpstr>
      <vt:lpstr>NMDA receptors are both ligand- and voltage-gated channels</vt:lpstr>
      <vt:lpstr>NMDA receptors are both ligand- and voltage-gated channels</vt:lpstr>
      <vt:lpstr>Metabotropic Glutamate Receptors (mGluRs)</vt:lpstr>
      <vt:lpstr>Clinical Applications:  excitotoxicity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Transmitters and Receptors</dc:title>
  <dc:creator>Keele, Brad</dc:creator>
  <cp:lastModifiedBy>Phillips, Nicole</cp:lastModifiedBy>
  <cp:revision>74</cp:revision>
  <cp:lastPrinted>2021-10-01T13:18:50Z</cp:lastPrinted>
  <dcterms:created xsi:type="dcterms:W3CDTF">2020-02-12T00:25:56Z</dcterms:created>
  <dcterms:modified xsi:type="dcterms:W3CDTF">2025-09-29T02:52:05Z</dcterms:modified>
</cp:coreProperties>
</file>