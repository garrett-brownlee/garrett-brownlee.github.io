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media/image16.jpg" ContentType="image/jpeg"/>
  <Override PartName="/ppt/notesSlides/notesSlide13.xml" ContentType="application/vnd.openxmlformats-officedocument.presentationml.notesSlide+xml"/>
  <Override PartName="/ppt/media/image18.jpg" ContentType="image/jpeg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8" r:id="rId2"/>
  </p:sldMasterIdLst>
  <p:notesMasterIdLst>
    <p:notesMasterId r:id="rId22"/>
  </p:notesMasterIdLst>
  <p:sldIdLst>
    <p:sldId id="369" r:id="rId3"/>
    <p:sldId id="370" r:id="rId4"/>
    <p:sldId id="367" r:id="rId5"/>
    <p:sldId id="395" r:id="rId6"/>
    <p:sldId id="394" r:id="rId7"/>
    <p:sldId id="352" r:id="rId8"/>
    <p:sldId id="590" r:id="rId9"/>
    <p:sldId id="554" r:id="rId10"/>
    <p:sldId id="362" r:id="rId11"/>
    <p:sldId id="359" r:id="rId12"/>
    <p:sldId id="308" r:id="rId13"/>
    <p:sldId id="652" r:id="rId14"/>
    <p:sldId id="591" r:id="rId15"/>
    <p:sldId id="651" r:id="rId16"/>
    <p:sldId id="363" r:id="rId17"/>
    <p:sldId id="379" r:id="rId18"/>
    <p:sldId id="552" r:id="rId19"/>
    <p:sldId id="586" r:id="rId20"/>
    <p:sldId id="650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lora, Kristin" initials="FK" lastIdx="2" clrIdx="0">
    <p:extLst>
      <p:ext uri="{19B8F6BF-5375-455C-9EA6-DF929625EA0E}">
        <p15:presenceInfo xmlns:p15="http://schemas.microsoft.com/office/powerpoint/2012/main" userId="S-1-5-21-2114926708-1884511829-1243820751-37399" providerId="AD"/>
      </p:ext>
    </p:extLst>
  </p:cmAuthor>
  <p:cmAuthor id="2" name="Bridget Leahy" initials="BL" lastIdx="2" clrIdx="1"/>
  <p:cmAuthor id="3" name="Deborah Licht" initials="DL" lastIdx="3" clrIdx="2">
    <p:extLst>
      <p:ext uri="{19B8F6BF-5375-455C-9EA6-DF929625EA0E}">
        <p15:presenceInfo xmlns:p15="http://schemas.microsoft.com/office/powerpoint/2012/main" userId="053266d661a4cdd3" providerId="Windows Live"/>
      </p:ext>
    </p:extLst>
  </p:cmAuthor>
  <p:cmAuthor id="4" name="Kimberly Welsh" initials="KW" lastIdx="5" clrIdx="3">
    <p:extLst>
      <p:ext uri="{19B8F6BF-5375-455C-9EA6-DF929625EA0E}">
        <p15:presenceInfo xmlns:p15="http://schemas.microsoft.com/office/powerpoint/2012/main" userId="425587efef6a84e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7A6"/>
    <a:srgbClr val="7A00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94" autoAdjust="0"/>
    <p:restoredTop sz="83191" autoAdjust="0"/>
  </p:normalViewPr>
  <p:slideViewPr>
    <p:cSldViewPr snapToGrid="0">
      <p:cViewPr varScale="1">
        <p:scale>
          <a:sx n="132" d="100"/>
          <a:sy n="132" d="100"/>
        </p:scale>
        <p:origin x="1398" y="12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commentAuthors" Target="commentAuthor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DF49AF-1DB5-45F8-B433-D26172C6A7F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AE3CD2-4973-470A-BC59-11DBA87FC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96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E3CD2-4973-470A-BC59-11DBA87FC2D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100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E3CD2-4973-470A-BC59-11DBA87FC2D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41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28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E3CD2-4973-470A-BC59-11DBA87FC2D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2568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E3CD2-4973-470A-BC59-11DBA87FC2D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1453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E3CD2-4973-470A-BC59-11DBA87FC2D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5097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E5F915-560F-4B82-ABB4-161B81F34C16}" type="slidenum">
              <a:rPr lang="en-US" smtClean="0"/>
              <a:t>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6771FB-9548-6255-D68D-BECF68D2B18F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0666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E5F915-560F-4B82-ABB4-161B81F34C1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5142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E3CD2-4973-470A-BC59-11DBA87FC2D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3946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E5F915-560F-4B82-ABB4-161B81F34C1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3743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11FA646-5BA4-2540-B87F-8ED0E4574DD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11967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E5F915-560F-4B82-ABB4-161B81F34C1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1519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E5F915-560F-4B82-ABB4-161B81F34C1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9122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E3CD2-4973-470A-BC59-11DBA87FC2D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4944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E3CD2-4973-470A-BC59-11DBA87FC2D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8714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E5F915-560F-4B82-ABB4-161B81F34C1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1052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E3CD2-4973-470A-BC59-11DBA87FC2D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3672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2150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508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8404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4867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262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329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8026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9798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81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074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1610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822097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3177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5833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75151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7900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769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13657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neuroscientificallychallenged.com/posts/history-of-neuroscience-otto-loewi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cience.sciencemag.org/content/361/6402/548/tab-figures-data" TargetMode="External"/><Relationship Id="rId5" Type="http://schemas.openxmlformats.org/officeDocument/2006/relationships/image" Target="../media/image15.jpeg"/><Relationship Id="rId4" Type="http://schemas.openxmlformats.org/officeDocument/2006/relationships/hyperlink" Target="https://www.bioscience.org/2001/v6/af/A643/figures.htm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2266C-A248-48E0-8253-EA48BA7FA1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Synaptic Transmission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B09EE7-AEFA-4F0D-9E16-ECB27CA6AA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By: Nicole Phillips</a:t>
            </a:r>
          </a:p>
        </p:txBody>
      </p:sp>
    </p:spTree>
    <p:extLst>
      <p:ext uri="{BB962C8B-B14F-4D97-AF65-F5344CB8AC3E}">
        <p14:creationId xmlns:p14="http://schemas.microsoft.com/office/powerpoint/2010/main" val="1886514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00B38-5A3F-4E81-A080-E18A63F4B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327514"/>
            <a:ext cx="9905998" cy="147857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22B84-69BF-44BF-B1F1-996A93C60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806084"/>
            <a:ext cx="9905999" cy="472440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Differentiate electrical and chemical synapses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Describe the step by step process of neurotransmitter release at chemical synapses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Explain the morphology of synapses and vesicles.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Differentiate types of postsynaptic receptors and how their activation contributes to neural communication</a:t>
            </a:r>
          </a:p>
        </p:txBody>
      </p:sp>
    </p:spTree>
    <p:extLst>
      <p:ext uri="{BB962C8B-B14F-4D97-AF65-F5344CB8AC3E}">
        <p14:creationId xmlns:p14="http://schemas.microsoft.com/office/powerpoint/2010/main" val="945037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kolb5e_fig02_13.jpg">
            <a:extLst>
              <a:ext uri="{FF2B5EF4-FFF2-40B4-BE49-F238E27FC236}">
                <a16:creationId xmlns:a16="http://schemas.microsoft.com/office/drawing/2014/main" id="{76802109-1B0C-4CE8-9125-2C5FEECF12F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08" r="34819" b="59801"/>
          <a:stretch/>
        </p:blipFill>
        <p:spPr bwMode="auto">
          <a:xfrm>
            <a:off x="1893615" y="809347"/>
            <a:ext cx="8404770" cy="5239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Lightning Bolt 2">
            <a:extLst>
              <a:ext uri="{FF2B5EF4-FFF2-40B4-BE49-F238E27FC236}">
                <a16:creationId xmlns:a16="http://schemas.microsoft.com/office/drawing/2014/main" id="{A9AB8110-8916-4A35-8CB5-78A13C2D3181}"/>
              </a:ext>
            </a:extLst>
          </p:cNvPr>
          <p:cNvSpPr/>
          <p:nvPr/>
        </p:nvSpPr>
        <p:spPr>
          <a:xfrm rot="2054667">
            <a:off x="4558564" y="2739916"/>
            <a:ext cx="695428" cy="1123157"/>
          </a:xfrm>
          <a:prstGeom prst="lightningBol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1" descr="kolb5e_fig02_13.jpg">
            <a:extLst>
              <a:ext uri="{FF2B5EF4-FFF2-40B4-BE49-F238E27FC236}">
                <a16:creationId xmlns:a16="http://schemas.microsoft.com/office/drawing/2014/main" id="{9A0C009B-D383-4417-B05C-EFE35B803E7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106"/>
          <a:stretch/>
        </p:blipFill>
        <p:spPr bwMode="auto">
          <a:xfrm>
            <a:off x="1893615" y="6048652"/>
            <a:ext cx="6142038" cy="404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Frame 8">
            <a:extLst>
              <a:ext uri="{FF2B5EF4-FFF2-40B4-BE49-F238E27FC236}">
                <a16:creationId xmlns:a16="http://schemas.microsoft.com/office/drawing/2014/main" id="{4032332A-D76E-4B7E-964A-439060E62996}"/>
              </a:ext>
            </a:extLst>
          </p:cNvPr>
          <p:cNvSpPr/>
          <p:nvPr/>
        </p:nvSpPr>
        <p:spPr>
          <a:xfrm>
            <a:off x="9383486" y="5101772"/>
            <a:ext cx="305298" cy="449942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6700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0 L 0.18685 0 C 0.27045 0 0.3737 0.06042 0.3737 0.10949 L 0.3737 0.21921 " pathEditMode="relative" rAng="0" ptsTypes="AA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85" y="1094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CA868-E7C4-4949-9821-92FAE87ED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0"/>
            <a:ext cx="9905998" cy="1213658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Types of synapses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CAEF4D-D8F5-4149-AFB7-3A71E08331D5}"/>
              </a:ext>
            </a:extLst>
          </p:cNvPr>
          <p:cNvSpPr/>
          <p:nvPr/>
        </p:nvSpPr>
        <p:spPr>
          <a:xfrm>
            <a:off x="3092335" y="1356240"/>
            <a:ext cx="2310938" cy="550176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06DC75-701C-4517-82E9-76436E41F2DC}"/>
              </a:ext>
            </a:extLst>
          </p:cNvPr>
          <p:cNvSpPr/>
          <p:nvPr/>
        </p:nvSpPr>
        <p:spPr>
          <a:xfrm>
            <a:off x="5555672" y="1366058"/>
            <a:ext cx="3471949" cy="550176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E09518-FC52-476D-B079-19CA7DE3B031}"/>
              </a:ext>
            </a:extLst>
          </p:cNvPr>
          <p:cNvSpPr/>
          <p:nvPr/>
        </p:nvSpPr>
        <p:spPr>
          <a:xfrm>
            <a:off x="9180019" y="1366058"/>
            <a:ext cx="2158539" cy="550176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1E75837-2363-CC7B-F8D7-726FBFE24FF1}"/>
              </a:ext>
            </a:extLst>
          </p:cNvPr>
          <p:cNvSpPr txBox="1">
            <a:spLocks/>
          </p:cNvSpPr>
          <p:nvPr/>
        </p:nvSpPr>
        <p:spPr>
          <a:xfrm>
            <a:off x="724886" y="786071"/>
            <a:ext cx="2837891" cy="5599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Most common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CBDB27D-9F9A-D68F-0F5F-B411BA2E295A}"/>
              </a:ext>
            </a:extLst>
          </p:cNvPr>
          <p:cNvSpPr txBox="1">
            <a:spLocks/>
          </p:cNvSpPr>
          <p:nvPr/>
        </p:nvSpPr>
        <p:spPr>
          <a:xfrm>
            <a:off x="8629224" y="786440"/>
            <a:ext cx="2737045" cy="5599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Least common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3CA3B0-F055-47F0-9EB9-B23C055F78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731" y="1356240"/>
            <a:ext cx="10540538" cy="550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604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10696-6C2E-40C2-BE7F-74BE5E42C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230284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Two classes of synapses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E7F62-9130-4E89-9D17-7CAD44D284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097" y="1230284"/>
            <a:ext cx="5153061" cy="1523549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Electrical synapse (aka gap junction): </a:t>
            </a:r>
            <a:r>
              <a:rPr lang="en-US" dirty="0">
                <a:solidFill>
                  <a:schemeClr val="bg1"/>
                </a:solidFill>
              </a:rPr>
              <a:t>ions flow from one neuron </a:t>
            </a:r>
            <a:r>
              <a:rPr lang="en-US" b="1" dirty="0">
                <a:solidFill>
                  <a:schemeClr val="bg1"/>
                </a:solidFill>
              </a:rPr>
              <a:t>directly</a:t>
            </a:r>
            <a:r>
              <a:rPr lang="en-US" dirty="0">
                <a:solidFill>
                  <a:schemeClr val="bg1"/>
                </a:solidFill>
              </a:rPr>
              <a:t> to the other through connexons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A08E6ED-E090-93A2-26AC-F48A7C1E9FE3}"/>
              </a:ext>
            </a:extLst>
          </p:cNvPr>
          <p:cNvSpPr txBox="1">
            <a:spLocks/>
          </p:cNvSpPr>
          <p:nvPr/>
        </p:nvSpPr>
        <p:spPr>
          <a:xfrm>
            <a:off x="6593166" y="1167486"/>
            <a:ext cx="5153061" cy="15235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bg1"/>
                </a:solidFill>
              </a:rPr>
              <a:t>Chemical synapse: </a:t>
            </a:r>
            <a:r>
              <a:rPr lang="en-US" dirty="0">
                <a:solidFill>
                  <a:schemeClr val="bg1"/>
                </a:solidFill>
              </a:rPr>
              <a:t>chemicals are released into a synapse and then influence activity of receptors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001CE3-3A98-EEE2-F78F-CA453DC424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882" t="54647"/>
          <a:stretch>
            <a:fillRect/>
          </a:stretch>
        </p:blipFill>
        <p:spPr>
          <a:xfrm>
            <a:off x="5710157" y="2628236"/>
            <a:ext cx="6284619" cy="42330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D2FA8E-1EF8-93E2-9966-502BEB7891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5913" y="2628236"/>
            <a:ext cx="3755428" cy="4229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948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69BB1-FCB4-4B4B-BBE3-5D349AD23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188" y="136526"/>
            <a:ext cx="11563558" cy="83140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Just in case you thought through this might be straightforward…</a:t>
            </a:r>
          </a:p>
        </p:txBody>
      </p:sp>
      <p:pic>
        <p:nvPicPr>
          <p:cNvPr id="2050" name="Picture 2" descr="Figure 4">
            <a:extLst>
              <a:ext uri="{FF2B5EF4-FFF2-40B4-BE49-F238E27FC236}">
                <a16:creationId xmlns:a16="http://schemas.microsoft.com/office/drawing/2014/main" id="{40EE66EC-1B92-45EB-A25F-D7EAE8CBC1E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958"/>
          <a:stretch/>
        </p:blipFill>
        <p:spPr bwMode="auto">
          <a:xfrm>
            <a:off x="1237383" y="1241264"/>
            <a:ext cx="8893753" cy="2736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819DBD9-797C-4432-808C-2BD5C46830D1}"/>
              </a:ext>
            </a:extLst>
          </p:cNvPr>
          <p:cNvSpPr/>
          <p:nvPr/>
        </p:nvSpPr>
        <p:spPr>
          <a:xfrm>
            <a:off x="116380" y="6211669"/>
            <a:ext cx="1156355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hlinkClick r:id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Piedra et al., 2014, Nature Reviews Neuroscience</a:t>
            </a:r>
          </a:p>
          <a:p>
            <a:r>
              <a:rPr lang="en-US" sz="1600" dirty="0">
                <a:solidFill>
                  <a:schemeClr val="bg1"/>
                </a:solidFill>
                <a:hlinkClick r:id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https://www.nature.com/articles/nrn3708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9" name="Picture 2" descr="Figure 4">
            <a:extLst>
              <a:ext uri="{FF2B5EF4-FFF2-40B4-BE49-F238E27FC236}">
                <a16:creationId xmlns:a16="http://schemas.microsoft.com/office/drawing/2014/main" id="{02131641-7847-47E1-8971-63EDF38B6A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4" t="48233" r="57949" b="4725"/>
          <a:stretch/>
        </p:blipFill>
        <p:spPr bwMode="auto">
          <a:xfrm>
            <a:off x="4487824" y="4109616"/>
            <a:ext cx="3015065" cy="2299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4560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1FC8B92-9639-6FE2-EFF1-5A4B0CB12B32}"/>
              </a:ext>
            </a:extLst>
          </p:cNvPr>
          <p:cNvSpPr txBox="1"/>
          <p:nvPr/>
        </p:nvSpPr>
        <p:spPr>
          <a:xfrm>
            <a:off x="1958109" y="6488668"/>
            <a:ext cx="82757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https://neuroscientificallychallenged.com/posts/history-of-neuroscience-otto-loewi</a:t>
            </a:r>
            <a:r>
              <a:rPr lang="en-US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B86D3C-1C6E-32AF-24AE-F370C796F25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44436"/>
          <a:stretch/>
        </p:blipFill>
        <p:spPr>
          <a:xfrm>
            <a:off x="0" y="2037312"/>
            <a:ext cx="12192000" cy="2202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823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8E897-AEF9-47D1-BABB-7457F7861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8307" y="0"/>
            <a:ext cx="10940212" cy="1432501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Key experiment Supporting the theory of chemical synapses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599B9-7076-4DA4-96F0-4179D7C73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189" y="1374239"/>
            <a:ext cx="8485648" cy="5347235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bg1"/>
                </a:solidFill>
              </a:rPr>
              <a:t>Otto Loewi (Physiologist), 1921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Stimulation of the Vagus nerve attached to a heart (“donor”) causes the heart to slow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Solution from donor heart was allowed to flow to a secondary unstimulated heart (“recipient”) 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Recipient heart slowed as well!</a:t>
            </a:r>
          </a:p>
          <a:p>
            <a:r>
              <a:rPr lang="en-US" dirty="0">
                <a:solidFill>
                  <a:schemeClr val="bg1"/>
                </a:solidFill>
              </a:rPr>
              <a:t>Loewi concluded that the electrical stimulation caused a chemical to be released into the fluid that could flow to the recipient chamber</a:t>
            </a:r>
          </a:p>
          <a:p>
            <a:r>
              <a:rPr lang="en-US" dirty="0">
                <a:solidFill>
                  <a:schemeClr val="bg1"/>
                </a:solidFill>
              </a:rPr>
              <a:t>He called the chemical “</a:t>
            </a:r>
            <a:r>
              <a:rPr lang="en-US" dirty="0" err="1">
                <a:solidFill>
                  <a:schemeClr val="bg1"/>
                </a:solidFill>
              </a:rPr>
              <a:t>vagusstoff</a:t>
            </a:r>
            <a:r>
              <a:rPr lang="en-US" dirty="0">
                <a:solidFill>
                  <a:schemeClr val="bg1"/>
                </a:solidFill>
              </a:rPr>
              <a:t>”</a:t>
            </a:r>
          </a:p>
          <a:p>
            <a:r>
              <a:rPr lang="en-US" dirty="0">
                <a:solidFill>
                  <a:schemeClr val="bg1"/>
                </a:solidFill>
              </a:rPr>
              <a:t>Today we know this chemical as:</a:t>
            </a:r>
          </a:p>
        </p:txBody>
      </p:sp>
      <p:pic>
        <p:nvPicPr>
          <p:cNvPr id="4" name="Picture 2" descr="Neurscience5e-Fig-05">
            <a:extLst>
              <a:ext uri="{FF2B5EF4-FFF2-40B4-BE49-F238E27FC236}">
                <a16:creationId xmlns:a16="http://schemas.microsoft.com/office/drawing/2014/main" id="{3B4CD2FB-ABED-40F0-9FCF-F75CDCFCF2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437" b="10399"/>
          <a:stretch/>
        </p:blipFill>
        <p:spPr bwMode="auto">
          <a:xfrm>
            <a:off x="8967355" y="1374239"/>
            <a:ext cx="2635172" cy="51015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752ED48-2766-40AD-9640-4A33AFE3E2FA}"/>
              </a:ext>
            </a:extLst>
          </p:cNvPr>
          <p:cNvSpPr txBox="1"/>
          <p:nvPr/>
        </p:nvSpPr>
        <p:spPr>
          <a:xfrm>
            <a:off x="4631013" y="5952530"/>
            <a:ext cx="21603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acetylcholine</a:t>
            </a:r>
          </a:p>
        </p:txBody>
      </p:sp>
    </p:spTree>
    <p:extLst>
      <p:ext uri="{BB962C8B-B14F-4D97-AF65-F5344CB8AC3E}">
        <p14:creationId xmlns:p14="http://schemas.microsoft.com/office/powerpoint/2010/main" val="1244268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3F09F-7BDA-4406-98D3-CD8F90872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7042" y="-16626"/>
            <a:ext cx="9437913" cy="1775637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Chemical Synaptic Transmission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Step 1: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Neurotransmitters are synthesized and stored in vesicles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BB29FDEA-A590-45C7-B9CB-98F26BCB0850}"/>
              </a:ext>
            </a:extLst>
          </p:cNvPr>
          <p:cNvSpPr/>
          <p:nvPr/>
        </p:nvSpPr>
        <p:spPr>
          <a:xfrm>
            <a:off x="3101891" y="1699855"/>
            <a:ext cx="5988217" cy="515814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Circle: Hollow 4">
            <a:extLst>
              <a:ext uri="{FF2B5EF4-FFF2-40B4-BE49-F238E27FC236}">
                <a16:creationId xmlns:a16="http://schemas.microsoft.com/office/drawing/2014/main" id="{A80C7708-0436-EF92-5FA0-C5CA7DC71447}"/>
              </a:ext>
            </a:extLst>
          </p:cNvPr>
          <p:cNvSpPr/>
          <p:nvPr/>
        </p:nvSpPr>
        <p:spPr>
          <a:xfrm>
            <a:off x="6293561" y="3593804"/>
            <a:ext cx="489098" cy="520995"/>
          </a:xfrm>
          <a:prstGeom prst="donut">
            <a:avLst>
              <a:gd name="adj" fmla="val 4439"/>
            </a:avLst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4577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6A65C-6CCE-4DF2-9ED2-A9C67AD8C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0"/>
            <a:ext cx="9905998" cy="147857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Neurotransmitters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BD943-D061-4E12-B049-0AE0232C9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7144" y="1138687"/>
            <a:ext cx="10141856" cy="5582787"/>
          </a:xfrm>
        </p:spPr>
        <p:txBody>
          <a:bodyPr>
            <a:normAutofit fontScale="92500" lnSpcReduction="10000"/>
          </a:bodyPr>
          <a:lstStyle/>
          <a:p>
            <a:r>
              <a:rPr lang="en-US" sz="2200" dirty="0">
                <a:solidFill>
                  <a:schemeClr val="bg1"/>
                </a:solidFill>
              </a:rPr>
              <a:t>a chemical substance that is released at the end of a nerve fiber by the arrival of a nerve impulse and, by diffusing across the synapse or junction, </a:t>
            </a:r>
            <a:r>
              <a:rPr lang="en-US" sz="2200" b="1" dirty="0">
                <a:solidFill>
                  <a:schemeClr val="bg1"/>
                </a:solidFill>
              </a:rPr>
              <a:t>causes the transfer of the impulse to another</a:t>
            </a:r>
            <a:r>
              <a:rPr lang="en-US" sz="2200" dirty="0">
                <a:solidFill>
                  <a:schemeClr val="bg1"/>
                </a:solidFill>
              </a:rPr>
              <a:t> nerve fiber, a muscle fiber, or some other structure (from Oxford dictionary).</a:t>
            </a:r>
          </a:p>
          <a:p>
            <a:r>
              <a:rPr lang="en-US" sz="2200" dirty="0">
                <a:solidFill>
                  <a:schemeClr val="bg1"/>
                </a:solidFill>
              </a:rPr>
              <a:t>&gt; 100 neurotransmitters have been identified</a:t>
            </a:r>
          </a:p>
          <a:p>
            <a:r>
              <a:rPr lang="en-US" sz="2200" dirty="0">
                <a:solidFill>
                  <a:schemeClr val="bg1"/>
                </a:solidFill>
              </a:rPr>
              <a:t>2 Broad categories:</a:t>
            </a:r>
          </a:p>
          <a:p>
            <a:pPr lvl="1"/>
            <a:r>
              <a:rPr lang="en-US" sz="2200" dirty="0">
                <a:solidFill>
                  <a:schemeClr val="bg1"/>
                </a:solidFill>
              </a:rPr>
              <a:t>Small-molecule neurotransmitters: </a:t>
            </a:r>
          </a:p>
          <a:p>
            <a:pPr lvl="2"/>
            <a:r>
              <a:rPr lang="en-US" sz="2200" dirty="0">
                <a:solidFill>
                  <a:schemeClr val="bg1"/>
                </a:solidFill>
              </a:rPr>
              <a:t>tend to mediate rapid synaptic actions</a:t>
            </a:r>
          </a:p>
          <a:p>
            <a:pPr lvl="2"/>
            <a:r>
              <a:rPr lang="en-US" sz="2200" dirty="0">
                <a:solidFill>
                  <a:schemeClr val="bg1"/>
                </a:solidFill>
              </a:rPr>
              <a:t>synthesized in the </a:t>
            </a:r>
            <a:r>
              <a:rPr lang="en-US" sz="2200" u="sng" dirty="0">
                <a:solidFill>
                  <a:schemeClr val="bg1"/>
                </a:solidFill>
              </a:rPr>
              <a:t>presynaptic terminal</a:t>
            </a:r>
          </a:p>
          <a:p>
            <a:pPr lvl="2"/>
            <a:r>
              <a:rPr lang="en-US" sz="2200" dirty="0">
                <a:solidFill>
                  <a:schemeClr val="bg1"/>
                </a:solidFill>
              </a:rPr>
              <a:t>Packaged in 40-60 nm vesicles (small clear-core vesicles) </a:t>
            </a:r>
          </a:p>
          <a:p>
            <a:pPr lvl="1"/>
            <a:r>
              <a:rPr lang="en-US" sz="2200" dirty="0">
                <a:solidFill>
                  <a:schemeClr val="bg1"/>
                </a:solidFill>
              </a:rPr>
              <a:t>Neuropeptides: </a:t>
            </a:r>
          </a:p>
          <a:p>
            <a:pPr lvl="2"/>
            <a:r>
              <a:rPr lang="en-US" sz="2200" dirty="0">
                <a:solidFill>
                  <a:schemeClr val="bg1"/>
                </a:solidFill>
              </a:rPr>
              <a:t>tend to mediate slower, ongoing synaptic functions</a:t>
            </a:r>
          </a:p>
          <a:p>
            <a:pPr lvl="2"/>
            <a:r>
              <a:rPr lang="en-US" sz="2200" dirty="0">
                <a:solidFill>
                  <a:schemeClr val="bg1"/>
                </a:solidFill>
              </a:rPr>
              <a:t>Synthesized in the </a:t>
            </a:r>
            <a:r>
              <a:rPr lang="en-US" sz="2200" u="sng" dirty="0">
                <a:solidFill>
                  <a:schemeClr val="bg1"/>
                </a:solidFill>
              </a:rPr>
              <a:t>cell body </a:t>
            </a:r>
            <a:r>
              <a:rPr lang="en-US" sz="2200" dirty="0">
                <a:solidFill>
                  <a:schemeClr val="bg1"/>
                </a:solidFill>
              </a:rPr>
              <a:t>&amp; transported down the axon (axonal transport)</a:t>
            </a:r>
          </a:p>
          <a:p>
            <a:pPr lvl="2"/>
            <a:r>
              <a:rPr lang="en-US" sz="2200" dirty="0">
                <a:solidFill>
                  <a:schemeClr val="bg1"/>
                </a:solidFill>
              </a:rPr>
              <a:t>Packaged in 90-250 nm vesicles (large dense-core vesicles) </a:t>
            </a:r>
          </a:p>
          <a:p>
            <a:endParaRPr lang="en-US" dirty="0"/>
          </a:p>
        </p:txBody>
      </p:sp>
      <p:pic>
        <p:nvPicPr>
          <p:cNvPr id="6" name="Picture 2" descr="Image result for small clear core vesicles vs large dense core">
            <a:extLst>
              <a:ext uri="{FF2B5EF4-FFF2-40B4-BE49-F238E27FC236}">
                <a16:creationId xmlns:a16="http://schemas.microsoft.com/office/drawing/2014/main" id="{CA437DAE-9A45-44AE-831E-ED6CCF3C89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95" r="48266" b="12545"/>
          <a:stretch/>
        </p:blipFill>
        <p:spPr bwMode="auto">
          <a:xfrm>
            <a:off x="8036270" y="2429983"/>
            <a:ext cx="2519910" cy="2515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Image result for small clear core vesicles vs large dense core">
            <a:extLst>
              <a:ext uri="{FF2B5EF4-FFF2-40B4-BE49-F238E27FC236}">
                <a16:creationId xmlns:a16="http://schemas.microsoft.com/office/drawing/2014/main" id="{A88CBB0D-39A5-4F75-8CF1-CB5C4B66C1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67" t="18595" b="12545"/>
          <a:stretch/>
        </p:blipFill>
        <p:spPr bwMode="auto">
          <a:xfrm>
            <a:off x="9567939" y="4143962"/>
            <a:ext cx="2624061" cy="2714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3828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60829" y="0"/>
            <a:ext cx="11270342" cy="132907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The molecular organization of a synaptic vesicle</a:t>
            </a:r>
          </a:p>
        </p:txBody>
      </p:sp>
      <p:pic>
        <p:nvPicPr>
          <p:cNvPr id="2" name="Picture 1" descr="&quot;A three dimensional model of the molecular organization of a synaptic vesicle. The cytoplasmic surface of the vesicle membrane is densely covered by various proteins. They are labeled S N A P-25, Vti1a, Synaptobrevin, Synaptotagmin, C I C 3,&#10;Synaptophysin, S N A P-29, V A M P 4, Synapsin, munc18, Rab 3 A, Trimeric G T Pase, V G L U T, Syntaxin, S C A M P, S V 2, C S P, V-A T Pase, and other transporter. &quot;&#10;" title="FIGURE 5.11 Presynaptic proteins and their roles in synaptic vesicle cycling ">
            <a:extLst>
              <a:ext uri="{FF2B5EF4-FFF2-40B4-BE49-F238E27FC236}">
                <a16:creationId xmlns:a16="http://schemas.microsoft.com/office/drawing/2014/main" id="{C1A9F163-9FC7-0FA5-D2AE-CDD44CC74E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6599" y="1329070"/>
            <a:ext cx="5838801" cy="5528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016977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C9CBA-5006-ABDC-0333-C57B95D64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264656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Vesicle Trafficking cycle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9560DB-AE44-6C37-622E-8659EF87EE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000" r="4257"/>
          <a:stretch>
            <a:fillRect/>
          </a:stretch>
        </p:blipFill>
        <p:spPr>
          <a:xfrm>
            <a:off x="1547812" y="1264656"/>
            <a:ext cx="9093200" cy="5593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9232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DA15C-AF57-41BB-A5DD-407E3BDED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657" y="1138687"/>
            <a:ext cx="5687424" cy="5146521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Synaptic vesicles are held in a “reserve pool”</a:t>
            </a:r>
          </a:p>
          <a:p>
            <a:pPr lvl="1"/>
            <a:r>
              <a:rPr lang="en-US" sz="2800" dirty="0">
                <a:solidFill>
                  <a:schemeClr val="bg1"/>
                </a:solidFill>
              </a:rPr>
              <a:t>They are held there by </a:t>
            </a:r>
            <a:r>
              <a:rPr lang="en-US" sz="2800" dirty="0" err="1">
                <a:solidFill>
                  <a:schemeClr val="bg1"/>
                </a:solidFill>
              </a:rPr>
              <a:t>synapsin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</a:p>
          <a:p>
            <a:pPr lvl="1"/>
            <a:r>
              <a:rPr lang="en-US" sz="2800" dirty="0">
                <a:solidFill>
                  <a:schemeClr val="bg1"/>
                </a:solidFill>
              </a:rPr>
              <a:t>BEFORE the AP, arrives they need to be mobilized for release</a:t>
            </a:r>
          </a:p>
          <a:p>
            <a:pPr lvl="1"/>
            <a:r>
              <a:rPr lang="en-US" sz="2800" dirty="0">
                <a:solidFill>
                  <a:schemeClr val="bg1"/>
                </a:solidFill>
              </a:rPr>
              <a:t>calcium/calmodulin-dependent protein kinase II (CaMK-II) phosphorylates </a:t>
            </a:r>
            <a:r>
              <a:rPr lang="en-US" sz="2800" i="1" u="sng" dirty="0" err="1">
                <a:solidFill>
                  <a:schemeClr val="bg1"/>
                </a:solidFill>
              </a:rPr>
              <a:t>synapsin</a:t>
            </a:r>
            <a:r>
              <a:rPr lang="en-US" sz="2800" dirty="0">
                <a:solidFill>
                  <a:schemeClr val="bg1"/>
                </a:solidFill>
              </a:rPr>
              <a:t> to release the vesicles from the pool</a:t>
            </a:r>
          </a:p>
          <a:p>
            <a:pPr marL="0" indent="0">
              <a:buNone/>
            </a:pPr>
            <a:endParaRPr lang="en-US" sz="3200" dirty="0"/>
          </a:p>
        </p:txBody>
      </p:sp>
      <p:pic>
        <p:nvPicPr>
          <p:cNvPr id="1026" name="Picture 2" descr="Image result for synapsin camkII">
            <a:extLst>
              <a:ext uri="{FF2B5EF4-FFF2-40B4-BE49-F238E27FC236}">
                <a16:creationId xmlns:a16="http://schemas.microsoft.com/office/drawing/2014/main" id="{A49616C2-2FD2-439C-BFC7-68B8B7341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3544" y="727341"/>
            <a:ext cx="3120877" cy="5797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4550A01-36BD-48F7-8D2F-9814DD636D90}"/>
              </a:ext>
            </a:extLst>
          </p:cNvPr>
          <p:cNvSpPr/>
          <p:nvPr/>
        </p:nvSpPr>
        <p:spPr>
          <a:xfrm>
            <a:off x="6518074" y="6455969"/>
            <a:ext cx="511845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https://www.bioscience.org/2001/v6/af/A643/figures.htm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4" name="Picture 2" descr="Image result for camkii synapsin">
            <a:extLst>
              <a:ext uri="{FF2B5EF4-FFF2-40B4-BE49-F238E27FC236}">
                <a16:creationId xmlns:a16="http://schemas.microsoft.com/office/drawing/2014/main" id="{FE529A0C-50E5-453D-91EC-67D69D0CC9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7117" y="716894"/>
            <a:ext cx="5306695" cy="5577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3B01A32-0F97-4795-B3AB-BA59707FF77F}"/>
              </a:ext>
            </a:extLst>
          </p:cNvPr>
          <p:cNvSpPr txBox="1"/>
          <p:nvPr/>
        </p:nvSpPr>
        <p:spPr>
          <a:xfrm>
            <a:off x="0" y="6483694"/>
            <a:ext cx="75336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https://science.sciencemag.org/content/361/6402/548/tab-figures-data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22405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F1059-18E4-4745-B7E3-D2C373C10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135" y="0"/>
            <a:ext cx="10687730" cy="1224977"/>
          </a:xfrm>
        </p:spPr>
        <p:txBody>
          <a:bodyPr/>
          <a:lstStyle/>
          <a:p>
            <a:pPr>
              <a:tabLst>
                <a:tab pos="9886950" algn="l"/>
              </a:tabLst>
            </a:pPr>
            <a:r>
              <a:rPr lang="en-US" dirty="0">
                <a:solidFill>
                  <a:schemeClr val="bg1"/>
                </a:solidFill>
              </a:rPr>
              <a:t>Vesicles need to be docked &amp; primed for release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DA15C-AF57-41BB-A5DD-407E3BDED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2134" y="1224976"/>
            <a:ext cx="6693695" cy="5633023"/>
          </a:xfrm>
        </p:spPr>
        <p:txBody>
          <a:bodyPr>
            <a:noAutofit/>
          </a:bodyPr>
          <a:lstStyle/>
          <a:p>
            <a:r>
              <a:rPr lang="en-US" sz="2800" b="1" u="sng" dirty="0">
                <a:solidFill>
                  <a:schemeClr val="bg1"/>
                </a:solidFill>
              </a:rPr>
              <a:t>Docking: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dirty="0">
                <a:solidFill>
                  <a:schemeClr val="bg1"/>
                </a:solidFill>
              </a:rPr>
              <a:t>Bringing the vesicle close to the presynaptic membrane </a:t>
            </a:r>
          </a:p>
          <a:p>
            <a:pPr lvl="2"/>
            <a:r>
              <a:rPr lang="en-US" sz="2800" dirty="0">
                <a:solidFill>
                  <a:schemeClr val="bg1"/>
                </a:solidFill>
              </a:rPr>
              <a:t>Vesicle (v-) SNARE</a:t>
            </a:r>
          </a:p>
          <a:p>
            <a:pPr lvl="3"/>
            <a:r>
              <a:rPr lang="en-US" sz="2800" dirty="0" err="1">
                <a:solidFill>
                  <a:schemeClr val="bg1"/>
                </a:solidFill>
              </a:rPr>
              <a:t>Synpatobrevin</a:t>
            </a:r>
            <a:r>
              <a:rPr lang="en-US" sz="2800" dirty="0">
                <a:solidFill>
                  <a:schemeClr val="bg1"/>
                </a:solidFill>
              </a:rPr>
              <a:t> (blue)</a:t>
            </a:r>
          </a:p>
          <a:p>
            <a:pPr lvl="2"/>
            <a:r>
              <a:rPr lang="en-US" sz="2800" dirty="0">
                <a:solidFill>
                  <a:schemeClr val="bg1"/>
                </a:solidFill>
              </a:rPr>
              <a:t>Target (t-) SNAREs</a:t>
            </a:r>
          </a:p>
          <a:p>
            <a:pPr lvl="3"/>
            <a:r>
              <a:rPr lang="en-US" sz="2800" dirty="0" err="1">
                <a:solidFill>
                  <a:schemeClr val="bg1"/>
                </a:solidFill>
              </a:rPr>
              <a:t>Syntaxin</a:t>
            </a:r>
            <a:r>
              <a:rPr lang="en-US" sz="2800" dirty="0">
                <a:solidFill>
                  <a:schemeClr val="bg1"/>
                </a:solidFill>
              </a:rPr>
              <a:t> (red)</a:t>
            </a:r>
          </a:p>
          <a:p>
            <a:pPr lvl="3"/>
            <a:r>
              <a:rPr lang="en-US" sz="2800" dirty="0">
                <a:solidFill>
                  <a:schemeClr val="bg1"/>
                </a:solidFill>
              </a:rPr>
              <a:t>SNAP-25 (green)</a:t>
            </a:r>
          </a:p>
          <a:p>
            <a:r>
              <a:rPr lang="en-US" sz="2800" b="1" u="sng" dirty="0">
                <a:solidFill>
                  <a:schemeClr val="bg1"/>
                </a:solidFill>
              </a:rPr>
              <a:t>Priming: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dirty="0">
                <a:solidFill>
                  <a:schemeClr val="bg1"/>
                </a:solidFill>
              </a:rPr>
              <a:t>Assembling the SNARE protein complex</a:t>
            </a:r>
          </a:p>
        </p:txBody>
      </p:sp>
      <p:pic>
        <p:nvPicPr>
          <p:cNvPr id="5" name="Content Placeholder 3" descr="Neuroscience6e-Fig-05-12-1R.jpg">
            <a:extLst>
              <a:ext uri="{FF2B5EF4-FFF2-40B4-BE49-F238E27FC236}">
                <a16:creationId xmlns:a16="http://schemas.microsoft.com/office/drawing/2014/main" id="{6D1DC5C3-2318-4C48-965D-73F2CD04485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40" b="9024"/>
          <a:stretch/>
        </p:blipFill>
        <p:spPr>
          <a:xfrm>
            <a:off x="7445829" y="1224975"/>
            <a:ext cx="4746171" cy="37500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A1E522-AE75-69E4-55FA-7096607B2A8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1102" r="54228"/>
          <a:stretch>
            <a:fillRect/>
          </a:stretch>
        </p:blipFill>
        <p:spPr>
          <a:xfrm>
            <a:off x="7445829" y="4970419"/>
            <a:ext cx="2871686" cy="188758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B02D38E-73AB-6992-8D05-6B78F40512A6}"/>
              </a:ext>
            </a:extLst>
          </p:cNvPr>
          <p:cNvSpPr/>
          <p:nvPr/>
        </p:nvSpPr>
        <p:spPr>
          <a:xfrm>
            <a:off x="9546134" y="5990923"/>
            <a:ext cx="771381" cy="70128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ame 10">
            <a:extLst>
              <a:ext uri="{FF2B5EF4-FFF2-40B4-BE49-F238E27FC236}">
                <a16:creationId xmlns:a16="http://schemas.microsoft.com/office/drawing/2014/main" id="{FA44F9CD-72F8-C67C-920A-25D4CE699E2F}"/>
              </a:ext>
            </a:extLst>
          </p:cNvPr>
          <p:cNvSpPr/>
          <p:nvPr/>
        </p:nvSpPr>
        <p:spPr>
          <a:xfrm>
            <a:off x="7445829" y="6190343"/>
            <a:ext cx="771381" cy="667656"/>
          </a:xfrm>
          <a:prstGeom prst="frame">
            <a:avLst>
              <a:gd name="adj1" fmla="val 163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72148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3F09F-7BDA-4406-98D3-CD8F90872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0"/>
            <a:ext cx="9905998" cy="1018819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Steps 2-5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BB29FDEA-A590-45C7-B9CB-98F26BCB0850}"/>
              </a:ext>
            </a:extLst>
          </p:cNvPr>
          <p:cNvSpPr/>
          <p:nvPr/>
        </p:nvSpPr>
        <p:spPr>
          <a:xfrm>
            <a:off x="5111445" y="1018819"/>
            <a:ext cx="7080555" cy="58391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Circle: Hollow 2">
            <a:extLst>
              <a:ext uri="{FF2B5EF4-FFF2-40B4-BE49-F238E27FC236}">
                <a16:creationId xmlns:a16="http://schemas.microsoft.com/office/drawing/2014/main" id="{B4D047AF-D0F3-868E-DC18-A55B5FB6FC36}"/>
              </a:ext>
            </a:extLst>
          </p:cNvPr>
          <p:cNvSpPr/>
          <p:nvPr/>
        </p:nvSpPr>
        <p:spPr>
          <a:xfrm>
            <a:off x="7239001" y="1723977"/>
            <a:ext cx="2190307" cy="997958"/>
          </a:xfrm>
          <a:prstGeom prst="donut">
            <a:avLst>
              <a:gd name="adj" fmla="val 4439"/>
            </a:avLst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33ECEA7-816D-F311-8295-FD785877E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033" y="1018819"/>
            <a:ext cx="4200411" cy="5736416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US" dirty="0">
                <a:solidFill>
                  <a:schemeClr val="bg1"/>
                </a:solidFill>
              </a:rPr>
              <a:t>Action potential arrives at the axon terminal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en-US" dirty="0">
                <a:solidFill>
                  <a:schemeClr val="bg1"/>
                </a:solidFill>
              </a:rPr>
              <a:t>Voltage gated </a:t>
            </a:r>
            <a:r>
              <a:rPr lang="en-US" b="1" dirty="0">
                <a:solidFill>
                  <a:schemeClr val="bg1"/>
                </a:solidFill>
              </a:rPr>
              <a:t>Calcium</a:t>
            </a:r>
            <a:r>
              <a:rPr lang="en-US" dirty="0">
                <a:solidFill>
                  <a:schemeClr val="bg1"/>
                </a:solidFill>
              </a:rPr>
              <a:t> channels in the membrane open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en-US" dirty="0">
                <a:solidFill>
                  <a:schemeClr val="bg1"/>
                </a:solidFill>
              </a:rPr>
              <a:t>Influx of Calcium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en-US" dirty="0">
                <a:solidFill>
                  <a:schemeClr val="bg1"/>
                </a:solidFill>
              </a:rPr>
              <a:t>Calcium binds with </a:t>
            </a:r>
            <a:r>
              <a:rPr lang="en-US" b="1" dirty="0">
                <a:solidFill>
                  <a:schemeClr val="bg1"/>
                </a:solidFill>
              </a:rPr>
              <a:t>synaptotagmin</a:t>
            </a:r>
            <a:r>
              <a:rPr lang="en-US" dirty="0">
                <a:solidFill>
                  <a:schemeClr val="bg1"/>
                </a:solidFill>
              </a:rPr>
              <a:t> on vesicles causing them to fuse with the presynaptic membrane.</a:t>
            </a:r>
          </a:p>
        </p:txBody>
      </p:sp>
      <p:sp>
        <p:nvSpPr>
          <p:cNvPr id="7" name="Circle: Hollow 6">
            <a:extLst>
              <a:ext uri="{FF2B5EF4-FFF2-40B4-BE49-F238E27FC236}">
                <a16:creationId xmlns:a16="http://schemas.microsoft.com/office/drawing/2014/main" id="{09C54303-CF65-6038-3475-C826624030A7}"/>
              </a:ext>
            </a:extLst>
          </p:cNvPr>
          <p:cNvSpPr/>
          <p:nvPr/>
        </p:nvSpPr>
        <p:spPr>
          <a:xfrm>
            <a:off x="9840434" y="3785191"/>
            <a:ext cx="691116" cy="542260"/>
          </a:xfrm>
          <a:prstGeom prst="donut">
            <a:avLst>
              <a:gd name="adj" fmla="val 4439"/>
            </a:avLst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Circle: Hollow 7">
            <a:extLst>
              <a:ext uri="{FF2B5EF4-FFF2-40B4-BE49-F238E27FC236}">
                <a16:creationId xmlns:a16="http://schemas.microsoft.com/office/drawing/2014/main" id="{5BDE438E-9B7B-95B9-0488-7E673A8A727A}"/>
              </a:ext>
            </a:extLst>
          </p:cNvPr>
          <p:cNvSpPr/>
          <p:nvPr/>
        </p:nvSpPr>
        <p:spPr>
          <a:xfrm>
            <a:off x="9334912" y="4136066"/>
            <a:ext cx="691116" cy="542260"/>
          </a:xfrm>
          <a:prstGeom prst="donut">
            <a:avLst>
              <a:gd name="adj" fmla="val 4439"/>
            </a:avLst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4223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4F025-8543-4573-976D-EAF9FAA94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41887"/>
            <a:ext cx="9905998" cy="145308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How do we know Ca2+ is the catalyst?</a:t>
            </a:r>
          </a:p>
        </p:txBody>
      </p:sp>
      <p:pic>
        <p:nvPicPr>
          <p:cNvPr id="9" name="Picture 8" descr="Neuroscience6e-Fig-05-10-3R.jpg">
            <a:extLst>
              <a:ext uri="{FF2B5EF4-FFF2-40B4-BE49-F238E27FC236}">
                <a16:creationId xmlns:a16="http://schemas.microsoft.com/office/drawing/2014/main" id="{3CA2EB67-1EE0-44A0-80B4-9D2793CE064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4167" r="91509" b="6422"/>
          <a:stretch>
            <a:fillRect/>
          </a:stretch>
        </p:blipFill>
        <p:spPr>
          <a:xfrm>
            <a:off x="9375542" y="2385644"/>
            <a:ext cx="454261" cy="4056743"/>
          </a:xfrm>
          <a:prstGeom prst="rect">
            <a:avLst/>
          </a:prstGeom>
        </p:spPr>
      </p:pic>
      <p:pic>
        <p:nvPicPr>
          <p:cNvPr id="10" name="Picture 9" descr="Neuroscience6e-Fig-05-10-3R.jpg">
            <a:extLst>
              <a:ext uri="{FF2B5EF4-FFF2-40B4-BE49-F238E27FC236}">
                <a16:creationId xmlns:a16="http://schemas.microsoft.com/office/drawing/2014/main" id="{4355E368-0AA1-4835-B351-60F90653DD6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850"/>
          <a:stretch/>
        </p:blipFill>
        <p:spPr>
          <a:xfrm>
            <a:off x="9829803" y="2385643"/>
            <a:ext cx="2362197" cy="405674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F397158-5C92-4410-9A39-73849AC0CEAD}"/>
              </a:ext>
            </a:extLst>
          </p:cNvPr>
          <p:cNvSpPr txBox="1"/>
          <p:nvPr/>
        </p:nvSpPr>
        <p:spPr>
          <a:xfrm>
            <a:off x="9375542" y="1462313"/>
            <a:ext cx="28164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Injection of BAPTA (Ca2+ chelator) prevents a postsynaptic response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1C0AEE-47AC-4C0E-9678-FFDE5DD05D9C}"/>
              </a:ext>
            </a:extLst>
          </p:cNvPr>
          <p:cNvSpPr txBox="1"/>
          <p:nvPr/>
        </p:nvSpPr>
        <p:spPr>
          <a:xfrm>
            <a:off x="3843007" y="1462313"/>
            <a:ext cx="33320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Ca2+ injection in the presynaptic neuron leads to a change in the postsynaptic neuron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972ADF-DF52-43A2-87CF-7ADA772E105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0847"/>
          <a:stretch>
            <a:fillRect/>
          </a:stretch>
        </p:blipFill>
        <p:spPr>
          <a:xfrm>
            <a:off x="3842806" y="2375305"/>
            <a:ext cx="5445651" cy="406708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6A0825-10EB-7F37-0F97-42CF1F9DEB39}"/>
              </a:ext>
            </a:extLst>
          </p:cNvPr>
          <p:cNvSpPr txBox="1"/>
          <p:nvPr/>
        </p:nvSpPr>
        <p:spPr>
          <a:xfrm>
            <a:off x="7140343" y="1462313"/>
            <a:ext cx="21481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No presynaptic response when Ca2+ channels are blocked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AA2921-7D08-7905-3D5A-5CDBF1A9D2F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60119" b="54342"/>
          <a:stretch>
            <a:fillRect/>
          </a:stretch>
        </p:blipFill>
        <p:spPr>
          <a:xfrm>
            <a:off x="-2947" y="2375305"/>
            <a:ext cx="3758668" cy="22713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2B083B-0B3F-91B9-7300-BAAF9A97BEB9}"/>
              </a:ext>
            </a:extLst>
          </p:cNvPr>
          <p:cNvSpPr txBox="1"/>
          <p:nvPr/>
        </p:nvSpPr>
        <p:spPr>
          <a:xfrm>
            <a:off x="386420" y="1451975"/>
            <a:ext cx="29799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Stimulation of the presynaptic axon terminal increases levels of Ca2+</a:t>
            </a:r>
          </a:p>
        </p:txBody>
      </p:sp>
    </p:spTree>
    <p:extLst>
      <p:ext uri="{BB962C8B-B14F-4D97-AF65-F5344CB8AC3E}">
        <p14:creationId xmlns:p14="http://schemas.microsoft.com/office/powerpoint/2010/main" val="1440246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4" grpId="0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F1059-18E4-4745-B7E3-D2C373C10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9742" y="-1"/>
            <a:ext cx="8452516" cy="14247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Synaptotagmin: the Ca2+ sensor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DA15C-AF57-41BB-A5DD-407E3BDED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408" y="1584250"/>
            <a:ext cx="8989466" cy="2211573"/>
          </a:xfrm>
        </p:spPr>
        <p:txBody>
          <a:bodyPr>
            <a:normAutofit/>
          </a:bodyPr>
          <a:lstStyle/>
          <a:p>
            <a:pPr lvl="1"/>
            <a:r>
              <a:rPr lang="en-US" sz="2400" dirty="0">
                <a:solidFill>
                  <a:schemeClr val="bg1"/>
                </a:solidFill>
              </a:rPr>
              <a:t>When synaptotagmin binds Ca</a:t>
            </a:r>
            <a:r>
              <a:rPr lang="en-US" sz="2400" baseline="30000" dirty="0">
                <a:solidFill>
                  <a:schemeClr val="bg1"/>
                </a:solidFill>
              </a:rPr>
              <a:t>2+</a:t>
            </a:r>
            <a:r>
              <a:rPr lang="en-US" sz="2400" dirty="0">
                <a:solidFill>
                  <a:schemeClr val="bg1"/>
                </a:solidFill>
              </a:rPr>
              <a:t> ions:</a:t>
            </a:r>
          </a:p>
          <a:p>
            <a:pPr lvl="2"/>
            <a:r>
              <a:rPr lang="en-US" sz="2400" dirty="0">
                <a:solidFill>
                  <a:schemeClr val="bg1"/>
                </a:solidFill>
              </a:rPr>
              <a:t>It integrates into the SNARE complex</a:t>
            </a:r>
          </a:p>
          <a:p>
            <a:pPr lvl="2"/>
            <a:r>
              <a:rPr lang="en-US" sz="2400" dirty="0">
                <a:solidFill>
                  <a:schemeClr val="bg1"/>
                </a:solidFill>
              </a:rPr>
              <a:t>Initiates fusion of the vesicle and membrane</a:t>
            </a:r>
          </a:p>
          <a:p>
            <a:pPr lvl="2"/>
            <a:r>
              <a:rPr lang="en-US" sz="2400" dirty="0">
                <a:solidFill>
                  <a:schemeClr val="bg1"/>
                </a:solidFill>
              </a:rPr>
              <a:t>A pore is formed to allow for NT release from the vesicle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B993CF-485C-94CF-7056-24724CFF53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3395" b="54074"/>
          <a:stretch>
            <a:fillRect/>
          </a:stretch>
        </p:blipFill>
        <p:spPr>
          <a:xfrm>
            <a:off x="3123929" y="4412510"/>
            <a:ext cx="3403961" cy="19457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43A7B03-5FD1-05F4-02EC-EB4EEF777D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732" y="4412510"/>
            <a:ext cx="3131662" cy="19457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F88EF1-8772-637F-CEC4-8B77D814BBD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049" t="46517" r="3592" b="31677"/>
          <a:stretch/>
        </p:blipFill>
        <p:spPr>
          <a:xfrm>
            <a:off x="6527890" y="4412511"/>
            <a:ext cx="3283522" cy="19457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CD76A14-8538-D5BD-D639-B44233411E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1412" y="4412512"/>
            <a:ext cx="2380588" cy="1945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022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he Synaptic Vesicle Cycle Revisited: New Insights into the Modes and  Mechanisms | Journal of Neuroscience">
            <a:extLst>
              <a:ext uri="{FF2B5EF4-FFF2-40B4-BE49-F238E27FC236}">
                <a16:creationId xmlns:a16="http://schemas.microsoft.com/office/drawing/2014/main" id="{E296AB6F-78C5-4434-A3FB-1F12934E21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379"/>
          <a:stretch>
            <a:fillRect/>
          </a:stretch>
        </p:blipFill>
        <p:spPr bwMode="auto">
          <a:xfrm>
            <a:off x="6930571" y="1558995"/>
            <a:ext cx="4944358" cy="4157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AF233E-A55A-444F-876A-3DB64B846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80425"/>
            <a:ext cx="9905998" cy="147857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2 primary NT release modes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8058D-4E58-4A35-907E-A7B938D5A2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5531" y="1558995"/>
            <a:ext cx="6035040" cy="518868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Full fusion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Terminal and vesicle membranes fully merge and flatten.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Requires complete exocytosis </a:t>
            </a:r>
          </a:p>
          <a:p>
            <a:pPr lvl="1"/>
            <a:endParaRPr lang="en-US" sz="2400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Kiss-and-Run</a:t>
            </a:r>
          </a:p>
          <a:p>
            <a:pPr lvl="1"/>
            <a:r>
              <a:rPr lang="en-US" sz="2400" b="0" i="0" dirty="0">
                <a:solidFill>
                  <a:schemeClr val="bg1"/>
                </a:solidFill>
                <a:effectLst/>
              </a:rPr>
              <a:t>Vesicle content exits through a fusion pore.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Quickly disconnects after NT release</a:t>
            </a:r>
          </a:p>
          <a:p>
            <a:pPr lvl="1"/>
            <a:endParaRPr lang="en-US" dirty="0">
              <a:solidFill>
                <a:schemeClr val="bg1"/>
              </a:solidFill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9207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F09D1-F440-1474-CB85-71C91A544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0"/>
            <a:ext cx="9905998" cy="6604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Summary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98515-EE24-CD1E-15EE-8F585CCB1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1" y="660400"/>
            <a:ext cx="9905999" cy="6110514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Synapses can be electrical or chemical (or a little bit of both!)</a:t>
            </a:r>
          </a:p>
          <a:p>
            <a:r>
              <a:rPr lang="en-US" dirty="0">
                <a:solidFill>
                  <a:schemeClr val="bg1"/>
                </a:solidFill>
              </a:rPr>
              <a:t>Electrical synapses allow ions (and other molecules) to flow directly from one neuron to another through connexons.</a:t>
            </a:r>
          </a:p>
          <a:p>
            <a:r>
              <a:rPr lang="en-US" dirty="0">
                <a:solidFill>
                  <a:schemeClr val="bg1"/>
                </a:solidFill>
              </a:rPr>
              <a:t>Chemical synapses release neurotransmitters into the synapse.</a:t>
            </a:r>
          </a:p>
          <a:p>
            <a:r>
              <a:rPr lang="en-US" dirty="0">
                <a:solidFill>
                  <a:schemeClr val="bg1"/>
                </a:solidFill>
              </a:rPr>
              <a:t>A neurotransmitter can either be small molecule or neuropeptide</a:t>
            </a:r>
          </a:p>
          <a:p>
            <a:r>
              <a:rPr lang="en-US" dirty="0">
                <a:solidFill>
                  <a:schemeClr val="bg1"/>
                </a:solidFill>
              </a:rPr>
              <a:t>Vesicles are membrane bound sacks that are filled with NTs</a:t>
            </a:r>
          </a:p>
          <a:p>
            <a:r>
              <a:rPr lang="en-US" dirty="0">
                <a:solidFill>
                  <a:schemeClr val="bg1"/>
                </a:solidFill>
              </a:rPr>
              <a:t>Proteins on the vesicle and embedded in the presynaptic membrane drive the vesicle trafficking cycle.</a:t>
            </a:r>
          </a:p>
          <a:p>
            <a:r>
              <a:rPr lang="en-US" dirty="0">
                <a:solidFill>
                  <a:schemeClr val="bg1"/>
                </a:solidFill>
              </a:rPr>
              <a:t> Arrival of an AP at the axon terminal opens voltage gated Ca</a:t>
            </a:r>
            <a:r>
              <a:rPr lang="en-US" baseline="30000" dirty="0">
                <a:solidFill>
                  <a:schemeClr val="bg1"/>
                </a:solidFill>
              </a:rPr>
              <a:t>2+ </a:t>
            </a:r>
            <a:r>
              <a:rPr lang="en-US" dirty="0">
                <a:solidFill>
                  <a:schemeClr val="bg1"/>
                </a:solidFill>
              </a:rPr>
              <a:t>channels.</a:t>
            </a:r>
          </a:p>
          <a:p>
            <a:r>
              <a:rPr lang="en-US" dirty="0">
                <a:solidFill>
                  <a:schemeClr val="bg1"/>
                </a:solidFill>
              </a:rPr>
              <a:t>Ca</a:t>
            </a:r>
            <a:r>
              <a:rPr lang="en-US" baseline="30000" dirty="0">
                <a:solidFill>
                  <a:schemeClr val="bg1"/>
                </a:solidFill>
              </a:rPr>
              <a:t>2+ </a:t>
            </a:r>
            <a:r>
              <a:rPr lang="en-US" dirty="0">
                <a:solidFill>
                  <a:schemeClr val="bg1"/>
                </a:solidFill>
              </a:rPr>
              <a:t>binds with synaptotagmin initiating vesicle fusion with the presynaptic membrane. 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89266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w:document xmlns:w="http://schemas.openxmlformats.org/wordprocessingml/2006/main">
  <RequestId>cc78fb66-0e7f-43f8-9e2f-c06c4707cc61</RequestId>
  <RequestDate>7/26/2019 1:53:10 PM</RequestDate>
</w:document>
</file>

<file path=customXml/itemProps1.xml><?xml version="1.0" encoding="utf-8"?>
<ds:datastoreItem xmlns:ds="http://schemas.openxmlformats.org/officeDocument/2006/customXml" ds:itemID="{88828C38-7951-446B-9C20-6F7FA1998869}">
  <ds:schemaRefs>
    <ds:schemaRef ds:uri="http://schemas.openxmlformats.org/wordprocessingml/2006/main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12623</TotalTime>
  <Words>780</Words>
  <Application>Microsoft Office PowerPoint</Application>
  <PresentationFormat>Widescreen</PresentationFormat>
  <Paragraphs>103</Paragraphs>
  <Slides>19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Times</vt:lpstr>
      <vt:lpstr>Tw Cen MT</vt:lpstr>
      <vt:lpstr>Circuit</vt:lpstr>
      <vt:lpstr>Synaptic Transmission</vt:lpstr>
      <vt:lpstr>Learning Objectives</vt:lpstr>
      <vt:lpstr>PowerPoint Presentation</vt:lpstr>
      <vt:lpstr>Types of synapses</vt:lpstr>
      <vt:lpstr>Two classes of synapses</vt:lpstr>
      <vt:lpstr>Just in case you thought through this might be straightforward…</vt:lpstr>
      <vt:lpstr>PowerPoint Presentation</vt:lpstr>
      <vt:lpstr>Key experiment Supporting the theory of chemical synapses</vt:lpstr>
      <vt:lpstr>Chemical Synaptic Transmission Step 1:  Neurotransmitters are synthesized and stored in vesicles</vt:lpstr>
      <vt:lpstr>Neurotransmitters</vt:lpstr>
      <vt:lpstr>The molecular organization of a synaptic vesicle</vt:lpstr>
      <vt:lpstr>Vesicle Trafficking cycle</vt:lpstr>
      <vt:lpstr>PowerPoint Presentation</vt:lpstr>
      <vt:lpstr>Vesicles need to be docked &amp; primed for release</vt:lpstr>
      <vt:lpstr>Steps 2-5</vt:lpstr>
      <vt:lpstr>How do we know Ca2+ is the catalyst?</vt:lpstr>
      <vt:lpstr>Synaptotagmin: the Ca2+ sensor</vt:lpstr>
      <vt:lpstr>2 primary NT release modes</vt:lpstr>
      <vt:lpstr>Summary </vt:lpstr>
    </vt:vector>
  </TitlesOfParts>
  <Company>Franklin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Biology and behavior</dc:title>
  <dc:creator>Flora, Kristin</dc:creator>
  <cp:lastModifiedBy>Phillips, Nicole</cp:lastModifiedBy>
  <cp:revision>467</cp:revision>
  <dcterms:created xsi:type="dcterms:W3CDTF">2018-11-08T16:26:32Z</dcterms:created>
  <dcterms:modified xsi:type="dcterms:W3CDTF">2026-02-05T19:38:51Z</dcterms:modified>
</cp:coreProperties>
</file>