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Override1.xml" ContentType="application/vnd.openxmlformats-officedocument.themeOverride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74" r:id="rId1"/>
  </p:sldMasterIdLst>
  <p:notesMasterIdLst>
    <p:notesMasterId r:id="rId15"/>
  </p:notesMasterIdLst>
  <p:handoutMasterIdLst>
    <p:handoutMasterId r:id="rId16"/>
  </p:handoutMasterIdLst>
  <p:sldIdLst>
    <p:sldId id="677" r:id="rId2"/>
    <p:sldId id="673" r:id="rId3"/>
    <p:sldId id="674" r:id="rId4"/>
    <p:sldId id="675" r:id="rId5"/>
    <p:sldId id="597" r:id="rId6"/>
    <p:sldId id="476" r:id="rId7"/>
    <p:sldId id="599" r:id="rId8"/>
    <p:sldId id="477" r:id="rId9"/>
    <p:sldId id="482" r:id="rId10"/>
    <p:sldId id="567" r:id="rId11"/>
    <p:sldId id="494" r:id="rId12"/>
    <p:sldId id="676" r:id="rId13"/>
    <p:sldId id="268" r:id="rId14"/>
  </p:sldIdLst>
  <p:sldSz cx="12192000" cy="6858000"/>
  <p:notesSz cx="9601200" cy="7315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AB1DEDFB-40F5-4900-AA3C-85A50D813DE7}">
          <p14:sldIdLst>
            <p14:sldId id="677"/>
            <p14:sldId id="673"/>
            <p14:sldId id="674"/>
            <p14:sldId id="675"/>
            <p14:sldId id="597"/>
            <p14:sldId id="476"/>
            <p14:sldId id="599"/>
            <p14:sldId id="477"/>
            <p14:sldId id="482"/>
            <p14:sldId id="567"/>
            <p14:sldId id="494"/>
            <p14:sldId id="676"/>
            <p14:sldId id="26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304" userDrawn="1">
          <p15:clr>
            <a:srgbClr val="A4A3A4"/>
          </p15:clr>
        </p15:guide>
        <p15:guide id="2" pos="3024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5E59"/>
    <a:srgbClr val="B2B3B6"/>
    <a:srgbClr val="8C8EC1"/>
    <a:srgbClr val="FFEAAB"/>
    <a:srgbClr val="F9B4AD"/>
    <a:srgbClr val="B8B67D"/>
    <a:srgbClr val="D65746"/>
    <a:srgbClr val="E69558"/>
    <a:srgbClr val="C8D5AE"/>
    <a:srgbClr val="9876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864" autoAdjust="0"/>
    <p:restoredTop sz="84473" autoAdjust="0"/>
  </p:normalViewPr>
  <p:slideViewPr>
    <p:cSldViewPr>
      <p:cViewPr varScale="1">
        <p:scale>
          <a:sx n="134" d="100"/>
          <a:sy n="134" d="100"/>
        </p:scale>
        <p:origin x="834" y="12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3768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8796"/>
    </p:cViewPr>
  </p:sorterViewPr>
  <p:notesViewPr>
    <p:cSldViewPr>
      <p:cViewPr varScale="1">
        <p:scale>
          <a:sx n="104" d="100"/>
          <a:sy n="104" d="100"/>
        </p:scale>
        <p:origin x="2508" y="114"/>
      </p:cViewPr>
      <p:guideLst>
        <p:guide orient="horz" pos="2304"/>
        <p:guide pos="302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685800" y="304800"/>
            <a:ext cx="3657600" cy="365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9" tIns="48330" rIns="96659" bIns="4833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400">
                <a:latin typeface="Times New Roman" pitchFamily="18" charset="0"/>
              </a:defRPr>
            </a:lvl1pPr>
          </a:lstStyle>
          <a:p>
            <a:r>
              <a:rPr lang="en-US" dirty="0"/>
              <a:t>Ch 06 – Transmitters &amp; Receptors</a:t>
            </a:r>
          </a:p>
        </p:txBody>
      </p:sp>
      <p:sp>
        <p:nvSpPr>
          <p:cNvPr id="7680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257800" y="6644640"/>
            <a:ext cx="3657600" cy="365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9" tIns="48330" rIns="96659" bIns="4833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400">
                <a:latin typeface="Times New Roman" pitchFamily="18" charset="0"/>
              </a:defRPr>
            </a:lvl1pPr>
          </a:lstStyle>
          <a:p>
            <a:fld id="{8D7DF48F-BE4C-487E-AE9D-DDD4308B59D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629473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4160520" cy="365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9" tIns="48330" rIns="96659" bIns="4833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400">
                <a:latin typeface="Times New Roman" pitchFamily="18" charset="0"/>
              </a:defRPr>
            </a:lvl1pPr>
          </a:lstStyle>
          <a:p>
            <a:endParaRPr lang="en-US"/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440681" y="1"/>
            <a:ext cx="4160520" cy="365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9" tIns="48330" rIns="96659" bIns="4833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400">
                <a:latin typeface="Times New Roman" pitchFamily="18" charset="0"/>
              </a:defRPr>
            </a:lvl1pPr>
          </a:lstStyle>
          <a:p>
            <a:endParaRPr lang="en-US"/>
          </a:p>
        </p:txBody>
      </p:sp>
      <p:sp>
        <p:nvSpPr>
          <p:cNvPr id="2458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362200" y="549275"/>
            <a:ext cx="4876800" cy="27432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2458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280161" y="3474721"/>
            <a:ext cx="7040880" cy="32918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9" tIns="48330" rIns="96659" bIns="4833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58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949441"/>
            <a:ext cx="4160520" cy="365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9" tIns="48330" rIns="96659" bIns="4833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400">
                <a:latin typeface="Times New Roman" pitchFamily="18" charset="0"/>
              </a:defRPr>
            </a:lvl1pPr>
          </a:lstStyle>
          <a:p>
            <a:endParaRPr lang="en-US"/>
          </a:p>
        </p:txBody>
      </p:sp>
      <p:sp>
        <p:nvSpPr>
          <p:cNvPr id="2458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440681" y="6949441"/>
            <a:ext cx="4160520" cy="365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9" tIns="48330" rIns="96659" bIns="4833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400">
                <a:latin typeface="Times New Roman" pitchFamily="18" charset="0"/>
              </a:defRPr>
            </a:lvl1pPr>
          </a:lstStyle>
          <a:p>
            <a:fld id="{D00DACB7-4095-4A12-A9FF-0B91CD463D80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8397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0DACB7-4095-4A12-A9FF-0B91CD463D80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4638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0DACB7-4095-4A12-A9FF-0B91CD463D80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85235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F548C5-8BC6-A212-C9E2-3AC3878DC1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032940-D2A7-5C40-CE9B-1EA4CF6E36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C41105-FF4C-24BD-FE97-C900D85BB6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1/3 of inhibitory synapses</a:t>
            </a:r>
          </a:p>
          <a:p>
            <a:endParaRPr lang="en-US" dirty="0"/>
          </a:p>
          <a:p>
            <a:r>
              <a:rPr lang="en-US" dirty="0"/>
              <a:t>GABA is most commonly found in local circuit interneurons, although medium spiny neurons of the striatum and cerebellar Purkinje cells are examples of GABAergic projection neurons.</a:t>
            </a:r>
          </a:p>
          <a:p>
            <a:endParaRPr lang="en-US" dirty="0"/>
          </a:p>
          <a:p>
            <a:r>
              <a:rPr lang="en-US" dirty="0"/>
              <a:t>GAD requires a co-factor</a:t>
            </a:r>
          </a:p>
          <a:p>
            <a:r>
              <a:rPr lang="en-US" dirty="0"/>
              <a:t>Derived from vitamin B6</a:t>
            </a:r>
          </a:p>
          <a:p>
            <a:r>
              <a:rPr lang="en-US" dirty="0"/>
              <a:t>deficiency of this vitamin can lead to diminished GABA synthesis and seizures</a:t>
            </a:r>
          </a:p>
          <a:p>
            <a:endParaRPr lang="en-US" dirty="0"/>
          </a:p>
          <a:p>
            <a:r>
              <a:rPr lang="en-US" b="1" dirty="0"/>
              <a:t>vesicular inhibitory amino acid transporter (VIAAT</a:t>
            </a:r>
            <a:r>
              <a:rPr lang="en-US" dirty="0"/>
              <a:t>), also called the </a:t>
            </a:r>
            <a:r>
              <a:rPr lang="en-US" b="1" dirty="0"/>
              <a:t>vesicular GABA transporter </a:t>
            </a:r>
            <a:r>
              <a:rPr lang="en-US" dirty="0"/>
              <a:t>(VGAT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A3ED8F-0B95-984F-8DAE-10F5AA7E79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0DACB7-4095-4A12-A9FF-0B91CD463D80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7196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B01A8C-1F3D-32C8-CB7E-8720125100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839555-3E82-2D6A-7217-90900D27C4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0F042F-AA06-753A-59C8-4D392623AB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 GABA is eventually converted to succinate, which is metabolized further in the tricarboxylic acid cycle that mediates cellular ATP synthesis. </a:t>
            </a:r>
          </a:p>
          <a:p>
            <a:r>
              <a:rPr lang="en-US" dirty="0"/>
              <a:t>Two mitochondrial enzymes are required for this degradation: GABA transaminase and </a:t>
            </a:r>
            <a:r>
              <a:rPr lang="en-US" b="1" dirty="0"/>
              <a:t>succinic semialdehyde dehydrogenase</a:t>
            </a:r>
            <a:r>
              <a:rPr lang="en-US" dirty="0"/>
              <a:t>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E92D45-55AE-8B91-A7F7-299D138555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0DACB7-4095-4A12-A9FF-0B91CD463D80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3066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There are 19 types of GABAA subunits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Benzos: Valium, Ambien. </a:t>
            </a:r>
            <a:r>
              <a:rPr lang="en-US" altLang="x-none" sz="1200" dirty="0">
                <a:ea typeface="ＭＳ Ｐゴシック" charset="-128"/>
              </a:rPr>
              <a:t>Bind to the antianxiety site; maximizes the time the pore is open and influences the frequency that the ion pore opens in response to GABA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/>
              <a:t>Barbiturates mainly for anesthesia or epilepsy</a:t>
            </a:r>
            <a:endParaRPr lang="en-US" altLang="x-none" sz="800" dirty="0">
              <a:ea typeface="ＭＳ Ｐゴシック" charset="-128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x-none" sz="1400" dirty="0">
                <a:ea typeface="ＭＳ Ｐゴシック" charset="-128"/>
              </a:rPr>
              <a:t>Alcohol and Barbiturates </a:t>
            </a:r>
            <a:r>
              <a:rPr lang="en-US" altLang="x-none" sz="1200" dirty="0">
                <a:ea typeface="ＭＳ Ｐゴシック" charset="-128"/>
              </a:rPr>
              <a:t>Bind to the sedative-hypnotic site and increase the influx of Cl</a:t>
            </a:r>
            <a:r>
              <a:rPr lang="en-US" altLang="x-none" sz="1200" baseline="30000" dirty="0">
                <a:ea typeface="ＭＳ Ｐゴシック" charset="-128"/>
              </a:rPr>
              <a:t>-</a:t>
            </a:r>
            <a:r>
              <a:rPr lang="en-US" altLang="x-none" sz="1200" dirty="0">
                <a:ea typeface="ＭＳ Ｐゴシック" charset="-128"/>
              </a:rPr>
              <a:t>, causing hyperpolarization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0DACB7-4095-4A12-A9FF-0B91CD463D80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4854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Also histamine</a:t>
            </a:r>
          </a:p>
          <a:p>
            <a:r>
              <a:rPr lang="en-US" dirty="0"/>
              <a:t>Also called monoamines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0DACB7-4095-4A12-A9FF-0B91CD463D80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3203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Dopamine has several pathways related to reward and movement</a:t>
            </a:r>
          </a:p>
          <a:p>
            <a:r>
              <a:rPr lang="en-US" dirty="0"/>
              <a:t>NE has pathways for memory and sleep (</a:t>
            </a:r>
            <a:r>
              <a:rPr lang="en-US" sz="1200" dirty="0">
                <a:solidFill>
                  <a:schemeClr val="bg1"/>
                </a:solidFill>
              </a:rPr>
              <a:t>Locus coeruleus) and PNS (Lateral tegmental area )</a:t>
            </a:r>
          </a:p>
          <a:p>
            <a:endParaRPr lang="en-US" sz="1200" dirty="0">
              <a:solidFill>
                <a:schemeClr val="bg1"/>
              </a:solidFill>
            </a:endParaRPr>
          </a:p>
          <a:p>
            <a:r>
              <a:rPr lang="en-US" sz="1200" dirty="0">
                <a:solidFill>
                  <a:schemeClr val="bg1"/>
                </a:solidFill>
              </a:rPr>
              <a:t>Epi mostly in LTA and medulla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0DACB7-4095-4A12-A9FF-0B91CD463D80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3439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Dopamine NE and Epi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so named because they share the catechol moiety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Times New Roman" pitchFamily="18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VMAT = vesicular monoamine transporter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Times New Roman" pitchFamily="18" charset="0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NET works for NE and E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Times New Roman" pitchFamily="18" charset="0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catechol O-methyltransferase (COMT)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Times New Roman" pitchFamily="18" charset="0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0DACB7-4095-4A12-A9FF-0B91CD463D80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3021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Adenyl cyclase: enzyme that converts ATP into cyclic AMP (cAMP)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0DACB7-4095-4A12-A9FF-0B91CD463D80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7628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8DD2AD-D2AA-F02F-3B40-0C7D89A6DF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8B2E16-0148-D6B8-BF67-ED2481DF9C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632557-6F3E-0F1F-9F89-13F8936668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4B2B14-87F7-E8DE-7D24-FBE2A987E6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0DACB7-4095-4A12-A9FF-0B91CD463D80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2826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2" name="Google Shape;17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2866" name="Group 2"/>
          <p:cNvGrpSpPr>
            <a:grpSpLocks/>
          </p:cNvGrpSpPr>
          <p:nvPr/>
        </p:nvGrpSpPr>
        <p:grpSpPr bwMode="auto">
          <a:xfrm>
            <a:off x="1" y="2438401"/>
            <a:ext cx="12012084" cy="1052513"/>
            <a:chOff x="0" y="1536"/>
            <a:chExt cx="5675" cy="663"/>
          </a:xfrm>
        </p:grpSpPr>
        <p:grpSp>
          <p:nvGrpSpPr>
            <p:cNvPr id="292867" name="Group 3"/>
            <p:cNvGrpSpPr>
              <a:grpSpLocks/>
            </p:cNvGrpSpPr>
            <p:nvPr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292868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accent3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92869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3000">
                    <a:schemeClr val="accent3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292870" name="Group 6"/>
            <p:cNvGrpSpPr>
              <a:grpSpLocks/>
            </p:cNvGrpSpPr>
            <p:nvPr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292871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92872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292873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2874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2875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92876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1320800" y="1676400"/>
            <a:ext cx="10363200" cy="146208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92877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92878" name="Rectangle 14"/>
          <p:cNvSpPr>
            <a:spLocks noGrp="1" noChangeArrowheads="1"/>
          </p:cNvSpPr>
          <p:nvPr>
            <p:ph type="dt" sz="half" idx="2"/>
          </p:nvPr>
        </p:nvSpPr>
        <p:spPr>
          <a:xfrm>
            <a:off x="13208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292879" name="Rectangle 15"/>
          <p:cNvSpPr>
            <a:spLocks noGrp="1" noChangeArrowheads="1"/>
          </p:cNvSpPr>
          <p:nvPr>
            <p:ph type="ftr" sz="quarter" idx="3"/>
          </p:nvPr>
        </p:nvSpPr>
        <p:spPr>
          <a:xfrm>
            <a:off x="45720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292880" name="Rectangle 1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91440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C14F4863-3735-4241-A151-99B5A200952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1785" y="2251075"/>
            <a:ext cx="11218332" cy="429768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549400" y="6243638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876800" y="6243638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389533" y="6243638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BA855A86-6A6D-4840-88B7-5E435C5E43E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Rectangle 10">
            <a:extLst>
              <a:ext uri="{FF2B5EF4-FFF2-40B4-BE49-F238E27FC236}">
                <a16:creationId xmlns:a16="http://schemas.microsoft.com/office/drawing/2014/main" id="{8FEF19C7-5D7C-4371-ADF7-1E0E0AF7751D}"/>
              </a:ext>
            </a:extLst>
          </p:cNvPr>
          <p:cNvSpPr>
            <a:spLocks noGrp="1" noChangeArrowheads="1"/>
          </p:cNvSpPr>
          <p:nvPr>
            <p:ph idx="13"/>
          </p:nvPr>
        </p:nvSpPr>
        <p:spPr bwMode="auto">
          <a:xfrm>
            <a:off x="609600" y="2133600"/>
            <a:ext cx="10972800" cy="44805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31805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98762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1785" y="2251075"/>
            <a:ext cx="11218332" cy="429768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549400" y="6243638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876800" y="6243638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389533" y="6243638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BA855A86-6A6D-4840-88B7-5E435C5E43E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4670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1785" y="2251075"/>
            <a:ext cx="11218332" cy="429768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980611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1785" y="2251075"/>
            <a:ext cx="11218332" cy="4297680"/>
          </a:xfrm>
          <a:prstGeom prst="rect">
            <a:avLst/>
          </a:prstGeom>
        </p:spPr>
        <p:txBody>
          <a:bodyPr/>
          <a:lstStyle>
            <a:lvl1pPr>
              <a:buClr>
                <a:schemeClr val="accent5">
                  <a:lumMod val="50000"/>
                </a:schemeClr>
              </a:buClr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549400" y="6243638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876800" y="6243638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389533" y="6243638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BA855A86-6A6D-4840-88B7-5E435C5E43E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6707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549400" y="6243638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876800" y="6243638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389533" y="6243638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1D6F1507-CE6E-4D6F-81CA-4ADFDB980D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76917" y="2017713"/>
            <a:ext cx="5080000" cy="411480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60117" y="2017713"/>
            <a:ext cx="5080000" cy="411480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549400" y="6243638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76800" y="6243638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389533" y="6243638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DAD2A7AB-A2C3-4C4E-9114-97859ED2E21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981200"/>
            <a:ext cx="5303520" cy="4495800"/>
          </a:xfrm>
          <a:prstGeom prst="rect">
            <a:avLst/>
          </a:prstGeom>
        </p:spPr>
        <p:txBody>
          <a:bodyPr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n"/>
              <a:defRPr lang="en-US" sz="36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n"/>
              <a:defRPr lang="en-US" sz="36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n"/>
              <a:defRPr lang="en-US" sz="36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n"/>
              <a:defRPr lang="en-US" sz="36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n"/>
              <a:defRPr lang="en-US" sz="36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78882" y="1981200"/>
            <a:ext cx="5303520" cy="4495800"/>
          </a:xfrm>
          <a:prstGeom prst="rect">
            <a:avLst/>
          </a:prstGeom>
        </p:spPr>
        <p:txBody>
          <a:bodyPr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n"/>
              <a:defRPr lang="en-US" sz="36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n"/>
              <a:defRPr lang="en-US" sz="36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n"/>
              <a:defRPr lang="en-US" sz="36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n"/>
              <a:defRPr lang="en-US" sz="36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n"/>
              <a:defRPr lang="en-US" sz="36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917648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5C8D82D-0AAE-4124-8DB1-70B7AA3231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981200"/>
            <a:ext cx="5303520" cy="4495800"/>
          </a:xfrm>
          <a:prstGeom prst="rect">
            <a:avLst/>
          </a:prstGeom>
        </p:spPr>
        <p:txBody>
          <a:bodyPr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n"/>
              <a:defRPr lang="en-US" sz="36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n"/>
              <a:defRPr lang="en-US" sz="36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n"/>
              <a:defRPr lang="en-US" sz="36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n"/>
              <a:defRPr lang="en-US" sz="36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n"/>
              <a:defRPr lang="en-US" sz="36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215FB13B-A49B-4F15-8A7A-1B957C561A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78882" y="1981200"/>
            <a:ext cx="5303520" cy="4495800"/>
          </a:xfrm>
          <a:prstGeom prst="rect">
            <a:avLst/>
          </a:prstGeom>
        </p:spPr>
        <p:txBody>
          <a:bodyPr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n"/>
              <a:defRPr lang="en-US" sz="36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n"/>
              <a:defRPr lang="en-US" sz="36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n"/>
              <a:defRPr lang="en-US" sz="36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n"/>
              <a:defRPr lang="en-US" sz="36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n"/>
              <a:defRPr lang="en-US" sz="36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398864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1549400" y="6243638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876800" y="6243638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9389533" y="6243638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C2DD7685-B2C1-419F-B2B5-A4A7B485CFA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549400" y="6243638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876800" y="6243638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9389533" y="6243638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1155910D-CFFB-47C3-A4AF-71D427E44CE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1549400" y="6243638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876800" y="6243638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389533" y="6243638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99A44F33-B12A-4F02-8315-13E4B5D9B15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549400" y="6243638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76800" y="6243638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389533" y="6243638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FCB7C75-21B4-43C8-B732-11CCDF8028F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549400" y="6243638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76800" y="6243638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389533" y="6243638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6F06FDCA-43BD-4D6A-ADD6-C6E665D6A9F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21785" y="2251075"/>
            <a:ext cx="11218332" cy="429768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549400" y="6243638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876800" y="6243638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389533" y="6243638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750ECB99-716E-47EF-9188-25B801A5FD5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338733" y="214313"/>
            <a:ext cx="2601384" cy="5918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34584" y="214313"/>
            <a:ext cx="7600949" cy="59182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549400" y="6243638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876800" y="6243638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389533" y="6243638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73F2839-37B9-477D-ABA7-9C1D4F43B66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2"/>
          <p:cNvSpPr>
            <a:spLocks noChangeArrowheads="1"/>
          </p:cNvSpPr>
          <p:nvPr/>
        </p:nvSpPr>
        <p:spPr bwMode="ltGray">
          <a:xfrm>
            <a:off x="556684" y="1098551"/>
            <a:ext cx="584200" cy="474663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kumimoji="1" lang="en-US" sz="2400">
              <a:latin typeface="Tahoma" pitchFamily="34" charset="0"/>
            </a:endParaRPr>
          </a:p>
        </p:txBody>
      </p:sp>
      <p:sp>
        <p:nvSpPr>
          <p:cNvPr id="291843" name="Rectangle 3"/>
          <p:cNvSpPr>
            <a:spLocks noChangeArrowheads="1"/>
          </p:cNvSpPr>
          <p:nvPr/>
        </p:nvSpPr>
        <p:spPr bwMode="ltGray">
          <a:xfrm>
            <a:off x="1066801" y="1098551"/>
            <a:ext cx="438151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accent2">
                  <a:lumMod val="40000"/>
                  <a:lumOff val="60000"/>
                </a:scheme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kumimoji="1" lang="en-US" sz="2400">
              <a:latin typeface="Tahoma" pitchFamily="34" charset="0"/>
            </a:endParaRPr>
          </a:p>
        </p:txBody>
      </p:sp>
      <p:sp>
        <p:nvSpPr>
          <p:cNvPr id="291844" name="Rectangle 4"/>
          <p:cNvSpPr>
            <a:spLocks noChangeArrowheads="1"/>
          </p:cNvSpPr>
          <p:nvPr/>
        </p:nvSpPr>
        <p:spPr bwMode="ltGray">
          <a:xfrm>
            <a:off x="721785" y="1520826"/>
            <a:ext cx="563033" cy="474663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kumimoji="1" lang="en-US" sz="2400">
              <a:latin typeface="Tahoma" pitchFamily="34" charset="0"/>
            </a:endParaRPr>
          </a:p>
        </p:txBody>
      </p:sp>
      <p:sp>
        <p:nvSpPr>
          <p:cNvPr id="291845" name="Rectangle 5"/>
          <p:cNvSpPr>
            <a:spLocks noChangeArrowheads="1"/>
          </p:cNvSpPr>
          <p:nvPr/>
        </p:nvSpPr>
        <p:spPr bwMode="ltGray">
          <a:xfrm>
            <a:off x="1214967" y="1520826"/>
            <a:ext cx="491067" cy="474663"/>
          </a:xfrm>
          <a:prstGeom prst="rect">
            <a:avLst/>
          </a:prstGeom>
          <a:gradFill rotWithShape="0">
            <a:gsLst>
              <a:gs pos="0">
                <a:schemeClr val="accent3"/>
              </a:gs>
              <a:gs pos="100000">
                <a:schemeClr val="accent3">
                  <a:lumMod val="40000"/>
                  <a:lumOff val="60000"/>
                </a:scheme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kumimoji="1" lang="en-US" sz="2400">
              <a:latin typeface="Tahoma" pitchFamily="34" charset="0"/>
            </a:endParaRPr>
          </a:p>
        </p:txBody>
      </p:sp>
      <p:sp>
        <p:nvSpPr>
          <p:cNvPr id="291846" name="Rectangle 6"/>
          <p:cNvSpPr>
            <a:spLocks noChangeArrowheads="1"/>
          </p:cNvSpPr>
          <p:nvPr/>
        </p:nvSpPr>
        <p:spPr bwMode="ltGray">
          <a:xfrm>
            <a:off x="169333" y="1447801"/>
            <a:ext cx="747184" cy="422275"/>
          </a:xfrm>
          <a:prstGeom prst="rect">
            <a:avLst/>
          </a:prstGeom>
          <a:gradFill rotWithShape="0">
            <a:gsLst>
              <a:gs pos="0">
                <a:schemeClr val="accent4">
                  <a:lumMod val="40000"/>
                  <a:lumOff val="60000"/>
                </a:schemeClr>
              </a:gs>
              <a:gs pos="100000">
                <a:schemeClr val="accent4"/>
              </a:gs>
            </a:gsLst>
            <a:lin ang="189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kumimoji="1" lang="en-US" sz="2400">
              <a:latin typeface="Tahoma" pitchFamily="34" charset="0"/>
            </a:endParaRPr>
          </a:p>
        </p:txBody>
      </p:sp>
      <p:sp>
        <p:nvSpPr>
          <p:cNvPr id="291847" name="Rectangle 7"/>
          <p:cNvSpPr>
            <a:spLocks noChangeArrowheads="1"/>
          </p:cNvSpPr>
          <p:nvPr/>
        </p:nvSpPr>
        <p:spPr bwMode="gray">
          <a:xfrm>
            <a:off x="1016000" y="990601"/>
            <a:ext cx="42333" cy="1052513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kumimoji="1" lang="en-US" sz="2400">
              <a:latin typeface="Tahoma" pitchFamily="34" charset="0"/>
            </a:endParaRPr>
          </a:p>
        </p:txBody>
      </p:sp>
      <p:sp>
        <p:nvSpPr>
          <p:cNvPr id="291848" name="Rectangle 8"/>
          <p:cNvSpPr>
            <a:spLocks noChangeArrowheads="1"/>
          </p:cNvSpPr>
          <p:nvPr/>
        </p:nvSpPr>
        <p:spPr bwMode="gray">
          <a:xfrm>
            <a:off x="590551" y="1781175"/>
            <a:ext cx="10968567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kumimoji="1" lang="en-US" sz="2400">
              <a:latin typeface="Tahoma" pitchFamily="34" charset="0"/>
            </a:endParaRPr>
          </a:p>
        </p:txBody>
      </p:sp>
      <p:sp>
        <p:nvSpPr>
          <p:cNvPr id="291849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534585" y="214314"/>
            <a:ext cx="10047815" cy="146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291850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2133600"/>
            <a:ext cx="10972800" cy="44805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86" r:id="rId3"/>
    <p:sldLayoutId id="2147483687" r:id="rId4"/>
    <p:sldLayoutId id="2147483689" r:id="rId5"/>
    <p:sldLayoutId id="2147483691" r:id="rId6"/>
    <p:sldLayoutId id="2147483677" r:id="rId7"/>
    <p:sldLayoutId id="2147483678" r:id="rId8"/>
    <p:sldLayoutId id="2147483688" r:id="rId9"/>
    <p:sldLayoutId id="2147483690" r:id="rId10"/>
    <p:sldLayoutId id="2147483679" r:id="rId11"/>
    <p:sldLayoutId id="2147483680" r:id="rId12"/>
    <p:sldLayoutId id="2147483681" r:id="rId13"/>
    <p:sldLayoutId id="2147483682" r:id="rId14"/>
    <p:sldLayoutId id="2147483683" r:id="rId15"/>
    <p:sldLayoutId id="2147483684" r:id="rId16"/>
    <p:sldLayoutId id="2147483685" r:id="rId17"/>
  </p:sldLayoutIdLst>
  <p:txStyles>
    <p:titleStyle>
      <a:lvl1pPr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2pPr>
      <a:lvl3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3pPr>
      <a:lvl4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4pPr>
      <a:lvl5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accent3"/>
        </a:buClr>
        <a:buSzPct val="60000"/>
        <a:buFont typeface="Wingdings" pitchFamily="2" charset="2"/>
        <a:buChar char="n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tx2"/>
        </a:buClr>
        <a:buSzPct val="55000"/>
        <a:buFont typeface="Wingdings" pitchFamily="2" charset="2"/>
        <a:buChar char="n"/>
        <a:defRPr sz="3200"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accent4"/>
        </a:buClr>
        <a:buSzPct val="50000"/>
        <a:buFont typeface="Wingdings" pitchFamily="2" charset="2"/>
        <a:buChar char="n"/>
        <a:defRPr sz="3200"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3200"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32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18" Type="http://schemas.openxmlformats.org/officeDocument/2006/relationships/image" Target="../media/image24.png"/><Relationship Id="rId3" Type="http://schemas.openxmlformats.org/officeDocument/2006/relationships/image" Target="../media/image9.png"/><Relationship Id="rId21" Type="http://schemas.openxmlformats.org/officeDocument/2006/relationships/image" Target="../media/image27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17" Type="http://schemas.openxmlformats.org/officeDocument/2006/relationships/image" Target="../media/image23.pn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22.png"/><Relationship Id="rId20" Type="http://schemas.openxmlformats.org/officeDocument/2006/relationships/image" Target="../media/image26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5" Type="http://schemas.openxmlformats.org/officeDocument/2006/relationships/image" Target="../media/image21.png"/><Relationship Id="rId23" Type="http://schemas.openxmlformats.org/officeDocument/2006/relationships/image" Target="../media/image29.png"/><Relationship Id="rId10" Type="http://schemas.openxmlformats.org/officeDocument/2006/relationships/image" Target="../media/image16.png"/><Relationship Id="rId19" Type="http://schemas.openxmlformats.org/officeDocument/2006/relationships/image" Target="../media/image25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Relationship Id="rId22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5E386A-7ACE-C6BC-2D49-4B97400B3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018" name="Rectangle 2">
            <a:extLst>
              <a:ext uri="{FF2B5EF4-FFF2-40B4-BE49-F238E27FC236}">
                <a16:creationId xmlns:a16="http://schemas.microsoft.com/office/drawing/2014/main" id="{6E0E3E47-AD31-19E4-76BB-8E3CC0EFBF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4 Key points for each major transmitter</a:t>
            </a: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D0BAE4E5-4BF5-6E81-95D4-5E2DEE1D791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76992486"/>
              </p:ext>
            </p:extLst>
          </p:nvPr>
        </p:nvGraphicFramePr>
        <p:xfrm>
          <a:off x="731520" y="2046286"/>
          <a:ext cx="11003280" cy="4566920"/>
        </p:xfrm>
        <a:graphic>
          <a:graphicData uri="http://schemas.openxmlformats.org/drawingml/2006/table">
            <a:tbl>
              <a:tblPr firstRow="1" bandRow="1">
                <a:tableStyleId>{2A488322-F2BA-4B5B-9748-0D474271808F}</a:tableStyleId>
              </a:tblPr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65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Transmitter</a:t>
                      </a:r>
                    </a:p>
                  </a:txBody>
                  <a:tcPr>
                    <a:solidFill>
                      <a:srgbClr val="9876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Location</a:t>
                      </a:r>
                    </a:p>
                  </a:txBody>
                  <a:tcPr>
                    <a:solidFill>
                      <a:srgbClr val="9876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Synthesis</a:t>
                      </a:r>
                    </a:p>
                  </a:txBody>
                  <a:tcPr>
                    <a:solidFill>
                      <a:srgbClr val="9876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Inactivation</a:t>
                      </a:r>
                    </a:p>
                  </a:txBody>
                  <a:tcPr>
                    <a:solidFill>
                      <a:srgbClr val="9876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Receptors</a:t>
                      </a:r>
                    </a:p>
                  </a:txBody>
                  <a:tcPr>
                    <a:solidFill>
                      <a:srgbClr val="9876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ACh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NMJs, ANS, </a:t>
                      </a:r>
                      <a:r>
                        <a:rPr lang="en-US" sz="1600" baseline="0" dirty="0"/>
                        <a:t>tegmentum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Choline+Acetyl</a:t>
                      </a:r>
                      <a:r>
                        <a:rPr lang="en-US" sz="1600" dirty="0"/>
                        <a:t> CoA</a:t>
                      </a:r>
                    </a:p>
                    <a:p>
                      <a:endParaRPr lang="en-US" sz="1600" dirty="0"/>
                    </a:p>
                    <a:p>
                      <a:r>
                        <a:rPr lang="en-US" sz="1600" dirty="0" err="1"/>
                        <a:t>ChAT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AChE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(i)   </a:t>
                      </a:r>
                      <a:r>
                        <a:rPr lang="en-US" sz="1600" dirty="0" err="1"/>
                        <a:t>nAChR</a:t>
                      </a:r>
                      <a:endParaRPr lang="en-US" sz="1600" dirty="0"/>
                    </a:p>
                    <a:p>
                      <a:r>
                        <a:rPr lang="en-US" sz="1600" dirty="0"/>
                        <a:t>(m)</a:t>
                      </a:r>
                      <a:r>
                        <a:rPr lang="en-US" sz="1600" baseline="0" dirty="0"/>
                        <a:t> </a:t>
                      </a:r>
                      <a:r>
                        <a:rPr lang="en-US" sz="1600" baseline="0" dirty="0" err="1"/>
                        <a:t>mAChR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Glutamate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&gt;90% CNS</a:t>
                      </a:r>
                      <a:r>
                        <a:rPr lang="en-US" sz="1600" baseline="0" dirty="0"/>
                        <a:t> synapses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Glutamine</a:t>
                      </a:r>
                    </a:p>
                    <a:p>
                      <a:endParaRPr lang="en-US" sz="1600" dirty="0"/>
                    </a:p>
                    <a:p>
                      <a:r>
                        <a:rPr lang="en-US" sz="1600" dirty="0" err="1"/>
                        <a:t>Glutaminase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EAATs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00050" indent="-400050">
                        <a:buAutoNum type="romanLcParenBoth"/>
                      </a:pPr>
                      <a:r>
                        <a:rPr lang="en-US" sz="1600" baseline="0" dirty="0"/>
                        <a:t>NMDA (NR)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600" dirty="0"/>
                        <a:t>      AMPA (</a:t>
                      </a:r>
                      <a:r>
                        <a:rPr lang="en-US" sz="1600" dirty="0" err="1"/>
                        <a:t>GluA</a:t>
                      </a:r>
                      <a:r>
                        <a:rPr lang="en-US" sz="1600" dirty="0"/>
                        <a:t>), </a:t>
                      </a:r>
                      <a:r>
                        <a:rPr lang="en-US" sz="1600" baseline="0" dirty="0"/>
                        <a:t>KA</a:t>
                      </a:r>
                      <a:endParaRPr lang="en-US" sz="1600" dirty="0"/>
                    </a:p>
                    <a:p>
                      <a:r>
                        <a:rPr lang="en-US" sz="1600" dirty="0"/>
                        <a:t>(m)</a:t>
                      </a:r>
                      <a:r>
                        <a:rPr lang="en-US" sz="1600" baseline="0" dirty="0"/>
                        <a:t> </a:t>
                      </a:r>
                      <a:r>
                        <a:rPr lang="en-US" sz="1600" baseline="0" dirty="0" err="1"/>
                        <a:t>mGlu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GABA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NE/Epi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5-HT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Peptides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hypothalamus, pituitary gland, gut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Pre and pro peptide precursors. Occurs in SOMA. Active transport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peptidases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metabotropic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714435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D60490-ABD8-2831-09C0-0D1CB14AD9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89B07D52-75E6-4133-DA56-27843250DA0D}"/>
              </a:ext>
            </a:extLst>
          </p:cNvPr>
          <p:cNvSpPr txBox="1">
            <a:spLocks/>
          </p:cNvSpPr>
          <p:nvPr/>
        </p:nvSpPr>
        <p:spPr>
          <a:xfrm>
            <a:off x="914400" y="-1"/>
            <a:ext cx="10363200" cy="914401"/>
          </a:xfrm>
          <a:prstGeom prst="rect">
            <a:avLst/>
          </a:prstGeom>
        </p:spPr>
        <p:txBody>
          <a:bodyPr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9pPr>
          </a:lstStyle>
          <a:p>
            <a:pPr algn="ctr"/>
            <a:r>
              <a:rPr lang="en-US" kern="0" dirty="0">
                <a:solidFill>
                  <a:schemeClr val="tx1"/>
                </a:solidFill>
              </a:rPr>
              <a:t>GABA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A3537D4-680C-7AE9-BF1D-BB0EC50F3F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5720" y="682217"/>
            <a:ext cx="5340559" cy="6175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59745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2AF5A8-A376-7F15-14C4-2850486508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042" name="Rectangle 2">
            <a:extLst>
              <a:ext uri="{FF2B5EF4-FFF2-40B4-BE49-F238E27FC236}">
                <a16:creationId xmlns:a16="http://schemas.microsoft.com/office/drawing/2014/main" id="{CCE67AE4-AF53-DF79-F2F2-751A4E60250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GABA Location and Synthesis</a:t>
            </a:r>
          </a:p>
        </p:txBody>
      </p:sp>
      <p:sp>
        <p:nvSpPr>
          <p:cNvPr id="343043" name="Rectangle 3">
            <a:extLst>
              <a:ext uri="{FF2B5EF4-FFF2-40B4-BE49-F238E27FC236}">
                <a16:creationId xmlns:a16="http://schemas.microsoft.com/office/drawing/2014/main" id="{478754A7-9F02-46FE-4E03-B69545D6C02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21785" y="2251075"/>
            <a:ext cx="6364815" cy="4575330"/>
          </a:xfrm>
        </p:spPr>
        <p:txBody>
          <a:bodyPr/>
          <a:lstStyle/>
          <a:p>
            <a:r>
              <a:rPr lang="en-US" sz="2400" dirty="0"/>
              <a:t>Located pretty much anywhere there are inhibitory neurons</a:t>
            </a:r>
          </a:p>
          <a:p>
            <a:r>
              <a:rPr lang="en-US" sz="2400" dirty="0"/>
              <a:t>Synthesized in axon terminals</a:t>
            </a:r>
          </a:p>
          <a:p>
            <a:r>
              <a:rPr lang="en-US" sz="2400" dirty="0"/>
              <a:t>Precursor:</a:t>
            </a:r>
          </a:p>
          <a:p>
            <a:pPr lvl="1"/>
            <a:r>
              <a:rPr lang="en-US" sz="2400" dirty="0"/>
              <a:t>Glutamate!</a:t>
            </a:r>
          </a:p>
          <a:p>
            <a:pPr lvl="1"/>
            <a:r>
              <a:rPr lang="en-US" sz="2400" dirty="0"/>
              <a:t>Glutamic acid decarboxylase (GAD) </a:t>
            </a:r>
            <a:r>
              <a:rPr lang="en-US" sz="2400" b="1" dirty="0"/>
              <a:t>and</a:t>
            </a:r>
            <a:r>
              <a:rPr lang="en-US" sz="2400" dirty="0"/>
              <a:t> pyridoxal phosphate convert glutamate into GABA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en-US" sz="2400" dirty="0"/>
              <a:t>VGATs load GABA into vesicles 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82FD767-B356-C050-0E3C-F42185C38AB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7171" b="30411"/>
          <a:stretch>
            <a:fillRect/>
          </a:stretch>
        </p:blipFill>
        <p:spPr>
          <a:xfrm>
            <a:off x="7086600" y="1858772"/>
            <a:ext cx="4495800" cy="4967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31194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0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0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0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0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0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FAA6DD-C5A3-C35E-2152-3739D9296B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066" name="Rectangle 2">
            <a:extLst>
              <a:ext uri="{FF2B5EF4-FFF2-40B4-BE49-F238E27FC236}">
                <a16:creationId xmlns:a16="http://schemas.microsoft.com/office/drawing/2014/main" id="{55C55835-328E-EBB2-CE0F-96876FC4B6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GABA Inactivation</a:t>
            </a:r>
          </a:p>
        </p:txBody>
      </p:sp>
      <p:sp>
        <p:nvSpPr>
          <p:cNvPr id="344068" name="Rectangle 4">
            <a:extLst>
              <a:ext uri="{FF2B5EF4-FFF2-40B4-BE49-F238E27FC236}">
                <a16:creationId xmlns:a16="http://schemas.microsoft.com/office/drawing/2014/main" id="{88ADA1E7-491F-F100-A70D-BC166C58F76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90600" y="2017712"/>
            <a:ext cx="5914288" cy="4840287"/>
          </a:xfrm>
        </p:spPr>
        <p:txBody>
          <a:bodyPr/>
          <a:lstStyle/>
          <a:p>
            <a:r>
              <a:rPr lang="en-US" sz="2400" dirty="0"/>
              <a:t>Primarily accomplished through the activity of GABA Transporters (GATs)</a:t>
            </a:r>
          </a:p>
          <a:p>
            <a:pPr lvl="1"/>
            <a:r>
              <a:rPr lang="en-US" sz="2400" dirty="0"/>
              <a:t>Reuptake to a glial cell or the presynaptic nerve terminal</a:t>
            </a:r>
          </a:p>
          <a:p>
            <a:pPr lvl="1"/>
            <a:r>
              <a:rPr lang="en-US" sz="2400" dirty="0"/>
              <a:t>GABA transaminase converts GABA into succinic semialdehyde, which is further metabolized into other compounds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90D6C31-DB34-45F7-7868-011C055486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0" y="1835324"/>
            <a:ext cx="4343400" cy="5022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00051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4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GABA receptors</a:t>
            </a:r>
          </a:p>
        </p:txBody>
      </p:sp>
      <p:sp>
        <p:nvSpPr>
          <p:cNvPr id="488451" name="Rectangle 3"/>
          <p:cNvSpPr>
            <a:spLocks noGrp="1" noChangeArrowheads="1"/>
          </p:cNvSpPr>
          <p:nvPr>
            <p:ph idx="1"/>
          </p:nvPr>
        </p:nvSpPr>
        <p:spPr>
          <a:xfrm>
            <a:off x="724166" y="2036761"/>
            <a:ext cx="7235777" cy="4821239"/>
          </a:xfrm>
        </p:spPr>
        <p:txBody>
          <a:bodyPr/>
          <a:lstStyle/>
          <a:p>
            <a:r>
              <a:rPr lang="en-US" sz="2400" dirty="0" err="1"/>
              <a:t>GABAa</a:t>
            </a:r>
            <a:endParaRPr lang="en-US" sz="2400" dirty="0"/>
          </a:p>
          <a:p>
            <a:pPr lvl="1"/>
            <a:r>
              <a:rPr lang="en-US" sz="2400" dirty="0"/>
              <a:t>ionotropic:  ligand-gated Cl- channel</a:t>
            </a:r>
          </a:p>
          <a:p>
            <a:pPr lvl="1"/>
            <a:r>
              <a:rPr lang="en-US" sz="2400" dirty="0"/>
              <a:t>5 subunits: typically 2</a:t>
            </a:r>
            <a:r>
              <a:rPr lang="en-US" sz="2400" dirty="0">
                <a:sym typeface="Symbol" pitchFamily="18" charset="2"/>
              </a:rPr>
              <a:t>, 2, </a:t>
            </a:r>
          </a:p>
          <a:p>
            <a:pPr lvl="1"/>
            <a:r>
              <a:rPr lang="en-US" sz="2400" dirty="0">
                <a:sym typeface="Symbol" pitchFamily="18" charset="2"/>
              </a:rPr>
              <a:t>Binding sites for benzodiazepines and barbiturates</a:t>
            </a:r>
          </a:p>
          <a:p>
            <a:pPr lvl="1"/>
            <a:r>
              <a:rPr lang="en-US" sz="2400" dirty="0">
                <a:sym typeface="Symbol" pitchFamily="18" charset="2"/>
              </a:rPr>
              <a:t>fast IPSP</a:t>
            </a:r>
            <a:endParaRPr lang="en-US" sz="2400" dirty="0"/>
          </a:p>
          <a:p>
            <a:r>
              <a:rPr lang="en-US" sz="2400" dirty="0" err="1"/>
              <a:t>GABAb</a:t>
            </a:r>
            <a:endParaRPr lang="en-US" sz="2400" dirty="0"/>
          </a:p>
          <a:p>
            <a:pPr lvl="1"/>
            <a:r>
              <a:rPr lang="en-US" sz="2400" dirty="0"/>
              <a:t>metabotropic</a:t>
            </a:r>
          </a:p>
          <a:p>
            <a:pPr lvl="1"/>
            <a:r>
              <a:rPr lang="en-US" sz="2400" dirty="0"/>
              <a:t>activation of K+ current or blockage of Ca</a:t>
            </a:r>
            <a:r>
              <a:rPr lang="en-US" sz="2400" baseline="30000" dirty="0"/>
              <a:t>2+ </a:t>
            </a:r>
            <a:r>
              <a:rPr lang="en-US" sz="2400" dirty="0"/>
              <a:t>channels.</a:t>
            </a:r>
          </a:p>
          <a:p>
            <a:pPr lvl="1"/>
            <a:r>
              <a:rPr lang="en-US" sz="2400" dirty="0"/>
              <a:t>slow IPSP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FD6C1DC-E7AC-8D7E-F15A-FAD5682178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9943" y="1981200"/>
            <a:ext cx="3602536" cy="4297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7253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282" name="Rectangle 2"/>
          <p:cNvSpPr>
            <a:spLocks noGrp="1" noChangeArrowheads="1"/>
          </p:cNvSpPr>
          <p:nvPr>
            <p:ph type="title"/>
          </p:nvPr>
        </p:nvSpPr>
        <p:spPr>
          <a:xfrm>
            <a:off x="982134" y="1981200"/>
            <a:ext cx="10363200" cy="1362075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Biogenic Amines</a:t>
            </a:r>
          </a:p>
        </p:txBody>
      </p:sp>
      <p:sp>
        <p:nvSpPr>
          <p:cNvPr id="3532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2895600"/>
            <a:ext cx="10363200" cy="1500187"/>
          </a:xfrm>
        </p:spPr>
        <p:txBody>
          <a:bodyPr/>
          <a:lstStyle/>
          <a:p>
            <a:pPr algn="ctr"/>
            <a:r>
              <a:rPr lang="en-US" dirty="0"/>
              <a:t>Dopamine</a:t>
            </a:r>
          </a:p>
          <a:p>
            <a:pPr algn="ctr"/>
            <a:r>
              <a:rPr lang="en-US" dirty="0" err="1"/>
              <a:t>Norepinepherine</a:t>
            </a:r>
            <a:r>
              <a:rPr lang="en-US" dirty="0"/>
              <a:t> /</a:t>
            </a:r>
            <a:r>
              <a:rPr lang="en-US" dirty="0" err="1"/>
              <a:t>Epinepherine</a:t>
            </a:r>
            <a:endParaRPr lang="en-US" dirty="0"/>
          </a:p>
          <a:p>
            <a:pPr algn="ctr"/>
            <a:r>
              <a:rPr lang="en-US" dirty="0"/>
              <a:t>Serotonin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2092" y="219285"/>
            <a:ext cx="10047815" cy="1462087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Locations</a:t>
            </a:r>
          </a:p>
        </p:txBody>
      </p:sp>
      <p:pic>
        <p:nvPicPr>
          <p:cNvPr id="4" name="Picture 2" descr="Neurscience5e-Fig-06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3822"/>
          <a:stretch/>
        </p:blipFill>
        <p:spPr bwMode="auto">
          <a:xfrm>
            <a:off x="4761" y="2133600"/>
            <a:ext cx="8356495" cy="30787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2" descr="Neurscience5e-Fig-06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b="8960"/>
          <a:stretch/>
        </p:blipFill>
        <p:spPr bwMode="auto">
          <a:xfrm>
            <a:off x="8229600" y="2133600"/>
            <a:ext cx="3957638" cy="30787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540182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3B1A0-3A79-BB16-5ACE-93D96C774FE1}"/>
              </a:ext>
            </a:extLst>
          </p:cNvPr>
          <p:cNvSpPr txBox="1">
            <a:spLocks/>
          </p:cNvSpPr>
          <p:nvPr/>
        </p:nvSpPr>
        <p:spPr>
          <a:xfrm>
            <a:off x="1072092" y="457200"/>
            <a:ext cx="10047815" cy="1295400"/>
          </a:xfrm>
          <a:prstGeom prst="rect">
            <a:avLst/>
          </a:prstGeom>
        </p:spPr>
        <p:txBody>
          <a:bodyPr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9pPr>
          </a:lstStyle>
          <a:p>
            <a:pPr algn="ctr"/>
            <a:r>
              <a:rPr lang="en-US" kern="0" dirty="0">
                <a:solidFill>
                  <a:schemeClr val="tx1"/>
                </a:solidFill>
              </a:rPr>
              <a:t>Synthesis and Inactivation: </a:t>
            </a:r>
          </a:p>
          <a:p>
            <a:pPr algn="ctr"/>
            <a:r>
              <a:rPr lang="en-US" kern="0" dirty="0">
                <a:solidFill>
                  <a:schemeClr val="tx1"/>
                </a:solidFill>
              </a:rPr>
              <a:t>Catecholamines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3484FA-CF34-4B8A-033C-00AE9640ED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3788" y="0"/>
            <a:ext cx="1908212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BB934D3-8293-2875-5B77-119034714772}"/>
              </a:ext>
            </a:extLst>
          </p:cNvPr>
          <p:cNvSpPr txBox="1"/>
          <p:nvPr/>
        </p:nvSpPr>
        <p:spPr>
          <a:xfrm>
            <a:off x="609600" y="2057400"/>
            <a:ext cx="9674188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/>
              <a:t>Synthesis: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Synthesized in axon terminals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i="1" dirty="0"/>
              <a:t>tyrosine</a:t>
            </a:r>
            <a:r>
              <a:rPr lang="en-US" sz="2400" dirty="0"/>
              <a:t> is a precursor shared by all catecholamines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400" dirty="0"/>
              <a:t>Tyrosine hydroxylase (TH) turns tyrosine into DOPA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400" dirty="0"/>
              <a:t>DOPA decarboxylase turns DOPA into DA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400" dirty="0"/>
              <a:t>Dopamine-b hydroxylase turns DA into NE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400" dirty="0" err="1"/>
              <a:t>Phenylethanol</a:t>
            </a:r>
            <a:r>
              <a:rPr lang="en-US" sz="2400" dirty="0"/>
              <a:t>-amine N-methyl-transferase turns NE into 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VMAT loads monoamines into vesicles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/>
              <a:t>Inactivation: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transporter proteins (DAT or NET).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Reuptake to glial cells or the presynaptic nerve terminal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MAO and COMT can break down catecholamines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428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Dopamine (DA) Receptors</a:t>
            </a:r>
          </a:p>
        </p:txBody>
      </p:sp>
      <p:sp>
        <p:nvSpPr>
          <p:cNvPr id="359429" name="Rectangle 5"/>
          <p:cNvSpPr>
            <a:spLocks noGrp="1" noChangeArrowheads="1"/>
          </p:cNvSpPr>
          <p:nvPr>
            <p:ph type="body" idx="4294967295"/>
          </p:nvPr>
        </p:nvSpPr>
        <p:spPr>
          <a:xfrm>
            <a:off x="974725" y="2036761"/>
            <a:ext cx="11217275" cy="4821239"/>
          </a:xfrm>
        </p:spPr>
        <p:txBody>
          <a:bodyPr/>
          <a:lstStyle/>
          <a:p>
            <a:r>
              <a:rPr lang="en-US" sz="2800" dirty="0"/>
              <a:t>All metabotropic receptors</a:t>
            </a:r>
          </a:p>
          <a:p>
            <a:r>
              <a:rPr lang="en-US" sz="2800" dirty="0"/>
              <a:t>D1-like</a:t>
            </a:r>
          </a:p>
          <a:p>
            <a:pPr lvl="1"/>
            <a:r>
              <a:rPr lang="en-US" sz="2800" dirty="0"/>
              <a:t>D1 &amp; D5</a:t>
            </a:r>
          </a:p>
          <a:p>
            <a:pPr lvl="1"/>
            <a:r>
              <a:rPr lang="en-US" sz="2800" dirty="0"/>
              <a:t>positively coupled to adenylyl cyclase (AC)</a:t>
            </a:r>
          </a:p>
          <a:p>
            <a:pPr lvl="2"/>
            <a:r>
              <a:rPr lang="en-US" sz="2800" dirty="0"/>
              <a:t>stimulates formation of cAMP</a:t>
            </a:r>
          </a:p>
          <a:p>
            <a:r>
              <a:rPr lang="en-US" sz="2800" dirty="0"/>
              <a:t>D2-like</a:t>
            </a:r>
          </a:p>
          <a:p>
            <a:pPr lvl="1"/>
            <a:r>
              <a:rPr lang="en-US" sz="2800" dirty="0"/>
              <a:t>D2, D3, D4</a:t>
            </a:r>
          </a:p>
          <a:p>
            <a:pPr lvl="1"/>
            <a:r>
              <a:rPr lang="en-US" sz="2800" dirty="0"/>
              <a:t>negatively coupled to adenylyl cyclase</a:t>
            </a:r>
          </a:p>
          <a:p>
            <a:pPr lvl="2"/>
            <a:r>
              <a:rPr lang="en-US" sz="2800" dirty="0"/>
              <a:t>inhibits formation of cAMP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2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2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2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2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994" name="Rectangle 2"/>
          <p:cNvSpPr>
            <a:spLocks noGrp="1" noChangeArrowheads="1"/>
          </p:cNvSpPr>
          <p:nvPr>
            <p:ph type="title"/>
          </p:nvPr>
        </p:nvSpPr>
        <p:spPr>
          <a:xfrm>
            <a:off x="1307043" y="152400"/>
            <a:ext cx="10047815" cy="1462087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tx1"/>
                </a:solidFill>
                <a:sym typeface="Symbol" pitchFamily="18" charset="2"/>
              </a:rPr>
              <a:t>NE/E -</a:t>
            </a:r>
            <a:r>
              <a:rPr lang="en-US" dirty="0">
                <a:solidFill>
                  <a:schemeClr val="tx1"/>
                </a:solidFill>
              </a:rPr>
              <a:t>Adrenergic Receptors</a:t>
            </a:r>
          </a:p>
        </p:txBody>
      </p:sp>
      <p:sp>
        <p:nvSpPr>
          <p:cNvPr id="46899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>
                <a:sym typeface="Symbol" pitchFamily="18" charset="2"/>
              </a:rPr>
              <a:t>All metabotropic</a:t>
            </a:r>
          </a:p>
          <a:p>
            <a:r>
              <a:rPr lang="en-US" sz="2800" dirty="0">
                <a:sym typeface="Symbol" pitchFamily="18" charset="2"/>
              </a:rPr>
              <a:t>-</a:t>
            </a:r>
            <a:r>
              <a:rPr lang="en-US" sz="2800" dirty="0"/>
              <a:t>Adrenergic receptors</a:t>
            </a:r>
            <a:endParaRPr lang="en-US" sz="2800" dirty="0">
              <a:sym typeface="Symbol" pitchFamily="18" charset="2"/>
            </a:endParaRPr>
          </a:p>
          <a:p>
            <a:pPr lvl="1"/>
            <a:r>
              <a:rPr lang="en-US" sz="2800" dirty="0">
                <a:sym typeface="Symbol" pitchFamily="18" charset="2"/>
              </a:rPr>
              <a:t>1: slow depolarization</a:t>
            </a:r>
          </a:p>
          <a:p>
            <a:pPr lvl="1"/>
            <a:r>
              <a:rPr lang="en-US" sz="2800" dirty="0">
                <a:sym typeface="Symbol" pitchFamily="18" charset="2"/>
              </a:rPr>
              <a:t>2: slow hyperpolarization, inhibit AC,  cAMP</a:t>
            </a:r>
          </a:p>
          <a:p>
            <a:pPr lvl="1"/>
            <a:endParaRPr lang="en-US" sz="2800" dirty="0">
              <a:sym typeface="Symbol" pitchFamily="18" charset="2"/>
            </a:endParaRPr>
          </a:p>
          <a:p>
            <a:r>
              <a:rPr lang="en-US" sz="2800" dirty="0">
                <a:sym typeface="Symbol" pitchFamily="18" charset="2"/>
              </a:rPr>
              <a:t>-</a:t>
            </a:r>
            <a:r>
              <a:rPr lang="en-US" sz="2800" dirty="0"/>
              <a:t>Adrenergic Receptors</a:t>
            </a:r>
          </a:p>
          <a:p>
            <a:pPr lvl="1"/>
            <a:r>
              <a:rPr lang="en-US" sz="2800" dirty="0">
                <a:sym typeface="Symbol" pitchFamily="18" charset="2"/>
              </a:rPr>
              <a:t>3 subtypes: 1, 2 &amp; 3</a:t>
            </a:r>
            <a:endParaRPr lang="en-US" sz="2800" dirty="0"/>
          </a:p>
          <a:p>
            <a:pPr lvl="1"/>
            <a:r>
              <a:rPr lang="en-US" sz="2800" dirty="0">
                <a:sym typeface="Symbol" pitchFamily="18" charset="2"/>
              </a:rPr>
              <a:t>activation of AC,  cAMP</a:t>
            </a:r>
            <a:endParaRPr lang="en-US" sz="2800" dirty="0"/>
          </a:p>
          <a:p>
            <a:pPr lvl="1"/>
            <a:endParaRPr lang="en-US" dirty="0">
              <a:sym typeface="Symbol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9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9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9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9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9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9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715" name="Rectangle 3"/>
          <p:cNvSpPr>
            <a:spLocks noGrp="1" noChangeArrowheads="1"/>
          </p:cNvSpPr>
          <p:nvPr>
            <p:ph type="title"/>
          </p:nvPr>
        </p:nvSpPr>
        <p:spPr>
          <a:xfrm>
            <a:off x="1307043" y="152400"/>
            <a:ext cx="10047815" cy="1462087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Serotonin Synthesis and Inactivation</a:t>
            </a:r>
          </a:p>
        </p:txBody>
      </p:sp>
      <p:sp>
        <p:nvSpPr>
          <p:cNvPr id="371716" name="Rectangle 4"/>
          <p:cNvSpPr>
            <a:spLocks noGrp="1" noChangeArrowheads="1"/>
          </p:cNvSpPr>
          <p:nvPr>
            <p:ph idx="1"/>
          </p:nvPr>
        </p:nvSpPr>
        <p:spPr>
          <a:xfrm>
            <a:off x="721785" y="2098675"/>
            <a:ext cx="8641785" cy="4759325"/>
          </a:xfrm>
        </p:spPr>
        <p:txBody>
          <a:bodyPr/>
          <a:lstStyle/>
          <a:p>
            <a:pPr marL="57150" indent="0">
              <a:buNone/>
            </a:pPr>
            <a:r>
              <a:rPr lang="en-US" sz="2000" b="1" dirty="0"/>
              <a:t>Synthesis:</a:t>
            </a:r>
          </a:p>
          <a:p>
            <a:pPr marL="914400" lvl="1" indent="-457200"/>
            <a:r>
              <a:rPr lang="en-US" sz="2000" dirty="0"/>
              <a:t>Synthesized in axon terminal</a:t>
            </a:r>
          </a:p>
          <a:p>
            <a:pPr lvl="1"/>
            <a:r>
              <a:rPr lang="en-US" sz="2000" dirty="0"/>
              <a:t>Tryptophan is the precursor</a:t>
            </a:r>
          </a:p>
          <a:p>
            <a:pPr lvl="2"/>
            <a:r>
              <a:rPr lang="en-US" sz="2000" dirty="0"/>
              <a:t>Tryptophan-5-hydroxylase turns tryptophan into 5-hydroxytryptophan</a:t>
            </a:r>
          </a:p>
          <a:p>
            <a:pPr lvl="2"/>
            <a:r>
              <a:rPr lang="en-US" sz="2000" dirty="0"/>
              <a:t>Aromatic L-amino acid decarboxylase turns 5-hydroxytryptophan into serotonin (5-hydroxytryptamine or 5-ht)</a:t>
            </a:r>
          </a:p>
          <a:p>
            <a:pPr lvl="1"/>
            <a:r>
              <a:rPr lang="en-US" sz="2000" dirty="0"/>
              <a:t>VMAT loads 5-ht into vesicles</a:t>
            </a:r>
          </a:p>
          <a:p>
            <a:pPr marL="0" indent="0">
              <a:buNone/>
            </a:pPr>
            <a:r>
              <a:rPr lang="en-US" sz="2000" b="1" dirty="0"/>
              <a:t>Inactivation: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transporter proteins (SERT).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/>
              <a:t>Reuptake to the presynaptic nerve terminal.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/>
              <a:t>MAO and COMT can break down 5-ht</a:t>
            </a:r>
            <a:endParaRPr lang="en-US" sz="2400" dirty="0"/>
          </a:p>
          <a:p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4F1EC55-7691-6932-A27F-404142D2A2A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4444"/>
          <a:stretch>
            <a:fillRect/>
          </a:stretch>
        </p:blipFill>
        <p:spPr>
          <a:xfrm>
            <a:off x="9363570" y="1819204"/>
            <a:ext cx="2828430" cy="503879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7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7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7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7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7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7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7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71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5C786E-A3D2-6393-9B53-C29DCA81C7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428" name="Rectangle 4">
            <a:extLst>
              <a:ext uri="{FF2B5EF4-FFF2-40B4-BE49-F238E27FC236}">
                <a16:creationId xmlns:a16="http://schemas.microsoft.com/office/drawing/2014/main" id="{76288075-6A67-4429-529B-990F9E47FB2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Serotonin (5-ht) Receptors</a:t>
            </a:r>
          </a:p>
        </p:txBody>
      </p:sp>
      <p:sp>
        <p:nvSpPr>
          <p:cNvPr id="359429" name="Rectangle 5">
            <a:extLst>
              <a:ext uri="{FF2B5EF4-FFF2-40B4-BE49-F238E27FC236}">
                <a16:creationId xmlns:a16="http://schemas.microsoft.com/office/drawing/2014/main" id="{B207F8B9-518D-9687-8EF0-C430BF2B38B7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974725" y="2036761"/>
            <a:ext cx="9540875" cy="4821239"/>
          </a:xfrm>
        </p:spPr>
        <p:txBody>
          <a:bodyPr/>
          <a:lstStyle/>
          <a:p>
            <a:r>
              <a:rPr lang="en-US" sz="2800" dirty="0"/>
              <a:t>Ionotropic</a:t>
            </a:r>
          </a:p>
          <a:p>
            <a:pPr lvl="1"/>
            <a:r>
              <a:rPr lang="en-US" sz="2800" dirty="0"/>
              <a:t>5-ht</a:t>
            </a:r>
            <a:r>
              <a:rPr lang="en-US" sz="2800" baseline="-25000" dirty="0"/>
              <a:t>3</a:t>
            </a:r>
          </a:p>
          <a:p>
            <a:pPr lvl="2"/>
            <a:r>
              <a:rPr lang="en-US" sz="2800" dirty="0"/>
              <a:t>5 subunits that create a pore</a:t>
            </a:r>
          </a:p>
          <a:p>
            <a:pPr lvl="2"/>
            <a:r>
              <a:rPr lang="en-US" sz="2800" dirty="0"/>
              <a:t>Non-selective cation (positive charge) channel</a:t>
            </a:r>
          </a:p>
          <a:p>
            <a:pPr lvl="2"/>
            <a:r>
              <a:rPr lang="en-US" sz="2800" dirty="0"/>
              <a:t>Generates EPSP</a:t>
            </a:r>
          </a:p>
          <a:p>
            <a:pPr marL="914400" lvl="2" indent="0">
              <a:buNone/>
            </a:pPr>
            <a:endParaRPr lang="en-US" sz="2800" dirty="0"/>
          </a:p>
          <a:p>
            <a:r>
              <a:rPr lang="en-US" sz="2800" dirty="0"/>
              <a:t>Metabotropic</a:t>
            </a:r>
          </a:p>
          <a:p>
            <a:pPr lvl="1"/>
            <a:r>
              <a:rPr lang="en-US" sz="2800" dirty="0"/>
              <a:t>Various effects</a:t>
            </a:r>
          </a:p>
          <a:p>
            <a:pPr lvl="1"/>
            <a:endParaRPr lang="en-US" sz="2400" dirty="0"/>
          </a:p>
          <a:p>
            <a:pPr lvl="1"/>
            <a:endParaRPr lang="en-US" sz="24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5C0521A-2FB9-A121-501B-40797CEAEE8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7973" t="42222" r="12703" b="7778"/>
          <a:stretch>
            <a:fillRect/>
          </a:stretch>
        </p:blipFill>
        <p:spPr>
          <a:xfrm>
            <a:off x="10591800" y="1905000"/>
            <a:ext cx="854075" cy="4804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9042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2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2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2"/>
          <p:cNvSpPr/>
          <p:nvPr/>
        </p:nvSpPr>
        <p:spPr>
          <a:xfrm>
            <a:off x="1524000" y="1"/>
            <a:ext cx="9144000" cy="685799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2"/>
          <p:cNvSpPr/>
          <p:nvPr/>
        </p:nvSpPr>
        <p:spPr>
          <a:xfrm>
            <a:off x="6082894" y="5397502"/>
            <a:ext cx="4703636" cy="1358899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2"/>
          <p:cNvSpPr/>
          <p:nvPr/>
        </p:nvSpPr>
        <p:spPr>
          <a:xfrm>
            <a:off x="4132391" y="1686054"/>
            <a:ext cx="3927475" cy="3927475"/>
          </a:xfrm>
          <a:custGeom>
            <a:avLst/>
            <a:gdLst/>
            <a:ahLst/>
            <a:cxnLst/>
            <a:rect l="l" t="t" r="r" b="b"/>
            <a:pathLst>
              <a:path w="3927475" h="3927475" extrusionOk="0">
                <a:moveTo>
                  <a:pt x="3352182" y="575037"/>
                </a:moveTo>
                <a:lnTo>
                  <a:pt x="3386008" y="609690"/>
                </a:lnTo>
                <a:lnTo>
                  <a:pt x="3418809" y="644962"/>
                </a:lnTo>
                <a:lnTo>
                  <a:pt x="3450584" y="680832"/>
                </a:lnTo>
                <a:lnTo>
                  <a:pt x="3481335" y="717282"/>
                </a:lnTo>
                <a:lnTo>
                  <a:pt x="3511061" y="754293"/>
                </a:lnTo>
                <a:lnTo>
                  <a:pt x="3539761" y="791846"/>
                </a:lnTo>
                <a:lnTo>
                  <a:pt x="3567437" y="829921"/>
                </a:lnTo>
                <a:lnTo>
                  <a:pt x="3594088" y="868500"/>
                </a:lnTo>
                <a:lnTo>
                  <a:pt x="3619713" y="907565"/>
                </a:lnTo>
                <a:lnTo>
                  <a:pt x="3644314" y="947094"/>
                </a:lnTo>
                <a:lnTo>
                  <a:pt x="3667889" y="987071"/>
                </a:lnTo>
                <a:lnTo>
                  <a:pt x="3690440" y="1027475"/>
                </a:lnTo>
                <a:lnTo>
                  <a:pt x="3711965" y="1068288"/>
                </a:lnTo>
                <a:lnTo>
                  <a:pt x="3732465" y="1109491"/>
                </a:lnTo>
                <a:lnTo>
                  <a:pt x="3751941" y="1151065"/>
                </a:lnTo>
                <a:lnTo>
                  <a:pt x="3770391" y="1192990"/>
                </a:lnTo>
                <a:lnTo>
                  <a:pt x="3787817" y="1235248"/>
                </a:lnTo>
                <a:lnTo>
                  <a:pt x="3804217" y="1277819"/>
                </a:lnTo>
                <a:lnTo>
                  <a:pt x="3819592" y="1320686"/>
                </a:lnTo>
                <a:lnTo>
                  <a:pt x="3833943" y="1363827"/>
                </a:lnTo>
                <a:lnTo>
                  <a:pt x="3847268" y="1407226"/>
                </a:lnTo>
                <a:lnTo>
                  <a:pt x="3859568" y="1450862"/>
                </a:lnTo>
                <a:lnTo>
                  <a:pt x="3870843" y="1494717"/>
                </a:lnTo>
                <a:lnTo>
                  <a:pt x="3881094" y="1538771"/>
                </a:lnTo>
                <a:lnTo>
                  <a:pt x="3890319" y="1583006"/>
                </a:lnTo>
                <a:lnTo>
                  <a:pt x="3898519" y="1627403"/>
                </a:lnTo>
                <a:lnTo>
                  <a:pt x="3905694" y="1671942"/>
                </a:lnTo>
                <a:lnTo>
                  <a:pt x="3911844" y="1716605"/>
                </a:lnTo>
                <a:lnTo>
                  <a:pt x="3916969" y="1761372"/>
                </a:lnTo>
                <a:lnTo>
                  <a:pt x="3921069" y="1806225"/>
                </a:lnTo>
                <a:lnTo>
                  <a:pt x="3924144" y="1851145"/>
                </a:lnTo>
                <a:lnTo>
                  <a:pt x="3926194" y="1896112"/>
                </a:lnTo>
                <a:lnTo>
                  <a:pt x="3927220" y="1941107"/>
                </a:lnTo>
                <a:lnTo>
                  <a:pt x="3927220" y="1986112"/>
                </a:lnTo>
                <a:lnTo>
                  <a:pt x="3926194" y="2031108"/>
                </a:lnTo>
                <a:lnTo>
                  <a:pt x="3924144" y="2076074"/>
                </a:lnTo>
                <a:lnTo>
                  <a:pt x="3921069" y="2120994"/>
                </a:lnTo>
                <a:lnTo>
                  <a:pt x="3916969" y="2165847"/>
                </a:lnTo>
                <a:lnTo>
                  <a:pt x="3911844" y="2210614"/>
                </a:lnTo>
                <a:lnTo>
                  <a:pt x="3905694" y="2255277"/>
                </a:lnTo>
                <a:lnTo>
                  <a:pt x="3898519" y="2299816"/>
                </a:lnTo>
                <a:lnTo>
                  <a:pt x="3890319" y="2344213"/>
                </a:lnTo>
                <a:lnTo>
                  <a:pt x="3881094" y="2388448"/>
                </a:lnTo>
                <a:lnTo>
                  <a:pt x="3870843" y="2432502"/>
                </a:lnTo>
                <a:lnTo>
                  <a:pt x="3859568" y="2476357"/>
                </a:lnTo>
                <a:lnTo>
                  <a:pt x="3847268" y="2519993"/>
                </a:lnTo>
                <a:lnTo>
                  <a:pt x="3833943" y="2563392"/>
                </a:lnTo>
                <a:lnTo>
                  <a:pt x="3819592" y="2606534"/>
                </a:lnTo>
                <a:lnTo>
                  <a:pt x="3804217" y="2649400"/>
                </a:lnTo>
                <a:lnTo>
                  <a:pt x="3787817" y="2691971"/>
                </a:lnTo>
                <a:lnTo>
                  <a:pt x="3770391" y="2734229"/>
                </a:lnTo>
                <a:lnTo>
                  <a:pt x="3751941" y="2776155"/>
                </a:lnTo>
                <a:lnTo>
                  <a:pt x="3732465" y="2817728"/>
                </a:lnTo>
                <a:lnTo>
                  <a:pt x="3711965" y="2858931"/>
                </a:lnTo>
                <a:lnTo>
                  <a:pt x="3690440" y="2899744"/>
                </a:lnTo>
                <a:lnTo>
                  <a:pt x="3667889" y="2940148"/>
                </a:lnTo>
                <a:lnTo>
                  <a:pt x="3644314" y="2980125"/>
                </a:lnTo>
                <a:lnTo>
                  <a:pt x="3619713" y="3019655"/>
                </a:lnTo>
                <a:lnTo>
                  <a:pt x="3594088" y="3058719"/>
                </a:lnTo>
                <a:lnTo>
                  <a:pt x="3567437" y="3097298"/>
                </a:lnTo>
                <a:lnTo>
                  <a:pt x="3539761" y="3135374"/>
                </a:lnTo>
                <a:lnTo>
                  <a:pt x="3511061" y="3172926"/>
                </a:lnTo>
                <a:lnTo>
                  <a:pt x="3481335" y="3209937"/>
                </a:lnTo>
                <a:lnTo>
                  <a:pt x="3450584" y="3246387"/>
                </a:lnTo>
                <a:lnTo>
                  <a:pt x="3418809" y="3282257"/>
                </a:lnTo>
                <a:lnTo>
                  <a:pt x="3386008" y="3317529"/>
                </a:lnTo>
                <a:lnTo>
                  <a:pt x="3352182" y="3352182"/>
                </a:lnTo>
                <a:lnTo>
                  <a:pt x="3317529" y="3386008"/>
                </a:lnTo>
                <a:lnTo>
                  <a:pt x="3282257" y="3418809"/>
                </a:lnTo>
                <a:lnTo>
                  <a:pt x="3246387" y="3450584"/>
                </a:lnTo>
                <a:lnTo>
                  <a:pt x="3209937" y="3481335"/>
                </a:lnTo>
                <a:lnTo>
                  <a:pt x="3172926" y="3511061"/>
                </a:lnTo>
                <a:lnTo>
                  <a:pt x="3135374" y="3539761"/>
                </a:lnTo>
                <a:lnTo>
                  <a:pt x="3097298" y="3567437"/>
                </a:lnTo>
                <a:lnTo>
                  <a:pt x="3058719" y="3594088"/>
                </a:lnTo>
                <a:lnTo>
                  <a:pt x="3019655" y="3619713"/>
                </a:lnTo>
                <a:lnTo>
                  <a:pt x="2980125" y="3644314"/>
                </a:lnTo>
                <a:lnTo>
                  <a:pt x="2940148" y="3667889"/>
                </a:lnTo>
                <a:lnTo>
                  <a:pt x="2899744" y="3690440"/>
                </a:lnTo>
                <a:lnTo>
                  <a:pt x="2858931" y="3711965"/>
                </a:lnTo>
                <a:lnTo>
                  <a:pt x="2817728" y="3732465"/>
                </a:lnTo>
                <a:lnTo>
                  <a:pt x="2776155" y="3751941"/>
                </a:lnTo>
                <a:lnTo>
                  <a:pt x="2734229" y="3770391"/>
                </a:lnTo>
                <a:lnTo>
                  <a:pt x="2691971" y="3787817"/>
                </a:lnTo>
                <a:lnTo>
                  <a:pt x="2649400" y="3804217"/>
                </a:lnTo>
                <a:lnTo>
                  <a:pt x="2606534" y="3819592"/>
                </a:lnTo>
                <a:lnTo>
                  <a:pt x="2563392" y="3833943"/>
                </a:lnTo>
                <a:lnTo>
                  <a:pt x="2519993" y="3847268"/>
                </a:lnTo>
                <a:lnTo>
                  <a:pt x="2476357" y="3859568"/>
                </a:lnTo>
                <a:lnTo>
                  <a:pt x="2432502" y="3870843"/>
                </a:lnTo>
                <a:lnTo>
                  <a:pt x="2388448" y="3881094"/>
                </a:lnTo>
                <a:lnTo>
                  <a:pt x="2344213" y="3890319"/>
                </a:lnTo>
                <a:lnTo>
                  <a:pt x="2299816" y="3898519"/>
                </a:lnTo>
                <a:lnTo>
                  <a:pt x="2255277" y="3905694"/>
                </a:lnTo>
                <a:lnTo>
                  <a:pt x="2210614" y="3911844"/>
                </a:lnTo>
                <a:lnTo>
                  <a:pt x="2165847" y="3916969"/>
                </a:lnTo>
                <a:lnTo>
                  <a:pt x="2120994" y="3921069"/>
                </a:lnTo>
                <a:lnTo>
                  <a:pt x="2076074" y="3924144"/>
                </a:lnTo>
                <a:lnTo>
                  <a:pt x="2031108" y="3926194"/>
                </a:lnTo>
                <a:lnTo>
                  <a:pt x="1986112" y="3927220"/>
                </a:lnTo>
                <a:lnTo>
                  <a:pt x="1941107" y="3927220"/>
                </a:lnTo>
                <a:lnTo>
                  <a:pt x="1896112" y="3926194"/>
                </a:lnTo>
                <a:lnTo>
                  <a:pt x="1851145" y="3924144"/>
                </a:lnTo>
                <a:lnTo>
                  <a:pt x="1806225" y="3921069"/>
                </a:lnTo>
                <a:lnTo>
                  <a:pt x="1761372" y="3916969"/>
                </a:lnTo>
                <a:lnTo>
                  <a:pt x="1716605" y="3911844"/>
                </a:lnTo>
                <a:lnTo>
                  <a:pt x="1671942" y="3905694"/>
                </a:lnTo>
                <a:lnTo>
                  <a:pt x="1627403" y="3898519"/>
                </a:lnTo>
                <a:lnTo>
                  <a:pt x="1583006" y="3890319"/>
                </a:lnTo>
                <a:lnTo>
                  <a:pt x="1538771" y="3881094"/>
                </a:lnTo>
                <a:lnTo>
                  <a:pt x="1494717" y="3870843"/>
                </a:lnTo>
                <a:lnTo>
                  <a:pt x="1450862" y="3859568"/>
                </a:lnTo>
                <a:lnTo>
                  <a:pt x="1407226" y="3847268"/>
                </a:lnTo>
                <a:lnTo>
                  <a:pt x="1363827" y="3833943"/>
                </a:lnTo>
                <a:lnTo>
                  <a:pt x="1320686" y="3819592"/>
                </a:lnTo>
                <a:lnTo>
                  <a:pt x="1277819" y="3804217"/>
                </a:lnTo>
                <a:lnTo>
                  <a:pt x="1235248" y="3787817"/>
                </a:lnTo>
                <a:lnTo>
                  <a:pt x="1192990" y="3770391"/>
                </a:lnTo>
                <a:lnTo>
                  <a:pt x="1151065" y="3751941"/>
                </a:lnTo>
                <a:lnTo>
                  <a:pt x="1109491" y="3732465"/>
                </a:lnTo>
                <a:lnTo>
                  <a:pt x="1068288" y="3711965"/>
                </a:lnTo>
                <a:lnTo>
                  <a:pt x="1027475" y="3690440"/>
                </a:lnTo>
                <a:lnTo>
                  <a:pt x="987071" y="3667889"/>
                </a:lnTo>
                <a:lnTo>
                  <a:pt x="947094" y="3644314"/>
                </a:lnTo>
                <a:lnTo>
                  <a:pt x="907565" y="3619713"/>
                </a:lnTo>
                <a:lnTo>
                  <a:pt x="868500" y="3594088"/>
                </a:lnTo>
                <a:lnTo>
                  <a:pt x="829921" y="3567437"/>
                </a:lnTo>
                <a:lnTo>
                  <a:pt x="791846" y="3539761"/>
                </a:lnTo>
                <a:lnTo>
                  <a:pt x="754293" y="3511061"/>
                </a:lnTo>
                <a:lnTo>
                  <a:pt x="717282" y="3481335"/>
                </a:lnTo>
                <a:lnTo>
                  <a:pt x="680832" y="3450584"/>
                </a:lnTo>
                <a:lnTo>
                  <a:pt x="644962" y="3418809"/>
                </a:lnTo>
                <a:lnTo>
                  <a:pt x="609690" y="3386008"/>
                </a:lnTo>
                <a:lnTo>
                  <a:pt x="575037" y="3352182"/>
                </a:lnTo>
                <a:lnTo>
                  <a:pt x="541211" y="3317529"/>
                </a:lnTo>
                <a:lnTo>
                  <a:pt x="508411" y="3282257"/>
                </a:lnTo>
                <a:lnTo>
                  <a:pt x="476635" y="3246387"/>
                </a:lnTo>
                <a:lnTo>
                  <a:pt x="445884" y="3209937"/>
                </a:lnTo>
                <a:lnTo>
                  <a:pt x="416159" y="3172926"/>
                </a:lnTo>
                <a:lnTo>
                  <a:pt x="387458" y="3135374"/>
                </a:lnTo>
                <a:lnTo>
                  <a:pt x="359782" y="3097298"/>
                </a:lnTo>
                <a:lnTo>
                  <a:pt x="333132" y="3058719"/>
                </a:lnTo>
                <a:lnTo>
                  <a:pt x="307506" y="3019655"/>
                </a:lnTo>
                <a:lnTo>
                  <a:pt x="282906" y="2980125"/>
                </a:lnTo>
                <a:lnTo>
                  <a:pt x="259330" y="2940148"/>
                </a:lnTo>
                <a:lnTo>
                  <a:pt x="236780" y="2899744"/>
                </a:lnTo>
                <a:lnTo>
                  <a:pt x="215254" y="2858931"/>
                </a:lnTo>
                <a:lnTo>
                  <a:pt x="194754" y="2817728"/>
                </a:lnTo>
                <a:lnTo>
                  <a:pt x="175278" y="2776155"/>
                </a:lnTo>
                <a:lnTo>
                  <a:pt x="156828" y="2734229"/>
                </a:lnTo>
                <a:lnTo>
                  <a:pt x="139403" y="2691971"/>
                </a:lnTo>
                <a:lnTo>
                  <a:pt x="123002" y="2649400"/>
                </a:lnTo>
                <a:lnTo>
                  <a:pt x="107627" y="2606534"/>
                </a:lnTo>
                <a:lnTo>
                  <a:pt x="93277" y="2563392"/>
                </a:lnTo>
                <a:lnTo>
                  <a:pt x="79951" y="2519993"/>
                </a:lnTo>
                <a:lnTo>
                  <a:pt x="67651" y="2476357"/>
                </a:lnTo>
                <a:lnTo>
                  <a:pt x="56376" y="2432502"/>
                </a:lnTo>
                <a:lnTo>
                  <a:pt x="46126" y="2388448"/>
                </a:lnTo>
                <a:lnTo>
                  <a:pt x="36900" y="2344213"/>
                </a:lnTo>
                <a:lnTo>
                  <a:pt x="28700" y="2299816"/>
                </a:lnTo>
                <a:lnTo>
                  <a:pt x="21525" y="2255277"/>
                </a:lnTo>
                <a:lnTo>
                  <a:pt x="15375" y="2210614"/>
                </a:lnTo>
                <a:lnTo>
                  <a:pt x="10250" y="2165847"/>
                </a:lnTo>
                <a:lnTo>
                  <a:pt x="6150" y="2120994"/>
                </a:lnTo>
                <a:lnTo>
                  <a:pt x="3075" y="2076074"/>
                </a:lnTo>
                <a:lnTo>
                  <a:pt x="1025" y="2031108"/>
                </a:lnTo>
                <a:lnTo>
                  <a:pt x="0" y="1986112"/>
                </a:lnTo>
                <a:lnTo>
                  <a:pt x="0" y="1941107"/>
                </a:lnTo>
                <a:lnTo>
                  <a:pt x="1025" y="1896112"/>
                </a:lnTo>
                <a:lnTo>
                  <a:pt x="3075" y="1851145"/>
                </a:lnTo>
                <a:lnTo>
                  <a:pt x="6150" y="1806225"/>
                </a:lnTo>
                <a:lnTo>
                  <a:pt x="10250" y="1761372"/>
                </a:lnTo>
                <a:lnTo>
                  <a:pt x="15375" y="1716605"/>
                </a:lnTo>
                <a:lnTo>
                  <a:pt x="21525" y="1671942"/>
                </a:lnTo>
                <a:lnTo>
                  <a:pt x="28700" y="1627403"/>
                </a:lnTo>
                <a:lnTo>
                  <a:pt x="36900" y="1583006"/>
                </a:lnTo>
                <a:lnTo>
                  <a:pt x="46126" y="1538771"/>
                </a:lnTo>
                <a:lnTo>
                  <a:pt x="56376" y="1494717"/>
                </a:lnTo>
                <a:lnTo>
                  <a:pt x="67651" y="1450862"/>
                </a:lnTo>
                <a:lnTo>
                  <a:pt x="79951" y="1407226"/>
                </a:lnTo>
                <a:lnTo>
                  <a:pt x="93277" y="1363827"/>
                </a:lnTo>
                <a:lnTo>
                  <a:pt x="107627" y="1320686"/>
                </a:lnTo>
                <a:lnTo>
                  <a:pt x="123002" y="1277819"/>
                </a:lnTo>
                <a:lnTo>
                  <a:pt x="139403" y="1235248"/>
                </a:lnTo>
                <a:lnTo>
                  <a:pt x="156828" y="1192990"/>
                </a:lnTo>
                <a:lnTo>
                  <a:pt x="175278" y="1151065"/>
                </a:lnTo>
                <a:lnTo>
                  <a:pt x="194754" y="1109491"/>
                </a:lnTo>
                <a:lnTo>
                  <a:pt x="215254" y="1068288"/>
                </a:lnTo>
                <a:lnTo>
                  <a:pt x="236780" y="1027475"/>
                </a:lnTo>
                <a:lnTo>
                  <a:pt x="259330" y="987071"/>
                </a:lnTo>
                <a:lnTo>
                  <a:pt x="282906" y="947094"/>
                </a:lnTo>
                <a:lnTo>
                  <a:pt x="307506" y="907565"/>
                </a:lnTo>
                <a:lnTo>
                  <a:pt x="333132" y="868500"/>
                </a:lnTo>
                <a:lnTo>
                  <a:pt x="359782" y="829921"/>
                </a:lnTo>
                <a:lnTo>
                  <a:pt x="387458" y="791846"/>
                </a:lnTo>
                <a:lnTo>
                  <a:pt x="416159" y="754293"/>
                </a:lnTo>
                <a:lnTo>
                  <a:pt x="445884" y="717282"/>
                </a:lnTo>
                <a:lnTo>
                  <a:pt x="476635" y="680832"/>
                </a:lnTo>
                <a:lnTo>
                  <a:pt x="508411" y="644962"/>
                </a:lnTo>
                <a:lnTo>
                  <a:pt x="541211" y="609690"/>
                </a:lnTo>
                <a:lnTo>
                  <a:pt x="575037" y="575037"/>
                </a:lnTo>
                <a:lnTo>
                  <a:pt x="609690" y="541211"/>
                </a:lnTo>
                <a:lnTo>
                  <a:pt x="644962" y="508411"/>
                </a:lnTo>
                <a:lnTo>
                  <a:pt x="680832" y="476635"/>
                </a:lnTo>
                <a:lnTo>
                  <a:pt x="717282" y="445884"/>
                </a:lnTo>
                <a:lnTo>
                  <a:pt x="754293" y="416159"/>
                </a:lnTo>
                <a:lnTo>
                  <a:pt x="791846" y="387458"/>
                </a:lnTo>
                <a:lnTo>
                  <a:pt x="829921" y="359782"/>
                </a:lnTo>
                <a:lnTo>
                  <a:pt x="868500" y="333132"/>
                </a:lnTo>
                <a:lnTo>
                  <a:pt x="907565" y="307506"/>
                </a:lnTo>
                <a:lnTo>
                  <a:pt x="947094" y="282906"/>
                </a:lnTo>
                <a:lnTo>
                  <a:pt x="987071" y="259330"/>
                </a:lnTo>
                <a:lnTo>
                  <a:pt x="1027475" y="236780"/>
                </a:lnTo>
                <a:lnTo>
                  <a:pt x="1068288" y="215254"/>
                </a:lnTo>
                <a:lnTo>
                  <a:pt x="1109491" y="194754"/>
                </a:lnTo>
                <a:lnTo>
                  <a:pt x="1151065" y="175278"/>
                </a:lnTo>
                <a:lnTo>
                  <a:pt x="1192990" y="156828"/>
                </a:lnTo>
                <a:lnTo>
                  <a:pt x="1235248" y="139403"/>
                </a:lnTo>
                <a:lnTo>
                  <a:pt x="1277819" y="123002"/>
                </a:lnTo>
                <a:lnTo>
                  <a:pt x="1320686" y="107627"/>
                </a:lnTo>
                <a:lnTo>
                  <a:pt x="1363827" y="93277"/>
                </a:lnTo>
                <a:lnTo>
                  <a:pt x="1407226" y="79951"/>
                </a:lnTo>
                <a:lnTo>
                  <a:pt x="1450862" y="67651"/>
                </a:lnTo>
                <a:lnTo>
                  <a:pt x="1494717" y="56376"/>
                </a:lnTo>
                <a:lnTo>
                  <a:pt x="1538771" y="46126"/>
                </a:lnTo>
                <a:lnTo>
                  <a:pt x="1583006" y="36900"/>
                </a:lnTo>
                <a:lnTo>
                  <a:pt x="1627403" y="28700"/>
                </a:lnTo>
                <a:lnTo>
                  <a:pt x="1671942" y="21525"/>
                </a:lnTo>
                <a:lnTo>
                  <a:pt x="1716605" y="15375"/>
                </a:lnTo>
                <a:lnTo>
                  <a:pt x="1761372" y="10250"/>
                </a:lnTo>
                <a:lnTo>
                  <a:pt x="1806225" y="6150"/>
                </a:lnTo>
                <a:lnTo>
                  <a:pt x="1851145" y="3075"/>
                </a:lnTo>
                <a:lnTo>
                  <a:pt x="1896112" y="1025"/>
                </a:lnTo>
                <a:lnTo>
                  <a:pt x="1941107" y="0"/>
                </a:lnTo>
                <a:lnTo>
                  <a:pt x="1986112" y="0"/>
                </a:lnTo>
                <a:lnTo>
                  <a:pt x="2031108" y="1025"/>
                </a:lnTo>
                <a:lnTo>
                  <a:pt x="2076074" y="3075"/>
                </a:lnTo>
                <a:lnTo>
                  <a:pt x="2120994" y="6150"/>
                </a:lnTo>
                <a:lnTo>
                  <a:pt x="2165847" y="10250"/>
                </a:lnTo>
                <a:lnTo>
                  <a:pt x="2210614" y="15375"/>
                </a:lnTo>
                <a:lnTo>
                  <a:pt x="2255277" y="21525"/>
                </a:lnTo>
                <a:lnTo>
                  <a:pt x="2299816" y="28700"/>
                </a:lnTo>
                <a:lnTo>
                  <a:pt x="2344213" y="36900"/>
                </a:lnTo>
                <a:lnTo>
                  <a:pt x="2388448" y="46126"/>
                </a:lnTo>
                <a:lnTo>
                  <a:pt x="2432502" y="56376"/>
                </a:lnTo>
                <a:lnTo>
                  <a:pt x="2476357" y="67651"/>
                </a:lnTo>
                <a:lnTo>
                  <a:pt x="2519993" y="79951"/>
                </a:lnTo>
                <a:lnTo>
                  <a:pt x="2563392" y="93277"/>
                </a:lnTo>
                <a:lnTo>
                  <a:pt x="2606534" y="107627"/>
                </a:lnTo>
                <a:lnTo>
                  <a:pt x="2649400" y="123002"/>
                </a:lnTo>
                <a:lnTo>
                  <a:pt x="2691971" y="139403"/>
                </a:lnTo>
                <a:lnTo>
                  <a:pt x="2734229" y="156828"/>
                </a:lnTo>
                <a:lnTo>
                  <a:pt x="2776155" y="175278"/>
                </a:lnTo>
                <a:lnTo>
                  <a:pt x="2817728" y="194754"/>
                </a:lnTo>
                <a:lnTo>
                  <a:pt x="2858931" y="215254"/>
                </a:lnTo>
                <a:lnTo>
                  <a:pt x="2899744" y="236780"/>
                </a:lnTo>
                <a:lnTo>
                  <a:pt x="2940148" y="259330"/>
                </a:lnTo>
                <a:lnTo>
                  <a:pt x="2980125" y="282906"/>
                </a:lnTo>
                <a:lnTo>
                  <a:pt x="3019655" y="307506"/>
                </a:lnTo>
                <a:lnTo>
                  <a:pt x="3058719" y="333132"/>
                </a:lnTo>
                <a:lnTo>
                  <a:pt x="3097298" y="359782"/>
                </a:lnTo>
                <a:lnTo>
                  <a:pt x="3135374" y="387458"/>
                </a:lnTo>
                <a:lnTo>
                  <a:pt x="3172926" y="416159"/>
                </a:lnTo>
                <a:lnTo>
                  <a:pt x="3209937" y="445884"/>
                </a:lnTo>
                <a:lnTo>
                  <a:pt x="3246387" y="476635"/>
                </a:lnTo>
                <a:lnTo>
                  <a:pt x="3282257" y="508411"/>
                </a:lnTo>
                <a:lnTo>
                  <a:pt x="3317529" y="541211"/>
                </a:lnTo>
                <a:lnTo>
                  <a:pt x="3352182" y="575037"/>
                </a:lnTo>
                <a:close/>
              </a:path>
            </a:pathLst>
          </a:custGeom>
          <a:noFill/>
          <a:ln w="25400" cap="flat" cmpd="sng">
            <a:solidFill>
              <a:srgbClr val="00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2"/>
          <p:cNvSpPr/>
          <p:nvPr/>
        </p:nvSpPr>
        <p:spPr>
          <a:xfrm>
            <a:off x="4893828" y="2479131"/>
            <a:ext cx="2358373" cy="2357437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2"/>
          <p:cNvSpPr/>
          <p:nvPr/>
        </p:nvSpPr>
        <p:spPr>
          <a:xfrm>
            <a:off x="4979008" y="2546350"/>
            <a:ext cx="2205990" cy="2205355"/>
          </a:xfrm>
          <a:custGeom>
            <a:avLst/>
            <a:gdLst/>
            <a:ahLst/>
            <a:cxnLst/>
            <a:rect l="l" t="t" r="r" b="b"/>
            <a:pathLst>
              <a:path w="2205990" h="2205354" extrusionOk="0">
                <a:moveTo>
                  <a:pt x="1102986" y="0"/>
                </a:moveTo>
                <a:lnTo>
                  <a:pt x="1058426" y="894"/>
                </a:lnTo>
                <a:lnTo>
                  <a:pt x="1013924" y="3578"/>
                </a:lnTo>
                <a:lnTo>
                  <a:pt x="969539" y="8050"/>
                </a:lnTo>
                <a:lnTo>
                  <a:pt x="925329" y="14312"/>
                </a:lnTo>
                <a:lnTo>
                  <a:pt x="881354" y="22362"/>
                </a:lnTo>
                <a:lnTo>
                  <a:pt x="837671" y="32202"/>
                </a:lnTo>
                <a:lnTo>
                  <a:pt x="794340" y="43831"/>
                </a:lnTo>
                <a:lnTo>
                  <a:pt x="751418" y="57249"/>
                </a:lnTo>
                <a:lnTo>
                  <a:pt x="708964" y="72455"/>
                </a:lnTo>
                <a:lnTo>
                  <a:pt x="667038" y="89451"/>
                </a:lnTo>
                <a:lnTo>
                  <a:pt x="625696" y="108236"/>
                </a:lnTo>
                <a:lnTo>
                  <a:pt x="584998" y="128810"/>
                </a:lnTo>
                <a:lnTo>
                  <a:pt x="545003" y="151173"/>
                </a:lnTo>
                <a:lnTo>
                  <a:pt x="505768" y="175325"/>
                </a:lnTo>
                <a:lnTo>
                  <a:pt x="467353" y="201266"/>
                </a:lnTo>
                <a:lnTo>
                  <a:pt x="429816" y="228996"/>
                </a:lnTo>
                <a:lnTo>
                  <a:pt x="393215" y="258515"/>
                </a:lnTo>
                <a:lnTo>
                  <a:pt x="357609" y="289823"/>
                </a:lnTo>
                <a:lnTo>
                  <a:pt x="323057" y="322920"/>
                </a:lnTo>
                <a:lnTo>
                  <a:pt x="289946" y="357458"/>
                </a:lnTo>
                <a:lnTo>
                  <a:pt x="258624" y="393048"/>
                </a:lnTo>
                <a:lnTo>
                  <a:pt x="229093" y="429633"/>
                </a:lnTo>
                <a:lnTo>
                  <a:pt x="201351" y="467155"/>
                </a:lnTo>
                <a:lnTo>
                  <a:pt x="175399" y="505554"/>
                </a:lnTo>
                <a:lnTo>
                  <a:pt x="151237" y="544772"/>
                </a:lnTo>
                <a:lnTo>
                  <a:pt x="128865" y="584750"/>
                </a:lnTo>
                <a:lnTo>
                  <a:pt x="108282" y="625430"/>
                </a:lnTo>
                <a:lnTo>
                  <a:pt x="89489" y="666754"/>
                </a:lnTo>
                <a:lnTo>
                  <a:pt x="72486" y="708663"/>
                </a:lnTo>
                <a:lnTo>
                  <a:pt x="57273" y="751099"/>
                </a:lnTo>
                <a:lnTo>
                  <a:pt x="43849" y="794003"/>
                </a:lnTo>
                <a:lnTo>
                  <a:pt x="32216" y="837316"/>
                </a:lnTo>
                <a:lnTo>
                  <a:pt x="22372" y="880980"/>
                </a:lnTo>
                <a:lnTo>
                  <a:pt x="14318" y="924937"/>
                </a:lnTo>
                <a:lnTo>
                  <a:pt x="8054" y="969127"/>
                </a:lnTo>
                <a:lnTo>
                  <a:pt x="3579" y="1013493"/>
                </a:lnTo>
                <a:lnTo>
                  <a:pt x="894" y="1057977"/>
                </a:lnTo>
                <a:lnTo>
                  <a:pt x="0" y="1102518"/>
                </a:lnTo>
                <a:lnTo>
                  <a:pt x="894" y="1147060"/>
                </a:lnTo>
                <a:lnTo>
                  <a:pt x="3579" y="1191543"/>
                </a:lnTo>
                <a:lnTo>
                  <a:pt x="8054" y="1235909"/>
                </a:lnTo>
                <a:lnTo>
                  <a:pt x="14318" y="1280100"/>
                </a:lnTo>
                <a:lnTo>
                  <a:pt x="22372" y="1324057"/>
                </a:lnTo>
                <a:lnTo>
                  <a:pt x="32216" y="1367721"/>
                </a:lnTo>
                <a:lnTo>
                  <a:pt x="43849" y="1411034"/>
                </a:lnTo>
                <a:lnTo>
                  <a:pt x="57273" y="1453937"/>
                </a:lnTo>
                <a:lnTo>
                  <a:pt x="72486" y="1496373"/>
                </a:lnTo>
                <a:lnTo>
                  <a:pt x="89489" y="1538282"/>
                </a:lnTo>
                <a:lnTo>
                  <a:pt x="108282" y="1579606"/>
                </a:lnTo>
                <a:lnTo>
                  <a:pt x="128865" y="1620287"/>
                </a:lnTo>
                <a:lnTo>
                  <a:pt x="151237" y="1660265"/>
                </a:lnTo>
                <a:lnTo>
                  <a:pt x="175399" y="1699483"/>
                </a:lnTo>
                <a:lnTo>
                  <a:pt x="201351" y="1737882"/>
                </a:lnTo>
                <a:lnTo>
                  <a:pt x="229093" y="1775403"/>
                </a:lnTo>
                <a:lnTo>
                  <a:pt x="258624" y="1811988"/>
                </a:lnTo>
                <a:lnTo>
                  <a:pt x="289946" y="1847579"/>
                </a:lnTo>
                <a:lnTo>
                  <a:pt x="323057" y="1882117"/>
                </a:lnTo>
                <a:lnTo>
                  <a:pt x="357609" y="1915214"/>
                </a:lnTo>
                <a:lnTo>
                  <a:pt x="393215" y="1946522"/>
                </a:lnTo>
                <a:lnTo>
                  <a:pt x="429816" y="1976041"/>
                </a:lnTo>
                <a:lnTo>
                  <a:pt x="467353" y="2003771"/>
                </a:lnTo>
                <a:lnTo>
                  <a:pt x="505768" y="2029712"/>
                </a:lnTo>
                <a:lnTo>
                  <a:pt x="545003" y="2053864"/>
                </a:lnTo>
                <a:lnTo>
                  <a:pt x="584998" y="2076227"/>
                </a:lnTo>
                <a:lnTo>
                  <a:pt x="625696" y="2096801"/>
                </a:lnTo>
                <a:lnTo>
                  <a:pt x="667038" y="2115585"/>
                </a:lnTo>
                <a:lnTo>
                  <a:pt x="708964" y="2132581"/>
                </a:lnTo>
                <a:lnTo>
                  <a:pt x="751418" y="2147788"/>
                </a:lnTo>
                <a:lnTo>
                  <a:pt x="794340" y="2161206"/>
                </a:lnTo>
                <a:lnTo>
                  <a:pt x="837671" y="2172834"/>
                </a:lnTo>
                <a:lnTo>
                  <a:pt x="881354" y="2182674"/>
                </a:lnTo>
                <a:lnTo>
                  <a:pt x="925329" y="2190725"/>
                </a:lnTo>
                <a:lnTo>
                  <a:pt x="969539" y="2196986"/>
                </a:lnTo>
                <a:lnTo>
                  <a:pt x="1013924" y="2201459"/>
                </a:lnTo>
                <a:lnTo>
                  <a:pt x="1058426" y="2204142"/>
                </a:lnTo>
                <a:lnTo>
                  <a:pt x="1102986" y="2205037"/>
                </a:lnTo>
                <a:lnTo>
                  <a:pt x="1147547" y="2204142"/>
                </a:lnTo>
                <a:lnTo>
                  <a:pt x="1192049" y="2201459"/>
                </a:lnTo>
                <a:lnTo>
                  <a:pt x="1236434" y="2196986"/>
                </a:lnTo>
                <a:lnTo>
                  <a:pt x="1280643" y="2190725"/>
                </a:lnTo>
                <a:lnTo>
                  <a:pt x="1324619" y="2182674"/>
                </a:lnTo>
                <a:lnTo>
                  <a:pt x="1368301" y="2172834"/>
                </a:lnTo>
                <a:lnTo>
                  <a:pt x="1411633" y="2161206"/>
                </a:lnTo>
                <a:lnTo>
                  <a:pt x="1454555" y="2147788"/>
                </a:lnTo>
                <a:lnTo>
                  <a:pt x="1497008" y="2132581"/>
                </a:lnTo>
                <a:lnTo>
                  <a:pt x="1538935" y="2115585"/>
                </a:lnTo>
                <a:lnTo>
                  <a:pt x="1580276" y="2096801"/>
                </a:lnTo>
                <a:lnTo>
                  <a:pt x="1620974" y="2076227"/>
                </a:lnTo>
                <a:lnTo>
                  <a:pt x="1660970" y="2053864"/>
                </a:lnTo>
                <a:lnTo>
                  <a:pt x="1700204" y="2029712"/>
                </a:lnTo>
                <a:lnTo>
                  <a:pt x="1738619" y="2003771"/>
                </a:lnTo>
                <a:lnTo>
                  <a:pt x="1776157" y="1976041"/>
                </a:lnTo>
                <a:lnTo>
                  <a:pt x="1812757" y="1946522"/>
                </a:lnTo>
                <a:lnTo>
                  <a:pt x="1848363" y="1915214"/>
                </a:lnTo>
                <a:lnTo>
                  <a:pt x="1882915" y="1882117"/>
                </a:lnTo>
                <a:lnTo>
                  <a:pt x="1916027" y="1847579"/>
                </a:lnTo>
                <a:lnTo>
                  <a:pt x="1947348" y="1811988"/>
                </a:lnTo>
                <a:lnTo>
                  <a:pt x="1976880" y="1775403"/>
                </a:lnTo>
                <a:lnTo>
                  <a:pt x="2004621" y="1737882"/>
                </a:lnTo>
                <a:lnTo>
                  <a:pt x="2030573" y="1699483"/>
                </a:lnTo>
                <a:lnTo>
                  <a:pt x="2054736" y="1660265"/>
                </a:lnTo>
                <a:lnTo>
                  <a:pt x="2077108" y="1620287"/>
                </a:lnTo>
                <a:lnTo>
                  <a:pt x="2097691" y="1579606"/>
                </a:lnTo>
                <a:lnTo>
                  <a:pt x="2116483" y="1538282"/>
                </a:lnTo>
                <a:lnTo>
                  <a:pt x="2133486" y="1496373"/>
                </a:lnTo>
                <a:lnTo>
                  <a:pt x="2148700" y="1453937"/>
                </a:lnTo>
                <a:lnTo>
                  <a:pt x="2162123" y="1411034"/>
                </a:lnTo>
                <a:lnTo>
                  <a:pt x="2173757" y="1367721"/>
                </a:lnTo>
                <a:lnTo>
                  <a:pt x="2183601" y="1324057"/>
                </a:lnTo>
                <a:lnTo>
                  <a:pt x="2191655" y="1280100"/>
                </a:lnTo>
                <a:lnTo>
                  <a:pt x="2197919" y="1235909"/>
                </a:lnTo>
                <a:lnTo>
                  <a:pt x="2202393" y="1191543"/>
                </a:lnTo>
                <a:lnTo>
                  <a:pt x="2205078" y="1147060"/>
                </a:lnTo>
                <a:lnTo>
                  <a:pt x="2205973" y="1102518"/>
                </a:lnTo>
                <a:lnTo>
                  <a:pt x="2205078" y="1057977"/>
                </a:lnTo>
                <a:lnTo>
                  <a:pt x="2202393" y="1013493"/>
                </a:lnTo>
                <a:lnTo>
                  <a:pt x="2197919" y="969127"/>
                </a:lnTo>
                <a:lnTo>
                  <a:pt x="2191655" y="924937"/>
                </a:lnTo>
                <a:lnTo>
                  <a:pt x="2183601" y="880980"/>
                </a:lnTo>
                <a:lnTo>
                  <a:pt x="2173757" y="837316"/>
                </a:lnTo>
                <a:lnTo>
                  <a:pt x="2162123" y="794003"/>
                </a:lnTo>
                <a:lnTo>
                  <a:pt x="2148700" y="751099"/>
                </a:lnTo>
                <a:lnTo>
                  <a:pt x="2133486" y="708663"/>
                </a:lnTo>
                <a:lnTo>
                  <a:pt x="2116483" y="666754"/>
                </a:lnTo>
                <a:lnTo>
                  <a:pt x="2097691" y="625430"/>
                </a:lnTo>
                <a:lnTo>
                  <a:pt x="2077108" y="584750"/>
                </a:lnTo>
                <a:lnTo>
                  <a:pt x="2054736" y="544772"/>
                </a:lnTo>
                <a:lnTo>
                  <a:pt x="2030573" y="505554"/>
                </a:lnTo>
                <a:lnTo>
                  <a:pt x="2004621" y="467155"/>
                </a:lnTo>
                <a:lnTo>
                  <a:pt x="1976880" y="429633"/>
                </a:lnTo>
                <a:lnTo>
                  <a:pt x="1947348" y="393048"/>
                </a:lnTo>
                <a:lnTo>
                  <a:pt x="1916027" y="357458"/>
                </a:lnTo>
                <a:lnTo>
                  <a:pt x="1882915" y="322920"/>
                </a:lnTo>
                <a:lnTo>
                  <a:pt x="1848363" y="289823"/>
                </a:lnTo>
                <a:lnTo>
                  <a:pt x="1812757" y="258515"/>
                </a:lnTo>
                <a:lnTo>
                  <a:pt x="1776157" y="228996"/>
                </a:lnTo>
                <a:lnTo>
                  <a:pt x="1738619" y="201266"/>
                </a:lnTo>
                <a:lnTo>
                  <a:pt x="1700204" y="175325"/>
                </a:lnTo>
                <a:lnTo>
                  <a:pt x="1660970" y="151173"/>
                </a:lnTo>
                <a:lnTo>
                  <a:pt x="1620974" y="128810"/>
                </a:lnTo>
                <a:lnTo>
                  <a:pt x="1580276" y="108236"/>
                </a:lnTo>
                <a:lnTo>
                  <a:pt x="1538935" y="89451"/>
                </a:lnTo>
                <a:lnTo>
                  <a:pt x="1497008" y="72455"/>
                </a:lnTo>
                <a:lnTo>
                  <a:pt x="1454555" y="57249"/>
                </a:lnTo>
                <a:lnTo>
                  <a:pt x="1411633" y="43831"/>
                </a:lnTo>
                <a:lnTo>
                  <a:pt x="1368301" y="32202"/>
                </a:lnTo>
                <a:lnTo>
                  <a:pt x="1324619" y="22362"/>
                </a:lnTo>
                <a:lnTo>
                  <a:pt x="1280643" y="14312"/>
                </a:lnTo>
                <a:lnTo>
                  <a:pt x="1236434" y="8050"/>
                </a:lnTo>
                <a:lnTo>
                  <a:pt x="1192049" y="3578"/>
                </a:lnTo>
                <a:lnTo>
                  <a:pt x="1147547" y="894"/>
                </a:lnTo>
                <a:lnTo>
                  <a:pt x="1102986" y="0"/>
                </a:lnTo>
                <a:close/>
              </a:path>
            </a:pathLst>
          </a:custGeom>
          <a:solidFill>
            <a:srgbClr val="0056B8">
              <a:alpha val="79607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2"/>
          <p:cNvSpPr/>
          <p:nvPr/>
        </p:nvSpPr>
        <p:spPr>
          <a:xfrm>
            <a:off x="4967890" y="3391459"/>
            <a:ext cx="2238260" cy="503061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2"/>
          <p:cNvSpPr txBox="1"/>
          <p:nvPr/>
        </p:nvSpPr>
        <p:spPr>
          <a:xfrm>
            <a:off x="5092700" y="3479800"/>
            <a:ext cx="2007235" cy="29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Neurotransmitters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12"/>
          <p:cNvSpPr/>
          <p:nvPr/>
        </p:nvSpPr>
        <p:spPr>
          <a:xfrm>
            <a:off x="3746500" y="326494"/>
            <a:ext cx="4699000" cy="1358899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2"/>
          <p:cNvSpPr txBox="1"/>
          <p:nvPr/>
        </p:nvSpPr>
        <p:spPr>
          <a:xfrm>
            <a:off x="5232400" y="584200"/>
            <a:ext cx="1732914" cy="563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2850" rIns="0" bIns="0" anchor="t" anchorCtr="0">
            <a:spAutoFit/>
          </a:bodyPr>
          <a:lstStyle/>
          <a:p>
            <a:pPr marL="12700" marR="5080" lvl="0" indent="5715" algn="ctr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Mood and temperature  regulation, aggression, and  sleep cycles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2"/>
          <p:cNvSpPr/>
          <p:nvPr/>
        </p:nvSpPr>
        <p:spPr>
          <a:xfrm>
            <a:off x="7727950" y="2014537"/>
            <a:ext cx="3060700" cy="952500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2"/>
          <p:cNvSpPr txBox="1"/>
          <p:nvPr/>
        </p:nvSpPr>
        <p:spPr>
          <a:xfrm>
            <a:off x="8082358" y="2145272"/>
            <a:ext cx="1749425" cy="208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Motor function and reward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2"/>
          <p:cNvSpPr/>
          <p:nvPr/>
        </p:nvSpPr>
        <p:spPr>
          <a:xfrm>
            <a:off x="7431089" y="3484562"/>
            <a:ext cx="3581400" cy="952500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2"/>
          <p:cNvSpPr txBox="1"/>
          <p:nvPr/>
        </p:nvSpPr>
        <p:spPr>
          <a:xfrm>
            <a:off x="8648700" y="3670300"/>
            <a:ext cx="1618615" cy="386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2850" rIns="0" bIns="0" anchor="t" anchorCtr="0">
            <a:spAutoFit/>
          </a:bodyPr>
          <a:lstStyle/>
          <a:p>
            <a:pPr marL="12700" marR="508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Muscle contraction (PNS)  Cortical arousal (CNS)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2"/>
          <p:cNvSpPr/>
          <p:nvPr/>
        </p:nvSpPr>
        <p:spPr>
          <a:xfrm>
            <a:off x="1128712" y="3484562"/>
            <a:ext cx="3581400" cy="952500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2"/>
          <p:cNvSpPr txBox="1"/>
          <p:nvPr/>
        </p:nvSpPr>
        <p:spPr>
          <a:xfrm>
            <a:off x="2247900" y="3708400"/>
            <a:ext cx="1116330" cy="386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2850" rIns="0" bIns="0" anchor="t" anchorCtr="0">
            <a:spAutoFit/>
          </a:bodyPr>
          <a:lstStyle/>
          <a:p>
            <a:pPr marL="12700" marR="508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inhibitory  neurotransmitter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2"/>
          <p:cNvSpPr/>
          <p:nvPr/>
        </p:nvSpPr>
        <p:spPr>
          <a:xfrm>
            <a:off x="1524000" y="2014537"/>
            <a:ext cx="3271837" cy="952500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2"/>
          <p:cNvSpPr txBox="1"/>
          <p:nvPr/>
        </p:nvSpPr>
        <p:spPr>
          <a:xfrm>
            <a:off x="1701800" y="2120900"/>
            <a:ext cx="2181860" cy="563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2850" rIns="0" bIns="0" anchor="t" anchorCtr="0">
            <a:spAutoFit/>
          </a:bodyPr>
          <a:lstStyle/>
          <a:p>
            <a:pPr marL="12700" marR="508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excitatory neurotransmitter;  participates in relay of sensory  information and learning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2"/>
          <p:cNvSpPr/>
          <p:nvPr/>
        </p:nvSpPr>
        <p:spPr>
          <a:xfrm>
            <a:off x="4677684" y="1266705"/>
            <a:ext cx="2273213" cy="2276476"/>
          </a:xfrm>
          <a:prstGeom prst="rect">
            <a:avLst/>
          </a:prstGeom>
          <a:blipFill rotWithShape="1">
            <a:blip r:embed="rId1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2"/>
          <p:cNvSpPr/>
          <p:nvPr/>
        </p:nvSpPr>
        <p:spPr>
          <a:xfrm>
            <a:off x="5426432" y="1292602"/>
            <a:ext cx="1358265" cy="1361440"/>
          </a:xfrm>
          <a:custGeom>
            <a:avLst/>
            <a:gdLst/>
            <a:ahLst/>
            <a:cxnLst/>
            <a:rect l="l" t="t" r="r" b="b"/>
            <a:pathLst>
              <a:path w="1358265" h="1361439" extrusionOk="0">
                <a:moveTo>
                  <a:pt x="701707" y="0"/>
                </a:moveTo>
                <a:lnTo>
                  <a:pt x="656355" y="0"/>
                </a:lnTo>
                <a:lnTo>
                  <a:pt x="611084" y="3016"/>
                </a:lnTo>
                <a:lnTo>
                  <a:pt x="566057" y="9049"/>
                </a:lnTo>
                <a:lnTo>
                  <a:pt x="521437" y="18099"/>
                </a:lnTo>
                <a:lnTo>
                  <a:pt x="477385" y="30165"/>
                </a:lnTo>
                <a:lnTo>
                  <a:pt x="434066" y="45248"/>
                </a:lnTo>
                <a:lnTo>
                  <a:pt x="391640" y="63348"/>
                </a:lnTo>
                <a:lnTo>
                  <a:pt x="350272" y="84464"/>
                </a:lnTo>
                <a:lnTo>
                  <a:pt x="310122" y="108597"/>
                </a:lnTo>
                <a:lnTo>
                  <a:pt x="271355" y="135746"/>
                </a:lnTo>
                <a:lnTo>
                  <a:pt x="234132" y="165912"/>
                </a:lnTo>
                <a:lnTo>
                  <a:pt x="198617" y="199094"/>
                </a:lnTo>
                <a:lnTo>
                  <a:pt x="165514" y="234695"/>
                </a:lnTo>
                <a:lnTo>
                  <a:pt x="135420" y="272007"/>
                </a:lnTo>
                <a:lnTo>
                  <a:pt x="108336" y="310867"/>
                </a:lnTo>
                <a:lnTo>
                  <a:pt x="84261" y="351113"/>
                </a:lnTo>
                <a:lnTo>
                  <a:pt x="63196" y="392580"/>
                </a:lnTo>
                <a:lnTo>
                  <a:pt x="45140" y="435108"/>
                </a:lnTo>
                <a:lnTo>
                  <a:pt x="30093" y="478531"/>
                </a:lnTo>
                <a:lnTo>
                  <a:pt x="18056" y="522688"/>
                </a:lnTo>
                <a:lnTo>
                  <a:pt x="9028" y="567416"/>
                </a:lnTo>
                <a:lnTo>
                  <a:pt x="3009" y="612551"/>
                </a:lnTo>
                <a:lnTo>
                  <a:pt x="0" y="657930"/>
                </a:lnTo>
                <a:lnTo>
                  <a:pt x="0" y="703391"/>
                </a:lnTo>
                <a:lnTo>
                  <a:pt x="3009" y="748771"/>
                </a:lnTo>
                <a:lnTo>
                  <a:pt x="9028" y="793905"/>
                </a:lnTo>
                <a:lnTo>
                  <a:pt x="18056" y="838633"/>
                </a:lnTo>
                <a:lnTo>
                  <a:pt x="30093" y="882790"/>
                </a:lnTo>
                <a:lnTo>
                  <a:pt x="45140" y="926214"/>
                </a:lnTo>
                <a:lnTo>
                  <a:pt x="63196" y="968741"/>
                </a:lnTo>
                <a:lnTo>
                  <a:pt x="84261" y="1010209"/>
                </a:lnTo>
                <a:lnTo>
                  <a:pt x="108336" y="1050454"/>
                </a:lnTo>
                <a:lnTo>
                  <a:pt x="135420" y="1089314"/>
                </a:lnTo>
                <a:lnTo>
                  <a:pt x="165514" y="1126626"/>
                </a:lnTo>
                <a:lnTo>
                  <a:pt x="198617" y="1162226"/>
                </a:lnTo>
                <a:lnTo>
                  <a:pt x="234132" y="1195409"/>
                </a:lnTo>
                <a:lnTo>
                  <a:pt x="271355" y="1225575"/>
                </a:lnTo>
                <a:lnTo>
                  <a:pt x="310122" y="1252724"/>
                </a:lnTo>
                <a:lnTo>
                  <a:pt x="350272" y="1276857"/>
                </a:lnTo>
                <a:lnTo>
                  <a:pt x="391640" y="1297973"/>
                </a:lnTo>
                <a:lnTo>
                  <a:pt x="434066" y="1316072"/>
                </a:lnTo>
                <a:lnTo>
                  <a:pt x="477385" y="1331155"/>
                </a:lnTo>
                <a:lnTo>
                  <a:pt x="521437" y="1343221"/>
                </a:lnTo>
                <a:lnTo>
                  <a:pt x="566057" y="1352271"/>
                </a:lnTo>
                <a:lnTo>
                  <a:pt x="611084" y="1358304"/>
                </a:lnTo>
                <a:lnTo>
                  <a:pt x="656355" y="1361321"/>
                </a:lnTo>
                <a:lnTo>
                  <a:pt x="701707" y="1361321"/>
                </a:lnTo>
                <a:lnTo>
                  <a:pt x="746978" y="1358304"/>
                </a:lnTo>
                <a:lnTo>
                  <a:pt x="792005" y="1352271"/>
                </a:lnTo>
                <a:lnTo>
                  <a:pt x="836625" y="1343221"/>
                </a:lnTo>
                <a:lnTo>
                  <a:pt x="880676" y="1331155"/>
                </a:lnTo>
                <a:lnTo>
                  <a:pt x="923996" y="1316072"/>
                </a:lnTo>
                <a:lnTo>
                  <a:pt x="966421" y="1297973"/>
                </a:lnTo>
                <a:lnTo>
                  <a:pt x="1007790" y="1276857"/>
                </a:lnTo>
                <a:lnTo>
                  <a:pt x="1047939" y="1252724"/>
                </a:lnTo>
                <a:lnTo>
                  <a:pt x="1086706" y="1225575"/>
                </a:lnTo>
                <a:lnTo>
                  <a:pt x="1123929" y="1195409"/>
                </a:lnTo>
                <a:lnTo>
                  <a:pt x="1159444" y="1162226"/>
                </a:lnTo>
                <a:lnTo>
                  <a:pt x="1192547" y="1126626"/>
                </a:lnTo>
                <a:lnTo>
                  <a:pt x="1222641" y="1089314"/>
                </a:lnTo>
                <a:lnTo>
                  <a:pt x="1249725" y="1050454"/>
                </a:lnTo>
                <a:lnTo>
                  <a:pt x="1273800" y="1010209"/>
                </a:lnTo>
                <a:lnTo>
                  <a:pt x="1294865" y="968741"/>
                </a:lnTo>
                <a:lnTo>
                  <a:pt x="1312921" y="926214"/>
                </a:lnTo>
                <a:lnTo>
                  <a:pt x="1327968" y="882790"/>
                </a:lnTo>
                <a:lnTo>
                  <a:pt x="1340005" y="838633"/>
                </a:lnTo>
                <a:lnTo>
                  <a:pt x="1349033" y="793905"/>
                </a:lnTo>
                <a:lnTo>
                  <a:pt x="1355052" y="748771"/>
                </a:lnTo>
                <a:lnTo>
                  <a:pt x="1358061" y="703391"/>
                </a:lnTo>
                <a:lnTo>
                  <a:pt x="1358061" y="657930"/>
                </a:lnTo>
                <a:lnTo>
                  <a:pt x="1355052" y="612551"/>
                </a:lnTo>
                <a:lnTo>
                  <a:pt x="1349033" y="567416"/>
                </a:lnTo>
                <a:lnTo>
                  <a:pt x="1340005" y="522688"/>
                </a:lnTo>
                <a:lnTo>
                  <a:pt x="1327968" y="478531"/>
                </a:lnTo>
                <a:lnTo>
                  <a:pt x="1312921" y="435108"/>
                </a:lnTo>
                <a:lnTo>
                  <a:pt x="1294865" y="392580"/>
                </a:lnTo>
                <a:lnTo>
                  <a:pt x="1273800" y="351113"/>
                </a:lnTo>
                <a:lnTo>
                  <a:pt x="1249725" y="310867"/>
                </a:lnTo>
                <a:lnTo>
                  <a:pt x="1222641" y="272007"/>
                </a:lnTo>
                <a:lnTo>
                  <a:pt x="1192547" y="234695"/>
                </a:lnTo>
                <a:lnTo>
                  <a:pt x="1159444" y="199094"/>
                </a:lnTo>
                <a:lnTo>
                  <a:pt x="1123929" y="165912"/>
                </a:lnTo>
                <a:lnTo>
                  <a:pt x="1086706" y="135746"/>
                </a:lnTo>
                <a:lnTo>
                  <a:pt x="1047939" y="108597"/>
                </a:lnTo>
                <a:lnTo>
                  <a:pt x="1007790" y="84464"/>
                </a:lnTo>
                <a:lnTo>
                  <a:pt x="966421" y="63348"/>
                </a:lnTo>
                <a:lnTo>
                  <a:pt x="923996" y="45248"/>
                </a:lnTo>
                <a:lnTo>
                  <a:pt x="880676" y="30165"/>
                </a:lnTo>
                <a:lnTo>
                  <a:pt x="836625" y="18099"/>
                </a:lnTo>
                <a:lnTo>
                  <a:pt x="792005" y="9049"/>
                </a:lnTo>
                <a:lnTo>
                  <a:pt x="746978" y="3016"/>
                </a:lnTo>
                <a:lnTo>
                  <a:pt x="701707" y="0"/>
                </a:lnTo>
                <a:close/>
              </a:path>
            </a:pathLst>
          </a:custGeom>
          <a:solidFill>
            <a:srgbClr val="3B8CE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2"/>
          <p:cNvSpPr txBox="1"/>
          <p:nvPr/>
        </p:nvSpPr>
        <p:spPr>
          <a:xfrm>
            <a:off x="5664200" y="1828800"/>
            <a:ext cx="855344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Serotonin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12"/>
          <p:cNvSpPr/>
          <p:nvPr/>
        </p:nvSpPr>
        <p:spPr>
          <a:xfrm>
            <a:off x="5991712" y="1812805"/>
            <a:ext cx="2275668" cy="2276476"/>
          </a:xfrm>
          <a:prstGeom prst="rect">
            <a:avLst/>
          </a:prstGeom>
          <a:blipFill rotWithShape="1">
            <a:blip r:embed="rId1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2"/>
          <p:cNvSpPr/>
          <p:nvPr/>
        </p:nvSpPr>
        <p:spPr>
          <a:xfrm>
            <a:off x="6740461" y="1838703"/>
            <a:ext cx="1360805" cy="1361440"/>
          </a:xfrm>
          <a:custGeom>
            <a:avLst/>
            <a:gdLst/>
            <a:ahLst/>
            <a:cxnLst/>
            <a:rect l="l" t="t" r="r" b="b"/>
            <a:pathLst>
              <a:path w="1360804" h="1361439" extrusionOk="0">
                <a:moveTo>
                  <a:pt x="702973" y="0"/>
                </a:moveTo>
                <a:lnTo>
                  <a:pt x="657539" y="0"/>
                </a:lnTo>
                <a:lnTo>
                  <a:pt x="612187" y="3016"/>
                </a:lnTo>
                <a:lnTo>
                  <a:pt x="567079" y="9049"/>
                </a:lnTo>
                <a:lnTo>
                  <a:pt x="522378" y="18099"/>
                </a:lnTo>
                <a:lnTo>
                  <a:pt x="478247" y="30165"/>
                </a:lnTo>
                <a:lnTo>
                  <a:pt x="434849" y="45248"/>
                </a:lnTo>
                <a:lnTo>
                  <a:pt x="392347" y="63348"/>
                </a:lnTo>
                <a:lnTo>
                  <a:pt x="350904" y="84464"/>
                </a:lnTo>
                <a:lnTo>
                  <a:pt x="310682" y="108597"/>
                </a:lnTo>
                <a:lnTo>
                  <a:pt x="271845" y="135746"/>
                </a:lnTo>
                <a:lnTo>
                  <a:pt x="234555" y="165912"/>
                </a:lnTo>
                <a:lnTo>
                  <a:pt x="198975" y="199094"/>
                </a:lnTo>
                <a:lnTo>
                  <a:pt x="165813" y="234695"/>
                </a:lnTo>
                <a:lnTo>
                  <a:pt x="135665" y="272007"/>
                </a:lnTo>
                <a:lnTo>
                  <a:pt x="108532" y="310867"/>
                </a:lnTo>
                <a:lnTo>
                  <a:pt x="84413" y="351113"/>
                </a:lnTo>
                <a:lnTo>
                  <a:pt x="63310" y="392580"/>
                </a:lnTo>
                <a:lnTo>
                  <a:pt x="45221" y="435108"/>
                </a:lnTo>
                <a:lnTo>
                  <a:pt x="30147" y="478531"/>
                </a:lnTo>
                <a:lnTo>
                  <a:pt x="18088" y="522688"/>
                </a:lnTo>
                <a:lnTo>
                  <a:pt x="9044" y="567416"/>
                </a:lnTo>
                <a:lnTo>
                  <a:pt x="3014" y="612551"/>
                </a:lnTo>
                <a:lnTo>
                  <a:pt x="0" y="657930"/>
                </a:lnTo>
                <a:lnTo>
                  <a:pt x="0" y="703391"/>
                </a:lnTo>
                <a:lnTo>
                  <a:pt x="3014" y="748771"/>
                </a:lnTo>
                <a:lnTo>
                  <a:pt x="9044" y="793905"/>
                </a:lnTo>
                <a:lnTo>
                  <a:pt x="18088" y="838633"/>
                </a:lnTo>
                <a:lnTo>
                  <a:pt x="30147" y="882790"/>
                </a:lnTo>
                <a:lnTo>
                  <a:pt x="45221" y="926214"/>
                </a:lnTo>
                <a:lnTo>
                  <a:pt x="63310" y="968741"/>
                </a:lnTo>
                <a:lnTo>
                  <a:pt x="84413" y="1010209"/>
                </a:lnTo>
                <a:lnTo>
                  <a:pt x="108532" y="1050454"/>
                </a:lnTo>
                <a:lnTo>
                  <a:pt x="135665" y="1089314"/>
                </a:lnTo>
                <a:lnTo>
                  <a:pt x="165813" y="1126626"/>
                </a:lnTo>
                <a:lnTo>
                  <a:pt x="198975" y="1162226"/>
                </a:lnTo>
                <a:lnTo>
                  <a:pt x="234555" y="1195409"/>
                </a:lnTo>
                <a:lnTo>
                  <a:pt x="271845" y="1225575"/>
                </a:lnTo>
                <a:lnTo>
                  <a:pt x="310682" y="1252724"/>
                </a:lnTo>
                <a:lnTo>
                  <a:pt x="350904" y="1276857"/>
                </a:lnTo>
                <a:lnTo>
                  <a:pt x="392347" y="1297973"/>
                </a:lnTo>
                <a:lnTo>
                  <a:pt x="434849" y="1316072"/>
                </a:lnTo>
                <a:lnTo>
                  <a:pt x="478247" y="1331155"/>
                </a:lnTo>
                <a:lnTo>
                  <a:pt x="522378" y="1343221"/>
                </a:lnTo>
                <a:lnTo>
                  <a:pt x="567079" y="1352271"/>
                </a:lnTo>
                <a:lnTo>
                  <a:pt x="612187" y="1358304"/>
                </a:lnTo>
                <a:lnTo>
                  <a:pt x="657539" y="1361321"/>
                </a:lnTo>
                <a:lnTo>
                  <a:pt x="702973" y="1361321"/>
                </a:lnTo>
                <a:lnTo>
                  <a:pt x="748326" y="1358304"/>
                </a:lnTo>
                <a:lnTo>
                  <a:pt x="793434" y="1352271"/>
                </a:lnTo>
                <a:lnTo>
                  <a:pt x="838135" y="1343221"/>
                </a:lnTo>
                <a:lnTo>
                  <a:pt x="882266" y="1331155"/>
                </a:lnTo>
                <a:lnTo>
                  <a:pt x="925664" y="1316072"/>
                </a:lnTo>
                <a:lnTo>
                  <a:pt x="968166" y="1297973"/>
                </a:lnTo>
                <a:lnTo>
                  <a:pt x="1009609" y="1276857"/>
                </a:lnTo>
                <a:lnTo>
                  <a:pt x="1049831" y="1252724"/>
                </a:lnTo>
                <a:lnTo>
                  <a:pt x="1088668" y="1225575"/>
                </a:lnTo>
                <a:lnTo>
                  <a:pt x="1125958" y="1195409"/>
                </a:lnTo>
                <a:lnTo>
                  <a:pt x="1161537" y="1162226"/>
                </a:lnTo>
                <a:lnTo>
                  <a:pt x="1194700" y="1126626"/>
                </a:lnTo>
                <a:lnTo>
                  <a:pt x="1224848" y="1089314"/>
                </a:lnTo>
                <a:lnTo>
                  <a:pt x="1251981" y="1050454"/>
                </a:lnTo>
                <a:lnTo>
                  <a:pt x="1276099" y="1010209"/>
                </a:lnTo>
                <a:lnTo>
                  <a:pt x="1297203" y="968741"/>
                </a:lnTo>
                <a:lnTo>
                  <a:pt x="1315291" y="926214"/>
                </a:lnTo>
                <a:lnTo>
                  <a:pt x="1330365" y="882790"/>
                </a:lnTo>
                <a:lnTo>
                  <a:pt x="1342424" y="838633"/>
                </a:lnTo>
                <a:lnTo>
                  <a:pt x="1351469" y="793905"/>
                </a:lnTo>
                <a:lnTo>
                  <a:pt x="1357498" y="748771"/>
                </a:lnTo>
                <a:lnTo>
                  <a:pt x="1360513" y="703391"/>
                </a:lnTo>
                <a:lnTo>
                  <a:pt x="1360513" y="657930"/>
                </a:lnTo>
                <a:lnTo>
                  <a:pt x="1357498" y="612551"/>
                </a:lnTo>
                <a:lnTo>
                  <a:pt x="1351469" y="567416"/>
                </a:lnTo>
                <a:lnTo>
                  <a:pt x="1342424" y="522688"/>
                </a:lnTo>
                <a:lnTo>
                  <a:pt x="1330365" y="478531"/>
                </a:lnTo>
                <a:lnTo>
                  <a:pt x="1315291" y="435108"/>
                </a:lnTo>
                <a:lnTo>
                  <a:pt x="1297203" y="392580"/>
                </a:lnTo>
                <a:lnTo>
                  <a:pt x="1276099" y="351113"/>
                </a:lnTo>
                <a:lnTo>
                  <a:pt x="1251981" y="310867"/>
                </a:lnTo>
                <a:lnTo>
                  <a:pt x="1224848" y="272007"/>
                </a:lnTo>
                <a:lnTo>
                  <a:pt x="1194700" y="234695"/>
                </a:lnTo>
                <a:lnTo>
                  <a:pt x="1161537" y="199094"/>
                </a:lnTo>
                <a:lnTo>
                  <a:pt x="1125958" y="165912"/>
                </a:lnTo>
                <a:lnTo>
                  <a:pt x="1088668" y="135746"/>
                </a:lnTo>
                <a:lnTo>
                  <a:pt x="1049831" y="108597"/>
                </a:lnTo>
                <a:lnTo>
                  <a:pt x="1009609" y="84464"/>
                </a:lnTo>
                <a:lnTo>
                  <a:pt x="968166" y="63348"/>
                </a:lnTo>
                <a:lnTo>
                  <a:pt x="925664" y="45248"/>
                </a:lnTo>
                <a:lnTo>
                  <a:pt x="882266" y="30165"/>
                </a:lnTo>
                <a:lnTo>
                  <a:pt x="838135" y="18099"/>
                </a:lnTo>
                <a:lnTo>
                  <a:pt x="793434" y="9049"/>
                </a:lnTo>
                <a:lnTo>
                  <a:pt x="748326" y="3016"/>
                </a:lnTo>
                <a:lnTo>
                  <a:pt x="702973" y="0"/>
                </a:lnTo>
                <a:close/>
              </a:path>
            </a:pathLst>
          </a:custGeom>
          <a:solidFill>
            <a:srgbClr val="6FC7E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2"/>
          <p:cNvSpPr/>
          <p:nvPr/>
        </p:nvSpPr>
        <p:spPr>
          <a:xfrm>
            <a:off x="6207255" y="2310248"/>
            <a:ext cx="1878022" cy="1203223"/>
          </a:xfrm>
          <a:prstGeom prst="rect">
            <a:avLst/>
          </a:prstGeom>
          <a:blipFill rotWithShape="1">
            <a:blip r:embed="rId1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2"/>
          <p:cNvSpPr txBox="1"/>
          <p:nvPr/>
        </p:nvSpPr>
        <p:spPr>
          <a:xfrm>
            <a:off x="6997700" y="2349500"/>
            <a:ext cx="88519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Dopamine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12"/>
          <p:cNvSpPr/>
          <p:nvPr/>
        </p:nvSpPr>
        <p:spPr>
          <a:xfrm>
            <a:off x="6368526" y="3252668"/>
            <a:ext cx="2276292" cy="2276476"/>
          </a:xfrm>
          <a:prstGeom prst="rect">
            <a:avLst/>
          </a:prstGeom>
          <a:blipFill rotWithShape="1">
            <a:blip r:embed="rId1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2"/>
          <p:cNvSpPr/>
          <p:nvPr/>
        </p:nvSpPr>
        <p:spPr>
          <a:xfrm>
            <a:off x="7117274" y="3278566"/>
            <a:ext cx="1361440" cy="1361440"/>
          </a:xfrm>
          <a:custGeom>
            <a:avLst/>
            <a:gdLst/>
            <a:ahLst/>
            <a:cxnLst/>
            <a:rect l="l" t="t" r="r" b="b"/>
            <a:pathLst>
              <a:path w="1361440" h="1361439" extrusionOk="0">
                <a:moveTo>
                  <a:pt x="703296" y="0"/>
                </a:moveTo>
                <a:lnTo>
                  <a:pt x="657841" y="0"/>
                </a:lnTo>
                <a:lnTo>
                  <a:pt x="612468" y="3016"/>
                </a:lnTo>
                <a:lnTo>
                  <a:pt x="567339" y="9049"/>
                </a:lnTo>
                <a:lnTo>
                  <a:pt x="522617" y="18099"/>
                </a:lnTo>
                <a:lnTo>
                  <a:pt x="478466" y="30165"/>
                </a:lnTo>
                <a:lnTo>
                  <a:pt x="435049" y="45248"/>
                </a:lnTo>
                <a:lnTo>
                  <a:pt x="392527" y="63347"/>
                </a:lnTo>
                <a:lnTo>
                  <a:pt x="351065" y="84463"/>
                </a:lnTo>
                <a:lnTo>
                  <a:pt x="310825" y="108596"/>
                </a:lnTo>
                <a:lnTo>
                  <a:pt x="271970" y="135745"/>
                </a:lnTo>
                <a:lnTo>
                  <a:pt x="234663" y="165911"/>
                </a:lnTo>
                <a:lnTo>
                  <a:pt x="199067" y="199093"/>
                </a:lnTo>
                <a:lnTo>
                  <a:pt x="165889" y="234694"/>
                </a:lnTo>
                <a:lnTo>
                  <a:pt x="135728" y="272006"/>
                </a:lnTo>
                <a:lnTo>
                  <a:pt x="108582" y="310866"/>
                </a:lnTo>
                <a:lnTo>
                  <a:pt x="84453" y="351112"/>
                </a:lnTo>
                <a:lnTo>
                  <a:pt x="63339" y="392579"/>
                </a:lnTo>
                <a:lnTo>
                  <a:pt x="45242" y="435107"/>
                </a:lnTo>
                <a:lnTo>
                  <a:pt x="30161" y="478530"/>
                </a:lnTo>
                <a:lnTo>
                  <a:pt x="18097" y="522688"/>
                </a:lnTo>
                <a:lnTo>
                  <a:pt x="9048" y="567415"/>
                </a:lnTo>
                <a:lnTo>
                  <a:pt x="3016" y="612550"/>
                </a:lnTo>
                <a:lnTo>
                  <a:pt x="0" y="657929"/>
                </a:lnTo>
                <a:lnTo>
                  <a:pt x="0" y="703390"/>
                </a:lnTo>
                <a:lnTo>
                  <a:pt x="3016" y="748770"/>
                </a:lnTo>
                <a:lnTo>
                  <a:pt x="9048" y="793905"/>
                </a:lnTo>
                <a:lnTo>
                  <a:pt x="18097" y="838632"/>
                </a:lnTo>
                <a:lnTo>
                  <a:pt x="30161" y="882789"/>
                </a:lnTo>
                <a:lnTo>
                  <a:pt x="45242" y="926213"/>
                </a:lnTo>
                <a:lnTo>
                  <a:pt x="63339" y="968740"/>
                </a:lnTo>
                <a:lnTo>
                  <a:pt x="84453" y="1010208"/>
                </a:lnTo>
                <a:lnTo>
                  <a:pt x="108582" y="1050454"/>
                </a:lnTo>
                <a:lnTo>
                  <a:pt x="135728" y="1089314"/>
                </a:lnTo>
                <a:lnTo>
                  <a:pt x="165889" y="1126626"/>
                </a:lnTo>
                <a:lnTo>
                  <a:pt x="199067" y="1162227"/>
                </a:lnTo>
                <a:lnTo>
                  <a:pt x="234663" y="1195409"/>
                </a:lnTo>
                <a:lnTo>
                  <a:pt x="271970" y="1225575"/>
                </a:lnTo>
                <a:lnTo>
                  <a:pt x="310825" y="1252724"/>
                </a:lnTo>
                <a:lnTo>
                  <a:pt x="351065" y="1276857"/>
                </a:lnTo>
                <a:lnTo>
                  <a:pt x="392527" y="1297973"/>
                </a:lnTo>
                <a:lnTo>
                  <a:pt x="435049" y="1316073"/>
                </a:lnTo>
                <a:lnTo>
                  <a:pt x="478466" y="1331155"/>
                </a:lnTo>
                <a:lnTo>
                  <a:pt x="522617" y="1343222"/>
                </a:lnTo>
                <a:lnTo>
                  <a:pt x="567339" y="1352272"/>
                </a:lnTo>
                <a:lnTo>
                  <a:pt x="612468" y="1358305"/>
                </a:lnTo>
                <a:lnTo>
                  <a:pt x="657841" y="1361321"/>
                </a:lnTo>
                <a:lnTo>
                  <a:pt x="703296" y="1361321"/>
                </a:lnTo>
                <a:lnTo>
                  <a:pt x="748669" y="1358305"/>
                </a:lnTo>
                <a:lnTo>
                  <a:pt x="793798" y="1352272"/>
                </a:lnTo>
                <a:lnTo>
                  <a:pt x="838519" y="1343222"/>
                </a:lnTo>
                <a:lnTo>
                  <a:pt x="882670" y="1331155"/>
                </a:lnTo>
                <a:lnTo>
                  <a:pt x="926088" y="1316073"/>
                </a:lnTo>
                <a:lnTo>
                  <a:pt x="968610" y="1297973"/>
                </a:lnTo>
                <a:lnTo>
                  <a:pt x="1010072" y="1276857"/>
                </a:lnTo>
                <a:lnTo>
                  <a:pt x="1050312" y="1252724"/>
                </a:lnTo>
                <a:lnTo>
                  <a:pt x="1089167" y="1225575"/>
                </a:lnTo>
                <a:lnTo>
                  <a:pt x="1126474" y="1195409"/>
                </a:lnTo>
                <a:lnTo>
                  <a:pt x="1162070" y="1162227"/>
                </a:lnTo>
                <a:lnTo>
                  <a:pt x="1195248" y="1126626"/>
                </a:lnTo>
                <a:lnTo>
                  <a:pt x="1225410" y="1089314"/>
                </a:lnTo>
                <a:lnTo>
                  <a:pt x="1252555" y="1050454"/>
                </a:lnTo>
                <a:lnTo>
                  <a:pt x="1276685" y="1010208"/>
                </a:lnTo>
                <a:lnTo>
                  <a:pt x="1297798" y="968740"/>
                </a:lnTo>
                <a:lnTo>
                  <a:pt x="1315895" y="926213"/>
                </a:lnTo>
                <a:lnTo>
                  <a:pt x="1330976" y="882789"/>
                </a:lnTo>
                <a:lnTo>
                  <a:pt x="1343040" y="838632"/>
                </a:lnTo>
                <a:lnTo>
                  <a:pt x="1352089" y="793905"/>
                </a:lnTo>
                <a:lnTo>
                  <a:pt x="1358121" y="748770"/>
                </a:lnTo>
                <a:lnTo>
                  <a:pt x="1361137" y="703390"/>
                </a:lnTo>
                <a:lnTo>
                  <a:pt x="1361137" y="657929"/>
                </a:lnTo>
                <a:lnTo>
                  <a:pt x="1358121" y="612550"/>
                </a:lnTo>
                <a:lnTo>
                  <a:pt x="1352089" y="567415"/>
                </a:lnTo>
                <a:lnTo>
                  <a:pt x="1343040" y="522688"/>
                </a:lnTo>
                <a:lnTo>
                  <a:pt x="1330976" y="478530"/>
                </a:lnTo>
                <a:lnTo>
                  <a:pt x="1315895" y="435107"/>
                </a:lnTo>
                <a:lnTo>
                  <a:pt x="1297798" y="392579"/>
                </a:lnTo>
                <a:lnTo>
                  <a:pt x="1276685" y="351112"/>
                </a:lnTo>
                <a:lnTo>
                  <a:pt x="1252555" y="310866"/>
                </a:lnTo>
                <a:lnTo>
                  <a:pt x="1225410" y="272006"/>
                </a:lnTo>
                <a:lnTo>
                  <a:pt x="1195248" y="234694"/>
                </a:lnTo>
                <a:lnTo>
                  <a:pt x="1162070" y="199093"/>
                </a:lnTo>
                <a:lnTo>
                  <a:pt x="1126474" y="165911"/>
                </a:lnTo>
                <a:lnTo>
                  <a:pt x="1089167" y="135745"/>
                </a:lnTo>
                <a:lnTo>
                  <a:pt x="1050312" y="108596"/>
                </a:lnTo>
                <a:lnTo>
                  <a:pt x="1010072" y="84463"/>
                </a:lnTo>
                <a:lnTo>
                  <a:pt x="968610" y="63347"/>
                </a:lnTo>
                <a:lnTo>
                  <a:pt x="926088" y="45248"/>
                </a:lnTo>
                <a:lnTo>
                  <a:pt x="882670" y="30165"/>
                </a:lnTo>
                <a:lnTo>
                  <a:pt x="838519" y="18099"/>
                </a:lnTo>
                <a:lnTo>
                  <a:pt x="793798" y="9049"/>
                </a:lnTo>
                <a:lnTo>
                  <a:pt x="748669" y="3016"/>
                </a:lnTo>
                <a:lnTo>
                  <a:pt x="703296" y="0"/>
                </a:lnTo>
                <a:close/>
              </a:path>
            </a:pathLst>
          </a:custGeom>
          <a:solidFill>
            <a:srgbClr val="8FAAD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2"/>
          <p:cNvSpPr/>
          <p:nvPr/>
        </p:nvSpPr>
        <p:spPr>
          <a:xfrm>
            <a:off x="6404254" y="3752335"/>
            <a:ext cx="2174586" cy="1203223"/>
          </a:xfrm>
          <a:prstGeom prst="rect">
            <a:avLst/>
          </a:prstGeom>
          <a:blipFill rotWithShape="1">
            <a:blip r:embed="rId1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2"/>
          <p:cNvSpPr txBox="1"/>
          <p:nvPr/>
        </p:nvSpPr>
        <p:spPr>
          <a:xfrm>
            <a:off x="7188200" y="3797300"/>
            <a:ext cx="1181735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Acetylcholine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12"/>
          <p:cNvSpPr/>
          <p:nvPr/>
        </p:nvSpPr>
        <p:spPr>
          <a:xfrm>
            <a:off x="2967354" y="3252668"/>
            <a:ext cx="2275814" cy="2276476"/>
          </a:xfrm>
          <a:prstGeom prst="rect">
            <a:avLst/>
          </a:prstGeom>
          <a:blipFill rotWithShape="1">
            <a:blip r:embed="rId17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2"/>
          <p:cNvSpPr/>
          <p:nvPr/>
        </p:nvSpPr>
        <p:spPr>
          <a:xfrm>
            <a:off x="3716102" y="3278565"/>
            <a:ext cx="1360805" cy="1361440"/>
          </a:xfrm>
          <a:custGeom>
            <a:avLst/>
            <a:gdLst/>
            <a:ahLst/>
            <a:cxnLst/>
            <a:rect l="l" t="t" r="r" b="b"/>
            <a:pathLst>
              <a:path w="1360804" h="1361439" extrusionOk="0">
                <a:moveTo>
                  <a:pt x="703049" y="0"/>
                </a:moveTo>
                <a:lnTo>
                  <a:pt x="657610" y="0"/>
                </a:lnTo>
                <a:lnTo>
                  <a:pt x="612253" y="3016"/>
                </a:lnTo>
                <a:lnTo>
                  <a:pt x="567140" y="9049"/>
                </a:lnTo>
                <a:lnTo>
                  <a:pt x="522434" y="18099"/>
                </a:lnTo>
                <a:lnTo>
                  <a:pt x="478298" y="30165"/>
                </a:lnTo>
                <a:lnTo>
                  <a:pt x="434896" y="45248"/>
                </a:lnTo>
                <a:lnTo>
                  <a:pt x="392389" y="63348"/>
                </a:lnTo>
                <a:lnTo>
                  <a:pt x="350942" y="84464"/>
                </a:lnTo>
                <a:lnTo>
                  <a:pt x="310716" y="108597"/>
                </a:lnTo>
                <a:lnTo>
                  <a:pt x="271874" y="135746"/>
                </a:lnTo>
                <a:lnTo>
                  <a:pt x="234580" y="165912"/>
                </a:lnTo>
                <a:lnTo>
                  <a:pt x="198997" y="199094"/>
                </a:lnTo>
                <a:lnTo>
                  <a:pt x="165831" y="234695"/>
                </a:lnTo>
                <a:lnTo>
                  <a:pt x="135680" y="272007"/>
                </a:lnTo>
                <a:lnTo>
                  <a:pt x="108544" y="310867"/>
                </a:lnTo>
                <a:lnTo>
                  <a:pt x="84423" y="351113"/>
                </a:lnTo>
                <a:lnTo>
                  <a:pt x="63317" y="392580"/>
                </a:lnTo>
                <a:lnTo>
                  <a:pt x="45226" y="435108"/>
                </a:lnTo>
                <a:lnTo>
                  <a:pt x="30151" y="478531"/>
                </a:lnTo>
                <a:lnTo>
                  <a:pt x="18090" y="522689"/>
                </a:lnTo>
                <a:lnTo>
                  <a:pt x="9045" y="567416"/>
                </a:lnTo>
                <a:lnTo>
                  <a:pt x="3015" y="612551"/>
                </a:lnTo>
                <a:lnTo>
                  <a:pt x="0" y="657930"/>
                </a:lnTo>
                <a:lnTo>
                  <a:pt x="0" y="703391"/>
                </a:lnTo>
                <a:lnTo>
                  <a:pt x="3015" y="748771"/>
                </a:lnTo>
                <a:lnTo>
                  <a:pt x="9045" y="793906"/>
                </a:lnTo>
                <a:lnTo>
                  <a:pt x="18090" y="838633"/>
                </a:lnTo>
                <a:lnTo>
                  <a:pt x="30151" y="882790"/>
                </a:lnTo>
                <a:lnTo>
                  <a:pt x="45226" y="926214"/>
                </a:lnTo>
                <a:lnTo>
                  <a:pt x="63317" y="968741"/>
                </a:lnTo>
                <a:lnTo>
                  <a:pt x="84423" y="1010209"/>
                </a:lnTo>
                <a:lnTo>
                  <a:pt x="108544" y="1050455"/>
                </a:lnTo>
                <a:lnTo>
                  <a:pt x="135680" y="1089315"/>
                </a:lnTo>
                <a:lnTo>
                  <a:pt x="165831" y="1126627"/>
                </a:lnTo>
                <a:lnTo>
                  <a:pt x="198997" y="1162228"/>
                </a:lnTo>
                <a:lnTo>
                  <a:pt x="234580" y="1195410"/>
                </a:lnTo>
                <a:lnTo>
                  <a:pt x="271874" y="1225576"/>
                </a:lnTo>
                <a:lnTo>
                  <a:pt x="310716" y="1252725"/>
                </a:lnTo>
                <a:lnTo>
                  <a:pt x="350942" y="1276858"/>
                </a:lnTo>
                <a:lnTo>
                  <a:pt x="392389" y="1297974"/>
                </a:lnTo>
                <a:lnTo>
                  <a:pt x="434896" y="1316074"/>
                </a:lnTo>
                <a:lnTo>
                  <a:pt x="478298" y="1331156"/>
                </a:lnTo>
                <a:lnTo>
                  <a:pt x="522434" y="1343223"/>
                </a:lnTo>
                <a:lnTo>
                  <a:pt x="567140" y="1352273"/>
                </a:lnTo>
                <a:lnTo>
                  <a:pt x="612253" y="1358306"/>
                </a:lnTo>
                <a:lnTo>
                  <a:pt x="657610" y="1361322"/>
                </a:lnTo>
                <a:lnTo>
                  <a:pt x="703049" y="1361322"/>
                </a:lnTo>
                <a:lnTo>
                  <a:pt x="748406" y="1358306"/>
                </a:lnTo>
                <a:lnTo>
                  <a:pt x="793519" y="1352273"/>
                </a:lnTo>
                <a:lnTo>
                  <a:pt x="838225" y="1343223"/>
                </a:lnTo>
                <a:lnTo>
                  <a:pt x="882361" y="1331156"/>
                </a:lnTo>
                <a:lnTo>
                  <a:pt x="925763" y="1316074"/>
                </a:lnTo>
                <a:lnTo>
                  <a:pt x="968270" y="1297974"/>
                </a:lnTo>
                <a:lnTo>
                  <a:pt x="1009718" y="1276858"/>
                </a:lnTo>
                <a:lnTo>
                  <a:pt x="1049944" y="1252725"/>
                </a:lnTo>
                <a:lnTo>
                  <a:pt x="1088785" y="1225576"/>
                </a:lnTo>
                <a:lnTo>
                  <a:pt x="1126079" y="1195410"/>
                </a:lnTo>
                <a:lnTo>
                  <a:pt x="1161662" y="1162228"/>
                </a:lnTo>
                <a:lnTo>
                  <a:pt x="1194828" y="1126627"/>
                </a:lnTo>
                <a:lnTo>
                  <a:pt x="1224980" y="1089315"/>
                </a:lnTo>
                <a:lnTo>
                  <a:pt x="1252116" y="1050455"/>
                </a:lnTo>
                <a:lnTo>
                  <a:pt x="1276236" y="1010209"/>
                </a:lnTo>
                <a:lnTo>
                  <a:pt x="1297342" y="968741"/>
                </a:lnTo>
                <a:lnTo>
                  <a:pt x="1315433" y="926214"/>
                </a:lnTo>
                <a:lnTo>
                  <a:pt x="1330509" y="882790"/>
                </a:lnTo>
                <a:lnTo>
                  <a:pt x="1342569" y="838633"/>
                </a:lnTo>
                <a:lnTo>
                  <a:pt x="1351614" y="793906"/>
                </a:lnTo>
                <a:lnTo>
                  <a:pt x="1357645" y="748771"/>
                </a:lnTo>
                <a:lnTo>
                  <a:pt x="1360660" y="703391"/>
                </a:lnTo>
                <a:lnTo>
                  <a:pt x="1360660" y="657930"/>
                </a:lnTo>
                <a:lnTo>
                  <a:pt x="1357645" y="612551"/>
                </a:lnTo>
                <a:lnTo>
                  <a:pt x="1351614" y="567416"/>
                </a:lnTo>
                <a:lnTo>
                  <a:pt x="1342569" y="522689"/>
                </a:lnTo>
                <a:lnTo>
                  <a:pt x="1330509" y="478531"/>
                </a:lnTo>
                <a:lnTo>
                  <a:pt x="1315433" y="435108"/>
                </a:lnTo>
                <a:lnTo>
                  <a:pt x="1297342" y="392580"/>
                </a:lnTo>
                <a:lnTo>
                  <a:pt x="1276236" y="351113"/>
                </a:lnTo>
                <a:lnTo>
                  <a:pt x="1252116" y="310867"/>
                </a:lnTo>
                <a:lnTo>
                  <a:pt x="1224980" y="272007"/>
                </a:lnTo>
                <a:lnTo>
                  <a:pt x="1194828" y="234695"/>
                </a:lnTo>
                <a:lnTo>
                  <a:pt x="1161662" y="199094"/>
                </a:lnTo>
                <a:lnTo>
                  <a:pt x="1126079" y="165912"/>
                </a:lnTo>
                <a:lnTo>
                  <a:pt x="1088785" y="135746"/>
                </a:lnTo>
                <a:lnTo>
                  <a:pt x="1049944" y="108597"/>
                </a:lnTo>
                <a:lnTo>
                  <a:pt x="1009718" y="84464"/>
                </a:lnTo>
                <a:lnTo>
                  <a:pt x="968270" y="63348"/>
                </a:lnTo>
                <a:lnTo>
                  <a:pt x="925763" y="45248"/>
                </a:lnTo>
                <a:lnTo>
                  <a:pt x="882361" y="30165"/>
                </a:lnTo>
                <a:lnTo>
                  <a:pt x="838225" y="18099"/>
                </a:lnTo>
                <a:lnTo>
                  <a:pt x="793519" y="9049"/>
                </a:lnTo>
                <a:lnTo>
                  <a:pt x="748406" y="3016"/>
                </a:lnTo>
                <a:lnTo>
                  <a:pt x="703049" y="0"/>
                </a:lnTo>
                <a:close/>
              </a:path>
            </a:pathLst>
          </a:custGeom>
          <a:solidFill>
            <a:srgbClr val="EF718A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2"/>
          <p:cNvSpPr txBox="1"/>
          <p:nvPr/>
        </p:nvSpPr>
        <p:spPr>
          <a:xfrm>
            <a:off x="4102100" y="3835400"/>
            <a:ext cx="549275" cy="2282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GABA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12"/>
          <p:cNvSpPr/>
          <p:nvPr/>
        </p:nvSpPr>
        <p:spPr>
          <a:xfrm>
            <a:off x="3348501" y="1812805"/>
            <a:ext cx="2277437" cy="2257390"/>
          </a:xfrm>
          <a:prstGeom prst="rect">
            <a:avLst/>
          </a:prstGeom>
          <a:blipFill rotWithShape="1">
            <a:blip r:embed="rId18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2"/>
          <p:cNvSpPr/>
          <p:nvPr/>
        </p:nvSpPr>
        <p:spPr>
          <a:xfrm>
            <a:off x="4097249" y="1838703"/>
            <a:ext cx="1362710" cy="1361440"/>
          </a:xfrm>
          <a:custGeom>
            <a:avLst/>
            <a:gdLst/>
            <a:ahLst/>
            <a:cxnLst/>
            <a:rect l="l" t="t" r="r" b="b"/>
            <a:pathLst>
              <a:path w="1362710" h="1361439" extrusionOk="0">
                <a:moveTo>
                  <a:pt x="703888" y="0"/>
                </a:moveTo>
                <a:lnTo>
                  <a:pt x="658395" y="0"/>
                </a:lnTo>
                <a:lnTo>
                  <a:pt x="612984" y="3016"/>
                </a:lnTo>
                <a:lnTo>
                  <a:pt x="567817" y="9049"/>
                </a:lnTo>
                <a:lnTo>
                  <a:pt x="523058" y="18099"/>
                </a:lnTo>
                <a:lnTo>
                  <a:pt x="478870" y="30165"/>
                </a:lnTo>
                <a:lnTo>
                  <a:pt x="435415" y="45248"/>
                </a:lnTo>
                <a:lnTo>
                  <a:pt x="392858" y="63348"/>
                </a:lnTo>
                <a:lnTo>
                  <a:pt x="351361" y="84464"/>
                </a:lnTo>
                <a:lnTo>
                  <a:pt x="311087" y="108597"/>
                </a:lnTo>
                <a:lnTo>
                  <a:pt x="272199" y="135746"/>
                </a:lnTo>
                <a:lnTo>
                  <a:pt x="234861" y="165912"/>
                </a:lnTo>
                <a:lnTo>
                  <a:pt x="199235" y="199094"/>
                </a:lnTo>
                <a:lnTo>
                  <a:pt x="166029" y="234695"/>
                </a:lnTo>
                <a:lnTo>
                  <a:pt x="135842" y="272007"/>
                </a:lnTo>
                <a:lnTo>
                  <a:pt x="108673" y="310867"/>
                </a:lnTo>
                <a:lnTo>
                  <a:pt x="84524" y="351113"/>
                </a:lnTo>
                <a:lnTo>
                  <a:pt x="63393" y="392580"/>
                </a:lnTo>
                <a:lnTo>
                  <a:pt x="45280" y="435108"/>
                </a:lnTo>
                <a:lnTo>
                  <a:pt x="30187" y="478531"/>
                </a:lnTo>
                <a:lnTo>
                  <a:pt x="18112" y="522688"/>
                </a:lnTo>
                <a:lnTo>
                  <a:pt x="9056" y="567416"/>
                </a:lnTo>
                <a:lnTo>
                  <a:pt x="3018" y="612551"/>
                </a:lnTo>
                <a:lnTo>
                  <a:pt x="0" y="657930"/>
                </a:lnTo>
                <a:lnTo>
                  <a:pt x="0" y="703391"/>
                </a:lnTo>
                <a:lnTo>
                  <a:pt x="3018" y="748771"/>
                </a:lnTo>
                <a:lnTo>
                  <a:pt x="9056" y="793905"/>
                </a:lnTo>
                <a:lnTo>
                  <a:pt x="18112" y="838633"/>
                </a:lnTo>
                <a:lnTo>
                  <a:pt x="30187" y="882790"/>
                </a:lnTo>
                <a:lnTo>
                  <a:pt x="45280" y="926214"/>
                </a:lnTo>
                <a:lnTo>
                  <a:pt x="63393" y="968741"/>
                </a:lnTo>
                <a:lnTo>
                  <a:pt x="84524" y="1010209"/>
                </a:lnTo>
                <a:lnTo>
                  <a:pt x="108673" y="1050454"/>
                </a:lnTo>
                <a:lnTo>
                  <a:pt x="135842" y="1089314"/>
                </a:lnTo>
                <a:lnTo>
                  <a:pt x="166029" y="1126626"/>
                </a:lnTo>
                <a:lnTo>
                  <a:pt x="199235" y="1162226"/>
                </a:lnTo>
                <a:lnTo>
                  <a:pt x="234861" y="1195409"/>
                </a:lnTo>
                <a:lnTo>
                  <a:pt x="272199" y="1225575"/>
                </a:lnTo>
                <a:lnTo>
                  <a:pt x="311087" y="1252724"/>
                </a:lnTo>
                <a:lnTo>
                  <a:pt x="351361" y="1276857"/>
                </a:lnTo>
                <a:lnTo>
                  <a:pt x="392858" y="1297973"/>
                </a:lnTo>
                <a:lnTo>
                  <a:pt x="435415" y="1316072"/>
                </a:lnTo>
                <a:lnTo>
                  <a:pt x="478870" y="1331155"/>
                </a:lnTo>
                <a:lnTo>
                  <a:pt x="523058" y="1343221"/>
                </a:lnTo>
                <a:lnTo>
                  <a:pt x="567817" y="1352271"/>
                </a:lnTo>
                <a:lnTo>
                  <a:pt x="612984" y="1358304"/>
                </a:lnTo>
                <a:lnTo>
                  <a:pt x="658395" y="1361321"/>
                </a:lnTo>
                <a:lnTo>
                  <a:pt x="703888" y="1361321"/>
                </a:lnTo>
                <a:lnTo>
                  <a:pt x="749300" y="1358304"/>
                </a:lnTo>
                <a:lnTo>
                  <a:pt x="794467" y="1352271"/>
                </a:lnTo>
                <a:lnTo>
                  <a:pt x="839226" y="1343221"/>
                </a:lnTo>
                <a:lnTo>
                  <a:pt x="883414" y="1331155"/>
                </a:lnTo>
                <a:lnTo>
                  <a:pt x="926868" y="1316072"/>
                </a:lnTo>
                <a:lnTo>
                  <a:pt x="969425" y="1297973"/>
                </a:lnTo>
                <a:lnTo>
                  <a:pt x="1010923" y="1276857"/>
                </a:lnTo>
                <a:lnTo>
                  <a:pt x="1051196" y="1252724"/>
                </a:lnTo>
                <a:lnTo>
                  <a:pt x="1090084" y="1225575"/>
                </a:lnTo>
                <a:lnTo>
                  <a:pt x="1127422" y="1195409"/>
                </a:lnTo>
                <a:lnTo>
                  <a:pt x="1163048" y="1162226"/>
                </a:lnTo>
                <a:lnTo>
                  <a:pt x="1196254" y="1126626"/>
                </a:lnTo>
                <a:lnTo>
                  <a:pt x="1226441" y="1089314"/>
                </a:lnTo>
                <a:lnTo>
                  <a:pt x="1253609" y="1050454"/>
                </a:lnTo>
                <a:lnTo>
                  <a:pt x="1277759" y="1010209"/>
                </a:lnTo>
                <a:lnTo>
                  <a:pt x="1298890" y="968741"/>
                </a:lnTo>
                <a:lnTo>
                  <a:pt x="1317002" y="926214"/>
                </a:lnTo>
                <a:lnTo>
                  <a:pt x="1332096" y="882790"/>
                </a:lnTo>
                <a:lnTo>
                  <a:pt x="1344171" y="838633"/>
                </a:lnTo>
                <a:lnTo>
                  <a:pt x="1353227" y="793905"/>
                </a:lnTo>
                <a:lnTo>
                  <a:pt x="1359264" y="748771"/>
                </a:lnTo>
                <a:lnTo>
                  <a:pt x="1362283" y="703391"/>
                </a:lnTo>
                <a:lnTo>
                  <a:pt x="1362283" y="657930"/>
                </a:lnTo>
                <a:lnTo>
                  <a:pt x="1359264" y="612551"/>
                </a:lnTo>
                <a:lnTo>
                  <a:pt x="1353227" y="567416"/>
                </a:lnTo>
                <a:lnTo>
                  <a:pt x="1344171" y="522688"/>
                </a:lnTo>
                <a:lnTo>
                  <a:pt x="1332096" y="478531"/>
                </a:lnTo>
                <a:lnTo>
                  <a:pt x="1317002" y="435108"/>
                </a:lnTo>
                <a:lnTo>
                  <a:pt x="1298890" y="392580"/>
                </a:lnTo>
                <a:lnTo>
                  <a:pt x="1277759" y="351113"/>
                </a:lnTo>
                <a:lnTo>
                  <a:pt x="1253609" y="310867"/>
                </a:lnTo>
                <a:lnTo>
                  <a:pt x="1226441" y="272007"/>
                </a:lnTo>
                <a:lnTo>
                  <a:pt x="1196254" y="234695"/>
                </a:lnTo>
                <a:lnTo>
                  <a:pt x="1163048" y="199094"/>
                </a:lnTo>
                <a:lnTo>
                  <a:pt x="1127422" y="165912"/>
                </a:lnTo>
                <a:lnTo>
                  <a:pt x="1090084" y="135746"/>
                </a:lnTo>
                <a:lnTo>
                  <a:pt x="1051196" y="108597"/>
                </a:lnTo>
                <a:lnTo>
                  <a:pt x="1010923" y="84464"/>
                </a:lnTo>
                <a:lnTo>
                  <a:pt x="969425" y="63348"/>
                </a:lnTo>
                <a:lnTo>
                  <a:pt x="926868" y="45248"/>
                </a:lnTo>
                <a:lnTo>
                  <a:pt x="883414" y="30165"/>
                </a:lnTo>
                <a:lnTo>
                  <a:pt x="839226" y="18099"/>
                </a:lnTo>
                <a:lnTo>
                  <a:pt x="794467" y="9049"/>
                </a:lnTo>
                <a:lnTo>
                  <a:pt x="749300" y="3016"/>
                </a:lnTo>
                <a:lnTo>
                  <a:pt x="703888" y="0"/>
                </a:lnTo>
                <a:close/>
              </a:path>
            </a:pathLst>
          </a:custGeom>
          <a:solidFill>
            <a:srgbClr val="A9D18E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2"/>
          <p:cNvSpPr/>
          <p:nvPr/>
        </p:nvSpPr>
        <p:spPr>
          <a:xfrm>
            <a:off x="3540818" y="2296950"/>
            <a:ext cx="1888006" cy="1203223"/>
          </a:xfrm>
          <a:prstGeom prst="rect">
            <a:avLst/>
          </a:prstGeom>
          <a:blipFill rotWithShape="1">
            <a:blip r:embed="rId19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2"/>
          <p:cNvSpPr txBox="1"/>
          <p:nvPr/>
        </p:nvSpPr>
        <p:spPr>
          <a:xfrm>
            <a:off x="4330700" y="2336800"/>
            <a:ext cx="89535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Glutamate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12"/>
          <p:cNvSpPr/>
          <p:nvPr/>
        </p:nvSpPr>
        <p:spPr>
          <a:xfrm>
            <a:off x="1389062" y="5402262"/>
            <a:ext cx="4703763" cy="1358900"/>
          </a:xfrm>
          <a:prstGeom prst="rect">
            <a:avLst/>
          </a:prstGeom>
          <a:blipFill rotWithShape="1">
            <a:blip r:embed="rId20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2"/>
          <p:cNvSpPr txBox="1"/>
          <p:nvPr/>
        </p:nvSpPr>
        <p:spPr>
          <a:xfrm>
            <a:off x="3352800" y="5981700"/>
            <a:ext cx="1823085" cy="563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2850" rIns="0" bIns="0" anchor="t" anchorCtr="0">
            <a:spAutoFit/>
          </a:bodyPr>
          <a:lstStyle/>
          <a:p>
            <a:pPr marL="12700" marR="5080" lvl="0" indent="-6985" algn="ctr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Brain arousal and other  functions like mood, hunger,  and sleep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2"/>
          <p:cNvSpPr/>
          <p:nvPr/>
        </p:nvSpPr>
        <p:spPr>
          <a:xfrm>
            <a:off x="3880274" y="4467106"/>
            <a:ext cx="2272583" cy="2276476"/>
          </a:xfrm>
          <a:prstGeom prst="rect">
            <a:avLst/>
          </a:prstGeom>
          <a:blipFill rotWithShape="1">
            <a:blip r:embed="rId21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2"/>
          <p:cNvSpPr/>
          <p:nvPr/>
        </p:nvSpPr>
        <p:spPr>
          <a:xfrm>
            <a:off x="4629022" y="4493002"/>
            <a:ext cx="1357630" cy="1361440"/>
          </a:xfrm>
          <a:custGeom>
            <a:avLst/>
            <a:gdLst/>
            <a:ahLst/>
            <a:cxnLst/>
            <a:rect l="l" t="t" r="r" b="b"/>
            <a:pathLst>
              <a:path w="1357629" h="1361439" extrusionOk="0">
                <a:moveTo>
                  <a:pt x="701381" y="0"/>
                </a:moveTo>
                <a:lnTo>
                  <a:pt x="656050" y="0"/>
                </a:lnTo>
                <a:lnTo>
                  <a:pt x="610800" y="3016"/>
                </a:lnTo>
                <a:lnTo>
                  <a:pt x="565795" y="9049"/>
                </a:lnTo>
                <a:lnTo>
                  <a:pt x="521195" y="18099"/>
                </a:lnTo>
                <a:lnTo>
                  <a:pt x="477164" y="30165"/>
                </a:lnTo>
                <a:lnTo>
                  <a:pt x="433864" y="45248"/>
                </a:lnTo>
                <a:lnTo>
                  <a:pt x="391459" y="63348"/>
                </a:lnTo>
                <a:lnTo>
                  <a:pt x="350109" y="84464"/>
                </a:lnTo>
                <a:lnTo>
                  <a:pt x="309979" y="108597"/>
                </a:lnTo>
                <a:lnTo>
                  <a:pt x="271230" y="135746"/>
                </a:lnTo>
                <a:lnTo>
                  <a:pt x="234024" y="165912"/>
                </a:lnTo>
                <a:lnTo>
                  <a:pt x="198526" y="199094"/>
                </a:lnTo>
                <a:lnTo>
                  <a:pt x="165438" y="234695"/>
                </a:lnTo>
                <a:lnTo>
                  <a:pt x="135358" y="272007"/>
                </a:lnTo>
                <a:lnTo>
                  <a:pt x="108286" y="310867"/>
                </a:lnTo>
                <a:lnTo>
                  <a:pt x="84223" y="351113"/>
                </a:lnTo>
                <a:lnTo>
                  <a:pt x="63167" y="392580"/>
                </a:lnTo>
                <a:lnTo>
                  <a:pt x="45119" y="435108"/>
                </a:lnTo>
                <a:lnTo>
                  <a:pt x="30079" y="478531"/>
                </a:lnTo>
                <a:lnTo>
                  <a:pt x="18047" y="522688"/>
                </a:lnTo>
                <a:lnTo>
                  <a:pt x="9023" y="567416"/>
                </a:lnTo>
                <a:lnTo>
                  <a:pt x="3007" y="612551"/>
                </a:lnTo>
                <a:lnTo>
                  <a:pt x="0" y="657930"/>
                </a:lnTo>
                <a:lnTo>
                  <a:pt x="0" y="703391"/>
                </a:lnTo>
                <a:lnTo>
                  <a:pt x="3007" y="748771"/>
                </a:lnTo>
                <a:lnTo>
                  <a:pt x="9023" y="793906"/>
                </a:lnTo>
                <a:lnTo>
                  <a:pt x="18047" y="838633"/>
                </a:lnTo>
                <a:lnTo>
                  <a:pt x="30079" y="882790"/>
                </a:lnTo>
                <a:lnTo>
                  <a:pt x="45119" y="926214"/>
                </a:lnTo>
                <a:lnTo>
                  <a:pt x="63167" y="968741"/>
                </a:lnTo>
                <a:lnTo>
                  <a:pt x="84223" y="1010209"/>
                </a:lnTo>
                <a:lnTo>
                  <a:pt x="108286" y="1050454"/>
                </a:lnTo>
                <a:lnTo>
                  <a:pt x="135358" y="1089315"/>
                </a:lnTo>
                <a:lnTo>
                  <a:pt x="165438" y="1126627"/>
                </a:lnTo>
                <a:lnTo>
                  <a:pt x="198526" y="1162227"/>
                </a:lnTo>
                <a:lnTo>
                  <a:pt x="234024" y="1195410"/>
                </a:lnTo>
                <a:lnTo>
                  <a:pt x="271230" y="1225575"/>
                </a:lnTo>
                <a:lnTo>
                  <a:pt x="309979" y="1252725"/>
                </a:lnTo>
                <a:lnTo>
                  <a:pt x="350109" y="1276857"/>
                </a:lnTo>
                <a:lnTo>
                  <a:pt x="391459" y="1297973"/>
                </a:lnTo>
                <a:lnTo>
                  <a:pt x="433864" y="1316073"/>
                </a:lnTo>
                <a:lnTo>
                  <a:pt x="477164" y="1331156"/>
                </a:lnTo>
                <a:lnTo>
                  <a:pt x="521195" y="1343222"/>
                </a:lnTo>
                <a:lnTo>
                  <a:pt x="565795" y="1352272"/>
                </a:lnTo>
                <a:lnTo>
                  <a:pt x="610800" y="1358305"/>
                </a:lnTo>
                <a:lnTo>
                  <a:pt x="656050" y="1361322"/>
                </a:lnTo>
                <a:lnTo>
                  <a:pt x="701381" y="1361322"/>
                </a:lnTo>
                <a:lnTo>
                  <a:pt x="746631" y="1358305"/>
                </a:lnTo>
                <a:lnTo>
                  <a:pt x="791637" y="1352272"/>
                </a:lnTo>
                <a:lnTo>
                  <a:pt x="836237" y="1343222"/>
                </a:lnTo>
                <a:lnTo>
                  <a:pt x="880267" y="1331156"/>
                </a:lnTo>
                <a:lnTo>
                  <a:pt x="923567" y="1316073"/>
                </a:lnTo>
                <a:lnTo>
                  <a:pt x="965973" y="1297973"/>
                </a:lnTo>
                <a:lnTo>
                  <a:pt x="1007322" y="1276857"/>
                </a:lnTo>
                <a:lnTo>
                  <a:pt x="1047453" y="1252725"/>
                </a:lnTo>
                <a:lnTo>
                  <a:pt x="1086202" y="1225575"/>
                </a:lnTo>
                <a:lnTo>
                  <a:pt x="1123407" y="1195410"/>
                </a:lnTo>
                <a:lnTo>
                  <a:pt x="1158906" y="1162227"/>
                </a:lnTo>
                <a:lnTo>
                  <a:pt x="1191994" y="1126627"/>
                </a:lnTo>
                <a:lnTo>
                  <a:pt x="1222073" y="1089315"/>
                </a:lnTo>
                <a:lnTo>
                  <a:pt x="1249145" y="1050454"/>
                </a:lnTo>
                <a:lnTo>
                  <a:pt x="1273209" y="1010209"/>
                </a:lnTo>
                <a:lnTo>
                  <a:pt x="1294264" y="968741"/>
                </a:lnTo>
                <a:lnTo>
                  <a:pt x="1312312" y="926214"/>
                </a:lnTo>
                <a:lnTo>
                  <a:pt x="1327352" y="882790"/>
                </a:lnTo>
                <a:lnTo>
                  <a:pt x="1339384" y="838633"/>
                </a:lnTo>
                <a:lnTo>
                  <a:pt x="1348408" y="793906"/>
                </a:lnTo>
                <a:lnTo>
                  <a:pt x="1354424" y="748771"/>
                </a:lnTo>
                <a:lnTo>
                  <a:pt x="1357432" y="703391"/>
                </a:lnTo>
                <a:lnTo>
                  <a:pt x="1357432" y="657930"/>
                </a:lnTo>
                <a:lnTo>
                  <a:pt x="1354424" y="612551"/>
                </a:lnTo>
                <a:lnTo>
                  <a:pt x="1348408" y="567416"/>
                </a:lnTo>
                <a:lnTo>
                  <a:pt x="1339384" y="522688"/>
                </a:lnTo>
                <a:lnTo>
                  <a:pt x="1327352" y="478531"/>
                </a:lnTo>
                <a:lnTo>
                  <a:pt x="1312312" y="435108"/>
                </a:lnTo>
                <a:lnTo>
                  <a:pt x="1294264" y="392580"/>
                </a:lnTo>
                <a:lnTo>
                  <a:pt x="1273209" y="351113"/>
                </a:lnTo>
                <a:lnTo>
                  <a:pt x="1249145" y="310867"/>
                </a:lnTo>
                <a:lnTo>
                  <a:pt x="1222073" y="272007"/>
                </a:lnTo>
                <a:lnTo>
                  <a:pt x="1191994" y="234695"/>
                </a:lnTo>
                <a:lnTo>
                  <a:pt x="1158906" y="199094"/>
                </a:lnTo>
                <a:lnTo>
                  <a:pt x="1123407" y="165912"/>
                </a:lnTo>
                <a:lnTo>
                  <a:pt x="1086202" y="135746"/>
                </a:lnTo>
                <a:lnTo>
                  <a:pt x="1047453" y="108597"/>
                </a:lnTo>
                <a:lnTo>
                  <a:pt x="1007322" y="84464"/>
                </a:lnTo>
                <a:lnTo>
                  <a:pt x="965973" y="63348"/>
                </a:lnTo>
                <a:lnTo>
                  <a:pt x="923567" y="45248"/>
                </a:lnTo>
                <a:lnTo>
                  <a:pt x="880267" y="30165"/>
                </a:lnTo>
                <a:lnTo>
                  <a:pt x="836237" y="18099"/>
                </a:lnTo>
                <a:lnTo>
                  <a:pt x="791637" y="9049"/>
                </a:lnTo>
                <a:lnTo>
                  <a:pt x="746631" y="3016"/>
                </a:lnTo>
                <a:lnTo>
                  <a:pt x="701381" y="0"/>
                </a:lnTo>
                <a:close/>
              </a:path>
            </a:pathLst>
          </a:custGeom>
          <a:solidFill>
            <a:srgbClr val="FDB77B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2"/>
          <p:cNvSpPr/>
          <p:nvPr/>
        </p:nvSpPr>
        <p:spPr>
          <a:xfrm>
            <a:off x="3828201" y="4964730"/>
            <a:ext cx="2332419" cy="1203223"/>
          </a:xfrm>
          <a:prstGeom prst="rect">
            <a:avLst/>
          </a:prstGeom>
          <a:blipFill rotWithShape="1">
            <a:blip r:embed="rId2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2"/>
          <p:cNvSpPr txBox="1"/>
          <p:nvPr/>
        </p:nvSpPr>
        <p:spPr>
          <a:xfrm>
            <a:off x="4610100" y="5003800"/>
            <a:ext cx="133985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Norepinephrine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12"/>
          <p:cNvSpPr/>
          <p:nvPr/>
        </p:nvSpPr>
        <p:spPr>
          <a:xfrm>
            <a:off x="5437218" y="4451231"/>
            <a:ext cx="2273890" cy="2276476"/>
          </a:xfrm>
          <a:prstGeom prst="rect">
            <a:avLst/>
          </a:prstGeom>
          <a:blipFill rotWithShape="1">
            <a:blip r:embed="rId2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2"/>
          <p:cNvSpPr/>
          <p:nvPr/>
        </p:nvSpPr>
        <p:spPr>
          <a:xfrm>
            <a:off x="6185966" y="4477127"/>
            <a:ext cx="1358900" cy="1361440"/>
          </a:xfrm>
          <a:custGeom>
            <a:avLst/>
            <a:gdLst/>
            <a:ahLst/>
            <a:cxnLst/>
            <a:rect l="l" t="t" r="r" b="b"/>
            <a:pathLst>
              <a:path w="1358900" h="1361439" extrusionOk="0">
                <a:moveTo>
                  <a:pt x="702055" y="0"/>
                </a:moveTo>
                <a:lnTo>
                  <a:pt x="656681" y="0"/>
                </a:lnTo>
                <a:lnTo>
                  <a:pt x="611387" y="3016"/>
                </a:lnTo>
                <a:lnTo>
                  <a:pt x="566338" y="9049"/>
                </a:lnTo>
                <a:lnTo>
                  <a:pt x="521696" y="18099"/>
                </a:lnTo>
                <a:lnTo>
                  <a:pt x="477622" y="30165"/>
                </a:lnTo>
                <a:lnTo>
                  <a:pt x="434281" y="45248"/>
                </a:lnTo>
                <a:lnTo>
                  <a:pt x="391835" y="63348"/>
                </a:lnTo>
                <a:lnTo>
                  <a:pt x="350445" y="84464"/>
                </a:lnTo>
                <a:lnTo>
                  <a:pt x="310276" y="108597"/>
                </a:lnTo>
                <a:lnTo>
                  <a:pt x="271490" y="135746"/>
                </a:lnTo>
                <a:lnTo>
                  <a:pt x="234249" y="165912"/>
                </a:lnTo>
                <a:lnTo>
                  <a:pt x="198716" y="199094"/>
                </a:lnTo>
                <a:lnTo>
                  <a:pt x="165596" y="234695"/>
                </a:lnTo>
                <a:lnTo>
                  <a:pt x="135488" y="272007"/>
                </a:lnTo>
                <a:lnTo>
                  <a:pt x="108390" y="310867"/>
                </a:lnTo>
                <a:lnTo>
                  <a:pt x="84303" y="351113"/>
                </a:lnTo>
                <a:lnTo>
                  <a:pt x="63227" y="392580"/>
                </a:lnTo>
                <a:lnTo>
                  <a:pt x="45162" y="435108"/>
                </a:lnTo>
                <a:lnTo>
                  <a:pt x="30108" y="478531"/>
                </a:lnTo>
                <a:lnTo>
                  <a:pt x="18065" y="522688"/>
                </a:lnTo>
                <a:lnTo>
                  <a:pt x="9032" y="567416"/>
                </a:lnTo>
                <a:lnTo>
                  <a:pt x="3010" y="612551"/>
                </a:lnTo>
                <a:lnTo>
                  <a:pt x="0" y="657930"/>
                </a:lnTo>
                <a:lnTo>
                  <a:pt x="0" y="703391"/>
                </a:lnTo>
                <a:lnTo>
                  <a:pt x="3010" y="748771"/>
                </a:lnTo>
                <a:lnTo>
                  <a:pt x="9032" y="793906"/>
                </a:lnTo>
                <a:lnTo>
                  <a:pt x="18065" y="838633"/>
                </a:lnTo>
                <a:lnTo>
                  <a:pt x="30108" y="882790"/>
                </a:lnTo>
                <a:lnTo>
                  <a:pt x="45162" y="926214"/>
                </a:lnTo>
                <a:lnTo>
                  <a:pt x="63227" y="968741"/>
                </a:lnTo>
                <a:lnTo>
                  <a:pt x="84303" y="1010209"/>
                </a:lnTo>
                <a:lnTo>
                  <a:pt x="108390" y="1050454"/>
                </a:lnTo>
                <a:lnTo>
                  <a:pt x="135488" y="1089315"/>
                </a:lnTo>
                <a:lnTo>
                  <a:pt x="165596" y="1126627"/>
                </a:lnTo>
                <a:lnTo>
                  <a:pt x="198716" y="1162227"/>
                </a:lnTo>
                <a:lnTo>
                  <a:pt x="234249" y="1195410"/>
                </a:lnTo>
                <a:lnTo>
                  <a:pt x="271490" y="1225575"/>
                </a:lnTo>
                <a:lnTo>
                  <a:pt x="310276" y="1252725"/>
                </a:lnTo>
                <a:lnTo>
                  <a:pt x="350445" y="1276857"/>
                </a:lnTo>
                <a:lnTo>
                  <a:pt x="391835" y="1297973"/>
                </a:lnTo>
                <a:lnTo>
                  <a:pt x="434281" y="1316073"/>
                </a:lnTo>
                <a:lnTo>
                  <a:pt x="477622" y="1331156"/>
                </a:lnTo>
                <a:lnTo>
                  <a:pt x="521696" y="1343222"/>
                </a:lnTo>
                <a:lnTo>
                  <a:pt x="566338" y="1352272"/>
                </a:lnTo>
                <a:lnTo>
                  <a:pt x="611387" y="1358305"/>
                </a:lnTo>
                <a:lnTo>
                  <a:pt x="656681" y="1361322"/>
                </a:lnTo>
                <a:lnTo>
                  <a:pt x="702055" y="1361322"/>
                </a:lnTo>
                <a:lnTo>
                  <a:pt x="747349" y="1358305"/>
                </a:lnTo>
                <a:lnTo>
                  <a:pt x="792398" y="1352272"/>
                </a:lnTo>
                <a:lnTo>
                  <a:pt x="837041" y="1343222"/>
                </a:lnTo>
                <a:lnTo>
                  <a:pt x="881114" y="1331156"/>
                </a:lnTo>
                <a:lnTo>
                  <a:pt x="924455" y="1316073"/>
                </a:lnTo>
                <a:lnTo>
                  <a:pt x="966902" y="1297973"/>
                </a:lnTo>
                <a:lnTo>
                  <a:pt x="1008291" y="1276857"/>
                </a:lnTo>
                <a:lnTo>
                  <a:pt x="1048460" y="1252725"/>
                </a:lnTo>
                <a:lnTo>
                  <a:pt x="1087246" y="1225575"/>
                </a:lnTo>
                <a:lnTo>
                  <a:pt x="1124488" y="1195410"/>
                </a:lnTo>
                <a:lnTo>
                  <a:pt x="1160021" y="1162227"/>
                </a:lnTo>
                <a:lnTo>
                  <a:pt x="1193140" y="1126627"/>
                </a:lnTo>
                <a:lnTo>
                  <a:pt x="1223248" y="1089315"/>
                </a:lnTo>
                <a:lnTo>
                  <a:pt x="1250346" y="1050454"/>
                </a:lnTo>
                <a:lnTo>
                  <a:pt x="1274433" y="1010209"/>
                </a:lnTo>
                <a:lnTo>
                  <a:pt x="1295509" y="968741"/>
                </a:lnTo>
                <a:lnTo>
                  <a:pt x="1313574" y="926214"/>
                </a:lnTo>
                <a:lnTo>
                  <a:pt x="1328628" y="882790"/>
                </a:lnTo>
                <a:lnTo>
                  <a:pt x="1340672" y="838633"/>
                </a:lnTo>
                <a:lnTo>
                  <a:pt x="1349704" y="793906"/>
                </a:lnTo>
                <a:lnTo>
                  <a:pt x="1355726" y="748771"/>
                </a:lnTo>
                <a:lnTo>
                  <a:pt x="1358737" y="703391"/>
                </a:lnTo>
                <a:lnTo>
                  <a:pt x="1358737" y="657930"/>
                </a:lnTo>
                <a:lnTo>
                  <a:pt x="1355726" y="612551"/>
                </a:lnTo>
                <a:lnTo>
                  <a:pt x="1349704" y="567416"/>
                </a:lnTo>
                <a:lnTo>
                  <a:pt x="1340672" y="522688"/>
                </a:lnTo>
                <a:lnTo>
                  <a:pt x="1328628" y="478531"/>
                </a:lnTo>
                <a:lnTo>
                  <a:pt x="1313574" y="435108"/>
                </a:lnTo>
                <a:lnTo>
                  <a:pt x="1295509" y="392580"/>
                </a:lnTo>
                <a:lnTo>
                  <a:pt x="1274433" y="351113"/>
                </a:lnTo>
                <a:lnTo>
                  <a:pt x="1250346" y="310867"/>
                </a:lnTo>
                <a:lnTo>
                  <a:pt x="1223248" y="272007"/>
                </a:lnTo>
                <a:lnTo>
                  <a:pt x="1193140" y="234695"/>
                </a:lnTo>
                <a:lnTo>
                  <a:pt x="1160021" y="199094"/>
                </a:lnTo>
                <a:lnTo>
                  <a:pt x="1124488" y="165912"/>
                </a:lnTo>
                <a:lnTo>
                  <a:pt x="1087246" y="135746"/>
                </a:lnTo>
                <a:lnTo>
                  <a:pt x="1048460" y="108597"/>
                </a:lnTo>
                <a:lnTo>
                  <a:pt x="1008291" y="84464"/>
                </a:lnTo>
                <a:lnTo>
                  <a:pt x="966902" y="63348"/>
                </a:lnTo>
                <a:lnTo>
                  <a:pt x="924455" y="45248"/>
                </a:lnTo>
                <a:lnTo>
                  <a:pt x="881114" y="30165"/>
                </a:lnTo>
                <a:lnTo>
                  <a:pt x="837041" y="18099"/>
                </a:lnTo>
                <a:lnTo>
                  <a:pt x="792398" y="9049"/>
                </a:lnTo>
                <a:lnTo>
                  <a:pt x="747349" y="3016"/>
                </a:lnTo>
                <a:lnTo>
                  <a:pt x="702055" y="0"/>
                </a:lnTo>
                <a:close/>
              </a:path>
            </a:pathLst>
          </a:custGeom>
          <a:solidFill>
            <a:srgbClr val="FFCF6A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2"/>
          <p:cNvSpPr txBox="1"/>
          <p:nvPr/>
        </p:nvSpPr>
        <p:spPr>
          <a:xfrm>
            <a:off x="6324600" y="5016500"/>
            <a:ext cx="1092835" cy="2282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Epinephrine</a:t>
            </a:r>
            <a:endParaRPr sz="14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12"/>
          <p:cNvSpPr txBox="1"/>
          <p:nvPr/>
        </p:nvSpPr>
        <p:spPr>
          <a:xfrm>
            <a:off x="6731000" y="5994400"/>
            <a:ext cx="1695450" cy="4552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2850" rIns="0" bIns="0" anchor="t" anchorCtr="0">
            <a:spAutoFit/>
          </a:bodyPr>
          <a:lstStyle/>
          <a:p>
            <a:pPr marL="584200" marR="5080" lvl="0" indent="-57150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Sympathetic activation (ANS)</a:t>
            </a:r>
            <a:endParaRPr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ends">
  <a:themeElements>
    <a:clrScheme name="Baylor Colors">
      <a:dk1>
        <a:sysClr val="windowText" lastClr="000000"/>
      </a:dk1>
      <a:lt1>
        <a:sysClr val="window" lastClr="FFFFFF"/>
      </a:lt1>
      <a:dk2>
        <a:srgbClr val="154734"/>
      </a:dk2>
      <a:lt2>
        <a:srgbClr val="FFB81C"/>
      </a:lt2>
      <a:accent1>
        <a:srgbClr val="3F693C"/>
      </a:accent1>
      <a:accent2>
        <a:srgbClr val="D19E12"/>
      </a:accent2>
      <a:accent3>
        <a:srgbClr val="9E3223"/>
      </a:accent3>
      <a:accent4>
        <a:srgbClr val="1B5A7D"/>
      </a:accent4>
      <a:accent5>
        <a:srgbClr val="DDDBD3"/>
      </a:accent5>
      <a:accent6>
        <a:srgbClr val="653A2B"/>
      </a:accent6>
      <a:hlink>
        <a:srgbClr val="0070C0"/>
      </a:hlink>
      <a:folHlink>
        <a:srgbClr val="FF0000"/>
      </a:folHlink>
    </a:clrScheme>
    <a:fontScheme name="Blends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Baylor Colors">
    <a:dk1>
      <a:sysClr val="windowText" lastClr="000000"/>
    </a:dk1>
    <a:lt1>
      <a:sysClr val="window" lastClr="FFFFFF"/>
    </a:lt1>
    <a:dk2>
      <a:srgbClr val="154734"/>
    </a:dk2>
    <a:lt2>
      <a:srgbClr val="FFB81C"/>
    </a:lt2>
    <a:accent1>
      <a:srgbClr val="3F693C"/>
    </a:accent1>
    <a:accent2>
      <a:srgbClr val="D19E12"/>
    </a:accent2>
    <a:accent3>
      <a:srgbClr val="9E3223"/>
    </a:accent3>
    <a:accent4>
      <a:srgbClr val="1B5A7D"/>
    </a:accent4>
    <a:accent5>
      <a:srgbClr val="DDDBD3"/>
    </a:accent5>
    <a:accent6>
      <a:srgbClr val="653A2B"/>
    </a:accent6>
    <a:hlink>
      <a:srgbClr val="0070C0"/>
    </a:hlink>
    <a:folHlink>
      <a:srgbClr val="FF000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1250</TotalTime>
  <Words>780</Words>
  <Application>Microsoft Office PowerPoint</Application>
  <PresentationFormat>Widescreen</PresentationFormat>
  <Paragraphs>168</Paragraphs>
  <Slides>13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ＭＳ Ｐゴシック</vt:lpstr>
      <vt:lpstr>Arial</vt:lpstr>
      <vt:lpstr>Calibri</vt:lpstr>
      <vt:lpstr>Symbol</vt:lpstr>
      <vt:lpstr>Tahoma</vt:lpstr>
      <vt:lpstr>Times New Roman</vt:lpstr>
      <vt:lpstr>Wingdings</vt:lpstr>
      <vt:lpstr>Blends</vt:lpstr>
      <vt:lpstr>4 Key points for each major transmitter</vt:lpstr>
      <vt:lpstr>PowerPoint Presentation</vt:lpstr>
      <vt:lpstr>GABA Location and Synthesis</vt:lpstr>
      <vt:lpstr>GABA Inactivation</vt:lpstr>
      <vt:lpstr>GABA receptors</vt:lpstr>
      <vt:lpstr>Biogenic Amines</vt:lpstr>
      <vt:lpstr>Locations</vt:lpstr>
      <vt:lpstr>PowerPoint Presentation</vt:lpstr>
      <vt:lpstr>Dopamine (DA) Receptors</vt:lpstr>
      <vt:lpstr>NE/E -Adrenergic Receptors</vt:lpstr>
      <vt:lpstr>Serotonin Synthesis and Inactivation</vt:lpstr>
      <vt:lpstr>Serotonin (5-ht) Receptors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Transmitters and Receptors</dc:title>
  <dc:creator>Keele, Brad</dc:creator>
  <cp:lastModifiedBy>Phillips, Nicole</cp:lastModifiedBy>
  <cp:revision>74</cp:revision>
  <cp:lastPrinted>2021-10-01T13:18:50Z</cp:lastPrinted>
  <dcterms:created xsi:type="dcterms:W3CDTF">2020-02-12T00:25:56Z</dcterms:created>
  <dcterms:modified xsi:type="dcterms:W3CDTF">2025-09-24T18:02:15Z</dcterms:modified>
</cp:coreProperties>
</file>