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sldIdLst>
    <p:sldId id="396" r:id="rId2"/>
    <p:sldId id="308" r:id="rId3"/>
    <p:sldId id="400" r:id="rId4"/>
    <p:sldId id="309" r:id="rId5"/>
    <p:sldId id="437" r:id="rId6"/>
    <p:sldId id="439" r:id="rId7"/>
    <p:sldId id="408" r:id="rId8"/>
    <p:sldId id="409" r:id="rId9"/>
    <p:sldId id="431" r:id="rId10"/>
    <p:sldId id="3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BDB7"/>
    <a:srgbClr val="F06952"/>
    <a:srgbClr val="F67A7A"/>
    <a:srgbClr val="F46262"/>
    <a:srgbClr val="F99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76728" autoAdjust="0"/>
  </p:normalViewPr>
  <p:slideViewPr>
    <p:cSldViewPr snapToGrid="0">
      <p:cViewPr varScale="1">
        <p:scale>
          <a:sx n="122" d="100"/>
          <a:sy n="122" d="100"/>
        </p:scale>
        <p:origin x="17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721712-0E7D-437F-BA85-1F879B3F6F1B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en-US"/>
        </a:p>
      </dgm:t>
    </dgm:pt>
    <dgm:pt modelId="{C0668F96-FA9B-439F-AC89-062FA7011DC5}">
      <dgm:prSet custT="1"/>
      <dgm:spPr>
        <a:solidFill>
          <a:schemeClr val="bg2">
            <a:lumMod val="60000"/>
            <a:lumOff val="40000"/>
          </a:schemeClr>
        </a:solidFill>
        <a:ln>
          <a:solidFill>
            <a:schemeClr val="bg2"/>
          </a:solidFill>
        </a:ln>
      </dgm:spPr>
      <dgm:t>
        <a:bodyPr/>
        <a:lstStyle/>
        <a:p>
          <a:pPr algn="ctr"/>
          <a:r>
            <a:rPr lang="en-US" sz="3600" dirty="0">
              <a:solidFill>
                <a:schemeClr val="tx1"/>
              </a:solidFill>
            </a:rPr>
            <a:t>GABAergic MSNs in the striatum</a:t>
          </a:r>
        </a:p>
      </dgm:t>
    </dgm:pt>
    <dgm:pt modelId="{E2F541C4-F14A-4167-8C2D-CF66E43C1726}" type="parTrans" cxnId="{EE2A8CB2-6E9D-4DD1-BA8C-CD1AB1F44EBE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E2C0EF52-95C7-452D-9C68-559B82740371}" type="sibTrans" cxnId="{EE2A8CB2-6E9D-4DD1-BA8C-CD1AB1F44EBE}">
      <dgm:prSet/>
      <dgm:spPr>
        <a:noFill/>
        <a:ln>
          <a:noFill/>
        </a:ln>
      </dgm:spPr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CF1D47DA-068C-4D73-8CF5-BCEC134A85B9}">
      <dgm:prSet custT="1"/>
      <dgm:spPr>
        <a:solidFill>
          <a:schemeClr val="bg2">
            <a:lumMod val="20000"/>
            <a:lumOff val="80000"/>
            <a:alpha val="70000"/>
          </a:schemeClr>
        </a:solidFill>
        <a:ln>
          <a:solidFill>
            <a:schemeClr val="bg2"/>
          </a:solidFill>
        </a:ln>
      </dgm:spPr>
      <dgm:t>
        <a:bodyPr/>
        <a:lstStyle/>
        <a:p>
          <a:r>
            <a:rPr lang="en-US" sz="3200" dirty="0">
              <a:solidFill>
                <a:schemeClr val="tx1"/>
              </a:solidFill>
            </a:rPr>
            <a:t>Substantia nigra pars reticulata (SNr)</a:t>
          </a:r>
        </a:p>
      </dgm:t>
    </dgm:pt>
    <dgm:pt modelId="{21CB29B1-7BE9-492B-8C6E-1386D886A427}" type="parTrans" cxnId="{12DE096C-EFA8-4D21-839C-4F71307388B1}">
      <dgm:prSet/>
      <dgm:spPr>
        <a:ln w="57150">
          <a:solidFill>
            <a:schemeClr val="tx2"/>
          </a:solidFill>
          <a:tailEnd type="triangle"/>
        </a:ln>
      </dgm:spPr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D09C2E73-0CED-4747-8376-EA5FEA350862}" type="sibTrans" cxnId="{12DE096C-EFA8-4D21-839C-4F71307388B1}">
      <dgm:prSet/>
      <dgm:spPr>
        <a:noFill/>
        <a:ln>
          <a:noFill/>
        </a:ln>
      </dgm:spPr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F3186EEE-15C5-4DDF-A023-BE32FC485483}">
      <dgm:prSet custT="1"/>
      <dgm:spPr>
        <a:solidFill>
          <a:schemeClr val="bg2">
            <a:lumMod val="20000"/>
            <a:lumOff val="80000"/>
            <a:alpha val="70000"/>
          </a:schemeClr>
        </a:solidFill>
        <a:ln>
          <a:solidFill>
            <a:schemeClr val="bg2"/>
          </a:solidFill>
        </a:ln>
      </dgm:spPr>
      <dgm:t>
        <a:bodyPr/>
        <a:lstStyle/>
        <a:p>
          <a:r>
            <a:rPr lang="en-US" sz="3200" dirty="0">
              <a:solidFill>
                <a:schemeClr val="tx1"/>
              </a:solidFill>
            </a:rPr>
            <a:t>Globus pallidus</a:t>
          </a:r>
        </a:p>
      </dgm:t>
    </dgm:pt>
    <dgm:pt modelId="{36BF6166-C293-40D6-A29F-103DC14DD3A4}" type="parTrans" cxnId="{854C0EFA-641F-4702-AB41-8EE7757C9B25}">
      <dgm:prSet/>
      <dgm:spPr>
        <a:ln w="57150">
          <a:solidFill>
            <a:schemeClr val="tx2"/>
          </a:solidFill>
          <a:tailEnd type="triangle"/>
        </a:ln>
      </dgm:spPr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99FC4082-EBBD-4BB5-B1D9-85E37EC2C0ED}" type="sibTrans" cxnId="{854C0EFA-641F-4702-AB41-8EE7757C9B25}">
      <dgm:prSet/>
      <dgm:spPr>
        <a:noFill/>
        <a:ln>
          <a:noFill/>
        </a:ln>
      </dgm:spPr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5CDE4037-E672-4557-B748-EC1D32E5A896}">
      <dgm:prSet custT="1"/>
      <dgm:spPr>
        <a:solidFill>
          <a:schemeClr val="bg2">
            <a:lumMod val="40000"/>
            <a:lumOff val="60000"/>
          </a:schemeClr>
        </a:solidFill>
        <a:ln>
          <a:solidFill>
            <a:schemeClr val="bg2"/>
          </a:solidFill>
        </a:ln>
      </dgm:spPr>
      <dgm:t>
        <a:bodyPr/>
        <a:lstStyle/>
        <a:p>
          <a:pPr algn="l"/>
          <a:r>
            <a:rPr lang="en-US" sz="3600" b="1" dirty="0">
              <a:solidFill>
                <a:schemeClr val="tx1"/>
              </a:solidFill>
            </a:rPr>
            <a:t>Direct pathway: </a:t>
          </a:r>
          <a:r>
            <a:rPr lang="en-US" sz="3200" dirty="0">
              <a:solidFill>
                <a:schemeClr val="tx1"/>
              </a:solidFill>
            </a:rPr>
            <a:t>Striatum </a:t>
          </a:r>
          <a:r>
            <a:rPr lang="en-US" sz="3200" dirty="0">
              <a:solidFill>
                <a:schemeClr val="tx1"/>
              </a:solidFill>
              <a:sym typeface="Wingdings" panose="05000000000000000000" pitchFamily="2" charset="2"/>
            </a:rPr>
            <a:t> </a:t>
          </a:r>
          <a:r>
            <a:rPr lang="en-US" sz="3200" b="1" dirty="0" err="1">
              <a:solidFill>
                <a:schemeClr val="tx1"/>
              </a:solidFill>
            </a:rPr>
            <a:t>GPi</a:t>
          </a:r>
          <a:endParaRPr lang="en-US" sz="3600" b="1" dirty="0">
            <a:solidFill>
              <a:schemeClr val="tx1"/>
            </a:solidFill>
          </a:endParaRPr>
        </a:p>
      </dgm:t>
    </dgm:pt>
    <dgm:pt modelId="{AB93040A-4E8C-46B9-B911-2AF2EB898F08}" type="parTrans" cxnId="{44C7D31F-164D-4015-B668-9C0859F3E7A1}">
      <dgm:prSet/>
      <dgm:spPr>
        <a:ln>
          <a:solidFill>
            <a:schemeClr val="tx2"/>
          </a:solidFill>
        </a:ln>
      </dgm:spPr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2391B924-E21C-4EEF-8E2F-B38EBF368AC2}" type="sibTrans" cxnId="{44C7D31F-164D-4015-B668-9C0859F3E7A1}">
      <dgm:prSet/>
      <dgm:spPr>
        <a:noFill/>
        <a:ln>
          <a:noFill/>
        </a:ln>
      </dgm:spPr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2DC881BE-94F7-4C14-99AB-A8E18E733D2A}">
      <dgm:prSet custT="1"/>
      <dgm:spPr>
        <a:solidFill>
          <a:schemeClr val="bg2">
            <a:lumMod val="20000"/>
            <a:lumOff val="80000"/>
          </a:schemeClr>
        </a:solidFill>
        <a:ln>
          <a:solidFill>
            <a:schemeClr val="bg2"/>
          </a:solidFill>
        </a:ln>
      </dgm:spPr>
      <dgm:t>
        <a:bodyPr/>
        <a:lstStyle/>
        <a:p>
          <a:pPr algn="l"/>
          <a:r>
            <a:rPr lang="en-US" sz="3600" b="1" dirty="0">
              <a:solidFill>
                <a:schemeClr val="tx1"/>
              </a:solidFill>
            </a:rPr>
            <a:t>Indirect pathway:  </a:t>
          </a:r>
          <a:r>
            <a:rPr lang="en-US" sz="3200" dirty="0">
              <a:solidFill>
                <a:schemeClr val="tx1"/>
              </a:solidFill>
            </a:rPr>
            <a:t>Striatum </a:t>
          </a:r>
          <a:r>
            <a:rPr lang="en-US" sz="3200" dirty="0">
              <a:solidFill>
                <a:schemeClr val="tx1"/>
              </a:solidFill>
              <a:sym typeface="Wingdings" panose="05000000000000000000" pitchFamily="2" charset="2"/>
            </a:rPr>
            <a:t> </a:t>
          </a:r>
          <a:r>
            <a:rPr lang="en-US" sz="3200" b="1" dirty="0" err="1">
              <a:solidFill>
                <a:schemeClr val="tx1"/>
              </a:solidFill>
              <a:sym typeface="Wingdings" panose="05000000000000000000" pitchFamily="2" charset="2"/>
            </a:rPr>
            <a:t>GP</a:t>
          </a:r>
          <a:r>
            <a:rPr lang="en-US" sz="3200" b="1" dirty="0" err="1">
              <a:solidFill>
                <a:schemeClr val="tx1"/>
              </a:solidFill>
            </a:rPr>
            <a:t>e</a:t>
          </a:r>
          <a:endParaRPr lang="en-US" sz="3600" b="1" dirty="0">
            <a:solidFill>
              <a:schemeClr val="tx1"/>
            </a:solidFill>
          </a:endParaRPr>
        </a:p>
      </dgm:t>
    </dgm:pt>
    <dgm:pt modelId="{E1E4650D-72C9-47D3-A33E-6B2F0F88FCA6}" type="parTrans" cxnId="{38BB0423-AF42-4C4F-9FA1-E22859057F87}">
      <dgm:prSet/>
      <dgm:spPr>
        <a:ln>
          <a:solidFill>
            <a:schemeClr val="tx2"/>
          </a:solidFill>
        </a:ln>
      </dgm:spPr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4CD53896-4888-42E2-8754-17E24D29FE1A}" type="sibTrans" cxnId="{38BB0423-AF42-4C4F-9FA1-E22859057F87}">
      <dgm:prSet/>
      <dgm:spPr>
        <a:noFill/>
        <a:ln>
          <a:noFill/>
        </a:ln>
      </dgm:spPr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18F3CCB5-C4C7-4B47-A544-9F846EC2ED46}" type="pres">
      <dgm:prSet presAssocID="{12721712-0E7D-437F-BA85-1F879B3F6F1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B77D5D0-066E-431E-BED4-9FCD457D7B4D}" type="pres">
      <dgm:prSet presAssocID="{C0668F96-FA9B-439F-AC89-062FA7011DC5}" presName="hierRoot1" presStyleCnt="0">
        <dgm:presLayoutVars>
          <dgm:hierBranch val="init"/>
        </dgm:presLayoutVars>
      </dgm:prSet>
      <dgm:spPr/>
    </dgm:pt>
    <dgm:pt modelId="{438F1E21-4BD6-425B-A6ED-CFA6EC6DC548}" type="pres">
      <dgm:prSet presAssocID="{C0668F96-FA9B-439F-AC89-062FA7011DC5}" presName="rootComposite1" presStyleCnt="0"/>
      <dgm:spPr/>
    </dgm:pt>
    <dgm:pt modelId="{358FB382-E0DB-40B6-BCBB-98F3630F68A7}" type="pres">
      <dgm:prSet presAssocID="{C0668F96-FA9B-439F-AC89-062FA7011DC5}" presName="rootText1" presStyleLbl="node0" presStyleIdx="0" presStyleCnt="1" custScaleX="596329" custScaleY="85668">
        <dgm:presLayoutVars>
          <dgm:chMax/>
          <dgm:chPref val="3"/>
        </dgm:presLayoutVars>
      </dgm:prSet>
      <dgm:spPr/>
    </dgm:pt>
    <dgm:pt modelId="{70B0A920-2448-47D5-93AA-A9A0BBD0BE7E}" type="pres">
      <dgm:prSet presAssocID="{C0668F96-FA9B-439F-AC89-062FA7011DC5}" presName="titleText1" presStyleLbl="fgAcc0" presStyleIdx="0" presStyleCnt="1">
        <dgm:presLayoutVars>
          <dgm:chMax val="0"/>
          <dgm:chPref val="0"/>
        </dgm:presLayoutVars>
      </dgm:prSet>
      <dgm:spPr/>
    </dgm:pt>
    <dgm:pt modelId="{2A01870E-87F0-4F09-9D0A-7E16FB113529}" type="pres">
      <dgm:prSet presAssocID="{C0668F96-FA9B-439F-AC89-062FA7011DC5}" presName="rootConnector1" presStyleLbl="node1" presStyleIdx="0" presStyleCnt="4"/>
      <dgm:spPr/>
    </dgm:pt>
    <dgm:pt modelId="{60B60B58-DF68-41CF-AD7F-B734A732ACA6}" type="pres">
      <dgm:prSet presAssocID="{C0668F96-FA9B-439F-AC89-062FA7011DC5}" presName="hierChild2" presStyleCnt="0"/>
      <dgm:spPr/>
    </dgm:pt>
    <dgm:pt modelId="{CC672EBD-7BEC-4FA4-AEEE-4EBB7097A0D3}" type="pres">
      <dgm:prSet presAssocID="{21CB29B1-7BE9-492B-8C6E-1386D886A427}" presName="Name37" presStyleLbl="parChTrans1D2" presStyleIdx="0" presStyleCnt="2"/>
      <dgm:spPr/>
    </dgm:pt>
    <dgm:pt modelId="{8F4049CF-E68A-47E9-A3C2-8A33210425AB}" type="pres">
      <dgm:prSet presAssocID="{CF1D47DA-068C-4D73-8CF5-BCEC134A85B9}" presName="hierRoot2" presStyleCnt="0">
        <dgm:presLayoutVars>
          <dgm:hierBranch val="init"/>
        </dgm:presLayoutVars>
      </dgm:prSet>
      <dgm:spPr/>
    </dgm:pt>
    <dgm:pt modelId="{1D610E62-9E10-4413-B7FA-8378B5D50E80}" type="pres">
      <dgm:prSet presAssocID="{CF1D47DA-068C-4D73-8CF5-BCEC134A85B9}" presName="rootComposite" presStyleCnt="0"/>
      <dgm:spPr/>
    </dgm:pt>
    <dgm:pt modelId="{729699ED-8928-4DAF-9F10-6D657260D9BA}" type="pres">
      <dgm:prSet presAssocID="{CF1D47DA-068C-4D73-8CF5-BCEC134A85B9}" presName="rootText" presStyleLbl="node1" presStyleIdx="0" presStyleCnt="4" custScaleX="215806" custScaleY="115737">
        <dgm:presLayoutVars>
          <dgm:chMax/>
          <dgm:chPref val="3"/>
        </dgm:presLayoutVars>
      </dgm:prSet>
      <dgm:spPr/>
    </dgm:pt>
    <dgm:pt modelId="{13DBFF16-946B-4BFF-959C-44325C9511A2}" type="pres">
      <dgm:prSet presAssocID="{CF1D47DA-068C-4D73-8CF5-BCEC134A85B9}" presName="titleText2" presStyleLbl="fgAcc1" presStyleIdx="0" presStyleCnt="4">
        <dgm:presLayoutVars>
          <dgm:chMax val="0"/>
          <dgm:chPref val="0"/>
        </dgm:presLayoutVars>
      </dgm:prSet>
      <dgm:spPr/>
    </dgm:pt>
    <dgm:pt modelId="{5770E8D7-7666-4D5A-9E86-4FA8EE086876}" type="pres">
      <dgm:prSet presAssocID="{CF1D47DA-068C-4D73-8CF5-BCEC134A85B9}" presName="rootConnector" presStyleLbl="node2" presStyleIdx="0" presStyleCnt="0"/>
      <dgm:spPr/>
    </dgm:pt>
    <dgm:pt modelId="{4654F078-84E4-4CE4-BE0D-00E2566805EC}" type="pres">
      <dgm:prSet presAssocID="{CF1D47DA-068C-4D73-8CF5-BCEC134A85B9}" presName="hierChild4" presStyleCnt="0"/>
      <dgm:spPr/>
    </dgm:pt>
    <dgm:pt modelId="{7E985B5E-E230-49F7-9B9E-4B21567607EA}" type="pres">
      <dgm:prSet presAssocID="{CF1D47DA-068C-4D73-8CF5-BCEC134A85B9}" presName="hierChild5" presStyleCnt="0"/>
      <dgm:spPr/>
    </dgm:pt>
    <dgm:pt modelId="{3CF01EC6-5F5D-4CE0-AEB2-9A5D9632DA96}" type="pres">
      <dgm:prSet presAssocID="{36BF6166-C293-40D6-A29F-103DC14DD3A4}" presName="Name37" presStyleLbl="parChTrans1D2" presStyleIdx="1" presStyleCnt="2"/>
      <dgm:spPr/>
    </dgm:pt>
    <dgm:pt modelId="{D8058871-5619-420E-8B7E-A5E71E275AE7}" type="pres">
      <dgm:prSet presAssocID="{F3186EEE-15C5-4DDF-A023-BE32FC485483}" presName="hierRoot2" presStyleCnt="0">
        <dgm:presLayoutVars>
          <dgm:hierBranch val="init"/>
        </dgm:presLayoutVars>
      </dgm:prSet>
      <dgm:spPr/>
    </dgm:pt>
    <dgm:pt modelId="{DC9C7B13-D139-4696-A694-A66D5C1FA696}" type="pres">
      <dgm:prSet presAssocID="{F3186EEE-15C5-4DDF-A023-BE32FC485483}" presName="rootComposite" presStyleCnt="0"/>
      <dgm:spPr/>
    </dgm:pt>
    <dgm:pt modelId="{22832335-2132-41BD-A580-A310880BC51D}" type="pres">
      <dgm:prSet presAssocID="{F3186EEE-15C5-4DDF-A023-BE32FC485483}" presName="rootText" presStyleLbl="node1" presStyleIdx="1" presStyleCnt="4" custScaleX="272958" custScaleY="115737">
        <dgm:presLayoutVars>
          <dgm:chMax/>
          <dgm:chPref val="3"/>
        </dgm:presLayoutVars>
      </dgm:prSet>
      <dgm:spPr/>
    </dgm:pt>
    <dgm:pt modelId="{11BFF2A8-B2B7-4306-9074-A1C6E989B8E5}" type="pres">
      <dgm:prSet presAssocID="{F3186EEE-15C5-4DDF-A023-BE32FC485483}" presName="titleText2" presStyleLbl="fgAcc1" presStyleIdx="1" presStyleCnt="4">
        <dgm:presLayoutVars>
          <dgm:chMax val="0"/>
          <dgm:chPref val="0"/>
        </dgm:presLayoutVars>
      </dgm:prSet>
      <dgm:spPr/>
    </dgm:pt>
    <dgm:pt modelId="{4D5B538B-7AF8-420A-9C1A-DE39C4E416DA}" type="pres">
      <dgm:prSet presAssocID="{F3186EEE-15C5-4DDF-A023-BE32FC485483}" presName="rootConnector" presStyleLbl="node2" presStyleIdx="0" presStyleCnt="0"/>
      <dgm:spPr/>
    </dgm:pt>
    <dgm:pt modelId="{AB2F1E10-F9DC-42DD-8D98-7705A87F4A1F}" type="pres">
      <dgm:prSet presAssocID="{F3186EEE-15C5-4DDF-A023-BE32FC485483}" presName="hierChild4" presStyleCnt="0"/>
      <dgm:spPr/>
    </dgm:pt>
    <dgm:pt modelId="{1EC7FB4C-0EF2-4DD9-A2D1-9C2BA5B6E91D}" type="pres">
      <dgm:prSet presAssocID="{AB93040A-4E8C-46B9-B911-2AF2EB898F08}" presName="Name37" presStyleLbl="parChTrans1D3" presStyleIdx="0" presStyleCnt="2"/>
      <dgm:spPr/>
    </dgm:pt>
    <dgm:pt modelId="{5576A049-C7CB-42B2-8838-F5EED766E089}" type="pres">
      <dgm:prSet presAssocID="{5CDE4037-E672-4557-B748-EC1D32E5A896}" presName="hierRoot2" presStyleCnt="0">
        <dgm:presLayoutVars>
          <dgm:hierBranch val="init"/>
        </dgm:presLayoutVars>
      </dgm:prSet>
      <dgm:spPr/>
    </dgm:pt>
    <dgm:pt modelId="{8BFE9BB4-F28C-4315-8D5F-1B131C283483}" type="pres">
      <dgm:prSet presAssocID="{5CDE4037-E672-4557-B748-EC1D32E5A896}" presName="rootComposite" presStyleCnt="0"/>
      <dgm:spPr/>
    </dgm:pt>
    <dgm:pt modelId="{169D6DA3-59E4-40B5-8834-14C7D6CA23F0}" type="pres">
      <dgm:prSet presAssocID="{5CDE4037-E672-4557-B748-EC1D32E5A896}" presName="rootText" presStyleLbl="node1" presStyleIdx="2" presStyleCnt="4" custScaleX="200844" custScaleY="117685">
        <dgm:presLayoutVars>
          <dgm:chMax/>
          <dgm:chPref val="3"/>
        </dgm:presLayoutVars>
      </dgm:prSet>
      <dgm:spPr/>
    </dgm:pt>
    <dgm:pt modelId="{BE5E1227-B230-46DA-BC83-02FAC8584D64}" type="pres">
      <dgm:prSet presAssocID="{5CDE4037-E672-4557-B748-EC1D32E5A896}" presName="titleText2" presStyleLbl="fgAcc1" presStyleIdx="2" presStyleCnt="4">
        <dgm:presLayoutVars>
          <dgm:chMax val="0"/>
          <dgm:chPref val="0"/>
        </dgm:presLayoutVars>
      </dgm:prSet>
      <dgm:spPr/>
    </dgm:pt>
    <dgm:pt modelId="{1084F999-EBC4-4C03-B909-EE212B06C6D1}" type="pres">
      <dgm:prSet presAssocID="{5CDE4037-E672-4557-B748-EC1D32E5A896}" presName="rootConnector" presStyleLbl="node3" presStyleIdx="0" presStyleCnt="0"/>
      <dgm:spPr/>
    </dgm:pt>
    <dgm:pt modelId="{39B86585-1620-4DDA-B6DF-6230DB7AA3F5}" type="pres">
      <dgm:prSet presAssocID="{5CDE4037-E672-4557-B748-EC1D32E5A896}" presName="hierChild4" presStyleCnt="0"/>
      <dgm:spPr/>
    </dgm:pt>
    <dgm:pt modelId="{39B7DBF5-042D-4389-8026-ED3D856D062E}" type="pres">
      <dgm:prSet presAssocID="{5CDE4037-E672-4557-B748-EC1D32E5A896}" presName="hierChild5" presStyleCnt="0"/>
      <dgm:spPr/>
    </dgm:pt>
    <dgm:pt modelId="{6CA803C9-DD51-41F1-87DB-77F6CE65F8EE}" type="pres">
      <dgm:prSet presAssocID="{E1E4650D-72C9-47D3-A33E-6B2F0F88FCA6}" presName="Name37" presStyleLbl="parChTrans1D3" presStyleIdx="1" presStyleCnt="2"/>
      <dgm:spPr/>
    </dgm:pt>
    <dgm:pt modelId="{9B33EA53-897B-4C28-AF2A-FAFCA5583930}" type="pres">
      <dgm:prSet presAssocID="{2DC881BE-94F7-4C14-99AB-A8E18E733D2A}" presName="hierRoot2" presStyleCnt="0">
        <dgm:presLayoutVars>
          <dgm:hierBranch val="init"/>
        </dgm:presLayoutVars>
      </dgm:prSet>
      <dgm:spPr/>
    </dgm:pt>
    <dgm:pt modelId="{65FEFA12-BEE2-457F-BBCB-6C8606ABB89B}" type="pres">
      <dgm:prSet presAssocID="{2DC881BE-94F7-4C14-99AB-A8E18E733D2A}" presName="rootComposite" presStyleCnt="0"/>
      <dgm:spPr/>
    </dgm:pt>
    <dgm:pt modelId="{6AC99CA5-D89C-412F-938F-4C456D0A0692}" type="pres">
      <dgm:prSet presAssocID="{2DC881BE-94F7-4C14-99AB-A8E18E733D2A}" presName="rootText" presStyleLbl="node1" presStyleIdx="3" presStyleCnt="4" custScaleX="208591" custScaleY="117685">
        <dgm:presLayoutVars>
          <dgm:chMax/>
          <dgm:chPref val="3"/>
        </dgm:presLayoutVars>
      </dgm:prSet>
      <dgm:spPr/>
    </dgm:pt>
    <dgm:pt modelId="{AEF37A70-BD2A-4C0E-9C20-77676D3F01DA}" type="pres">
      <dgm:prSet presAssocID="{2DC881BE-94F7-4C14-99AB-A8E18E733D2A}" presName="titleText2" presStyleLbl="fgAcc1" presStyleIdx="3" presStyleCnt="4">
        <dgm:presLayoutVars>
          <dgm:chMax val="0"/>
          <dgm:chPref val="0"/>
        </dgm:presLayoutVars>
      </dgm:prSet>
      <dgm:spPr/>
    </dgm:pt>
    <dgm:pt modelId="{A1DC4CC6-9D32-4FF8-86DC-760DEDD6AA89}" type="pres">
      <dgm:prSet presAssocID="{2DC881BE-94F7-4C14-99AB-A8E18E733D2A}" presName="rootConnector" presStyleLbl="node3" presStyleIdx="0" presStyleCnt="0"/>
      <dgm:spPr/>
    </dgm:pt>
    <dgm:pt modelId="{9902128B-F93F-4B1A-BF2C-9433D1790EA4}" type="pres">
      <dgm:prSet presAssocID="{2DC881BE-94F7-4C14-99AB-A8E18E733D2A}" presName="hierChild4" presStyleCnt="0"/>
      <dgm:spPr/>
    </dgm:pt>
    <dgm:pt modelId="{33E91D7E-6D5B-4718-823A-0D25D5F17D60}" type="pres">
      <dgm:prSet presAssocID="{2DC881BE-94F7-4C14-99AB-A8E18E733D2A}" presName="hierChild5" presStyleCnt="0"/>
      <dgm:spPr/>
    </dgm:pt>
    <dgm:pt modelId="{F8F3049A-DAB2-443B-9768-326781918CCD}" type="pres">
      <dgm:prSet presAssocID="{F3186EEE-15C5-4DDF-A023-BE32FC485483}" presName="hierChild5" presStyleCnt="0"/>
      <dgm:spPr/>
    </dgm:pt>
    <dgm:pt modelId="{9D53EB4E-9BCB-4BDC-BCED-C737B68D827A}" type="pres">
      <dgm:prSet presAssocID="{C0668F96-FA9B-439F-AC89-062FA7011DC5}" presName="hierChild3" presStyleCnt="0"/>
      <dgm:spPr/>
    </dgm:pt>
  </dgm:ptLst>
  <dgm:cxnLst>
    <dgm:cxn modelId="{44C7D31F-164D-4015-B668-9C0859F3E7A1}" srcId="{F3186EEE-15C5-4DDF-A023-BE32FC485483}" destId="{5CDE4037-E672-4557-B748-EC1D32E5A896}" srcOrd="0" destOrd="0" parTransId="{AB93040A-4E8C-46B9-B911-2AF2EB898F08}" sibTransId="{2391B924-E21C-4EEF-8E2F-B38EBF368AC2}"/>
    <dgm:cxn modelId="{F1C29421-CBC3-4F7D-A987-FFCF51837A5D}" type="presOf" srcId="{CF1D47DA-068C-4D73-8CF5-BCEC134A85B9}" destId="{5770E8D7-7666-4D5A-9E86-4FA8EE086876}" srcOrd="1" destOrd="0" presId="urn:microsoft.com/office/officeart/2008/layout/NameandTitleOrganizationalChart"/>
    <dgm:cxn modelId="{0166AE22-E85C-41F1-B29B-DC81AB3121A7}" type="presOf" srcId="{C0668F96-FA9B-439F-AC89-062FA7011DC5}" destId="{2A01870E-87F0-4F09-9D0A-7E16FB113529}" srcOrd="1" destOrd="0" presId="urn:microsoft.com/office/officeart/2008/layout/NameandTitleOrganizationalChart"/>
    <dgm:cxn modelId="{38BB0423-AF42-4C4F-9FA1-E22859057F87}" srcId="{F3186EEE-15C5-4DDF-A023-BE32FC485483}" destId="{2DC881BE-94F7-4C14-99AB-A8E18E733D2A}" srcOrd="1" destOrd="0" parTransId="{E1E4650D-72C9-47D3-A33E-6B2F0F88FCA6}" sibTransId="{4CD53896-4888-42E2-8754-17E24D29FE1A}"/>
    <dgm:cxn modelId="{2B0D112D-E187-4517-AD11-C7EF0E88360F}" type="presOf" srcId="{5CDE4037-E672-4557-B748-EC1D32E5A896}" destId="{1084F999-EBC4-4C03-B909-EE212B06C6D1}" srcOrd="1" destOrd="0" presId="urn:microsoft.com/office/officeart/2008/layout/NameandTitleOrganizationalChart"/>
    <dgm:cxn modelId="{166ED530-071A-4ED0-8C00-9A754C21B492}" type="presOf" srcId="{E2C0EF52-95C7-452D-9C68-559B82740371}" destId="{70B0A920-2448-47D5-93AA-A9A0BBD0BE7E}" srcOrd="0" destOrd="0" presId="urn:microsoft.com/office/officeart/2008/layout/NameandTitleOrganizationalChart"/>
    <dgm:cxn modelId="{DBDF733E-0097-4275-9C17-8E20322275C1}" type="presOf" srcId="{4CD53896-4888-42E2-8754-17E24D29FE1A}" destId="{AEF37A70-BD2A-4C0E-9C20-77676D3F01DA}" srcOrd="0" destOrd="0" presId="urn:microsoft.com/office/officeart/2008/layout/NameandTitleOrganizationalChart"/>
    <dgm:cxn modelId="{D4AF4D40-5AB4-4886-AEDA-23DA2C6C9884}" type="presOf" srcId="{99FC4082-EBBD-4BB5-B1D9-85E37EC2C0ED}" destId="{11BFF2A8-B2B7-4306-9074-A1C6E989B8E5}" srcOrd="0" destOrd="0" presId="urn:microsoft.com/office/officeart/2008/layout/NameandTitleOrganizationalChart"/>
    <dgm:cxn modelId="{DC4DE140-7382-4125-94CE-8E446A140558}" type="presOf" srcId="{2391B924-E21C-4EEF-8E2F-B38EBF368AC2}" destId="{BE5E1227-B230-46DA-BC83-02FAC8584D64}" srcOrd="0" destOrd="0" presId="urn:microsoft.com/office/officeart/2008/layout/NameandTitleOrganizationalChart"/>
    <dgm:cxn modelId="{70D5E15F-8600-4192-95A2-B8F056BCBAEC}" type="presOf" srcId="{CF1D47DA-068C-4D73-8CF5-BCEC134A85B9}" destId="{729699ED-8928-4DAF-9F10-6D657260D9BA}" srcOrd="0" destOrd="0" presId="urn:microsoft.com/office/officeart/2008/layout/NameandTitleOrganizationalChart"/>
    <dgm:cxn modelId="{12DE096C-EFA8-4D21-839C-4F71307388B1}" srcId="{C0668F96-FA9B-439F-AC89-062FA7011DC5}" destId="{CF1D47DA-068C-4D73-8CF5-BCEC134A85B9}" srcOrd="0" destOrd="0" parTransId="{21CB29B1-7BE9-492B-8C6E-1386D886A427}" sibTransId="{D09C2E73-0CED-4747-8376-EA5FEA350862}"/>
    <dgm:cxn modelId="{AF88B173-FB29-4905-9804-7939B9CD7D46}" type="presOf" srcId="{21CB29B1-7BE9-492B-8C6E-1386D886A427}" destId="{CC672EBD-7BEC-4FA4-AEEE-4EBB7097A0D3}" srcOrd="0" destOrd="0" presId="urn:microsoft.com/office/officeart/2008/layout/NameandTitleOrganizationalChart"/>
    <dgm:cxn modelId="{606F8874-19EE-4F52-BD92-CB4929BFCBB6}" type="presOf" srcId="{E1E4650D-72C9-47D3-A33E-6B2F0F88FCA6}" destId="{6CA803C9-DD51-41F1-87DB-77F6CE65F8EE}" srcOrd="0" destOrd="0" presId="urn:microsoft.com/office/officeart/2008/layout/NameandTitleOrganizationalChart"/>
    <dgm:cxn modelId="{762F7284-0711-46F0-906D-4D999E05D100}" type="presOf" srcId="{12721712-0E7D-437F-BA85-1F879B3F6F1B}" destId="{18F3CCB5-C4C7-4B47-A544-9F846EC2ED46}" srcOrd="0" destOrd="0" presId="urn:microsoft.com/office/officeart/2008/layout/NameandTitleOrganizationalChart"/>
    <dgm:cxn modelId="{FB71419C-448E-44E7-9559-D199CF3C6D89}" type="presOf" srcId="{C0668F96-FA9B-439F-AC89-062FA7011DC5}" destId="{358FB382-E0DB-40B6-BCBB-98F3630F68A7}" srcOrd="0" destOrd="0" presId="urn:microsoft.com/office/officeart/2008/layout/NameandTitleOrganizationalChart"/>
    <dgm:cxn modelId="{60FC62A1-737F-4E2B-A3BA-211941296907}" type="presOf" srcId="{2DC881BE-94F7-4C14-99AB-A8E18E733D2A}" destId="{A1DC4CC6-9D32-4FF8-86DC-760DEDD6AA89}" srcOrd="1" destOrd="0" presId="urn:microsoft.com/office/officeart/2008/layout/NameandTitleOrganizationalChart"/>
    <dgm:cxn modelId="{8AC2C4B1-4D66-40BD-ACEF-43770116E451}" type="presOf" srcId="{5CDE4037-E672-4557-B748-EC1D32E5A896}" destId="{169D6DA3-59E4-40B5-8834-14C7D6CA23F0}" srcOrd="0" destOrd="0" presId="urn:microsoft.com/office/officeart/2008/layout/NameandTitleOrganizationalChart"/>
    <dgm:cxn modelId="{3A07D1B1-90F3-412D-B665-1348EF3ED900}" type="presOf" srcId="{2DC881BE-94F7-4C14-99AB-A8E18E733D2A}" destId="{6AC99CA5-D89C-412F-938F-4C456D0A0692}" srcOrd="0" destOrd="0" presId="urn:microsoft.com/office/officeart/2008/layout/NameandTitleOrganizationalChart"/>
    <dgm:cxn modelId="{EE2A8CB2-6E9D-4DD1-BA8C-CD1AB1F44EBE}" srcId="{12721712-0E7D-437F-BA85-1F879B3F6F1B}" destId="{C0668F96-FA9B-439F-AC89-062FA7011DC5}" srcOrd="0" destOrd="0" parTransId="{E2F541C4-F14A-4167-8C2D-CF66E43C1726}" sibTransId="{E2C0EF52-95C7-452D-9C68-559B82740371}"/>
    <dgm:cxn modelId="{1EDC5EBB-1AB2-422C-94A4-3A2B5FD4414A}" type="presOf" srcId="{F3186EEE-15C5-4DDF-A023-BE32FC485483}" destId="{4D5B538B-7AF8-420A-9C1A-DE39C4E416DA}" srcOrd="1" destOrd="0" presId="urn:microsoft.com/office/officeart/2008/layout/NameandTitleOrganizationalChart"/>
    <dgm:cxn modelId="{53D4E0D3-715E-4157-B13B-F27AC1FC0D84}" type="presOf" srcId="{36BF6166-C293-40D6-A29F-103DC14DD3A4}" destId="{3CF01EC6-5F5D-4CE0-AEB2-9A5D9632DA96}" srcOrd="0" destOrd="0" presId="urn:microsoft.com/office/officeart/2008/layout/NameandTitleOrganizationalChart"/>
    <dgm:cxn modelId="{3C40AFE7-1043-4EAE-887A-0E0C94A48D99}" type="presOf" srcId="{F3186EEE-15C5-4DDF-A023-BE32FC485483}" destId="{22832335-2132-41BD-A580-A310880BC51D}" srcOrd="0" destOrd="0" presId="urn:microsoft.com/office/officeart/2008/layout/NameandTitleOrganizationalChart"/>
    <dgm:cxn modelId="{F6F397EC-0639-406D-A578-2C3D8575DD1A}" type="presOf" srcId="{D09C2E73-0CED-4747-8376-EA5FEA350862}" destId="{13DBFF16-946B-4BFF-959C-44325C9511A2}" srcOrd="0" destOrd="0" presId="urn:microsoft.com/office/officeart/2008/layout/NameandTitleOrganizationalChart"/>
    <dgm:cxn modelId="{854C0EFA-641F-4702-AB41-8EE7757C9B25}" srcId="{C0668F96-FA9B-439F-AC89-062FA7011DC5}" destId="{F3186EEE-15C5-4DDF-A023-BE32FC485483}" srcOrd="1" destOrd="0" parTransId="{36BF6166-C293-40D6-A29F-103DC14DD3A4}" sibTransId="{99FC4082-EBBD-4BB5-B1D9-85E37EC2C0ED}"/>
    <dgm:cxn modelId="{FD0D8DFA-1B1D-40A4-BD7D-EF51D3868A58}" type="presOf" srcId="{AB93040A-4E8C-46B9-B911-2AF2EB898F08}" destId="{1EC7FB4C-0EF2-4DD9-A2D1-9C2BA5B6E91D}" srcOrd="0" destOrd="0" presId="urn:microsoft.com/office/officeart/2008/layout/NameandTitleOrganizationalChart"/>
    <dgm:cxn modelId="{1F0E2E13-7849-49BF-A2C3-FEF589D55AF6}" type="presParOf" srcId="{18F3CCB5-C4C7-4B47-A544-9F846EC2ED46}" destId="{FB77D5D0-066E-431E-BED4-9FCD457D7B4D}" srcOrd="0" destOrd="0" presId="urn:microsoft.com/office/officeart/2008/layout/NameandTitleOrganizationalChart"/>
    <dgm:cxn modelId="{16AFAEBC-841D-42EE-8A18-D73FB46B3824}" type="presParOf" srcId="{FB77D5D0-066E-431E-BED4-9FCD457D7B4D}" destId="{438F1E21-4BD6-425B-A6ED-CFA6EC6DC548}" srcOrd="0" destOrd="0" presId="urn:microsoft.com/office/officeart/2008/layout/NameandTitleOrganizationalChart"/>
    <dgm:cxn modelId="{BB94598C-3DD1-4ACC-B45C-E9218DBD6920}" type="presParOf" srcId="{438F1E21-4BD6-425B-A6ED-CFA6EC6DC548}" destId="{358FB382-E0DB-40B6-BCBB-98F3630F68A7}" srcOrd="0" destOrd="0" presId="urn:microsoft.com/office/officeart/2008/layout/NameandTitleOrganizationalChart"/>
    <dgm:cxn modelId="{75AA3726-8A8C-45D5-8FCE-05A0BE800093}" type="presParOf" srcId="{438F1E21-4BD6-425B-A6ED-CFA6EC6DC548}" destId="{70B0A920-2448-47D5-93AA-A9A0BBD0BE7E}" srcOrd="1" destOrd="0" presId="urn:microsoft.com/office/officeart/2008/layout/NameandTitleOrganizationalChart"/>
    <dgm:cxn modelId="{A6257487-427C-41EE-BAC8-EDDC82EAA01E}" type="presParOf" srcId="{438F1E21-4BD6-425B-A6ED-CFA6EC6DC548}" destId="{2A01870E-87F0-4F09-9D0A-7E16FB113529}" srcOrd="2" destOrd="0" presId="urn:microsoft.com/office/officeart/2008/layout/NameandTitleOrganizationalChart"/>
    <dgm:cxn modelId="{6BC61D03-8451-4E17-838B-2976BE011E36}" type="presParOf" srcId="{FB77D5D0-066E-431E-BED4-9FCD457D7B4D}" destId="{60B60B58-DF68-41CF-AD7F-B734A732ACA6}" srcOrd="1" destOrd="0" presId="urn:microsoft.com/office/officeart/2008/layout/NameandTitleOrganizationalChart"/>
    <dgm:cxn modelId="{34B84FFF-8321-4D23-9FE1-DD27CB3829FE}" type="presParOf" srcId="{60B60B58-DF68-41CF-AD7F-B734A732ACA6}" destId="{CC672EBD-7BEC-4FA4-AEEE-4EBB7097A0D3}" srcOrd="0" destOrd="0" presId="urn:microsoft.com/office/officeart/2008/layout/NameandTitleOrganizationalChart"/>
    <dgm:cxn modelId="{3D21EB4B-16CE-450A-921D-F183502C651F}" type="presParOf" srcId="{60B60B58-DF68-41CF-AD7F-B734A732ACA6}" destId="{8F4049CF-E68A-47E9-A3C2-8A33210425AB}" srcOrd="1" destOrd="0" presId="urn:microsoft.com/office/officeart/2008/layout/NameandTitleOrganizationalChart"/>
    <dgm:cxn modelId="{F08926EA-0EFD-4215-9F88-E30D91CE2DE8}" type="presParOf" srcId="{8F4049CF-E68A-47E9-A3C2-8A33210425AB}" destId="{1D610E62-9E10-4413-B7FA-8378B5D50E80}" srcOrd="0" destOrd="0" presId="urn:microsoft.com/office/officeart/2008/layout/NameandTitleOrganizationalChart"/>
    <dgm:cxn modelId="{79622A70-1440-428E-BCF4-90A76DF5244C}" type="presParOf" srcId="{1D610E62-9E10-4413-B7FA-8378B5D50E80}" destId="{729699ED-8928-4DAF-9F10-6D657260D9BA}" srcOrd="0" destOrd="0" presId="urn:microsoft.com/office/officeart/2008/layout/NameandTitleOrganizationalChart"/>
    <dgm:cxn modelId="{1143CA0A-7FB1-47F0-9132-FAF150280254}" type="presParOf" srcId="{1D610E62-9E10-4413-B7FA-8378B5D50E80}" destId="{13DBFF16-946B-4BFF-959C-44325C9511A2}" srcOrd="1" destOrd="0" presId="urn:microsoft.com/office/officeart/2008/layout/NameandTitleOrganizationalChart"/>
    <dgm:cxn modelId="{1181DFC3-FD24-4096-9A70-763A995006D5}" type="presParOf" srcId="{1D610E62-9E10-4413-B7FA-8378B5D50E80}" destId="{5770E8D7-7666-4D5A-9E86-4FA8EE086876}" srcOrd="2" destOrd="0" presId="urn:microsoft.com/office/officeart/2008/layout/NameandTitleOrganizationalChart"/>
    <dgm:cxn modelId="{8C23DD13-5872-481C-ABF0-D1D982646C5E}" type="presParOf" srcId="{8F4049CF-E68A-47E9-A3C2-8A33210425AB}" destId="{4654F078-84E4-4CE4-BE0D-00E2566805EC}" srcOrd="1" destOrd="0" presId="urn:microsoft.com/office/officeart/2008/layout/NameandTitleOrganizationalChart"/>
    <dgm:cxn modelId="{36E89607-E815-4B13-B0F5-5ED88E9AFD97}" type="presParOf" srcId="{8F4049CF-E68A-47E9-A3C2-8A33210425AB}" destId="{7E985B5E-E230-49F7-9B9E-4B21567607EA}" srcOrd="2" destOrd="0" presId="urn:microsoft.com/office/officeart/2008/layout/NameandTitleOrganizationalChart"/>
    <dgm:cxn modelId="{60678CAE-C5D1-46C3-ACE9-424EAFCCC3A0}" type="presParOf" srcId="{60B60B58-DF68-41CF-AD7F-B734A732ACA6}" destId="{3CF01EC6-5F5D-4CE0-AEB2-9A5D9632DA96}" srcOrd="2" destOrd="0" presId="urn:microsoft.com/office/officeart/2008/layout/NameandTitleOrganizationalChart"/>
    <dgm:cxn modelId="{64DD919F-F596-41B6-9D55-9EA8931E3F95}" type="presParOf" srcId="{60B60B58-DF68-41CF-AD7F-B734A732ACA6}" destId="{D8058871-5619-420E-8B7E-A5E71E275AE7}" srcOrd="3" destOrd="0" presId="urn:microsoft.com/office/officeart/2008/layout/NameandTitleOrganizationalChart"/>
    <dgm:cxn modelId="{BBF280CD-5871-439D-BEB7-48137D80AF4B}" type="presParOf" srcId="{D8058871-5619-420E-8B7E-A5E71E275AE7}" destId="{DC9C7B13-D139-4696-A694-A66D5C1FA696}" srcOrd="0" destOrd="0" presId="urn:microsoft.com/office/officeart/2008/layout/NameandTitleOrganizationalChart"/>
    <dgm:cxn modelId="{8193F19F-3E38-4E13-98E6-2EE9FE6F8546}" type="presParOf" srcId="{DC9C7B13-D139-4696-A694-A66D5C1FA696}" destId="{22832335-2132-41BD-A580-A310880BC51D}" srcOrd="0" destOrd="0" presId="urn:microsoft.com/office/officeart/2008/layout/NameandTitleOrganizationalChart"/>
    <dgm:cxn modelId="{9F049C93-3C6C-4451-A747-5BB05F70CF45}" type="presParOf" srcId="{DC9C7B13-D139-4696-A694-A66D5C1FA696}" destId="{11BFF2A8-B2B7-4306-9074-A1C6E989B8E5}" srcOrd="1" destOrd="0" presId="urn:microsoft.com/office/officeart/2008/layout/NameandTitleOrganizationalChart"/>
    <dgm:cxn modelId="{8987042F-9A47-4C71-9067-1A6B524129AC}" type="presParOf" srcId="{DC9C7B13-D139-4696-A694-A66D5C1FA696}" destId="{4D5B538B-7AF8-420A-9C1A-DE39C4E416DA}" srcOrd="2" destOrd="0" presId="urn:microsoft.com/office/officeart/2008/layout/NameandTitleOrganizationalChart"/>
    <dgm:cxn modelId="{6BC17720-27E7-417B-AD27-EADFD97CF44B}" type="presParOf" srcId="{D8058871-5619-420E-8B7E-A5E71E275AE7}" destId="{AB2F1E10-F9DC-42DD-8D98-7705A87F4A1F}" srcOrd="1" destOrd="0" presId="urn:microsoft.com/office/officeart/2008/layout/NameandTitleOrganizationalChart"/>
    <dgm:cxn modelId="{ADC971F8-885F-4B52-B353-4ED416B15E38}" type="presParOf" srcId="{AB2F1E10-F9DC-42DD-8D98-7705A87F4A1F}" destId="{1EC7FB4C-0EF2-4DD9-A2D1-9C2BA5B6E91D}" srcOrd="0" destOrd="0" presId="urn:microsoft.com/office/officeart/2008/layout/NameandTitleOrganizationalChart"/>
    <dgm:cxn modelId="{248B7579-282E-48A4-959B-0E2698B3CB13}" type="presParOf" srcId="{AB2F1E10-F9DC-42DD-8D98-7705A87F4A1F}" destId="{5576A049-C7CB-42B2-8838-F5EED766E089}" srcOrd="1" destOrd="0" presId="urn:microsoft.com/office/officeart/2008/layout/NameandTitleOrganizationalChart"/>
    <dgm:cxn modelId="{172C67EA-7E3E-432D-A704-350A62D28506}" type="presParOf" srcId="{5576A049-C7CB-42B2-8838-F5EED766E089}" destId="{8BFE9BB4-F28C-4315-8D5F-1B131C283483}" srcOrd="0" destOrd="0" presId="urn:microsoft.com/office/officeart/2008/layout/NameandTitleOrganizationalChart"/>
    <dgm:cxn modelId="{81CA30E2-6252-45EE-A5C1-31523324C491}" type="presParOf" srcId="{8BFE9BB4-F28C-4315-8D5F-1B131C283483}" destId="{169D6DA3-59E4-40B5-8834-14C7D6CA23F0}" srcOrd="0" destOrd="0" presId="urn:microsoft.com/office/officeart/2008/layout/NameandTitleOrganizationalChart"/>
    <dgm:cxn modelId="{BD309C42-945E-437E-BD4E-A8D4880D6EF6}" type="presParOf" srcId="{8BFE9BB4-F28C-4315-8D5F-1B131C283483}" destId="{BE5E1227-B230-46DA-BC83-02FAC8584D64}" srcOrd="1" destOrd="0" presId="urn:microsoft.com/office/officeart/2008/layout/NameandTitleOrganizationalChart"/>
    <dgm:cxn modelId="{1CD1A4F3-2177-43C0-AC06-C3500F9B2138}" type="presParOf" srcId="{8BFE9BB4-F28C-4315-8D5F-1B131C283483}" destId="{1084F999-EBC4-4C03-B909-EE212B06C6D1}" srcOrd="2" destOrd="0" presId="urn:microsoft.com/office/officeart/2008/layout/NameandTitleOrganizationalChart"/>
    <dgm:cxn modelId="{35700BB1-D59E-47A1-B8A2-900FB86D12F8}" type="presParOf" srcId="{5576A049-C7CB-42B2-8838-F5EED766E089}" destId="{39B86585-1620-4DDA-B6DF-6230DB7AA3F5}" srcOrd="1" destOrd="0" presId="urn:microsoft.com/office/officeart/2008/layout/NameandTitleOrganizationalChart"/>
    <dgm:cxn modelId="{8533832A-DEB9-44B8-AE23-1FB942C4FC36}" type="presParOf" srcId="{5576A049-C7CB-42B2-8838-F5EED766E089}" destId="{39B7DBF5-042D-4389-8026-ED3D856D062E}" srcOrd="2" destOrd="0" presId="urn:microsoft.com/office/officeart/2008/layout/NameandTitleOrganizationalChart"/>
    <dgm:cxn modelId="{17140CF4-6880-4AAD-BAA5-37C909EDC05D}" type="presParOf" srcId="{AB2F1E10-F9DC-42DD-8D98-7705A87F4A1F}" destId="{6CA803C9-DD51-41F1-87DB-77F6CE65F8EE}" srcOrd="2" destOrd="0" presId="urn:microsoft.com/office/officeart/2008/layout/NameandTitleOrganizationalChart"/>
    <dgm:cxn modelId="{CE14D418-7727-4456-87B4-5AFBFB1E797B}" type="presParOf" srcId="{AB2F1E10-F9DC-42DD-8D98-7705A87F4A1F}" destId="{9B33EA53-897B-4C28-AF2A-FAFCA5583930}" srcOrd="3" destOrd="0" presId="urn:microsoft.com/office/officeart/2008/layout/NameandTitleOrganizationalChart"/>
    <dgm:cxn modelId="{5902D54B-4434-49D6-A90F-60C8BF2F0082}" type="presParOf" srcId="{9B33EA53-897B-4C28-AF2A-FAFCA5583930}" destId="{65FEFA12-BEE2-457F-BBCB-6C8606ABB89B}" srcOrd="0" destOrd="0" presId="urn:microsoft.com/office/officeart/2008/layout/NameandTitleOrganizationalChart"/>
    <dgm:cxn modelId="{6C19DB91-DF8D-4118-839D-8506B6866873}" type="presParOf" srcId="{65FEFA12-BEE2-457F-BBCB-6C8606ABB89B}" destId="{6AC99CA5-D89C-412F-938F-4C456D0A0692}" srcOrd="0" destOrd="0" presId="urn:microsoft.com/office/officeart/2008/layout/NameandTitleOrganizationalChart"/>
    <dgm:cxn modelId="{B2C02EAA-9D3B-4343-A935-B9C7EBFAAB2B}" type="presParOf" srcId="{65FEFA12-BEE2-457F-BBCB-6C8606ABB89B}" destId="{AEF37A70-BD2A-4C0E-9C20-77676D3F01DA}" srcOrd="1" destOrd="0" presId="urn:microsoft.com/office/officeart/2008/layout/NameandTitleOrganizationalChart"/>
    <dgm:cxn modelId="{63AC5BC7-9D3E-4465-8E4B-D2D4FFAE14C7}" type="presParOf" srcId="{65FEFA12-BEE2-457F-BBCB-6C8606ABB89B}" destId="{A1DC4CC6-9D32-4FF8-86DC-760DEDD6AA89}" srcOrd="2" destOrd="0" presId="urn:microsoft.com/office/officeart/2008/layout/NameandTitleOrganizationalChart"/>
    <dgm:cxn modelId="{9F20D662-4793-403C-BE5D-426F0ED2F667}" type="presParOf" srcId="{9B33EA53-897B-4C28-AF2A-FAFCA5583930}" destId="{9902128B-F93F-4B1A-BF2C-9433D1790EA4}" srcOrd="1" destOrd="0" presId="urn:microsoft.com/office/officeart/2008/layout/NameandTitleOrganizationalChart"/>
    <dgm:cxn modelId="{2A23D2A5-1D2F-4366-85C2-E2AF7B0D2BA2}" type="presParOf" srcId="{9B33EA53-897B-4C28-AF2A-FAFCA5583930}" destId="{33E91D7E-6D5B-4718-823A-0D25D5F17D60}" srcOrd="2" destOrd="0" presId="urn:microsoft.com/office/officeart/2008/layout/NameandTitleOrganizationalChart"/>
    <dgm:cxn modelId="{2BECA5F4-92F4-4000-8EEE-569F07265573}" type="presParOf" srcId="{D8058871-5619-420E-8B7E-A5E71E275AE7}" destId="{F8F3049A-DAB2-443B-9768-326781918CCD}" srcOrd="2" destOrd="0" presId="urn:microsoft.com/office/officeart/2008/layout/NameandTitleOrganizationalChart"/>
    <dgm:cxn modelId="{22C8663C-FD2F-4EDC-B8F0-35BBB493104C}" type="presParOf" srcId="{FB77D5D0-066E-431E-BED4-9FCD457D7B4D}" destId="{9D53EB4E-9BCB-4BDC-BCED-C737B68D827A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934B13-4B2E-4555-8208-BB66657DC6D1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491F5CE-198D-492E-B1DB-1D97A03511FD}">
      <dgm:prSet phldrT="[Text]" custT="1"/>
      <dgm:spPr>
        <a:solidFill>
          <a:schemeClr val="accent1">
            <a:lumMod val="40000"/>
            <a:lumOff val="60000"/>
          </a:schemeClr>
        </a:solidFill>
        <a:ln>
          <a:solidFill>
            <a:schemeClr val="tx2"/>
          </a:solidFill>
        </a:ln>
      </dgm:spPr>
      <dgm:t>
        <a:bodyPr/>
        <a:lstStyle/>
        <a:p>
          <a:r>
            <a:rPr lang="en-US" sz="3600">
              <a:solidFill>
                <a:schemeClr val="tx1"/>
              </a:solidFill>
            </a:rPr>
            <a:t>Activity in the </a:t>
          </a:r>
          <a:r>
            <a:rPr lang="en-US" sz="3600" i="1" u="sng">
              <a:solidFill>
                <a:schemeClr val="tx1"/>
              </a:solidFill>
            </a:rPr>
            <a:t>direct</a:t>
          </a:r>
          <a:r>
            <a:rPr lang="en-US" sz="3600" i="0" u="none">
              <a:solidFill>
                <a:schemeClr val="tx1"/>
              </a:solidFill>
            </a:rPr>
            <a:t> </a:t>
          </a:r>
          <a:r>
            <a:rPr lang="en-US" sz="3600">
              <a:solidFill>
                <a:schemeClr val="tx1"/>
              </a:solidFill>
            </a:rPr>
            <a:t>pathway</a:t>
          </a:r>
          <a:endParaRPr lang="en-US" sz="3600" dirty="0">
            <a:solidFill>
              <a:schemeClr val="tx1"/>
            </a:solidFill>
          </a:endParaRPr>
        </a:p>
      </dgm:t>
    </dgm:pt>
    <dgm:pt modelId="{C9FF8A7F-5634-4E06-A952-EE578AF4F417}" type="parTrans" cxnId="{67D9C273-4111-4D12-BC4C-0C3C1F4F5C06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2DAC334A-0A4E-4735-B18C-2FDC016D0062}" type="sibTrans" cxnId="{67D9C273-4111-4D12-BC4C-0C3C1F4F5C06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7678878A-78E5-4D71-A86D-066A7AEC873D}">
      <dgm:prSet phldrT="[Text]" custT="1"/>
      <dgm:spPr>
        <a:solidFill>
          <a:schemeClr val="accent1">
            <a:lumMod val="20000"/>
            <a:lumOff val="80000"/>
            <a:alpha val="60000"/>
          </a:schemeClr>
        </a:solidFill>
        <a:ln>
          <a:solidFill>
            <a:schemeClr val="tx2"/>
          </a:solidFill>
        </a:ln>
      </dgm:spPr>
      <dgm:t>
        <a:bodyPr/>
        <a:lstStyle/>
        <a:p>
          <a:r>
            <a:rPr lang="en-US" sz="3200" i="1" u="sng">
              <a:solidFill>
                <a:schemeClr val="tx1"/>
              </a:solidFill>
            </a:rPr>
            <a:t>disinhibits</a:t>
          </a:r>
          <a:r>
            <a:rPr lang="en-US" sz="3200">
              <a:solidFill>
                <a:schemeClr val="tx1"/>
              </a:solidFill>
            </a:rPr>
            <a:t> the thalamus.</a:t>
          </a:r>
          <a:endParaRPr lang="en-US" sz="3200" dirty="0">
            <a:solidFill>
              <a:schemeClr val="tx1"/>
            </a:solidFill>
          </a:endParaRPr>
        </a:p>
      </dgm:t>
    </dgm:pt>
    <dgm:pt modelId="{EF441337-8ADF-4009-B48C-DD84E99CCC53}" type="parTrans" cxnId="{BB62657C-B5DA-4EB8-9D46-B49E2C4E1719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185E1FFB-8F0C-4CA1-BFC8-F7059FAC3CF1}" type="sibTrans" cxnId="{BB62657C-B5DA-4EB8-9D46-B49E2C4E1719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61DC63D0-9375-4407-8601-F87C1ECEF397}">
      <dgm:prSet phldrT="[Text]" custT="1"/>
      <dgm:spPr>
        <a:solidFill>
          <a:schemeClr val="accent3">
            <a:lumMod val="40000"/>
            <a:lumOff val="60000"/>
          </a:schemeClr>
        </a:solidFill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r>
            <a:rPr lang="en-US" sz="3600" dirty="0">
              <a:solidFill>
                <a:schemeClr val="tx1"/>
              </a:solidFill>
            </a:rPr>
            <a:t>Activity in the </a:t>
          </a:r>
          <a:r>
            <a:rPr lang="en-US" sz="3600" i="1" u="sng" dirty="0">
              <a:solidFill>
                <a:schemeClr val="tx1"/>
              </a:solidFill>
            </a:rPr>
            <a:t>indirect</a:t>
          </a:r>
          <a:r>
            <a:rPr lang="en-US" sz="3600" i="0" u="none" dirty="0">
              <a:solidFill>
                <a:schemeClr val="tx1"/>
              </a:solidFill>
            </a:rPr>
            <a:t> </a:t>
          </a:r>
          <a:r>
            <a:rPr lang="en-US" sz="3600" dirty="0">
              <a:solidFill>
                <a:schemeClr val="tx1"/>
              </a:solidFill>
            </a:rPr>
            <a:t>pathway</a:t>
          </a:r>
        </a:p>
      </dgm:t>
    </dgm:pt>
    <dgm:pt modelId="{D397F726-E69D-4ED2-8B4E-0FD9801DCAE9}" type="parTrans" cxnId="{7BE715EA-B81C-44B7-8AEC-058081F2CD54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86449D31-9CC5-4863-A279-9434D9A74C9A}" type="sibTrans" cxnId="{7BE715EA-B81C-44B7-8AEC-058081F2CD54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35C8DAF9-F73D-4510-AF07-D877827FFA18}">
      <dgm:prSet phldrT="[Text]" custT="1"/>
      <dgm:spPr>
        <a:solidFill>
          <a:schemeClr val="accent3">
            <a:lumMod val="20000"/>
            <a:lumOff val="80000"/>
            <a:alpha val="60000"/>
          </a:schemeClr>
        </a:solidFill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pPr>
            <a:buClrTx/>
            <a:buSzPct val="100000"/>
            <a:buFont typeface="Arial" panose="020B0604020202020204" pitchFamily="34" charset="0"/>
            <a:buChar char="•"/>
          </a:pPr>
          <a:r>
            <a:rPr kumimoji="0" lang="en-US" sz="3200" b="0" i="1" u="sng" strike="noStrike" cap="none" spc="0" normalizeH="0" baseline="0" noProof="0">
              <a:ln/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rPr>
            <a:t>inhibits</a:t>
          </a:r>
          <a:r>
            <a:rPr kumimoji="0" lang="en-US" sz="3200" b="0" i="0" u="none" strike="noStrike" cap="none" spc="0" normalizeH="0" noProof="0">
              <a:ln/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rPr>
            <a:t> the thalamus.</a:t>
          </a:r>
          <a:endParaRPr lang="en-US" sz="3200" dirty="0">
            <a:solidFill>
              <a:schemeClr val="tx1"/>
            </a:solidFill>
          </a:endParaRPr>
        </a:p>
      </dgm:t>
    </dgm:pt>
    <dgm:pt modelId="{09E2C1AF-2359-41E5-9934-D01DD3CAC75F}" type="parTrans" cxnId="{A2CB3F27-74F2-4D7A-8470-8DE857171F83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9F91498A-7C7B-4178-B64F-F2E2057718E6}" type="sibTrans" cxnId="{A2CB3F27-74F2-4D7A-8470-8DE857171F83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3C40312C-71A9-4F50-9010-AB26D8D83523}">
      <dgm:prSet custT="1"/>
      <dgm:spPr>
        <a:solidFill>
          <a:schemeClr val="accent1">
            <a:lumMod val="20000"/>
            <a:lumOff val="80000"/>
            <a:alpha val="60000"/>
          </a:schemeClr>
        </a:solidFill>
        <a:ln>
          <a:solidFill>
            <a:schemeClr val="tx2"/>
          </a:solidFill>
        </a:ln>
      </dgm:spPr>
      <dgm:t>
        <a:bodyPr/>
        <a:lstStyle/>
        <a:p>
          <a:r>
            <a:rPr lang="en-US" sz="3200" i="1" u="sng">
              <a:solidFill>
                <a:schemeClr val="tx1"/>
              </a:solidFill>
            </a:rPr>
            <a:t>increases</a:t>
          </a:r>
          <a:r>
            <a:rPr lang="en-US" sz="3200">
              <a:solidFill>
                <a:schemeClr val="tx1"/>
              </a:solidFill>
            </a:rPr>
            <a:t> cortical output.</a:t>
          </a:r>
          <a:endParaRPr lang="en-US" sz="3200" dirty="0">
            <a:solidFill>
              <a:schemeClr val="tx1"/>
            </a:solidFill>
          </a:endParaRPr>
        </a:p>
      </dgm:t>
    </dgm:pt>
    <dgm:pt modelId="{6BD63F81-00B8-4B83-88D1-5D81C136F7A0}" type="parTrans" cxnId="{9162A050-5975-4ADC-AD27-BAA333AC222D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A1C0F921-CD42-4AE0-ACE2-0A2950F962AA}" type="sibTrans" cxnId="{9162A050-5975-4ADC-AD27-BAA333AC222D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8451C8CA-3683-423E-A5B3-40B3603B566F}">
      <dgm:prSet custT="1"/>
      <dgm:spPr>
        <a:solidFill>
          <a:schemeClr val="accent1">
            <a:lumMod val="20000"/>
            <a:lumOff val="80000"/>
            <a:alpha val="60000"/>
          </a:schemeClr>
        </a:solidFill>
        <a:ln>
          <a:solidFill>
            <a:schemeClr val="tx2"/>
          </a:solidFill>
        </a:ln>
      </dgm:spPr>
      <dgm:t>
        <a:bodyPr/>
        <a:lstStyle/>
        <a:p>
          <a:r>
            <a:rPr lang="en-US" sz="3200" i="1" u="sng">
              <a:solidFill>
                <a:schemeClr val="tx1"/>
              </a:solidFill>
            </a:rPr>
            <a:t>selects</a:t>
          </a:r>
          <a:r>
            <a:rPr lang="en-US" sz="3200">
              <a:solidFill>
                <a:schemeClr val="tx1"/>
              </a:solidFill>
            </a:rPr>
            <a:t> intended behaviors.</a:t>
          </a:r>
          <a:endParaRPr lang="en-US" sz="3200" dirty="0">
            <a:solidFill>
              <a:schemeClr val="tx1"/>
            </a:solidFill>
          </a:endParaRPr>
        </a:p>
      </dgm:t>
    </dgm:pt>
    <dgm:pt modelId="{1CC3F27C-3B05-4593-A1B2-3B1A5543CD58}" type="parTrans" cxnId="{23CDF58F-B5F3-40F7-97C2-C355562C6093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F6838DFD-7F92-4E7D-ADA1-B5289DD08FD8}" type="sibTrans" cxnId="{23CDF58F-B5F3-40F7-97C2-C355562C6093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3A1A9366-F92F-491A-9E08-A3EDD4A6E59F}">
      <dgm:prSet custT="1"/>
      <dgm:spPr>
        <a:solidFill>
          <a:schemeClr val="accent3">
            <a:lumMod val="20000"/>
            <a:lumOff val="80000"/>
            <a:alpha val="60000"/>
          </a:schemeClr>
        </a:solidFill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r>
            <a:rPr lang="en-US" sz="3200" i="1" u="sng">
              <a:solidFill>
                <a:schemeClr val="tx1"/>
              </a:solidFill>
              <a:latin typeface="+mn-lt"/>
            </a:rPr>
            <a:t>de</a:t>
          </a:r>
          <a:r>
            <a:rPr kumimoji="0" lang="en-US" sz="3200" b="0" i="1" u="sng" strike="noStrike" cap="none" spc="0" normalizeH="0" baseline="0" noProof="0">
              <a:ln/>
              <a:solidFill>
                <a:schemeClr val="tx1"/>
              </a:solidFill>
              <a:effectLst/>
              <a:uLnTx/>
              <a:uFillTx/>
              <a:latin typeface="+mn-lt"/>
            </a:rPr>
            <a:t>creases</a:t>
          </a:r>
          <a:r>
            <a:rPr kumimoji="0" lang="en-US" sz="3200" b="0" i="0" u="none" strike="noStrike" cap="none" spc="0" normalizeH="0" baseline="0" noProof="0">
              <a:ln/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rPr>
            <a:t> cortical output.</a:t>
          </a:r>
          <a:endParaRPr kumimoji="0" lang="en-US" sz="3200" b="0" i="0" u="none" strike="noStrike" cap="none" spc="0" normalizeH="0" baseline="0" noProof="0" dirty="0">
            <a:ln/>
            <a:solidFill>
              <a:schemeClr val="tx1"/>
            </a:solidFill>
            <a:effectLst/>
            <a:uLnTx/>
            <a:uFillTx/>
            <a:latin typeface="+mn-lt"/>
            <a:ea typeface="+mn-ea"/>
            <a:cs typeface="+mn-cs"/>
          </a:endParaRPr>
        </a:p>
      </dgm:t>
    </dgm:pt>
    <dgm:pt modelId="{1F34446F-2F0E-4D09-9CA9-BBB819681812}" type="parTrans" cxnId="{A229B0E4-1E90-443C-B69B-382B5D75C793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B5AA37EF-ACB6-4867-9BB7-70F00D479695}" type="sibTrans" cxnId="{A229B0E4-1E90-443C-B69B-382B5D75C793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D31C7D21-EE16-4FAE-997D-8E064E909EC5}">
      <dgm:prSet custT="1"/>
      <dgm:spPr>
        <a:solidFill>
          <a:schemeClr val="accent3">
            <a:lumMod val="20000"/>
            <a:lumOff val="80000"/>
            <a:alpha val="60000"/>
          </a:schemeClr>
        </a:solidFill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r>
            <a:rPr lang="en-US" sz="3200" i="1" u="sng">
              <a:solidFill>
                <a:schemeClr val="tx1"/>
              </a:solidFill>
              <a:latin typeface="+mn-lt"/>
            </a:rPr>
            <a:t>s</a:t>
          </a:r>
          <a:r>
            <a:rPr kumimoji="0" lang="en-US" sz="3200" b="0" i="1" u="sng" strike="noStrike" cap="none" spc="0" normalizeH="0" baseline="0" noProof="0">
              <a:ln/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rPr>
            <a:t>uppresses</a:t>
          </a:r>
          <a:r>
            <a:rPr kumimoji="0" lang="en-US" sz="3200" b="0" i="0" u="none" strike="noStrike" cap="none" spc="0" normalizeH="0" noProof="0">
              <a:ln/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rPr>
            <a:t> competing </a:t>
          </a:r>
          <a:r>
            <a:rPr kumimoji="0" lang="en-US" sz="3200" b="0" i="0" u="none" strike="noStrike" cap="none" spc="0" normalizeH="0" baseline="0" noProof="0">
              <a:ln/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rPr>
            <a:t>behaviors.</a:t>
          </a:r>
          <a:endParaRPr kumimoji="0" lang="en-US" sz="3200" b="0" i="0" u="none" strike="noStrike" cap="none" spc="0" normalizeH="0" baseline="0" noProof="0" dirty="0">
            <a:ln/>
            <a:solidFill>
              <a:schemeClr val="tx1"/>
            </a:solidFill>
            <a:effectLst/>
            <a:uLnTx/>
            <a:uFillTx/>
            <a:latin typeface="+mn-lt"/>
            <a:ea typeface="+mn-ea"/>
            <a:cs typeface="+mn-cs"/>
          </a:endParaRPr>
        </a:p>
      </dgm:t>
    </dgm:pt>
    <dgm:pt modelId="{E20C2319-84C9-4923-8ED3-264501317B3A}" type="parTrans" cxnId="{BDC57B12-035C-4ED8-80DA-27C2D6FCE394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5BB6F9DC-6F79-443E-920A-DBFB77AC7560}" type="sibTrans" cxnId="{BDC57B12-035C-4ED8-80DA-27C2D6FCE394}">
      <dgm:prSet/>
      <dgm:spPr/>
      <dgm:t>
        <a:bodyPr/>
        <a:lstStyle/>
        <a:p>
          <a:endParaRPr lang="en-US" sz="2800">
            <a:solidFill>
              <a:schemeClr val="tx1"/>
            </a:solidFill>
          </a:endParaRPr>
        </a:p>
      </dgm:t>
    </dgm:pt>
    <dgm:pt modelId="{019BE950-8819-4272-9595-36CE89C5B593}" type="pres">
      <dgm:prSet presAssocID="{D0934B13-4B2E-4555-8208-BB66657DC6D1}" presName="Name0" presStyleCnt="0">
        <dgm:presLayoutVars>
          <dgm:dir/>
          <dgm:animLvl val="lvl"/>
          <dgm:resizeHandles val="exact"/>
        </dgm:presLayoutVars>
      </dgm:prSet>
      <dgm:spPr/>
    </dgm:pt>
    <dgm:pt modelId="{3D9B079F-7597-4280-8BA9-5DC7A5E77E6D}" type="pres">
      <dgm:prSet presAssocID="{2491F5CE-198D-492E-B1DB-1D97A03511FD}" presName="composite" presStyleCnt="0"/>
      <dgm:spPr/>
    </dgm:pt>
    <dgm:pt modelId="{E78DA368-2B40-4E1D-B873-6CC64BE95ED6}" type="pres">
      <dgm:prSet presAssocID="{2491F5CE-198D-492E-B1DB-1D97A03511FD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7CB9669F-4BBA-4081-8B44-BDD849D0843F}" type="pres">
      <dgm:prSet presAssocID="{2491F5CE-198D-492E-B1DB-1D97A03511FD}" presName="desTx" presStyleLbl="alignAccFollowNode1" presStyleIdx="0" presStyleCnt="2">
        <dgm:presLayoutVars>
          <dgm:bulletEnabled val="1"/>
        </dgm:presLayoutVars>
      </dgm:prSet>
      <dgm:spPr/>
    </dgm:pt>
    <dgm:pt modelId="{1C940B8D-AC1D-45C8-88A9-02083DDC9D41}" type="pres">
      <dgm:prSet presAssocID="{2DAC334A-0A4E-4735-B18C-2FDC016D0062}" presName="space" presStyleCnt="0"/>
      <dgm:spPr/>
    </dgm:pt>
    <dgm:pt modelId="{59FB034D-FF3E-483E-A0DB-9ACC71E34888}" type="pres">
      <dgm:prSet presAssocID="{61DC63D0-9375-4407-8601-F87C1ECEF397}" presName="composite" presStyleCnt="0"/>
      <dgm:spPr/>
    </dgm:pt>
    <dgm:pt modelId="{47F8A703-50F3-4BD2-8008-F95F1ED9550D}" type="pres">
      <dgm:prSet presAssocID="{61DC63D0-9375-4407-8601-F87C1ECEF397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06BD50E8-92DB-494D-8215-59E08D87DA36}" type="pres">
      <dgm:prSet presAssocID="{61DC63D0-9375-4407-8601-F87C1ECEF397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BDC57B12-035C-4ED8-80DA-27C2D6FCE394}" srcId="{61DC63D0-9375-4407-8601-F87C1ECEF397}" destId="{D31C7D21-EE16-4FAE-997D-8E064E909EC5}" srcOrd="2" destOrd="0" parTransId="{E20C2319-84C9-4923-8ED3-264501317B3A}" sibTransId="{5BB6F9DC-6F79-443E-920A-DBFB77AC7560}"/>
    <dgm:cxn modelId="{A1107413-2419-4868-A116-69DD85CDD9F2}" type="presOf" srcId="{61DC63D0-9375-4407-8601-F87C1ECEF397}" destId="{47F8A703-50F3-4BD2-8008-F95F1ED9550D}" srcOrd="0" destOrd="0" presId="urn:microsoft.com/office/officeart/2005/8/layout/hList1"/>
    <dgm:cxn modelId="{A2CB3F27-74F2-4D7A-8470-8DE857171F83}" srcId="{61DC63D0-9375-4407-8601-F87C1ECEF397}" destId="{35C8DAF9-F73D-4510-AF07-D877827FFA18}" srcOrd="0" destOrd="0" parTransId="{09E2C1AF-2359-41E5-9934-D01DD3CAC75F}" sibTransId="{9F91498A-7C7B-4178-B64F-F2E2057718E6}"/>
    <dgm:cxn modelId="{ABA55A3C-C895-4A34-B20D-031D758CBDB6}" type="presOf" srcId="{2491F5CE-198D-492E-B1DB-1D97A03511FD}" destId="{E78DA368-2B40-4E1D-B873-6CC64BE95ED6}" srcOrd="0" destOrd="0" presId="urn:microsoft.com/office/officeart/2005/8/layout/hList1"/>
    <dgm:cxn modelId="{A7368943-9663-4733-A593-8635A08D4F93}" type="presOf" srcId="{3A1A9366-F92F-491A-9E08-A3EDD4A6E59F}" destId="{06BD50E8-92DB-494D-8215-59E08D87DA36}" srcOrd="0" destOrd="1" presId="urn:microsoft.com/office/officeart/2005/8/layout/hList1"/>
    <dgm:cxn modelId="{12B44249-E7F4-4F7F-8794-46F9C86FD82D}" type="presOf" srcId="{3C40312C-71A9-4F50-9010-AB26D8D83523}" destId="{7CB9669F-4BBA-4081-8B44-BDD849D0843F}" srcOrd="0" destOrd="1" presId="urn:microsoft.com/office/officeart/2005/8/layout/hList1"/>
    <dgm:cxn modelId="{9162A050-5975-4ADC-AD27-BAA333AC222D}" srcId="{2491F5CE-198D-492E-B1DB-1D97A03511FD}" destId="{3C40312C-71A9-4F50-9010-AB26D8D83523}" srcOrd="1" destOrd="0" parTransId="{6BD63F81-00B8-4B83-88D1-5D81C136F7A0}" sibTransId="{A1C0F921-CD42-4AE0-ACE2-0A2950F962AA}"/>
    <dgm:cxn modelId="{67D9C273-4111-4D12-BC4C-0C3C1F4F5C06}" srcId="{D0934B13-4B2E-4555-8208-BB66657DC6D1}" destId="{2491F5CE-198D-492E-B1DB-1D97A03511FD}" srcOrd="0" destOrd="0" parTransId="{C9FF8A7F-5634-4E06-A952-EE578AF4F417}" sibTransId="{2DAC334A-0A4E-4735-B18C-2FDC016D0062}"/>
    <dgm:cxn modelId="{0C29E377-8619-4775-9224-DDDA7DA67E46}" type="presOf" srcId="{D0934B13-4B2E-4555-8208-BB66657DC6D1}" destId="{019BE950-8819-4272-9595-36CE89C5B593}" srcOrd="0" destOrd="0" presId="urn:microsoft.com/office/officeart/2005/8/layout/hList1"/>
    <dgm:cxn modelId="{BB62657C-B5DA-4EB8-9D46-B49E2C4E1719}" srcId="{2491F5CE-198D-492E-B1DB-1D97A03511FD}" destId="{7678878A-78E5-4D71-A86D-066A7AEC873D}" srcOrd="0" destOrd="0" parTransId="{EF441337-8ADF-4009-B48C-DD84E99CCC53}" sibTransId="{185E1FFB-8F0C-4CA1-BFC8-F7059FAC3CF1}"/>
    <dgm:cxn modelId="{CF790C89-282C-4A8E-99B7-2F49D2559F04}" type="presOf" srcId="{7678878A-78E5-4D71-A86D-066A7AEC873D}" destId="{7CB9669F-4BBA-4081-8B44-BDD849D0843F}" srcOrd="0" destOrd="0" presId="urn:microsoft.com/office/officeart/2005/8/layout/hList1"/>
    <dgm:cxn modelId="{23CDF58F-B5F3-40F7-97C2-C355562C6093}" srcId="{2491F5CE-198D-492E-B1DB-1D97A03511FD}" destId="{8451C8CA-3683-423E-A5B3-40B3603B566F}" srcOrd="2" destOrd="0" parTransId="{1CC3F27C-3B05-4593-A1B2-3B1A5543CD58}" sibTransId="{F6838DFD-7F92-4E7D-ADA1-B5289DD08FD8}"/>
    <dgm:cxn modelId="{F1483AA1-CC9B-4771-B345-0D4BF2203BD0}" type="presOf" srcId="{35C8DAF9-F73D-4510-AF07-D877827FFA18}" destId="{06BD50E8-92DB-494D-8215-59E08D87DA36}" srcOrd="0" destOrd="0" presId="urn:microsoft.com/office/officeart/2005/8/layout/hList1"/>
    <dgm:cxn modelId="{1D6FD1BA-09CC-4045-96E0-37CAC1DBE6E4}" type="presOf" srcId="{8451C8CA-3683-423E-A5B3-40B3603B566F}" destId="{7CB9669F-4BBA-4081-8B44-BDD849D0843F}" srcOrd="0" destOrd="2" presId="urn:microsoft.com/office/officeart/2005/8/layout/hList1"/>
    <dgm:cxn modelId="{3354F0D9-F1BA-4507-A828-B04155FCCAEE}" type="presOf" srcId="{D31C7D21-EE16-4FAE-997D-8E064E909EC5}" destId="{06BD50E8-92DB-494D-8215-59E08D87DA36}" srcOrd="0" destOrd="2" presId="urn:microsoft.com/office/officeart/2005/8/layout/hList1"/>
    <dgm:cxn modelId="{A229B0E4-1E90-443C-B69B-382B5D75C793}" srcId="{61DC63D0-9375-4407-8601-F87C1ECEF397}" destId="{3A1A9366-F92F-491A-9E08-A3EDD4A6E59F}" srcOrd="1" destOrd="0" parTransId="{1F34446F-2F0E-4D09-9CA9-BBB819681812}" sibTransId="{B5AA37EF-ACB6-4867-9BB7-70F00D479695}"/>
    <dgm:cxn modelId="{7BE715EA-B81C-44B7-8AEC-058081F2CD54}" srcId="{D0934B13-4B2E-4555-8208-BB66657DC6D1}" destId="{61DC63D0-9375-4407-8601-F87C1ECEF397}" srcOrd="1" destOrd="0" parTransId="{D397F726-E69D-4ED2-8B4E-0FD9801DCAE9}" sibTransId="{86449D31-9CC5-4863-A279-9434D9A74C9A}"/>
    <dgm:cxn modelId="{3C30C8A4-C354-44F5-8ABE-03427DB3168A}" type="presParOf" srcId="{019BE950-8819-4272-9595-36CE89C5B593}" destId="{3D9B079F-7597-4280-8BA9-5DC7A5E77E6D}" srcOrd="0" destOrd="0" presId="urn:microsoft.com/office/officeart/2005/8/layout/hList1"/>
    <dgm:cxn modelId="{1493004A-2838-4BCD-971D-BEDABB381988}" type="presParOf" srcId="{3D9B079F-7597-4280-8BA9-5DC7A5E77E6D}" destId="{E78DA368-2B40-4E1D-B873-6CC64BE95ED6}" srcOrd="0" destOrd="0" presId="urn:microsoft.com/office/officeart/2005/8/layout/hList1"/>
    <dgm:cxn modelId="{BB4A2377-362C-4760-ADA1-2ACD70E41333}" type="presParOf" srcId="{3D9B079F-7597-4280-8BA9-5DC7A5E77E6D}" destId="{7CB9669F-4BBA-4081-8B44-BDD849D0843F}" srcOrd="1" destOrd="0" presId="urn:microsoft.com/office/officeart/2005/8/layout/hList1"/>
    <dgm:cxn modelId="{3CA75213-7AA8-4BAD-A30B-3375AE977BD8}" type="presParOf" srcId="{019BE950-8819-4272-9595-36CE89C5B593}" destId="{1C940B8D-AC1D-45C8-88A9-02083DDC9D41}" srcOrd="1" destOrd="0" presId="urn:microsoft.com/office/officeart/2005/8/layout/hList1"/>
    <dgm:cxn modelId="{519700D4-FFE8-4CC7-B3F5-2839B4A7072A}" type="presParOf" srcId="{019BE950-8819-4272-9595-36CE89C5B593}" destId="{59FB034D-FF3E-483E-A0DB-9ACC71E34888}" srcOrd="2" destOrd="0" presId="urn:microsoft.com/office/officeart/2005/8/layout/hList1"/>
    <dgm:cxn modelId="{CBA9570D-86A1-4F72-A184-0AD9FEF014DC}" type="presParOf" srcId="{59FB034D-FF3E-483E-A0DB-9ACC71E34888}" destId="{47F8A703-50F3-4BD2-8008-F95F1ED9550D}" srcOrd="0" destOrd="0" presId="urn:microsoft.com/office/officeart/2005/8/layout/hList1"/>
    <dgm:cxn modelId="{C84DCA3B-5194-448F-8774-3B3FEBDE21EA}" type="presParOf" srcId="{59FB034D-FF3E-483E-A0DB-9ACC71E34888}" destId="{06BD50E8-92DB-494D-8215-59E08D87DA3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A803C9-DD51-41F1-87DB-77F6CE65F8EE}">
      <dsp:nvSpPr>
        <dsp:cNvPr id="0" name=""/>
        <dsp:cNvSpPr/>
      </dsp:nvSpPr>
      <dsp:spPr>
        <a:xfrm>
          <a:off x="7488297" y="2451645"/>
          <a:ext cx="1981636" cy="4551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2367"/>
              </a:lnTo>
              <a:lnTo>
                <a:pt x="1981636" y="242367"/>
              </a:lnTo>
              <a:lnTo>
                <a:pt x="1981636" y="455162"/>
              </a:lnTo>
            </a:path>
          </a:pathLst>
        </a:custGeom>
        <a:noFill/>
        <a:ln w="1905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C7FB4C-0EF2-4DD9-A2D1-9C2BA5B6E91D}">
      <dsp:nvSpPr>
        <dsp:cNvPr id="0" name=""/>
        <dsp:cNvSpPr/>
      </dsp:nvSpPr>
      <dsp:spPr>
        <a:xfrm>
          <a:off x="5438433" y="2451645"/>
          <a:ext cx="2049864" cy="455162"/>
        </a:xfrm>
        <a:custGeom>
          <a:avLst/>
          <a:gdLst/>
          <a:ahLst/>
          <a:cxnLst/>
          <a:rect l="0" t="0" r="0" b="0"/>
          <a:pathLst>
            <a:path>
              <a:moveTo>
                <a:pt x="2049864" y="0"/>
              </a:moveTo>
              <a:lnTo>
                <a:pt x="2049864" y="242367"/>
              </a:lnTo>
              <a:lnTo>
                <a:pt x="0" y="242367"/>
              </a:lnTo>
              <a:lnTo>
                <a:pt x="0" y="455162"/>
              </a:lnTo>
            </a:path>
          </a:pathLst>
        </a:custGeom>
        <a:noFill/>
        <a:ln w="1905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F01EC6-5F5D-4CE0-AEB2-9A5D9632DA96}">
      <dsp:nvSpPr>
        <dsp:cNvPr id="0" name=""/>
        <dsp:cNvSpPr/>
      </dsp:nvSpPr>
      <dsp:spPr>
        <a:xfrm>
          <a:off x="5374890" y="803874"/>
          <a:ext cx="2113407" cy="592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9478"/>
              </a:lnTo>
              <a:lnTo>
                <a:pt x="2113407" y="379478"/>
              </a:lnTo>
              <a:lnTo>
                <a:pt x="2113407" y="592273"/>
              </a:lnTo>
            </a:path>
          </a:pathLst>
        </a:custGeom>
        <a:noFill/>
        <a:ln w="57150" cap="flat" cmpd="sng" algn="ctr">
          <a:solidFill>
            <a:schemeClr val="tx2"/>
          </a:solidFill>
          <a:prstDash val="solid"/>
          <a:miter lim="800000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672EBD-7BEC-4FA4-AEEE-4EBB7097A0D3}">
      <dsp:nvSpPr>
        <dsp:cNvPr id="0" name=""/>
        <dsp:cNvSpPr/>
      </dsp:nvSpPr>
      <dsp:spPr>
        <a:xfrm>
          <a:off x="2758142" y="803874"/>
          <a:ext cx="2616747" cy="592273"/>
        </a:xfrm>
        <a:custGeom>
          <a:avLst/>
          <a:gdLst/>
          <a:ahLst/>
          <a:cxnLst/>
          <a:rect l="0" t="0" r="0" b="0"/>
          <a:pathLst>
            <a:path>
              <a:moveTo>
                <a:pt x="2616747" y="0"/>
              </a:moveTo>
              <a:lnTo>
                <a:pt x="2616747" y="379478"/>
              </a:lnTo>
              <a:lnTo>
                <a:pt x="0" y="379478"/>
              </a:lnTo>
              <a:lnTo>
                <a:pt x="0" y="592273"/>
              </a:lnTo>
            </a:path>
          </a:pathLst>
        </a:custGeom>
        <a:noFill/>
        <a:ln w="57150" cap="flat" cmpd="sng" algn="ctr">
          <a:solidFill>
            <a:schemeClr val="tx2"/>
          </a:solidFill>
          <a:prstDash val="solid"/>
          <a:miter lim="800000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8FB382-E0DB-40B6-BCBB-98F3630F68A7}">
      <dsp:nvSpPr>
        <dsp:cNvPr id="0" name=""/>
        <dsp:cNvSpPr/>
      </dsp:nvSpPr>
      <dsp:spPr>
        <a:xfrm>
          <a:off x="122995" y="22600"/>
          <a:ext cx="10503789" cy="781274"/>
        </a:xfrm>
        <a:prstGeom prst="rect">
          <a:avLst/>
        </a:prstGeom>
        <a:solidFill>
          <a:schemeClr val="bg2">
            <a:lumMod val="60000"/>
            <a:lumOff val="40000"/>
          </a:schemeClr>
        </a:solidFill>
        <a:ln w="1905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12869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chemeClr val="tx1"/>
              </a:solidFill>
            </a:rPr>
            <a:t>GABAergic MSNs in the striatum</a:t>
          </a:r>
        </a:p>
      </dsp:txBody>
      <dsp:txXfrm>
        <a:off x="122995" y="22600"/>
        <a:ext cx="10503789" cy="781274"/>
      </dsp:txXfrm>
    </dsp:sp>
    <dsp:sp modelId="{70B0A920-2448-47D5-93AA-A9A0BBD0BE7E}">
      <dsp:nvSpPr>
        <dsp:cNvPr id="0" name=""/>
        <dsp:cNvSpPr/>
      </dsp:nvSpPr>
      <dsp:spPr>
        <a:xfrm>
          <a:off x="4846467" y="666564"/>
          <a:ext cx="1585267" cy="30399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12065" rIns="48260" bIns="12065" numCol="1" spcCol="1270" anchor="ctr" anchorCtr="0">
          <a:noAutofit/>
        </a:bodyPr>
        <a:lstStyle/>
        <a:p>
          <a:pPr marL="0" lvl="0" indent="0" algn="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>
            <a:solidFill>
              <a:schemeClr val="tx1"/>
            </a:solidFill>
          </a:endParaRPr>
        </a:p>
      </dsp:txBody>
      <dsp:txXfrm>
        <a:off x="4846467" y="666564"/>
        <a:ext cx="1585267" cy="303993"/>
      </dsp:txXfrm>
    </dsp:sp>
    <dsp:sp modelId="{729699ED-8928-4DAF-9F10-6D657260D9BA}">
      <dsp:nvSpPr>
        <dsp:cNvPr id="0" name=""/>
        <dsp:cNvSpPr/>
      </dsp:nvSpPr>
      <dsp:spPr>
        <a:xfrm>
          <a:off x="857529" y="1396148"/>
          <a:ext cx="3801225" cy="1055497"/>
        </a:xfrm>
        <a:prstGeom prst="rect">
          <a:avLst/>
        </a:prstGeom>
        <a:solidFill>
          <a:schemeClr val="bg2">
            <a:lumMod val="20000"/>
            <a:lumOff val="80000"/>
            <a:alpha val="70000"/>
          </a:schemeClr>
        </a:solidFill>
        <a:ln w="1905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12869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Substantia nigra pars reticulata (SNr)</a:t>
          </a:r>
        </a:p>
      </dsp:txBody>
      <dsp:txXfrm>
        <a:off x="857529" y="1396148"/>
        <a:ext cx="3801225" cy="1055497"/>
      </dsp:txXfrm>
    </dsp:sp>
    <dsp:sp modelId="{13DBFF16-946B-4BFF-959C-44325C9511A2}">
      <dsp:nvSpPr>
        <dsp:cNvPr id="0" name=""/>
        <dsp:cNvSpPr/>
      </dsp:nvSpPr>
      <dsp:spPr>
        <a:xfrm>
          <a:off x="2229719" y="2177224"/>
          <a:ext cx="1585267" cy="30399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12065" rIns="48260" bIns="12065" numCol="1" spcCol="1270" anchor="ctr" anchorCtr="0">
          <a:noAutofit/>
        </a:bodyPr>
        <a:lstStyle/>
        <a:p>
          <a:pPr marL="0" lvl="0" indent="0" algn="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>
            <a:solidFill>
              <a:schemeClr val="tx1"/>
            </a:solidFill>
          </a:endParaRPr>
        </a:p>
      </dsp:txBody>
      <dsp:txXfrm>
        <a:off x="2229719" y="2177224"/>
        <a:ext cx="1585267" cy="303993"/>
      </dsp:txXfrm>
    </dsp:sp>
    <dsp:sp modelId="{22832335-2132-41BD-A580-A310880BC51D}">
      <dsp:nvSpPr>
        <dsp:cNvPr id="0" name=""/>
        <dsp:cNvSpPr/>
      </dsp:nvSpPr>
      <dsp:spPr>
        <a:xfrm>
          <a:off x="5084345" y="1396148"/>
          <a:ext cx="4807905" cy="1055497"/>
        </a:xfrm>
        <a:prstGeom prst="rect">
          <a:avLst/>
        </a:prstGeom>
        <a:solidFill>
          <a:schemeClr val="bg2">
            <a:lumMod val="20000"/>
            <a:lumOff val="80000"/>
            <a:alpha val="70000"/>
          </a:schemeClr>
        </a:solidFill>
        <a:ln w="1905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12869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Globus pallidus</a:t>
          </a:r>
        </a:p>
      </dsp:txBody>
      <dsp:txXfrm>
        <a:off x="5084345" y="1396148"/>
        <a:ext cx="4807905" cy="1055497"/>
      </dsp:txXfrm>
    </dsp:sp>
    <dsp:sp modelId="{11BFF2A8-B2B7-4306-9074-A1C6E989B8E5}">
      <dsp:nvSpPr>
        <dsp:cNvPr id="0" name=""/>
        <dsp:cNvSpPr/>
      </dsp:nvSpPr>
      <dsp:spPr>
        <a:xfrm>
          <a:off x="6959875" y="2177224"/>
          <a:ext cx="1585267" cy="30399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12065" rIns="48260" bIns="12065" numCol="1" spcCol="1270" anchor="ctr" anchorCtr="0">
          <a:noAutofit/>
        </a:bodyPr>
        <a:lstStyle/>
        <a:p>
          <a:pPr marL="0" lvl="0" indent="0" algn="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>
            <a:solidFill>
              <a:schemeClr val="tx1"/>
            </a:solidFill>
          </a:endParaRPr>
        </a:p>
      </dsp:txBody>
      <dsp:txXfrm>
        <a:off x="6959875" y="2177224"/>
        <a:ext cx="1585267" cy="303993"/>
      </dsp:txXfrm>
    </dsp:sp>
    <dsp:sp modelId="{169D6DA3-59E4-40B5-8834-14C7D6CA23F0}">
      <dsp:nvSpPr>
        <dsp:cNvPr id="0" name=""/>
        <dsp:cNvSpPr/>
      </dsp:nvSpPr>
      <dsp:spPr>
        <a:xfrm>
          <a:off x="3669591" y="2906807"/>
          <a:ext cx="3537683" cy="1073262"/>
        </a:xfrm>
        <a:prstGeom prst="rect">
          <a:avLst/>
        </a:prstGeom>
        <a:solidFill>
          <a:schemeClr val="bg2">
            <a:lumMod val="40000"/>
            <a:lumOff val="60000"/>
          </a:schemeClr>
        </a:solidFill>
        <a:ln w="1905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12869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tx1"/>
              </a:solidFill>
            </a:rPr>
            <a:t>Direct pathway: </a:t>
          </a:r>
          <a:r>
            <a:rPr lang="en-US" sz="3200" kern="1200" dirty="0">
              <a:solidFill>
                <a:schemeClr val="tx1"/>
              </a:solidFill>
            </a:rPr>
            <a:t>Striatum </a:t>
          </a:r>
          <a:r>
            <a:rPr lang="en-US" sz="3200" kern="1200" dirty="0">
              <a:solidFill>
                <a:schemeClr val="tx1"/>
              </a:solidFill>
              <a:sym typeface="Wingdings" panose="05000000000000000000" pitchFamily="2" charset="2"/>
            </a:rPr>
            <a:t> </a:t>
          </a:r>
          <a:r>
            <a:rPr lang="en-US" sz="3200" b="1" kern="1200" dirty="0" err="1">
              <a:solidFill>
                <a:schemeClr val="tx1"/>
              </a:solidFill>
            </a:rPr>
            <a:t>GPi</a:t>
          </a:r>
          <a:endParaRPr lang="en-US" sz="3600" b="1" kern="1200" dirty="0">
            <a:solidFill>
              <a:schemeClr val="tx1"/>
            </a:solidFill>
          </a:endParaRPr>
        </a:p>
      </dsp:txBody>
      <dsp:txXfrm>
        <a:off x="3669591" y="2906807"/>
        <a:ext cx="3537683" cy="1073262"/>
      </dsp:txXfrm>
    </dsp:sp>
    <dsp:sp modelId="{BE5E1227-B230-46DA-BC83-02FAC8584D64}">
      <dsp:nvSpPr>
        <dsp:cNvPr id="0" name=""/>
        <dsp:cNvSpPr/>
      </dsp:nvSpPr>
      <dsp:spPr>
        <a:xfrm>
          <a:off x="4910010" y="3696766"/>
          <a:ext cx="1585267" cy="30399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12065" rIns="48260" bIns="12065" numCol="1" spcCol="1270" anchor="ctr" anchorCtr="0">
          <a:noAutofit/>
        </a:bodyPr>
        <a:lstStyle/>
        <a:p>
          <a:pPr marL="0" lvl="0" indent="0" algn="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>
            <a:solidFill>
              <a:schemeClr val="tx1"/>
            </a:solidFill>
          </a:endParaRPr>
        </a:p>
      </dsp:txBody>
      <dsp:txXfrm>
        <a:off x="4910010" y="3696766"/>
        <a:ext cx="1585267" cy="303993"/>
      </dsp:txXfrm>
    </dsp:sp>
    <dsp:sp modelId="{6AC99CA5-D89C-412F-938F-4C456D0A0692}">
      <dsp:nvSpPr>
        <dsp:cNvPr id="0" name=""/>
        <dsp:cNvSpPr/>
      </dsp:nvSpPr>
      <dsp:spPr>
        <a:xfrm>
          <a:off x="7632864" y="2906807"/>
          <a:ext cx="3674139" cy="1073262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 w="1905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12869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tx1"/>
              </a:solidFill>
            </a:rPr>
            <a:t>Indirect pathway:  </a:t>
          </a:r>
          <a:r>
            <a:rPr lang="en-US" sz="3200" kern="1200" dirty="0">
              <a:solidFill>
                <a:schemeClr val="tx1"/>
              </a:solidFill>
            </a:rPr>
            <a:t>Striatum </a:t>
          </a:r>
          <a:r>
            <a:rPr lang="en-US" sz="3200" kern="1200" dirty="0">
              <a:solidFill>
                <a:schemeClr val="tx1"/>
              </a:solidFill>
              <a:sym typeface="Wingdings" panose="05000000000000000000" pitchFamily="2" charset="2"/>
            </a:rPr>
            <a:t> </a:t>
          </a:r>
          <a:r>
            <a:rPr lang="en-US" sz="3200" b="1" kern="1200" dirty="0" err="1">
              <a:solidFill>
                <a:schemeClr val="tx1"/>
              </a:solidFill>
              <a:sym typeface="Wingdings" panose="05000000000000000000" pitchFamily="2" charset="2"/>
            </a:rPr>
            <a:t>GP</a:t>
          </a:r>
          <a:r>
            <a:rPr lang="en-US" sz="3200" b="1" kern="1200" dirty="0" err="1">
              <a:solidFill>
                <a:schemeClr val="tx1"/>
              </a:solidFill>
            </a:rPr>
            <a:t>e</a:t>
          </a:r>
          <a:endParaRPr lang="en-US" sz="3600" b="1" kern="1200" dirty="0">
            <a:solidFill>
              <a:schemeClr val="tx1"/>
            </a:solidFill>
          </a:endParaRPr>
        </a:p>
      </dsp:txBody>
      <dsp:txXfrm>
        <a:off x="7632864" y="2906807"/>
        <a:ext cx="3674139" cy="1073262"/>
      </dsp:txXfrm>
    </dsp:sp>
    <dsp:sp modelId="{AEF37A70-BD2A-4C0E-9C20-77676D3F01DA}">
      <dsp:nvSpPr>
        <dsp:cNvPr id="0" name=""/>
        <dsp:cNvSpPr/>
      </dsp:nvSpPr>
      <dsp:spPr>
        <a:xfrm>
          <a:off x="8941512" y="3696766"/>
          <a:ext cx="1585267" cy="30399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12065" rIns="48260" bIns="12065" numCol="1" spcCol="1270" anchor="ctr" anchorCtr="0">
          <a:noAutofit/>
        </a:bodyPr>
        <a:lstStyle/>
        <a:p>
          <a:pPr marL="0" lvl="0" indent="0" algn="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>
            <a:solidFill>
              <a:schemeClr val="tx1"/>
            </a:solidFill>
          </a:endParaRPr>
        </a:p>
      </dsp:txBody>
      <dsp:txXfrm>
        <a:off x="8941512" y="3696766"/>
        <a:ext cx="1585267" cy="3039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8DA368-2B40-4E1D-B873-6CC64BE95ED6}">
      <dsp:nvSpPr>
        <dsp:cNvPr id="0" name=""/>
        <dsp:cNvSpPr/>
      </dsp:nvSpPr>
      <dsp:spPr>
        <a:xfrm>
          <a:off x="55" y="74999"/>
          <a:ext cx="5341069" cy="1872000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1905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solidFill>
                <a:schemeClr val="tx1"/>
              </a:solidFill>
            </a:rPr>
            <a:t>Activity in the </a:t>
          </a:r>
          <a:r>
            <a:rPr lang="en-US" sz="3600" i="1" u="sng" kern="1200">
              <a:solidFill>
                <a:schemeClr val="tx1"/>
              </a:solidFill>
            </a:rPr>
            <a:t>direct</a:t>
          </a:r>
          <a:r>
            <a:rPr lang="en-US" sz="3600" i="0" u="none" kern="1200">
              <a:solidFill>
                <a:schemeClr val="tx1"/>
              </a:solidFill>
            </a:rPr>
            <a:t> </a:t>
          </a:r>
          <a:r>
            <a:rPr lang="en-US" sz="3600" kern="1200">
              <a:solidFill>
                <a:schemeClr val="tx1"/>
              </a:solidFill>
            </a:rPr>
            <a:t>pathway</a:t>
          </a:r>
          <a:endParaRPr lang="en-US" sz="3600" kern="1200" dirty="0">
            <a:solidFill>
              <a:schemeClr val="tx1"/>
            </a:solidFill>
          </a:endParaRPr>
        </a:p>
      </dsp:txBody>
      <dsp:txXfrm>
        <a:off x="55" y="74999"/>
        <a:ext cx="5341069" cy="1872000"/>
      </dsp:txXfrm>
    </dsp:sp>
    <dsp:sp modelId="{7CB9669F-4BBA-4081-8B44-BDD849D0843F}">
      <dsp:nvSpPr>
        <dsp:cNvPr id="0" name=""/>
        <dsp:cNvSpPr/>
      </dsp:nvSpPr>
      <dsp:spPr>
        <a:xfrm>
          <a:off x="55" y="1947000"/>
          <a:ext cx="5341069" cy="2854800"/>
        </a:xfrm>
        <a:prstGeom prst="rect">
          <a:avLst/>
        </a:prstGeom>
        <a:solidFill>
          <a:schemeClr val="accent1">
            <a:lumMod val="20000"/>
            <a:lumOff val="80000"/>
            <a:alpha val="60000"/>
          </a:schemeClr>
        </a:solidFill>
        <a:ln w="1905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i="1" u="sng" kern="1200">
              <a:solidFill>
                <a:schemeClr val="tx1"/>
              </a:solidFill>
            </a:rPr>
            <a:t>disinhibits</a:t>
          </a:r>
          <a:r>
            <a:rPr lang="en-US" sz="3200" kern="1200">
              <a:solidFill>
                <a:schemeClr val="tx1"/>
              </a:solidFill>
            </a:rPr>
            <a:t> the thalamus.</a:t>
          </a:r>
          <a:endParaRPr lang="en-US" sz="3200" kern="1200" dirty="0">
            <a:solidFill>
              <a:schemeClr val="tx1"/>
            </a:solidFill>
          </a:endParaRP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i="1" u="sng" kern="1200">
              <a:solidFill>
                <a:schemeClr val="tx1"/>
              </a:solidFill>
            </a:rPr>
            <a:t>increases</a:t>
          </a:r>
          <a:r>
            <a:rPr lang="en-US" sz="3200" kern="1200">
              <a:solidFill>
                <a:schemeClr val="tx1"/>
              </a:solidFill>
            </a:rPr>
            <a:t> cortical output.</a:t>
          </a:r>
          <a:endParaRPr lang="en-US" sz="3200" kern="1200" dirty="0">
            <a:solidFill>
              <a:schemeClr val="tx1"/>
            </a:solidFill>
          </a:endParaRP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i="1" u="sng" kern="1200">
              <a:solidFill>
                <a:schemeClr val="tx1"/>
              </a:solidFill>
            </a:rPr>
            <a:t>selects</a:t>
          </a:r>
          <a:r>
            <a:rPr lang="en-US" sz="3200" kern="1200">
              <a:solidFill>
                <a:schemeClr val="tx1"/>
              </a:solidFill>
            </a:rPr>
            <a:t> intended behaviors.</a:t>
          </a:r>
          <a:endParaRPr lang="en-US" sz="3200" kern="1200" dirty="0">
            <a:solidFill>
              <a:schemeClr val="tx1"/>
            </a:solidFill>
          </a:endParaRPr>
        </a:p>
      </dsp:txBody>
      <dsp:txXfrm>
        <a:off x="55" y="1947000"/>
        <a:ext cx="5341069" cy="2854800"/>
      </dsp:txXfrm>
    </dsp:sp>
    <dsp:sp modelId="{47F8A703-50F3-4BD2-8008-F95F1ED9550D}">
      <dsp:nvSpPr>
        <dsp:cNvPr id="0" name=""/>
        <dsp:cNvSpPr/>
      </dsp:nvSpPr>
      <dsp:spPr>
        <a:xfrm>
          <a:off x="6088874" y="74999"/>
          <a:ext cx="5341069" cy="1872000"/>
        </a:xfrm>
        <a:prstGeom prst="rect">
          <a:avLst/>
        </a:prstGeom>
        <a:solidFill>
          <a:schemeClr val="accent3">
            <a:lumMod val="40000"/>
            <a:lumOff val="60000"/>
          </a:schemeClr>
        </a:solidFill>
        <a:ln w="19050" cap="flat" cmpd="sng" algn="ctr">
          <a:solidFill>
            <a:schemeClr val="accent3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chemeClr val="tx1"/>
              </a:solidFill>
            </a:rPr>
            <a:t>Activity in the </a:t>
          </a:r>
          <a:r>
            <a:rPr lang="en-US" sz="3600" i="1" u="sng" kern="1200" dirty="0">
              <a:solidFill>
                <a:schemeClr val="tx1"/>
              </a:solidFill>
            </a:rPr>
            <a:t>indirect</a:t>
          </a:r>
          <a:r>
            <a:rPr lang="en-US" sz="3600" i="0" u="none" kern="1200" dirty="0">
              <a:solidFill>
                <a:schemeClr val="tx1"/>
              </a:solidFill>
            </a:rPr>
            <a:t> </a:t>
          </a:r>
          <a:r>
            <a:rPr lang="en-US" sz="3600" kern="1200" dirty="0">
              <a:solidFill>
                <a:schemeClr val="tx1"/>
              </a:solidFill>
            </a:rPr>
            <a:t>pathway</a:t>
          </a:r>
        </a:p>
      </dsp:txBody>
      <dsp:txXfrm>
        <a:off x="6088874" y="74999"/>
        <a:ext cx="5341069" cy="1872000"/>
      </dsp:txXfrm>
    </dsp:sp>
    <dsp:sp modelId="{06BD50E8-92DB-494D-8215-59E08D87DA36}">
      <dsp:nvSpPr>
        <dsp:cNvPr id="0" name=""/>
        <dsp:cNvSpPr/>
      </dsp:nvSpPr>
      <dsp:spPr>
        <a:xfrm>
          <a:off x="6088874" y="1947000"/>
          <a:ext cx="5341069" cy="2854800"/>
        </a:xfrm>
        <a:prstGeom prst="rect">
          <a:avLst/>
        </a:prstGeom>
        <a:solidFill>
          <a:schemeClr val="accent3">
            <a:lumMod val="20000"/>
            <a:lumOff val="80000"/>
            <a:alpha val="60000"/>
          </a:schemeClr>
        </a:solidFill>
        <a:ln w="19050" cap="flat" cmpd="sng" algn="ctr">
          <a:solidFill>
            <a:schemeClr val="accent3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Pct val="100000"/>
            <a:buFont typeface="Arial" panose="020B0604020202020204" pitchFamily="34" charset="0"/>
            <a:buChar char="•"/>
          </a:pPr>
          <a:r>
            <a:rPr kumimoji="0" lang="en-US" sz="3200" b="0" i="1" u="sng" strike="noStrike" kern="1200" cap="none" spc="0" normalizeH="0" baseline="0" noProof="0">
              <a:ln/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rPr>
            <a:t>inhibits</a:t>
          </a:r>
          <a:r>
            <a:rPr kumimoji="0" lang="en-US" sz="3200" b="0" i="0" u="none" strike="noStrike" kern="1200" cap="none" spc="0" normalizeH="0" noProof="0">
              <a:ln/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rPr>
            <a:t> the thalamus.</a:t>
          </a:r>
          <a:endParaRPr lang="en-US" sz="3200" kern="1200" dirty="0">
            <a:solidFill>
              <a:schemeClr val="tx1"/>
            </a:solidFill>
          </a:endParaRP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i="1" u="sng" kern="1200">
              <a:solidFill>
                <a:schemeClr val="tx1"/>
              </a:solidFill>
              <a:latin typeface="+mn-lt"/>
            </a:rPr>
            <a:t>de</a:t>
          </a:r>
          <a:r>
            <a:rPr kumimoji="0" lang="en-US" sz="3200" b="0" i="1" u="sng" strike="noStrike" kern="1200" cap="none" spc="0" normalizeH="0" baseline="0" noProof="0">
              <a:ln/>
              <a:solidFill>
                <a:schemeClr val="tx1"/>
              </a:solidFill>
              <a:effectLst/>
              <a:uLnTx/>
              <a:uFillTx/>
              <a:latin typeface="+mn-lt"/>
            </a:rPr>
            <a:t>creases</a:t>
          </a:r>
          <a:r>
            <a:rPr kumimoji="0" lang="en-US" sz="3200" b="0" i="0" u="none" strike="noStrike" kern="1200" cap="none" spc="0" normalizeH="0" baseline="0" noProof="0">
              <a:ln/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rPr>
            <a:t> cortical output.</a:t>
          </a:r>
          <a:endParaRPr kumimoji="0" lang="en-US" sz="3200" b="0" i="0" u="none" strike="noStrike" kern="1200" cap="none" spc="0" normalizeH="0" baseline="0" noProof="0" dirty="0">
            <a:ln/>
            <a:solidFill>
              <a:schemeClr val="tx1"/>
            </a:solidFill>
            <a:effectLst/>
            <a:uLnTx/>
            <a:uFillTx/>
            <a:latin typeface="+mn-lt"/>
            <a:ea typeface="+mn-ea"/>
            <a:cs typeface="+mn-cs"/>
          </a:endParaRP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i="1" u="sng" kern="1200">
              <a:solidFill>
                <a:schemeClr val="tx1"/>
              </a:solidFill>
              <a:latin typeface="+mn-lt"/>
            </a:rPr>
            <a:t>s</a:t>
          </a:r>
          <a:r>
            <a:rPr kumimoji="0" lang="en-US" sz="3200" b="0" i="1" u="sng" strike="noStrike" kern="1200" cap="none" spc="0" normalizeH="0" baseline="0" noProof="0">
              <a:ln/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rPr>
            <a:t>uppresses</a:t>
          </a:r>
          <a:r>
            <a:rPr kumimoji="0" lang="en-US" sz="3200" b="0" i="0" u="none" strike="noStrike" kern="1200" cap="none" spc="0" normalizeH="0" noProof="0">
              <a:ln/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rPr>
            <a:t> competing </a:t>
          </a:r>
          <a:r>
            <a:rPr kumimoji="0" lang="en-US" sz="3200" b="0" i="0" u="none" strike="noStrike" kern="1200" cap="none" spc="0" normalizeH="0" baseline="0" noProof="0">
              <a:ln/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rPr>
            <a:t>behaviors.</a:t>
          </a:r>
          <a:endParaRPr kumimoji="0" lang="en-US" sz="3200" b="0" i="0" u="none" strike="noStrike" kern="1200" cap="none" spc="0" normalizeH="0" baseline="0" noProof="0" dirty="0">
            <a:ln/>
            <a:solidFill>
              <a:schemeClr val="tx1"/>
            </a:solidFill>
            <a:effectLst/>
            <a:uLnTx/>
            <a:uFillTx/>
            <a:latin typeface="+mn-lt"/>
            <a:ea typeface="+mn-ea"/>
            <a:cs typeface="+mn-cs"/>
          </a:endParaRPr>
        </a:p>
      </dsp:txBody>
      <dsp:txXfrm>
        <a:off x="6088874" y="1947000"/>
        <a:ext cx="5341069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7:25:10.2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2390 4736 24575,'-2066'0'0,"2054"1"0,-1 0 0,0 0 0,1 1 0,0 1 0,-1 0 0,1 1 0,0 0 0,1 1 0,-1 0 0,1 1 0,0 0 0,-18 14 0,21-15 0,1 1 0,1 0 0,-1 0 0,1 1 0,0 0 0,1 0 0,-1 1 0,2-1 0,-1 1 0,1 0 0,0 0 0,0 1 0,1-1 0,0 1 0,1 0 0,0-1 0,0 1 0,0 13 0,4 116 0,-3 50 0,-30-2 0,19-137 0,3-1 0,3 2 0,-2 51 0,9 820 0,1-884 0,11 57 0,-5-43 0,1-4 0,2 0 0,20 53 0,-3-12 0,-19-60 0,1 1 0,1-2 0,1 0 0,2 0 0,0-1 0,2-1 0,1-1 0,27 31 0,-31-42 0,1-1 0,0-1 0,1 0 0,1-1 0,-1 0 0,1-2 0,1 0 0,0 0 0,19 5 0,-1-3 0,1 0 0,-1-2 0,59 5 0,-24-7 0,0-3 0,133-12 0,-105-9 0,-58 10 0,1 1 0,65-2 0,1946 11 0,-2040-1 0,0 1 0,0 0 0,-1 0 0,1 1 0,-1 1 0,1 0 0,-1 0 0,0 1 0,-1 1 0,1 0 0,10 8 0,17 14 0,49 45 0,-84-70 0,4 4 0,0 1 0,-1-1 0,0 1 0,-1 1 0,0-1 0,0 1 0,-1 0 0,0 0 0,-1 0 0,1 0 0,-2 1 0,4 19 0,-2 4 0,-1 0 0,-1 49 0,-1-63 0,0-1 0,8 33 0,1 33 0,-12 114 0,4 135 0,20-168 0,-13-106 0,-4-23 0,3 58 0,-9 369 0,1-457 0,0 0 0,0 0 0,1 1 0,0-1 0,0 0 0,0-1 0,1 1 0,0 0 0,0 0 0,1-1 0,-1 1 0,1-1 0,0 1 0,1-1 0,-1 0 0,1-1 0,0 1 0,0-1 0,7 6 0,-4-5 0,0 0 0,1-1 0,-1 0 0,1-1 0,0 1 0,0-1 0,0-1 0,1 0 0,-1 0 0,1-1 0,-1 1 0,1-2 0,10 0 0,53 1 0,247-5 0,-186-5 0,138-4 0,122 16 0,314-5 0,-468-20 0,25 0 0,420 23 0,-469 8 0,190 4 0,-164-16 0,391 6 0,-435 6 0,191 3 0,-289-10 0,91-4 0,-171-1 0,0 0 0,29-8 0,-42 10 0,0-1 0,0 0 0,0-1 0,-1 0 0,1 1 0,-1-2 0,1 1 0,-1-1 0,0 1 0,0-1 0,6-8 0,-5 4 0,-1-1 0,-1 1 0,0-1 0,0 0 0,0 0 0,-1 0 0,-1-1 0,0 1 0,0-1 0,1-14 0,-1-15 0,-4-51 0,0 31 0,4-216 0,-5-218 0,-30 221 0,0 13 0,-14-110 0,21 207 0,-11-320 0,38-4 0,1 194 0,3 185 0,4 0 0,5 1 0,32-122 0,36-172 0,-12 168 0,-26 97 0,24-115 0,-61 216 0,-3 0 0,-1-1 0,-1 1 0,-6-63 0,2 6 0,2 82 0,-1-7 0,1-1 0,1 0 0,5-25 0,-4 36 0,0 0 0,0-1 0,1 1 0,0 0 0,0 0 0,0 1 0,1-1 0,0 1 0,0 0 0,0 0 0,1 0 0,5-5 0,18-13 0,2 0 0,40-22 0,-50 34 0,1-2 0,-2 0 0,0-1 0,-1-1 0,0 0 0,-1-1 0,-1-2 0,19-24 0,-8-1 0,-1-2 0,-3 0 0,19-52 0,42-160 0,-26 109 0,-56 143 0,0 0 0,0 1 0,1-1 0,0 1 0,-1 0 0,1 0 0,1 0 0,-1 0 0,0 0 0,1 1 0,0 0 0,0 0 0,0 0 0,0 0 0,0 0 0,1 1 0,-1 0 0,1 0 0,7-3 0,12-2 0,-1 0 0,44-5 0,-46 9 0,175-37 0,-91 17 0,120-11 0,-184 29 0,42-11 0,32-5 0,-45 10 0,0-3 0,132-45 0,-121 32 0,132-25 0,-109 34 0,137-16 0,-162 29 0,125 10 0,-182-2 0,0 1 0,1 2 0,28 10 0,42 10 0,-46-21 0,-1-1 0,1-3 0,66-7 0,-114 6 0,0 0 0,1 0 0,-1 0 0,0 0 0,0 0 0,0-1 0,1 1 0,-1 0 0,0 0 0,1-1 0,-1 1 0,0-1 0,1 1 0,-1 0 0,0-1 0,1 1 0,-1-1 0,1 1 0,-1-1 0,1 0 0,-1 1 0,1-1 0,-1 0 0,1 1 0,-1-1 0,1 0 0,-1 0 0,-6-31 0,9-37 0,-2 68 0,13-107 0,32-121 0,-14 82 0,-10 18 0,5-155 0,-19-135 0,-6 370 0,0 12 0,-1 1 0,-2 0 0,-10-54 0,-11-73 0,-20-46 0,37 176 0,1 3 0,-2 0 0,0 0 0,-2 1 0,-1 0 0,-1 1 0,-19-33 0,-90-156 0,113 204 0,-1 1 0,0 0 0,0 0 0,-1 1 0,-1 0 0,0 0 0,0 1 0,-1 1 0,0 0 0,-1 0 0,0 1 0,0 0 0,-1 1 0,-15-6 0,5 2 0,-2 1 0,1 1 0,-2 1 0,1 1 0,-1 1 0,-33-2 0,-390 4 0,233 7 0,-60-5 0,-299 4 0,377 9 0,-119 1 0,-1768-13 0,2027 4 0,-86 15 0,-31 2 0,-39-19 0,-21 0 0,145 10 0,58-6 0,-43 2 0,-123 14 0,-817-20 0,493-3 0,494 5 0,1 1 0,-1 1 0,1 1 0,0 2 0,-47 19 0,59-21 0,4-1 0,1 0 0,0 1 0,0 0 0,0 1 0,0 0 0,1 0 0,1 1 0,-1 0 0,1 1 0,0 0 0,1 0 0,0 1 0,-11 20 0,-3 11 0,3 0 0,-18 57 0,19-50 0,5-17 0,-4 6 0,2 1 0,2 1 0,2 0 0,1 0 0,2 1 0,-3 55 0,9-17 0,5 139 0,1-185 0,2 0 0,1 0 0,2-1 0,1 0 0,30 56 0,-11-19 0,37 57 0,-48-93 0,-1 0 0,-2 1 0,17 48 0,-22-48 0,-5-15 0,0 1 0,-1-1 0,-1 1 0,3 32 0,-4-14 0,15 70 0,-10-74 0,-2 0 0,2 60 0,-9 394 0,1-480 0,0-1 0,1 0 0,0 1 0,0-1 0,0 0 0,1 0 0,-1 0 0,2 0 0,-1 0 0,1 0 0,-1-1 0,2 1 0,-1-1 0,1 0 0,-1 0 0,1 0 0,1 0 0,-1-1 0,1 1 0,0-1 0,0 0 0,0-1 0,0 1 0,1-1 0,-1 0 0,1 0 0,0-1 0,0 0 0,0 0 0,0 0 0,0-1 0,0 1 0,0-2 0,1 1 0,5-1 0,353 50 0,-177-20 0,-85-21 0,195-8 0,-139-4 0,1192 3 0,-1314 2 0,43 7 0,28 2 0,-100-10 0,0 0 0,0 1 0,1 0 0,-1 0 0,-1 1 0,1 0 0,0 0 0,-1 1 0,1 0 0,-1 0 0,0 1 0,-1 0 0,1 0 0,-1 0 0,0 1 0,0 0 0,-1 0 0,0 1 0,9 13 0,5 10 0,-2 0 0,-2 1 0,18 46 0,-28-61 0,-1-1 0,5 32 0,-7-30 0,2-1 0,8 30 0,95 178 0,-67-148 0,81 202 0,-18-39 0,-97-221 0,0 0 0,-1 1 0,-1-1 0,-1 1 0,0-1 0,0 33 0,1 9 0,6 75 0,-10 158 0,-2-121 0,4 48 0,-5 239 0,-1-419 0,-1 0 0,-20 73 0,-2 3 0,23-90 0,3-15 0,0-1 0,-1 1 0,-1-1 0,0 1 0,-4 10 0,-20-43 0,-2 6 0,-1 1 0,-1 2 0,1 1 0,-46-11 0,22 6 0,-227-62 0,-3 12 0,-506-53 0,757 116 0,-1 2 0,0 0 0,1 3 0,-1 1 0,0 1 0,-35 8 0,3-1 0,50-9 0,0 1 0,0 0 0,-25 8 0,37-8 0,0-1 0,0 1 0,0 0 0,0 0 0,0 0 0,1 1 0,-1-1 0,1 1 0,-1 0 0,1 0 0,0 0 0,0 0 0,1 1 0,-1-1 0,1 1 0,-1 0 0,1-1 0,-1 5 0,-8 22 0,2 0 0,1 0 0,1 1 0,-3 47 0,0 127 0,9-186 0,2 400 0,0-399 0,1-1 0,1 1 0,1-1 0,7 21 0,-5-17 0,0 0 0,3 31 0,-5 383 0,-7-227 0,2-10 0,3 214 0,21-102 0,-13-219 0,-5-51 0,0 49 0,-5-78 0,1-1 0,-1 0 0,-1 0 0,0-1 0,0 1 0,-1 0 0,-5 15 0,5-24 0,0 1 0,0 0 0,0-1 0,0 1 0,-1-1 0,1 0 0,-1 0 0,0 0 0,0 0 0,0 0 0,-1-1 0,1 1 0,0-1 0,-1 0 0,0 0 0,1 0 0,-1-1 0,0 1 0,0-1 0,0 0 0,0 0 0,-5 0 0,-34 5 0,0-2 0,-1-2 0,-71-5 0,11-1 0,-285 7 0,-347-6 0,435-30 0,121 9 0,-195-30 0,371 54 0,-1-1 0,1 0 0,0-1 0,-1 1 0,1-1 0,0 0 0,0 0 0,0 0 0,0 0 0,1-1 0,-1 0 0,1 1 0,-1-1 0,1-1 0,0 1 0,0 0 0,0-1 0,1 1 0,-1-1 0,1 0 0,0 0 0,0 0 0,0 0 0,1 0 0,-3-7 0,-1-11 0,1 0 0,0-1 0,2 1 0,0-24 0,-2-15 0,-2 5 0,2-1 0,2 0 0,3 0 0,3 0 0,16-88 0,1 57 0,4 1 0,53-124 0,-4 42 0,-71 164 0,1-1 0,-1 1 0,1-1 0,0 1 0,1 0 0,-1 1 0,1-1 0,0 1 0,0 0 0,0 0 0,1 0 0,-1 1 0,1 0 0,0 0 0,0 0 0,0 1 0,0 0 0,0 0 0,1 0 0,6 0 0,16-2 0,1 1 0,-1 1 0,35 2 0,-31 1 0,23-2 0,-1-3 0,0-1 0,-1-4 0,0-1 0,97-33 0,-129 35 0,-1-2 0,-1 0 0,0-1 0,0-1 0,-1 0 0,0-2 0,-1 0 0,22-24 0,-33 28 0,-1 1 0,0-1 0,0 0 0,-1-1 0,-1 1 0,0-1 0,0 0 0,-1 0 0,0 0 0,-1 0 0,0 0 0,-1-1 0,0 1 0,-2-13 0,0-14 0,-1-1 0,-16-70 0,-10-25 0,-41-235 0,65 338 0,-5-36 0,1-74 0,9 20 0,1-21 0,-30-275 0,16 333 0,6 33 0,-3 0 0,-18-61 0,22 100 0,-1 0 0,0 0 0,-1 1 0,0 0 0,-1 0 0,0 1 0,-1 0 0,0 0 0,0 1 0,-1 0 0,0 1 0,-1 0 0,-13-7 0,-9-5 0,-1 1 0,-1 2 0,-43-14 0,-29-3 0,-208-37 0,257 60 0,-18-3 0,0 2 0,-115-1 0,-1417 14-1365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663C5-59D1-45AC-AC35-991A022452D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EC05B-ACE8-4620-ADE1-C92D63531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21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66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96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85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40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95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500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2500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2500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2500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CFA2B8FB-C2E9-4D1A-8BD2-7AC8D355A815}" type="slidenum">
              <a:rPr lang="en-US" altLang="en-US" sz="1300">
                <a:latin typeface="Times" charset="0"/>
              </a:rPr>
              <a:pPr/>
              <a:t>7</a:t>
            </a:fld>
            <a:endParaRPr lang="en-US" altLang="en-US" sz="1300">
              <a:latin typeface="Times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2200" y="549275"/>
            <a:ext cx="4876800" cy="27432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500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2500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2500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2500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C9D97E9-4AD1-480F-99C1-9A9FC69C7D06}" type="slidenum">
              <a:rPr lang="en-US" altLang="en-US" sz="1300">
                <a:latin typeface="Times" charset="0"/>
              </a:rPr>
              <a:pPr/>
              <a:t>8</a:t>
            </a:fld>
            <a:endParaRPr lang="en-US" altLang="en-US" sz="1300">
              <a:latin typeface="Times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2200" y="549275"/>
            <a:ext cx="4876800" cy="27432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08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683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2043-251F-B094-E66E-78C003852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2ECAF-69A0-FDFA-BEAC-2F30EFAB5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8076A-481B-E4F6-1F80-8AE6D45DC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2B899-18D5-221A-90BB-D433DC05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A00F1-6993-EFBC-3610-EA1AF6498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90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2DE8A-4A4B-4B0C-B554-8D5B3956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E9E7-F370-4DA9-362E-9612FA9D1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42A3A-0EA0-2C59-6DE6-49EC2DD14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5BA93-FDCE-EAAE-7CDC-63EFC7FB8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3495F-1E2F-B135-667D-848A9507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48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0469F-7AD8-F999-6ADD-C8C78F988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4E26E-1130-F9E4-29B7-AB462A63B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1F71E-2A72-84D5-D2AB-641B2F4CA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32EC2-2B3F-CAC2-5D45-6FAEEFBD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2FCAE-5A7B-F3B8-4BD3-266D20931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18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A7A30-F879-D158-831E-8A009DBA4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D805C-8980-2094-024D-7FF6D610B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1A39E-E8F4-ADA9-DFF8-3F7B81A5A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5CFD-59B6-CACE-C998-FDCB49A59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F8826-8C17-9528-7E65-99B4F8439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903C6-E801-A63D-E280-044137347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D687-0564-D611-F856-B37FBF59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41694-9977-49AA-BF94-9FE0BB634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E218F-0966-279D-1154-F3B3BF92B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666B44-3C1A-972B-A930-2B6594821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BD72B3-EDE5-9D6E-F0A5-39E3F3607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A9E44E-9603-A57A-C4F1-548AACBB8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8D45C4-35B9-18A0-62D5-D8F50F7DE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4DB466-8203-A9DB-F786-5D4605196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08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79DBD-9274-E5A3-9717-95459D10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9DDE0-C42C-6D48-EA99-DC2576EE2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5367A-D13D-5699-55E3-67BAE57C5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A8496-78A0-51DA-5C6F-FF36E322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8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36F61E-511F-838F-1211-0DD4FA569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2945C-842C-19ED-64FF-DA4F6C2A1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27E83-4207-0858-40F4-2541C9A69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76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03B2A-4523-FE19-8CCE-C875C0BF8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40D74-EBDD-9D11-21A1-44E75B07F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ABA93-88D1-7808-9020-C3E57F12F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B6E7C-EA94-1853-D232-25FEAD70B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7AFEB-7050-3E90-20E6-E86B3C0A4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2582C-0469-D552-5D4C-BC012A9C9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86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253D9-84DA-81F4-8475-D7B72E02A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786B5A-331E-7CED-091E-AE0BF5173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96164-40AB-D69B-A39B-17442A66C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E1067-39E7-BC90-914F-2288F1B4E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38F90-1503-304F-AA32-24B43EE8C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CE7B5-6665-EC0F-C044-ABC5889A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10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5CC16-424E-9272-0C5C-4DE616E4B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09AD6C-088E-FE47-3EB5-2A704ED7D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D0EE8-C46C-F218-1487-998916C30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BCA69-BE6E-21D2-227E-872272BE0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EC3F6-8B68-54A8-9CB3-A5DE66DE4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1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FEF8C-01A6-2878-6C1C-5E793621D6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969D01-1A75-726E-BAD6-736049D0D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DD67B-A848-EC87-EF28-FF5751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8D383-2714-8B78-92ED-12919F28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00D86-CA06-2EEA-4AF6-A9CAD27CC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75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BBDB7"/>
            </a:gs>
            <a:gs pos="74000">
              <a:srgbClr val="F99787"/>
            </a:gs>
            <a:gs pos="83000">
              <a:srgbClr val="F67A7A"/>
            </a:gs>
            <a:gs pos="100000">
              <a:srgbClr val="F0695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FFD30D-E3BA-1B02-9753-44834E9E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DE1A3-A97F-47FC-ADBB-C133A443D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AFC58-E11F-FDD5-AC26-E2FC58B65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58B08-D63B-4AF0-BEC4-15CBC22939B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9BCAC-77DC-1180-4873-1E5F750D0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DB340-DD46-B64E-E040-8221E4EBE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40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Disinhibition</a:t>
            </a:r>
          </a:p>
        </p:txBody>
      </p:sp>
      <p:pic>
        <p:nvPicPr>
          <p:cNvPr id="347140" name="Picture 4" descr="neuro4e-fig-18-06-0"/>
          <p:cNvPicPr>
            <a:picLocks noChangeAspect="1" noChangeArrowheads="1"/>
          </p:cNvPicPr>
          <p:nvPr/>
        </p:nvPicPr>
        <p:blipFill>
          <a:blip r:embed="rId3" cstate="print"/>
          <a:srcRect l="18758" r="18719" b="49696"/>
          <a:stretch>
            <a:fillRect/>
          </a:stretch>
        </p:blipFill>
        <p:spPr bwMode="auto">
          <a:xfrm>
            <a:off x="5256971" y="228600"/>
            <a:ext cx="592455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 descr="neuro4e-fig-18-06-0">
            <a:extLst>
              <a:ext uri="{FF2B5EF4-FFF2-40B4-BE49-F238E27FC236}">
                <a16:creationId xmlns:a16="http://schemas.microsoft.com/office/drawing/2014/main" id="{9CCAB26C-EE65-4F1C-933A-2BBDBFAB9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8758" t="50304" r="18719" b="6885"/>
          <a:stretch>
            <a:fillRect/>
          </a:stretch>
        </p:blipFill>
        <p:spPr bwMode="auto">
          <a:xfrm>
            <a:off x="5256971" y="3810000"/>
            <a:ext cx="592455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EAA0FA2C-378F-44B4-8358-09F8FA0E5D25}"/>
              </a:ext>
            </a:extLst>
          </p:cNvPr>
          <p:cNvSpPr txBox="1">
            <a:spLocks noChangeArrowheads="1"/>
          </p:cNvSpPr>
          <p:nvPr/>
        </p:nvSpPr>
        <p:spPr>
          <a:xfrm>
            <a:off x="443557" y="1540328"/>
            <a:ext cx="4813414" cy="4891902"/>
          </a:xfrm>
          <a:prstGeom prst="rect">
            <a:avLst/>
          </a:prstGeom>
        </p:spPr>
        <p:txBody>
          <a:bodyPr vert="horz" anchor="ctr">
            <a:normAutofit fontScale="92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When cortical activity </a:t>
            </a:r>
            <a:r>
              <a:rPr lang="en-US" sz="2800" i="1" dirty="0">
                <a:solidFill>
                  <a:schemeClr val="tx1"/>
                </a:solidFill>
              </a:rPr>
              <a:t>increases </a:t>
            </a:r>
            <a:r>
              <a:rPr lang="en-US" sz="2800" dirty="0">
                <a:solidFill>
                  <a:schemeClr val="tx1"/>
                </a:solidFill>
              </a:rPr>
              <a:t>and activates the striatum, the GP is </a:t>
            </a:r>
            <a:r>
              <a:rPr lang="en-US" sz="2800" i="1" dirty="0">
                <a:solidFill>
                  <a:schemeClr val="tx1"/>
                </a:solidFill>
              </a:rPr>
              <a:t>inhibited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i="1" dirty="0">
                <a:solidFill>
                  <a:schemeClr val="tx1"/>
                </a:solidFill>
              </a:rPr>
              <a:t>removing inhibition </a:t>
            </a:r>
            <a:r>
              <a:rPr lang="en-US" sz="2800" dirty="0">
                <a:solidFill>
                  <a:schemeClr val="tx1"/>
                </a:solidFill>
              </a:rPr>
              <a:t>of the thalamus.</a:t>
            </a:r>
          </a:p>
          <a:p>
            <a:pPr marL="457200" indent="-4572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Disinhibition of the Thalamus allows the Thalamus to excite cortex and for voluntary movements to begin.</a:t>
            </a:r>
          </a:p>
          <a:p>
            <a:pPr marL="457200" indent="-4572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  <a:p>
            <a:pPr marL="457200" indent="-4572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Tonic = continuous</a:t>
            </a:r>
          </a:p>
          <a:p>
            <a:pPr marL="457200" indent="-4572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Transient = sporadic</a:t>
            </a:r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CAF82DDD-9932-7FA7-A889-ECF4D1AE7F3A}"/>
              </a:ext>
            </a:extLst>
          </p:cNvPr>
          <p:cNvSpPr/>
          <p:nvPr/>
        </p:nvSpPr>
        <p:spPr>
          <a:xfrm rot="5400000">
            <a:off x="8446922" y="4139031"/>
            <a:ext cx="441400" cy="5027797"/>
          </a:xfrm>
          <a:prstGeom prst="frame">
            <a:avLst>
              <a:gd name="adj1" fmla="val 144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E21C3E-BEC0-5E25-999E-E5F6A32387F9}"/>
              </a:ext>
            </a:extLst>
          </p:cNvPr>
          <p:cNvSpPr/>
          <p:nvPr/>
        </p:nvSpPr>
        <p:spPr>
          <a:xfrm>
            <a:off x="5256971" y="5072185"/>
            <a:ext cx="5924550" cy="13444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02" name="Rectangle 6"/>
          <p:cNvSpPr>
            <a:spLocks noGrp="1" noChangeArrowheads="1"/>
          </p:cNvSpPr>
          <p:nvPr>
            <p:ph type="title"/>
          </p:nvPr>
        </p:nvSpPr>
        <p:spPr>
          <a:xfrm>
            <a:off x="838200" y="16011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Projections from the BG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CBFDC2C0-E67C-4248-9F4F-C9FA64831DFB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844271085"/>
              </p:ext>
            </p:extLst>
          </p:nvPr>
        </p:nvGraphicFramePr>
        <p:xfrm>
          <a:off x="434975" y="1600200"/>
          <a:ext cx="114300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234" name="Picture 2" descr="neuro4e-fig-18-07-0"/>
          <p:cNvPicPr>
            <a:picLocks noChangeAspect="1" noChangeArrowheads="1"/>
          </p:cNvPicPr>
          <p:nvPr/>
        </p:nvPicPr>
        <p:blipFill>
          <a:blip r:embed="rId3" cstate="print"/>
          <a:srcRect l="25009" r="27652" b="6885"/>
          <a:stretch>
            <a:fillRect/>
          </a:stretch>
        </p:blipFill>
        <p:spPr bwMode="auto">
          <a:xfrm>
            <a:off x="7239000" y="0"/>
            <a:ext cx="464026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13C23773-E96C-4E25-BF71-553BF7D4295A}"/>
              </a:ext>
            </a:extLst>
          </p:cNvPr>
          <p:cNvSpPr/>
          <p:nvPr/>
        </p:nvSpPr>
        <p:spPr>
          <a:xfrm>
            <a:off x="1142999" y="1084851"/>
            <a:ext cx="5672015" cy="57731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+mn-lt"/>
              </a:rPr>
              <a:t>Cortex excites MSNs in the caudate.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The caudate becomes active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400" dirty="0">
                <a:sym typeface="Symbol" panose="05050102010706020507" pitchFamily="18" charset="2"/>
              </a:rPr>
              <a:t> </a:t>
            </a:r>
            <a:r>
              <a:rPr lang="en-US" sz="2400" dirty="0"/>
              <a:t>GABAergic transmission to </a:t>
            </a:r>
            <a:r>
              <a:rPr lang="en-US" sz="2400" dirty="0" err="1"/>
              <a:t>SNr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 err="1"/>
              <a:t>SNr</a:t>
            </a:r>
            <a:r>
              <a:rPr lang="en-US" sz="2400" dirty="0"/>
              <a:t> normally tonically inhibits the SC.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400" dirty="0"/>
              <a:t>When inhibited, the result is </a:t>
            </a:r>
            <a:r>
              <a:rPr lang="en-US" sz="2400" i="1" dirty="0"/>
              <a:t>disinhibition</a:t>
            </a:r>
            <a:r>
              <a:rPr lang="en-US" sz="2400" dirty="0"/>
              <a:t> of the SC.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400" dirty="0"/>
              <a:t>Disinhibition of the SC allows saccadic eye movements.</a:t>
            </a:r>
          </a:p>
          <a:p>
            <a:pPr lvl="1"/>
            <a:endParaRPr lang="en-US" sz="24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dirty="0" err="1"/>
              <a:t>SNr</a:t>
            </a:r>
            <a:r>
              <a:rPr lang="en-US" sz="2400" dirty="0"/>
              <a:t> also has projections to the Thalamus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400" dirty="0"/>
              <a:t>When disinhibited, excites the frontal eye fields </a:t>
            </a:r>
          </a:p>
          <a:p>
            <a:endParaRPr lang="en-US" sz="2400" dirty="0"/>
          </a:p>
          <a:p>
            <a:endParaRPr lang="en-US" sz="24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13A2CE-2169-C8CD-4A64-1ADC52DEC7B5}"/>
              </a:ext>
            </a:extLst>
          </p:cNvPr>
          <p:cNvSpPr txBox="1"/>
          <p:nvPr/>
        </p:nvSpPr>
        <p:spPr>
          <a:xfrm>
            <a:off x="1143000" y="10358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 err="1"/>
              <a:t>SNr</a:t>
            </a:r>
            <a:r>
              <a:rPr lang="en-US" sz="3600" dirty="0"/>
              <a:t> Pathway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234A10-5A91-A1EB-4B9E-9DF255185F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258" t="13268" r="16056" b="43932"/>
          <a:stretch>
            <a:fillRect/>
          </a:stretch>
        </p:blipFill>
        <p:spPr>
          <a:xfrm>
            <a:off x="7565292" y="37944"/>
            <a:ext cx="2948811" cy="34992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931162-6F7D-A218-5B92-C7BC7DD48A80}"/>
              </a:ext>
            </a:extLst>
          </p:cNvPr>
          <p:cNvSpPr/>
          <p:nvPr/>
        </p:nvSpPr>
        <p:spPr>
          <a:xfrm>
            <a:off x="9352543" y="789620"/>
            <a:ext cx="1229426" cy="21101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Looking Left GIFs | Tenor">
            <a:extLst>
              <a:ext uri="{FF2B5EF4-FFF2-40B4-BE49-F238E27FC236}">
                <a16:creationId xmlns:a16="http://schemas.microsoft.com/office/drawing/2014/main" id="{5B0981F7-B70F-B401-8ED2-4C643A35E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0337" y="3537195"/>
            <a:ext cx="1657807" cy="1250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EC86BF-2E50-AF72-3FDF-319A8721118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7954" t="55841"/>
          <a:stretch>
            <a:fillRect/>
          </a:stretch>
        </p:blipFill>
        <p:spPr>
          <a:xfrm>
            <a:off x="7239000" y="4812036"/>
            <a:ext cx="3810001" cy="204596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69D90B2-9AE6-2083-D8AE-DA7B7C0CED7F}"/>
              </a:ext>
            </a:extLst>
          </p:cNvPr>
          <p:cNvSpPr/>
          <p:nvPr/>
        </p:nvSpPr>
        <p:spPr>
          <a:xfrm rot="16200000">
            <a:off x="8399950" y="2702536"/>
            <a:ext cx="995729" cy="26650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5554"/>
            <a:ext cx="10515600" cy="11729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GP Direct Pathway: </a:t>
            </a:r>
            <a:br>
              <a:rPr lang="en-US" dirty="0"/>
            </a:br>
            <a:r>
              <a:rPr lang="en-US" dirty="0"/>
              <a:t>Selection of Intended Movement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CF463-C153-B2B9-8B1F-18470993A10F}"/>
              </a:ext>
            </a:extLst>
          </p:cNvPr>
          <p:cNvSpPr txBox="1">
            <a:spLocks/>
          </p:cNvSpPr>
          <p:nvPr/>
        </p:nvSpPr>
        <p:spPr>
          <a:xfrm>
            <a:off x="838200" y="1172920"/>
            <a:ext cx="10515600" cy="200921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400" dirty="0"/>
              <a:t>Cortex excites the dorsal striatum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dorsal striatum inhibits the </a:t>
            </a:r>
            <a:r>
              <a:rPr lang="en-US" sz="2400" dirty="0" err="1"/>
              <a:t>GPi</a:t>
            </a:r>
            <a:endParaRPr lang="en-US" sz="2400" dirty="0"/>
          </a:p>
          <a:p>
            <a:pPr lvl="1"/>
            <a:r>
              <a:rPr lang="en-US" dirty="0"/>
              <a:t>The </a:t>
            </a:r>
            <a:r>
              <a:rPr lang="en-US" dirty="0" err="1"/>
              <a:t>GPi</a:t>
            </a:r>
            <a:r>
              <a:rPr lang="en-US" dirty="0"/>
              <a:t> normally tonically inhibits the Thalamus</a:t>
            </a:r>
          </a:p>
          <a:p>
            <a:pPr lvl="1"/>
            <a:r>
              <a:rPr lang="en-US" dirty="0"/>
              <a:t>When inhibited, the result is disinhibition of the Thalamus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Increased activity of the Thalamus excites motor cortex</a:t>
            </a:r>
          </a:p>
          <a:p>
            <a:pPr lvl="1"/>
            <a:endParaRPr lang="en-US" sz="3200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030C00-2943-77A1-0811-221ADA4B3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33843"/>
            <a:ext cx="6160395" cy="372415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A563576-5022-6ACF-CEB9-E89A8BDC6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8596" y="3133842"/>
            <a:ext cx="4556762" cy="37241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5" name="Rectangle 3"/>
          <p:cNvSpPr>
            <a:spLocks noGrp="1" noChangeArrowheads="1"/>
          </p:cNvSpPr>
          <p:nvPr>
            <p:ph type="title"/>
          </p:nvPr>
        </p:nvSpPr>
        <p:spPr>
          <a:xfrm>
            <a:off x="362438" y="1"/>
            <a:ext cx="3561862" cy="2637182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GP indirect pathway: Suppression of Movement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7CA5533E-C314-4ED3-A04A-8FA5FB49BF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39"/>
          <a:stretch>
            <a:fillRect/>
          </a:stretch>
        </p:blipFill>
        <p:spPr>
          <a:xfrm>
            <a:off x="4280452" y="657488"/>
            <a:ext cx="7911548" cy="6200511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ED5B58F-CEDF-CE80-B73A-C6331EF70C83}"/>
              </a:ext>
            </a:extLst>
          </p:cNvPr>
          <p:cNvSpPr txBox="1">
            <a:spLocks/>
          </p:cNvSpPr>
          <p:nvPr/>
        </p:nvSpPr>
        <p:spPr>
          <a:xfrm>
            <a:off x="21765" y="2637183"/>
            <a:ext cx="4258687" cy="427546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Excited dorsal striatum inhibits </a:t>
            </a:r>
            <a:r>
              <a:rPr lang="en-US" sz="2600" dirty="0" err="1"/>
              <a:t>GP</a:t>
            </a:r>
            <a:r>
              <a:rPr lang="en-US" sz="2600" b="1" dirty="0" err="1"/>
              <a:t>e</a:t>
            </a:r>
            <a:endParaRPr lang="en-US" sz="2600" b="1" dirty="0"/>
          </a:p>
          <a:p>
            <a:pPr lvl="1"/>
            <a:r>
              <a:rPr lang="en-US" sz="2600" dirty="0" err="1"/>
              <a:t>Gpe</a:t>
            </a:r>
            <a:r>
              <a:rPr lang="en-US" sz="2600" b="1" dirty="0"/>
              <a:t> </a:t>
            </a:r>
            <a:r>
              <a:rPr lang="en-US" sz="2600" dirty="0"/>
              <a:t>normally tonically inhibits the subthalamic nucleus and </a:t>
            </a:r>
            <a:r>
              <a:rPr lang="en-US" sz="2600" dirty="0" err="1"/>
              <a:t>GP</a:t>
            </a:r>
            <a:r>
              <a:rPr lang="en-US" sz="2600" b="1" dirty="0" err="1"/>
              <a:t>i</a:t>
            </a:r>
            <a:endParaRPr lang="en-US" sz="2600" b="1" dirty="0"/>
          </a:p>
          <a:p>
            <a:pPr lvl="1"/>
            <a:r>
              <a:rPr lang="en-US" sz="2600" dirty="0"/>
              <a:t>When inhibited, the result is </a:t>
            </a:r>
            <a:r>
              <a:rPr lang="en-US" sz="2600" i="1" dirty="0"/>
              <a:t>disinhibition</a:t>
            </a:r>
            <a:r>
              <a:rPr lang="en-US" sz="2600" dirty="0"/>
              <a:t> of the subthalamic nucleus and </a:t>
            </a:r>
            <a:r>
              <a:rPr lang="en-US" sz="2600" dirty="0" err="1"/>
              <a:t>GPi</a:t>
            </a:r>
            <a:endParaRPr lang="en-US" sz="2600" dirty="0"/>
          </a:p>
          <a:p>
            <a:r>
              <a:rPr lang="en-US" sz="2600" dirty="0"/>
              <a:t>The subthalamic nucleus excites </a:t>
            </a:r>
            <a:r>
              <a:rPr lang="en-US" sz="2600" dirty="0" err="1"/>
              <a:t>GPi</a:t>
            </a:r>
            <a:endParaRPr lang="en-US" sz="2600" dirty="0"/>
          </a:p>
          <a:p>
            <a:r>
              <a:rPr lang="en-US" sz="2600" dirty="0"/>
              <a:t>Excited </a:t>
            </a:r>
            <a:r>
              <a:rPr lang="en-US" sz="2600" dirty="0" err="1"/>
              <a:t>GPi</a:t>
            </a:r>
            <a:r>
              <a:rPr lang="en-US" sz="2600" dirty="0"/>
              <a:t> </a:t>
            </a:r>
            <a:r>
              <a:rPr lang="en-US" sz="2600" u="sng" dirty="0"/>
              <a:t>inhibits</a:t>
            </a:r>
            <a:r>
              <a:rPr lang="en-US" sz="2600" dirty="0"/>
              <a:t> the thalamus</a:t>
            </a:r>
          </a:p>
          <a:p>
            <a:r>
              <a:rPr lang="en-US" sz="2600" dirty="0"/>
              <a:t>Decreased activity of thalamus = decreased activity of cortex</a:t>
            </a:r>
          </a:p>
          <a:p>
            <a:endParaRPr lang="en-US" sz="3200" dirty="0"/>
          </a:p>
          <a:p>
            <a:pPr lvl="1"/>
            <a:endParaRPr lang="en-US" dirty="0"/>
          </a:p>
          <a:p>
            <a:pPr lvl="1"/>
            <a:endParaRPr lang="en-US" sz="3200" dirty="0"/>
          </a:p>
          <a:p>
            <a:endParaRPr lang="en-US" dirty="0"/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BBAAFDFB-CD3D-C2F2-340A-0B634519D96F}"/>
              </a:ext>
            </a:extLst>
          </p:cNvPr>
          <p:cNvSpPr/>
          <p:nvPr/>
        </p:nvSpPr>
        <p:spPr>
          <a:xfrm rot="5400000">
            <a:off x="5757722" y="3242757"/>
            <a:ext cx="2971800" cy="4258688"/>
          </a:xfrm>
          <a:prstGeom prst="frame">
            <a:avLst>
              <a:gd name="adj1" fmla="val 144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6F73468-A0A0-28D8-5151-3051F175C7FC}"/>
                  </a:ext>
                </a:extLst>
              </p14:cNvPr>
              <p14:cNvContentPartPr/>
              <p14:nvPr/>
            </p14:nvContentPartPr>
            <p14:xfrm>
              <a:off x="7439686" y="2249455"/>
              <a:ext cx="4737600" cy="3449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6F73468-A0A0-28D8-5151-3051F175C7F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03686" y="2213815"/>
                <a:ext cx="4809240" cy="35208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B34E507F-0F68-1333-C1F6-C3BD64584047}"/>
              </a:ext>
            </a:extLst>
          </p:cNvPr>
          <p:cNvSpPr/>
          <p:nvPr/>
        </p:nvSpPr>
        <p:spPr>
          <a:xfrm>
            <a:off x="4281347" y="1992923"/>
            <a:ext cx="954961" cy="1651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8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4B321-DB1A-4585-9DF0-34EC4649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The direct and indirect pathways operate in complementary ways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B877ADC-EC70-4CB3-9FB9-B7BDED164DB4}"/>
              </a:ext>
            </a:extLst>
          </p:cNvPr>
          <p:cNvGraphicFramePr/>
          <p:nvPr/>
        </p:nvGraphicFramePr>
        <p:xfrm>
          <a:off x="381000" y="1676400"/>
          <a:ext cx="114300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1802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-44948"/>
            <a:ext cx="10515600" cy="2085783"/>
          </a:xfrm>
        </p:spPr>
        <p:txBody>
          <a:bodyPr>
            <a:normAutofit/>
          </a:bodyPr>
          <a:lstStyle/>
          <a:p>
            <a:r>
              <a:rPr lang="en-US" dirty="0"/>
              <a:t>Dopamine </a:t>
            </a:r>
            <a:r>
              <a:rPr lang="en-US" b="1" dirty="0"/>
              <a:t>enhances</a:t>
            </a:r>
            <a:r>
              <a:rPr lang="en-US" dirty="0"/>
              <a:t> activity in the </a:t>
            </a:r>
            <a:r>
              <a:rPr lang="en-US" b="1" dirty="0"/>
              <a:t>direct</a:t>
            </a:r>
            <a:r>
              <a:rPr lang="en-US" dirty="0"/>
              <a:t> pathway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C62499FF-1133-452F-BB0B-FFF57919F8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1" y="617834"/>
            <a:ext cx="10162164" cy="63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749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878" y="3201355"/>
            <a:ext cx="3110948" cy="3729797"/>
          </a:xfrm>
        </p:spPr>
        <p:txBody>
          <a:bodyPr>
            <a:noAutofit/>
          </a:bodyPr>
          <a:lstStyle/>
          <a:p>
            <a:r>
              <a:rPr lang="en-US" dirty="0"/>
              <a:t>Activity in the </a:t>
            </a:r>
            <a:r>
              <a:rPr lang="en-US" b="1" dirty="0"/>
              <a:t>indirect </a:t>
            </a:r>
            <a:r>
              <a:rPr lang="en-US" dirty="0"/>
              <a:t>pathway is </a:t>
            </a:r>
            <a:r>
              <a:rPr lang="en-US" b="1" dirty="0"/>
              <a:t>suppressed </a:t>
            </a:r>
            <a:r>
              <a:rPr lang="en-US" dirty="0"/>
              <a:t>by dopamine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1942A42B-415E-41CF-BFA1-49A4691266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977" y="621792"/>
            <a:ext cx="9684134" cy="6309360"/>
          </a:xfrm>
          <a:prstGeom prst="rect">
            <a:avLst/>
          </a:prstGeom>
        </p:spPr>
      </p:pic>
      <p:sp>
        <p:nvSpPr>
          <p:cNvPr id="3" name="Frame 2">
            <a:extLst>
              <a:ext uri="{FF2B5EF4-FFF2-40B4-BE49-F238E27FC236}">
                <a16:creationId xmlns:a16="http://schemas.microsoft.com/office/drawing/2014/main" id="{C61DA397-1DD2-D2B9-609A-03316E87AA7E}"/>
              </a:ext>
            </a:extLst>
          </p:cNvPr>
          <p:cNvSpPr/>
          <p:nvPr/>
        </p:nvSpPr>
        <p:spPr>
          <a:xfrm>
            <a:off x="3856383" y="2782957"/>
            <a:ext cx="1470991" cy="927652"/>
          </a:xfrm>
          <a:prstGeom prst="frame">
            <a:avLst>
              <a:gd name="adj1" fmla="val 535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901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Overall Dopamine promotes </a:t>
            </a:r>
            <a:r>
              <a:rPr lang="en-US" i="1" dirty="0"/>
              <a:t>disinhibition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693902251"/>
              </p:ext>
            </p:extLst>
          </p:nvPr>
        </p:nvGraphicFramePr>
        <p:xfrm>
          <a:off x="1524000" y="1676400"/>
          <a:ext cx="9144000" cy="4641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2992">
                  <a:extLst>
                    <a:ext uri="{9D8B030D-6E8A-4147-A177-3AD203B41FA5}">
                      <a16:colId xmlns:a16="http://schemas.microsoft.com/office/drawing/2014/main" val="258553800"/>
                    </a:ext>
                  </a:extLst>
                </a:gridCol>
                <a:gridCol w="2390504">
                  <a:extLst>
                    <a:ext uri="{9D8B030D-6E8A-4147-A177-3AD203B41FA5}">
                      <a16:colId xmlns:a16="http://schemas.microsoft.com/office/drawing/2014/main" val="4016043460"/>
                    </a:ext>
                  </a:extLst>
                </a:gridCol>
                <a:gridCol w="2390504">
                  <a:extLst>
                    <a:ext uri="{9D8B030D-6E8A-4147-A177-3AD203B41FA5}">
                      <a16:colId xmlns:a16="http://schemas.microsoft.com/office/drawing/2014/main" val="565687272"/>
                    </a:ext>
                  </a:extLst>
                </a:gridCol>
              </a:tblGrid>
              <a:tr h="1235676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D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No DA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+ 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448947"/>
                  </a:ext>
                </a:extLst>
              </a:tr>
              <a:tr h="1668162">
                <a:tc>
                  <a:txBody>
                    <a:bodyPr/>
                    <a:lstStyle/>
                    <a:p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Direct</a:t>
                      </a:r>
                    </a:p>
                    <a:p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(releasing</a:t>
                      </a:r>
                      <a:r>
                        <a:rPr lang="en-US" sz="3600" b="1" baseline="0" dirty="0">
                          <a:solidFill>
                            <a:schemeClr val="tx1"/>
                          </a:solidFill>
                        </a:rPr>
                        <a:t> behavior)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DB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518656"/>
                  </a:ext>
                </a:extLst>
              </a:tr>
              <a:tr h="1668162">
                <a:tc>
                  <a:txBody>
                    <a:bodyPr/>
                    <a:lstStyle/>
                    <a:p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Indirect</a:t>
                      </a:r>
                    </a:p>
                    <a:p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(suppressing</a:t>
                      </a:r>
                      <a:r>
                        <a:rPr lang="en-US" sz="3600" b="1" baseline="0" dirty="0">
                          <a:solidFill>
                            <a:schemeClr val="tx1"/>
                          </a:solidFill>
                        </a:rPr>
                        <a:t> behavior)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BBDB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283058"/>
                  </a:ext>
                </a:extLst>
              </a:tr>
            </a:tbl>
          </a:graphicData>
        </a:graphic>
      </p:graphicFrame>
      <p:sp>
        <p:nvSpPr>
          <p:cNvPr id="5" name="Up Arrow 4"/>
          <p:cNvSpPr/>
          <p:nvPr/>
        </p:nvSpPr>
        <p:spPr>
          <a:xfrm>
            <a:off x="6629400" y="3698567"/>
            <a:ext cx="822960" cy="640080"/>
          </a:xfrm>
          <a:prstGeom prst="up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Up Arrow 6"/>
          <p:cNvSpPr/>
          <p:nvPr/>
        </p:nvSpPr>
        <p:spPr>
          <a:xfrm rot="10800000">
            <a:off x="6629400" y="4795847"/>
            <a:ext cx="822960" cy="640080"/>
          </a:xfrm>
          <a:prstGeom prst="up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Up Arrow 7"/>
          <p:cNvSpPr/>
          <p:nvPr/>
        </p:nvSpPr>
        <p:spPr>
          <a:xfrm rot="10800000">
            <a:off x="9144000" y="4795847"/>
            <a:ext cx="820057" cy="182880"/>
          </a:xfrm>
          <a:prstGeom prst="up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Up Arrow 8"/>
          <p:cNvSpPr/>
          <p:nvPr/>
        </p:nvSpPr>
        <p:spPr>
          <a:xfrm>
            <a:off x="9144000" y="3056016"/>
            <a:ext cx="822960" cy="1280160"/>
          </a:xfrm>
          <a:prstGeom prst="up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294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WBR0611 - wikidoc">
            <a:extLst>
              <a:ext uri="{FF2B5EF4-FFF2-40B4-BE49-F238E27FC236}">
                <a16:creationId xmlns:a16="http://schemas.microsoft.com/office/drawing/2014/main" id="{EDA6AA64-5117-4610-B5BF-344EC3B33C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069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3698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1789</TotalTime>
  <Words>320</Words>
  <Application>Microsoft Office PowerPoint</Application>
  <PresentationFormat>Widescreen</PresentationFormat>
  <Paragraphs>64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Symbol</vt:lpstr>
      <vt:lpstr>Times</vt:lpstr>
      <vt:lpstr>Wingdings</vt:lpstr>
      <vt:lpstr>Office Theme</vt:lpstr>
      <vt:lpstr>Disinhibition</vt:lpstr>
      <vt:lpstr>Projections from the BG</vt:lpstr>
      <vt:lpstr>PowerPoint Presentation</vt:lpstr>
      <vt:lpstr>GP Direct Pathway:  Selection of Intended Movement</vt:lpstr>
      <vt:lpstr>GP indirect pathway: Suppression of Movement</vt:lpstr>
      <vt:lpstr>The direct and indirect pathways operate in complementary ways</vt:lpstr>
      <vt:lpstr>Dopamine enhances activity in the direct pathway </vt:lpstr>
      <vt:lpstr>Activity in the indirect pathway is suppressed by dopamine</vt:lpstr>
      <vt:lpstr>Overall Dopamine promotes disinhibition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Phillips, Nicole</dc:creator>
  <cp:lastModifiedBy>Phillips, Nicole</cp:lastModifiedBy>
  <cp:revision>224</cp:revision>
  <dcterms:created xsi:type="dcterms:W3CDTF">2025-10-21T15:15:45Z</dcterms:created>
  <dcterms:modified xsi:type="dcterms:W3CDTF">2025-11-04T17:32:41Z</dcterms:modified>
</cp:coreProperties>
</file>