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327" r:id="rId2"/>
    <p:sldId id="271" r:id="rId3"/>
    <p:sldId id="270" r:id="rId4"/>
    <p:sldId id="272" r:id="rId5"/>
    <p:sldId id="326" r:id="rId6"/>
    <p:sldId id="328" r:id="rId7"/>
    <p:sldId id="273" r:id="rId8"/>
    <p:sldId id="267" r:id="rId9"/>
    <p:sldId id="269" r:id="rId10"/>
    <p:sldId id="274" r:id="rId11"/>
    <p:sldId id="331" r:id="rId12"/>
    <p:sldId id="277" r:id="rId13"/>
    <p:sldId id="32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FFAB"/>
    <a:srgbClr val="29FF8A"/>
    <a:srgbClr val="00E6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65576" autoAdjust="0"/>
  </p:normalViewPr>
  <p:slideViewPr>
    <p:cSldViewPr snapToGrid="0">
      <p:cViewPr varScale="1">
        <p:scale>
          <a:sx n="41" d="100"/>
          <a:sy n="41" d="100"/>
        </p:scale>
        <p:origin x="1636" y="36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FF88D-9B42-4438-91E8-29989F1BA796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80816-5FFA-43E3-8011-C9222720B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32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833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08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96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24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72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https://www.youtube.com/watch?v=DJU0CyDCETI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55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6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96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36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02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80816-5FFA-43E3-8011-C9222720B5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74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33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7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31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2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80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95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80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93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643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90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35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1324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440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87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37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51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39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638C3-472F-4F90-8B44-0974D7407FBD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F266F-C2B1-4F75-9846-752BE9086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14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ollowmehere.com/2017/12/21/the-japanese-art-of-taking-power-naps-in-public-place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JU0CyDCETI?feature=oembed" TargetMode="Externa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4_GxvceQdE?feature=oembed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5MuIMqhT8DM?feature=oembe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44EE-A6B3-FB65-BCB5-B65689EF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96003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Brain activity Changes during REM/Dreaming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71FC50-A298-6FA9-2494-BB21FD77B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9" y="1574573"/>
            <a:ext cx="12191999" cy="411153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A5F653E-11F7-F2A1-598E-9588FAFD3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686104"/>
            <a:ext cx="9905999" cy="1171896"/>
          </a:xfrm>
        </p:spPr>
        <p:txBody>
          <a:bodyPr/>
          <a:lstStyle/>
          <a:p>
            <a:r>
              <a:rPr lang="en-US" altLang="ja-JP" dirty="0">
                <a:solidFill>
                  <a:schemeClr val="bg1"/>
                </a:solidFill>
                <a:effectLst/>
              </a:rPr>
              <a:t>May help explain unique qualities of dreams during REM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906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0F2D5-875E-4D34-A8CE-62888132D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352" y="17417"/>
            <a:ext cx="10754496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Sleep/wake Circuitry:</a:t>
            </a:r>
            <a:br>
              <a:rPr lang="en-US" dirty="0">
                <a:solidFill>
                  <a:schemeClr val="bg1"/>
                </a:solidFill>
                <a:effectLst/>
              </a:rPr>
            </a:br>
            <a:r>
              <a:rPr lang="en-US" dirty="0">
                <a:solidFill>
                  <a:schemeClr val="bg1"/>
                </a:solidFill>
                <a:effectLst/>
              </a:rPr>
              <a:t>Brainstem structures regulate arousal and REM sleep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408DC-9A5E-4E28-9265-D4A37D930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78570"/>
            <a:ext cx="5183187" cy="5379430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effectLst/>
              </a:rPr>
              <a:t>The </a:t>
            </a:r>
            <a:r>
              <a:rPr lang="en-US" sz="2200" b="1" dirty="0">
                <a:solidFill>
                  <a:schemeClr val="bg1"/>
                </a:solidFill>
                <a:effectLst/>
              </a:rPr>
              <a:t>reticular formation </a:t>
            </a:r>
            <a:r>
              <a:rPr lang="en-US" sz="2200" dirty="0">
                <a:solidFill>
                  <a:schemeClr val="bg1"/>
                </a:solidFill>
                <a:effectLst/>
              </a:rPr>
              <a:t>regulates arousal/wakefulness.</a:t>
            </a:r>
          </a:p>
          <a:p>
            <a:pPr lvl="1"/>
            <a:r>
              <a:rPr lang="en-US" sz="2200" dirty="0">
                <a:solidFill>
                  <a:schemeClr val="bg1"/>
                </a:solidFill>
                <a:effectLst/>
              </a:rPr>
              <a:t>Electrical stimulation excites cortex and wakes animals up from sleep.</a:t>
            </a:r>
          </a:p>
          <a:p>
            <a:pPr lvl="1"/>
            <a:r>
              <a:rPr lang="en-US" sz="2200" dirty="0">
                <a:solidFill>
                  <a:schemeClr val="bg1"/>
                </a:solidFill>
                <a:effectLst/>
              </a:rPr>
              <a:t>Damage results in persistent sleep.</a:t>
            </a:r>
          </a:p>
          <a:p>
            <a:r>
              <a:rPr lang="en-US" sz="2200" dirty="0">
                <a:solidFill>
                  <a:schemeClr val="bg1"/>
                </a:solidFill>
                <a:effectLst/>
              </a:rPr>
              <a:t>The </a:t>
            </a:r>
            <a:r>
              <a:rPr lang="en-US" sz="2200" b="1" dirty="0">
                <a:solidFill>
                  <a:schemeClr val="bg1"/>
                </a:solidFill>
                <a:effectLst/>
              </a:rPr>
              <a:t>Subcoeruleus</a:t>
            </a:r>
            <a:r>
              <a:rPr lang="en-US" sz="2200" dirty="0">
                <a:solidFill>
                  <a:schemeClr val="bg1"/>
                </a:solidFill>
                <a:effectLst/>
              </a:rPr>
              <a:t> regulates REM sleep.</a:t>
            </a:r>
          </a:p>
          <a:p>
            <a:pPr lvl="1"/>
            <a:r>
              <a:rPr lang="en-US" sz="2200" dirty="0">
                <a:solidFill>
                  <a:schemeClr val="bg1"/>
                </a:solidFill>
                <a:effectLst/>
              </a:rPr>
              <a:t>Stimulation induces and prolongs REM sleep.</a:t>
            </a:r>
          </a:p>
          <a:p>
            <a:pPr lvl="1"/>
            <a:r>
              <a:rPr lang="en-US" sz="2200" dirty="0">
                <a:solidFill>
                  <a:schemeClr val="bg1"/>
                </a:solidFill>
                <a:effectLst/>
              </a:rPr>
              <a:t>Damage abolishes REM sleep.</a:t>
            </a:r>
          </a:p>
          <a:p>
            <a:pPr lvl="1"/>
            <a:r>
              <a:rPr lang="en-US" sz="2200" dirty="0">
                <a:solidFill>
                  <a:schemeClr val="bg1"/>
                </a:solidFill>
                <a:effectLst/>
              </a:rPr>
              <a:t>Inhibits motor neurons of the body.</a:t>
            </a:r>
          </a:p>
          <a:p>
            <a:pPr lvl="1"/>
            <a:r>
              <a:rPr lang="en-US" sz="2200" dirty="0">
                <a:solidFill>
                  <a:schemeClr val="bg1"/>
                </a:solidFill>
                <a:effectLst/>
              </a:rPr>
              <a:t>Sends info to the superior colliculus for saccadic eye movements.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A920EF-0401-DC8F-DEF5-DB4A0AADE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727379"/>
            <a:ext cx="5867400" cy="3541209"/>
          </a:xfrm>
          <a:prstGeom prst="rect">
            <a:avLst/>
          </a:prstGeom>
        </p:spPr>
      </p:pic>
      <p:sp>
        <p:nvSpPr>
          <p:cNvPr id="5" name="Circle: Hollow 4">
            <a:extLst>
              <a:ext uri="{FF2B5EF4-FFF2-40B4-BE49-F238E27FC236}">
                <a16:creationId xmlns:a16="http://schemas.microsoft.com/office/drawing/2014/main" id="{F574D94E-6C74-400E-B754-5F65C49B788B}"/>
              </a:ext>
            </a:extLst>
          </p:cNvPr>
          <p:cNvSpPr/>
          <p:nvPr/>
        </p:nvSpPr>
        <p:spPr>
          <a:xfrm rot="17245745">
            <a:off x="9334743" y="3389996"/>
            <a:ext cx="366658" cy="1622815"/>
          </a:xfrm>
          <a:prstGeom prst="donut">
            <a:avLst>
              <a:gd name="adj" fmla="val 250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5B3D1B0E-EE45-48ED-B6A4-CEE186988BA0}"/>
              </a:ext>
            </a:extLst>
          </p:cNvPr>
          <p:cNvSpPr/>
          <p:nvPr/>
        </p:nvSpPr>
        <p:spPr>
          <a:xfrm rot="18886324">
            <a:off x="9299135" y="3718687"/>
            <a:ext cx="122637" cy="322384"/>
          </a:xfrm>
          <a:prstGeom prst="donut">
            <a:avLst>
              <a:gd name="adj" fmla="val 250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1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D1A5-143C-43D9-9A52-ADFFE49FD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Sleep/wake Circuitry:</a:t>
            </a:r>
            <a:br>
              <a:rPr lang="en-US" dirty="0">
                <a:solidFill>
                  <a:schemeClr val="bg1"/>
                </a:solidFill>
                <a:effectLst/>
              </a:rPr>
            </a:br>
            <a:r>
              <a:rPr lang="en-US" dirty="0">
                <a:solidFill>
                  <a:schemeClr val="bg1"/>
                </a:solidFill>
                <a:effectLst/>
              </a:rPr>
              <a:t>The forebrain supports N3 sleep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94E9E-A0DF-4DF3-9E1F-68CFF9233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514475"/>
            <a:ext cx="5341939" cy="460424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Electrical stimulation of the basal forebrain can induce slow wave activity (delta waves).</a:t>
            </a:r>
          </a:p>
          <a:p>
            <a:pPr lvl="1"/>
            <a:r>
              <a:rPr lang="en-US" sz="2800" dirty="0">
                <a:solidFill>
                  <a:schemeClr val="bg1"/>
                </a:solidFill>
                <a:effectLst/>
              </a:rPr>
              <a:t>Basal forebrain regulates activity of GABA.</a:t>
            </a:r>
          </a:p>
          <a:p>
            <a:pPr marL="457200" lvl="1" indent="0">
              <a:buNone/>
            </a:pPr>
            <a:endParaRPr lang="en-US" sz="2800" dirty="0">
              <a:solidFill>
                <a:schemeClr val="bg1"/>
              </a:solidFill>
              <a:effectLst/>
            </a:endParaRPr>
          </a:p>
          <a:p>
            <a:r>
              <a:rPr lang="en-US" altLang="en-US" sz="2800" dirty="0">
                <a:solidFill>
                  <a:schemeClr val="bg1"/>
                </a:solidFill>
                <a:effectLst/>
              </a:rPr>
              <a:t>Lesions of the basal forebrain result in insomnia.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8731DA-C878-432D-B103-C241C3343E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394"/>
          <a:stretch/>
        </p:blipFill>
        <p:spPr>
          <a:xfrm>
            <a:off x="6850061" y="1514475"/>
            <a:ext cx="5341939" cy="3829049"/>
          </a:xfrm>
          <a:prstGeom prst="rect">
            <a:avLst/>
          </a:prstGeom>
        </p:spPr>
      </p:pic>
      <p:sp>
        <p:nvSpPr>
          <p:cNvPr id="5" name="Circle: Hollow 4">
            <a:extLst>
              <a:ext uri="{FF2B5EF4-FFF2-40B4-BE49-F238E27FC236}">
                <a16:creationId xmlns:a16="http://schemas.microsoft.com/office/drawing/2014/main" id="{78681F8D-F8BB-21DE-F737-996643149DF9}"/>
              </a:ext>
            </a:extLst>
          </p:cNvPr>
          <p:cNvSpPr/>
          <p:nvPr/>
        </p:nvSpPr>
        <p:spPr>
          <a:xfrm>
            <a:off x="8632030" y="3327400"/>
            <a:ext cx="889000" cy="685800"/>
          </a:xfrm>
          <a:prstGeom prst="donut">
            <a:avLst>
              <a:gd name="adj" fmla="val 460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06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58CC-69D5-45B4-9FD6-DE44BBD5D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70183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Sleep/wake Circuitry:</a:t>
            </a:r>
            <a:br>
              <a:rPr lang="en-US" dirty="0">
                <a:solidFill>
                  <a:schemeClr val="bg1"/>
                </a:solidFill>
                <a:effectLst/>
              </a:rPr>
            </a:br>
            <a:r>
              <a:rPr lang="en-US" dirty="0">
                <a:solidFill>
                  <a:schemeClr val="bg1"/>
                </a:solidFill>
                <a:effectLst/>
              </a:rPr>
              <a:t>The Hypothalamus Acts like a switch board between sleep and wakefulness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3F1F7-D8EB-4903-BF87-8A716DF99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90700"/>
            <a:ext cx="4160631" cy="50673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The Neuropeptide hypocretin is important for sleep/wake transitions.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effectLst/>
              </a:rPr>
              <a:t>Almost exclusively found in the hypothalamus.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effectLst/>
              </a:rPr>
              <a:t>Axons project to the basal forebrain, reticular formation, and </a:t>
            </a:r>
            <a:r>
              <a:rPr lang="en-US" sz="2400" dirty="0" err="1">
                <a:solidFill>
                  <a:schemeClr val="bg1"/>
                </a:solidFill>
                <a:effectLst/>
              </a:rPr>
              <a:t>subcoeruleus</a:t>
            </a:r>
            <a:r>
              <a:rPr lang="en-US" sz="2400" dirty="0">
                <a:solidFill>
                  <a:schemeClr val="bg1"/>
                </a:solidFill>
                <a:effectLst/>
              </a:rPr>
              <a:t>!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6774DD-387C-460D-9739-9AFDB61414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409"/>
          <a:stretch/>
        </p:blipFill>
        <p:spPr>
          <a:xfrm>
            <a:off x="5302044" y="1790700"/>
            <a:ext cx="6889956" cy="4157832"/>
          </a:xfrm>
          <a:prstGeom prst="rect">
            <a:avLst/>
          </a:prstGeom>
        </p:spPr>
      </p:pic>
      <p:sp>
        <p:nvSpPr>
          <p:cNvPr id="5" name="Circle: Hollow 4">
            <a:extLst>
              <a:ext uri="{FF2B5EF4-FFF2-40B4-BE49-F238E27FC236}">
                <a16:creationId xmlns:a16="http://schemas.microsoft.com/office/drawing/2014/main" id="{D3CB6320-FD54-7BCC-F56D-DD61858301BC}"/>
              </a:ext>
            </a:extLst>
          </p:cNvPr>
          <p:cNvSpPr/>
          <p:nvPr/>
        </p:nvSpPr>
        <p:spPr>
          <a:xfrm>
            <a:off x="7516297" y="4152900"/>
            <a:ext cx="560903" cy="520700"/>
          </a:xfrm>
          <a:prstGeom prst="donut">
            <a:avLst>
              <a:gd name="adj" fmla="val 460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03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59D87-1E5C-41B5-25F5-85CAB2621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"/>
            <a:ext cx="9905998" cy="111905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Narcolepsy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41A6-CD47-157C-60F0-9145DAFE7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119051"/>
            <a:ext cx="6156370" cy="571282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A neurological disorder that affects the brain's ability to control sleep-wake cycles.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Symptoms: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effectLst/>
              </a:rPr>
              <a:t>Excessive daytime sleepiness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effectLst/>
              </a:rPr>
              <a:t>Cataplexy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effectLst/>
              </a:rPr>
              <a:t>Sleep paralysis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effectLst/>
              </a:rPr>
              <a:t>Insomnia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effectLst/>
              </a:rPr>
              <a:t>comorbid REM sleep behavior disorder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The main causal factor is loss of hypocretin neurons in the hypothalamus.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effectLst/>
              </a:rPr>
              <a:t>May be linked to autoimmune disease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5" name="Picture 4" descr="A person sleeping on a computer&#10;&#10;AI-generated content may be incorrect.">
            <a:extLst>
              <a:ext uri="{FF2B5EF4-FFF2-40B4-BE49-F238E27FC236}">
                <a16:creationId xmlns:a16="http://schemas.microsoft.com/office/drawing/2014/main" id="{0E69FD54-48DA-4D40-F8CB-0079B1203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297783" y="2179124"/>
            <a:ext cx="3749628" cy="249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5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1678-7328-133E-2213-23D80E26D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56963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Two-minute neuroscience: Narcolepsy</a:t>
            </a:r>
          </a:p>
        </p:txBody>
      </p:sp>
      <p:pic>
        <p:nvPicPr>
          <p:cNvPr id="4" name="Online Media 3" title="2-Minute Neuroscience: Narcolepsy">
            <a:hlinkClick r:id="" action="ppaction://media"/>
            <a:extLst>
              <a:ext uri="{FF2B5EF4-FFF2-40B4-BE49-F238E27FC236}">
                <a16:creationId xmlns:a16="http://schemas.microsoft.com/office/drawing/2014/main" id="{C1D4424F-B279-4E9B-E31F-2FCE82B826E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367960" y="1517555"/>
            <a:ext cx="9452901" cy="534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21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FA5F4-AFD7-45EB-A8AB-E7E827451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8100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There are many different sleep disorders that can have negative biological and cognitive consequences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38A546-83DC-406F-BCFE-C64A12F53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311" y="1516670"/>
            <a:ext cx="9220200" cy="535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54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7CCD-6449-4AB1-8D13-87727325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Sleep deprivation/Poor quality sleep can have detrimental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0299D-71E6-4C2E-A4D4-958B9479C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981" y="1401607"/>
            <a:ext cx="5112431" cy="5456393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Effects of sleep deprivation:</a:t>
            </a:r>
          </a:p>
          <a:p>
            <a:pPr lvl="1">
              <a:spcBef>
                <a:spcPct val="40000"/>
              </a:spcBef>
            </a:pPr>
            <a:r>
              <a:rPr lang="en-US" altLang="en-US" sz="2800" dirty="0">
                <a:solidFill>
                  <a:schemeClr val="bg1"/>
                </a:solidFill>
                <a:effectLst/>
              </a:rPr>
              <a:t>Increased irritability/mood swings</a:t>
            </a:r>
          </a:p>
          <a:p>
            <a:pPr lvl="1">
              <a:spcBef>
                <a:spcPct val="40000"/>
              </a:spcBef>
            </a:pPr>
            <a:r>
              <a:rPr lang="en-US" altLang="en-US" sz="2800" dirty="0">
                <a:solidFill>
                  <a:schemeClr val="bg1"/>
                </a:solidFill>
                <a:effectLst/>
              </a:rPr>
              <a:t>Impaired cognitive abilities and memory</a:t>
            </a:r>
          </a:p>
          <a:p>
            <a:pPr lvl="1">
              <a:spcBef>
                <a:spcPct val="40000"/>
              </a:spcBef>
            </a:pPr>
            <a:r>
              <a:rPr lang="en-US" altLang="en-US" sz="2800" dirty="0">
                <a:solidFill>
                  <a:schemeClr val="bg1"/>
                </a:solidFill>
                <a:effectLst/>
              </a:rPr>
              <a:t>Episodes of disorientation</a:t>
            </a:r>
          </a:p>
          <a:p>
            <a:pPr lvl="1">
              <a:spcBef>
                <a:spcPct val="40000"/>
              </a:spcBef>
            </a:pPr>
            <a:r>
              <a:rPr lang="en-US" altLang="en-US" sz="2800" dirty="0">
                <a:solidFill>
                  <a:schemeClr val="bg1"/>
                </a:solidFill>
                <a:effectLst/>
              </a:rPr>
              <a:t>Occasionally hallucinations</a:t>
            </a:r>
          </a:p>
          <a:p>
            <a:pPr lvl="1">
              <a:spcBef>
                <a:spcPct val="40000"/>
              </a:spcBef>
            </a:pPr>
            <a:r>
              <a:rPr lang="en-US" altLang="en-US" sz="2800" dirty="0">
                <a:solidFill>
                  <a:schemeClr val="bg1"/>
                </a:solidFill>
                <a:effectLst/>
              </a:rPr>
              <a:t>Severe sleep deprivation can kill an organism!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8CCD14-04B7-4799-A15F-762D5E68A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1401607"/>
            <a:ext cx="5364945" cy="545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4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4A036-9D09-4FBC-AAC0-2C945B64E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89254"/>
            <a:ext cx="7559937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Sleep may offer evolutionary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9E406-4F68-433D-A93A-C928E82C7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450265"/>
            <a:ext cx="4952999" cy="259487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effectLst/>
              </a:rPr>
              <a:t>Conservation of energy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Niche adaptation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Body restoration</a:t>
            </a:r>
          </a:p>
          <a:p>
            <a:r>
              <a:rPr lang="en-US" sz="2800" dirty="0">
                <a:solidFill>
                  <a:schemeClr val="bg1"/>
                </a:solidFill>
                <a:effectLst/>
              </a:rPr>
              <a:t>Memory consolidation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36D76-1104-4FFB-2987-6291B2D482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587"/>
          <a:stretch/>
        </p:blipFill>
        <p:spPr>
          <a:xfrm>
            <a:off x="2072641" y="4110298"/>
            <a:ext cx="2408406" cy="27477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68384C-DB86-A12D-7727-8F7B131ED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24" t="33905" r="20412" b="33206"/>
          <a:stretch/>
        </p:blipFill>
        <p:spPr>
          <a:xfrm>
            <a:off x="6556836" y="4090278"/>
            <a:ext cx="3579873" cy="27677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6F7029-8D26-C1D8-781C-508659943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1046" y="4090277"/>
            <a:ext cx="2075791" cy="276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41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869E87-614C-489D-8F62-58F3180A7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985" y="0"/>
            <a:ext cx="6132030" cy="685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717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3503-C4D2-694C-900A-194B45C46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77308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Dr. Scullin and the Neuroscience of Sleep</a:t>
            </a:r>
          </a:p>
        </p:txBody>
      </p:sp>
      <p:pic>
        <p:nvPicPr>
          <p:cNvPr id="4" name="Online Media 3" title="The Science of Sleep">
            <a:hlinkClick r:id="" action="ppaction://media"/>
            <a:extLst>
              <a:ext uri="{FF2B5EF4-FFF2-40B4-BE49-F238E27FC236}">
                <a16:creationId xmlns:a16="http://schemas.microsoft.com/office/drawing/2014/main" id="{1726EDB3-63C1-D67D-54CA-790136CD6E8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51984" y="708044"/>
            <a:ext cx="10884853" cy="614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8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19C1-B1C7-4D2C-9968-BC8CE9BF7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76011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Matthew walker’s Ted Talk about sleep</a:t>
            </a:r>
          </a:p>
        </p:txBody>
      </p:sp>
      <p:pic>
        <p:nvPicPr>
          <p:cNvPr id="4" name="Online Media 3" title="Sleep is your superpower | Matt Walker">
            <a:hlinkClick r:id="" action="ppaction://media"/>
            <a:extLst>
              <a:ext uri="{FF2B5EF4-FFF2-40B4-BE49-F238E27FC236}">
                <a16:creationId xmlns:a16="http://schemas.microsoft.com/office/drawing/2014/main" id="{BE3BD5A2-C1B5-40C8-9BD5-1D08FECA224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42645" y="871548"/>
            <a:ext cx="9706708" cy="54600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789FC7-F361-4E1B-85BD-B205D0C573AC}"/>
              </a:ext>
            </a:extLst>
          </p:cNvPr>
          <p:cNvSpPr/>
          <p:nvPr/>
        </p:nvSpPr>
        <p:spPr>
          <a:xfrm>
            <a:off x="3630677" y="6443003"/>
            <a:ext cx="4930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https://www.youtube.com/watch?v=5MuIMqhT8DM</a:t>
            </a:r>
          </a:p>
        </p:txBody>
      </p:sp>
    </p:spTree>
    <p:extLst>
      <p:ext uri="{BB962C8B-B14F-4D97-AF65-F5344CB8AC3E}">
        <p14:creationId xmlns:p14="http://schemas.microsoft.com/office/powerpoint/2010/main" val="224114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EEDD7-DE86-FF61-BEC8-70C1BF5F5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3421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effectLst/>
              </a:rPr>
              <a:t>What Does the Brain do while awake but not engaged in a task?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DB5EF-26F0-6D82-AD80-0539E7C6E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23038"/>
            <a:ext cx="5808028" cy="519985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effectLst/>
              </a:rPr>
              <a:t>The </a:t>
            </a:r>
            <a:r>
              <a:rPr lang="en-US" b="1" dirty="0">
                <a:solidFill>
                  <a:schemeClr val="bg1"/>
                </a:solidFill>
                <a:effectLst/>
              </a:rPr>
              <a:t>default-mode network </a:t>
            </a:r>
            <a:r>
              <a:rPr lang="en-US" dirty="0">
                <a:solidFill>
                  <a:schemeClr val="bg1"/>
                </a:solidFill>
                <a:effectLst/>
              </a:rPr>
              <a:t>is a collection of brain regions whose activity </a:t>
            </a:r>
            <a:r>
              <a:rPr lang="en-US" i="1" dirty="0">
                <a:solidFill>
                  <a:schemeClr val="bg1"/>
                </a:solidFill>
                <a:effectLst/>
              </a:rPr>
              <a:t>increases</a:t>
            </a:r>
            <a:r>
              <a:rPr lang="en-US" dirty="0">
                <a:solidFill>
                  <a:schemeClr val="bg1"/>
                </a:solidFill>
                <a:effectLst/>
              </a:rPr>
              <a:t> while awake but </a:t>
            </a:r>
            <a:r>
              <a:rPr lang="en-US" u="sng" dirty="0">
                <a:solidFill>
                  <a:schemeClr val="bg1"/>
                </a:solidFill>
                <a:effectLst/>
              </a:rPr>
              <a:t>not</a:t>
            </a:r>
            <a:r>
              <a:rPr lang="en-US" dirty="0">
                <a:solidFill>
                  <a:schemeClr val="bg1"/>
                </a:solidFill>
                <a:effectLst/>
              </a:rPr>
              <a:t> engaged in a task.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effectLst/>
              </a:rPr>
              <a:t>medial prefrontal cortex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effectLst/>
              </a:rPr>
              <a:t>posterior cingulate cortex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effectLst/>
              </a:rPr>
              <a:t>temporoparietal junction</a:t>
            </a:r>
          </a:p>
          <a:p>
            <a:r>
              <a:rPr lang="en-US" i="1" dirty="0">
                <a:solidFill>
                  <a:schemeClr val="bg1"/>
                </a:solidFill>
                <a:effectLst/>
              </a:rPr>
              <a:t>Decreased</a:t>
            </a:r>
            <a:r>
              <a:rPr lang="en-US" dirty="0">
                <a:solidFill>
                  <a:schemeClr val="bg1"/>
                </a:solidFill>
                <a:effectLst/>
              </a:rPr>
              <a:t> activity during cognitive tasks.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May reflect inward focus of attention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Dysfunction linked to impaired cognition in different psychological disorders.</a:t>
            </a:r>
          </a:p>
          <a:p>
            <a:endParaRPr lang="en-US" dirty="0">
              <a:solidFill>
                <a:schemeClr val="bg1"/>
              </a:solidFill>
              <a:effectLst/>
            </a:endParaRPr>
          </a:p>
          <a:p>
            <a:endParaRPr lang="en-US" dirty="0">
              <a:solidFill>
                <a:schemeClr val="bg1"/>
              </a:solidFill>
              <a:effectLst/>
            </a:endParaRPr>
          </a:p>
          <a:p>
            <a:endParaRPr lang="en-US" dirty="0">
              <a:solidFill>
                <a:schemeClr val="bg1"/>
              </a:solidFill>
              <a:effectLst/>
            </a:endParaRPr>
          </a:p>
          <a:p>
            <a:pPr lvl="1"/>
            <a:endParaRPr lang="en-US" dirty="0">
              <a:solidFill>
                <a:schemeClr val="bg1"/>
              </a:solidFill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010E9-BEC8-D4D6-1035-784ECF9025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293" b="24178"/>
          <a:stretch>
            <a:fillRect/>
          </a:stretch>
        </p:blipFill>
        <p:spPr>
          <a:xfrm>
            <a:off x="6949440" y="1587935"/>
            <a:ext cx="4097971" cy="527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4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2197</TotalTime>
  <Words>413</Words>
  <Application>Microsoft Office PowerPoint</Application>
  <PresentationFormat>Widescreen</PresentationFormat>
  <Paragraphs>69</Paragraphs>
  <Slides>13</Slides>
  <Notes>11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Tw Cen MT</vt:lpstr>
      <vt:lpstr>Circuit</vt:lpstr>
      <vt:lpstr>Brain activity Changes during REM/Dreaming</vt:lpstr>
      <vt:lpstr>Sleep/wake Circuitry: Brainstem structures regulate arousal and REM sleep</vt:lpstr>
      <vt:lpstr>Sleep/wake Circuitry: The forebrain supports N3 sleep</vt:lpstr>
      <vt:lpstr>Sleep/wake Circuitry: The Hypothalamus Acts like a switch board between sleep and wakefulness</vt:lpstr>
      <vt:lpstr>Narcolepsy</vt:lpstr>
      <vt:lpstr>Two-minute neuroscience: Narcolepsy</vt:lpstr>
      <vt:lpstr>There are many different sleep disorders that can have negative biological and cognitive consequences</vt:lpstr>
      <vt:lpstr>Sleep deprivation/Poor quality sleep can have detrimental effects</vt:lpstr>
      <vt:lpstr>Sleep may offer evolutionary advantages</vt:lpstr>
      <vt:lpstr>PowerPoint Presentation</vt:lpstr>
      <vt:lpstr>Dr. Scullin and the Neuroscience of Sleep</vt:lpstr>
      <vt:lpstr>Matthew walker’s Ted Talk about sleep</vt:lpstr>
      <vt:lpstr>What Does the Brain do while awake but not engaged in a task?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Nicole Forner</dc:creator>
  <cp:lastModifiedBy>Phillips, Nicole</cp:lastModifiedBy>
  <cp:revision>174</cp:revision>
  <dcterms:created xsi:type="dcterms:W3CDTF">2020-10-10T21:03:14Z</dcterms:created>
  <dcterms:modified xsi:type="dcterms:W3CDTF">2026-04-25T17:35:21Z</dcterms:modified>
</cp:coreProperties>
</file>