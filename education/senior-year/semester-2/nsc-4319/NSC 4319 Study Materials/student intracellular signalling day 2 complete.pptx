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  <p:sldMasterId id="2147483687" r:id="rId2"/>
  </p:sldMasterIdLst>
  <p:notesMasterIdLst>
    <p:notesMasterId r:id="rId20"/>
  </p:notesMasterIdLst>
  <p:handoutMasterIdLst>
    <p:handoutMasterId r:id="rId21"/>
  </p:handoutMasterIdLst>
  <p:sldIdLst>
    <p:sldId id="640" r:id="rId3"/>
    <p:sldId id="395" r:id="rId4"/>
    <p:sldId id="600" r:id="rId5"/>
    <p:sldId id="663" r:id="rId6"/>
    <p:sldId id="682" r:id="rId7"/>
    <p:sldId id="388" r:id="rId8"/>
    <p:sldId id="372" r:id="rId9"/>
    <p:sldId id="399" r:id="rId10"/>
    <p:sldId id="683" r:id="rId11"/>
    <p:sldId id="354" r:id="rId12"/>
    <p:sldId id="400" r:id="rId13"/>
    <p:sldId id="373" r:id="rId14"/>
    <p:sldId id="401" r:id="rId15"/>
    <p:sldId id="389" r:id="rId16"/>
    <p:sldId id="390" r:id="rId17"/>
    <p:sldId id="375" r:id="rId18"/>
    <p:sldId id="391" r:id="rId19"/>
  </p:sldIdLst>
  <p:sldSz cx="12192000" cy="6858000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70717" autoAdjust="0"/>
  </p:normalViewPr>
  <p:slideViewPr>
    <p:cSldViewPr>
      <p:cViewPr varScale="1">
        <p:scale>
          <a:sx n="44" d="100"/>
          <a:sy n="44" d="100"/>
        </p:scale>
        <p:origin x="139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2508" y="11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5800" y="30480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r>
              <a:rPr lang="en-US" dirty="0"/>
              <a:t>Chapter 07 – Molecular Signaling within Neurons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754880" y="6639098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95F6C532-6337-407C-84E2-C12ED9C659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9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0" y="3474720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FBE50EEE-E127-42DA-A881-5CEFB83FEB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16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92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20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42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56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1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4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https://www.youtube.com/watch?v=bKIpDtJdK8Q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2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53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0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25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06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09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9286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6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287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287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7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287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28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3" y="2017713"/>
            <a:ext cx="1174580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B7B1FC1-8D02-4253-A025-7FF3CE2675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384048"/>
            <a:ext cx="10695941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891610F-22FC-4A57-92DB-A03BDAB378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E36D4C3-AB3A-4A7E-B6F1-3EC4D36423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E1AA7BE-316F-4EEA-B608-7BBA90630A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B013A4-896D-4B0E-A508-8F401B117D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DF9910-4FC4-4FCC-B857-8A6191851B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7BB60FE-1190-4340-A353-2D242B7CE2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F098E80-DFA2-4AA2-8B92-3EE372E637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BCE57BC-0454-4110-8E84-FC30AB8465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3D9964-8DDB-4793-8DD8-10ABFC191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A7EB-3577-43FD-9B2D-BCEA4F83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4AFEAB-6CC2-4F6A-8644-10935AED3A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096" y="512748"/>
            <a:ext cx="11947020" cy="6076059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57839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EB49-10B0-434E-B9A9-AEEABF0B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43F8EF5-4C16-48DE-A586-E7CCF94F9F0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66838" y="808037"/>
            <a:ext cx="9759950" cy="5045832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482F5-5C68-40F1-BAC8-3387D676EB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6838" y="5973510"/>
            <a:ext cx="9759950" cy="5034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5795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EB49-10B0-434E-B9A9-AEEABF0B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335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5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900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7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653118" y="384048"/>
            <a:ext cx="1026202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918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3" y="2017713"/>
            <a:ext cx="1174580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n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0" cy="369888"/>
          </a:xfrm>
          <a:prstGeom prst="rect">
            <a:avLst/>
          </a:prstGeom>
          <a:solidFill>
            <a:srgbClr val="001A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"/>
          <p:cNvSpPr>
            <a:spLocks noGrp="1"/>
          </p:cNvSpPr>
          <p:nvPr>
            <p:ph type="body" idx="1"/>
          </p:nvPr>
        </p:nvSpPr>
        <p:spPr bwMode="auto">
          <a:xfrm>
            <a:off x="838200" y="952500"/>
            <a:ext cx="10515600" cy="522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352A1-3B59-4F46-8B27-7104614BE0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63200" y="6605588"/>
            <a:ext cx="1827213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© 2023 Oxford University Press</a:t>
            </a:r>
          </a:p>
        </p:txBody>
      </p:sp>
    </p:spTree>
    <p:extLst>
      <p:ext uri="{BB962C8B-B14F-4D97-AF65-F5344CB8AC3E}">
        <p14:creationId xmlns:p14="http://schemas.microsoft.com/office/powerpoint/2010/main" val="323475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l" rtl="0" fontAlgn="base">
        <a:spcBef>
          <a:spcPct val="0"/>
        </a:spcBef>
        <a:spcAft>
          <a:spcPct val="0"/>
        </a:spcAft>
        <a:defRPr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bKIpDtJdK8Q?feature=oembed" TargetMode="Externa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7" name="Rectangle 3"/>
          <p:cNvSpPr>
            <a:spLocks noGrp="1" noChangeArrowheads="1"/>
          </p:cNvSpPr>
          <p:nvPr>
            <p:ph type="title"/>
          </p:nvPr>
        </p:nvSpPr>
        <p:spPr>
          <a:xfrm>
            <a:off x="964988" y="457200"/>
            <a:ext cx="10262023" cy="1371600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Late effectors</a:t>
            </a:r>
          </a:p>
        </p:txBody>
      </p:sp>
      <p:pic>
        <p:nvPicPr>
          <p:cNvPr id="5" name="Picture 4" descr="Neuroscience6e-Fig-07-06-0.jpg">
            <a:extLst>
              <a:ext uri="{FF2B5EF4-FFF2-40B4-BE49-F238E27FC236}">
                <a16:creationId xmlns:a16="http://schemas.microsoft.com/office/drawing/2014/main" id="{1F96CEA4-664B-4D7D-A66A-52F38AD44D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6"/>
          <a:stretch/>
        </p:blipFill>
        <p:spPr>
          <a:xfrm>
            <a:off x="1828800" y="1975104"/>
            <a:ext cx="8534400" cy="4882896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7EB2B06D-7444-58B0-1528-54A9E5A8C9D6}"/>
              </a:ext>
            </a:extLst>
          </p:cNvPr>
          <p:cNvSpPr/>
          <p:nvPr/>
        </p:nvSpPr>
        <p:spPr>
          <a:xfrm>
            <a:off x="1828800" y="5410200"/>
            <a:ext cx="8534400" cy="762000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84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3DEF-70EF-4413-8439-9F74AFA63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75099"/>
            <a:ext cx="4880003" cy="831402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Kinase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0D5A9-798A-4FCD-8B17-2FE06F7DF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17488"/>
            <a:ext cx="4880003" cy="1095358"/>
          </a:xfrm>
        </p:spPr>
        <p:txBody>
          <a:bodyPr>
            <a:normAutofit fontScale="70000" lnSpcReduction="20000"/>
          </a:bodyPr>
          <a:lstStyle/>
          <a:p>
            <a:r>
              <a:rPr lang="en-US" b="0" i="0" dirty="0">
                <a:effectLst/>
                <a:latin typeface="Georgia" panose="02040502050405020303" pitchFamily="18" charset="0"/>
              </a:rPr>
              <a:t>an </a:t>
            </a:r>
            <a:r>
              <a:rPr lang="en-US" b="0" i="1" strike="noStrike" dirty="0">
                <a:effectLst/>
                <a:latin typeface="Georgia" panose="02040502050405020303" pitchFamily="18" charset="0"/>
              </a:rPr>
              <a:t>enzyme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that </a:t>
            </a:r>
            <a:r>
              <a:rPr lang="en-US" b="0" i="0" u="sng" dirty="0">
                <a:effectLst/>
                <a:latin typeface="Georgia" panose="02040502050405020303" pitchFamily="18" charset="0"/>
              </a:rPr>
              <a:t>adds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</a:t>
            </a:r>
            <a:r>
              <a:rPr lang="en-US" b="0" i="0" strike="noStrike" dirty="0">
                <a:effectLst/>
                <a:latin typeface="Georgia" panose="02040502050405020303" pitchFamily="18" charset="0"/>
              </a:rPr>
              <a:t>phosphate</a:t>
            </a:r>
            <a:r>
              <a:rPr lang="en-US" b="0" i="0" dirty="0">
                <a:effectLst/>
                <a:latin typeface="Georgia" panose="02040502050405020303" pitchFamily="18" charset="0"/>
              </a:rPr>
              <a:t> groups (PO</a:t>
            </a:r>
            <a:r>
              <a:rPr lang="en-US" b="0" i="0" baseline="-25000" dirty="0">
                <a:effectLst/>
                <a:latin typeface="Georgia" panose="02040502050405020303" pitchFamily="18" charset="0"/>
              </a:rPr>
              <a:t>4</a:t>
            </a:r>
            <a:r>
              <a:rPr lang="en-US" b="0" i="0" baseline="30000" dirty="0">
                <a:effectLst/>
                <a:latin typeface="Georgia" panose="02040502050405020303" pitchFamily="18" charset="0"/>
              </a:rPr>
              <a:t>3−</a:t>
            </a:r>
            <a:r>
              <a:rPr lang="en-US" b="0" i="0" dirty="0">
                <a:effectLst/>
                <a:latin typeface="Georgia" panose="02040502050405020303" pitchFamily="18" charset="0"/>
              </a:rPr>
              <a:t>) to other molecules.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F000DE-F6B2-48DE-BC94-D8B87D47205E}"/>
              </a:ext>
            </a:extLst>
          </p:cNvPr>
          <p:cNvSpPr txBox="1">
            <a:spLocks/>
          </p:cNvSpPr>
          <p:nvPr/>
        </p:nvSpPr>
        <p:spPr>
          <a:xfrm>
            <a:off x="6705600" y="2175099"/>
            <a:ext cx="4880003" cy="831402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Phosphatase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A9586B-B783-4BB9-88D1-3664617E9B74}"/>
              </a:ext>
            </a:extLst>
          </p:cNvPr>
          <p:cNvSpPr txBox="1">
            <a:spLocks/>
          </p:cNvSpPr>
          <p:nvPr/>
        </p:nvSpPr>
        <p:spPr>
          <a:xfrm>
            <a:off x="6705600" y="2917488"/>
            <a:ext cx="4880003" cy="10953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" panose="02040502050405020303" pitchFamily="18" charset="0"/>
              </a:rPr>
              <a:t>an </a:t>
            </a:r>
            <a:r>
              <a:rPr lang="en-US" i="1" dirty="0">
                <a:latin typeface="Georgia" panose="02040502050405020303" pitchFamily="18" charset="0"/>
              </a:rPr>
              <a:t>enzyme</a:t>
            </a:r>
            <a:r>
              <a:rPr lang="en-US" dirty="0">
                <a:latin typeface="Georgia" panose="02040502050405020303" pitchFamily="18" charset="0"/>
              </a:rPr>
              <a:t> that </a:t>
            </a:r>
            <a:r>
              <a:rPr lang="en-US" u="sng" dirty="0">
                <a:latin typeface="Georgia" panose="02040502050405020303" pitchFamily="18" charset="0"/>
              </a:rPr>
              <a:t>removes</a:t>
            </a:r>
            <a:r>
              <a:rPr lang="en-US" dirty="0">
                <a:latin typeface="Georgia" panose="02040502050405020303" pitchFamily="18" charset="0"/>
              </a:rPr>
              <a:t> phosphate groups (PO</a:t>
            </a:r>
            <a:r>
              <a:rPr lang="en-US" baseline="-25000" dirty="0">
                <a:latin typeface="Georgia" panose="02040502050405020303" pitchFamily="18" charset="0"/>
              </a:rPr>
              <a:t>4</a:t>
            </a:r>
            <a:r>
              <a:rPr lang="en-US" baseline="30000" dirty="0">
                <a:latin typeface="Georgia" panose="02040502050405020303" pitchFamily="18" charset="0"/>
              </a:rPr>
              <a:t>3−</a:t>
            </a:r>
            <a:r>
              <a:rPr lang="en-US" dirty="0">
                <a:latin typeface="Georgia" panose="02040502050405020303" pitchFamily="18" charset="0"/>
              </a:rPr>
              <a:t>) from other molecules.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26F3BC-C290-4F34-7765-EF445F820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989" y="4188341"/>
            <a:ext cx="7666021" cy="2669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5A7095-DD94-D71D-6D95-BDD745390DBD}"/>
              </a:ext>
            </a:extLst>
          </p:cNvPr>
          <p:cNvSpPr txBox="1"/>
          <p:nvPr/>
        </p:nvSpPr>
        <p:spPr>
          <a:xfrm>
            <a:off x="495299" y="91536"/>
            <a:ext cx="1120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Cellular function is largely regulated through modulating the </a:t>
            </a:r>
            <a:r>
              <a:rPr lang="en-US" sz="3200" b="1" i="1" dirty="0"/>
              <a:t>phosphorylation state </a:t>
            </a:r>
            <a:r>
              <a:rPr lang="en-US" sz="3200" dirty="0"/>
              <a:t>of intracellular proteins            (Driven primarily by activity of 2</a:t>
            </a:r>
            <a:r>
              <a:rPr lang="en-US" sz="3200" baseline="30000" dirty="0"/>
              <a:t>nd</a:t>
            </a:r>
            <a:r>
              <a:rPr lang="en-US" sz="3200" dirty="0"/>
              <a:t> messengers)</a:t>
            </a:r>
          </a:p>
        </p:txBody>
      </p:sp>
    </p:spTree>
    <p:extLst>
      <p:ext uri="{BB962C8B-B14F-4D97-AF65-F5344CB8AC3E}">
        <p14:creationId xmlns:p14="http://schemas.microsoft.com/office/powerpoint/2010/main" val="225122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4988" y="293687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kinases work about the same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762000" y="2133600"/>
            <a:ext cx="10465011" cy="2438400"/>
          </a:xfrm>
        </p:spPr>
        <p:txBody>
          <a:bodyPr/>
          <a:lstStyle/>
          <a:p>
            <a:pPr>
              <a:buClr>
                <a:schemeClr val="accent6"/>
              </a:buClr>
            </a:pPr>
            <a:r>
              <a:rPr lang="en-US" sz="2800" dirty="0"/>
              <a:t>They are held inactive by regulatory regions</a:t>
            </a:r>
          </a:p>
          <a:p>
            <a:pPr>
              <a:buClr>
                <a:schemeClr val="accent6"/>
              </a:buClr>
            </a:pPr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messenger binding to the regulatory region releases the catalytic region</a:t>
            </a:r>
          </a:p>
          <a:p>
            <a:pPr>
              <a:buClr>
                <a:schemeClr val="accent6"/>
              </a:buClr>
            </a:pPr>
            <a:r>
              <a:rPr lang="en-US" sz="2800" dirty="0"/>
              <a:t>The kinase is now able to catalyze the phosphorylation of specific amino acids</a:t>
            </a:r>
          </a:p>
        </p:txBody>
      </p:sp>
      <p:pic>
        <p:nvPicPr>
          <p:cNvPr id="2" name="!!PKA">
            <a:extLst>
              <a:ext uri="{FF2B5EF4-FFF2-40B4-BE49-F238E27FC236}">
                <a16:creationId xmlns:a16="http://schemas.microsoft.com/office/drawing/2014/main" id="{392449E2-2880-7F38-BA23-EABDAA02F4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35" b="68391"/>
          <a:stretch/>
        </p:blipFill>
        <p:spPr>
          <a:xfrm>
            <a:off x="3132430" y="4762500"/>
            <a:ext cx="5927137" cy="209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68E149-9F51-E9FC-3325-3B9A255D66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08" r="50635" b="7472"/>
          <a:stretch/>
        </p:blipFill>
        <p:spPr>
          <a:xfrm>
            <a:off x="92662" y="70757"/>
            <a:ext cx="5927137" cy="403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9D8B53-2190-74BE-583F-66C106C897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8046"/>
          <a:stretch/>
        </p:blipFill>
        <p:spPr>
          <a:xfrm>
            <a:off x="92662" y="4005943"/>
            <a:ext cx="6003338" cy="2781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60139-0D3F-A4FB-173B-067875109F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04" t="40805" b="22414"/>
          <a:stretch/>
        </p:blipFill>
        <p:spPr>
          <a:xfrm>
            <a:off x="6096000" y="70757"/>
            <a:ext cx="5774738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FC28B7-AF1C-F418-C3F3-2A22AD042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70"/>
          <a:stretch>
            <a:fillRect/>
          </a:stretch>
        </p:blipFill>
        <p:spPr>
          <a:xfrm>
            <a:off x="6172201" y="2779338"/>
            <a:ext cx="3457663" cy="40386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E4B08C2-50E8-BB96-59FD-3DDE8F04CAA5}"/>
              </a:ext>
            </a:extLst>
          </p:cNvPr>
          <p:cNvSpPr txBox="1">
            <a:spLocks/>
          </p:cNvSpPr>
          <p:nvPr/>
        </p:nvSpPr>
        <p:spPr>
          <a:xfrm>
            <a:off x="6070600" y="2227943"/>
            <a:ext cx="4448868" cy="569538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800" kern="0" dirty="0">
                <a:solidFill>
                  <a:schemeClr val="tx1"/>
                </a:solidFill>
              </a:rPr>
              <a:t>Receptor Tyrosine Kinase</a:t>
            </a:r>
          </a:p>
        </p:txBody>
      </p:sp>
    </p:spTree>
    <p:extLst>
      <p:ext uri="{BB962C8B-B14F-4D97-AF65-F5344CB8AC3E}">
        <p14:creationId xmlns:p14="http://schemas.microsoft.com/office/powerpoint/2010/main" val="1575866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DD75-91F4-3E8A-9CDB-4C62C43E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Protein Phosphatases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4747-5015-7332-BED5-92F046CF4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17713"/>
            <a:ext cx="5638800" cy="4572000"/>
          </a:xfrm>
        </p:spPr>
        <p:txBody>
          <a:bodyPr/>
          <a:lstStyle/>
          <a:p>
            <a:r>
              <a:rPr lang="en-US" sz="2800" dirty="0"/>
              <a:t>Similar structures as Kinases.</a:t>
            </a:r>
          </a:p>
          <a:p>
            <a:r>
              <a:rPr lang="en-US" sz="2800" dirty="0"/>
              <a:t>Less substrate specificity compared to kinases</a:t>
            </a:r>
          </a:p>
          <a:p>
            <a:r>
              <a:rPr lang="en-US" sz="2800" dirty="0"/>
              <a:t>Most regulatory subunits </a:t>
            </a:r>
            <a:r>
              <a:rPr lang="en-US" sz="2800" b="1" u="sng" dirty="0"/>
              <a:t>do not </a:t>
            </a:r>
            <a:r>
              <a:rPr lang="en-US" sz="2800" dirty="0"/>
              <a:t>bind to 2</a:t>
            </a:r>
            <a:r>
              <a:rPr lang="en-US" sz="2800" baseline="30000" dirty="0"/>
              <a:t>nd</a:t>
            </a:r>
            <a:r>
              <a:rPr lang="en-US" sz="2800" dirty="0"/>
              <a:t> messengers.</a:t>
            </a:r>
          </a:p>
          <a:p>
            <a:r>
              <a:rPr lang="en-US" sz="2800" dirty="0"/>
              <a:t>Dephosphorylation depends on </a:t>
            </a:r>
            <a:r>
              <a:rPr lang="en-US" sz="2800" b="1" dirty="0"/>
              <a:t>where</a:t>
            </a:r>
            <a:r>
              <a:rPr lang="en-US" sz="2800" dirty="0"/>
              <a:t> the phosphatase is located and </a:t>
            </a:r>
            <a:r>
              <a:rPr lang="en-US" sz="2800" b="1" dirty="0"/>
              <a:t>which</a:t>
            </a:r>
            <a:r>
              <a:rPr lang="en-US" sz="2800" dirty="0"/>
              <a:t> regulatory subunits are active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70908-251C-1246-35ED-12DB2BE0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713" b="54444"/>
          <a:stretch>
            <a:fillRect/>
          </a:stretch>
        </p:blipFill>
        <p:spPr>
          <a:xfrm>
            <a:off x="6095999" y="2030412"/>
            <a:ext cx="6034504" cy="46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3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E8A39A-B835-4D36-965A-275BE227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12281"/>
            <a:ext cx="10363200" cy="83343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Nuclear Signaling </a:t>
            </a:r>
          </a:p>
        </p:txBody>
      </p:sp>
    </p:spTree>
    <p:extLst>
      <p:ext uri="{BB962C8B-B14F-4D97-AF65-F5344CB8AC3E}">
        <p14:creationId xmlns:p14="http://schemas.microsoft.com/office/powerpoint/2010/main" val="239477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513F-9A86-4564-B723-331DF2F0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112337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Nuclear Signaling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A7A0-C56B-4D31-9FAB-DBC9C5CAB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40" y="1981200"/>
            <a:ext cx="10888718" cy="4764463"/>
          </a:xfrm>
        </p:spPr>
        <p:txBody>
          <a:bodyPr/>
          <a:lstStyle/>
          <a:p>
            <a:r>
              <a:rPr lang="en-US" sz="2400" dirty="0"/>
              <a:t>Kinases can elicit </a:t>
            </a:r>
            <a:r>
              <a:rPr lang="en-US" sz="2400" b="1" i="1" dirty="0"/>
              <a:t>prolonged changes </a:t>
            </a:r>
            <a:r>
              <a:rPr lang="en-US" sz="2400" dirty="0"/>
              <a:t>by activating transcription factors and, thereby, influencing RNA synthesis and protein synthesis.</a:t>
            </a:r>
          </a:p>
          <a:p>
            <a:pPr lvl="1"/>
            <a:r>
              <a:rPr lang="en-US" sz="2400" dirty="0"/>
              <a:t>Changes are slow: 60+ mins </a:t>
            </a:r>
          </a:p>
          <a:p>
            <a:pPr lvl="1"/>
            <a:r>
              <a:rPr lang="en-US" sz="2400" dirty="0"/>
              <a:t>Reversal of changes can take hours to days</a:t>
            </a:r>
          </a:p>
          <a:p>
            <a:pPr lvl="2"/>
            <a:r>
              <a:rPr lang="en-US" sz="2400" dirty="0"/>
              <a:t>Changes can be permanent</a:t>
            </a:r>
          </a:p>
          <a:p>
            <a:pPr marL="914400" lvl="2" indent="0">
              <a:buNone/>
            </a:pPr>
            <a:endParaRPr lang="en-US" sz="2400" dirty="0"/>
          </a:p>
          <a:p>
            <a:r>
              <a:rPr lang="en-US" sz="2400" dirty="0"/>
              <a:t>3 key </a:t>
            </a:r>
            <a:r>
              <a:rPr lang="en-US" sz="2400" i="1" dirty="0"/>
              <a:t>transcriptional activator proteins </a:t>
            </a:r>
            <a:r>
              <a:rPr lang="en-US" sz="2400" dirty="0"/>
              <a:t>(aka, transcription factors) include:</a:t>
            </a:r>
          </a:p>
          <a:p>
            <a:pPr lvl="1"/>
            <a:r>
              <a:rPr lang="en-US" sz="2400" dirty="0"/>
              <a:t>CREB</a:t>
            </a:r>
          </a:p>
          <a:p>
            <a:pPr lvl="1"/>
            <a:r>
              <a:rPr lang="en-US" sz="2400" dirty="0"/>
              <a:t>c-</a:t>
            </a:r>
            <a:r>
              <a:rPr lang="en-US" sz="2400" dirty="0" err="1"/>
              <a:t>fos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Nuclear receptors </a:t>
            </a:r>
          </a:p>
        </p:txBody>
      </p:sp>
    </p:spTree>
    <p:extLst>
      <p:ext uri="{BB962C8B-B14F-4D97-AF65-F5344CB8AC3E}">
        <p14:creationId xmlns:p14="http://schemas.microsoft.com/office/powerpoint/2010/main" val="311904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1491-B9A7-42E4-B555-6D55A591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342645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RNA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7C706-214A-4496-A672-FF060A12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8" y="2133018"/>
            <a:ext cx="6546012" cy="4724982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 err="1"/>
              <a:t>D</a:t>
            </a:r>
            <a:r>
              <a:rPr lang="en-US" sz="2000" b="0" i="0" u="none" strike="noStrike" baseline="0" dirty="0" err="1"/>
              <a:t>econdensation</a:t>
            </a:r>
            <a:r>
              <a:rPr lang="en-US" sz="2000" b="0" i="0" u="none" strike="noStrike" baseline="0" dirty="0"/>
              <a:t> of the structure of </a:t>
            </a:r>
            <a:r>
              <a:rPr lang="en-US" sz="2000" b="0" i="1" u="none" strike="noStrike" baseline="0" dirty="0"/>
              <a:t>chromatin</a:t>
            </a:r>
            <a:r>
              <a:rPr lang="en-US" sz="2000" b="0" i="0" u="none" strike="noStrike" baseline="0" dirty="0"/>
              <a:t>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Reveals cites for transcription factor (TF) binding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TF binds near the start of the gene sequence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0" i="0" u="none" strike="noStrike" baseline="0" dirty="0"/>
              <a:t>A co-activator complex binds to th</a:t>
            </a:r>
            <a:r>
              <a:rPr lang="en-US" sz="2000" dirty="0"/>
              <a:t>e TF to promote the unwrapping of the DNA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0" i="0" u="none" strike="noStrike" baseline="0" dirty="0"/>
              <a:t>Then the RNA polymerase (and associated factors) binds to the co-activator complex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This initiates </a:t>
            </a:r>
            <a:r>
              <a:rPr lang="en-US" sz="2000" i="1" dirty="0"/>
              <a:t>transcription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i="1" dirty="0"/>
              <a:t>Intracellular signal transduction cascades </a:t>
            </a:r>
            <a:r>
              <a:rPr lang="en-US" sz="2000" dirty="0"/>
              <a:t>regulate gene expression by converting TFs from an </a:t>
            </a:r>
            <a:r>
              <a:rPr lang="en-US" sz="2000" b="1" dirty="0"/>
              <a:t>inactive state </a:t>
            </a:r>
            <a:r>
              <a:rPr lang="en-US" sz="2000" dirty="0"/>
              <a:t>to an </a:t>
            </a:r>
            <a:r>
              <a:rPr lang="en-US" sz="2000" b="1" dirty="0"/>
              <a:t>active state </a:t>
            </a:r>
            <a:r>
              <a:rPr lang="en-US" sz="2000" dirty="0"/>
              <a:t>in which they bind to DNA.</a:t>
            </a:r>
          </a:p>
          <a:p>
            <a:endParaRPr lang="en-US" sz="1800" dirty="0"/>
          </a:p>
        </p:txBody>
      </p:sp>
      <p:pic>
        <p:nvPicPr>
          <p:cNvPr id="4" name="Picture 3" descr="Neuroscience6e-Fig-07-11-0.jpg">
            <a:extLst>
              <a:ext uri="{FF2B5EF4-FFF2-40B4-BE49-F238E27FC236}">
                <a16:creationId xmlns:a16="http://schemas.microsoft.com/office/drawing/2014/main" id="{161A338A-A30A-45AC-9934-8B47A43966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" b="5897"/>
          <a:stretch/>
        </p:blipFill>
        <p:spPr>
          <a:xfrm>
            <a:off x="6934200" y="2133018"/>
            <a:ext cx="5257800" cy="472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5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0129-9D22-9666-E0A3-28F45D19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152400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RNA Transcription and Translation</a:t>
            </a:r>
          </a:p>
        </p:txBody>
      </p:sp>
      <p:pic>
        <p:nvPicPr>
          <p:cNvPr id="3" name="Online Media 2" title="Transcription and Translation: From DNA to Protein">
            <a:hlinkClick r:id="" action="ppaction://media"/>
            <a:extLst>
              <a:ext uri="{FF2B5EF4-FFF2-40B4-BE49-F238E27FC236}">
                <a16:creationId xmlns:a16="http://schemas.microsoft.com/office/drawing/2014/main" id="{F07A4F11-7C9D-EC58-58B1-7AF30149AB0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15115" y="1981200"/>
            <a:ext cx="836177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3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B73A-D168-488B-97B4-0DC6E909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022" y="304800"/>
            <a:ext cx="1525956" cy="83140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F89DD-BBD7-4C4A-8E8E-FB8C77D1B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68" y="2286000"/>
            <a:ext cx="6216632" cy="440124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CREB is typically bound to its binding site on DNA (inactive) </a:t>
            </a:r>
          </a:p>
          <a:p>
            <a:r>
              <a:rPr lang="en-US" sz="2800" dirty="0"/>
              <a:t>It can be phosphorylated (activated) by multiple kinases </a:t>
            </a:r>
          </a:p>
          <a:p>
            <a:pPr lvl="1"/>
            <a:r>
              <a:rPr lang="en-US" sz="2800" dirty="0"/>
              <a:t>Kinases can also enhance CREB transcriptional activity </a:t>
            </a:r>
            <a:r>
              <a:rPr lang="en-US" sz="2800" i="1" dirty="0"/>
              <a:t>indirectly </a:t>
            </a:r>
            <a:r>
              <a:rPr lang="en-US" sz="2800" dirty="0"/>
              <a:t>through inhibition of phosphatases </a:t>
            </a:r>
          </a:p>
          <a:p>
            <a:r>
              <a:rPr lang="en-US" sz="2800" dirty="0"/>
              <a:t>CREB-sensitive genes include: c-</a:t>
            </a:r>
            <a:r>
              <a:rPr lang="en-US" sz="2800" dirty="0" err="1"/>
              <a:t>fos</a:t>
            </a:r>
            <a:r>
              <a:rPr lang="en-US" sz="2800" dirty="0"/>
              <a:t>, BDNF, TH, many neuropeptides</a:t>
            </a:r>
          </a:p>
        </p:txBody>
      </p:sp>
      <p:pic>
        <p:nvPicPr>
          <p:cNvPr id="4" name="Picture 3" descr="Neuroscience6e-Fig-07-12-0.jpg">
            <a:extLst>
              <a:ext uri="{FF2B5EF4-FFF2-40B4-BE49-F238E27FC236}">
                <a16:creationId xmlns:a16="http://schemas.microsoft.com/office/drawing/2014/main" id="{63CB93C0-458E-4F6C-A025-BEDDA8A50C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" b="6455"/>
          <a:stretch/>
        </p:blipFill>
        <p:spPr>
          <a:xfrm>
            <a:off x="6477000" y="1808701"/>
            <a:ext cx="5715000" cy="496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1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DA34-73F2-474E-AE76-AEE9B096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621" y="285118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c-</a:t>
            </a:r>
            <a:r>
              <a:rPr lang="en-US" dirty="0" err="1">
                <a:solidFill>
                  <a:schemeClr val="tx1"/>
                </a:solidFill>
              </a:rPr>
              <a:t>fos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d3dwu2jylmmhzr.cloudfront.net/content/msb/9/1/687/F1.large.jpg?width=800&amp;height=600&amp;carousel=1">
            <a:extLst>
              <a:ext uri="{FF2B5EF4-FFF2-40B4-BE49-F238E27FC236}">
                <a16:creationId xmlns:a16="http://schemas.microsoft.com/office/drawing/2014/main" id="{88A61E35-37B1-427A-AA3C-5EC99941D0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37"/>
          <a:stretch/>
        </p:blipFill>
        <p:spPr bwMode="auto">
          <a:xfrm>
            <a:off x="7404410" y="345759"/>
            <a:ext cx="4070192" cy="284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13D9D8-42BD-464C-8119-3B8E5440AE45}"/>
              </a:ext>
            </a:extLst>
          </p:cNvPr>
          <p:cNvSpPr txBox="1">
            <a:spLocks/>
          </p:cNvSpPr>
          <p:nvPr/>
        </p:nvSpPr>
        <p:spPr>
          <a:xfrm>
            <a:off x="388188" y="2286000"/>
            <a:ext cx="7011042" cy="449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</a:t>
            </a:r>
            <a:r>
              <a:rPr lang="en-US" b="1" dirty="0"/>
              <a:t>immediate early gene </a:t>
            </a:r>
            <a:r>
              <a:rPr lang="en-US" dirty="0"/>
              <a:t>&amp; a</a:t>
            </a:r>
            <a:r>
              <a:rPr lang="en-US" i="1" dirty="0"/>
              <a:t> </a:t>
            </a:r>
            <a:r>
              <a:rPr lang="en-US" dirty="0"/>
              <a:t>transcription factor</a:t>
            </a:r>
          </a:p>
          <a:p>
            <a:r>
              <a:rPr lang="en-US" dirty="0"/>
              <a:t>Activation of a cell causes c-</a:t>
            </a:r>
            <a:r>
              <a:rPr lang="en-US" dirty="0" err="1"/>
              <a:t>fos</a:t>
            </a:r>
            <a:r>
              <a:rPr lang="en-US" dirty="0"/>
              <a:t> levels to rise dramatically in ~60 min </a:t>
            </a:r>
          </a:p>
          <a:p>
            <a:r>
              <a:rPr lang="en-US" dirty="0"/>
              <a:t>Regulatory region has multiple binding sites</a:t>
            </a:r>
          </a:p>
          <a:p>
            <a:r>
              <a:rPr lang="en-US" dirty="0"/>
              <a:t>Once activated c-</a:t>
            </a:r>
            <a:r>
              <a:rPr lang="en-US" dirty="0" err="1"/>
              <a:t>fos</a:t>
            </a:r>
            <a:r>
              <a:rPr lang="en-US" dirty="0"/>
              <a:t> can stimulate second order genes (</a:t>
            </a:r>
            <a:r>
              <a:rPr lang="en-US" i="1" dirty="0"/>
              <a:t>delayed response genes</a:t>
            </a:r>
            <a:r>
              <a:rPr lang="en-US" dirty="0"/>
              <a:t>)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0D954-8716-441F-A997-3515A6D72790}"/>
              </a:ext>
            </a:extLst>
          </p:cNvPr>
          <p:cNvSpPr txBox="1"/>
          <p:nvPr/>
        </p:nvSpPr>
        <p:spPr>
          <a:xfrm>
            <a:off x="7805290" y="546017"/>
            <a:ext cx="126423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Early Immediate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97C32-C91E-42EC-8AE1-47240545ACF2}"/>
              </a:ext>
            </a:extLst>
          </p:cNvPr>
          <p:cNvSpPr txBox="1"/>
          <p:nvPr/>
        </p:nvSpPr>
        <p:spPr>
          <a:xfrm>
            <a:off x="9768467" y="238240"/>
            <a:ext cx="148682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Delayed </a:t>
            </a:r>
          </a:p>
        </p:txBody>
      </p:sp>
      <p:pic>
        <p:nvPicPr>
          <p:cNvPr id="4098" name="Picture 2" descr="Co-localization of c-fos, ChAT, and PRV in the L6-S1 segments. Double... |  Download Scientific Diagram">
            <a:extLst>
              <a:ext uri="{FF2B5EF4-FFF2-40B4-BE49-F238E27FC236}">
                <a16:creationId xmlns:a16="http://schemas.microsoft.com/office/drawing/2014/main" id="{98BE99A9-0585-4409-B606-62B7BDE41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230" y="3381597"/>
            <a:ext cx="4075372" cy="33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26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DA34-73F2-474E-AE76-AEE9B096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197529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Nuclear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18C4-8372-4042-B020-75DB09B9A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52" y="2058332"/>
            <a:ext cx="4096748" cy="4589439"/>
          </a:xfrm>
        </p:spPr>
        <p:txBody>
          <a:bodyPr>
            <a:noAutofit/>
          </a:bodyPr>
          <a:lstStyle/>
          <a:p>
            <a:pPr marL="0"/>
            <a:r>
              <a:rPr lang="en-US" sz="2400" dirty="0"/>
              <a:t>Nuclear receptors are </a:t>
            </a:r>
            <a:r>
              <a:rPr lang="en-US" sz="2400" b="1" dirty="0"/>
              <a:t>not membrane bound</a:t>
            </a:r>
            <a:r>
              <a:rPr lang="en-US" sz="2400" dirty="0"/>
              <a:t>.</a:t>
            </a:r>
          </a:p>
          <a:p>
            <a:pPr marL="0"/>
            <a:r>
              <a:rPr lang="en-US" sz="2400" dirty="0"/>
              <a:t>Membrane permeant ligands (mostly steroid hormones) can pass though the cell membrane and bind with nuclear receptors.</a:t>
            </a:r>
          </a:p>
          <a:p>
            <a:pPr marL="0"/>
            <a:r>
              <a:rPr lang="en-US" sz="2400" dirty="0"/>
              <a:t>Bound ligands create a ligand-receptor complex that binds specific regions of DNA where it acts as a transcription factor.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8F1A9-937A-0F3B-5F4A-49955FED1D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06" b="4856"/>
          <a:stretch>
            <a:fillRect/>
          </a:stretch>
        </p:blipFill>
        <p:spPr>
          <a:xfrm>
            <a:off x="7796714" y="1981200"/>
            <a:ext cx="3843834" cy="4589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07660-6B40-4FFB-21D7-B36A78D1D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171" r="76564" b="662"/>
          <a:stretch>
            <a:fillRect/>
          </a:stretch>
        </p:blipFill>
        <p:spPr>
          <a:xfrm>
            <a:off x="7924800" y="6473952"/>
            <a:ext cx="1277348" cy="322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0F243-8C09-9CE5-E460-D3BD1B832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032932"/>
            <a:ext cx="3148514" cy="375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8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E8A39A-B835-4D36-965A-275BE227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03550"/>
            <a:ext cx="10363200" cy="156845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Common Intracellular signaling cascade Examples</a:t>
            </a:r>
          </a:p>
        </p:txBody>
      </p:sp>
    </p:spTree>
    <p:extLst>
      <p:ext uri="{BB962C8B-B14F-4D97-AF65-F5344CB8AC3E}">
        <p14:creationId xmlns:p14="http://schemas.microsoft.com/office/powerpoint/2010/main" val="275281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2F12-8876-49CB-8C90-24566AF7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33400"/>
            <a:ext cx="5896998" cy="88297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NGF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D2406-094A-4074-A26D-2C62E587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440" y="2133600"/>
            <a:ext cx="6086184" cy="4459224"/>
          </a:xfrm>
        </p:spPr>
        <p:txBody>
          <a:bodyPr/>
          <a:lstStyle/>
          <a:p>
            <a:r>
              <a:rPr lang="en-US" sz="2400" dirty="0"/>
              <a:t>Neurotrophic growth factor (NGF)</a:t>
            </a:r>
          </a:p>
          <a:p>
            <a:r>
              <a:rPr lang="en-US" sz="2400" dirty="0"/>
              <a:t>Binds an RTK (</a:t>
            </a:r>
            <a:r>
              <a:rPr lang="en-US" sz="2400" dirty="0" err="1"/>
              <a:t>TrkA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Binding triggers RTK dimerization &amp; cross phosphorylation</a:t>
            </a:r>
          </a:p>
          <a:p>
            <a:pPr lvl="1"/>
            <a:r>
              <a:rPr lang="en-US" sz="2400" dirty="0"/>
              <a:t>the multiple phosphorylated sites act to initiate multiple pathways. </a:t>
            </a:r>
          </a:p>
          <a:p>
            <a:pPr lvl="2"/>
            <a:r>
              <a:rPr lang="en-US" sz="2400" dirty="0"/>
              <a:t>Ras pathways – cell differentiation</a:t>
            </a:r>
          </a:p>
          <a:p>
            <a:pPr lvl="2"/>
            <a:r>
              <a:rPr lang="en-US" sz="2400" dirty="0"/>
              <a:t>PLC </a:t>
            </a:r>
            <a:r>
              <a:rPr lang="en-US" sz="2400" dirty="0">
                <a:sym typeface="Wingdings" panose="05000000000000000000" pitchFamily="2" charset="2"/>
              </a:rPr>
              <a:t> IP3 &amp; DAG</a:t>
            </a:r>
          </a:p>
          <a:p>
            <a:pPr lvl="2"/>
            <a:r>
              <a:rPr lang="en-US" sz="2400" dirty="0">
                <a:sym typeface="Wingdings" panose="05000000000000000000" pitchFamily="2" charset="2"/>
              </a:rPr>
              <a:t>PI3 Kinase pathway – cell survival </a:t>
            </a:r>
            <a:endParaRPr lang="en-US" sz="2400" dirty="0"/>
          </a:p>
          <a:p>
            <a:pPr lvl="1"/>
            <a:endParaRPr lang="en-US" dirty="0"/>
          </a:p>
        </p:txBody>
      </p:sp>
      <p:pic>
        <p:nvPicPr>
          <p:cNvPr id="4" name="Picture 3" descr="Neuroscience6e-Fig-07-13-0.jpg">
            <a:extLst>
              <a:ext uri="{FF2B5EF4-FFF2-40B4-BE49-F238E27FC236}">
                <a16:creationId xmlns:a16="http://schemas.microsoft.com/office/drawing/2014/main" id="{505CAD18-6DD0-4272-9868-CDB4B2121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024" y="265176"/>
            <a:ext cx="5279136" cy="63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0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7A42-A48F-4E6C-9299-1EEDE934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263327"/>
            <a:ext cx="9372600" cy="120879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Regulation of Tyrosine hydroxylase (TH)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7974-49AD-4463-B344-12A45E031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48" y="2064204"/>
            <a:ext cx="5237852" cy="4526840"/>
          </a:xfrm>
        </p:spPr>
        <p:txBody>
          <a:bodyPr>
            <a:normAutofit/>
          </a:bodyPr>
          <a:lstStyle/>
          <a:p>
            <a:r>
              <a:rPr lang="en-US" sz="2800" dirty="0"/>
              <a:t>Can be phosphorylated by: PKA, PKC, and CaMKII </a:t>
            </a:r>
          </a:p>
          <a:p>
            <a:pPr lvl="1"/>
            <a:r>
              <a:rPr lang="en-US" sz="2800" dirty="0"/>
              <a:t>These are all activated by </a:t>
            </a:r>
            <a:r>
              <a:rPr lang="en-US" sz="2800" kern="1200" dirty="0"/>
              <a:t>Ca</a:t>
            </a:r>
            <a:r>
              <a:rPr lang="en-US" sz="2800" kern="1200" baseline="30000" dirty="0"/>
              <a:t>2+</a:t>
            </a:r>
            <a:endParaRPr lang="en-US" sz="2800" baseline="30000" dirty="0"/>
          </a:p>
          <a:p>
            <a:r>
              <a:rPr lang="en-US" sz="2800" dirty="0"/>
              <a:t>Phosphorylation changes TH conformation and increases it catalytic activity</a:t>
            </a:r>
          </a:p>
          <a:p>
            <a:r>
              <a:rPr lang="en-US" sz="2800" dirty="0"/>
              <a:t>Allowing an increase in catecholamine synthesis</a:t>
            </a:r>
          </a:p>
        </p:txBody>
      </p:sp>
      <p:pic>
        <p:nvPicPr>
          <p:cNvPr id="4" name="Picture 3" descr="Neuroscience6e-Fig-07-15-0.jpg">
            <a:extLst>
              <a:ext uri="{FF2B5EF4-FFF2-40B4-BE49-F238E27FC236}">
                <a16:creationId xmlns:a16="http://schemas.microsoft.com/office/drawing/2014/main" id="{D709B13D-E62D-489B-84E0-EDB980676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857038"/>
            <a:ext cx="4302368" cy="5000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6A050-1FF3-4564-AE05-1EB4A87FDC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13" t="1409" r="21855" b="-1409"/>
          <a:stretch/>
        </p:blipFill>
        <p:spPr>
          <a:xfrm>
            <a:off x="6349563" y="1857039"/>
            <a:ext cx="1539753" cy="500096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381828-CE0D-4BDC-A3C6-6726C1C2F53D}"/>
              </a:ext>
            </a:extLst>
          </p:cNvPr>
          <p:cNvSpPr/>
          <p:nvPr/>
        </p:nvSpPr>
        <p:spPr>
          <a:xfrm>
            <a:off x="6415931" y="2362200"/>
            <a:ext cx="923915" cy="569701"/>
          </a:xfrm>
          <a:custGeom>
            <a:avLst/>
            <a:gdLst>
              <a:gd name="csX0" fmla="*/ 0 w 923915"/>
              <a:gd name="csY0" fmla="*/ 284851 h 569701"/>
              <a:gd name="csX1" fmla="*/ 461958 w 923915"/>
              <a:gd name="csY1" fmla="*/ 0 h 569701"/>
              <a:gd name="csX2" fmla="*/ 923916 w 923915"/>
              <a:gd name="csY2" fmla="*/ 284851 h 569701"/>
              <a:gd name="csX3" fmla="*/ 461958 w 923915"/>
              <a:gd name="csY3" fmla="*/ 569702 h 569701"/>
              <a:gd name="csX4" fmla="*/ 0 w 923915"/>
              <a:gd name="csY4" fmla="*/ 284851 h 569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3915" h="569701" extrusionOk="0">
                <a:moveTo>
                  <a:pt x="0" y="284851"/>
                </a:moveTo>
                <a:cubicBezTo>
                  <a:pt x="-3981" y="127702"/>
                  <a:pt x="222691" y="15598"/>
                  <a:pt x="461958" y="0"/>
                </a:cubicBezTo>
                <a:cubicBezTo>
                  <a:pt x="730823" y="28186"/>
                  <a:pt x="924133" y="134150"/>
                  <a:pt x="923916" y="284851"/>
                </a:cubicBezTo>
                <a:cubicBezTo>
                  <a:pt x="911954" y="424122"/>
                  <a:pt x="737337" y="594183"/>
                  <a:pt x="461958" y="569702"/>
                </a:cubicBezTo>
                <a:cubicBezTo>
                  <a:pt x="207709" y="566418"/>
                  <a:pt x="3122" y="447991"/>
                  <a:pt x="0" y="28485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1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96EBBC-2DB5-4DA6-8FE1-D89B10333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320" y="122583"/>
            <a:ext cx="7032880" cy="67354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DE16B-62CC-4ED3-9E69-AF5CDB31D5B3}"/>
              </a:ext>
            </a:extLst>
          </p:cNvPr>
          <p:cNvSpPr txBox="1"/>
          <p:nvPr/>
        </p:nvSpPr>
        <p:spPr>
          <a:xfrm>
            <a:off x="584200" y="2274838"/>
            <a:ext cx="337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And it is all happening simultaneously within our neurons!</a:t>
            </a:r>
          </a:p>
        </p:txBody>
      </p:sp>
    </p:spTree>
    <p:extLst>
      <p:ext uri="{BB962C8B-B14F-4D97-AF65-F5344CB8AC3E}">
        <p14:creationId xmlns:p14="http://schemas.microsoft.com/office/powerpoint/2010/main" val="6090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69F96DE-5ED8-4B52-8682-33DAD40A3E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176" y="685800"/>
            <a:ext cx="8131870" cy="606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4273AF-D36D-47CF-80A3-20360A96F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54" y="2346780"/>
            <a:ext cx="3223682" cy="1371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And not just in neurons … </a:t>
            </a:r>
          </a:p>
        </p:txBody>
      </p:sp>
    </p:spTree>
    <p:extLst>
      <p:ext uri="{BB962C8B-B14F-4D97-AF65-F5344CB8AC3E}">
        <p14:creationId xmlns:p14="http://schemas.microsoft.com/office/powerpoint/2010/main" val="1857074415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Custom 1">
      <a:dk1>
        <a:sysClr val="windowText" lastClr="000000"/>
      </a:dk1>
      <a:lt1>
        <a:sysClr val="window" lastClr="FFFFFF"/>
      </a:lt1>
      <a:dk2>
        <a:srgbClr val="154734"/>
      </a:dk2>
      <a:lt2>
        <a:srgbClr val="FFB81C"/>
      </a:lt2>
      <a:accent1>
        <a:srgbClr val="3F693C"/>
      </a:accent1>
      <a:accent2>
        <a:srgbClr val="D19E12"/>
      </a:accent2>
      <a:accent3>
        <a:srgbClr val="9E3223"/>
      </a:accent3>
      <a:accent4>
        <a:srgbClr val="1B5A7D"/>
      </a:accent4>
      <a:accent5>
        <a:srgbClr val="DDDBD3"/>
      </a:accent5>
      <a:accent6>
        <a:srgbClr val="653A2B"/>
      </a:accent6>
      <a:hlink>
        <a:srgbClr val="0070C0"/>
      </a:hlink>
      <a:folHlink>
        <a:srgbClr val="3F693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Figure-Only Templa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xford Template 2020-05-05" id="{B78F6A64-C076-4E15-90E5-9A59F0E29698}" vid="{18DFF3BF-7F46-4B14-BD35-A03A2976456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554</Words>
  <Application>Microsoft Office PowerPoint</Application>
  <PresentationFormat>Widescreen</PresentationFormat>
  <Paragraphs>84</Paragraphs>
  <Slides>17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Georgia</vt:lpstr>
      <vt:lpstr>Tahoma</vt:lpstr>
      <vt:lpstr>Times New Roman</vt:lpstr>
      <vt:lpstr>Wingdings</vt:lpstr>
      <vt:lpstr>Blends</vt:lpstr>
      <vt:lpstr>Figure-Only Templates</vt:lpstr>
      <vt:lpstr>Late effectors</vt:lpstr>
      <vt:lpstr>Kinase</vt:lpstr>
      <vt:lpstr>All kinases work about the same</vt:lpstr>
      <vt:lpstr>PowerPoint Presentation</vt:lpstr>
      <vt:lpstr>Protein Phosphatases</vt:lpstr>
      <vt:lpstr>Nuclear Signaling </vt:lpstr>
      <vt:lpstr>Nuclear Signaling </vt:lpstr>
      <vt:lpstr>RNA Synthesis</vt:lpstr>
      <vt:lpstr>RNA Transcription and Translation</vt:lpstr>
      <vt:lpstr>CREB</vt:lpstr>
      <vt:lpstr>c-fos</vt:lpstr>
      <vt:lpstr>Nuclear Receptors</vt:lpstr>
      <vt:lpstr>Common Intracellular signaling cascade Examples</vt:lpstr>
      <vt:lpstr>NGF Pathways</vt:lpstr>
      <vt:lpstr>Regulation of Tyrosine hydroxylase (TH)</vt:lpstr>
      <vt:lpstr>PowerPoint Presentation</vt:lpstr>
      <vt:lpstr>And not just in neurons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Keele, Brad</dc:creator>
  <cp:lastModifiedBy>Phillips, Nicole</cp:lastModifiedBy>
  <cp:revision>94</cp:revision>
  <cp:lastPrinted>2021-10-11T16:10:15Z</cp:lastPrinted>
  <dcterms:created xsi:type="dcterms:W3CDTF">2019-09-24T20:57:11Z</dcterms:created>
  <dcterms:modified xsi:type="dcterms:W3CDTF">2026-02-23T03:57:11Z</dcterms:modified>
</cp:coreProperties>
</file>