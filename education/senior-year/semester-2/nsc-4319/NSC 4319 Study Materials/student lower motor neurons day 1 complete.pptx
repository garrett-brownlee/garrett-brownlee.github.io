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8.jpg" ContentType="image/jpeg"/>
  <Override PartName="/ppt/notesSlides/notesSlide6.xml" ContentType="application/vnd.openxmlformats-officedocument.presentationml.notesSlide+xml"/>
  <Override PartName="/ppt/media/image9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56" r:id="rId2"/>
    <p:sldId id="257" r:id="rId3"/>
    <p:sldId id="680" r:id="rId4"/>
    <p:sldId id="348" r:id="rId5"/>
    <p:sldId id="350" r:id="rId6"/>
    <p:sldId id="374" r:id="rId7"/>
    <p:sldId id="261" r:id="rId8"/>
    <p:sldId id="354" r:id="rId9"/>
    <p:sldId id="355" r:id="rId10"/>
    <p:sldId id="456" r:id="rId11"/>
    <p:sldId id="683" r:id="rId12"/>
    <p:sldId id="6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952"/>
    <a:srgbClr val="F67A7A"/>
    <a:srgbClr val="F46262"/>
    <a:srgbClr val="F99787"/>
    <a:srgbClr val="FBB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76728" autoAdjust="0"/>
  </p:normalViewPr>
  <p:slideViewPr>
    <p:cSldViewPr snapToGrid="0">
      <p:cViewPr varScale="1">
        <p:scale>
          <a:sx n="122" d="100"/>
          <a:sy n="122" d="100"/>
        </p:scale>
        <p:origin x="17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663C5-59D1-45AC-AC35-991A022452D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EC05B-ACE8-4620-ADE1-C92D63531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2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54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91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79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1500"/>
              </a:spcBef>
            </a:pPr>
            <a:endParaRPr lang="en-US" altLang="en-US" b="1" dirty="0"/>
          </a:p>
          <a:p>
            <a:pPr eaLnBrk="1" hangingPunct="1">
              <a:spcBef>
                <a:spcPts val="1500"/>
              </a:spcBef>
            </a:pPr>
            <a:r>
              <a:rPr lang="en-US" altLang="en-US" b="1" dirty="0"/>
              <a:t>https://app.jove.com/embed/player?id=10871&amp;t=1&amp;s=1&amp;fpv=1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38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57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75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02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19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42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2043-251F-B094-E66E-78C003852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2ECAF-69A0-FDFA-BEAC-2F30EFAB5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8076A-481B-E4F6-1F80-8AE6D45D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2B899-18D5-221A-90BB-D433DC05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A00F1-6993-EFBC-3610-EA1AF649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9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DE8A-4A4B-4B0C-B554-8D5B3956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E9E7-F370-4DA9-362E-9612FA9D1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42A3A-0EA0-2C59-6DE6-49EC2DD1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5BA93-FDCE-EAAE-7CDC-63EFC7FB8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3495F-1E2F-B135-667D-848A9507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4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469F-7AD8-F999-6ADD-C8C78F98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E26E-1130-F9E4-29B7-AB462A63B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F71E-2A72-84D5-D2AB-641B2F4C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32EC2-2B3F-CAC2-5D45-6FAEEFBD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2FCAE-5A7B-F3B8-4BD3-266D2093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1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7A30-F879-D158-831E-8A009DBA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D805C-8980-2094-024D-7FF6D610B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1A39E-E8F4-ADA9-DFF8-3F7B81A5A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5CFD-59B6-CACE-C998-FDCB49A5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F8826-8C17-9528-7E65-99B4F843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03C6-E801-A63D-E280-04413734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D687-0564-D611-F856-B37FBF59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41694-9977-49AA-BF94-9FE0BB634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E218F-0966-279D-1154-F3B3BF92B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66B44-3C1A-972B-A930-2B6594821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BD72B3-EDE5-9D6E-F0A5-39E3F3607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9E44E-9603-A57A-C4F1-548AACBB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D45C4-35B9-18A0-62D5-D8F50F7D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DB466-8203-A9DB-F786-5D460519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0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9DBD-9274-E5A3-9717-95459D10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9DDE0-C42C-6D48-EA99-DC2576EE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5367A-D13D-5699-55E3-67BAE57C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A8496-78A0-51DA-5C6F-FF36E322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8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6F61E-511F-838F-1211-0DD4FA56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2945C-842C-19ED-64FF-DA4F6C2A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27E83-4207-0858-40F4-2541C9A6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7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03B2A-4523-FE19-8CCE-C875C0BF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0D74-EBDD-9D11-21A1-44E75B07F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ABA93-88D1-7808-9020-C3E57F12F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B6E7C-EA94-1853-D232-25FEAD70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7AFEB-7050-3E90-20E6-E86B3C0A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582C-0469-D552-5D4C-BC012A9C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8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53D9-84DA-81F4-8475-D7B72E02A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786B5A-331E-7CED-091E-AE0BF5173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96164-40AB-D69B-A39B-17442A66C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E1067-39E7-BC90-914F-2288F1B4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38F90-1503-304F-AA32-24B43EE8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CE7B5-6665-EC0F-C044-ABC5889A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1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CC16-424E-9272-0C5C-4DE616E4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9AD6C-088E-FE47-3EB5-2A704ED7D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D0EE8-C46C-F218-1487-998916C3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BCA69-BE6E-21D2-227E-872272BE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EC3F6-8B68-54A8-9CB3-A5DE66DE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FEF8C-01A6-2878-6C1C-5E793621D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69D01-1A75-726E-BAD6-736049D0D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DD67B-A848-EC87-EF28-FF5751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8D383-2714-8B78-92ED-12919F28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00D86-CA06-2EEA-4AF6-A9CAD27C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5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BBDB7"/>
            </a:gs>
            <a:gs pos="74000">
              <a:srgbClr val="F99787"/>
            </a:gs>
            <a:gs pos="83000">
              <a:srgbClr val="F67A7A"/>
            </a:gs>
            <a:gs pos="100000">
              <a:srgbClr val="F0695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FD30D-E3BA-1B02-9753-44834E9E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DE1A3-A97F-47FC-ADBB-C133A443D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AFC58-E11F-FDD5-AC26-E2FC58B65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58B08-D63B-4AF0-BEC4-15CBC22939B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9BCAC-77DC-1180-4873-1E5F750D0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DB340-DD46-B64E-E040-8221E4EB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4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-IAoht28e7I?feature=oembed" TargetMode="Externa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E32-4C7E-7E75-42CA-AB0724AB3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10726738" cy="2971801"/>
          </a:xfrm>
        </p:spPr>
        <p:txBody>
          <a:bodyPr/>
          <a:lstStyle/>
          <a:p>
            <a:pPr algn="ctr"/>
            <a:r>
              <a:rPr lang="en-US" dirty="0"/>
              <a:t>Lower motor neuron circuits and motor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65983-34A2-7F47-5652-29946CC20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3962" y="3818467"/>
            <a:ext cx="6400800" cy="1947333"/>
          </a:xfrm>
        </p:spPr>
        <p:txBody>
          <a:bodyPr/>
          <a:lstStyle/>
          <a:p>
            <a:pPr algn="ctr"/>
            <a:r>
              <a:rPr lang="en-US" dirty="0"/>
              <a:t>By: Nicole Phillips</a:t>
            </a:r>
          </a:p>
        </p:txBody>
      </p:sp>
    </p:spTree>
    <p:extLst>
      <p:ext uri="{BB962C8B-B14F-4D97-AF65-F5344CB8AC3E}">
        <p14:creationId xmlns:p14="http://schemas.microsoft.com/office/powerpoint/2010/main" val="263161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E0AD-910D-FEDD-B954-61A4AF7A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pPr algn="ctr"/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A9DBB-5D88-25A7-02DA-6BA1BBB14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661" y="1507067"/>
            <a:ext cx="10414123" cy="4839025"/>
          </a:xfrm>
        </p:spPr>
        <p:txBody>
          <a:bodyPr>
            <a:normAutofit/>
          </a:bodyPr>
          <a:lstStyle/>
          <a:p>
            <a:r>
              <a:rPr lang="en-US" dirty="0"/>
              <a:t>Describe the general organization and functional properties of the motor system.</a:t>
            </a:r>
          </a:p>
          <a:p>
            <a:r>
              <a:rPr lang="en-US" dirty="0"/>
              <a:t>Explain the functional anatomy of reflexes, and how they are important in normal motor output.</a:t>
            </a:r>
          </a:p>
          <a:p>
            <a:r>
              <a:rPr lang="en-US" dirty="0"/>
              <a:t>Identify the signs of LMN damage and the anatomical basis of these signs.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50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CD14-8610-C045-389C-817448E6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75CFF-34ED-4958-4459-16FE866AF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965076"/>
          </a:xfrm>
        </p:spPr>
        <p:txBody>
          <a:bodyPr/>
          <a:lstStyle/>
          <a:p>
            <a:pPr algn="ctr"/>
            <a:r>
              <a:rPr lang="en-US" dirty="0"/>
              <a:t>Spatial and temporal patters of muscle contractions orchestrated by neural circuits</a:t>
            </a:r>
          </a:p>
          <a:p>
            <a:endParaRPr lang="en-US" dirty="0"/>
          </a:p>
        </p:txBody>
      </p:sp>
      <p:pic>
        <p:nvPicPr>
          <p:cNvPr id="4" name="Picture 2" descr="Dancing Baby GIFs | Tenor">
            <a:extLst>
              <a:ext uri="{FF2B5EF4-FFF2-40B4-BE49-F238E27FC236}">
                <a16:creationId xmlns:a16="http://schemas.microsoft.com/office/drawing/2014/main" id="{D9CE57C0-612B-D1C3-75B9-68A6115DA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453" y="2925637"/>
            <a:ext cx="3697093" cy="393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864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58B1-3D2A-4EF9-9EB0-A4EA3410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417" y="52172"/>
            <a:ext cx="10515600" cy="1679899"/>
          </a:xfrm>
        </p:spPr>
        <p:txBody>
          <a:bodyPr/>
          <a:lstStyle/>
          <a:p>
            <a:pPr algn="ctr"/>
            <a:r>
              <a:rPr lang="en-US" dirty="0"/>
              <a:t>Four Neural Centers for Movement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5D05D05-363F-4D4E-AD54-AACFA210FDB0}"/>
              </a:ext>
            </a:extLst>
          </p:cNvPr>
          <p:cNvSpPr/>
          <p:nvPr/>
        </p:nvSpPr>
        <p:spPr>
          <a:xfrm>
            <a:off x="3250829" y="1732071"/>
            <a:ext cx="5328745" cy="5125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A0908-C8FC-4D7D-BFDE-B853A7E7E964}"/>
              </a:ext>
            </a:extLst>
          </p:cNvPr>
          <p:cNvSpPr txBox="1"/>
          <p:nvPr/>
        </p:nvSpPr>
        <p:spPr>
          <a:xfrm>
            <a:off x="2710859" y="4824125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7D04C-FE0E-4029-8236-FA1DCBB7BC7F}"/>
              </a:ext>
            </a:extLst>
          </p:cNvPr>
          <p:cNvSpPr txBox="1"/>
          <p:nvPr/>
        </p:nvSpPr>
        <p:spPr>
          <a:xfrm>
            <a:off x="240233" y="5193457"/>
            <a:ext cx="28279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Lower motor neurons (LMNs)</a:t>
            </a:r>
          </a:p>
          <a:p>
            <a:pPr algn="ctr"/>
            <a:r>
              <a:rPr lang="en-US" dirty="0"/>
              <a:t>“Final common path” for initiating movement</a:t>
            </a:r>
          </a:p>
          <a:p>
            <a:pPr algn="ctr"/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D088C-C851-480C-991E-C24576F658C6}"/>
              </a:ext>
            </a:extLst>
          </p:cNvPr>
          <p:cNvSpPr txBox="1"/>
          <p:nvPr/>
        </p:nvSpPr>
        <p:spPr>
          <a:xfrm>
            <a:off x="2710859" y="2330533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0A8A57-EE55-4B4E-BAAA-96671EB97695}"/>
              </a:ext>
            </a:extLst>
          </p:cNvPr>
          <p:cNvSpPr txBox="1"/>
          <p:nvPr/>
        </p:nvSpPr>
        <p:spPr>
          <a:xfrm>
            <a:off x="8307620" y="3092971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FE3EFD-3E1E-4BD3-A11D-3817D9C4FD10}"/>
              </a:ext>
            </a:extLst>
          </p:cNvPr>
          <p:cNvSpPr txBox="1"/>
          <p:nvPr/>
        </p:nvSpPr>
        <p:spPr>
          <a:xfrm>
            <a:off x="8307619" y="2156221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48241-7CEE-4506-BB1D-677F7DA9FA75}"/>
              </a:ext>
            </a:extLst>
          </p:cNvPr>
          <p:cNvSpPr txBox="1"/>
          <p:nvPr/>
        </p:nvSpPr>
        <p:spPr>
          <a:xfrm>
            <a:off x="8762192" y="2624596"/>
            <a:ext cx="307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Modulation of motor plans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49C0C-D734-41CB-929F-92261BCEF3DB}"/>
              </a:ext>
            </a:extLst>
          </p:cNvPr>
          <p:cNvSpPr txBox="1"/>
          <p:nvPr/>
        </p:nvSpPr>
        <p:spPr>
          <a:xfrm>
            <a:off x="562708" y="2330533"/>
            <a:ext cx="2505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Upper Motor Neurons (UMNs)</a:t>
            </a:r>
            <a:endParaRPr lang="en-US" dirty="0"/>
          </a:p>
          <a:p>
            <a:pPr algn="ctr"/>
            <a:r>
              <a:rPr lang="en-US" dirty="0"/>
              <a:t>Top-down control of movement</a:t>
            </a:r>
          </a:p>
        </p:txBody>
      </p:sp>
    </p:spTree>
    <p:extLst>
      <p:ext uri="{BB962C8B-B14F-4D97-AF65-F5344CB8AC3E}">
        <p14:creationId xmlns:p14="http://schemas.microsoft.com/office/powerpoint/2010/main" val="161525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B870D-3D6A-46B9-A2DF-B03B84311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90" y="-3"/>
            <a:ext cx="8258908" cy="1138687"/>
          </a:xfrm>
        </p:spPr>
        <p:txBody>
          <a:bodyPr/>
          <a:lstStyle/>
          <a:p>
            <a:pPr algn="ctr"/>
            <a:r>
              <a:rPr lang="en-US" dirty="0"/>
              <a:t>Motor Neuron-Muscle Relationship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7A27A-8C05-2E4F-8B48-01F6264DE09E}"/>
              </a:ext>
            </a:extLst>
          </p:cNvPr>
          <p:cNvSpPr txBox="1"/>
          <p:nvPr/>
        </p:nvSpPr>
        <p:spPr>
          <a:xfrm>
            <a:off x="607020" y="1138684"/>
            <a:ext cx="764469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Each LMN innervates muscle fibers of a single muscle(</a:t>
            </a:r>
            <a:r>
              <a:rPr lang="en-US" sz="2400" dirty="0" err="1"/>
              <a:t>e.g</a:t>
            </a:r>
            <a:r>
              <a:rPr lang="en-US" sz="2400" dirty="0"/>
              <a:t> bicep)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Groups of LMNs that innervate </a:t>
            </a:r>
            <a:r>
              <a:rPr lang="en-US" sz="2400" i="1" dirty="0"/>
              <a:t>the same muscle </a:t>
            </a:r>
            <a:r>
              <a:rPr lang="en-US" sz="2400" dirty="0"/>
              <a:t>are referred to as the </a:t>
            </a:r>
            <a:r>
              <a:rPr lang="en-US" sz="2400" b="1" dirty="0"/>
              <a:t>motor neuron pool </a:t>
            </a:r>
            <a:r>
              <a:rPr lang="en-US" sz="2400" dirty="0"/>
              <a:t>for that muscle.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Motor neuron pools have a somatotopic organization in the ventral horn.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Two types of LMNs exit the ventral root: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u="sng" dirty="0"/>
              <a:t>α motor neurons (large)</a:t>
            </a:r>
            <a:r>
              <a:rPr lang="en-US" sz="2400" dirty="0">
                <a:sym typeface="Wingdings" panose="05000000000000000000" pitchFamily="2" charset="2"/>
              </a:rPr>
              <a:t> innervate the striated muscle fibers needed for posture and movement 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l-GR" sz="2400" b="1" u="sng" dirty="0"/>
              <a:t>γ</a:t>
            </a:r>
            <a:r>
              <a:rPr lang="en-US" sz="2400" b="1" u="sng" dirty="0"/>
              <a:t> motor neurons (small)</a:t>
            </a:r>
            <a:r>
              <a:rPr lang="en-US" sz="2400" dirty="0">
                <a:sym typeface="Wingdings" panose="05000000000000000000" pitchFamily="2" charset="2"/>
              </a:rPr>
              <a:t> specialized fibers that innervate muscle spindles.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87205C-9D9A-3589-4694-7DAAE2B56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718" y="0"/>
            <a:ext cx="3940282" cy="6858000"/>
          </a:xfrm>
          <a:prstGeom prst="rect">
            <a:avLst/>
          </a:prstGeom>
        </p:spPr>
      </p:pic>
      <p:pic>
        <p:nvPicPr>
          <p:cNvPr id="21" name="Picture 20" descr="Neuroscience6e-Fig-16-03-0.jpg">
            <a:extLst>
              <a:ext uri="{FF2B5EF4-FFF2-40B4-BE49-F238E27FC236}">
                <a16:creationId xmlns:a16="http://schemas.microsoft.com/office/drawing/2014/main" id="{C0B5D120-E30E-4109-95C3-D667BCE6D42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7"/>
          <a:stretch/>
        </p:blipFill>
        <p:spPr>
          <a:xfrm>
            <a:off x="8251718" y="1"/>
            <a:ext cx="1267034" cy="64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3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69CE-494E-4B4F-A688-FA6B2465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318" y="21431"/>
            <a:ext cx="10459066" cy="1371600"/>
          </a:xfrm>
        </p:spPr>
        <p:txBody>
          <a:bodyPr/>
          <a:lstStyle/>
          <a:p>
            <a:pPr algn="ctr"/>
            <a:r>
              <a:rPr lang="en-US" dirty="0"/>
              <a:t>Fiber Types in the Motor System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237530C9-9E9F-4070-9BB6-D3538C130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453798"/>
              </p:ext>
            </p:extLst>
          </p:nvPr>
        </p:nvGraphicFramePr>
        <p:xfrm>
          <a:off x="0" y="3800884"/>
          <a:ext cx="10277230" cy="19983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17793">
                  <a:extLst>
                    <a:ext uri="{9D8B030D-6E8A-4147-A177-3AD203B41FA5}">
                      <a16:colId xmlns:a16="http://schemas.microsoft.com/office/drawing/2014/main" val="1511486412"/>
                    </a:ext>
                  </a:extLst>
                </a:gridCol>
                <a:gridCol w="1089260">
                  <a:extLst>
                    <a:ext uri="{9D8B030D-6E8A-4147-A177-3AD203B41FA5}">
                      <a16:colId xmlns:a16="http://schemas.microsoft.com/office/drawing/2014/main" val="1246672627"/>
                    </a:ext>
                  </a:extLst>
                </a:gridCol>
                <a:gridCol w="1643432">
                  <a:extLst>
                    <a:ext uri="{9D8B030D-6E8A-4147-A177-3AD203B41FA5}">
                      <a16:colId xmlns:a16="http://schemas.microsoft.com/office/drawing/2014/main" val="1548078751"/>
                    </a:ext>
                  </a:extLst>
                </a:gridCol>
                <a:gridCol w="1184988">
                  <a:extLst>
                    <a:ext uri="{9D8B030D-6E8A-4147-A177-3AD203B41FA5}">
                      <a16:colId xmlns:a16="http://schemas.microsoft.com/office/drawing/2014/main" val="4102974030"/>
                    </a:ext>
                  </a:extLst>
                </a:gridCol>
                <a:gridCol w="5541757">
                  <a:extLst>
                    <a:ext uri="{9D8B030D-6E8A-4147-A177-3AD203B41FA5}">
                      <a16:colId xmlns:a16="http://schemas.microsoft.com/office/drawing/2014/main" val="3301681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Myelin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Sensory Fiber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935459"/>
                  </a:ext>
                </a:extLst>
              </a:tr>
              <a:tr h="504830">
                <a:tc>
                  <a:txBody>
                    <a:bodyPr/>
                    <a:lstStyle/>
                    <a:p>
                      <a:r>
                        <a:rPr lang="en-US" sz="2000" dirty="0" err="1"/>
                        <a:t>Ia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  <a:r>
                        <a:rPr lang="el-GR" sz="2000" dirty="0"/>
                        <a:t>α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 – 20 </a:t>
                      </a:r>
                      <a:r>
                        <a:rPr lang="el-GR" sz="2000" dirty="0"/>
                        <a:t>μ</a:t>
                      </a:r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Primary receptors of </a:t>
                      </a:r>
                      <a:r>
                        <a:rPr lang="en-US" sz="2000" b="1" dirty="0"/>
                        <a:t>muscle spindle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148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Ib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  <a:r>
                        <a:rPr lang="el-GR" sz="2000" dirty="0"/>
                        <a:t>α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13 – 20 </a:t>
                      </a:r>
                      <a:r>
                        <a:rPr lang="el-GR" sz="2000" dirty="0"/>
                        <a:t>μ</a:t>
                      </a:r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Golgi Tendon Organ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647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  <a:r>
                        <a:rPr lang="el-GR" sz="2000" dirty="0"/>
                        <a:t>β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6 – 12 </a:t>
                      </a:r>
                      <a:r>
                        <a:rPr lang="el-GR" sz="2000" dirty="0"/>
                        <a:t>μ</a:t>
                      </a:r>
                      <a:r>
                        <a:rPr lang="en-US" sz="2000" dirty="0"/>
                        <a:t>m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Cutaneous mechanoreceptors, secondary receptors of </a:t>
                      </a:r>
                      <a:r>
                        <a:rPr lang="en-US" sz="2000" b="1" dirty="0"/>
                        <a:t>muscle spindle</a:t>
                      </a:r>
                      <a:r>
                        <a:rPr lang="en-US" sz="2000" dirty="0"/>
                        <a:t>, some nociceptors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515354"/>
                  </a:ext>
                </a:extLst>
              </a:tr>
            </a:tbl>
          </a:graphicData>
        </a:graphic>
      </p:graphicFrame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D01B2916-6DAB-446C-80DE-E01284D93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340132"/>
              </p:ext>
            </p:extLst>
          </p:nvPr>
        </p:nvGraphicFramePr>
        <p:xfrm>
          <a:off x="0" y="2131690"/>
          <a:ext cx="7268307" cy="12973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03500">
                  <a:extLst>
                    <a:ext uri="{9D8B030D-6E8A-4147-A177-3AD203B41FA5}">
                      <a16:colId xmlns:a16="http://schemas.microsoft.com/office/drawing/2014/main" val="1511486412"/>
                    </a:ext>
                  </a:extLst>
                </a:gridCol>
                <a:gridCol w="1062603">
                  <a:extLst>
                    <a:ext uri="{9D8B030D-6E8A-4147-A177-3AD203B41FA5}">
                      <a16:colId xmlns:a16="http://schemas.microsoft.com/office/drawing/2014/main" val="1246672627"/>
                    </a:ext>
                  </a:extLst>
                </a:gridCol>
                <a:gridCol w="1603573">
                  <a:extLst>
                    <a:ext uri="{9D8B030D-6E8A-4147-A177-3AD203B41FA5}">
                      <a16:colId xmlns:a16="http://schemas.microsoft.com/office/drawing/2014/main" val="3064885316"/>
                    </a:ext>
                  </a:extLst>
                </a:gridCol>
                <a:gridCol w="1223535">
                  <a:extLst>
                    <a:ext uri="{9D8B030D-6E8A-4147-A177-3AD203B41FA5}">
                      <a16:colId xmlns:a16="http://schemas.microsoft.com/office/drawing/2014/main" val="4102974030"/>
                    </a:ext>
                  </a:extLst>
                </a:gridCol>
                <a:gridCol w="2475096">
                  <a:extLst>
                    <a:ext uri="{9D8B030D-6E8A-4147-A177-3AD203B41FA5}">
                      <a16:colId xmlns:a16="http://schemas.microsoft.com/office/drawing/2014/main" val="3301681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Myelin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Motor Fiber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935459"/>
                  </a:ext>
                </a:extLst>
              </a:tr>
              <a:tr h="504830">
                <a:tc>
                  <a:txBody>
                    <a:bodyPr/>
                    <a:lstStyle/>
                    <a:p>
                      <a:r>
                        <a:rPr lang="el-GR" sz="2000" dirty="0"/>
                        <a:t>α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  <a:r>
                        <a:rPr lang="el-GR" sz="2000" dirty="0"/>
                        <a:t>α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13 – 20 </a:t>
                      </a:r>
                      <a:r>
                        <a:rPr lang="el-GR" sz="2000" dirty="0"/>
                        <a:t>μ</a:t>
                      </a:r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Extrafusal fibers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148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2000" dirty="0"/>
                        <a:t>γ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</a:t>
                      </a:r>
                      <a:r>
                        <a:rPr lang="el-GR" sz="2000" dirty="0"/>
                        <a:t>γ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5 – 8 </a:t>
                      </a:r>
                      <a:r>
                        <a:rPr lang="el-GR" sz="2000" dirty="0"/>
                        <a:t>μ</a:t>
                      </a:r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Intrafusal fibers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64772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0A096A1-9F65-97BD-F3A6-DA10938826D7}"/>
              </a:ext>
            </a:extLst>
          </p:cNvPr>
          <p:cNvSpPr txBox="1"/>
          <p:nvPr/>
        </p:nvSpPr>
        <p:spPr>
          <a:xfrm>
            <a:off x="1598246" y="6099262"/>
            <a:ext cx="8995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Sensory feedback is used to execute accurate, guided movements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AE73B4-DF7E-5301-0FC7-57DC0F3D5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085601"/>
            <a:ext cx="1591059" cy="2660545"/>
          </a:xfrm>
          <a:prstGeom prst="rect">
            <a:avLst/>
          </a:prstGeom>
        </p:spPr>
      </p:pic>
      <p:sp>
        <p:nvSpPr>
          <p:cNvPr id="14" name="Circle: Hollow 13">
            <a:extLst>
              <a:ext uri="{FF2B5EF4-FFF2-40B4-BE49-F238E27FC236}">
                <a16:creationId xmlns:a16="http://schemas.microsoft.com/office/drawing/2014/main" id="{2E7BC5BE-8005-0E94-5D41-F3FE6C30AA7B}"/>
              </a:ext>
            </a:extLst>
          </p:cNvPr>
          <p:cNvSpPr/>
          <p:nvPr/>
        </p:nvSpPr>
        <p:spPr>
          <a:xfrm rot="2144545">
            <a:off x="8035201" y="1684904"/>
            <a:ext cx="640862" cy="1389827"/>
          </a:xfrm>
          <a:prstGeom prst="donut">
            <a:avLst>
              <a:gd name="adj" fmla="val 295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ircle: Hollow 15">
            <a:extLst>
              <a:ext uri="{FF2B5EF4-FFF2-40B4-BE49-F238E27FC236}">
                <a16:creationId xmlns:a16="http://schemas.microsoft.com/office/drawing/2014/main" id="{5EF49E49-9A3D-3E49-0F07-DD19347F65BD}"/>
              </a:ext>
            </a:extLst>
          </p:cNvPr>
          <p:cNvSpPr/>
          <p:nvPr/>
        </p:nvSpPr>
        <p:spPr>
          <a:xfrm rot="5400000">
            <a:off x="8602711" y="1209747"/>
            <a:ext cx="494282" cy="1332013"/>
          </a:xfrm>
          <a:prstGeom prst="donut">
            <a:avLst>
              <a:gd name="adj" fmla="val 295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362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74B64-83C8-4125-A751-7BF00F670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49407"/>
            <a:ext cx="9905998" cy="1066799"/>
          </a:xfrm>
        </p:spPr>
        <p:txBody>
          <a:bodyPr/>
          <a:lstStyle/>
          <a:p>
            <a:pPr algn="ctr"/>
            <a:r>
              <a:rPr lang="en-US" dirty="0"/>
              <a:t>Motor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817C4-B2E5-400A-914A-D64E85A0A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307581"/>
            <a:ext cx="4827954" cy="5550419"/>
          </a:xfrm>
        </p:spPr>
        <p:txBody>
          <a:bodyPr>
            <a:normAutofit/>
          </a:bodyPr>
          <a:lstStyle/>
          <a:p>
            <a:r>
              <a:rPr lang="en-US" altLang="en-US" sz="2400" b="1" dirty="0"/>
              <a:t>Motor unit: </a:t>
            </a:r>
            <a:r>
              <a:rPr lang="en-US" altLang="en-US" sz="2400" dirty="0"/>
              <a:t>a single </a:t>
            </a:r>
            <a:r>
              <a:rPr lang="el-GR" sz="2400" dirty="0"/>
              <a:t>α</a:t>
            </a:r>
            <a:r>
              <a:rPr lang="en-US" sz="2400" dirty="0"/>
              <a:t>-</a:t>
            </a:r>
            <a:r>
              <a:rPr lang="en-US" altLang="en-US" sz="2400" dirty="0"/>
              <a:t>motor neuron and all the muscle fibers it synapses with.</a:t>
            </a:r>
          </a:p>
          <a:p>
            <a:r>
              <a:rPr lang="en-US" altLang="en-US" sz="2400" dirty="0"/>
              <a:t>When the neuron fires, all muscle fibers are stimulated and </a:t>
            </a:r>
            <a:r>
              <a:rPr lang="en-US" altLang="en-US" sz="2400" b="1" dirty="0"/>
              <a:t>contract.</a:t>
            </a:r>
          </a:p>
          <a:p>
            <a:r>
              <a:rPr lang="en-US" altLang="en-US" sz="2400" dirty="0"/>
              <a:t>Motor units tend to have </a:t>
            </a:r>
            <a:r>
              <a:rPr lang="en-US" altLang="en-US" sz="2400" i="1" dirty="0"/>
              <a:t>high innervation ratios </a:t>
            </a:r>
            <a:r>
              <a:rPr lang="en-US" altLang="en-US" sz="2400" dirty="0"/>
              <a:t>in large muscles and </a:t>
            </a:r>
            <a:r>
              <a:rPr lang="en-US" altLang="en-US" sz="2400" i="1" dirty="0"/>
              <a:t>low</a:t>
            </a:r>
            <a:r>
              <a:rPr lang="en-US" altLang="en-US" sz="2400" dirty="0"/>
              <a:t> </a:t>
            </a:r>
            <a:r>
              <a:rPr lang="en-US" altLang="en-US" sz="2400" i="1" dirty="0"/>
              <a:t>innervation ratios </a:t>
            </a:r>
            <a:r>
              <a:rPr lang="en-US" altLang="en-US" sz="2400" dirty="0"/>
              <a:t>in smaller muscles involved in fine movements.</a:t>
            </a:r>
          </a:p>
          <a:p>
            <a:r>
              <a:rPr lang="en-US" altLang="en-US" sz="2400" dirty="0"/>
              <a:t>As the size of a motor unit increases, morphological and biophysical properties of α-motor neurons change.</a:t>
            </a:r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5D740-2D55-19D2-C790-06D29E892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037" y="1330916"/>
            <a:ext cx="4733962" cy="31720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756B96-EFA1-6C1C-53BA-40D10279AFF2}"/>
              </a:ext>
            </a:extLst>
          </p:cNvPr>
          <p:cNvSpPr/>
          <p:nvPr/>
        </p:nvSpPr>
        <p:spPr>
          <a:xfrm>
            <a:off x="7458038" y="4082790"/>
            <a:ext cx="3060489" cy="372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49850D-5EC0-5FCF-251D-D99940781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37" y="4502993"/>
            <a:ext cx="4740797" cy="15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8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BD63-B9C8-4BE4-B31E-EF7F6EEC9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159" y="0"/>
            <a:ext cx="9894133" cy="8987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 Broad Motor Unit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3532D-49B6-43B9-897E-FF384F6A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240" y="1031216"/>
            <a:ext cx="4810832" cy="582678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/>
              <a:t>Slow (S) </a:t>
            </a:r>
            <a:r>
              <a:rPr lang="en-US" sz="2400" dirty="0">
                <a:sym typeface="Wingdings" panose="05000000000000000000" pitchFamily="2" charset="2"/>
              </a:rPr>
              <a:t> Type I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Small units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Contract slowly with relatively small force (e.g., posture)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Resistant to fatigue</a:t>
            </a:r>
          </a:p>
          <a:p>
            <a:r>
              <a:rPr lang="en-US" sz="2400" dirty="0">
                <a:sym typeface="Wingdings" panose="05000000000000000000" pitchFamily="2" charset="2"/>
              </a:rPr>
              <a:t>Fast fatigable (FF)  Type IIB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Larger units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Brief exertion, large force (e.g., running)</a:t>
            </a:r>
          </a:p>
          <a:p>
            <a:r>
              <a:rPr lang="en-US" sz="2400" dirty="0">
                <a:sym typeface="Wingdings" panose="05000000000000000000" pitchFamily="2" charset="2"/>
              </a:rPr>
              <a:t>Fast fatigue-resistant (FR)  Type IIA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In between properties and intermediate size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Fatigue slower than FF, but sustain less time than S. </a:t>
            </a:r>
            <a:endParaRPr lang="en-US" dirty="0"/>
          </a:p>
        </p:txBody>
      </p:sp>
      <p:pic>
        <p:nvPicPr>
          <p:cNvPr id="4" name="Picture 3" descr="Neuroscience6e-Fig-16-06-0.jpg">
            <a:extLst>
              <a:ext uri="{FF2B5EF4-FFF2-40B4-BE49-F238E27FC236}">
                <a16:creationId xmlns:a16="http://schemas.microsoft.com/office/drawing/2014/main" id="{4E202D48-5158-42BE-A4E2-D738D54FCF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62"/>
          <a:stretch/>
        </p:blipFill>
        <p:spPr>
          <a:xfrm>
            <a:off x="5673380" y="2195480"/>
            <a:ext cx="6518620" cy="29025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C6958C-2B57-41A8-B3A0-1A899384B86E}"/>
              </a:ext>
            </a:extLst>
          </p:cNvPr>
          <p:cNvSpPr txBox="1"/>
          <p:nvPr/>
        </p:nvSpPr>
        <p:spPr>
          <a:xfrm>
            <a:off x="5656715" y="1881556"/>
            <a:ext cx="240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action potential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A1DDD-4DDA-4B14-89DA-14F2919B2DD4}"/>
              </a:ext>
            </a:extLst>
          </p:cNvPr>
          <p:cNvSpPr txBox="1"/>
          <p:nvPr/>
        </p:nvSpPr>
        <p:spPr>
          <a:xfrm>
            <a:off x="7971779" y="1881556"/>
            <a:ext cx="2321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Repeated stimulation</a:t>
            </a:r>
          </a:p>
        </p:txBody>
      </p:sp>
    </p:spTree>
    <p:extLst>
      <p:ext uri="{BB962C8B-B14F-4D97-AF65-F5344CB8AC3E}">
        <p14:creationId xmlns:p14="http://schemas.microsoft.com/office/powerpoint/2010/main" val="1471104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29AA-C096-4628-BD1B-862738F2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Size Principal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75054-49D1-4E93-BF78-E7F97E6D4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88" y="1397924"/>
            <a:ext cx="2881224" cy="30943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orderly recruitment of motor neurons by size to generate increasing amounts of muscle tension:</a:t>
            </a:r>
          </a:p>
          <a:p>
            <a:pPr marL="0" indent="0">
              <a:buNone/>
            </a:pPr>
            <a:r>
              <a:rPr lang="en-US" dirty="0"/>
              <a:t>S </a:t>
            </a:r>
            <a:r>
              <a:rPr lang="en-US" dirty="0">
                <a:sym typeface="Wingdings" panose="05000000000000000000" pitchFamily="2" charset="2"/>
              </a:rPr>
              <a:t> FR  FF</a:t>
            </a:r>
            <a:endParaRPr lang="en-US" dirty="0"/>
          </a:p>
        </p:txBody>
      </p:sp>
      <p:pic>
        <p:nvPicPr>
          <p:cNvPr id="4" name="Picture 3" descr="Neuroscience6e-Fig-16-07-0.jpg">
            <a:extLst>
              <a:ext uri="{FF2B5EF4-FFF2-40B4-BE49-F238E27FC236}">
                <a16:creationId xmlns:a16="http://schemas.microsoft.com/office/drawing/2014/main" id="{D192C268-5277-4D23-AE99-ECDA8B8C2C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07"/>
          <a:stretch/>
        </p:blipFill>
        <p:spPr>
          <a:xfrm>
            <a:off x="3269412" y="1397924"/>
            <a:ext cx="8534400" cy="546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80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5742-79DF-C6A1-DB12-E583522E3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69" y="0"/>
            <a:ext cx="11715262" cy="1325563"/>
          </a:xfrm>
        </p:spPr>
        <p:txBody>
          <a:bodyPr/>
          <a:lstStyle/>
          <a:p>
            <a:pPr algn="ctr"/>
            <a:r>
              <a:rPr lang="en-US" dirty="0"/>
              <a:t>Size Principle Explained</a:t>
            </a:r>
          </a:p>
        </p:txBody>
      </p:sp>
      <p:pic>
        <p:nvPicPr>
          <p:cNvPr id="4" name="Online Media 3" title="Size Principle of Motor Unit Recruitment Explained">
            <a:hlinkClick r:id="" action="ppaction://media"/>
            <a:extLst>
              <a:ext uri="{FF2B5EF4-FFF2-40B4-BE49-F238E27FC236}">
                <a16:creationId xmlns:a16="http://schemas.microsoft.com/office/drawing/2014/main" id="{D887164D-7F57-9141-6623-E704B4C99E0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154052" y="1273898"/>
            <a:ext cx="9883896" cy="558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6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7CE7-633C-8DC2-57EE-E8E469CB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34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Firing Rate of LMNs Also Contributes to Muscle 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6FE64-A862-F77F-FA4A-C5EEEA8CE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2338"/>
            <a:ext cx="7836365" cy="1722422"/>
          </a:xfrm>
        </p:spPr>
        <p:txBody>
          <a:bodyPr>
            <a:normAutofit/>
          </a:bodyPr>
          <a:lstStyle/>
          <a:p>
            <a:r>
              <a:rPr lang="en-US" sz="2400" dirty="0"/>
              <a:t>As voluntary force increases, LMN firing rate increases.</a:t>
            </a:r>
          </a:p>
          <a:p>
            <a:pPr lvl="1"/>
            <a:r>
              <a:rPr lang="en-US" dirty="0"/>
              <a:t>Due to temporal summation of successive muscle contractions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4A214-65FE-8985-4D20-F9128233C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565" y="1596903"/>
            <a:ext cx="3517435" cy="2227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40788B-7D67-08E0-8D0F-4687F656F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24760"/>
            <a:ext cx="12192000" cy="303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87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3E72-6CEB-8753-E6ED-A3B7DAAC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Are motor units subject to use-dependent plasticity?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4AD5C-42E7-8BC7-C183-735164C28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257800" cy="4351338"/>
          </a:xfrm>
        </p:spPr>
        <p:txBody>
          <a:bodyPr/>
          <a:lstStyle/>
          <a:p>
            <a:r>
              <a:rPr lang="en-US" dirty="0"/>
              <a:t>Eccles &amp; colleagues demonstrated that properties of slow and fast muscle fibers could be reversed when the innervation to these fibers was surgically switched (</a:t>
            </a:r>
            <a:r>
              <a:rPr lang="en-US" i="1" dirty="0"/>
              <a:t>cross-innervation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Similar findings from studies of resistance and endurance training.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E47293-EA06-3BA3-D453-7528F3B07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231" y="1691748"/>
            <a:ext cx="5978769" cy="516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80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Words>584</Words>
  <Application>Microsoft Office PowerPoint</Application>
  <PresentationFormat>Widescreen</PresentationFormat>
  <Paragraphs>104</Paragraphs>
  <Slides>12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Lower motor neuron circuits and motor control</vt:lpstr>
      <vt:lpstr>Learning objectives</vt:lpstr>
      <vt:lpstr>Movement</vt:lpstr>
      <vt:lpstr>Four Neural Centers for Movement</vt:lpstr>
      <vt:lpstr>Motor Neuron-Muscle Relationship</vt:lpstr>
      <vt:lpstr>Fiber Types in the Motor System</vt:lpstr>
      <vt:lpstr>Motor Units</vt:lpstr>
      <vt:lpstr>3 Broad Motor Unit Categories</vt:lpstr>
      <vt:lpstr>Size Principal </vt:lpstr>
      <vt:lpstr>Size Principle Explained</vt:lpstr>
      <vt:lpstr>Firing Rate of LMNs Also Contributes to Muscle Tension</vt:lpstr>
      <vt:lpstr>Are motor units subject to use-dependent plasticity?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Phillips, Nicole</dc:creator>
  <cp:lastModifiedBy>Phillips, Nicole</cp:lastModifiedBy>
  <cp:revision>32</cp:revision>
  <dcterms:created xsi:type="dcterms:W3CDTF">2025-10-21T15:15:45Z</dcterms:created>
  <dcterms:modified xsi:type="dcterms:W3CDTF">2025-10-21T19:05:10Z</dcterms:modified>
</cp:coreProperties>
</file>