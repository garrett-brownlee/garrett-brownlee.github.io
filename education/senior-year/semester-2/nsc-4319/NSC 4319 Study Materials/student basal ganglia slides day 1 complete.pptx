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348" r:id="rId4"/>
    <p:sldId id="1180" r:id="rId5"/>
    <p:sldId id="289" r:id="rId6"/>
    <p:sldId id="278" r:id="rId7"/>
    <p:sldId id="284" r:id="rId8"/>
    <p:sldId id="280" r:id="rId9"/>
    <p:sldId id="281" r:id="rId10"/>
    <p:sldId id="271" r:id="rId11"/>
    <p:sldId id="682" r:id="rId12"/>
    <p:sldId id="306" r:id="rId13"/>
    <p:sldId id="1181" r:id="rId14"/>
    <p:sldId id="11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952"/>
    <a:srgbClr val="F67A7A"/>
    <a:srgbClr val="F46262"/>
    <a:srgbClr val="F99787"/>
    <a:srgbClr val="FB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6728" autoAdjust="0"/>
  </p:normalViewPr>
  <p:slideViewPr>
    <p:cSldViewPr snapToGrid="0">
      <p:cViewPr varScale="1">
        <p:scale>
          <a:sx n="48" d="100"/>
          <a:sy n="48" d="100"/>
        </p:scale>
        <p:origin x="13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5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95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Tremor: 40 sec</a:t>
            </a:r>
          </a:p>
          <a:p>
            <a:r>
              <a:rPr lang="en-US" dirty="0"/>
              <a:t>Akinesia, bradykinesia, posture and gait: 2 minutes</a:t>
            </a:r>
          </a:p>
          <a:p>
            <a:r>
              <a:rPr lang="en-US" dirty="0"/>
              <a:t>Rigidity: 3:50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0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/>
              <a:t>Picture is PET with dopamine tracer. Top normal. Bottom PD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9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65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31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83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0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6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1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ba.uth.tmc.edu/neuroscience/m/s3/chapter04.html#:~:text=As%20mentioned%20earlier%2C%20there%20are,their%20role%20in%20motor%20control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D2KPSGZ1No?feature=oembed" TargetMode="Externa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HDFQfmkKlg?feature=oembed" TargetMode="Externa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E32-4C7E-7E75-42CA-AB0724AB3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726738" cy="2971801"/>
          </a:xfrm>
        </p:spPr>
        <p:txBody>
          <a:bodyPr/>
          <a:lstStyle/>
          <a:p>
            <a:pPr algn="ctr"/>
            <a:r>
              <a:rPr lang="en-US" dirty="0"/>
              <a:t>Modulation of Movement by the Basal Ganglia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65983-34A2-7F47-5652-29946CC20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962" y="3818467"/>
            <a:ext cx="6400800" cy="1947333"/>
          </a:xfrm>
        </p:spPr>
        <p:txBody>
          <a:bodyPr/>
          <a:lstStyle/>
          <a:p>
            <a:pPr algn="ctr"/>
            <a:r>
              <a:rPr lang="en-US" dirty="0"/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263161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E0AD-910D-FEDD-B954-61A4AF7A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A9DBB-5D88-25A7-02DA-6BA1BBB1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61" y="1507067"/>
            <a:ext cx="10414123" cy="4839025"/>
          </a:xfrm>
        </p:spPr>
        <p:txBody>
          <a:bodyPr>
            <a:normAutofit/>
          </a:bodyPr>
          <a:lstStyle/>
          <a:p>
            <a:r>
              <a:rPr lang="en-US" dirty="0"/>
              <a:t>Identify the structures that comprise the basal ganglia and their basic interconnections</a:t>
            </a:r>
          </a:p>
          <a:p>
            <a:r>
              <a:rPr lang="en-US" dirty="0"/>
              <a:t>Describe the mechanism of </a:t>
            </a:r>
            <a:r>
              <a:rPr lang="en-US" i="1" dirty="0"/>
              <a:t>disinhibition</a:t>
            </a:r>
            <a:r>
              <a:rPr lang="en-US" dirty="0"/>
              <a:t> and how it is important for basal ganglia function</a:t>
            </a:r>
          </a:p>
          <a:p>
            <a:r>
              <a:rPr lang="en-US" dirty="0"/>
              <a:t>Compare functions of the </a:t>
            </a:r>
            <a:r>
              <a:rPr lang="en-US" i="1" dirty="0"/>
              <a:t>direct</a:t>
            </a:r>
            <a:r>
              <a:rPr lang="en-US" dirty="0"/>
              <a:t> and </a:t>
            </a:r>
            <a:r>
              <a:rPr lang="en-US" i="1" dirty="0"/>
              <a:t>indirect</a:t>
            </a:r>
            <a:r>
              <a:rPr lang="en-US" dirty="0"/>
              <a:t> pathways of information flow through the basal ganglia</a:t>
            </a:r>
          </a:p>
          <a:p>
            <a:r>
              <a:rPr lang="en-US" dirty="0"/>
              <a:t>Relate how impairment of the basal ganglia may lead to motor and non-motor symptoms of different disorders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58B1-3D2A-4EF9-9EB0-A4EA3410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417" y="52172"/>
            <a:ext cx="10515600" cy="1679899"/>
          </a:xfrm>
        </p:spPr>
        <p:txBody>
          <a:bodyPr/>
          <a:lstStyle/>
          <a:p>
            <a:pPr algn="ctr"/>
            <a:r>
              <a:rPr lang="en-US" dirty="0"/>
              <a:t>Four Neural Centers for Movement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5D05D05-363F-4D4E-AD54-AACFA210FDB0}"/>
              </a:ext>
            </a:extLst>
          </p:cNvPr>
          <p:cNvSpPr/>
          <p:nvPr/>
        </p:nvSpPr>
        <p:spPr>
          <a:xfrm>
            <a:off x="3250829" y="1732071"/>
            <a:ext cx="5328745" cy="5125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A0908-C8FC-4D7D-BFDE-B853A7E7E964}"/>
              </a:ext>
            </a:extLst>
          </p:cNvPr>
          <p:cNvSpPr txBox="1"/>
          <p:nvPr/>
        </p:nvSpPr>
        <p:spPr>
          <a:xfrm>
            <a:off x="2710859" y="4824125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7D04C-FE0E-4029-8236-FA1DCBB7BC7F}"/>
              </a:ext>
            </a:extLst>
          </p:cNvPr>
          <p:cNvSpPr txBox="1"/>
          <p:nvPr/>
        </p:nvSpPr>
        <p:spPr>
          <a:xfrm>
            <a:off x="240233" y="5193457"/>
            <a:ext cx="2827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Lower motor neurons (LMNs)</a:t>
            </a:r>
          </a:p>
          <a:p>
            <a:pPr algn="ctr"/>
            <a:r>
              <a:rPr lang="en-US" dirty="0"/>
              <a:t>“Final common path” for initiating movement</a:t>
            </a:r>
          </a:p>
          <a:p>
            <a:pPr algn="ctr"/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D088C-C851-480C-991E-C24576F658C6}"/>
              </a:ext>
            </a:extLst>
          </p:cNvPr>
          <p:cNvSpPr txBox="1"/>
          <p:nvPr/>
        </p:nvSpPr>
        <p:spPr>
          <a:xfrm>
            <a:off x="2710859" y="2330533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A8A57-EE55-4B4E-BAAA-96671EB97695}"/>
              </a:ext>
            </a:extLst>
          </p:cNvPr>
          <p:cNvSpPr txBox="1"/>
          <p:nvPr/>
        </p:nvSpPr>
        <p:spPr>
          <a:xfrm>
            <a:off x="8307620" y="309297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E3EFD-3E1E-4BD3-A11D-3817D9C4FD10}"/>
              </a:ext>
            </a:extLst>
          </p:cNvPr>
          <p:cNvSpPr txBox="1"/>
          <p:nvPr/>
        </p:nvSpPr>
        <p:spPr>
          <a:xfrm>
            <a:off x="8307619" y="215622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48241-7CEE-4506-BB1D-677F7DA9FA75}"/>
              </a:ext>
            </a:extLst>
          </p:cNvPr>
          <p:cNvSpPr txBox="1"/>
          <p:nvPr/>
        </p:nvSpPr>
        <p:spPr>
          <a:xfrm>
            <a:off x="8762192" y="2624596"/>
            <a:ext cx="307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Modulation of motor plans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9C0C-D734-41CB-929F-92261BCEF3DB}"/>
              </a:ext>
            </a:extLst>
          </p:cNvPr>
          <p:cNvSpPr txBox="1"/>
          <p:nvPr/>
        </p:nvSpPr>
        <p:spPr>
          <a:xfrm>
            <a:off x="562708" y="2330533"/>
            <a:ext cx="2505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Upper Motor Neurons (UMNs)</a:t>
            </a:r>
            <a:endParaRPr lang="en-US" dirty="0"/>
          </a:p>
          <a:p>
            <a:pPr algn="ctr"/>
            <a:r>
              <a:rPr lang="en-US" dirty="0"/>
              <a:t>Top-down control of movement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F0323D78-281A-828C-4871-397A7804570E}"/>
              </a:ext>
            </a:extLst>
          </p:cNvPr>
          <p:cNvSpPr/>
          <p:nvPr/>
        </p:nvSpPr>
        <p:spPr>
          <a:xfrm>
            <a:off x="3204931" y="1682014"/>
            <a:ext cx="8636791" cy="1410958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25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E1D87C-9645-9EC4-F0BB-82A8DD288557}"/>
              </a:ext>
            </a:extLst>
          </p:cNvPr>
          <p:cNvSpPr txBox="1"/>
          <p:nvPr/>
        </p:nvSpPr>
        <p:spPr>
          <a:xfrm>
            <a:off x="486155" y="6047485"/>
            <a:ext cx="11219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https://nba.uth.tmc.edu/neuroscience/m/s3/chapter04.html#:~:text=As%20mentioned%20earlier%2C%20there%20are,their%20role%20in%20motor%20control</a:t>
            </a:r>
            <a:r>
              <a:rPr lang="en-US" dirty="0"/>
              <a:t>. </a:t>
            </a:r>
          </a:p>
        </p:txBody>
      </p:sp>
      <p:pic>
        <p:nvPicPr>
          <p:cNvPr id="5" name="Online Media 4" title="2-Minute Neuroscience: Basal Ganglia">
            <a:hlinkClick r:id="" action="ppaction://media"/>
            <a:extLst>
              <a:ext uri="{FF2B5EF4-FFF2-40B4-BE49-F238E27FC236}">
                <a16:creationId xmlns:a16="http://schemas.microsoft.com/office/drawing/2014/main" id="{1863A050-4ED9-4CBD-A383-7AABA8BB0BE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36711" y="909637"/>
            <a:ext cx="89185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8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12B7-7ABD-455D-8817-34C04823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35329"/>
          </a:xfrm>
        </p:spPr>
        <p:txBody>
          <a:bodyPr/>
          <a:lstStyle/>
          <a:p>
            <a:pPr algn="ctr"/>
            <a:r>
              <a:rPr lang="en-US" dirty="0"/>
              <a:t>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909AC-F28C-4B20-87DD-5FDC27E8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97" y="1036988"/>
            <a:ext cx="4466983" cy="5821012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Char char="•"/>
            </a:pPr>
            <a:r>
              <a:rPr lang="en-US" altLang="en-US" sz="2400" dirty="0"/>
              <a:t>A collection of subcortical structures</a:t>
            </a:r>
          </a:p>
          <a:p>
            <a:pPr lvl="1">
              <a:buFontTx/>
              <a:buChar char="•"/>
            </a:pPr>
            <a:r>
              <a:rPr lang="en-US" altLang="en-US" b="1" dirty="0"/>
              <a:t>Striatum</a:t>
            </a:r>
          </a:p>
          <a:p>
            <a:pPr lvl="2">
              <a:buFontTx/>
              <a:buChar char="•"/>
            </a:pPr>
            <a:r>
              <a:rPr lang="en-US" altLang="en-US" sz="2400" i="1" dirty="0"/>
              <a:t>Dorsal</a:t>
            </a:r>
            <a:r>
              <a:rPr lang="en-US" altLang="en-US" sz="2400" dirty="0"/>
              <a:t>: Caudate nucleus &amp; Putamen (input zone)</a:t>
            </a:r>
          </a:p>
          <a:p>
            <a:pPr lvl="2">
              <a:buFontTx/>
              <a:buChar char="•"/>
            </a:pPr>
            <a:r>
              <a:rPr lang="en-US" altLang="en-US" sz="2400" i="1" dirty="0"/>
              <a:t>Ventral</a:t>
            </a:r>
            <a:r>
              <a:rPr lang="en-US" altLang="en-US" sz="2400" dirty="0"/>
              <a:t>: nucleus </a:t>
            </a:r>
            <a:r>
              <a:rPr lang="en-US" altLang="en-US" sz="2400" dirty="0" err="1"/>
              <a:t>accumbens</a:t>
            </a:r>
            <a:r>
              <a:rPr lang="en-US" altLang="en-US" sz="2400" dirty="0"/>
              <a:t> (mostly non-motor functions)</a:t>
            </a:r>
          </a:p>
          <a:p>
            <a:pPr lvl="1">
              <a:buFontTx/>
              <a:buChar char="•"/>
            </a:pPr>
            <a:r>
              <a:rPr lang="en-US" altLang="en-US" b="1" dirty="0"/>
              <a:t>Globus Pallidus</a:t>
            </a:r>
          </a:p>
          <a:p>
            <a:pPr marL="1257300" lvl="2" indent="-342900"/>
            <a:r>
              <a:rPr lang="en-US" sz="2400" dirty="0"/>
              <a:t>Internal Globus Pallidus (</a:t>
            </a:r>
            <a:r>
              <a:rPr lang="en-US" sz="2400" dirty="0" err="1"/>
              <a:t>GPi</a:t>
            </a:r>
            <a:r>
              <a:rPr lang="en-US" sz="2400" dirty="0"/>
              <a:t>)</a:t>
            </a:r>
          </a:p>
          <a:p>
            <a:pPr marL="1257300" lvl="2" indent="-342900"/>
            <a:r>
              <a:rPr lang="en-US" sz="2400" dirty="0"/>
              <a:t>Globus pallidus external (</a:t>
            </a:r>
            <a:r>
              <a:rPr lang="en-US" sz="2400" dirty="0" err="1"/>
              <a:t>GPe</a:t>
            </a:r>
            <a:r>
              <a:rPr lang="en-US" sz="2400" dirty="0"/>
              <a:t>)</a:t>
            </a:r>
            <a:endParaRPr lang="en-US" altLang="en-US" sz="2400" dirty="0"/>
          </a:p>
          <a:p>
            <a:pPr lvl="1">
              <a:buFontTx/>
              <a:buChar char="•"/>
            </a:pPr>
            <a:r>
              <a:rPr lang="en-US" altLang="en-US" b="1" dirty="0"/>
              <a:t>Subthalamic nucleus</a:t>
            </a:r>
          </a:p>
          <a:p>
            <a:pPr marL="682625" lvl="1" indent="-225425">
              <a:buFontTx/>
              <a:buChar char="•"/>
            </a:pPr>
            <a:r>
              <a:rPr lang="en-US" altLang="en-US" b="1" dirty="0"/>
              <a:t>Substantia Nigra?</a:t>
            </a:r>
          </a:p>
          <a:p>
            <a:pPr marL="1257300" lvl="2" indent="-342900"/>
            <a:r>
              <a:rPr lang="en-US" sz="2400" dirty="0"/>
              <a:t>SN pars reticulata (</a:t>
            </a:r>
            <a:r>
              <a:rPr lang="en-US" sz="2400" dirty="0" err="1"/>
              <a:t>SNr</a:t>
            </a:r>
            <a:r>
              <a:rPr lang="en-US" sz="2400" dirty="0"/>
              <a:t>)</a:t>
            </a:r>
          </a:p>
          <a:p>
            <a:pPr marL="1714500" lvl="3" indent="-342900"/>
            <a:r>
              <a:rPr lang="en-US" sz="2400" dirty="0"/>
              <a:t>The </a:t>
            </a:r>
            <a:r>
              <a:rPr lang="en-US" sz="2400" dirty="0" err="1"/>
              <a:t>SNr</a:t>
            </a:r>
            <a:r>
              <a:rPr lang="en-US" sz="2400" dirty="0"/>
              <a:t> and GP make up the </a:t>
            </a:r>
            <a:r>
              <a:rPr lang="en-US" sz="2400" b="1" dirty="0"/>
              <a:t>Pallidum</a:t>
            </a:r>
            <a:r>
              <a:rPr lang="en-US" sz="2400" dirty="0"/>
              <a:t> (output zone)</a:t>
            </a:r>
          </a:p>
          <a:p>
            <a:pPr marL="1257300" lvl="2" indent="-342900"/>
            <a:r>
              <a:rPr lang="en-US" sz="2400" dirty="0"/>
              <a:t>SN pars compacta (</a:t>
            </a:r>
            <a:r>
              <a:rPr lang="en-US" sz="2400" dirty="0" err="1"/>
              <a:t>SNc</a:t>
            </a:r>
            <a:r>
              <a:rPr lang="en-US" sz="2400" dirty="0"/>
              <a:t>) </a:t>
            </a:r>
          </a:p>
          <a:p>
            <a:pPr marL="1139825" lvl="2" indent="-225425">
              <a:buFontTx/>
              <a:buChar char="•"/>
            </a:pPr>
            <a:endParaRPr lang="en-US" altLang="en-US" sz="24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DD400-AE60-316A-1B16-08C29439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680" y="1035329"/>
            <a:ext cx="7114320" cy="58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8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BD23-9FCD-4B75-A4A0-F9BC9AA9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Parkinson’s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B7D6B-B485-468A-88EE-FA0DBD14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78569"/>
            <a:ext cx="8034886" cy="5113959"/>
          </a:xfrm>
        </p:spPr>
        <p:txBody>
          <a:bodyPr>
            <a:normAutofit/>
          </a:bodyPr>
          <a:lstStyle/>
          <a:p>
            <a:r>
              <a:rPr lang="en-US" sz="2400" dirty="0"/>
              <a:t>A progressive neurodegenerative disorder that affects motor and sensory systems.</a:t>
            </a:r>
          </a:p>
          <a:p>
            <a:r>
              <a:rPr lang="en-US" sz="2400" dirty="0"/>
              <a:t>Common motor symptoms:</a:t>
            </a:r>
          </a:p>
          <a:p>
            <a:pPr lvl="1"/>
            <a:r>
              <a:rPr lang="en-US" dirty="0"/>
              <a:t>Tremors</a:t>
            </a:r>
          </a:p>
          <a:p>
            <a:pPr lvl="1"/>
            <a:r>
              <a:rPr lang="en-US" dirty="0"/>
              <a:t>Cogwheel rigidity</a:t>
            </a:r>
          </a:p>
          <a:p>
            <a:pPr lvl="1"/>
            <a:r>
              <a:rPr lang="en-US" dirty="0"/>
              <a:t>Hypokinesia/bradykinesia</a:t>
            </a:r>
          </a:p>
          <a:p>
            <a:pPr lvl="1"/>
            <a:r>
              <a:rPr lang="en-US" dirty="0"/>
              <a:t>Disturbance of posture</a:t>
            </a:r>
          </a:p>
          <a:p>
            <a:pPr lvl="1"/>
            <a:r>
              <a:rPr lang="en-US" dirty="0"/>
              <a:t>Cognitive Dysfunction</a:t>
            </a:r>
          </a:p>
          <a:p>
            <a:r>
              <a:rPr lang="en-US" sz="2400" dirty="0"/>
              <a:t>Causes:</a:t>
            </a:r>
          </a:p>
          <a:p>
            <a:pPr lvl="1"/>
            <a:r>
              <a:rPr lang="en-US" dirty="0"/>
              <a:t>Genetics</a:t>
            </a:r>
          </a:p>
          <a:p>
            <a:pPr lvl="1"/>
            <a:r>
              <a:rPr lang="en-US" dirty="0"/>
              <a:t>Toxins, viruses, inflammation, stimulant abuse, or trauma.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DFB7D-47A0-84C6-1A55-3AF953C05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69" y="0"/>
            <a:ext cx="2755631" cy="68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3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A593-2779-42B7-A861-F93DB8A3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Parkinson’s Disease symptoms</a:t>
            </a:r>
          </a:p>
        </p:txBody>
      </p:sp>
      <p:pic>
        <p:nvPicPr>
          <p:cNvPr id="4" name="Online Media 3" title="What are the symptoms of Parkinson's Disease? - Ask the Experts">
            <a:hlinkClick r:id="" action="ppaction://media"/>
            <a:extLst>
              <a:ext uri="{FF2B5EF4-FFF2-40B4-BE49-F238E27FC236}">
                <a16:creationId xmlns:a16="http://schemas.microsoft.com/office/drawing/2014/main" id="{27506A79-8F58-440D-BC9B-D989B4578BA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619828" y="1273628"/>
            <a:ext cx="6952344" cy="5214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CCAF0-D6F5-4FC8-8FA2-FE4C21B7E220}"/>
              </a:ext>
            </a:extLst>
          </p:cNvPr>
          <p:cNvSpPr txBox="1"/>
          <p:nvPr/>
        </p:nvSpPr>
        <p:spPr>
          <a:xfrm>
            <a:off x="3748315" y="6488668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https://www.youtube.com/watch?v=IHDFQfmkKlg</a:t>
            </a:r>
          </a:p>
        </p:txBody>
      </p:sp>
    </p:spTree>
    <p:extLst>
      <p:ext uri="{BB962C8B-B14F-4D97-AF65-F5344CB8AC3E}">
        <p14:creationId xmlns:p14="http://schemas.microsoft.com/office/powerpoint/2010/main" val="388421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58CB-5076-446D-831D-00F647AB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1804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Parkinson’s disease: </a:t>
            </a:r>
            <a:br>
              <a:rPr lang="en-US" dirty="0"/>
            </a:br>
            <a:r>
              <a:rPr lang="en-US" dirty="0"/>
              <a:t>Nervous system abnormalities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834E4-88F8-43F8-9264-6CD165B39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70374"/>
            <a:ext cx="7540169" cy="5187625"/>
          </a:xfrm>
        </p:spPr>
        <p:txBody>
          <a:bodyPr>
            <a:normAutofit/>
          </a:bodyPr>
          <a:lstStyle/>
          <a:p>
            <a:r>
              <a:rPr lang="en-US" dirty="0"/>
              <a:t>Large loss of dopaminergic neurons in the substantia nigra and ventral tegmental area.</a:t>
            </a:r>
          </a:p>
          <a:p>
            <a:r>
              <a:rPr lang="en-GB" dirty="0"/>
              <a:t>Alterations in neural </a:t>
            </a:r>
            <a:r>
              <a:rPr lang="en-US" dirty="0"/>
              <a:t>synchrony.</a:t>
            </a:r>
          </a:p>
          <a:p>
            <a:r>
              <a:rPr lang="en-US" dirty="0"/>
              <a:t>The mechanism that produces tremors is not clear</a:t>
            </a:r>
          </a:p>
          <a:p>
            <a:pPr lvl="1"/>
            <a:r>
              <a:rPr lang="en-GB" sz="2800" dirty="0"/>
              <a:t>Possible downstream effect of reduced cerebellar activity.</a:t>
            </a:r>
          </a:p>
          <a:p>
            <a:pPr lvl="1"/>
            <a:r>
              <a:rPr lang="en-GB" sz="2800" dirty="0"/>
              <a:t>Disruption of pathways between the cerebellum and the </a:t>
            </a:r>
            <a:r>
              <a:rPr lang="en-US" sz="2800" dirty="0"/>
              <a:t>thalamus.</a:t>
            </a:r>
          </a:p>
          <a:p>
            <a:pPr lvl="1"/>
            <a:r>
              <a:rPr lang="en-US" sz="2800" dirty="0"/>
              <a:t>Serotonin activity may be altered.</a:t>
            </a:r>
            <a:endParaRPr lang="en-GB" sz="2800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78BD9-E24A-4278-973D-7C3CA12D3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34" r="34407" b="29308"/>
          <a:stretch/>
        </p:blipFill>
        <p:spPr>
          <a:xfrm>
            <a:off x="8683170" y="1670374"/>
            <a:ext cx="2365829" cy="51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0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86B3-DC66-4988-9FD0-BA68F476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2355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Parkinson’s disease:</a:t>
            </a:r>
            <a:br>
              <a:rPr lang="en-US" dirty="0"/>
            </a:br>
            <a:r>
              <a:rPr lang="en-US" dirty="0"/>
              <a:t>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7BA15-AF02-434F-9D59-D793FB6E1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5215845" cy="4746170"/>
          </a:xfrm>
        </p:spPr>
        <p:txBody>
          <a:bodyPr>
            <a:normAutofit/>
          </a:bodyPr>
          <a:lstStyle/>
          <a:p>
            <a:r>
              <a:rPr lang="en-US" sz="2400" dirty="0"/>
              <a:t>Dopamine agonist drugs</a:t>
            </a:r>
          </a:p>
          <a:p>
            <a:pPr lvl="1"/>
            <a:r>
              <a:rPr lang="en-US" dirty="0"/>
              <a:t>Tends to be most effective, but effects are short-lived</a:t>
            </a:r>
          </a:p>
          <a:p>
            <a:r>
              <a:rPr lang="en-US" sz="2400" dirty="0"/>
              <a:t>Grafting brain tissue into the striatum</a:t>
            </a:r>
          </a:p>
          <a:p>
            <a:r>
              <a:rPr lang="en-US" sz="2400" dirty="0"/>
              <a:t>Intrastriatal delivery of growth factor</a:t>
            </a:r>
          </a:p>
          <a:p>
            <a:r>
              <a:rPr lang="en-US" sz="2400" dirty="0" err="1"/>
              <a:t>Thalatomy</a:t>
            </a:r>
            <a:r>
              <a:rPr lang="en-US" sz="2400" dirty="0"/>
              <a:t> and/or pallidotomy.</a:t>
            </a:r>
          </a:p>
          <a:p>
            <a:r>
              <a:rPr lang="en-US" sz="2400" dirty="0"/>
              <a:t>Deep brain stimulation.</a:t>
            </a:r>
          </a:p>
          <a:p>
            <a:r>
              <a:rPr lang="en-US" sz="2400" dirty="0"/>
              <a:t>Behavioral 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1867FD-E61C-47EB-820E-08FD591D0C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000" t="17567" r="18691" b="13228"/>
          <a:stretch/>
        </p:blipFill>
        <p:spPr>
          <a:xfrm>
            <a:off x="6357257" y="2097088"/>
            <a:ext cx="5036457" cy="474617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12B191A-A33E-47EA-94B5-D6B160DD2A99}"/>
              </a:ext>
            </a:extLst>
          </p:cNvPr>
          <p:cNvSpPr txBox="1">
            <a:spLocks/>
          </p:cNvSpPr>
          <p:nvPr/>
        </p:nvSpPr>
        <p:spPr>
          <a:xfrm>
            <a:off x="6504441" y="6338089"/>
            <a:ext cx="1507444" cy="519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latin typeface="+mn-lt"/>
              </a:rPr>
              <a:t>Okun, 2012</a:t>
            </a:r>
          </a:p>
        </p:txBody>
      </p:sp>
    </p:spTree>
    <p:extLst>
      <p:ext uri="{BB962C8B-B14F-4D97-AF65-F5344CB8AC3E}">
        <p14:creationId xmlns:p14="http://schemas.microsoft.com/office/powerpoint/2010/main" val="3028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ED35-310D-4630-BAB9-CF476ECA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4" y="0"/>
            <a:ext cx="9905998" cy="8003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Basal Ganglia modulation of motor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8401F-EB88-4996-B486-297B8E7CD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178" y="1665288"/>
            <a:ext cx="4949822" cy="5192712"/>
          </a:xfrm>
        </p:spPr>
        <p:txBody>
          <a:bodyPr>
            <a:normAutofit/>
          </a:bodyPr>
          <a:lstStyle/>
          <a:p>
            <a:r>
              <a:rPr lang="en-GB" dirty="0"/>
              <a:t>Plays an important role in:</a:t>
            </a:r>
          </a:p>
          <a:p>
            <a:pPr lvl="1"/>
            <a:r>
              <a:rPr lang="en-GB" sz="2800" dirty="0"/>
              <a:t>Initiation and termination of movements.</a:t>
            </a:r>
          </a:p>
          <a:p>
            <a:pPr lvl="1"/>
            <a:r>
              <a:rPr lang="en-GB" sz="2800" dirty="0"/>
              <a:t>Enacting voluntary movements.</a:t>
            </a:r>
          </a:p>
          <a:p>
            <a:pPr lvl="1"/>
            <a:r>
              <a:rPr lang="en-GB" sz="2800" dirty="0"/>
              <a:t>Motor planning and learning, especially when there is motivational significance.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0E942-487F-7FD7-0E9A-87DCD27C7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510" y="800379"/>
            <a:ext cx="5015025" cy="6057621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C927910D-73E1-9016-8656-D323A9E65EB0}"/>
              </a:ext>
            </a:extLst>
          </p:cNvPr>
          <p:cNvSpPr/>
          <p:nvPr/>
        </p:nvSpPr>
        <p:spPr>
          <a:xfrm>
            <a:off x="7195930" y="800378"/>
            <a:ext cx="2756453" cy="3347551"/>
          </a:xfrm>
          <a:prstGeom prst="frame">
            <a:avLst>
              <a:gd name="adj1" fmla="val 144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03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4D78-905B-C7DD-7A39-D154FAA5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2174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Basal Ganglia Cortex Feedback Loops </a:t>
            </a:r>
            <a:br>
              <a:rPr lang="en-US" dirty="0"/>
            </a:br>
            <a:r>
              <a:rPr lang="en-US" dirty="0"/>
              <a:t>(aka </a:t>
            </a:r>
            <a:r>
              <a:rPr lang="en-US" dirty="0" err="1"/>
              <a:t>corticostriatal</a:t>
            </a:r>
            <a:r>
              <a:rPr lang="en-US" dirty="0"/>
              <a:t> pathway)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77109-3740-301D-CBC8-29661098E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139" y="1217428"/>
            <a:ext cx="8014146" cy="564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92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179595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Corticostriatal</a:t>
            </a:r>
            <a:r>
              <a:rPr lang="en-US" dirty="0"/>
              <a:t> 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8595-0A2F-053A-7721-12DB0CED78E6}"/>
              </a:ext>
            </a:extLst>
          </p:cNvPr>
          <p:cNvSpPr txBox="1">
            <a:spLocks/>
          </p:cNvSpPr>
          <p:nvPr/>
        </p:nvSpPr>
        <p:spPr>
          <a:xfrm>
            <a:off x="1146178" y="1505158"/>
            <a:ext cx="7149683" cy="5173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Glutamatergic (excitatory).</a:t>
            </a:r>
          </a:p>
          <a:p>
            <a:r>
              <a:rPr lang="en-US" dirty="0"/>
              <a:t>Synapse onto medium spiny neurons (MSNs) in the striatum.</a:t>
            </a:r>
          </a:p>
          <a:p>
            <a:r>
              <a:rPr lang="en-US" dirty="0"/>
              <a:t>Topographical organization.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3BC623-2B00-E6F8-2B31-EE6F40742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774"/>
          <a:stretch>
            <a:fillRect/>
          </a:stretch>
        </p:blipFill>
        <p:spPr>
          <a:xfrm>
            <a:off x="8295861" y="1610159"/>
            <a:ext cx="3057939" cy="52478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B9F4-5A2B-DD08-DCCE-55AFAFD5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Corticostriatal</a:t>
            </a:r>
            <a:r>
              <a:rPr lang="en-US" dirty="0"/>
              <a:t> Projection Terminations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3349DB-258E-879D-2305-6F95DDE33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749007"/>
              </p:ext>
            </p:extLst>
          </p:nvPr>
        </p:nvGraphicFramePr>
        <p:xfrm>
          <a:off x="145774" y="2377440"/>
          <a:ext cx="11900452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75113">
                  <a:extLst>
                    <a:ext uri="{9D8B030D-6E8A-4147-A177-3AD203B41FA5}">
                      <a16:colId xmlns:a16="http://schemas.microsoft.com/office/drawing/2014/main" val="54170773"/>
                    </a:ext>
                  </a:extLst>
                </a:gridCol>
                <a:gridCol w="2975113">
                  <a:extLst>
                    <a:ext uri="{9D8B030D-6E8A-4147-A177-3AD203B41FA5}">
                      <a16:colId xmlns:a16="http://schemas.microsoft.com/office/drawing/2014/main" val="2924061676"/>
                    </a:ext>
                  </a:extLst>
                </a:gridCol>
                <a:gridCol w="2975113">
                  <a:extLst>
                    <a:ext uri="{9D8B030D-6E8A-4147-A177-3AD203B41FA5}">
                      <a16:colId xmlns:a16="http://schemas.microsoft.com/office/drawing/2014/main" val="4280398801"/>
                    </a:ext>
                  </a:extLst>
                </a:gridCol>
                <a:gridCol w="2975113">
                  <a:extLst>
                    <a:ext uri="{9D8B030D-6E8A-4147-A177-3AD203B41FA5}">
                      <a16:colId xmlns:a16="http://schemas.microsoft.com/office/drawing/2014/main" val="3834195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the Caudate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the Putamen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the Nucleus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Accumbens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13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Input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multimodal association cortex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&amp; 2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somatic sensory &amp; motor cortex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medial prefrontal cortex (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mPFC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9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selection of movement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sensorimotor processing about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emotion, reward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41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89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2DC4-D4C2-8661-8E9D-447397F5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Substantia Nigra Inputs to BG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88C1D-A540-3C3C-FF6D-BEA53962F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lvl="0"/>
            <a:r>
              <a:rPr lang="en-US" dirty="0"/>
              <a:t>Substantia nigra pars compacta (</a:t>
            </a:r>
            <a:r>
              <a:rPr lang="en-US" dirty="0" err="1"/>
              <a:t>SNc</a:t>
            </a:r>
            <a:r>
              <a:rPr lang="en-US" dirty="0"/>
              <a:t>)</a:t>
            </a:r>
          </a:p>
          <a:p>
            <a:pPr lvl="1"/>
            <a:r>
              <a:rPr lang="en-US" sz="2800" dirty="0"/>
              <a:t>DA-</a:t>
            </a:r>
            <a:r>
              <a:rPr lang="en-US" sz="2800" dirty="0" err="1"/>
              <a:t>ergic</a:t>
            </a:r>
            <a:r>
              <a:rPr lang="en-US" sz="2800" dirty="0"/>
              <a:t> neurons in the </a:t>
            </a:r>
            <a:r>
              <a:rPr lang="en-US" sz="2800" dirty="0" err="1"/>
              <a:t>SNc</a:t>
            </a:r>
            <a:r>
              <a:rPr lang="en-US" sz="2800" dirty="0"/>
              <a:t> project to the dorsal striatum.</a:t>
            </a:r>
          </a:p>
          <a:p>
            <a:pPr lvl="2"/>
            <a:r>
              <a:rPr lang="en-US" sz="2800" dirty="0"/>
              <a:t>Striatal MSN have either D1 or D2 receptors</a:t>
            </a:r>
          </a:p>
          <a:p>
            <a:pPr lvl="1"/>
            <a:endParaRPr lang="en-US" sz="3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CB928-C985-5969-654B-703D6FB0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183" r="33382" b="57488"/>
          <a:stretch>
            <a:fillRect/>
          </a:stretch>
        </p:blipFill>
        <p:spPr>
          <a:xfrm>
            <a:off x="0" y="3563937"/>
            <a:ext cx="12192000" cy="264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5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1583</TotalTime>
  <Words>565</Words>
  <Application>Microsoft Office PowerPoint</Application>
  <PresentationFormat>Widescreen</PresentationFormat>
  <Paragraphs>103</Paragraphs>
  <Slides>14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Modulation of Movement by the Basal Ganglia</vt:lpstr>
      <vt:lpstr>Learning objectives</vt:lpstr>
      <vt:lpstr>Four Neural Centers for Movement</vt:lpstr>
      <vt:lpstr>PowerPoint Presentation</vt:lpstr>
      <vt:lpstr>The Basal Ganglia</vt:lpstr>
      <vt:lpstr>Parkinson’s Disease</vt:lpstr>
      <vt:lpstr>Parkinson’s Disease symptoms</vt:lpstr>
      <vt:lpstr>Parkinson’s disease:  Nervous system abnormalities</vt:lpstr>
      <vt:lpstr>Parkinson’s disease:  Treatments</vt:lpstr>
      <vt:lpstr>Basal Ganglia modulation of motor plans</vt:lpstr>
      <vt:lpstr>Basal Ganglia Cortex Feedback Loops  (aka corticostriatal pathway)</vt:lpstr>
      <vt:lpstr>Corticostriatal projections</vt:lpstr>
      <vt:lpstr>Corticostriatal Projection Terminations</vt:lpstr>
      <vt:lpstr>Substantia Nigra Inputs to BG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185</cp:revision>
  <dcterms:created xsi:type="dcterms:W3CDTF">2025-10-21T15:15:45Z</dcterms:created>
  <dcterms:modified xsi:type="dcterms:W3CDTF">2025-10-31T03:04:49Z</dcterms:modified>
</cp:coreProperties>
</file>