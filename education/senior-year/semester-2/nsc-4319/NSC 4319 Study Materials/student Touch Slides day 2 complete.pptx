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78" r:id="rId2"/>
    <p:sldId id="381" r:id="rId3"/>
    <p:sldId id="380" r:id="rId4"/>
    <p:sldId id="280" r:id="rId5"/>
    <p:sldId id="438" r:id="rId6"/>
    <p:sldId id="432" r:id="rId7"/>
    <p:sldId id="439" r:id="rId8"/>
    <p:sldId id="440" r:id="rId9"/>
    <p:sldId id="441" r:id="rId10"/>
    <p:sldId id="442" r:id="rId11"/>
    <p:sldId id="443" r:id="rId12"/>
    <p:sldId id="444" r:id="rId13"/>
    <p:sldId id="445" r:id="rId14"/>
    <p:sldId id="446" r:id="rId15"/>
    <p:sldId id="448" r:id="rId16"/>
    <p:sldId id="44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6211" autoAdjust="0"/>
  </p:normalViewPr>
  <p:slideViewPr>
    <p:cSldViewPr snapToGrid="0">
      <p:cViewPr varScale="1">
        <p:scale>
          <a:sx n="121" d="100"/>
          <a:sy n="121" d="100"/>
        </p:scale>
        <p:origin x="18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2B88F-780F-478B-BCB1-9EEE6F75E93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6773D-0560-4D5A-A480-BC64BA8E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6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00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11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20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58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51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33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E74EC-0524-2C7D-34FC-867BF4591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2E060-9AF8-DEF2-C0D0-51315F546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7248BE-EA2E-A5BD-D52A-16F1246BC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F0573-34C3-CF0B-4482-1EB1E672E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21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61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69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3C485-9413-0A4C-9D11-00E21B71D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4AFD6-C937-482A-C72A-05D777B7B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7614C-E948-BD08-A830-3812E3751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F67B0-2129-0479-8FB2-1B871CABA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63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05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502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46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E9897-619A-49B2-E83C-43579DB79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842D1-E61C-E93D-8CFF-EB5CB1F17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32096-52AE-E721-6C4C-11214A0F7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5B0E3-AC3C-AB7E-00F6-2022F6639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51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4F222-A225-D526-80A3-80B01DF9E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F7BCA-48F8-2188-38B9-8F889B17C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7349A-0D8D-3F75-D347-48262DBE1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EF9AC-232A-19E8-6D04-99478F9B1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620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3589A-14D5-A2E6-3B06-49884E458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1D4CA-0C56-908F-196E-EA0A950DC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D80C5-67B3-DFC4-6B4F-6645DB5DF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568C7-C0D1-6558-F606-A755ACA0A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4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1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0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08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3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7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4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83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1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60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48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5423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76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79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42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22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01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016000" y="228600"/>
            <a:ext cx="10924117" cy="640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456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731A2-3C6B-4801-98CD-7F4FBF32C4E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71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33A3A5-653D-B555-100E-DB05289B2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974" y="1600200"/>
            <a:ext cx="7198026" cy="42464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576735-9B04-03F8-33DE-BB5609BEFE99}"/>
              </a:ext>
            </a:extLst>
          </p:cNvPr>
          <p:cNvSpPr txBox="1"/>
          <p:nvPr/>
        </p:nvSpPr>
        <p:spPr>
          <a:xfrm>
            <a:off x="2743200" y="358913"/>
            <a:ext cx="6705600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The Spinal Nerves and Dermatomes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40F0F9D-B86A-E4DC-1C7E-93A5795BE91E}"/>
              </a:ext>
            </a:extLst>
          </p:cNvPr>
          <p:cNvSpPr txBox="1">
            <a:spLocks/>
          </p:cNvSpPr>
          <p:nvPr/>
        </p:nvSpPr>
        <p:spPr>
          <a:xfrm>
            <a:off x="102476" y="1542730"/>
            <a:ext cx="4894397" cy="53152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</a:rPr>
              <a:t>Each division of the spinal cord is associated with a pair of spinal nerves that innervate a specific part of the body.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Cervical:</a:t>
            </a:r>
            <a:r>
              <a:rPr lang="en-US" sz="2400" dirty="0">
                <a:solidFill>
                  <a:schemeClr val="bg1"/>
                </a:solidFill>
              </a:rPr>
              <a:t> back of head, neck, tops of arms, and hands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Thoracic:</a:t>
            </a:r>
            <a:r>
              <a:rPr lang="en-US" sz="2400" dirty="0">
                <a:solidFill>
                  <a:schemeClr val="bg1"/>
                </a:solidFill>
              </a:rPr>
              <a:t> torso and underside of arms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Lumbar:</a:t>
            </a:r>
            <a:r>
              <a:rPr lang="en-US" sz="2400" dirty="0">
                <a:solidFill>
                  <a:schemeClr val="bg1"/>
                </a:solidFill>
              </a:rPr>
              <a:t> hips and front of legs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Sacral:</a:t>
            </a:r>
            <a:r>
              <a:rPr lang="en-US" sz="2400" dirty="0">
                <a:solidFill>
                  <a:schemeClr val="bg1"/>
                </a:solidFill>
              </a:rPr>
              <a:t> back of legs and genitals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70"/>
          <a:stretch/>
        </p:blipFill>
        <p:spPr>
          <a:xfrm>
            <a:off x="5372100" y="1542731"/>
            <a:ext cx="6819900" cy="53152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C2CDC0-0EE2-5AF9-E8FF-B0D04392D8A4}"/>
              </a:ext>
            </a:extLst>
          </p:cNvPr>
          <p:cNvSpPr txBox="1"/>
          <p:nvPr/>
        </p:nvSpPr>
        <p:spPr>
          <a:xfrm>
            <a:off x="2743200" y="358913"/>
            <a:ext cx="6705600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Internal structure of the spinal cord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5EF87DE-5A38-89B2-C2F7-3D1B5BA0E8D4}"/>
              </a:ext>
            </a:extLst>
          </p:cNvPr>
          <p:cNvSpPr txBox="1">
            <a:spLocks/>
          </p:cNvSpPr>
          <p:nvPr/>
        </p:nvSpPr>
        <p:spPr>
          <a:xfrm>
            <a:off x="761133" y="1542731"/>
            <a:ext cx="4610967" cy="49563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</a:rPr>
              <a:t>At each spinal level, there is a regular pattern of: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sensory input (</a:t>
            </a:r>
            <a:r>
              <a:rPr lang="en-US" altLang="en-US" sz="2400" b="1" dirty="0">
                <a:solidFill>
                  <a:schemeClr val="bg1"/>
                </a:solidFill>
              </a:rPr>
              <a:t>afferents</a:t>
            </a:r>
            <a:r>
              <a:rPr lang="en-US" altLang="en-US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synaptic connections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motor output (</a:t>
            </a:r>
            <a:r>
              <a:rPr lang="en-US" altLang="en-US" sz="2400" b="1" dirty="0" err="1">
                <a:solidFill>
                  <a:schemeClr val="bg1"/>
                </a:solidFill>
              </a:rPr>
              <a:t>efferents</a:t>
            </a:r>
            <a:r>
              <a:rPr lang="en-US" altLang="en-US" sz="2400" dirty="0">
                <a:solidFill>
                  <a:schemeClr val="bg1"/>
                </a:solidFill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52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198198-C5CD-7897-BB07-128807A5B935}"/>
              </a:ext>
            </a:extLst>
          </p:cNvPr>
          <p:cNvSpPr txBox="1"/>
          <p:nvPr/>
        </p:nvSpPr>
        <p:spPr>
          <a:xfrm>
            <a:off x="691751" y="477633"/>
            <a:ext cx="6705600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Internal structure of the spinal cord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5C8285A-89BF-DAE0-3901-284B5165C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07" y="1286593"/>
            <a:ext cx="6577544" cy="5212494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The four main divisions of the spinal cord have a characteristic arrangement of gray and white matter.</a:t>
            </a:r>
          </a:p>
          <a:p>
            <a:pPr lvl="1"/>
            <a:r>
              <a:rPr lang="en-US" altLang="en-US" sz="2400" b="1" dirty="0">
                <a:solidFill>
                  <a:schemeClr val="bg1"/>
                </a:solidFill>
              </a:rPr>
              <a:t>Gray matter: </a:t>
            </a:r>
            <a:r>
              <a:rPr lang="en-US" altLang="en-US" sz="2400" dirty="0">
                <a:solidFill>
                  <a:schemeClr val="bg1"/>
                </a:solidFill>
              </a:rPr>
              <a:t>primarily cell bodies</a:t>
            </a:r>
          </a:p>
          <a:p>
            <a:pPr lvl="1"/>
            <a:r>
              <a:rPr lang="en-US" altLang="en-US" sz="2400" b="1" dirty="0">
                <a:solidFill>
                  <a:schemeClr val="bg1"/>
                </a:solidFill>
              </a:rPr>
              <a:t>White matter: </a:t>
            </a:r>
            <a:r>
              <a:rPr lang="en-US" altLang="en-US" sz="2400" dirty="0">
                <a:solidFill>
                  <a:schemeClr val="bg1"/>
                </a:solidFill>
              </a:rPr>
              <a:t>primarily myelinated axons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F9B089-4A93-C9BD-2552-E680BB6DB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291" y="0"/>
            <a:ext cx="2567709" cy="68597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BAE052-1E1F-A455-627A-9A254EDDD6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8111"/>
          <a:stretch>
            <a:fillRect/>
          </a:stretch>
        </p:blipFill>
        <p:spPr>
          <a:xfrm>
            <a:off x="7397351" y="0"/>
            <a:ext cx="22269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83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1" y="0"/>
            <a:ext cx="9905998" cy="1478570"/>
          </a:xfr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Gray matter: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 spinal horns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BE5DA4-3833-B3D9-8082-DFB0BB1445A2}"/>
              </a:ext>
            </a:extLst>
          </p:cNvPr>
          <p:cNvGrpSpPr/>
          <p:nvPr/>
        </p:nvGrpSpPr>
        <p:grpSpPr>
          <a:xfrm>
            <a:off x="6141551" y="1478570"/>
            <a:ext cx="6050449" cy="3536776"/>
            <a:chOff x="6095999" y="1478570"/>
            <a:chExt cx="6096001" cy="3970694"/>
          </a:xfrm>
        </p:grpSpPr>
        <p:pic>
          <p:nvPicPr>
            <p:cNvPr id="157699" name="Picture 3" descr="P04011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095999" y="1478570"/>
              <a:ext cx="6096001" cy="3970694"/>
            </a:xfrm>
            <a:prstGeom prst="rect">
              <a:avLst/>
            </a:prstGeom>
            <a:noFill/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653403-2B87-0700-0E69-D2E86A0B7E56}"/>
                </a:ext>
              </a:extLst>
            </p:cNvPr>
            <p:cNvSpPr/>
            <p:nvPr/>
          </p:nvSpPr>
          <p:spPr>
            <a:xfrm>
              <a:off x="7250545" y="1478570"/>
              <a:ext cx="2835564" cy="35740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5BD201-9515-5F83-B4BB-0170F0CA7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132" y="1478570"/>
            <a:ext cx="5190351" cy="5212494"/>
          </a:xfrm>
        </p:spPr>
        <p:txBody>
          <a:bodyPr>
            <a:normAutofit fontScale="925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Layering helps maintain a </a:t>
            </a:r>
            <a:r>
              <a:rPr lang="en-US" altLang="en-US" b="1" dirty="0">
                <a:solidFill>
                  <a:schemeClr val="bg1"/>
                </a:solidFill>
              </a:rPr>
              <a:t>topographic (aka somatotopic) </a:t>
            </a:r>
            <a:r>
              <a:rPr lang="en-US" altLang="en-US" dirty="0">
                <a:solidFill>
                  <a:schemeClr val="bg1"/>
                </a:solidFill>
              </a:rPr>
              <a:t>organization</a:t>
            </a:r>
          </a:p>
          <a:p>
            <a:r>
              <a:rPr lang="en-US" altLang="en-US" dirty="0">
                <a:solidFill>
                  <a:schemeClr val="bg1"/>
                </a:solidFill>
              </a:rPr>
              <a:t>The </a:t>
            </a:r>
            <a:r>
              <a:rPr lang="en-US" altLang="en-US" b="1" dirty="0">
                <a:solidFill>
                  <a:schemeClr val="bg1"/>
                </a:solidFill>
              </a:rPr>
              <a:t>dorsal horns </a:t>
            </a:r>
            <a:r>
              <a:rPr lang="en-US" altLang="en-US" dirty="0">
                <a:solidFill>
                  <a:schemeClr val="bg1"/>
                </a:solidFill>
              </a:rPr>
              <a:t>are important for processing somatosensory information and transmitting it to the brain.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Layer 2 mostly consists of interneurons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Layers 3-5 mostly contains projection neurons</a:t>
            </a:r>
          </a:p>
          <a:p>
            <a:r>
              <a:rPr lang="en-US" altLang="en-US" dirty="0">
                <a:solidFill>
                  <a:schemeClr val="bg1"/>
                </a:solidFill>
              </a:rPr>
              <a:t>The </a:t>
            </a:r>
            <a:r>
              <a:rPr lang="en-US" altLang="en-US" b="1" dirty="0">
                <a:solidFill>
                  <a:schemeClr val="bg1"/>
                </a:solidFill>
              </a:rPr>
              <a:t>ventral horns </a:t>
            </a:r>
            <a:r>
              <a:rPr lang="en-US" altLang="en-US" dirty="0">
                <a:solidFill>
                  <a:schemeClr val="bg1"/>
                </a:solidFill>
              </a:rPr>
              <a:t>contain cell bodies of motor neurons that innervate skeletal muscles.</a:t>
            </a:r>
          </a:p>
          <a:p>
            <a:endParaRPr lang="en-US" altLang="en-US" sz="22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BB0743-14DB-A754-8664-1305152F0C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4767"/>
          <a:stretch>
            <a:fillRect/>
          </a:stretch>
        </p:blipFill>
        <p:spPr>
          <a:xfrm>
            <a:off x="6141551" y="5015346"/>
            <a:ext cx="6050449" cy="18426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3EEFD-0C0F-4BED-0C8B-6CA9C8E7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974"/>
            <a:ext cx="6717144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somatosensory white matter tracts through the spinal cord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6AEF-1805-D221-17D4-1192BD93A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478570"/>
            <a:ext cx="4952999" cy="537943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Somatic sensation from the </a:t>
            </a:r>
            <a:r>
              <a:rPr lang="en-US" b="1" dirty="0">
                <a:solidFill>
                  <a:schemeClr val="bg1"/>
                </a:solidFill>
              </a:rPr>
              <a:t>body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Mechanosensory systems use the </a:t>
            </a:r>
            <a:r>
              <a:rPr lang="en-US" sz="2400" b="1" dirty="0">
                <a:solidFill>
                  <a:schemeClr val="bg1"/>
                </a:solidFill>
              </a:rPr>
              <a:t>dorsal column/medial </a:t>
            </a:r>
            <a:r>
              <a:rPr lang="en-US" sz="2400" b="1" dirty="0" err="1">
                <a:solidFill>
                  <a:schemeClr val="bg1"/>
                </a:solidFill>
              </a:rPr>
              <a:t>lemniscal</a:t>
            </a:r>
            <a:r>
              <a:rPr lang="en-US" sz="2400" b="1" dirty="0">
                <a:solidFill>
                  <a:schemeClr val="bg1"/>
                </a:solidFill>
              </a:rPr>
              <a:t> (DC/ML) system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Pain and temperature use the </a:t>
            </a:r>
            <a:r>
              <a:rPr lang="en-US" sz="2400" b="1" dirty="0">
                <a:solidFill>
                  <a:schemeClr val="bg1"/>
                </a:solidFill>
              </a:rPr>
              <a:t>anterolateral system</a:t>
            </a:r>
          </a:p>
          <a:p>
            <a:r>
              <a:rPr lang="en-US" dirty="0">
                <a:solidFill>
                  <a:schemeClr val="bg1"/>
                </a:solidFill>
              </a:rPr>
              <a:t>Somatic sensation from the </a:t>
            </a:r>
            <a:r>
              <a:rPr lang="en-US" b="1" dirty="0">
                <a:solidFill>
                  <a:schemeClr val="bg1"/>
                </a:solidFill>
              </a:rPr>
              <a:t>face</a:t>
            </a:r>
          </a:p>
          <a:p>
            <a:pPr lvl="1"/>
            <a:r>
              <a:rPr lang="en-US" sz="2400" dirty="0" err="1">
                <a:solidFill>
                  <a:schemeClr val="bg1"/>
                </a:solidFill>
              </a:rPr>
              <a:t>Mechanosensation</a:t>
            </a:r>
            <a:r>
              <a:rPr lang="en-US" sz="2400" dirty="0">
                <a:solidFill>
                  <a:schemeClr val="bg1"/>
                </a:solidFill>
              </a:rPr>
              <a:t> and pain/temperature both use the </a:t>
            </a:r>
            <a:r>
              <a:rPr lang="en-US" sz="2400" b="1" dirty="0">
                <a:solidFill>
                  <a:schemeClr val="bg1"/>
                </a:solidFill>
              </a:rPr>
              <a:t>trigeminal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3DBC57-8BBA-4800-BBC3-6A371FADF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345" y="-2104"/>
            <a:ext cx="5652655" cy="692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73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2EA255C5-2756-4253-B620-200A710F3CFE}"/>
              </a:ext>
            </a:extLst>
          </p:cNvPr>
          <p:cNvSpPr/>
          <p:nvPr/>
        </p:nvSpPr>
        <p:spPr>
          <a:xfrm>
            <a:off x="5384526" y="725986"/>
            <a:ext cx="6807474" cy="62543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4C9490E-5855-400E-B94F-C6E0D2E8B042}"/>
              </a:ext>
            </a:extLst>
          </p:cNvPr>
          <p:cNvSpPr/>
          <p:nvPr/>
        </p:nvSpPr>
        <p:spPr>
          <a:xfrm rot="589973">
            <a:off x="8658242" y="702280"/>
            <a:ext cx="673707" cy="22146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4BE73-AF2A-1684-180A-13226A1640D4}"/>
              </a:ext>
            </a:extLst>
          </p:cNvPr>
          <p:cNvSpPr txBox="1"/>
          <p:nvPr/>
        </p:nvSpPr>
        <p:spPr>
          <a:xfrm>
            <a:off x="2443018" y="39827"/>
            <a:ext cx="7305964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DC/ML PSDC Pathways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04D8925-F9B1-B714-C4AE-49BD8ED85548}"/>
              </a:ext>
            </a:extLst>
          </p:cNvPr>
          <p:cNvSpPr txBox="1">
            <a:spLocks/>
          </p:cNvSpPr>
          <p:nvPr/>
        </p:nvSpPr>
        <p:spPr>
          <a:xfrm>
            <a:off x="40375" y="744883"/>
            <a:ext cx="7149721" cy="37798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</a:rPr>
              <a:t>postsynaptic dorsal column (PSDC) neurons (first order neurons) </a:t>
            </a:r>
            <a:endParaRPr lang="en-US" altLang="en-US" sz="2000" dirty="0">
              <a:solidFill>
                <a:schemeClr val="bg1"/>
              </a:solidFill>
            </a:endParaRPr>
          </a:p>
          <a:p>
            <a:r>
              <a:rPr lang="en-US" altLang="en-US" sz="2000" dirty="0">
                <a:solidFill>
                  <a:schemeClr val="bg1"/>
                </a:solidFill>
              </a:rPr>
              <a:t>Lumbar and sacral fibers (</a:t>
            </a:r>
            <a:r>
              <a:rPr lang="en-US" altLang="en-US" sz="2000" i="1" dirty="0">
                <a:solidFill>
                  <a:schemeClr val="bg1"/>
                </a:solidFill>
              </a:rPr>
              <a:t>lower body</a:t>
            </a:r>
            <a:r>
              <a:rPr lang="en-US" altLang="en-US" sz="2000" dirty="0">
                <a:solidFill>
                  <a:schemeClr val="bg1"/>
                </a:solidFill>
              </a:rPr>
              <a:t>) use the </a:t>
            </a:r>
            <a:r>
              <a:rPr lang="en-US" altLang="en-US" sz="2000" b="1" dirty="0">
                <a:solidFill>
                  <a:schemeClr val="bg1"/>
                </a:solidFill>
              </a:rPr>
              <a:t>gracile tract (GT).</a:t>
            </a:r>
          </a:p>
          <a:p>
            <a:r>
              <a:rPr lang="en-US" altLang="en-US" sz="2000" dirty="0">
                <a:solidFill>
                  <a:schemeClr val="bg1"/>
                </a:solidFill>
              </a:rPr>
              <a:t>Cervical fibers (</a:t>
            </a:r>
            <a:r>
              <a:rPr lang="en-US" altLang="en-US" sz="2000" i="1" dirty="0">
                <a:solidFill>
                  <a:schemeClr val="bg1"/>
                </a:solidFill>
              </a:rPr>
              <a:t>upper body</a:t>
            </a:r>
            <a:r>
              <a:rPr lang="en-US" altLang="en-US" sz="2000" dirty="0">
                <a:solidFill>
                  <a:schemeClr val="bg1"/>
                </a:solidFill>
              </a:rPr>
              <a:t>) use the </a:t>
            </a:r>
            <a:r>
              <a:rPr lang="en-US" altLang="en-US" sz="2000" b="1" dirty="0">
                <a:solidFill>
                  <a:schemeClr val="bg1"/>
                </a:solidFill>
              </a:rPr>
              <a:t>cuneate tract (CT).</a:t>
            </a:r>
          </a:p>
          <a:p>
            <a:r>
              <a:rPr lang="en-US" altLang="en-US" sz="2000" dirty="0">
                <a:solidFill>
                  <a:schemeClr val="bg1"/>
                </a:solidFill>
              </a:rPr>
              <a:t>Thoracic fibers use a bit of both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T6 and above (upper body) = CT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T7 and below (lower body) = GT</a:t>
            </a:r>
          </a:p>
          <a:p>
            <a:r>
              <a:rPr lang="en-US" altLang="en-US" sz="2000" dirty="0">
                <a:solidFill>
                  <a:schemeClr val="bg1"/>
                </a:solidFill>
              </a:rPr>
              <a:t>Both tracts terminate in the </a:t>
            </a:r>
            <a:r>
              <a:rPr lang="en-US" altLang="en-US" sz="2000" b="1" dirty="0">
                <a:solidFill>
                  <a:schemeClr val="bg1"/>
                </a:solidFill>
              </a:rPr>
              <a:t>dorsal column nuclei </a:t>
            </a:r>
            <a:r>
              <a:rPr lang="en-US" altLang="en-US" sz="2000" dirty="0">
                <a:solidFill>
                  <a:schemeClr val="bg1"/>
                </a:solidFill>
              </a:rPr>
              <a:t>of the medulla.</a:t>
            </a:r>
          </a:p>
          <a:p>
            <a:pPr lvl="1"/>
            <a:endParaRPr lang="en-US" altLang="en-US" dirty="0">
              <a:solidFill>
                <a:schemeClr val="bg1"/>
              </a:solidFill>
            </a:endParaRPr>
          </a:p>
          <a:p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5B007D-449E-F99F-FA0A-D2CA8AE19B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3140"/>
          <a:stretch>
            <a:fillRect/>
          </a:stretch>
        </p:blipFill>
        <p:spPr>
          <a:xfrm>
            <a:off x="9569562" y="-1"/>
            <a:ext cx="2622438" cy="6858000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8946C6AC-E88B-55D4-F6DC-C9B554E53CFF}"/>
              </a:ext>
            </a:extLst>
          </p:cNvPr>
          <p:cNvSpPr/>
          <p:nvPr/>
        </p:nvSpPr>
        <p:spPr>
          <a:xfrm>
            <a:off x="9556053" y="4200363"/>
            <a:ext cx="2622437" cy="1313745"/>
          </a:xfrm>
          <a:prstGeom prst="frame">
            <a:avLst>
              <a:gd name="adj1" fmla="val 265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C3713B-CA55-C4BE-F48D-399BAC1D9369}"/>
              </a:ext>
            </a:extLst>
          </p:cNvPr>
          <p:cNvSpPr/>
          <p:nvPr/>
        </p:nvSpPr>
        <p:spPr>
          <a:xfrm rot="1365468">
            <a:off x="9214132" y="780612"/>
            <a:ext cx="647323" cy="229861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5ECE9E-2F54-76A1-D2A8-B544EAC8749C}"/>
              </a:ext>
            </a:extLst>
          </p:cNvPr>
          <p:cNvSpPr/>
          <p:nvPr/>
        </p:nvSpPr>
        <p:spPr>
          <a:xfrm rot="1078152">
            <a:off x="9024422" y="936016"/>
            <a:ext cx="388240" cy="204864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79C56788-D4E2-2EE5-F44E-680DB14BE280}"/>
              </a:ext>
            </a:extLst>
          </p:cNvPr>
          <p:cNvSpPr/>
          <p:nvPr/>
        </p:nvSpPr>
        <p:spPr>
          <a:xfrm>
            <a:off x="10388698" y="744884"/>
            <a:ext cx="454794" cy="437372"/>
          </a:xfrm>
          <a:prstGeom prst="frame">
            <a:avLst>
              <a:gd name="adj1" fmla="val 265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0BB6B9-FC9F-6DBF-96A0-C5829CF6F5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168" r="30877"/>
          <a:stretch>
            <a:fillRect/>
          </a:stretch>
        </p:blipFill>
        <p:spPr>
          <a:xfrm>
            <a:off x="7196851" y="2614816"/>
            <a:ext cx="2372711" cy="424318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31EE5C3-87D4-93AE-AE8D-D23B75B7BE11}"/>
              </a:ext>
            </a:extLst>
          </p:cNvPr>
          <p:cNvSpPr/>
          <p:nvPr/>
        </p:nvSpPr>
        <p:spPr>
          <a:xfrm>
            <a:off x="8229600" y="3972910"/>
            <a:ext cx="718820" cy="4571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AA331-9CA1-2AB5-A977-D967B4B199D2}"/>
              </a:ext>
            </a:extLst>
          </p:cNvPr>
          <p:cNvSpPr txBox="1"/>
          <p:nvPr/>
        </p:nvSpPr>
        <p:spPr>
          <a:xfrm>
            <a:off x="40375" y="4390723"/>
            <a:ext cx="55406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bg1"/>
                </a:solidFill>
              </a:rPr>
              <a:t>Second-order neurons </a:t>
            </a:r>
            <a:r>
              <a:rPr lang="en-US" altLang="en-US" sz="2000" dirty="0">
                <a:solidFill>
                  <a:schemeClr val="bg1"/>
                </a:solidFill>
              </a:rPr>
              <a:t>in the DCN project to the </a:t>
            </a:r>
            <a:r>
              <a:rPr lang="en-US" altLang="en-US" sz="2000" b="1" dirty="0">
                <a:solidFill>
                  <a:schemeClr val="bg1"/>
                </a:solidFill>
              </a:rPr>
              <a:t>ventral posterior lateral </a:t>
            </a:r>
            <a:r>
              <a:rPr lang="en-US" altLang="en-US" sz="2000" dirty="0">
                <a:solidFill>
                  <a:schemeClr val="bg1"/>
                </a:solidFill>
              </a:rPr>
              <a:t>(</a:t>
            </a:r>
            <a:r>
              <a:rPr lang="en-US" altLang="en-US" sz="2000" b="1" dirty="0">
                <a:solidFill>
                  <a:schemeClr val="bg1"/>
                </a:solidFill>
              </a:rPr>
              <a:t>VPL</a:t>
            </a:r>
            <a:r>
              <a:rPr lang="en-US" altLang="en-US" sz="2000" dirty="0">
                <a:solidFill>
                  <a:schemeClr val="bg1"/>
                </a:solidFill>
              </a:rPr>
              <a:t>) </a:t>
            </a:r>
            <a:r>
              <a:rPr lang="en-US" altLang="en-US" sz="2000" b="1" dirty="0">
                <a:solidFill>
                  <a:schemeClr val="bg1"/>
                </a:solidFill>
              </a:rPr>
              <a:t>nucleus</a:t>
            </a:r>
            <a:r>
              <a:rPr lang="en-US" altLang="en-US" sz="2000" dirty="0">
                <a:solidFill>
                  <a:schemeClr val="bg1"/>
                </a:solidFill>
              </a:rPr>
              <a:t> of the thalamus.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The projections are referred to as the </a:t>
            </a:r>
            <a:r>
              <a:rPr lang="en-US" altLang="en-US" sz="2000" b="1" dirty="0">
                <a:solidFill>
                  <a:schemeClr val="bg1"/>
                </a:solidFill>
              </a:rPr>
              <a:t>internal arcuate fibers.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They cross the midline and form the </a:t>
            </a:r>
            <a:r>
              <a:rPr lang="en-US" altLang="en-US" sz="2000" b="1" dirty="0">
                <a:solidFill>
                  <a:schemeClr val="bg1"/>
                </a:solidFill>
              </a:rPr>
              <a:t>medial lemniscus tract</a:t>
            </a:r>
            <a:endParaRPr lang="en-US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5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2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C53AB-0975-B270-56B3-48418D993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C32A54-0CC9-A94C-36D5-E2C8ED60B577}"/>
              </a:ext>
            </a:extLst>
          </p:cNvPr>
          <p:cNvSpPr txBox="1"/>
          <p:nvPr/>
        </p:nvSpPr>
        <p:spPr>
          <a:xfrm>
            <a:off x="2443018" y="240145"/>
            <a:ext cx="7305964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DC/ML SCT Pathway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62D34B-F9B6-27B4-4BE6-56EB876DEE3C}"/>
              </a:ext>
            </a:extLst>
          </p:cNvPr>
          <p:cNvSpPr txBox="1">
            <a:spLocks/>
          </p:cNvSpPr>
          <p:nvPr/>
        </p:nvSpPr>
        <p:spPr>
          <a:xfrm>
            <a:off x="655783" y="1182255"/>
            <a:ext cx="7676629" cy="567574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spinocervical tract (SCT) </a:t>
            </a:r>
            <a:r>
              <a:rPr lang="en-US" dirty="0">
                <a:solidFill>
                  <a:schemeClr val="bg1"/>
                </a:solidFill>
              </a:rPr>
              <a:t>neurons (</a:t>
            </a:r>
            <a:r>
              <a:rPr lang="en-US" b="1" dirty="0">
                <a:solidFill>
                  <a:schemeClr val="bg1"/>
                </a:solidFill>
              </a:rPr>
              <a:t>also first-order neurons</a:t>
            </a:r>
            <a:r>
              <a:rPr lang="en-US" dirty="0">
                <a:solidFill>
                  <a:schemeClr val="bg1"/>
                </a:solidFill>
              </a:rPr>
              <a:t>) use a separate pathway.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Primarily input from hairy skin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SCT neuron projections travel through the dorsolateral white matter and terminate in the </a:t>
            </a:r>
            <a:r>
              <a:rPr lang="en-US" sz="2400" b="1" dirty="0">
                <a:solidFill>
                  <a:schemeClr val="bg1"/>
                </a:solidFill>
              </a:rPr>
              <a:t>lateral cervical nucleus 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b="1" dirty="0">
                <a:solidFill>
                  <a:schemeClr val="bg1"/>
                </a:solidFill>
              </a:rPr>
              <a:t>LCN</a:t>
            </a:r>
            <a:r>
              <a:rPr lang="en-US" sz="2400" dirty="0">
                <a:solidFill>
                  <a:schemeClr val="bg1"/>
                </a:solidFill>
              </a:rPr>
              <a:t>, in the </a:t>
            </a:r>
            <a:r>
              <a:rPr lang="en-US" sz="2400" i="1" dirty="0">
                <a:solidFill>
                  <a:schemeClr val="bg1"/>
                </a:solidFill>
              </a:rPr>
              <a:t>spinal cord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LCN </a:t>
            </a:r>
            <a:r>
              <a:rPr lang="en-US" sz="2400" b="1" dirty="0">
                <a:solidFill>
                  <a:schemeClr val="bg1"/>
                </a:solidFill>
              </a:rPr>
              <a:t>second-order neurons </a:t>
            </a:r>
            <a:r>
              <a:rPr lang="en-US" sz="2400" dirty="0">
                <a:solidFill>
                  <a:schemeClr val="bg1"/>
                </a:solidFill>
              </a:rPr>
              <a:t>cross the midline at the </a:t>
            </a:r>
            <a:r>
              <a:rPr lang="en-US" sz="2400" b="1" dirty="0">
                <a:solidFill>
                  <a:schemeClr val="bg1"/>
                </a:solidFill>
              </a:rPr>
              <a:t>dorsal commissure </a:t>
            </a:r>
            <a:r>
              <a:rPr lang="en-US" sz="2400" dirty="0">
                <a:solidFill>
                  <a:schemeClr val="bg1"/>
                </a:solidFill>
              </a:rPr>
              <a:t>in the medulla and then join the PSDC neuron pathways in the medial lemniscus.</a:t>
            </a:r>
          </a:p>
          <a:p>
            <a:r>
              <a:rPr lang="en-US" b="1" dirty="0">
                <a:solidFill>
                  <a:schemeClr val="bg1"/>
                </a:solidFill>
              </a:rPr>
              <a:t>Third-order neurons </a:t>
            </a:r>
            <a:r>
              <a:rPr lang="en-US" dirty="0">
                <a:solidFill>
                  <a:schemeClr val="bg1"/>
                </a:solidFill>
              </a:rPr>
              <a:t>in the VPL project to primary somatosensory cortex and secondary somatosensory cortex.</a:t>
            </a:r>
          </a:p>
          <a:p>
            <a:pPr lvl="1"/>
            <a:endParaRPr lang="en-US" altLang="en-US" dirty="0">
              <a:solidFill>
                <a:schemeClr val="bg1"/>
              </a:solidFill>
            </a:endParaRPr>
          </a:p>
          <a:p>
            <a:endParaRPr lang="en-US" altLang="en-US" b="1" dirty="0">
              <a:solidFill>
                <a:schemeClr val="bg1"/>
              </a:solidFill>
            </a:endParaRPr>
          </a:p>
          <a:p>
            <a:pPr lvl="1"/>
            <a:endParaRPr lang="en-US" altLang="en-US" dirty="0">
              <a:solidFill>
                <a:schemeClr val="bg1"/>
              </a:solidFill>
            </a:endParaRPr>
          </a:p>
          <a:p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51AFA7-2865-1463-3520-F1F8A71A99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634"/>
          <a:stretch>
            <a:fillRect/>
          </a:stretch>
        </p:blipFill>
        <p:spPr>
          <a:xfrm>
            <a:off x="8437762" y="0"/>
            <a:ext cx="3098455" cy="6858000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2A23BA2A-C58D-09E4-5AAC-32FF26F255FE}"/>
              </a:ext>
            </a:extLst>
          </p:cNvPr>
          <p:cNvSpPr/>
          <p:nvPr/>
        </p:nvSpPr>
        <p:spPr>
          <a:xfrm>
            <a:off x="8437762" y="5304110"/>
            <a:ext cx="3098455" cy="810363"/>
          </a:xfrm>
          <a:prstGeom prst="frame">
            <a:avLst>
              <a:gd name="adj1" fmla="val 265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62EED081-410B-347B-3A3C-82C112767D2D}"/>
              </a:ext>
            </a:extLst>
          </p:cNvPr>
          <p:cNvSpPr/>
          <p:nvPr/>
        </p:nvSpPr>
        <p:spPr>
          <a:xfrm>
            <a:off x="8437761" y="4202545"/>
            <a:ext cx="3098455" cy="1101565"/>
          </a:xfrm>
          <a:prstGeom prst="frame">
            <a:avLst>
              <a:gd name="adj1" fmla="val 265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3EA216D3-CA4A-A700-195B-6EE08D9D4F54}"/>
              </a:ext>
            </a:extLst>
          </p:cNvPr>
          <p:cNvSpPr/>
          <p:nvPr/>
        </p:nvSpPr>
        <p:spPr>
          <a:xfrm>
            <a:off x="8437761" y="-941"/>
            <a:ext cx="1311222" cy="1183196"/>
          </a:xfrm>
          <a:prstGeom prst="frame">
            <a:avLst>
              <a:gd name="adj1" fmla="val 265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7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5" grpId="0" animBg="1"/>
      <p:bldP spid="5" grpId="1" animBg="1"/>
      <p:bldP spid="7" grpId="0" animBg="1"/>
      <p:bldP spid="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6855-57EB-DFE5-45F3-6B598100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Trigeminal pathway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6E9EA-9D65-D0E3-DEC5-D9C5F38A0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78569"/>
            <a:ext cx="5654095" cy="537943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Trigeminal ganglion cells (</a:t>
            </a:r>
            <a:r>
              <a:rPr lang="en-US" i="1" dirty="0">
                <a:solidFill>
                  <a:schemeClr val="bg1"/>
                </a:solidFill>
              </a:rPr>
              <a:t>first-order neurons</a:t>
            </a:r>
            <a:r>
              <a:rPr lang="en-US" dirty="0">
                <a:solidFill>
                  <a:schemeClr val="bg1"/>
                </a:solidFill>
              </a:rPr>
              <a:t>) send somatosensory information from the face to the </a:t>
            </a:r>
            <a:r>
              <a:rPr lang="en-US" b="1" dirty="0">
                <a:solidFill>
                  <a:schemeClr val="bg1"/>
                </a:solidFill>
              </a:rPr>
              <a:t>principal nucleus of the trigeminal complex</a:t>
            </a:r>
            <a:r>
              <a:rPr lang="en-US" dirty="0">
                <a:solidFill>
                  <a:schemeClr val="bg1"/>
                </a:solidFill>
              </a:rPr>
              <a:t> in the brainstem.</a:t>
            </a:r>
          </a:p>
          <a:p>
            <a:r>
              <a:rPr lang="en-US" i="1" dirty="0">
                <a:solidFill>
                  <a:schemeClr val="bg1"/>
                </a:solidFill>
              </a:rPr>
              <a:t>Second-order neurons </a:t>
            </a:r>
            <a:r>
              <a:rPr lang="en-US" dirty="0">
                <a:solidFill>
                  <a:schemeClr val="bg1"/>
                </a:solidFill>
              </a:rPr>
              <a:t>cross the midline and form the </a:t>
            </a:r>
            <a:r>
              <a:rPr lang="en-US" b="1" dirty="0">
                <a:solidFill>
                  <a:schemeClr val="bg1"/>
                </a:solidFill>
              </a:rPr>
              <a:t>trigeminal lemniscus</a:t>
            </a:r>
            <a:r>
              <a:rPr lang="en-US" dirty="0">
                <a:solidFill>
                  <a:schemeClr val="bg1"/>
                </a:solidFill>
              </a:rPr>
              <a:t>, which terminates in the </a:t>
            </a:r>
            <a:r>
              <a:rPr lang="en-US" b="1" dirty="0">
                <a:solidFill>
                  <a:schemeClr val="bg1"/>
                </a:solidFill>
              </a:rPr>
              <a:t>ventral posterior medial (VPM) nucleus</a:t>
            </a:r>
            <a:r>
              <a:rPr lang="en-US" dirty="0">
                <a:solidFill>
                  <a:schemeClr val="bg1"/>
                </a:solidFill>
              </a:rPr>
              <a:t> of the Thalamus.</a:t>
            </a:r>
          </a:p>
          <a:p>
            <a:r>
              <a:rPr lang="en-US" dirty="0">
                <a:solidFill>
                  <a:schemeClr val="bg1"/>
                </a:solidFill>
              </a:rPr>
              <a:t>VPM neurons (</a:t>
            </a:r>
            <a:r>
              <a:rPr lang="en-US" i="1" dirty="0">
                <a:solidFill>
                  <a:schemeClr val="bg1"/>
                </a:solidFill>
              </a:rPr>
              <a:t>third-order neurons</a:t>
            </a:r>
            <a:r>
              <a:rPr lang="en-US" dirty="0">
                <a:solidFill>
                  <a:schemeClr val="bg1"/>
                </a:solidFill>
              </a:rPr>
              <a:t>) project to primary and secondary somatosensory cortices.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264C785-6ACC-7B99-5C3D-F0FB1C5787BC}"/>
              </a:ext>
            </a:extLst>
          </p:cNvPr>
          <p:cNvGrpSpPr/>
          <p:nvPr/>
        </p:nvGrpSpPr>
        <p:grpSpPr>
          <a:xfrm>
            <a:off x="6795507" y="1483768"/>
            <a:ext cx="4251903" cy="5374232"/>
            <a:chOff x="6795507" y="1483768"/>
            <a:chExt cx="4251903" cy="537423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C63C8F7-0B87-6354-4E41-554EC4E81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3068" b="41279"/>
            <a:stretch>
              <a:fillRect/>
            </a:stretch>
          </p:blipFill>
          <p:spPr>
            <a:xfrm>
              <a:off x="6795508" y="1483768"/>
              <a:ext cx="4251902" cy="537423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CD3962-C6D4-4BF9-B7E0-FC8CFBA86081}"/>
                </a:ext>
              </a:extLst>
            </p:cNvPr>
            <p:cNvSpPr/>
            <p:nvPr/>
          </p:nvSpPr>
          <p:spPr>
            <a:xfrm>
              <a:off x="6795507" y="3777673"/>
              <a:ext cx="418093" cy="4802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ame 6">
            <a:extLst>
              <a:ext uri="{FF2B5EF4-FFF2-40B4-BE49-F238E27FC236}">
                <a16:creationId xmlns:a16="http://schemas.microsoft.com/office/drawing/2014/main" id="{D75D7AB7-8A25-ABE6-50B7-77C0FB808B78}"/>
              </a:ext>
            </a:extLst>
          </p:cNvPr>
          <p:cNvSpPr/>
          <p:nvPr/>
        </p:nvSpPr>
        <p:spPr>
          <a:xfrm>
            <a:off x="6795508" y="5054728"/>
            <a:ext cx="4308040" cy="1281417"/>
          </a:xfrm>
          <a:prstGeom prst="frame">
            <a:avLst>
              <a:gd name="adj1" fmla="val 265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4AF38CF3-1C0A-77CE-929F-3769FDF2C78B}"/>
              </a:ext>
            </a:extLst>
          </p:cNvPr>
          <p:cNvSpPr/>
          <p:nvPr/>
        </p:nvSpPr>
        <p:spPr>
          <a:xfrm>
            <a:off x="9033164" y="2789382"/>
            <a:ext cx="387927" cy="341746"/>
          </a:xfrm>
          <a:prstGeom prst="frame">
            <a:avLst>
              <a:gd name="adj1" fmla="val 265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BBFA8D46-C6C5-99C7-2EA4-39E88356C1BE}"/>
              </a:ext>
            </a:extLst>
          </p:cNvPr>
          <p:cNvSpPr/>
          <p:nvPr/>
        </p:nvSpPr>
        <p:spPr>
          <a:xfrm>
            <a:off x="6795508" y="1478568"/>
            <a:ext cx="2625584" cy="1652560"/>
          </a:xfrm>
          <a:prstGeom prst="frame">
            <a:avLst>
              <a:gd name="adj1" fmla="val 4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11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9385-A684-BF60-FE4B-62147406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Proprioceptive Pathways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31C9C-B326-FF29-AA08-3E306C5C1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478569"/>
            <a:ext cx="5487988" cy="537356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Proprioceptive afferents from the </a:t>
            </a:r>
            <a:r>
              <a:rPr lang="en-US" i="1" dirty="0">
                <a:solidFill>
                  <a:schemeClr val="bg1"/>
                </a:solidFill>
              </a:rPr>
              <a:t>body</a:t>
            </a:r>
            <a:r>
              <a:rPr lang="en-US" dirty="0">
                <a:solidFill>
                  <a:schemeClr val="bg1"/>
                </a:solidFill>
              </a:rPr>
              <a:t> enter through dorsal roots and form two pathways (Dorsal Column and Spinocerebellar)</a:t>
            </a:r>
          </a:p>
          <a:p>
            <a:r>
              <a:rPr lang="en-US" dirty="0">
                <a:solidFill>
                  <a:schemeClr val="bg1"/>
                </a:solidFill>
              </a:rPr>
              <a:t>Dorsal Column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Afferents from upper body travel up the dorsal column and synapse with neurons in the </a:t>
            </a:r>
            <a:r>
              <a:rPr lang="en-US" sz="2400" b="1" dirty="0">
                <a:solidFill>
                  <a:schemeClr val="bg1"/>
                </a:solidFill>
              </a:rPr>
              <a:t>external cuneate nucleus (ECN) </a:t>
            </a:r>
            <a:r>
              <a:rPr lang="en-US" sz="2400" dirty="0">
                <a:solidFill>
                  <a:schemeClr val="bg1"/>
                </a:solidFill>
              </a:rPr>
              <a:t>of the medulla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n-US" sz="2400" i="1" dirty="0">
                <a:solidFill>
                  <a:schemeClr val="bg1"/>
                </a:solidFill>
              </a:rPr>
              <a:t>Second-order neurons </a:t>
            </a:r>
            <a:r>
              <a:rPr lang="en-US" sz="2400" dirty="0">
                <a:solidFill>
                  <a:schemeClr val="bg1"/>
                </a:solidFill>
              </a:rPr>
              <a:t>in the ECN project to the cerebellum and the VPL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9D69C1-8A41-6861-5B79-B0C3BB501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588" y="1478567"/>
            <a:ext cx="5486400" cy="5373569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FC695278-B2E7-CEDD-F698-1E8164632ADD}"/>
              </a:ext>
            </a:extLst>
          </p:cNvPr>
          <p:cNvSpPr/>
          <p:nvPr/>
        </p:nvSpPr>
        <p:spPr>
          <a:xfrm>
            <a:off x="7528035" y="1478564"/>
            <a:ext cx="4052778" cy="1950435"/>
          </a:xfrm>
          <a:prstGeom prst="frame">
            <a:avLst>
              <a:gd name="adj1" fmla="val 63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5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BC8CF-E8AF-B650-4A35-583F76086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2625-B539-8FE2-6E1D-348106A64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Proprioceptive Pathways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2B4F9-0C1E-6890-2110-EF29F2F78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62" y="1478569"/>
            <a:ext cx="6617138" cy="537356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Spinocerebellar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Afferents from lower body travel up the dorsal column and synapse with neurons in </a:t>
            </a:r>
            <a:r>
              <a:rPr lang="en-US" sz="2400" b="1" dirty="0">
                <a:solidFill>
                  <a:schemeClr val="bg1"/>
                </a:solidFill>
              </a:rPr>
              <a:t>Clark’s nucleus </a:t>
            </a:r>
            <a:r>
              <a:rPr lang="en-US" sz="2400" dirty="0">
                <a:solidFill>
                  <a:schemeClr val="bg1"/>
                </a:solidFill>
              </a:rPr>
              <a:t>in the spinal cord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n-US" sz="2400" i="1" dirty="0">
                <a:solidFill>
                  <a:schemeClr val="bg1"/>
                </a:solidFill>
              </a:rPr>
              <a:t>Second-order neurons </a:t>
            </a:r>
            <a:r>
              <a:rPr lang="en-US" sz="2400" dirty="0">
                <a:solidFill>
                  <a:schemeClr val="bg1"/>
                </a:solidFill>
              </a:rPr>
              <a:t>in Clark’s nucleus project through the dorsal spinocerebellar tract to reach the cerebellum.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Some collaterals synapse with neurons just outside the nucleus </a:t>
            </a:r>
            <a:r>
              <a:rPr lang="en-US" sz="2400" dirty="0" err="1">
                <a:solidFill>
                  <a:schemeClr val="bg1"/>
                </a:solidFill>
              </a:rPr>
              <a:t>gracilis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lvl="3"/>
            <a:r>
              <a:rPr lang="en-US" sz="2400" dirty="0">
                <a:solidFill>
                  <a:schemeClr val="bg1"/>
                </a:solidFill>
              </a:rPr>
              <a:t>These neurons act as </a:t>
            </a:r>
            <a:r>
              <a:rPr lang="en-US" sz="2400" i="1" dirty="0">
                <a:solidFill>
                  <a:schemeClr val="bg1"/>
                </a:solidFill>
              </a:rPr>
              <a:t>third-order neurons </a:t>
            </a:r>
            <a:r>
              <a:rPr lang="en-US" sz="2400" dirty="0">
                <a:solidFill>
                  <a:schemeClr val="bg1"/>
                </a:solidFill>
              </a:rPr>
              <a:t>and their projections go to the VPL.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771972-3066-56BF-838A-F296B7B74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474" y="1478567"/>
            <a:ext cx="4629514" cy="4534305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99841A53-9E53-226A-FBC0-25F75E560311}"/>
              </a:ext>
            </a:extLst>
          </p:cNvPr>
          <p:cNvSpPr/>
          <p:nvPr/>
        </p:nvSpPr>
        <p:spPr>
          <a:xfrm>
            <a:off x="8363607" y="3121572"/>
            <a:ext cx="3220381" cy="2891299"/>
          </a:xfrm>
          <a:prstGeom prst="frame">
            <a:avLst>
              <a:gd name="adj1" fmla="val 129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1E2E1-E2A0-C029-C263-EC81C2D80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Primary somatosensory cortex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9DDBD-7B6F-A4A6-584D-C54309D59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504" y="1476085"/>
            <a:ext cx="5767386" cy="5381914"/>
          </a:xfrm>
        </p:spPr>
        <p:txBody>
          <a:bodyPr>
            <a:normAutofit fontScale="85000" lnSpcReduction="20000"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Broadman’s area 1, 2, 3a &amp;3b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And secondary somatosensory cortex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Only 3b is considered primary somatosensory cortex</a:t>
            </a:r>
          </a:p>
          <a:p>
            <a:r>
              <a:rPr lang="en-US" sz="2600" dirty="0">
                <a:solidFill>
                  <a:schemeClr val="bg1"/>
                </a:solidFill>
              </a:rPr>
              <a:t>Each area has a separate complete representation of the body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Medial to lateral arrangement of lower body parts to upper body parts and face.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3b &amp; 1 respond to cutaneous stimuli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3a responds to proprioceptive stimuli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2 processes both</a:t>
            </a:r>
          </a:p>
          <a:p>
            <a:r>
              <a:rPr lang="en-US" sz="2600" dirty="0">
                <a:solidFill>
                  <a:schemeClr val="bg1"/>
                </a:solidFill>
              </a:rPr>
              <a:t>Larger cortical representation = greater  processing power.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D9CB0-F818-B833-CC8B-D6AD66EDA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890" y="1474069"/>
            <a:ext cx="4600429" cy="538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44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1C278-4583-AD06-4B75-83A378F1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Somatosensory Corticocortical connections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AC5EB-B61E-D1AF-8700-D7D50DBCC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894" y="1347159"/>
            <a:ext cx="7101034" cy="551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97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40BE6-B830-1C31-2B27-D3D2DCC2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16378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Dysfunction of the somatosensory system: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Multiple Sclerosis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0548E-A2EE-2A92-5F7E-DDD98A90A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564" y="1163783"/>
            <a:ext cx="6640944" cy="569421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Multiple Sclerosis often affects sensory and motor neurons, likely contributing to sensory and motor symptoms.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04DBE-10CB-CE6C-4274-37E041DEA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508" y="1031848"/>
            <a:ext cx="3940751" cy="5826151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21BDC8B2-9909-2EFA-6B7A-4C803EBC66DF}"/>
              </a:ext>
            </a:extLst>
          </p:cNvPr>
          <p:cNvSpPr/>
          <p:nvPr/>
        </p:nvSpPr>
        <p:spPr>
          <a:xfrm>
            <a:off x="7583055" y="3306619"/>
            <a:ext cx="1810327" cy="1717964"/>
          </a:xfrm>
          <a:prstGeom prst="frame">
            <a:avLst>
              <a:gd name="adj1" fmla="val 326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250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F4077-4F0D-6D90-8F4E-0B64A1FBD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62E8-7C1F-B5A9-92BD-9245E55C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16378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Dysfunction of the somatosensory system: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Autism Spectrum Disorder (ASD)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9B502-09B8-E19C-6740-47B3B1228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799" y="1163783"/>
            <a:ext cx="10603345" cy="339898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Individuals with ASD often exhibit abnormal reactions to sensory stimuli, especially touch and pain.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Severity of somatosensory processing alterations positively correlates with ASD symptom severity.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Some alterations may be due to decreased synaptic pruning in thalamus or sensory cortices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There are also alterations in peripheral sensory neurons themselves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DC63C-FAAE-14FF-FB8D-8BAC1EEE70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585"/>
          <a:stretch>
            <a:fillRect/>
          </a:stretch>
        </p:blipFill>
        <p:spPr>
          <a:xfrm>
            <a:off x="1096997" y="4578359"/>
            <a:ext cx="9994829" cy="22796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D6D9AB-A7DA-CCAD-7D7B-EA42260FCC85}"/>
              </a:ext>
            </a:extLst>
          </p:cNvPr>
          <p:cNvSpPr txBox="1"/>
          <p:nvPr/>
        </p:nvSpPr>
        <p:spPr>
          <a:xfrm>
            <a:off x="1096997" y="6488668"/>
            <a:ext cx="2008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B1B1B"/>
                </a:solidFill>
                <a:effectLst/>
              </a:rPr>
              <a:t>Patil </a:t>
            </a:r>
            <a:r>
              <a:rPr lang="en-US" dirty="0">
                <a:solidFill>
                  <a:srgbClr val="1B1B1B"/>
                </a:solidFill>
              </a:rPr>
              <a:t>&amp; </a:t>
            </a:r>
            <a:r>
              <a:rPr lang="en-US" b="0" i="0" dirty="0">
                <a:solidFill>
                  <a:srgbClr val="1B1B1B"/>
                </a:solidFill>
                <a:effectLst/>
              </a:rPr>
              <a:t>Kaple</a:t>
            </a:r>
            <a:r>
              <a:rPr lang="en-US" dirty="0">
                <a:solidFill>
                  <a:srgbClr val="1B1B1B"/>
                </a:solidFill>
              </a:rPr>
              <a:t>,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11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DFDB9-FA35-A98B-6198-6ABE2E85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AC04-965E-6536-0955-9E2B4C744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24691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Dysfunction of the somatosensory system: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Sensory Processing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9BDFD-2D5F-90BE-25B1-57229A7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563" y="1320800"/>
            <a:ext cx="10243848" cy="530629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neurological condition where the brain has difficulty processing and interpreting sensory information </a:t>
            </a:r>
          </a:p>
          <a:p>
            <a:r>
              <a:rPr lang="en-US" dirty="0">
                <a:solidFill>
                  <a:schemeClr val="bg1"/>
                </a:solidFill>
              </a:rPr>
              <a:t>There are several different types (e.g. over-responsivity, under-responsivity, craving or seeking, </a:t>
            </a:r>
            <a:r>
              <a:rPr lang="en-US" dirty="0" err="1">
                <a:solidFill>
                  <a:schemeClr val="bg1"/>
                </a:solidFill>
              </a:rPr>
              <a:t>etc</a:t>
            </a:r>
            <a:r>
              <a:rPr lang="en-US" dirty="0">
                <a:solidFill>
                  <a:schemeClr val="bg1"/>
                </a:solidFill>
              </a:rPr>
              <a:t>…), not all include somatosensory information.</a:t>
            </a:r>
          </a:p>
          <a:p>
            <a:r>
              <a:rPr lang="en-US" dirty="0">
                <a:solidFill>
                  <a:schemeClr val="bg1"/>
                </a:solidFill>
              </a:rPr>
              <a:t>Symptoms vary based on type and senses affected, but most common are: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Clumsiness/difficulty with fine motor skills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Discomfort from certain fabrics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Gagging from certain food textures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Need to constantly touch things</a:t>
            </a:r>
          </a:p>
          <a:p>
            <a:r>
              <a:rPr lang="en-US" dirty="0">
                <a:solidFill>
                  <a:schemeClr val="bg1"/>
                </a:solidFill>
              </a:rPr>
              <a:t>Often comorbid with many neurodevelopmental conditions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2AA05D-0C48-042E-EF3E-CA5179C58A42}"/>
              </a:ext>
            </a:extLst>
          </p:cNvPr>
          <p:cNvSpPr txBox="1"/>
          <p:nvPr/>
        </p:nvSpPr>
        <p:spPr>
          <a:xfrm>
            <a:off x="3041794" y="6473203"/>
            <a:ext cx="61052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https://my.clevelandclinic.org/health/diseases/sensory-processing-disorder-spd</a:t>
            </a:r>
          </a:p>
        </p:txBody>
      </p:sp>
    </p:spTree>
    <p:extLst>
      <p:ext uri="{BB962C8B-B14F-4D97-AF65-F5344CB8AC3E}">
        <p14:creationId xmlns:p14="http://schemas.microsoft.com/office/powerpoint/2010/main" val="359990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8660B-D073-E816-636C-D7C99A9F2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8614-6A41-9941-1C56-899441F61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279" y="0"/>
            <a:ext cx="8893104" cy="116378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Dysfunction of the somatosensory system: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Parkinson’s 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05C67-B6B6-BB05-D496-AF989C2F8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279" y="1163783"/>
            <a:ext cx="8893104" cy="569421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Parkinson’s disease: </a:t>
            </a:r>
            <a:r>
              <a:rPr lang="en-US" dirty="0">
                <a:solidFill>
                  <a:schemeClr val="bg1"/>
                </a:solidFill>
              </a:rPr>
              <a:t>a progressive neurodegenerative disorder that affects motor and sensory systems.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Progressive loss of neurons in the basal ganglia and a deficiency of dopamine.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motor symptoms may include tremor, muscular rigidity, and slow, imprecise movement.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Loss of skin sensory afferents and Meissner corpuscles.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Sensory symptoms may include reduced sense of touch, increased pain, and loss of smell.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2E4C15-C494-F29F-927E-C7D68BAF8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8049" y="13150"/>
            <a:ext cx="2755852" cy="684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6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1499</TotalTime>
  <Words>1008</Words>
  <Application>Microsoft Office PowerPoint</Application>
  <PresentationFormat>Widescreen</PresentationFormat>
  <Paragraphs>112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Tw Cen MT</vt:lpstr>
      <vt:lpstr>Circuit</vt:lpstr>
      <vt:lpstr>PowerPoint Presentation</vt:lpstr>
      <vt:lpstr>PowerPoint Presentation</vt:lpstr>
      <vt:lpstr>PowerPoint Presentation</vt:lpstr>
      <vt:lpstr>Gray matter:  The spinal horns</vt:lpstr>
      <vt:lpstr>somatosensory white matter tracts through the spinal cord</vt:lpstr>
      <vt:lpstr>PowerPoint Presentation</vt:lpstr>
      <vt:lpstr>PowerPoint Presentation</vt:lpstr>
      <vt:lpstr>Trigeminal pathway</vt:lpstr>
      <vt:lpstr>Proprioceptive Pathways</vt:lpstr>
      <vt:lpstr>Proprioceptive Pathways</vt:lpstr>
      <vt:lpstr>Primary somatosensory cortex</vt:lpstr>
      <vt:lpstr>Somatosensory Corticocortical connections</vt:lpstr>
      <vt:lpstr>Dysfunction of the somatosensory system: Multiple Sclerosis</vt:lpstr>
      <vt:lpstr>Dysfunction of the somatosensory system: Autism Spectrum Disorder (ASD)</vt:lpstr>
      <vt:lpstr>Dysfunction of the somatosensory system: Sensory Processing Disorder</vt:lpstr>
      <vt:lpstr>Dysfunction of the somatosensory system: Parkinson’s Disease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sensory processing: Touch and pain</dc:title>
  <dc:creator>Nicole Forner</dc:creator>
  <cp:lastModifiedBy>Phillips, Nicole</cp:lastModifiedBy>
  <cp:revision>135</cp:revision>
  <dcterms:created xsi:type="dcterms:W3CDTF">2020-09-22T01:09:55Z</dcterms:created>
  <dcterms:modified xsi:type="dcterms:W3CDTF">2026-03-03T21:21:31Z</dcterms:modified>
</cp:coreProperties>
</file>