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460" r:id="rId2"/>
    <p:sldId id="289" r:id="rId3"/>
    <p:sldId id="461" r:id="rId4"/>
    <p:sldId id="291" r:id="rId5"/>
    <p:sldId id="462" r:id="rId6"/>
    <p:sldId id="463" r:id="rId7"/>
    <p:sldId id="290" r:id="rId8"/>
    <p:sldId id="677" r:id="rId9"/>
    <p:sldId id="464" r:id="rId10"/>
    <p:sldId id="465" r:id="rId11"/>
    <p:sldId id="679" r:id="rId12"/>
    <p:sldId id="415" r:id="rId13"/>
    <p:sldId id="676" r:id="rId14"/>
    <p:sldId id="467" r:id="rId15"/>
    <p:sldId id="325" r:id="rId16"/>
    <p:sldId id="680" r:id="rId17"/>
    <p:sldId id="468" r:id="rId18"/>
    <p:sldId id="4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952"/>
    <a:srgbClr val="F67A7A"/>
    <a:srgbClr val="F46262"/>
    <a:srgbClr val="F99787"/>
    <a:srgbClr val="FBB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76728" autoAdjust="0"/>
  </p:normalViewPr>
  <p:slideViewPr>
    <p:cSldViewPr snapToGrid="0">
      <p:cViewPr varScale="1">
        <p:scale>
          <a:sx n="122" d="100"/>
          <a:sy n="122" d="100"/>
        </p:scale>
        <p:origin x="17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663C5-59D1-45AC-AC35-991A022452D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EC05B-ACE8-4620-ADE1-C92D63531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2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07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09C61-CD53-0867-2374-A7B282C50655}"/>
              </a:ext>
            </a:extLst>
          </p:cNvPr>
          <p:cNvSpPr txBox="1"/>
          <p:nvPr/>
        </p:nvSpPr>
        <p:spPr>
          <a:xfrm>
            <a:off x="0" y="0"/>
            <a:ext cx="3894667" cy="371087"/>
          </a:xfrm>
          <a:prstGeom prst="rect">
            <a:avLst/>
          </a:prstGeom>
          <a:noFill/>
        </p:spPr>
        <p:txBody>
          <a:bodyPr vert="horz" lIns="93177" tIns="46589" rIns="93177" bIns="46589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1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1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F21F-AD62-2F7C-2DCE-056B9E3D0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98454-297A-11EE-59B5-945524409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BA270-A794-F8E4-E518-F3A7178E2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AF72A-E0F4-FF7D-681A-EF054CFC9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20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08120-906B-833A-7D3A-70719A91C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DA9F8-CC00-68BC-248F-43D5CA192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D881C-0CE7-F15C-3877-4409E5421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52575-7098-D1A1-0D54-3D28C519E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17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B8CA5-9999-32E9-4CB4-CD75EA0C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0E018-0C9A-60DB-4EC7-FDC73554F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3A311-35E4-F26A-A006-A1C87DF91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D83E7-C3F2-153E-1EC2-1440120EE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47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01103-8243-39DD-1483-C82E996B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34BE0-A522-71FE-AE7E-04E047D54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4C127-BB0E-7696-3D87-72957242B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39B1C-3E99-DB33-ABC3-2DD3D2342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50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97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62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90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4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8F870-3336-4208-AB9C-DA055D4161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52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65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2043-251F-B094-E66E-78C003852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2ECAF-69A0-FDFA-BEAC-2F30EFAB5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8076A-481B-E4F6-1F80-8AE6D45D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2B899-18D5-221A-90BB-D433DC05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00F1-6993-EFBC-3610-EA1AF649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9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DE8A-4A4B-4B0C-B554-8D5B3956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E9E7-F370-4DA9-362E-9612FA9D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42A3A-0EA0-2C59-6DE6-49EC2DD1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BA93-FDCE-EAAE-7CDC-63EFC7FB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495F-1E2F-B135-667D-848A9507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469F-7AD8-F999-6ADD-C8C78F98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E26E-1130-F9E4-29B7-AB462A63B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F71E-2A72-84D5-D2AB-641B2F4C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32EC2-2B3F-CAC2-5D45-6FAEEFBD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FCAE-5A7B-F3B8-4BD3-266D2093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1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7A30-F879-D158-831E-8A009DBA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805C-8980-2094-024D-7FF6D610B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1A39E-E8F4-ADA9-DFF8-3F7B81A5A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5CFD-59B6-CACE-C998-FDCB49A5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F8826-8C17-9528-7E65-99B4F843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C6-E801-A63D-E280-04413734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D687-0564-D611-F856-B37FBF59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1694-9977-49AA-BF94-9FE0BB634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218F-0966-279D-1154-F3B3BF92B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66B44-3C1A-972B-A930-2B6594821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D72B3-EDE5-9D6E-F0A5-39E3F3607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9E44E-9603-A57A-C4F1-548AACBB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D45C4-35B9-18A0-62D5-D8F50F7D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DB466-8203-A9DB-F786-5D460519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0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9DBD-9274-E5A3-9717-95459D10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9DDE0-C42C-6D48-EA99-DC2576EE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5367A-D13D-5699-55E3-67BAE57C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A8496-78A0-51DA-5C6F-FF36E322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6F61E-511F-838F-1211-0DD4FA56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2945C-842C-19ED-64FF-DA4F6C2A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27E83-4207-0858-40F4-2541C9A6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7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3B2A-4523-FE19-8CCE-C875C0BF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0D74-EBDD-9D11-21A1-44E75B07F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ABA93-88D1-7808-9020-C3E57F12F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B6E7C-EA94-1853-D232-25FEAD70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7AFEB-7050-3E90-20E6-E86B3C0A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582C-0469-D552-5D4C-BC012A9C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53D9-84DA-81F4-8475-D7B72E02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86B5A-331E-7CED-091E-AE0BF5173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96164-40AB-D69B-A39B-17442A66C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E1067-39E7-BC90-914F-2288F1B4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38F90-1503-304F-AA32-24B43EE8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CE7B5-6665-EC0F-C044-ABC5889A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1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CC16-424E-9272-0C5C-4DE616E4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9AD6C-088E-FE47-3EB5-2A704ED7D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0EE8-C46C-F218-1487-998916C3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CA69-BE6E-21D2-227E-872272BE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C3F6-8B68-54A8-9CB3-A5DE66DE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FEF8C-01A6-2878-6C1C-5E793621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69D01-1A75-726E-BAD6-736049D0D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DD67B-A848-EC87-EF28-FF5751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8D383-2714-8B78-92ED-12919F28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0D86-CA06-2EEA-4AF6-A9CAD27C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5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BBDB7"/>
            </a:gs>
            <a:gs pos="74000">
              <a:srgbClr val="F99787"/>
            </a:gs>
            <a:gs pos="83000">
              <a:srgbClr val="F67A7A"/>
            </a:gs>
            <a:gs pos="100000">
              <a:srgbClr val="F0695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FD30D-E3BA-1B02-9753-44834E9E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DE1A3-A97F-47FC-ADBB-C133A443D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FC58-E11F-FDD5-AC26-E2FC58B65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58B08-D63B-4AF0-BEC4-15CBC22939B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BCAC-77DC-1180-4873-1E5F750D0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DB340-DD46-B64E-E040-8221E4EB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4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APuiZCxDnTA?feature=oembed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ZCGF-nJEKU?feature=oembed" TargetMode="External"/><Relationship Id="rId5" Type="http://schemas.openxmlformats.org/officeDocument/2006/relationships/hyperlink" Target="https://youtu.be/aZCGF-nJEKU" TargetMode="Externa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HYk1sYsge0?feature=oembed" TargetMode="External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92CC-802F-3DC6-3294-92B05A356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778B-6683-72E2-984A-7623CADC7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631" y="2436446"/>
            <a:ext cx="10726738" cy="1985108"/>
          </a:xfrm>
        </p:spPr>
        <p:txBody>
          <a:bodyPr/>
          <a:lstStyle/>
          <a:p>
            <a:pPr algn="ctr"/>
            <a:r>
              <a:rPr lang="en-US" dirty="0"/>
              <a:t>Motor Areas of Cortex and Types of UMNs</a:t>
            </a:r>
          </a:p>
        </p:txBody>
      </p:sp>
    </p:spTree>
    <p:extLst>
      <p:ext uri="{BB962C8B-B14F-4D97-AF65-F5344CB8AC3E}">
        <p14:creationId xmlns:p14="http://schemas.microsoft.com/office/powerpoint/2010/main" val="2419221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12B7-7ABD-455D-8817-34C04823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800379"/>
          </a:xfrm>
        </p:spPr>
        <p:txBody>
          <a:bodyPr/>
          <a:lstStyle/>
          <a:p>
            <a:r>
              <a:rPr lang="en-US" dirty="0"/>
              <a:t>Hierarchical control of Motor movements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909AC-F28C-4B20-87DD-5FDC27E8F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035329"/>
            <a:ext cx="5117122" cy="5587721"/>
          </a:xfrm>
        </p:spPr>
        <p:txBody>
          <a:bodyPr>
            <a:normAutofit lnSpcReduction="10000"/>
          </a:bodyPr>
          <a:lstStyle/>
          <a:p>
            <a:pPr>
              <a:buFontTx/>
              <a:buChar char="•"/>
            </a:pPr>
            <a:r>
              <a:rPr lang="en-US" altLang="en-US" dirty="0"/>
              <a:t>Primary and nonprimary motor cortices initiate commands for movement (top of hierarchy).</a:t>
            </a:r>
          </a:p>
          <a:p>
            <a:pPr marL="0" indent="0">
              <a:buNone/>
            </a:pPr>
            <a:endParaRPr lang="en-US" altLang="en-US" dirty="0"/>
          </a:p>
          <a:p>
            <a:pPr marL="225425" indent="-225425">
              <a:buFontTx/>
              <a:buChar char="•"/>
            </a:pPr>
            <a:r>
              <a:rPr lang="en-US" altLang="en-US" dirty="0"/>
              <a:t>Cerebellum and basal ganglia can </a:t>
            </a:r>
            <a:r>
              <a:rPr lang="en-US" altLang="en-US" i="1" dirty="0"/>
              <a:t>modulate</a:t>
            </a:r>
            <a:r>
              <a:rPr lang="en-US" altLang="en-US" dirty="0"/>
              <a:t> activities of these control systems via the</a:t>
            </a:r>
            <a:r>
              <a:rPr lang="en-US" altLang="en-US" i="1" dirty="0"/>
              <a:t> </a:t>
            </a:r>
            <a:r>
              <a:rPr lang="en-US" altLang="en-US" dirty="0"/>
              <a:t>thalamus in a loop back to cortex.</a:t>
            </a:r>
          </a:p>
          <a:p>
            <a:pPr marL="0" indent="0">
              <a:buNone/>
            </a:pPr>
            <a:endParaRPr lang="en-US" altLang="en-US" dirty="0"/>
          </a:p>
          <a:p>
            <a:pPr marL="225425" indent="-225425">
              <a:buFontTx/>
              <a:buChar char="•"/>
            </a:pPr>
            <a:r>
              <a:rPr lang="en-US" altLang="en-US" dirty="0"/>
              <a:t>Brainstem integrates motor commands and relays sensory information</a:t>
            </a:r>
          </a:p>
          <a:p>
            <a:pPr marL="225425" indent="-225425">
              <a:buFontTx/>
              <a:buChar char="•"/>
            </a:pPr>
            <a:endParaRPr lang="en-US" alt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A56D7E-F4A6-4996-8B95-86914D45F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510" y="800379"/>
            <a:ext cx="5015025" cy="605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8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2-Minute Neuroscience: Motor Cortex">
            <a:hlinkClick r:id="" action="ppaction://media"/>
            <a:extLst>
              <a:ext uri="{FF2B5EF4-FFF2-40B4-BE49-F238E27FC236}">
                <a16:creationId xmlns:a16="http://schemas.microsoft.com/office/drawing/2014/main" id="{3DA276D6-56F7-4E72-9115-B8587EA0D92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09180" y="1211384"/>
            <a:ext cx="8888977" cy="564661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84C3C9D-084B-4069-BEC2-5446C8F98B0C}"/>
              </a:ext>
            </a:extLst>
          </p:cNvPr>
          <p:cNvSpPr txBox="1">
            <a:spLocks/>
          </p:cNvSpPr>
          <p:nvPr/>
        </p:nvSpPr>
        <p:spPr>
          <a:xfrm>
            <a:off x="757031" y="265044"/>
            <a:ext cx="10677938" cy="7686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 minute neuroscience: Motor areas of Cortex</a:t>
            </a:r>
          </a:p>
        </p:txBody>
      </p:sp>
    </p:spTree>
    <p:extLst>
      <p:ext uri="{BB962C8B-B14F-4D97-AF65-F5344CB8AC3E}">
        <p14:creationId xmlns:p14="http://schemas.microsoft.com/office/powerpoint/2010/main" val="398096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8F2E-FC86-4D58-BDFA-8CF718F86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2399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Primary and non-primary Motor Cortices work together to initiate motor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DD73D-1B0C-48FA-BE2E-1435CF64A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62809"/>
            <a:ext cx="4466336" cy="4279713"/>
          </a:xfrm>
        </p:spPr>
        <p:txBody>
          <a:bodyPr/>
          <a:lstStyle/>
          <a:p>
            <a:r>
              <a:rPr lang="en-US" altLang="en-US" sz="2800" b="1" dirty="0"/>
              <a:t>Motor plan</a:t>
            </a:r>
            <a:r>
              <a:rPr lang="en-US" altLang="en-US" sz="2800" dirty="0"/>
              <a:t>: set of muscle commands established before the action occurs.</a:t>
            </a:r>
          </a:p>
          <a:p>
            <a:pPr marL="0" indent="0">
              <a:buNone/>
            </a:pPr>
            <a:endParaRPr lang="en-US" altLang="en-US" sz="2800" dirty="0"/>
          </a:p>
          <a:p>
            <a:r>
              <a:rPr lang="en-US" altLang="en-US" sz="2800" dirty="0"/>
              <a:t>Evidence for motor plans: say “</a:t>
            </a:r>
            <a:r>
              <a:rPr lang="en-GB" sz="2800" dirty="0"/>
              <a:t>Peter Piper Picked a Peck of Pickled Peppers”</a:t>
            </a:r>
          </a:p>
          <a:p>
            <a:pPr marL="0" indent="0">
              <a:buNone/>
            </a:pPr>
            <a:endParaRPr lang="en-US" altLang="en-US" sz="28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5C483E-41D5-4454-B231-8FE11EC98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749" y="1638459"/>
            <a:ext cx="6584251" cy="48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94EB6-18BC-2EAA-F596-922D185A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B26A-755F-57B0-0DA1-6B366E66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42024"/>
            <a:ext cx="9905998" cy="895739"/>
          </a:xfrm>
        </p:spPr>
        <p:txBody>
          <a:bodyPr/>
          <a:lstStyle/>
          <a:p>
            <a:pPr algn="ctr"/>
            <a:r>
              <a:rPr lang="en-US" dirty="0"/>
              <a:t>Organization of primary motor cortex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E170A-F26F-9565-17C5-B403C228A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45932"/>
            <a:ext cx="9905998" cy="46841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Similar, but not identical to somatosensory cortex.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3B2C0A-73B4-C166-CCA2-6E713DB36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3" y="1732899"/>
            <a:ext cx="4952999" cy="5119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93279D-455D-CE4D-BD1F-9D9F9643B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2" y="1732898"/>
            <a:ext cx="4789704" cy="51251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7E020E-1876-8EE8-7241-A984750172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5584"/>
          <a:stretch>
            <a:fillRect/>
          </a:stretch>
        </p:blipFill>
        <p:spPr>
          <a:xfrm>
            <a:off x="1141413" y="1732898"/>
            <a:ext cx="9620372" cy="514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9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018E-6329-49D0-77AA-40E56050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E1D85-FD83-74A4-5753-73D8620D2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42024"/>
            <a:ext cx="9905998" cy="895739"/>
          </a:xfrm>
        </p:spPr>
        <p:txBody>
          <a:bodyPr/>
          <a:lstStyle/>
          <a:p>
            <a:pPr algn="ctr"/>
            <a:r>
              <a:rPr lang="en-US" dirty="0"/>
              <a:t>UMNs of primary motor cortex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30988-C106-E12D-D568-15CF1015F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37763"/>
            <a:ext cx="4274650" cy="5620237"/>
          </a:xfrm>
        </p:spPr>
        <p:txBody>
          <a:bodyPr>
            <a:normAutofit/>
          </a:bodyPr>
          <a:lstStyle/>
          <a:p>
            <a:r>
              <a:rPr lang="en-US" sz="2400" dirty="0"/>
              <a:t>Betz and Non-</a:t>
            </a:r>
            <a:r>
              <a:rPr lang="en-US" sz="2400" dirty="0" err="1"/>
              <a:t>betz</a:t>
            </a:r>
            <a:r>
              <a:rPr lang="en-US" sz="2400" dirty="0"/>
              <a:t> cells</a:t>
            </a:r>
          </a:p>
          <a:p>
            <a:r>
              <a:rPr lang="en-US" sz="2400" dirty="0"/>
              <a:t>Firing rate of UMNs in primary motor cortex primarily reflects </a:t>
            </a:r>
            <a:r>
              <a:rPr lang="en-US" sz="2400" u="sng" dirty="0"/>
              <a:t>movements</a:t>
            </a:r>
            <a:r>
              <a:rPr lang="en-US" sz="2400" dirty="0"/>
              <a:t> rather than activation of specific muscles.</a:t>
            </a:r>
          </a:p>
          <a:p>
            <a:r>
              <a:rPr lang="en-US" sz="2400" dirty="0"/>
              <a:t>Also, stimulation of the motor cortex elicits multiple effects.</a:t>
            </a:r>
          </a:p>
          <a:p>
            <a:pPr lvl="1"/>
            <a:r>
              <a:rPr lang="en-US" dirty="0"/>
              <a:t>Stimulates or inhibits various muscles.</a:t>
            </a:r>
          </a:p>
          <a:p>
            <a:r>
              <a:rPr lang="en-US" sz="2400" dirty="0"/>
              <a:t>This all suggests UMNs </a:t>
            </a:r>
            <a:r>
              <a:rPr lang="en-US" sz="2400" u="sng" dirty="0"/>
              <a:t>control movement</a:t>
            </a:r>
            <a:r>
              <a:rPr lang="en-US" sz="2400" dirty="0"/>
              <a:t> more than muscles.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8426F7-C68F-53E3-7B1E-521BBB46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063" y="1237917"/>
            <a:ext cx="6775938" cy="562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01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5385-ACD5-4D73-87C6-AF9677F5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050" y="0"/>
            <a:ext cx="9613899" cy="1217290"/>
          </a:xfrm>
        </p:spPr>
        <p:txBody>
          <a:bodyPr/>
          <a:lstStyle/>
          <a:p>
            <a:pPr algn="ctr"/>
            <a:r>
              <a:rPr lang="en-US" dirty="0"/>
              <a:t>Premotor Cortex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4EECA-BAE4-48DF-919A-AC41F2B2B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217290"/>
            <a:ext cx="4952999" cy="5640710"/>
          </a:xfrm>
        </p:spPr>
        <p:txBody>
          <a:bodyPr>
            <a:normAutofit/>
          </a:bodyPr>
          <a:lstStyle/>
          <a:p>
            <a:r>
              <a:rPr lang="en-US" altLang="en-US" b="1" dirty="0"/>
              <a:t>Premotor cortex: </a:t>
            </a:r>
            <a:r>
              <a:rPr lang="en-US" altLang="en-US" dirty="0"/>
              <a:t>directs movement in response to external cues.</a:t>
            </a:r>
            <a:endParaRPr lang="en-US" altLang="en-US" sz="2800" dirty="0"/>
          </a:p>
          <a:p>
            <a:r>
              <a:rPr lang="en-US" dirty="0"/>
              <a:t>Influences motor function directly and indirectly.</a:t>
            </a:r>
          </a:p>
          <a:p>
            <a:pPr lvl="1"/>
            <a:r>
              <a:rPr lang="en-US" sz="2800" i="1" dirty="0"/>
              <a:t>Indirectly</a:t>
            </a:r>
            <a:r>
              <a:rPr lang="en-US" sz="2800" dirty="0"/>
              <a:t> via reciprocal connections with the motor cortex</a:t>
            </a:r>
          </a:p>
          <a:p>
            <a:pPr lvl="1"/>
            <a:r>
              <a:rPr lang="en-US" sz="2800" i="1" dirty="0"/>
              <a:t>Directly</a:t>
            </a:r>
            <a:r>
              <a:rPr lang="en-US" sz="2800" dirty="0"/>
              <a:t> via axons projecting via the corticospinal and corticobulbar tracts.</a:t>
            </a:r>
          </a:p>
          <a:p>
            <a:endParaRPr lang="en-US" sz="3200" dirty="0"/>
          </a:p>
          <a:p>
            <a:endParaRPr lang="en-US" sz="3000" dirty="0"/>
          </a:p>
          <a:p>
            <a:pPr>
              <a:buFontTx/>
              <a:buChar char="•"/>
            </a:pPr>
            <a:endParaRPr lang="en-US" alt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8553F-B4F7-43E2-8525-26AB426B27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6096000" y="1217290"/>
            <a:ext cx="4952999" cy="56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8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508C3-F2C7-5944-C664-E4B4C0BC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43325-CFA4-6C63-CAAB-130630F51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050" y="26504"/>
            <a:ext cx="9613899" cy="1478570"/>
          </a:xfrm>
        </p:spPr>
        <p:txBody>
          <a:bodyPr/>
          <a:lstStyle/>
          <a:p>
            <a:pPr algn="ctr"/>
            <a:r>
              <a:rPr lang="en-US" dirty="0"/>
              <a:t>Subdivisions of Premotor Cortex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DCD33-AE3B-5F0D-816C-804E35C82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78570"/>
            <a:ext cx="7373934" cy="5379430"/>
          </a:xfrm>
        </p:spPr>
        <p:txBody>
          <a:bodyPr>
            <a:normAutofit/>
          </a:bodyPr>
          <a:lstStyle/>
          <a:p>
            <a:r>
              <a:rPr lang="en-US" altLang="en-US" sz="2400" b="1" dirty="0"/>
              <a:t>Lateral:</a:t>
            </a:r>
            <a:r>
              <a:rPr lang="en-US" altLang="en-US" sz="2400" dirty="0"/>
              <a:t> timing of movements (</a:t>
            </a:r>
            <a:r>
              <a:rPr lang="en-US" altLang="en-US" sz="2400" i="1" dirty="0"/>
              <a:t>closed-loop</a:t>
            </a:r>
            <a:r>
              <a:rPr lang="en-US" altLang="en-US" sz="2400" dirty="0"/>
              <a:t>)</a:t>
            </a:r>
          </a:p>
          <a:p>
            <a:pPr lvl="1"/>
            <a:r>
              <a:rPr lang="en-US" altLang="en-US" i="1" dirty="0"/>
              <a:t>Ventrolateral:</a:t>
            </a:r>
            <a:r>
              <a:rPr lang="en-US" altLang="en-US" dirty="0"/>
              <a:t> mirroring observed movements</a:t>
            </a:r>
          </a:p>
          <a:p>
            <a:pPr lvl="2"/>
            <a:r>
              <a:rPr lang="en-US" altLang="en-US" sz="2400" b="1" dirty="0"/>
              <a:t>Mirror neurons: </a:t>
            </a:r>
            <a:r>
              <a:rPr lang="en-US" altLang="en-US" sz="2400" dirty="0"/>
              <a:t>neurons active both when an individual makes a movement and when the individual sees another individual make the same movement.</a:t>
            </a:r>
          </a:p>
          <a:p>
            <a:pPr lvl="3"/>
            <a:r>
              <a:rPr lang="en-US" altLang="en-US" sz="2400" dirty="0"/>
              <a:t>Important for observational learning and possibly theory of mind and empathy.</a:t>
            </a:r>
          </a:p>
          <a:p>
            <a:pPr lvl="1"/>
            <a:r>
              <a:rPr lang="en-US" altLang="en-US" i="1" dirty="0"/>
              <a:t>Left rostral lateral:</a:t>
            </a:r>
            <a:r>
              <a:rPr lang="en-US" altLang="en-US" dirty="0"/>
              <a:t> speech production</a:t>
            </a:r>
          </a:p>
          <a:p>
            <a:pPr lvl="1"/>
            <a:endParaRPr lang="en-US" altLang="en-US" dirty="0"/>
          </a:p>
          <a:p>
            <a:r>
              <a:rPr lang="en-US" altLang="en-US" sz="2400" b="1" dirty="0"/>
              <a:t>Medial:</a:t>
            </a:r>
            <a:r>
              <a:rPr lang="en-US" altLang="en-US" sz="2400" dirty="0"/>
              <a:t> initiating movements specified by internal rather than external cues (</a:t>
            </a:r>
            <a:r>
              <a:rPr lang="en-US" altLang="en-US" sz="2400" i="1" dirty="0"/>
              <a:t>open-loop</a:t>
            </a:r>
            <a:r>
              <a:rPr lang="en-US" altLang="en-US" sz="2400" dirty="0"/>
              <a:t>)</a:t>
            </a:r>
          </a:p>
          <a:p>
            <a:pPr lvl="1"/>
            <a:r>
              <a:rPr lang="en-US" i="1" dirty="0"/>
              <a:t>Frontal eye fields</a:t>
            </a:r>
            <a:r>
              <a:rPr lang="en-US" dirty="0"/>
              <a:t>: directing visual gaze</a:t>
            </a:r>
          </a:p>
          <a:p>
            <a:endParaRPr lang="en-US" sz="3000" dirty="0"/>
          </a:p>
          <a:p>
            <a:pPr>
              <a:buFontTx/>
              <a:buChar char="•"/>
            </a:pPr>
            <a:endParaRPr lang="en-US" alt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8FF90-7F50-0706-B5E1-62BDFF7D3D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343" b="46006"/>
          <a:stretch/>
        </p:blipFill>
        <p:spPr>
          <a:xfrm>
            <a:off x="8516936" y="1478570"/>
            <a:ext cx="3675064" cy="2184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305B34-FDF7-8C33-4544-B3DCE4394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676" y="3663003"/>
            <a:ext cx="3703583" cy="24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1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2EA81-BAE6-BA43-4748-DDB1ECA53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BFC5-F887-D793-C72D-DF5DE1FF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561" y="14944"/>
            <a:ext cx="9360877" cy="1478570"/>
          </a:xfrm>
        </p:spPr>
        <p:txBody>
          <a:bodyPr/>
          <a:lstStyle/>
          <a:p>
            <a:pPr algn="ctr"/>
            <a:r>
              <a:rPr lang="en-US" dirty="0"/>
              <a:t>The Supplementary Motor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9FDAD-45E0-06FD-656A-65E591114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78570"/>
            <a:ext cx="6336322" cy="5379430"/>
          </a:xfrm>
        </p:spPr>
        <p:txBody>
          <a:bodyPr>
            <a:normAutofit/>
          </a:bodyPr>
          <a:lstStyle/>
          <a:p>
            <a:pPr>
              <a:buFontTx/>
              <a:buChar char="•"/>
            </a:pPr>
            <a:r>
              <a:rPr lang="en-US" altLang="en-US" b="1" dirty="0"/>
              <a:t>Supplementary motor area (SMA): </a:t>
            </a:r>
            <a:r>
              <a:rPr lang="en-US" altLang="en-US" dirty="0"/>
              <a:t>important for planning movements that are internally generated.</a:t>
            </a:r>
          </a:p>
          <a:p>
            <a:pPr>
              <a:buFontTx/>
              <a:buChar char="•"/>
            </a:pPr>
            <a:r>
              <a:rPr lang="en-US" altLang="en-US" dirty="0"/>
              <a:t>More to be learned…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C1187-94D6-6204-95D2-1015F58541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7479323" y="1493514"/>
            <a:ext cx="4710452" cy="536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33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euroscience6e-Table-17-01.jpg">
            <a:extLst>
              <a:ext uri="{FF2B5EF4-FFF2-40B4-BE49-F238E27FC236}">
                <a16:creationId xmlns:a16="http://schemas.microsoft.com/office/drawing/2014/main" id="{A859BE35-CE82-4422-BC4B-807218238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0"/>
          <a:stretch/>
        </p:blipFill>
        <p:spPr>
          <a:xfrm>
            <a:off x="778397" y="0"/>
            <a:ext cx="10979082" cy="68543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B5B500-508E-DC83-A4BE-922E4A5CDC90}"/>
              </a:ext>
            </a:extLst>
          </p:cNvPr>
          <p:cNvSpPr/>
          <p:nvPr/>
        </p:nvSpPr>
        <p:spPr>
          <a:xfrm>
            <a:off x="2623930" y="927652"/>
            <a:ext cx="4545155" cy="5595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53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75645-0F9B-B8B1-E93E-48DD10AA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0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Spinal Shock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14030-4FB3-7381-F15D-15FDF4F99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06" y="1383574"/>
            <a:ext cx="7473432" cy="5474425"/>
          </a:xfrm>
        </p:spPr>
        <p:txBody>
          <a:bodyPr>
            <a:noAutofit/>
          </a:bodyPr>
          <a:lstStyle/>
          <a:p>
            <a:r>
              <a:rPr lang="en-US" dirty="0"/>
              <a:t>An immediate, but short-lived period of </a:t>
            </a:r>
            <a:r>
              <a:rPr lang="en-US" i="1" dirty="0"/>
              <a:t>flaccid paralysis </a:t>
            </a:r>
            <a:r>
              <a:rPr lang="en-US" dirty="0"/>
              <a:t>that accompanies damage to UMNs</a:t>
            </a:r>
          </a:p>
          <a:p>
            <a:endParaRPr lang="en-US" dirty="0"/>
          </a:p>
          <a:p>
            <a:r>
              <a:rPr lang="en-US" dirty="0"/>
              <a:t>Likely stems from decreased activity of spinal circuits suddenly deprived of input from the motor cortex and brainstem.</a:t>
            </a:r>
          </a:p>
          <a:p>
            <a:pPr lvl="1"/>
            <a:r>
              <a:rPr lang="en-US" sz="2800" dirty="0"/>
              <a:t>After a few days, these circuits regain much of their function.</a:t>
            </a:r>
          </a:p>
          <a:p>
            <a:endParaRPr lang="en-US" dirty="0"/>
          </a:p>
          <a:p>
            <a:r>
              <a:rPr lang="en-US" dirty="0"/>
              <a:t>Typically precedes </a:t>
            </a:r>
            <a:r>
              <a:rPr lang="en-US" i="1" dirty="0"/>
              <a:t>spastic paralysis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9BA11-55AA-F1FF-C061-76FF71397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038" y="1383575"/>
            <a:ext cx="3157101" cy="544742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26719E-E542-22E6-46EC-70A87E431401}"/>
              </a:ext>
            </a:extLst>
          </p:cNvPr>
          <p:cNvCxnSpPr>
            <a:cxnSpLocks/>
          </p:cNvCxnSpPr>
          <p:nvPr/>
        </p:nvCxnSpPr>
        <p:spPr>
          <a:xfrm>
            <a:off x="9591239" y="4320678"/>
            <a:ext cx="7518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36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2090735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Spastic Paralysis</a:t>
            </a:r>
          </a:p>
        </p:txBody>
      </p:sp>
      <p:sp>
        <p:nvSpPr>
          <p:cNvPr id="352258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723899" y="2090736"/>
            <a:ext cx="4825024" cy="4767263"/>
          </a:xfrm>
        </p:spPr>
        <p:txBody>
          <a:bodyPr>
            <a:normAutofit/>
          </a:bodyPr>
          <a:lstStyle/>
          <a:p>
            <a:r>
              <a:rPr lang="en-US" dirty="0"/>
              <a:t>Characterized by </a:t>
            </a:r>
            <a:r>
              <a:rPr lang="en-US" i="1" dirty="0"/>
              <a:t>hyper</a:t>
            </a:r>
            <a:r>
              <a:rPr lang="en-US" dirty="0"/>
              <a:t>tonia, hyperactive stretch reflexes, and clonus.</a:t>
            </a:r>
          </a:p>
          <a:p>
            <a:r>
              <a:rPr lang="en-US" dirty="0"/>
              <a:t>Damage to UMNs rostral to the vestibular nuclei but caudal to the red nucleus results in severe hypertonia, called </a:t>
            </a:r>
            <a:r>
              <a:rPr lang="en-US" i="1" dirty="0"/>
              <a:t>decerebrate</a:t>
            </a:r>
            <a:r>
              <a:rPr lang="en-US" dirty="0"/>
              <a:t> rigidity.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8398B0-455D-1217-D2FA-7B74F3772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923" y="2090735"/>
            <a:ext cx="5681844" cy="390366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356C7-8E4C-4A33-98B3-3C35CEE60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Decerebrate Rigidity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A375-BA17-6ADA-9B8A-F75558E24A2D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828800"/>
            <a:ext cx="105156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Arms stiffly extended</a:t>
            </a:r>
          </a:p>
          <a:p>
            <a:r>
              <a:rPr lang="en-US" sz="2400" dirty="0"/>
              <a:t>Jaw clenched</a:t>
            </a:r>
          </a:p>
          <a:p>
            <a:r>
              <a:rPr lang="en-US" sz="2400" dirty="0"/>
              <a:t>Neck retracted</a:t>
            </a:r>
          </a:p>
          <a:p>
            <a:r>
              <a:rPr lang="en-US" sz="2400" dirty="0"/>
              <a:t>Wrists flexed outwards</a:t>
            </a:r>
          </a:p>
          <a:p>
            <a:r>
              <a:rPr lang="en-US" sz="2400" dirty="0"/>
              <a:t>Fingers curled</a:t>
            </a:r>
          </a:p>
          <a:p>
            <a:r>
              <a:rPr lang="en-US" sz="2400" dirty="0"/>
              <a:t>Legs stiffly extended</a:t>
            </a:r>
          </a:p>
          <a:p>
            <a:r>
              <a:rPr lang="en-US" sz="2400" dirty="0"/>
              <a:t>Plantar flexion of the feet</a:t>
            </a:r>
          </a:p>
          <a:p>
            <a:endParaRPr lang="en-US" sz="2400" dirty="0"/>
          </a:p>
          <a:p>
            <a:r>
              <a:rPr lang="en-US" sz="2400" dirty="0"/>
              <a:t>Presumably, the increased tone of supra-spinal damage is due to input from the reticular formation and vestibular nuclei that remains.</a:t>
            </a:r>
          </a:p>
          <a:p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6E4537-8CDA-95E1-0534-99E1D0BBBC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929"/>
          <a:stretch>
            <a:fillRect/>
          </a:stretch>
        </p:blipFill>
        <p:spPr>
          <a:xfrm>
            <a:off x="5406686" y="1828800"/>
            <a:ext cx="5855283" cy="309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2BC6-788C-49B6-A447-34D2CEC3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1635"/>
          </a:xfrm>
        </p:spPr>
        <p:txBody>
          <a:bodyPr/>
          <a:lstStyle/>
          <a:p>
            <a:pPr algn="ctr"/>
            <a:r>
              <a:rPr lang="en-US" sz="4000" dirty="0">
                <a:latin typeface="+mn-lt"/>
              </a:rPr>
              <a:t>Clonus</a:t>
            </a:r>
            <a:endParaRPr lang="en-US" sz="4000" i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621B8-CD14-4876-B24B-F16E7C737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85" y="1085254"/>
            <a:ext cx="11300228" cy="1325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oscillatory contractions and relaxations of muscles in response to muscle stretching</a:t>
            </a:r>
            <a:br>
              <a:rPr lang="en-US" dirty="0"/>
            </a:br>
            <a:endParaRPr lang="en-US" dirty="0"/>
          </a:p>
        </p:txBody>
      </p:sp>
      <p:pic>
        <p:nvPicPr>
          <p:cNvPr id="4" name="Online Media 3" title="Wrist Clonus">
            <a:hlinkClick r:id="" action="ppaction://media"/>
            <a:extLst>
              <a:ext uri="{FF2B5EF4-FFF2-40B4-BE49-F238E27FC236}">
                <a16:creationId xmlns:a16="http://schemas.microsoft.com/office/drawing/2014/main" id="{D1A5DA2D-8DED-433F-94E2-B807DADE0AE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407588" y="2226642"/>
            <a:ext cx="7376823" cy="4167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9ECEF5-129E-B382-F4CD-A0B8DC8D3438}"/>
              </a:ext>
            </a:extLst>
          </p:cNvPr>
          <p:cNvSpPr txBox="1"/>
          <p:nvPr/>
        </p:nvSpPr>
        <p:spPr>
          <a:xfrm>
            <a:off x="3989662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https://youtu.be/aZCGF-nJEKU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862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DBE3-C062-483F-9DF5-FFA69E7C7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Normal Babinski Reflex in Infants</a:t>
            </a:r>
          </a:p>
        </p:txBody>
      </p:sp>
      <p:pic>
        <p:nvPicPr>
          <p:cNvPr id="4" name="Online Media 3" title="Newborn Reflexes Assessment (Infant) Nursing Pediatric NCLEX Review">
            <a:hlinkClick r:id="" action="ppaction://media"/>
            <a:extLst>
              <a:ext uri="{FF2B5EF4-FFF2-40B4-BE49-F238E27FC236}">
                <a16:creationId xmlns:a16="http://schemas.microsoft.com/office/drawing/2014/main" id="{5F33F96D-9E89-4D44-9014-DC7754DAA4C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527302" y="1364295"/>
            <a:ext cx="9137396" cy="5162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D89B43-DC89-4081-BBF9-9A74E5057DE9}"/>
              </a:ext>
            </a:extLst>
          </p:cNvPr>
          <p:cNvSpPr txBox="1"/>
          <p:nvPr/>
        </p:nvSpPr>
        <p:spPr>
          <a:xfrm>
            <a:off x="3049314" y="6526924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https://www.youtube.com/watch?v=rHYk1sYsge0</a:t>
            </a:r>
          </a:p>
        </p:txBody>
      </p:sp>
    </p:spTree>
    <p:extLst>
      <p:ext uri="{BB962C8B-B14F-4D97-AF65-F5344CB8AC3E}">
        <p14:creationId xmlns:p14="http://schemas.microsoft.com/office/powerpoint/2010/main" val="394459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46EDC0-3C48-804B-E4F4-5AEBE6F5C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58" y="0"/>
            <a:ext cx="11379684" cy="682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803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euroscience6e-Table-17-01.jpg">
            <a:extLst>
              <a:ext uri="{FF2B5EF4-FFF2-40B4-BE49-F238E27FC236}">
                <a16:creationId xmlns:a16="http://schemas.microsoft.com/office/drawing/2014/main" id="{A859BE35-CE82-4422-BC4B-807218238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0"/>
          <a:stretch/>
        </p:blipFill>
        <p:spPr>
          <a:xfrm>
            <a:off x="630543" y="16852"/>
            <a:ext cx="10930913" cy="682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28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C9F4-E552-407E-9B5F-6AA031A5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04" y="1"/>
            <a:ext cx="10919791" cy="1172308"/>
          </a:xfrm>
        </p:spPr>
        <p:txBody>
          <a:bodyPr/>
          <a:lstStyle/>
          <a:p>
            <a:r>
              <a:rPr lang="en-US" dirty="0"/>
              <a:t>Common Causes of Motor Neuron Syndromes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81DB9-10B8-461E-A30C-716A82648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587" y="1203572"/>
            <a:ext cx="11499013" cy="5248368"/>
          </a:xfrm>
        </p:spPr>
        <p:txBody>
          <a:bodyPr>
            <a:noAutofit/>
          </a:bodyPr>
          <a:lstStyle/>
          <a:p>
            <a:r>
              <a:rPr lang="en-US" dirty="0"/>
              <a:t>Localized CNS lesions can cause motor neuron syndromes:</a:t>
            </a:r>
          </a:p>
          <a:p>
            <a:pPr lvl="1"/>
            <a:r>
              <a:rPr lang="en-US" sz="2800" dirty="0"/>
              <a:t>Post-polio syndrome </a:t>
            </a:r>
          </a:p>
          <a:p>
            <a:pPr lvl="1"/>
            <a:r>
              <a:rPr lang="en-US" sz="2800" dirty="0"/>
              <a:t>Spinal cord injury or traumatic brain injury</a:t>
            </a:r>
          </a:p>
          <a:p>
            <a:pPr lvl="1"/>
            <a:r>
              <a:rPr lang="en-US" sz="2800" dirty="0"/>
              <a:t>Strokes</a:t>
            </a:r>
          </a:p>
          <a:p>
            <a:pPr lvl="1"/>
            <a:r>
              <a:rPr lang="en-US" sz="2800" dirty="0"/>
              <a:t>Multiple sclerosis</a:t>
            </a:r>
          </a:p>
          <a:p>
            <a:pPr lvl="1"/>
            <a:r>
              <a:rPr lang="en-US" sz="2800" dirty="0"/>
              <a:t>Atypical parkinsonism</a:t>
            </a:r>
          </a:p>
          <a:p>
            <a:pPr lvl="1"/>
            <a:r>
              <a:rPr lang="en-US" sz="2800" dirty="0"/>
              <a:t>Cerebral palsy</a:t>
            </a:r>
          </a:p>
          <a:p>
            <a:r>
              <a:rPr lang="en-US" b="1" dirty="0"/>
              <a:t>Amyotrophic lateral sclerosis (ALS)</a:t>
            </a:r>
            <a:r>
              <a:rPr lang="en-US" dirty="0"/>
              <a:t>: degeneration of LMNs and UMNs</a:t>
            </a:r>
          </a:p>
          <a:p>
            <a:r>
              <a:rPr lang="en-US" b="1" dirty="0"/>
              <a:t>Primary lateral sclerosis (PLS)</a:t>
            </a:r>
            <a:r>
              <a:rPr lang="en-US" dirty="0"/>
              <a:t>: only affects UMNs (progressive from legs to head); likely a variant of ALS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919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1297</TotalTime>
  <Words>563</Words>
  <Application>Microsoft Office PowerPoint</Application>
  <PresentationFormat>Widescreen</PresentationFormat>
  <Paragraphs>90</Paragraphs>
  <Slides>18</Slides>
  <Notes>14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Motor Areas of Cortex and Types of UMNs</vt:lpstr>
      <vt:lpstr>Hierarchical control of Motor movements</vt:lpstr>
      <vt:lpstr>PowerPoint Presentation</vt:lpstr>
      <vt:lpstr>Primary and non-primary Motor Cortices work together to initiate motor plans</vt:lpstr>
      <vt:lpstr>Organization of primary motor cortex</vt:lpstr>
      <vt:lpstr>UMNs of primary motor cortex</vt:lpstr>
      <vt:lpstr>Premotor Cortex</vt:lpstr>
      <vt:lpstr>Subdivisions of Premotor Cortex</vt:lpstr>
      <vt:lpstr>The Supplementary Motor Area</vt:lpstr>
      <vt:lpstr>PowerPoint Presentation</vt:lpstr>
      <vt:lpstr>Spinal Shock</vt:lpstr>
      <vt:lpstr>Spastic Paralysis</vt:lpstr>
      <vt:lpstr>Decerebrate Rigidity </vt:lpstr>
      <vt:lpstr>Clonus</vt:lpstr>
      <vt:lpstr>Normal Babinski Reflex in Infants</vt:lpstr>
      <vt:lpstr>PowerPoint Presentation</vt:lpstr>
      <vt:lpstr>PowerPoint Presentation</vt:lpstr>
      <vt:lpstr>Common Causes of Motor Neuron Syndromes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Phillips, Nicole</dc:creator>
  <cp:lastModifiedBy>Phillips, Nicole</cp:lastModifiedBy>
  <cp:revision>158</cp:revision>
  <dcterms:created xsi:type="dcterms:W3CDTF">2025-10-21T15:15:45Z</dcterms:created>
  <dcterms:modified xsi:type="dcterms:W3CDTF">2026-03-27T21:04:01Z</dcterms:modified>
</cp:coreProperties>
</file>