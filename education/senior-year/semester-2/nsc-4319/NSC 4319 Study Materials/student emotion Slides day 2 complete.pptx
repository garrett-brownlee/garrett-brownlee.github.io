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87" r:id="rId2"/>
    <p:sldId id="369" r:id="rId3"/>
    <p:sldId id="284" r:id="rId4"/>
    <p:sldId id="285" r:id="rId5"/>
    <p:sldId id="388" r:id="rId6"/>
    <p:sldId id="389" r:id="rId7"/>
    <p:sldId id="448" r:id="rId8"/>
    <p:sldId id="449" r:id="rId9"/>
    <p:sldId id="450" r:id="rId10"/>
    <p:sldId id="391" r:id="rId11"/>
    <p:sldId id="294" r:id="rId12"/>
    <p:sldId id="394" r:id="rId13"/>
    <p:sldId id="282" r:id="rId14"/>
    <p:sldId id="283" r:id="rId15"/>
    <p:sldId id="397" r:id="rId16"/>
    <p:sldId id="45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F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79035" autoAdjust="0"/>
  </p:normalViewPr>
  <p:slideViewPr>
    <p:cSldViewPr snapToGrid="0">
      <p:cViewPr varScale="1">
        <p:scale>
          <a:sx n="50" d="100"/>
          <a:sy n="50" d="100"/>
        </p:scale>
        <p:origin x="12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D10A8-DF34-43C2-9D19-55D08F46E45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FADD6-F779-4508-B80A-02C04899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8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24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05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8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28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04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36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25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15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47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48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78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2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90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65ED5-A8A0-47AC-A603-35693350859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44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4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9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9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7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8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6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1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1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620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6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69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08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16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 bwMode="auto">
          <a:xfrm>
            <a:off x="641025" y="177112"/>
            <a:ext cx="8259135" cy="8590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457200" anchor="ctr">
            <a:normAutofit/>
          </a:bodyPr>
          <a:lstStyle>
            <a:lvl1pPr marL="0" algn="l">
              <a:defRPr sz="3600">
                <a:solidFill>
                  <a:srgbClr val="027AA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37815" y="1219686"/>
            <a:ext cx="11101341" cy="5358824"/>
          </a:xfr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buClr>
                <a:srgbClr val="0057A6"/>
              </a:buClr>
              <a:defRPr lang="en-US" sz="2400" dirty="0"/>
            </a:lvl1pPr>
            <a:lvl2pPr>
              <a:buClr>
                <a:srgbClr val="0057A6"/>
              </a:buClr>
              <a:defRPr lang="en-US" dirty="0"/>
            </a:lvl2pPr>
            <a:lvl3pPr>
              <a:buClr>
                <a:srgbClr val="0057A6"/>
              </a:buClr>
              <a:defRPr lang="en-US" sz="2400" dirty="0"/>
            </a:lvl3pPr>
            <a:lvl4pPr>
              <a:buClr>
                <a:srgbClr val="0057A6"/>
              </a:buClr>
              <a:defRPr lang="en-US" sz="2400" dirty="0"/>
            </a:lvl4pPr>
          </a:lstStyle>
          <a:p>
            <a:pPr lvl="0">
              <a:lnSpc>
                <a:spcPts val="2880"/>
              </a:lnSpc>
              <a:spcBef>
                <a:spcPts val="0"/>
              </a:spcBef>
              <a:spcAft>
                <a:spcPts val="1200"/>
              </a:spcAft>
              <a:buClr>
                <a:srgbClr val="593F9A"/>
              </a:buClr>
            </a:pPr>
            <a:r>
              <a:rPr lang="en-US"/>
              <a:t>Edit Master text styles</a:t>
            </a:r>
          </a:p>
          <a:p>
            <a:pPr lvl="1">
              <a:lnSpc>
                <a:spcPts val="2880"/>
              </a:lnSpc>
              <a:spcBef>
                <a:spcPts val="0"/>
              </a:spcBef>
              <a:spcAft>
                <a:spcPts val="1200"/>
              </a:spcAft>
              <a:buClr>
                <a:srgbClr val="593F9A"/>
              </a:buClr>
            </a:pPr>
            <a:r>
              <a:rPr lang="en-US"/>
              <a:t>Second level</a:t>
            </a:r>
          </a:p>
          <a:p>
            <a:pPr lvl="2">
              <a:lnSpc>
                <a:spcPts val="2880"/>
              </a:lnSpc>
              <a:spcBef>
                <a:spcPts val="0"/>
              </a:spcBef>
              <a:spcAft>
                <a:spcPts val="1200"/>
              </a:spcAft>
              <a:buClr>
                <a:srgbClr val="593F9A"/>
              </a:buClr>
            </a:pPr>
            <a:r>
              <a:rPr lang="en-US"/>
              <a:t>Third level</a:t>
            </a:r>
          </a:p>
          <a:p>
            <a:pPr lvl="3">
              <a:lnSpc>
                <a:spcPts val="2880"/>
              </a:lnSpc>
              <a:spcBef>
                <a:spcPts val="0"/>
              </a:spcBef>
              <a:spcAft>
                <a:spcPts val="1200"/>
              </a:spcAft>
              <a:buClr>
                <a:srgbClr val="593F9A"/>
              </a:buClr>
            </a:pPr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69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F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81A8D-F5D8-4707-98ED-85C704576B6E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www.panarmenian.net/eng/news/266075/No_connection_between_concussion_history_and_depression_stud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pubs.rsc.org/en/content/articlehtml/2019/ay/c9ay00055k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g6.psychcentral.com/wp-content/uploads/2018/02/bipolar_cycling_psychcentral.gi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mronline.org/2019/08/13/dont-believe-the-hype-about-the-rules-based-order-capitalism-is-perpetual-war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DBBA-CD1B-4CFC-9CAA-0F0843963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995723"/>
            <a:ext cx="8791575" cy="86655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Mood Disorders</a:t>
            </a:r>
          </a:p>
        </p:txBody>
      </p:sp>
    </p:spTree>
    <p:extLst>
      <p:ext uri="{BB962C8B-B14F-4D97-AF65-F5344CB8AC3E}">
        <p14:creationId xmlns:p14="http://schemas.microsoft.com/office/powerpoint/2010/main" val="227855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84A0-57D0-43E6-8D76-C08526B5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Resources available to you on campus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E0D40-8BBF-4DC0-AE34-F989CEBD3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289" y="2015732"/>
            <a:ext cx="9911854" cy="345061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Baylor Health and Wellness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254-710-2467</a:t>
            </a:r>
            <a:endParaRPr lang="en-US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CARE team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254-710-2100</a:t>
            </a:r>
            <a:endParaRPr lang="en-US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Suicide prevention hotline: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1-800-273-8255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6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32" y="381278"/>
            <a:ext cx="8259135" cy="859002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Major depressive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035881" y="1984848"/>
            <a:ext cx="7633986" cy="3907501"/>
          </a:xfrm>
        </p:spPr>
        <p:txBody>
          <a:bodyPr>
            <a:normAutofit/>
          </a:bodyPr>
          <a:lstStyle/>
          <a:p>
            <a:pPr>
              <a:buClrTx/>
              <a:buSzPct val="100000"/>
            </a:pPr>
            <a:r>
              <a:rPr lang="en-US" sz="2800" dirty="0">
                <a:solidFill>
                  <a:schemeClr val="bg1"/>
                </a:solidFill>
              </a:rPr>
              <a:t>  A major depressive episode is evident if five or     more of the symptoms listed on the next slide:</a:t>
            </a:r>
          </a:p>
          <a:p>
            <a:pPr lvl="2">
              <a:buClrTx/>
              <a:buSzPct val="100000"/>
            </a:pPr>
            <a:r>
              <a:rPr lang="en-US" sz="2800" dirty="0">
                <a:solidFill>
                  <a:schemeClr val="bg1"/>
                </a:solidFill>
              </a:rPr>
              <a:t>Occur for at least 2 consecutive weeks and represent a change from prior functioning.</a:t>
            </a:r>
          </a:p>
          <a:p>
            <a:pPr lvl="2">
              <a:buClrTx/>
              <a:buSzPct val="100000"/>
            </a:pPr>
            <a:r>
              <a:rPr lang="en-US" sz="2800" dirty="0">
                <a:solidFill>
                  <a:schemeClr val="bg1"/>
                </a:solidFill>
              </a:rPr>
              <a:t>Cause significant distress or impairment.</a:t>
            </a:r>
          </a:p>
          <a:p>
            <a:pPr lvl="2">
              <a:buClrTx/>
              <a:buSzPct val="100000"/>
            </a:pPr>
            <a:r>
              <a:rPr lang="en-US" sz="2800" dirty="0">
                <a:solidFill>
                  <a:schemeClr val="bg1"/>
                </a:solidFill>
              </a:rPr>
              <a:t>Are not due to a medical or drug-related condition.</a:t>
            </a:r>
          </a:p>
          <a:p>
            <a:pPr marL="324000" lvl="1" indent="0">
              <a:buNone/>
            </a:pPr>
            <a:endParaRPr lang="en-US" dirty="0"/>
          </a:p>
        </p:txBody>
      </p:sp>
      <p:pic>
        <p:nvPicPr>
          <p:cNvPr id="5" name="Picture 4" descr="A picture containing person, dark&#10;&#10;Description automatically generated">
            <a:extLst>
              <a:ext uri="{FF2B5EF4-FFF2-40B4-BE49-F238E27FC236}">
                <a16:creationId xmlns:a16="http://schemas.microsoft.com/office/drawing/2014/main" id="{B21C75C4-86A2-4C08-84AA-7DA7A4F0D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69867" y="2950499"/>
            <a:ext cx="3228975" cy="2152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2C68C-6DFF-4DAF-AF43-BDB547222CC8}"/>
              </a:ext>
            </a:extLst>
          </p:cNvPr>
          <p:cNvSpPr txBox="1"/>
          <p:nvPr/>
        </p:nvSpPr>
        <p:spPr>
          <a:xfrm>
            <a:off x="8669866" y="5103149"/>
            <a:ext cx="3228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www.panarmenian.net/eng/news/266075/No_connection_between_concussion_history_and_depression_study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7B2BD-158D-DC10-87E1-0E8D60C3E016}"/>
              </a:ext>
            </a:extLst>
          </p:cNvPr>
          <p:cNvSpPr txBox="1"/>
          <p:nvPr/>
        </p:nvSpPr>
        <p:spPr>
          <a:xfrm>
            <a:off x="1035879" y="1350954"/>
            <a:ext cx="8868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Characterized by at least one major depressive episode.</a:t>
            </a:r>
          </a:p>
        </p:txBody>
      </p:sp>
    </p:spTree>
    <p:extLst>
      <p:ext uri="{BB962C8B-B14F-4D97-AF65-F5344CB8AC3E}">
        <p14:creationId xmlns:p14="http://schemas.microsoft.com/office/powerpoint/2010/main" val="8173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869" y="161048"/>
            <a:ext cx="11098131" cy="1366901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Possible Symptoms of a Major depressive episode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993744" y="1527950"/>
            <a:ext cx="10204511" cy="5330050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depressed mood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reduced pleasure in activities 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substantial loss or gain in weight, without conscious effort, or changes in appetite 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sleeping excessively or not sleeping enough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feeling tired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feeling worthless or extremely guilt-ridden 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difficulty thinking or concentrating </a:t>
            </a:r>
          </a:p>
          <a:p>
            <a:pPr>
              <a:buClrTx/>
            </a:pPr>
            <a:r>
              <a:rPr lang="en-US" sz="2600" dirty="0">
                <a:solidFill>
                  <a:schemeClr val="bg1"/>
                </a:solidFill>
              </a:rPr>
              <a:t>persistent thoughts about death or suicide</a:t>
            </a:r>
          </a:p>
        </p:txBody>
      </p:sp>
    </p:spTree>
    <p:extLst>
      <p:ext uri="{BB962C8B-B14F-4D97-AF65-F5344CB8AC3E}">
        <p14:creationId xmlns:p14="http://schemas.microsoft.com/office/powerpoint/2010/main" val="372968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741" y="177112"/>
            <a:ext cx="9789908" cy="1042574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 err="1">
                <a:solidFill>
                  <a:schemeClr val="bg1"/>
                </a:solidFill>
              </a:rPr>
              <a:t>Mdd</a:t>
            </a:r>
            <a:r>
              <a:rPr lang="en-US" sz="4000" dirty="0">
                <a:solidFill>
                  <a:schemeClr val="bg1"/>
                </a:solidFill>
              </a:rPr>
              <a:t> And Suicide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41025" y="1219686"/>
            <a:ext cx="11101341" cy="5638314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Recurring depressive episodes increase the likelihood for suicide and health complications.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Signs that someone may be suicidal: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The person admits thinking about suicide and may even have a plan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Excessive sadness or moodiness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Hopelessness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Sudden calm after a period of excessive sadness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Withdrawal from social situations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Engaging in risky or reckless behavior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If you believe someone is at risk for suicide call the national suicide prevention line: </a:t>
            </a:r>
            <a:r>
              <a:rPr lang="en-US" sz="2400" b="1" dirty="0">
                <a:solidFill>
                  <a:schemeClr val="bg1"/>
                </a:solidFill>
              </a:rPr>
              <a:t>1-800-273-8255</a:t>
            </a:r>
          </a:p>
        </p:txBody>
      </p:sp>
    </p:spTree>
    <p:extLst>
      <p:ext uri="{BB962C8B-B14F-4D97-AF65-F5344CB8AC3E}">
        <p14:creationId xmlns:p14="http://schemas.microsoft.com/office/powerpoint/2010/main" val="30690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E81E-A99D-47FD-90D1-0148597E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07624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MDD has a genetic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E5F35-08BE-4CE4-9E16-7572E0308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5" y="2097088"/>
            <a:ext cx="4954587" cy="47747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dirty="0">
                <a:solidFill>
                  <a:schemeClr val="bg1"/>
                </a:solidFill>
              </a:rPr>
              <a:t>Heritability estimates between 37%-50%.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dirty="0">
                <a:solidFill>
                  <a:schemeClr val="bg1"/>
                </a:solidFill>
              </a:rPr>
              <a:t>The risk of having this disorder is 2-4 times higher if first-degree relatives are affected.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dirty="0">
                <a:solidFill>
                  <a:schemeClr val="bg1"/>
                </a:solidFill>
              </a:rPr>
              <a:t>Twins reared apart have a high concordance rate.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C729B-D5EE-484F-A123-1CFEF548C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72" y="2436523"/>
            <a:ext cx="4765139" cy="31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5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B9E5-F482-4B1F-AC88-25F47DA6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571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Cortical differences in MDD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1EB3D-4678-4825-BFA3-23D82631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88143"/>
            <a:ext cx="5801809" cy="53698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Decreased activity in dlPFC, parts of ACC, and  posterior parietal and temporal cortex.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Linked to impaired cognitive control as well as lethargy and fatigue.</a:t>
            </a:r>
          </a:p>
          <a:p>
            <a:pPr lvl="1"/>
            <a:r>
              <a:rPr lang="en-US" sz="2400" i="1" dirty="0">
                <a:solidFill>
                  <a:schemeClr val="bg1"/>
                </a:solidFill>
              </a:rPr>
              <a:t>Hemispheric asymmetry</a:t>
            </a:r>
            <a:r>
              <a:rPr lang="en-US" sz="2400" dirty="0">
                <a:solidFill>
                  <a:schemeClr val="bg1"/>
                </a:solidFill>
              </a:rPr>
              <a:t>: greater right dlPFC activity than left.</a:t>
            </a:r>
          </a:p>
          <a:p>
            <a:r>
              <a:rPr lang="en-US" dirty="0">
                <a:solidFill>
                  <a:schemeClr val="bg1"/>
                </a:solidFill>
              </a:rPr>
              <a:t>Overactivity of </a:t>
            </a:r>
            <a:r>
              <a:rPr lang="en-GB" dirty="0">
                <a:solidFill>
                  <a:schemeClr val="bg1"/>
                </a:solidFill>
              </a:rPr>
              <a:t>Subgenual cingulate cortex.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May</a:t>
            </a:r>
            <a:r>
              <a:rPr lang="en-US" sz="2400" dirty="0">
                <a:solidFill>
                  <a:schemeClr val="bg1"/>
                </a:solidFill>
              </a:rPr>
              <a:t> be especially related to somatic and vegetative symptoms.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C2EE7-2B4F-4C0A-B8B7-5A7E28FD4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68" y="1488141"/>
            <a:ext cx="5344832" cy="43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4934-63DA-4FD8-8294-8FAA3988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1277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Subcortical differences in individuals with MDD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DECD-97E3-4EA4-A718-FA0D419A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49847"/>
            <a:ext cx="5988592" cy="51081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Overactivity of the amygdala and HPA axis.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Increased fear and stress responses.</a:t>
            </a:r>
          </a:p>
          <a:p>
            <a:r>
              <a:rPr lang="en-US" dirty="0">
                <a:solidFill>
                  <a:schemeClr val="bg1"/>
                </a:solidFill>
              </a:rPr>
              <a:t>Reduced activity in the nucleus </a:t>
            </a:r>
            <a:r>
              <a:rPr lang="en-US" dirty="0" err="1">
                <a:solidFill>
                  <a:schemeClr val="bg1"/>
                </a:solidFill>
              </a:rPr>
              <a:t>accumbens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Linked to apathy, lack of motivation, anhedonia (absence of pleasure).</a:t>
            </a:r>
          </a:p>
          <a:p>
            <a:r>
              <a:rPr lang="en-US" dirty="0">
                <a:solidFill>
                  <a:schemeClr val="bg1"/>
                </a:solidFill>
              </a:rPr>
              <a:t>Reduced activity and size of the hippocampus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Overgeneralized autobiographical memory and reduced ability to recall positive memories.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D4030-0D6E-4E9E-BA9A-CA010E565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327" y="1749847"/>
            <a:ext cx="4934673" cy="398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5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C2AE-F7CF-42CF-A346-BE412EB1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8857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Brain chemistry abnormalities linked to MDD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805C-60C6-43BA-8E71-5D7C4976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5" y="1727427"/>
            <a:ext cx="7250232" cy="498588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Reduced levels of monoamine neurotransmitters: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Serotonin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Dopamine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Epinephrine/Norepinephrine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Acetylcholine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Linked to disturbances of mood, reward, motivation, arousal, and memory.</a:t>
            </a:r>
          </a:p>
        </p:txBody>
      </p:sp>
      <p:pic>
        <p:nvPicPr>
          <p:cNvPr id="8" name="Picture 7" descr="A picture containing indoor&#10;&#10;Description automatically generated">
            <a:extLst>
              <a:ext uri="{FF2B5EF4-FFF2-40B4-BE49-F238E27FC236}">
                <a16:creationId xmlns:a16="http://schemas.microsoft.com/office/drawing/2014/main" id="{3C82C476-B189-4484-A8BF-D6756470B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98822" y="2534855"/>
            <a:ext cx="3948590" cy="2595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305E7C-9BAB-4051-BE0D-6483903378C0}"/>
              </a:ext>
            </a:extLst>
          </p:cNvPr>
          <p:cNvSpPr txBox="1"/>
          <p:nvPr/>
        </p:nvSpPr>
        <p:spPr>
          <a:xfrm>
            <a:off x="8061370" y="5130574"/>
            <a:ext cx="33163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4" tooltip="https://pubs.rsc.org/en/content/articlehtml/2019/ay/c9ay00055k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5" tooltip="https://creativecommons.org/licenses/by-nc/3.0/"/>
              </a:rPr>
              <a:t>CC BY-NC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590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A3F3-36AF-440A-968B-D8E678A4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Treatments for Symptoms of MDD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280D-F839-4663-B977-83D0A0970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326286"/>
            <a:ext cx="9905998" cy="55317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Antidepressant drugs including: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Monoamine oxidase inhibitors (MAOIs)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Tricyclics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Selective serotonin reuptake inhibitors (SSRIs)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Second generation antidepressants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Brain stimulation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Cognitive Behavioral Therapy (CBT)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22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60" y="177112"/>
            <a:ext cx="10460316" cy="1322064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Bipolar disorder (BPD)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090660" y="1499176"/>
            <a:ext cx="10010680" cy="5358824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Characterized by periods of depression alternating with periods of mania.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Mania may include: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Sustained overactivity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Increased talkativeness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grandiose or extremely high self-esteem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Increased energy and reduced sleep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a “flight of ideas” or the feeling of “racing” thoughts 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being easily distracted </a:t>
            </a:r>
          </a:p>
          <a:p>
            <a:pPr lvl="1">
              <a:buClrTx/>
            </a:pPr>
            <a:r>
              <a:rPr lang="en-US" sz="2400" dirty="0">
                <a:solidFill>
                  <a:schemeClr val="bg1"/>
                </a:solidFill>
              </a:rPr>
              <a:t>displaying poor judgment and engaging in activities that could have serious consequences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E2EA3-6BC2-4366-F32D-729725CC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04" y="2002873"/>
            <a:ext cx="4559472" cy="24683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3A8EFB-2FF8-F174-A718-26C05BD271C2}"/>
              </a:ext>
            </a:extLst>
          </p:cNvPr>
          <p:cNvSpPr/>
          <p:nvPr/>
        </p:nvSpPr>
        <p:spPr>
          <a:xfrm>
            <a:off x="6991504" y="4471184"/>
            <a:ext cx="478429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https://g6.psychcentral.com/wp-content/uploads/2018/02/bipolar_cycling_psychcentral.gif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95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785C-7AE6-4630-A0D8-A095B34F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Biological factors that contribute to BPD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9EF7-C63B-431E-820A-9840A3B7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871" y="1570998"/>
            <a:ext cx="8219613" cy="523097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Heritability is between 79%-90%, suggesting a role for genetics.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Enlarged ventricles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Decrease in gray matter in the temporal lobe and cerebellum.</a:t>
            </a:r>
          </a:p>
          <a:p>
            <a:r>
              <a:rPr lang="en-US" altLang="en-US" sz="2800" dirty="0">
                <a:solidFill>
                  <a:schemeClr val="bg1"/>
                </a:solidFill>
              </a:rPr>
              <a:t>Brain imaging shows more activity globally during manic episodes.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Treatment with lithium tends to be most effective.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426AE-46F4-47C5-AC7B-67EA18739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485" y="1627025"/>
            <a:ext cx="2675515" cy="523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2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439" y="557636"/>
            <a:ext cx="9551121" cy="859002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Posttraumatic stress disorder (PTSD)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296988" y="1862667"/>
            <a:ext cx="5929239" cy="4709726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Characterized by exposure to or being threatened by an event involving death, serious injury, or violence followed by trauma related symptoms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person in a desert&#10;&#10;Description automatically generated">
            <a:extLst>
              <a:ext uri="{FF2B5EF4-FFF2-40B4-BE49-F238E27FC236}">
                <a16:creationId xmlns:a16="http://schemas.microsoft.com/office/drawing/2014/main" id="{491E85B4-ABE1-4BB1-A7C6-38732DF14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42666" y="2142067"/>
            <a:ext cx="5249333" cy="314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90B03C-0C01-4140-8BEB-5B382C85756D}"/>
              </a:ext>
            </a:extLst>
          </p:cNvPr>
          <p:cNvSpPr txBox="1"/>
          <p:nvPr/>
        </p:nvSpPr>
        <p:spPr>
          <a:xfrm>
            <a:off x="6942666" y="5324723"/>
            <a:ext cx="52493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mronline.org/2019/08/13/dont-believe-the-hype-about-the-rules-based-order-capitalism-is-perpetual-war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38243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916" y="177112"/>
            <a:ext cx="9355030" cy="859002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PTSD Diagnostic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222917" y="1036114"/>
            <a:ext cx="9746168" cy="582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individual must have experienced at least one of the following symptoms:</a:t>
            </a:r>
          </a:p>
          <a:p>
            <a:pPr lvl="1">
              <a:buClrTx/>
            </a:pPr>
            <a:r>
              <a:rPr lang="en-US" sz="2800" dirty="0">
                <a:solidFill>
                  <a:schemeClr val="bg1"/>
                </a:solidFill>
              </a:rPr>
              <a:t>Distressing, disturbing, and spontaneously recurring memories of an event</a:t>
            </a:r>
          </a:p>
          <a:p>
            <a:pPr lvl="1">
              <a:buClrTx/>
            </a:pPr>
            <a:r>
              <a:rPr lang="en-US" sz="2800" dirty="0">
                <a:solidFill>
                  <a:schemeClr val="bg1"/>
                </a:solidFill>
              </a:rPr>
              <a:t>Dreams with content or emotions associated with the event</a:t>
            </a:r>
          </a:p>
          <a:p>
            <a:pPr lvl="1">
              <a:buClrTx/>
            </a:pPr>
            <a:r>
              <a:rPr lang="en-US" sz="2800" dirty="0">
                <a:solidFill>
                  <a:schemeClr val="bg1"/>
                </a:solidFill>
              </a:rPr>
              <a:t>“dissociative reactions” that include feeling as if the event is happening again</a:t>
            </a:r>
          </a:p>
          <a:p>
            <a:pPr lvl="1">
              <a:buClrTx/>
            </a:pPr>
            <a:r>
              <a:rPr lang="en-US" sz="2800" dirty="0">
                <a:solidFill>
                  <a:schemeClr val="bg1"/>
                </a:solidFill>
              </a:rPr>
              <a:t>Extreme psychological distress when reminded of the event</a:t>
            </a:r>
          </a:p>
          <a:p>
            <a:pPr lvl="1">
              <a:buClrTx/>
            </a:pPr>
            <a:r>
              <a:rPr lang="en-US" sz="2800" dirty="0">
                <a:solidFill>
                  <a:schemeClr val="bg1"/>
                </a:solidFill>
              </a:rPr>
              <a:t>Obvious physical reactions to cues related to the event.</a:t>
            </a:r>
          </a:p>
        </p:txBody>
      </p:sp>
    </p:spTree>
    <p:extLst>
      <p:ext uri="{BB962C8B-B14F-4D97-AF65-F5344CB8AC3E}">
        <p14:creationId xmlns:p14="http://schemas.microsoft.com/office/powerpoint/2010/main" val="311056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3391" y="561109"/>
            <a:ext cx="9665218" cy="859002"/>
          </a:xfrm>
          <a:noFill/>
          <a:ln>
            <a:noFill/>
          </a:ln>
        </p:spPr>
        <p:txBody>
          <a:bodyPr vert="horz" lIns="91440" tIns="45720" rIns="457200" bIns="45720" rtlCol="0" anchor="ctr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chemeClr val="bg1"/>
                </a:solidFill>
              </a:rPr>
              <a:t>Other Possible Symptoms of PTSD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222915" y="1809993"/>
            <a:ext cx="8627666" cy="4486898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Difficulty remembering the details of the event</a:t>
            </a:r>
          </a:p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Ongoing self-blame</a:t>
            </a:r>
          </a:p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Depression</a:t>
            </a:r>
          </a:p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Irritability or aggressive behavior</a:t>
            </a:r>
          </a:p>
          <a:p>
            <a:pPr>
              <a:buClrTx/>
            </a:pPr>
            <a:r>
              <a:rPr lang="en-US" sz="2800" dirty="0">
                <a:solidFill>
                  <a:schemeClr val="bg1"/>
                </a:solidFill>
              </a:rPr>
              <a:t>Trouble sleeping or concentrating</a:t>
            </a:r>
          </a:p>
        </p:txBody>
      </p:sp>
    </p:spTree>
    <p:extLst>
      <p:ext uri="{BB962C8B-B14F-4D97-AF65-F5344CB8AC3E}">
        <p14:creationId xmlns:p14="http://schemas.microsoft.com/office/powerpoint/2010/main" val="96153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B4CF-D2C5-4A40-994B-FADD7D45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54639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Biological factors that contribute to PTSD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F812-FBFF-4B7F-B32D-E44C74BD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78570"/>
            <a:ext cx="5270962" cy="499167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Not everyone exposed to trauma will develop PTSD, suggesting a genetic predisposition for PTSD.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Reduced volume of the hippocampus is correlated with development of PTSD </a:t>
            </a:r>
          </a:p>
          <a:p>
            <a:r>
              <a:rPr lang="en-US" sz="2800" dirty="0">
                <a:solidFill>
                  <a:schemeClr val="bg1"/>
                </a:solidFill>
              </a:rPr>
              <a:t>Amygdala contributes to classical conditioning of fear.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9B400-4CBD-4A04-8E28-CF7C03BC966C}"/>
              </a:ext>
            </a:extLst>
          </p:cNvPr>
          <p:cNvSpPr txBox="1"/>
          <p:nvPr/>
        </p:nvSpPr>
        <p:spPr>
          <a:xfrm>
            <a:off x="6500390" y="5694744"/>
            <a:ext cx="265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Gilbertson et al., 2002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57674-4E0C-4976-9469-B5A2C8BCE2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13" t="13840" r="44272" b="50000"/>
          <a:stretch/>
        </p:blipFill>
        <p:spPr>
          <a:xfrm>
            <a:off x="6412374" y="1713053"/>
            <a:ext cx="5816893" cy="39816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019039D-25CB-4299-BE61-3CD14C50F6A9}"/>
              </a:ext>
            </a:extLst>
          </p:cNvPr>
          <p:cNvSpPr/>
          <p:nvPr/>
        </p:nvSpPr>
        <p:spPr>
          <a:xfrm>
            <a:off x="11551534" y="1713053"/>
            <a:ext cx="640466" cy="5440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2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76CDEE"/>
      </a:accent2>
      <a:accent3>
        <a:srgbClr val="27CED7"/>
      </a:accent3>
      <a:accent4>
        <a:srgbClr val="42BA97"/>
      </a:accent4>
      <a:accent5>
        <a:srgbClr val="3E8853"/>
      </a:accent5>
      <a:accent6>
        <a:srgbClr val="76CDEE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2358</TotalTime>
  <Words>778</Words>
  <Application>Microsoft Office PowerPoint</Application>
  <PresentationFormat>Widescreen</PresentationFormat>
  <Paragraphs>123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Circuit</vt:lpstr>
      <vt:lpstr>Mood Disorders</vt:lpstr>
      <vt:lpstr>Resources available to you on campus</vt:lpstr>
      <vt:lpstr>Major depressive disorder</vt:lpstr>
      <vt:lpstr>Possible Symptoms of a Major depressive episode</vt:lpstr>
      <vt:lpstr>Mdd And Suicide</vt:lpstr>
      <vt:lpstr>MDD has a genetic component</vt:lpstr>
      <vt:lpstr>Cortical differences in MDD</vt:lpstr>
      <vt:lpstr>Subcortical differences in individuals with MDD</vt:lpstr>
      <vt:lpstr>Brain chemistry abnormalities linked to MDD</vt:lpstr>
      <vt:lpstr>Treatments for Symptoms of MDD</vt:lpstr>
      <vt:lpstr>Bipolar disorder (BPD)</vt:lpstr>
      <vt:lpstr>Biological factors that contribute to BPD</vt:lpstr>
      <vt:lpstr>Posttraumatic stress disorder (PTSD)</vt:lpstr>
      <vt:lpstr>PTSD Diagnostic Criteria</vt:lpstr>
      <vt:lpstr>Other Possible Symptoms of PTSD</vt:lpstr>
      <vt:lpstr>Biological factors that contribute to PTSD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Emotions, Aggression, and Stress</dc:title>
  <dc:creator>Nicole Forner</dc:creator>
  <cp:lastModifiedBy>Phillips, Nicole</cp:lastModifiedBy>
  <cp:revision>189</cp:revision>
  <dcterms:created xsi:type="dcterms:W3CDTF">2020-10-25T19:03:04Z</dcterms:created>
  <dcterms:modified xsi:type="dcterms:W3CDTF">2025-12-06T19:39:22Z</dcterms:modified>
</cp:coreProperties>
</file>