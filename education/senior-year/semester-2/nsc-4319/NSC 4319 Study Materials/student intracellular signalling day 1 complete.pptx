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1.xml" ContentType="application/vnd.openxmlformats-officedocument.presentationml.tags+xml"/>
  <Override PartName="/ppt/notesSlides/notesSlide9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tags/tag2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74" r:id="rId1"/>
    <p:sldMasterId id="2147483687" r:id="rId2"/>
  </p:sldMasterIdLst>
  <p:notesMasterIdLst>
    <p:notesMasterId r:id="rId21"/>
  </p:notesMasterIdLst>
  <p:handoutMasterIdLst>
    <p:handoutMasterId r:id="rId22"/>
  </p:handoutMasterIdLst>
  <p:sldIdLst>
    <p:sldId id="520" r:id="rId3"/>
    <p:sldId id="678" r:id="rId4"/>
    <p:sldId id="679" r:id="rId5"/>
    <p:sldId id="349" r:id="rId6"/>
    <p:sldId id="396" r:id="rId7"/>
    <p:sldId id="348" r:id="rId8"/>
    <p:sldId id="665" r:id="rId9"/>
    <p:sldId id="614" r:id="rId10"/>
    <p:sldId id="598" r:id="rId11"/>
    <p:sldId id="596" r:id="rId12"/>
    <p:sldId id="597" r:id="rId13"/>
    <p:sldId id="684" r:id="rId14"/>
    <p:sldId id="527" r:id="rId15"/>
    <p:sldId id="668" r:id="rId16"/>
    <p:sldId id="669" r:id="rId17"/>
    <p:sldId id="680" r:id="rId18"/>
    <p:sldId id="681" r:id="rId19"/>
    <p:sldId id="685" r:id="rId20"/>
  </p:sldIdLst>
  <p:sldSz cx="12192000" cy="6858000"/>
  <p:notesSz cx="9601200" cy="7315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304" userDrawn="1">
          <p15:clr>
            <a:srgbClr val="A4A3A4"/>
          </p15:clr>
        </p15:guide>
        <p15:guide id="2" pos="302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2A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86" autoAdjust="0"/>
    <p:restoredTop sz="86182" autoAdjust="0"/>
  </p:normalViewPr>
  <p:slideViewPr>
    <p:cSldViewPr>
      <p:cViewPr varScale="1">
        <p:scale>
          <a:sx n="54" d="100"/>
          <a:sy n="54" d="100"/>
        </p:scale>
        <p:origin x="1024" y="5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104" d="100"/>
          <a:sy n="104" d="100"/>
        </p:scale>
        <p:origin x="2508" y="114"/>
      </p:cViewPr>
      <p:guideLst>
        <p:guide orient="horz" pos="2304"/>
        <p:guide pos="302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6531DEB-67C3-4EFF-BB6C-31979D4340D9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F0E59DE-0949-46E6-BFA0-4B873F9EE5FA}">
      <dgm:prSet custT="1"/>
      <dgm:spPr>
        <a:solidFill>
          <a:schemeClr val="accent3">
            <a:lumMod val="40000"/>
            <a:lumOff val="60000"/>
          </a:schemeClr>
        </a:solidFill>
        <a:ln>
          <a:solidFill>
            <a:schemeClr val="accent3"/>
          </a:solidFill>
        </a:ln>
      </dgm:spPr>
      <dgm:t>
        <a:bodyPr/>
        <a:lstStyle/>
        <a:p>
          <a:r>
            <a:rPr lang="en-US" sz="3600" b="1" dirty="0">
              <a:solidFill>
                <a:schemeClr val="tx1"/>
              </a:solidFill>
            </a:rPr>
            <a:t>Inactive</a:t>
          </a:r>
        </a:p>
      </dgm:t>
    </dgm:pt>
    <dgm:pt modelId="{3D218858-FB69-41FF-A25F-3FEADD3EAD9D}" type="parTrans" cxnId="{2DB4DDDA-AA52-41EC-97C9-C9BDFD5396EF}">
      <dgm:prSet/>
      <dgm:spPr/>
      <dgm:t>
        <a:bodyPr/>
        <a:lstStyle/>
        <a:p>
          <a:endParaRPr lang="en-US" sz="3200">
            <a:solidFill>
              <a:schemeClr val="tx1"/>
            </a:solidFill>
          </a:endParaRPr>
        </a:p>
      </dgm:t>
    </dgm:pt>
    <dgm:pt modelId="{617550AB-FAB9-46A7-9C14-EAB4F217E1E4}" type="sibTrans" cxnId="{2DB4DDDA-AA52-41EC-97C9-C9BDFD5396EF}">
      <dgm:prSet/>
      <dgm:spPr/>
      <dgm:t>
        <a:bodyPr/>
        <a:lstStyle/>
        <a:p>
          <a:endParaRPr lang="en-US" sz="3200">
            <a:solidFill>
              <a:schemeClr val="tx1"/>
            </a:solidFill>
          </a:endParaRPr>
        </a:p>
      </dgm:t>
    </dgm:pt>
    <dgm:pt modelId="{4122F410-25C7-47D1-81E2-7B2085244815}">
      <dgm:prSet custT="1"/>
      <dgm:spPr>
        <a:solidFill>
          <a:schemeClr val="accent3">
            <a:lumMod val="20000"/>
            <a:lumOff val="80000"/>
            <a:alpha val="90000"/>
          </a:schemeClr>
        </a:solidFill>
        <a:ln>
          <a:solidFill>
            <a:schemeClr val="accent3"/>
          </a:solidFill>
        </a:ln>
      </dgm:spPr>
      <dgm:t>
        <a:bodyPr/>
        <a:lstStyle/>
        <a:p>
          <a:r>
            <a:rPr lang="en-US" sz="3200" kern="1200" dirty="0">
              <a:solidFill>
                <a:schemeClr val="tx1"/>
              </a:solidFill>
            </a:rPr>
            <a:t>GDP bound</a:t>
          </a:r>
        </a:p>
      </dgm:t>
    </dgm:pt>
    <dgm:pt modelId="{E8D1920F-0532-441F-A1C7-70A7C182DF67}" type="parTrans" cxnId="{CB87F448-A270-4344-B5B0-5D08C6A95563}">
      <dgm:prSet/>
      <dgm:spPr/>
      <dgm:t>
        <a:bodyPr/>
        <a:lstStyle/>
        <a:p>
          <a:endParaRPr lang="en-US" sz="3200">
            <a:solidFill>
              <a:schemeClr val="tx1"/>
            </a:solidFill>
          </a:endParaRPr>
        </a:p>
      </dgm:t>
    </dgm:pt>
    <dgm:pt modelId="{659E5D3E-F9E5-4100-ABFB-D9BDAC491598}" type="sibTrans" cxnId="{CB87F448-A270-4344-B5B0-5D08C6A95563}">
      <dgm:prSet/>
      <dgm:spPr/>
      <dgm:t>
        <a:bodyPr/>
        <a:lstStyle/>
        <a:p>
          <a:endParaRPr lang="en-US" sz="3200">
            <a:solidFill>
              <a:schemeClr val="tx1"/>
            </a:solidFill>
          </a:endParaRPr>
        </a:p>
      </dgm:t>
    </dgm:pt>
    <dgm:pt modelId="{C90277CA-5528-4E09-A3FF-79AAED3F2019}">
      <dgm:prSet custT="1"/>
      <dgm:spPr>
        <a:solidFill>
          <a:schemeClr val="accent2">
            <a:lumMod val="40000"/>
            <a:lumOff val="60000"/>
          </a:schemeClr>
        </a:solidFill>
        <a:ln>
          <a:solidFill>
            <a:schemeClr val="accent2"/>
          </a:solidFill>
        </a:ln>
      </dgm:spPr>
      <dgm:t>
        <a:bodyPr/>
        <a:lstStyle/>
        <a:p>
          <a:r>
            <a:rPr lang="en-US" sz="3600" b="1" dirty="0">
              <a:solidFill>
                <a:schemeClr val="tx1"/>
              </a:solidFill>
            </a:rPr>
            <a:t>Active</a:t>
          </a:r>
        </a:p>
      </dgm:t>
    </dgm:pt>
    <dgm:pt modelId="{81BA5FDE-60C1-4865-AF46-F0536FC566AE}" type="parTrans" cxnId="{F95CA33E-753F-46FC-A69C-AC27C1CBF862}">
      <dgm:prSet/>
      <dgm:spPr/>
      <dgm:t>
        <a:bodyPr/>
        <a:lstStyle/>
        <a:p>
          <a:endParaRPr lang="en-US" sz="3200">
            <a:solidFill>
              <a:schemeClr val="tx1"/>
            </a:solidFill>
          </a:endParaRPr>
        </a:p>
      </dgm:t>
    </dgm:pt>
    <dgm:pt modelId="{E9F96778-3522-4ED3-87CD-84D4070C10EA}" type="sibTrans" cxnId="{F95CA33E-753F-46FC-A69C-AC27C1CBF862}">
      <dgm:prSet/>
      <dgm:spPr/>
      <dgm:t>
        <a:bodyPr/>
        <a:lstStyle/>
        <a:p>
          <a:endParaRPr lang="en-US" sz="3200">
            <a:solidFill>
              <a:schemeClr val="tx1"/>
            </a:solidFill>
          </a:endParaRPr>
        </a:p>
      </dgm:t>
    </dgm:pt>
    <dgm:pt modelId="{3B359241-F7D6-4415-A068-7D8F6D55326C}">
      <dgm:prSet custT="1"/>
      <dgm:spPr>
        <a:solidFill>
          <a:schemeClr val="accent2">
            <a:lumMod val="20000"/>
            <a:lumOff val="80000"/>
            <a:alpha val="90000"/>
          </a:schemeClr>
        </a:solidFill>
        <a:ln>
          <a:solidFill>
            <a:schemeClr val="accent2"/>
          </a:solidFill>
        </a:ln>
      </dgm:spPr>
      <dgm:t>
        <a:bodyPr vert="horz"/>
        <a:lstStyle/>
        <a:p>
          <a:r>
            <a:rPr lang="en-US" sz="3200" dirty="0">
              <a:solidFill>
                <a:schemeClr val="tx1"/>
              </a:solidFill>
            </a:rPr>
            <a:t>GTP bound</a:t>
          </a:r>
        </a:p>
      </dgm:t>
    </dgm:pt>
    <dgm:pt modelId="{EA143A2B-3B35-4263-916A-7B33562E572F}" type="parTrans" cxnId="{DF83ABCE-8753-49C7-9178-1F3CABFBA703}">
      <dgm:prSet/>
      <dgm:spPr/>
      <dgm:t>
        <a:bodyPr/>
        <a:lstStyle/>
        <a:p>
          <a:endParaRPr lang="en-US" sz="3200">
            <a:solidFill>
              <a:schemeClr val="tx1"/>
            </a:solidFill>
          </a:endParaRPr>
        </a:p>
      </dgm:t>
    </dgm:pt>
    <dgm:pt modelId="{4E331C3D-9666-41F2-8F27-FE1DC99B46DB}" type="sibTrans" cxnId="{DF83ABCE-8753-49C7-9178-1F3CABFBA703}">
      <dgm:prSet/>
      <dgm:spPr/>
      <dgm:t>
        <a:bodyPr/>
        <a:lstStyle/>
        <a:p>
          <a:endParaRPr lang="en-US" sz="3200">
            <a:solidFill>
              <a:schemeClr val="tx1"/>
            </a:solidFill>
          </a:endParaRPr>
        </a:p>
      </dgm:t>
    </dgm:pt>
    <dgm:pt modelId="{545FD70F-2EF3-44C8-BDEB-4C57C43BB209}">
      <dgm:prSet custT="1"/>
      <dgm:spPr>
        <a:solidFill>
          <a:schemeClr val="accent3">
            <a:lumMod val="20000"/>
            <a:lumOff val="80000"/>
            <a:alpha val="90000"/>
          </a:schemeClr>
        </a:solidFill>
        <a:ln>
          <a:solidFill>
            <a:schemeClr val="accent3"/>
          </a:solidFill>
        </a:ln>
      </dgm:spPr>
      <dgm:t>
        <a:bodyPr/>
        <a:lstStyle/>
        <a:p>
          <a:r>
            <a:rPr lang="el-GR" sz="3200" kern="1200" dirty="0">
              <a:solidFill>
                <a:prstClr val="black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α</a:t>
          </a:r>
          <a:r>
            <a:rPr lang="en-US" sz="3200" kern="1200" dirty="0">
              <a:solidFill>
                <a:prstClr val="black"/>
              </a:solidFill>
              <a:latin typeface="Tahoma"/>
              <a:ea typeface="+mn-ea"/>
              <a:cs typeface="+mn-cs"/>
            </a:rPr>
            <a:t> subunit bound to </a:t>
          </a:r>
          <a:r>
            <a:rPr lang="el-GR" sz="32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</a:rPr>
            <a:t>βγ</a:t>
          </a:r>
          <a:r>
            <a:rPr lang="en-US" sz="3200" kern="1200" dirty="0">
              <a:solidFill>
                <a:prstClr val="black"/>
              </a:solidFill>
              <a:latin typeface="Tahoma"/>
              <a:ea typeface="+mn-ea"/>
              <a:cs typeface="+mn-cs"/>
            </a:rPr>
            <a:t> dimer</a:t>
          </a:r>
        </a:p>
      </dgm:t>
    </dgm:pt>
    <dgm:pt modelId="{E5932790-81F0-4C18-B26C-020664F50625}" type="parTrans" cxnId="{A546048D-DD26-4C7E-BE79-81AEB894CA38}">
      <dgm:prSet/>
      <dgm:spPr/>
      <dgm:t>
        <a:bodyPr/>
        <a:lstStyle/>
        <a:p>
          <a:endParaRPr lang="en-US"/>
        </a:p>
      </dgm:t>
    </dgm:pt>
    <dgm:pt modelId="{63CF78E8-C7C4-4017-B920-795304BBAB62}" type="sibTrans" cxnId="{A546048D-DD26-4C7E-BE79-81AEB894CA38}">
      <dgm:prSet/>
      <dgm:spPr/>
      <dgm:t>
        <a:bodyPr/>
        <a:lstStyle/>
        <a:p>
          <a:endParaRPr lang="en-US"/>
        </a:p>
      </dgm:t>
    </dgm:pt>
    <dgm:pt modelId="{104DC1D9-CE66-4D23-B9B8-F62E3DB8205E}">
      <dgm:prSet custT="1"/>
      <dgm:spPr>
        <a:solidFill>
          <a:schemeClr val="accent2">
            <a:lumMod val="20000"/>
            <a:lumOff val="80000"/>
            <a:alpha val="90000"/>
          </a:schemeClr>
        </a:solidFill>
        <a:ln>
          <a:solidFill>
            <a:schemeClr val="accent2"/>
          </a:solidFill>
        </a:ln>
      </dgm:spPr>
      <dgm:t>
        <a:bodyPr/>
        <a:lstStyle/>
        <a:p>
          <a:r>
            <a:rPr lang="el-GR" sz="3200" dirty="0">
              <a:solidFill>
                <a:prstClr val="black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α</a:t>
          </a:r>
          <a:r>
            <a:rPr lang="en-US" sz="3200" dirty="0">
              <a:solidFill>
                <a:prstClr val="black"/>
              </a:solidFill>
              <a:latin typeface="Tahoma"/>
              <a:ea typeface="+mn-ea"/>
              <a:cs typeface="+mn-cs"/>
            </a:rPr>
            <a:t> subunit dissociated from </a:t>
          </a:r>
          <a:r>
            <a:rPr lang="el-GR" sz="3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</a:rPr>
            <a:t>βγ</a:t>
          </a:r>
          <a:r>
            <a:rPr lang="en-US" sz="3200" dirty="0">
              <a:solidFill>
                <a:prstClr val="black"/>
              </a:solidFill>
              <a:latin typeface="Tahoma"/>
              <a:ea typeface="+mn-ea"/>
              <a:cs typeface="+mn-cs"/>
            </a:rPr>
            <a:t> dimer</a:t>
          </a:r>
          <a:endParaRPr lang="en-US" sz="3200" dirty="0">
            <a:solidFill>
              <a:schemeClr val="tx1"/>
            </a:solidFill>
          </a:endParaRPr>
        </a:p>
      </dgm:t>
    </dgm:pt>
    <dgm:pt modelId="{746F21BA-DFA2-487B-93AC-98ABAC39D3B9}" type="parTrans" cxnId="{054085C2-334F-456C-824B-C6789F69772A}">
      <dgm:prSet/>
      <dgm:spPr/>
      <dgm:t>
        <a:bodyPr/>
        <a:lstStyle/>
        <a:p>
          <a:endParaRPr lang="en-US"/>
        </a:p>
      </dgm:t>
    </dgm:pt>
    <dgm:pt modelId="{38AC9D3D-2E8D-4843-AE18-F3C3E87F9D10}" type="sibTrans" cxnId="{054085C2-334F-456C-824B-C6789F69772A}">
      <dgm:prSet/>
      <dgm:spPr/>
      <dgm:t>
        <a:bodyPr/>
        <a:lstStyle/>
        <a:p>
          <a:endParaRPr lang="en-US"/>
        </a:p>
      </dgm:t>
    </dgm:pt>
    <dgm:pt modelId="{9EF1F830-8CB1-4BAD-808C-61EA016AF91B}" type="pres">
      <dgm:prSet presAssocID="{66531DEB-67C3-4EFF-BB6C-31979D4340D9}" presName="Name0" presStyleCnt="0">
        <dgm:presLayoutVars>
          <dgm:dir/>
          <dgm:animLvl val="lvl"/>
          <dgm:resizeHandles val="exact"/>
        </dgm:presLayoutVars>
      </dgm:prSet>
      <dgm:spPr/>
    </dgm:pt>
    <dgm:pt modelId="{53319B34-F415-4822-895D-ED4F985E3C2B}" type="pres">
      <dgm:prSet presAssocID="{0F0E59DE-0949-46E6-BFA0-4B873F9EE5FA}" presName="composite" presStyleCnt="0"/>
      <dgm:spPr/>
    </dgm:pt>
    <dgm:pt modelId="{A7AFC6E4-EF4E-4EF7-BD27-F8952132D5D1}" type="pres">
      <dgm:prSet presAssocID="{0F0E59DE-0949-46E6-BFA0-4B873F9EE5FA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AB9A78C6-00AC-48CB-8824-5ABA03546FE3}" type="pres">
      <dgm:prSet presAssocID="{0F0E59DE-0949-46E6-BFA0-4B873F9EE5FA}" presName="desTx" presStyleLbl="alignAccFollowNode1" presStyleIdx="0" presStyleCnt="2" custScaleY="100000">
        <dgm:presLayoutVars>
          <dgm:bulletEnabled val="1"/>
        </dgm:presLayoutVars>
      </dgm:prSet>
      <dgm:spPr/>
    </dgm:pt>
    <dgm:pt modelId="{FA58B39F-2824-406A-BCDD-A9D51F5FBBDC}" type="pres">
      <dgm:prSet presAssocID="{617550AB-FAB9-46A7-9C14-EAB4F217E1E4}" presName="space" presStyleCnt="0"/>
      <dgm:spPr/>
    </dgm:pt>
    <dgm:pt modelId="{78D636B4-A3EE-48D5-8C19-8D84E1132A0C}" type="pres">
      <dgm:prSet presAssocID="{C90277CA-5528-4E09-A3FF-79AAED3F2019}" presName="composite" presStyleCnt="0"/>
      <dgm:spPr/>
    </dgm:pt>
    <dgm:pt modelId="{93728AF9-D1DE-4F1E-A362-1A4BC5EB82C1}" type="pres">
      <dgm:prSet presAssocID="{C90277CA-5528-4E09-A3FF-79AAED3F2019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58FEA760-B430-41D7-8329-B96CD0FBF190}" type="pres">
      <dgm:prSet presAssocID="{C90277CA-5528-4E09-A3FF-79AAED3F2019}" presName="desTx" presStyleLbl="alignAccFollowNode1" presStyleIdx="1" presStyleCnt="2" custScaleY="100000">
        <dgm:presLayoutVars>
          <dgm:bulletEnabled val="1"/>
        </dgm:presLayoutVars>
      </dgm:prSet>
      <dgm:spPr>
        <a:xfrm>
          <a:off x="3085056" y="805514"/>
          <a:ext cx="2706141" cy="922320"/>
        </a:xfrm>
      </dgm:spPr>
    </dgm:pt>
  </dgm:ptLst>
  <dgm:cxnLst>
    <dgm:cxn modelId="{F95CA33E-753F-46FC-A69C-AC27C1CBF862}" srcId="{66531DEB-67C3-4EFF-BB6C-31979D4340D9}" destId="{C90277CA-5528-4E09-A3FF-79AAED3F2019}" srcOrd="1" destOrd="0" parTransId="{81BA5FDE-60C1-4865-AF46-F0536FC566AE}" sibTransId="{E9F96778-3522-4ED3-87CD-84D4070C10EA}"/>
    <dgm:cxn modelId="{CB87F448-A270-4344-B5B0-5D08C6A95563}" srcId="{0F0E59DE-0949-46E6-BFA0-4B873F9EE5FA}" destId="{4122F410-25C7-47D1-81E2-7B2085244815}" srcOrd="0" destOrd="0" parTransId="{E8D1920F-0532-441F-A1C7-70A7C182DF67}" sibTransId="{659E5D3E-F9E5-4100-ABFB-D9BDAC491598}"/>
    <dgm:cxn modelId="{CF1DE56A-F08F-42FD-A475-D0CC4FBE704D}" type="presOf" srcId="{C90277CA-5528-4E09-A3FF-79AAED3F2019}" destId="{93728AF9-D1DE-4F1E-A362-1A4BC5EB82C1}" srcOrd="0" destOrd="0" presId="urn:microsoft.com/office/officeart/2005/8/layout/hList1"/>
    <dgm:cxn modelId="{FCEE3C56-8793-43AA-ACCC-786CEF2BA5C3}" type="presOf" srcId="{3B359241-F7D6-4415-A068-7D8F6D55326C}" destId="{58FEA760-B430-41D7-8329-B96CD0FBF190}" srcOrd="0" destOrd="0" presId="urn:microsoft.com/office/officeart/2005/8/layout/hList1"/>
    <dgm:cxn modelId="{5E881583-D89F-4428-BDF9-242AEE81C131}" type="presOf" srcId="{66531DEB-67C3-4EFF-BB6C-31979D4340D9}" destId="{9EF1F830-8CB1-4BAD-808C-61EA016AF91B}" srcOrd="0" destOrd="0" presId="urn:microsoft.com/office/officeart/2005/8/layout/hList1"/>
    <dgm:cxn modelId="{A546048D-DD26-4C7E-BE79-81AEB894CA38}" srcId="{0F0E59DE-0949-46E6-BFA0-4B873F9EE5FA}" destId="{545FD70F-2EF3-44C8-BDEB-4C57C43BB209}" srcOrd="1" destOrd="0" parTransId="{E5932790-81F0-4C18-B26C-020664F50625}" sibTransId="{63CF78E8-C7C4-4017-B920-795304BBAB62}"/>
    <dgm:cxn modelId="{00D120B5-44FB-4796-9C2F-6F21513E11AD}" type="presOf" srcId="{0F0E59DE-0949-46E6-BFA0-4B873F9EE5FA}" destId="{A7AFC6E4-EF4E-4EF7-BD27-F8952132D5D1}" srcOrd="0" destOrd="0" presId="urn:microsoft.com/office/officeart/2005/8/layout/hList1"/>
    <dgm:cxn modelId="{EC094BBF-832D-417C-9601-062CFC1FFE92}" type="presOf" srcId="{4122F410-25C7-47D1-81E2-7B2085244815}" destId="{AB9A78C6-00AC-48CB-8824-5ABA03546FE3}" srcOrd="0" destOrd="0" presId="urn:microsoft.com/office/officeart/2005/8/layout/hList1"/>
    <dgm:cxn modelId="{054085C2-334F-456C-824B-C6789F69772A}" srcId="{C90277CA-5528-4E09-A3FF-79AAED3F2019}" destId="{104DC1D9-CE66-4D23-B9B8-F62E3DB8205E}" srcOrd="1" destOrd="0" parTransId="{746F21BA-DFA2-487B-93AC-98ABAC39D3B9}" sibTransId="{38AC9D3D-2E8D-4843-AE18-F3C3E87F9D10}"/>
    <dgm:cxn modelId="{DF83ABCE-8753-49C7-9178-1F3CABFBA703}" srcId="{C90277CA-5528-4E09-A3FF-79AAED3F2019}" destId="{3B359241-F7D6-4415-A068-7D8F6D55326C}" srcOrd="0" destOrd="0" parTransId="{EA143A2B-3B35-4263-916A-7B33562E572F}" sibTransId="{4E331C3D-9666-41F2-8F27-FE1DC99B46DB}"/>
    <dgm:cxn modelId="{2DB4DDDA-AA52-41EC-97C9-C9BDFD5396EF}" srcId="{66531DEB-67C3-4EFF-BB6C-31979D4340D9}" destId="{0F0E59DE-0949-46E6-BFA0-4B873F9EE5FA}" srcOrd="0" destOrd="0" parTransId="{3D218858-FB69-41FF-A25F-3FEADD3EAD9D}" sibTransId="{617550AB-FAB9-46A7-9C14-EAB4F217E1E4}"/>
    <dgm:cxn modelId="{FB7DE2EB-4B2C-4000-B971-8338A6506DD8}" type="presOf" srcId="{545FD70F-2EF3-44C8-BDEB-4C57C43BB209}" destId="{AB9A78C6-00AC-48CB-8824-5ABA03546FE3}" srcOrd="0" destOrd="1" presId="urn:microsoft.com/office/officeart/2005/8/layout/hList1"/>
    <dgm:cxn modelId="{AF0BB9F5-EDC7-45E5-A3D4-210F7FC92669}" type="presOf" srcId="{104DC1D9-CE66-4D23-B9B8-F62E3DB8205E}" destId="{58FEA760-B430-41D7-8329-B96CD0FBF190}" srcOrd="0" destOrd="1" presId="urn:microsoft.com/office/officeart/2005/8/layout/hList1"/>
    <dgm:cxn modelId="{6A1C597F-0BFA-4D8D-860D-BB85D4175DE9}" type="presParOf" srcId="{9EF1F830-8CB1-4BAD-808C-61EA016AF91B}" destId="{53319B34-F415-4822-895D-ED4F985E3C2B}" srcOrd="0" destOrd="0" presId="urn:microsoft.com/office/officeart/2005/8/layout/hList1"/>
    <dgm:cxn modelId="{17DCE7DF-4320-42BC-A009-B17D1FEC5743}" type="presParOf" srcId="{53319B34-F415-4822-895D-ED4F985E3C2B}" destId="{A7AFC6E4-EF4E-4EF7-BD27-F8952132D5D1}" srcOrd="0" destOrd="0" presId="urn:microsoft.com/office/officeart/2005/8/layout/hList1"/>
    <dgm:cxn modelId="{C5A2A031-3A4D-4174-BF8A-50B7D8136510}" type="presParOf" srcId="{53319B34-F415-4822-895D-ED4F985E3C2B}" destId="{AB9A78C6-00AC-48CB-8824-5ABA03546FE3}" srcOrd="1" destOrd="0" presId="urn:microsoft.com/office/officeart/2005/8/layout/hList1"/>
    <dgm:cxn modelId="{6DD0BDA8-375F-44F3-B0B6-5E673D0B8371}" type="presParOf" srcId="{9EF1F830-8CB1-4BAD-808C-61EA016AF91B}" destId="{FA58B39F-2824-406A-BCDD-A9D51F5FBBDC}" srcOrd="1" destOrd="0" presId="urn:microsoft.com/office/officeart/2005/8/layout/hList1"/>
    <dgm:cxn modelId="{71EA5D5D-EF8B-4739-ACD3-A42A0A96A3CA}" type="presParOf" srcId="{9EF1F830-8CB1-4BAD-808C-61EA016AF91B}" destId="{78D636B4-A3EE-48D5-8C19-8D84E1132A0C}" srcOrd="2" destOrd="0" presId="urn:microsoft.com/office/officeart/2005/8/layout/hList1"/>
    <dgm:cxn modelId="{425171DA-0BA0-4F95-83E2-13C0B354877E}" type="presParOf" srcId="{78D636B4-A3EE-48D5-8C19-8D84E1132A0C}" destId="{93728AF9-D1DE-4F1E-A362-1A4BC5EB82C1}" srcOrd="0" destOrd="0" presId="urn:microsoft.com/office/officeart/2005/8/layout/hList1"/>
    <dgm:cxn modelId="{EAA260CE-C0C6-4865-AD82-392F7A38DC6E}" type="presParOf" srcId="{78D636B4-A3EE-48D5-8C19-8D84E1132A0C}" destId="{58FEA760-B430-41D7-8329-B96CD0FBF190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9A846C7-CC22-4345-AA24-25992B2E7F5B}" type="doc">
      <dgm:prSet loTypeId="urn:microsoft.com/office/officeart/2005/8/layout/vList2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F6C944E-1AB2-411A-B31F-83A6774CFDA7}">
      <dgm:prSet phldrT="[Text]"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/>
      </dgm:spPr>
      <dgm:t>
        <a:bodyPr/>
        <a:lstStyle/>
        <a:p>
          <a:pPr>
            <a:buNone/>
          </a:pPr>
          <a:r>
            <a:rPr lang="en-US" sz="3200" dirty="0"/>
            <a:t>Activation – Inactivation cycle of Heteromeric G proteins</a:t>
          </a:r>
        </a:p>
      </dgm:t>
    </dgm:pt>
    <dgm:pt modelId="{1D13DB2B-FC9B-48F7-BB04-F4A2AB9AFEF9}" type="parTrans" cxnId="{C0EE193F-8EEC-40F8-9B80-38B51ACB05D1}">
      <dgm:prSet/>
      <dgm:spPr/>
      <dgm:t>
        <a:bodyPr/>
        <a:lstStyle/>
        <a:p>
          <a:endParaRPr lang="en-US" sz="3600"/>
        </a:p>
      </dgm:t>
    </dgm:pt>
    <dgm:pt modelId="{1D4081FA-AED2-4500-A814-A0EA89F27838}" type="sibTrans" cxnId="{C0EE193F-8EEC-40F8-9B80-38B51ACB05D1}">
      <dgm:prSet/>
      <dgm:spPr/>
      <dgm:t>
        <a:bodyPr/>
        <a:lstStyle/>
        <a:p>
          <a:endParaRPr lang="en-US" sz="3600"/>
        </a:p>
      </dgm:t>
    </dgm:pt>
    <dgm:pt modelId="{3EE5AED8-6A72-46E9-A94C-762606A5EDA1}" type="pres">
      <dgm:prSet presAssocID="{D9A846C7-CC22-4345-AA24-25992B2E7F5B}" presName="linear" presStyleCnt="0">
        <dgm:presLayoutVars>
          <dgm:animLvl val="lvl"/>
          <dgm:resizeHandles val="exact"/>
        </dgm:presLayoutVars>
      </dgm:prSet>
      <dgm:spPr/>
    </dgm:pt>
    <dgm:pt modelId="{7831FAFD-8270-44A1-AC05-77B81160F6A4}" type="pres">
      <dgm:prSet presAssocID="{EF6C944E-1AB2-411A-B31F-83A6774CFDA7}" presName="parentText" presStyleLbl="node1" presStyleIdx="0" presStyleCnt="1" custLinFactNeighborX="-417" custLinFactNeighborY="-91489">
        <dgm:presLayoutVars>
          <dgm:chMax val="0"/>
          <dgm:bulletEnabled val="1"/>
        </dgm:presLayoutVars>
      </dgm:prSet>
      <dgm:spPr/>
    </dgm:pt>
  </dgm:ptLst>
  <dgm:cxnLst>
    <dgm:cxn modelId="{02132F1E-BE72-4494-A65D-D55F60073302}" type="presOf" srcId="{EF6C944E-1AB2-411A-B31F-83A6774CFDA7}" destId="{7831FAFD-8270-44A1-AC05-77B81160F6A4}" srcOrd="0" destOrd="0" presId="urn:microsoft.com/office/officeart/2005/8/layout/vList2"/>
    <dgm:cxn modelId="{C0EE193F-8EEC-40F8-9B80-38B51ACB05D1}" srcId="{D9A846C7-CC22-4345-AA24-25992B2E7F5B}" destId="{EF6C944E-1AB2-411A-B31F-83A6774CFDA7}" srcOrd="0" destOrd="0" parTransId="{1D13DB2B-FC9B-48F7-BB04-F4A2AB9AFEF9}" sibTransId="{1D4081FA-AED2-4500-A814-A0EA89F27838}"/>
    <dgm:cxn modelId="{C83C6FBA-ED98-4464-82C6-B94904BA914E}" type="presOf" srcId="{D9A846C7-CC22-4345-AA24-25992B2E7F5B}" destId="{3EE5AED8-6A72-46E9-A94C-762606A5EDA1}" srcOrd="0" destOrd="0" presId="urn:microsoft.com/office/officeart/2005/8/layout/vList2"/>
    <dgm:cxn modelId="{E5AB8860-1592-47F9-8E4E-3F60E4A33CE0}" type="presParOf" srcId="{3EE5AED8-6A72-46E9-A94C-762606A5EDA1}" destId="{7831FAFD-8270-44A1-AC05-77B81160F6A4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9A846C7-CC22-4345-AA24-25992B2E7F5B}" type="doc">
      <dgm:prSet loTypeId="urn:microsoft.com/office/officeart/2005/8/layout/vList2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F6C944E-1AB2-411A-B31F-83A6774CFDA7}">
      <dgm:prSet phldrT="[Text]" custT="1">
        <dgm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dgm:style>
      </dgm:prSet>
      <dgm:spPr>
        <a:ln/>
      </dgm:spPr>
      <dgm:t>
        <a:bodyPr/>
        <a:lstStyle/>
        <a:p>
          <a:pPr>
            <a:buNone/>
          </a:pPr>
          <a:r>
            <a:rPr lang="en-US" sz="3200" dirty="0"/>
            <a:t>Activation – Inactivation cycle of Monomeric G proteins</a:t>
          </a:r>
        </a:p>
      </dgm:t>
    </dgm:pt>
    <dgm:pt modelId="{1D13DB2B-FC9B-48F7-BB04-F4A2AB9AFEF9}" type="parTrans" cxnId="{C0EE193F-8EEC-40F8-9B80-38B51ACB05D1}">
      <dgm:prSet/>
      <dgm:spPr/>
      <dgm:t>
        <a:bodyPr/>
        <a:lstStyle/>
        <a:p>
          <a:endParaRPr lang="en-US" sz="3600"/>
        </a:p>
      </dgm:t>
    </dgm:pt>
    <dgm:pt modelId="{1D4081FA-AED2-4500-A814-A0EA89F27838}" type="sibTrans" cxnId="{C0EE193F-8EEC-40F8-9B80-38B51ACB05D1}">
      <dgm:prSet/>
      <dgm:spPr/>
      <dgm:t>
        <a:bodyPr/>
        <a:lstStyle/>
        <a:p>
          <a:endParaRPr lang="en-US" sz="3600"/>
        </a:p>
      </dgm:t>
    </dgm:pt>
    <dgm:pt modelId="{3EE5AED8-6A72-46E9-A94C-762606A5EDA1}" type="pres">
      <dgm:prSet presAssocID="{D9A846C7-CC22-4345-AA24-25992B2E7F5B}" presName="linear" presStyleCnt="0">
        <dgm:presLayoutVars>
          <dgm:animLvl val="lvl"/>
          <dgm:resizeHandles val="exact"/>
        </dgm:presLayoutVars>
      </dgm:prSet>
      <dgm:spPr/>
    </dgm:pt>
    <dgm:pt modelId="{7831FAFD-8270-44A1-AC05-77B81160F6A4}" type="pres">
      <dgm:prSet presAssocID="{EF6C944E-1AB2-411A-B31F-83A6774CFDA7}" presName="parentText" presStyleLbl="node1" presStyleIdx="0" presStyleCnt="1" custLinFactNeighborX="-417" custLinFactNeighborY="-91489">
        <dgm:presLayoutVars>
          <dgm:chMax val="0"/>
          <dgm:bulletEnabled val="1"/>
        </dgm:presLayoutVars>
      </dgm:prSet>
      <dgm:spPr/>
    </dgm:pt>
  </dgm:ptLst>
  <dgm:cxnLst>
    <dgm:cxn modelId="{02132F1E-BE72-4494-A65D-D55F60073302}" type="presOf" srcId="{EF6C944E-1AB2-411A-B31F-83A6774CFDA7}" destId="{7831FAFD-8270-44A1-AC05-77B81160F6A4}" srcOrd="0" destOrd="0" presId="urn:microsoft.com/office/officeart/2005/8/layout/vList2"/>
    <dgm:cxn modelId="{C0EE193F-8EEC-40F8-9B80-38B51ACB05D1}" srcId="{D9A846C7-CC22-4345-AA24-25992B2E7F5B}" destId="{EF6C944E-1AB2-411A-B31F-83A6774CFDA7}" srcOrd="0" destOrd="0" parTransId="{1D13DB2B-FC9B-48F7-BB04-F4A2AB9AFEF9}" sibTransId="{1D4081FA-AED2-4500-A814-A0EA89F27838}"/>
    <dgm:cxn modelId="{C83C6FBA-ED98-4464-82C6-B94904BA914E}" type="presOf" srcId="{D9A846C7-CC22-4345-AA24-25992B2E7F5B}" destId="{3EE5AED8-6A72-46E9-A94C-762606A5EDA1}" srcOrd="0" destOrd="0" presId="urn:microsoft.com/office/officeart/2005/8/layout/vList2"/>
    <dgm:cxn modelId="{E5AB8860-1592-47F9-8E4E-3F60E4A33CE0}" type="presParOf" srcId="{3EE5AED8-6A72-46E9-A94C-762606A5EDA1}" destId="{7831FAFD-8270-44A1-AC05-77B81160F6A4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AFC6E4-EF4E-4EF7-BD27-F8952132D5D1}">
      <dsp:nvSpPr>
        <dsp:cNvPr id="0" name=""/>
        <dsp:cNvSpPr/>
      </dsp:nvSpPr>
      <dsp:spPr>
        <a:xfrm>
          <a:off x="28" y="10811"/>
          <a:ext cx="2734627" cy="806400"/>
        </a:xfrm>
        <a:prstGeom prst="rect">
          <a:avLst/>
        </a:prstGeom>
        <a:solidFill>
          <a:schemeClr val="accent3">
            <a:lumMod val="40000"/>
            <a:lumOff val="60000"/>
          </a:schemeClr>
        </a:solidFill>
        <a:ln w="25400" cap="flat" cmpd="sng" algn="ctr">
          <a:solidFill>
            <a:schemeClr val="accent3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146304" rIns="256032" bIns="146304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>
              <a:solidFill>
                <a:schemeClr val="tx1"/>
              </a:solidFill>
            </a:rPr>
            <a:t>Inactive</a:t>
          </a:r>
        </a:p>
      </dsp:txBody>
      <dsp:txXfrm>
        <a:off x="28" y="10811"/>
        <a:ext cx="2734627" cy="806400"/>
      </dsp:txXfrm>
    </dsp:sp>
    <dsp:sp modelId="{AB9A78C6-00AC-48CB-8824-5ABA03546FE3}">
      <dsp:nvSpPr>
        <dsp:cNvPr id="0" name=""/>
        <dsp:cNvSpPr/>
      </dsp:nvSpPr>
      <dsp:spPr>
        <a:xfrm>
          <a:off x="28" y="817211"/>
          <a:ext cx="2734627" cy="2738137"/>
        </a:xfrm>
        <a:prstGeom prst="rect">
          <a:avLst/>
        </a:prstGeom>
        <a:solidFill>
          <a:schemeClr val="accent3">
            <a:lumMod val="20000"/>
            <a:lumOff val="80000"/>
            <a:alpha val="90000"/>
          </a:schemeClr>
        </a:solidFill>
        <a:ln w="25400" cap="flat" cmpd="sng" algn="ctr">
          <a:solidFill>
            <a:schemeClr val="accent3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227584" bIns="256032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kern="1200" dirty="0">
              <a:solidFill>
                <a:schemeClr val="tx1"/>
              </a:solidFill>
            </a:rPr>
            <a:t>GDP bound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l-GR" sz="3200" kern="1200" dirty="0">
              <a:solidFill>
                <a:prstClr val="black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α</a:t>
          </a:r>
          <a:r>
            <a:rPr lang="en-US" sz="3200" kern="1200" dirty="0">
              <a:solidFill>
                <a:prstClr val="black"/>
              </a:solidFill>
              <a:latin typeface="Tahoma"/>
              <a:ea typeface="+mn-ea"/>
              <a:cs typeface="+mn-cs"/>
            </a:rPr>
            <a:t> subunit bound to </a:t>
          </a:r>
          <a:r>
            <a:rPr lang="el-GR" sz="32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</a:rPr>
            <a:t>βγ</a:t>
          </a:r>
          <a:r>
            <a:rPr lang="en-US" sz="3200" kern="1200" dirty="0">
              <a:solidFill>
                <a:prstClr val="black"/>
              </a:solidFill>
              <a:latin typeface="Tahoma"/>
              <a:ea typeface="+mn-ea"/>
              <a:cs typeface="+mn-cs"/>
            </a:rPr>
            <a:t> dimer</a:t>
          </a:r>
        </a:p>
      </dsp:txBody>
      <dsp:txXfrm>
        <a:off x="28" y="817211"/>
        <a:ext cx="2734627" cy="2738137"/>
      </dsp:txXfrm>
    </dsp:sp>
    <dsp:sp modelId="{93728AF9-D1DE-4F1E-A362-1A4BC5EB82C1}">
      <dsp:nvSpPr>
        <dsp:cNvPr id="0" name=""/>
        <dsp:cNvSpPr/>
      </dsp:nvSpPr>
      <dsp:spPr>
        <a:xfrm>
          <a:off x="3117503" y="10811"/>
          <a:ext cx="2734627" cy="806400"/>
        </a:xfrm>
        <a:prstGeom prst="rect">
          <a:avLst/>
        </a:prstGeom>
        <a:solidFill>
          <a:schemeClr val="accent2">
            <a:lumMod val="40000"/>
            <a:lumOff val="60000"/>
          </a:schemeClr>
        </a:solidFill>
        <a:ln w="25400" cap="flat" cmpd="sng" algn="ctr">
          <a:solidFill>
            <a:schemeClr val="accent2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146304" rIns="256032" bIns="146304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kern="1200" dirty="0">
              <a:solidFill>
                <a:schemeClr val="tx1"/>
              </a:solidFill>
            </a:rPr>
            <a:t>Active</a:t>
          </a:r>
        </a:p>
      </dsp:txBody>
      <dsp:txXfrm>
        <a:off x="3117503" y="10811"/>
        <a:ext cx="2734627" cy="806400"/>
      </dsp:txXfrm>
    </dsp:sp>
    <dsp:sp modelId="{58FEA760-B430-41D7-8329-B96CD0FBF190}">
      <dsp:nvSpPr>
        <dsp:cNvPr id="0" name=""/>
        <dsp:cNvSpPr/>
      </dsp:nvSpPr>
      <dsp:spPr>
        <a:xfrm>
          <a:off x="3117503" y="817211"/>
          <a:ext cx="2734627" cy="2738137"/>
        </a:xfrm>
        <a:prstGeom prst="rect">
          <a:avLst/>
        </a:prstGeom>
        <a:solidFill>
          <a:schemeClr val="accent2">
            <a:lumMod val="20000"/>
            <a:lumOff val="80000"/>
            <a:alpha val="90000"/>
          </a:schemeClr>
        </a:solidFill>
        <a:ln w="25400" cap="flat" cmpd="sng" algn="ctr">
          <a:solidFill>
            <a:schemeClr val="accent2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227584" bIns="256032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kern="1200" dirty="0">
              <a:solidFill>
                <a:schemeClr val="tx1"/>
              </a:solidFill>
            </a:rPr>
            <a:t>GTP bound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l-GR" sz="3200" kern="1200" dirty="0">
              <a:solidFill>
                <a:prstClr val="black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rPr>
            <a:t>α</a:t>
          </a:r>
          <a:r>
            <a:rPr lang="en-US" sz="3200" kern="1200" dirty="0">
              <a:solidFill>
                <a:prstClr val="black"/>
              </a:solidFill>
              <a:latin typeface="Tahoma"/>
              <a:ea typeface="+mn-ea"/>
              <a:cs typeface="+mn-cs"/>
            </a:rPr>
            <a:t> subunit dissociated from </a:t>
          </a:r>
          <a:r>
            <a:rPr lang="el-GR" sz="32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</a:rPr>
            <a:t>βγ</a:t>
          </a:r>
          <a:r>
            <a:rPr lang="en-US" sz="3200" kern="1200" dirty="0">
              <a:solidFill>
                <a:prstClr val="black"/>
              </a:solidFill>
              <a:latin typeface="Tahoma"/>
              <a:ea typeface="+mn-ea"/>
              <a:cs typeface="+mn-cs"/>
            </a:rPr>
            <a:t> dimer</a:t>
          </a:r>
          <a:endParaRPr lang="en-US" sz="3200" kern="1200" dirty="0">
            <a:solidFill>
              <a:schemeClr val="tx1"/>
            </a:solidFill>
          </a:endParaRPr>
        </a:p>
      </dsp:txBody>
      <dsp:txXfrm>
        <a:off x="3117503" y="817211"/>
        <a:ext cx="2734627" cy="273813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31FAFD-8270-44A1-AC05-77B81160F6A4}">
      <dsp:nvSpPr>
        <dsp:cNvPr id="0" name=""/>
        <dsp:cNvSpPr/>
      </dsp:nvSpPr>
      <dsp:spPr>
        <a:xfrm>
          <a:off x="0" y="0"/>
          <a:ext cx="5791200" cy="1254825"/>
        </a:xfrm>
        <a:prstGeom prst="roundRect">
          <a:avLst/>
        </a:prstGeom>
        <a:solidFill>
          <a:schemeClr val="lt1"/>
        </a:solidFill>
        <a:ln w="25400" cap="flat" cmpd="sng" algn="ctr">
          <a:solidFill>
            <a:schemeClr val="accent5"/>
          </a:solidFill>
          <a:prstDash val="solid"/>
        </a:ln>
        <a:effectLst/>
        <a:scene3d>
          <a:camera prst="orthographicFront"/>
          <a:lightRig rig="flat" dir="t"/>
        </a:scene3d>
        <a:sp3d/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Activation – Inactivation cycle of Heteromeric G proteins</a:t>
          </a:r>
        </a:p>
      </dsp:txBody>
      <dsp:txXfrm>
        <a:off x="61256" y="61256"/>
        <a:ext cx="5668688" cy="113231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31FAFD-8270-44A1-AC05-77B81160F6A4}">
      <dsp:nvSpPr>
        <dsp:cNvPr id="0" name=""/>
        <dsp:cNvSpPr/>
      </dsp:nvSpPr>
      <dsp:spPr>
        <a:xfrm>
          <a:off x="0" y="0"/>
          <a:ext cx="5791200" cy="1254825"/>
        </a:xfrm>
        <a:prstGeom prst="roundRect">
          <a:avLst/>
        </a:prstGeom>
        <a:solidFill>
          <a:schemeClr val="lt1"/>
        </a:solidFill>
        <a:ln w="25400" cap="flat" cmpd="sng" algn="ctr">
          <a:solidFill>
            <a:schemeClr val="accent5"/>
          </a:solidFill>
          <a:prstDash val="solid"/>
        </a:ln>
        <a:effectLst/>
        <a:scene3d>
          <a:camera prst="orthographicFront"/>
          <a:lightRig rig="flat" dir="t"/>
        </a:scene3d>
        <a:sp3d/>
      </dsp:spPr>
      <dsp:style>
        <a:lnRef idx="2">
          <a:schemeClr val="accent5"/>
        </a:lnRef>
        <a:fillRef idx="1">
          <a:schemeClr val="lt1"/>
        </a:fillRef>
        <a:effectRef idx="0">
          <a:schemeClr val="accent5"/>
        </a:effectRef>
        <a:fontRef idx="minor">
          <a:schemeClr val="dk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Activation – Inactivation cycle of Monomeric G proteins</a:t>
          </a:r>
        </a:p>
      </dsp:txBody>
      <dsp:txXfrm>
        <a:off x="61256" y="61256"/>
        <a:ext cx="5668688" cy="11323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685800" y="304800"/>
            <a:ext cx="3657600" cy="365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latin typeface="Times New Roman" pitchFamily="18" charset="0"/>
              </a:defRPr>
            </a:lvl1pPr>
          </a:lstStyle>
          <a:p>
            <a:r>
              <a:rPr lang="en-US" dirty="0"/>
              <a:t>Chapter 07 – Molecular Signaling within Neurons</a:t>
            </a:r>
          </a:p>
        </p:txBody>
      </p:sp>
      <p:sp>
        <p:nvSpPr>
          <p:cNvPr id="768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754880" y="6639098"/>
            <a:ext cx="4160520" cy="365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300">
                <a:latin typeface="Times New Roman" pitchFamily="18" charset="0"/>
              </a:defRPr>
            </a:lvl1pPr>
          </a:lstStyle>
          <a:p>
            <a:fld id="{95F6C532-6337-407C-84E2-C12ED9C6594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0995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160520" cy="365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440680" y="0"/>
            <a:ext cx="4160520" cy="365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30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245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362200" y="549275"/>
            <a:ext cx="4876800" cy="2743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4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80160" y="3474720"/>
            <a:ext cx="7040880" cy="32918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949440"/>
            <a:ext cx="4160520" cy="365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30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24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440680" y="6949440"/>
            <a:ext cx="4160520" cy="365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300">
                <a:latin typeface="Times New Roman" pitchFamily="18" charset="0"/>
              </a:defRPr>
            </a:lvl1pPr>
          </a:lstStyle>
          <a:p>
            <a:fld id="{FBE50EEE-E127-42DA-A881-5CEFB83FEB8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51673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0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1.xml"/><Relationship Id="rId2" Type="http://schemas.openxmlformats.org/officeDocument/2006/relationships/notesMaster" Target="../notesMasters/notesMaster1.xml"/><Relationship Id="rId1" Type="http://schemas.openxmlformats.org/officeDocument/2006/relationships/tags" Target="../tags/tag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50EEE-E127-42DA-A881-5CEFB83FEB8E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9242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50EEE-E127-42DA-A881-5CEFB83FEB8E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5243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E5F915-560F-4B82-ABB4-161B81F34C1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4369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50EEE-E127-42DA-A881-5CEFB83FEB8E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8729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E5F915-560F-4B82-ABB4-161B81F34C1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2487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50EEE-E127-42DA-A881-5CEFB83FEB8E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602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50EEE-E127-42DA-A881-5CEFB83FEB8E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5733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9EA3C5D-F4C2-4207-AE2C-EB9E72308F57}" type="slidenum">
              <a:rPr lang="en-US"/>
              <a:pPr/>
              <a:t>10</a:t>
            </a:fld>
            <a:endParaRPr lang="en-US"/>
          </a:p>
        </p:txBody>
      </p:sp>
      <p:sp>
        <p:nvSpPr>
          <p:cNvPr id="5038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62200" y="549275"/>
            <a:ext cx="4876800" cy="2743200"/>
          </a:xfrm>
          <a:ln/>
        </p:spPr>
        <p:txBody>
          <a:bodyPr/>
          <a:lstStyle/>
          <a:p>
            <a:endParaRPr lang="en-US"/>
          </a:p>
        </p:txBody>
      </p:sp>
      <p:sp>
        <p:nvSpPr>
          <p:cNvPr id="503811" name="Rectangle 3"/>
          <p:cNvSpPr>
            <a:spLocks noGrp="1" noChangeArrowheads="1"/>
          </p:cNvSpPr>
          <p:nvPr>
            <p:ph type="body" idx="1"/>
            <p:custDataLst>
              <p:tags r:id="rId1"/>
            </p:custDataLst>
          </p:nvPr>
        </p:nvSpPr>
        <p:spPr>
          <a:xfrm>
            <a:off x="960120" y="3474720"/>
            <a:ext cx="7680960" cy="3291840"/>
          </a:xfr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1E72CC0-A2D2-4107-A24F-04E4EAAAF41C}" type="slidenum">
              <a:rPr lang="en-US"/>
              <a:pPr/>
              <a:t>11</a:t>
            </a:fld>
            <a:endParaRPr lang="en-US"/>
          </a:p>
        </p:txBody>
      </p:sp>
      <p:sp>
        <p:nvSpPr>
          <p:cNvPr id="5058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62200" y="549275"/>
            <a:ext cx="4876800" cy="2743200"/>
          </a:xfrm>
          <a:ln/>
        </p:spPr>
        <p:txBody>
          <a:bodyPr/>
          <a:lstStyle/>
          <a:p>
            <a:endParaRPr lang="en-US"/>
          </a:p>
        </p:txBody>
      </p:sp>
      <p:sp>
        <p:nvSpPr>
          <p:cNvPr id="505859" name="Rectangle 3"/>
          <p:cNvSpPr>
            <a:spLocks noGrp="1" noChangeArrowheads="1"/>
          </p:cNvSpPr>
          <p:nvPr>
            <p:ph type="body" idx="1"/>
            <p:custDataLst>
              <p:tags r:id="rId1"/>
            </p:custDataLst>
          </p:nvPr>
        </p:nvSpPr>
        <p:spPr>
          <a:xfrm>
            <a:off x="960120" y="3474720"/>
            <a:ext cx="7680960" cy="3291840"/>
          </a:xfr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50EEE-E127-42DA-A881-5CEFB83FEB8E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3313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50EEE-E127-42DA-A881-5CEFB83FEB8E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6073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50EEE-E127-42DA-A881-5CEFB83FEB8E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2281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50EEE-E127-42DA-A881-5CEFB83FEB8E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3526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023F8-FA1A-799D-B158-B04E3285F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7B2C8C-E9C8-4A2B-FE6F-2C7E1F1E86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23E0DE-FBE5-FE0B-A93D-E090C0DFC3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7EDDB3-83F5-33B7-CB3C-EE9528FCF5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E50EEE-E127-42DA-A881-5CEFB83FEB8E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0729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2866" name="Group 2"/>
          <p:cNvGrpSpPr>
            <a:grpSpLocks/>
          </p:cNvGrpSpPr>
          <p:nvPr/>
        </p:nvGrpSpPr>
        <p:grpSpPr bwMode="auto">
          <a:xfrm>
            <a:off x="1" y="2438401"/>
            <a:ext cx="12012084" cy="1052513"/>
            <a:chOff x="0" y="1536"/>
            <a:chExt cx="5675" cy="663"/>
          </a:xfrm>
        </p:grpSpPr>
        <p:grpSp>
          <p:nvGrpSpPr>
            <p:cNvPr id="292867" name="Group 3"/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292868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2869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92870" name="Group 6"/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292871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2872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92873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2874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2875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92876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1320800" y="1676400"/>
            <a:ext cx="103632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92877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9333" y="2017713"/>
            <a:ext cx="11745808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49400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876800" y="6243638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89533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B7B1FC1-8D02-4253-A025-7FF3CE26756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19200" y="384048"/>
            <a:ext cx="10695941" cy="13716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60117" y="2017713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49400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76800" y="6243638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389533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9891610F-22FC-4A57-92DB-A03BDAB378B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549400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876800" y="6243638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9389533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7E36D4C3-AB3A-4A7E-B6F1-3EC4D364238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549400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876800" y="6243638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9389533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E1AA7BE-316F-4EEA-B608-7BBA90630AC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549400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876800" y="6243638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389533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11B013A4-896D-4B0E-A508-8F401B117D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49400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76800" y="6243638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389533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3FDF9910-4FC4-4FCC-B857-8A6191851BB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49400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76800" y="6243638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389533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17BB60FE-1190-4340-A353-2D242B7CE2F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49400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876800" y="6243638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89533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CF098E80-DFA2-4AA2-8B92-3EE372E6377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38733" y="214313"/>
            <a:ext cx="2601384" cy="5918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34584" y="214313"/>
            <a:ext cx="7600949" cy="5918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49400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876800" y="6243638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89533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ABCE57BC-0454-4110-8E84-FC30AB8465A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4585" y="214314"/>
            <a:ext cx="10390716" cy="14620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576917" y="2017713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60117" y="2017713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49400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76800" y="6243638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389533" y="6243638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5D3D9964-8DDB-4793-8DD8-10ABFC191EF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gur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1A7EB-3577-43FD-9B2D-BCEA4F83C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94AFEAB-6CC2-4F6A-8644-10935AED3A2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1096" y="512748"/>
            <a:ext cx="11947020" cy="6076059"/>
          </a:xfrm>
        </p:spPr>
        <p:txBody>
          <a:bodyPr rtlCol="0">
            <a:normAutofit/>
          </a:bodyPr>
          <a:lstStyle/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2578395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8EB49-10B0-434E-B9A9-AEEABF0BE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143F8EF5-4C16-48DE-A586-E7CCF94F9F03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366838" y="808037"/>
            <a:ext cx="9759950" cy="5045832"/>
          </a:xfrm>
        </p:spPr>
        <p:txBody>
          <a:bodyPr rtlCol="0">
            <a:normAutofit/>
          </a:bodyPr>
          <a:lstStyle/>
          <a:p>
            <a:pPr lvl="0"/>
            <a:endParaRPr lang="en-US" noProof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24482F5-5C68-40F1-BAC8-3387D676EB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66838" y="5973510"/>
            <a:ext cx="9759950" cy="50349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257959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8EB49-10B0-434E-B9A9-AEEABF0BE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83351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2"/>
          <p:cNvSpPr>
            <a:spLocks noChangeArrowheads="1"/>
          </p:cNvSpPr>
          <p:nvPr/>
        </p:nvSpPr>
        <p:spPr bwMode="ltGray">
          <a:xfrm>
            <a:off x="556684" y="1098551"/>
            <a:ext cx="58420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kumimoji="1" lang="en-US" sz="2400">
              <a:latin typeface="Tahoma" pitchFamily="34" charset="0"/>
            </a:endParaRPr>
          </a:p>
        </p:txBody>
      </p:sp>
      <p:sp>
        <p:nvSpPr>
          <p:cNvPr id="291843" name="Rectangle 3"/>
          <p:cNvSpPr>
            <a:spLocks noChangeArrowheads="1"/>
          </p:cNvSpPr>
          <p:nvPr/>
        </p:nvSpPr>
        <p:spPr bwMode="ltGray">
          <a:xfrm>
            <a:off x="1066801" y="1098551"/>
            <a:ext cx="438151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kumimoji="1" lang="en-US" sz="2400">
              <a:latin typeface="Tahoma" pitchFamily="34" charset="0"/>
            </a:endParaRPr>
          </a:p>
        </p:txBody>
      </p:sp>
      <p:sp>
        <p:nvSpPr>
          <p:cNvPr id="291844" name="Rectangle 4"/>
          <p:cNvSpPr>
            <a:spLocks noChangeArrowheads="1"/>
          </p:cNvSpPr>
          <p:nvPr/>
        </p:nvSpPr>
        <p:spPr bwMode="ltGray">
          <a:xfrm>
            <a:off x="721785" y="1520826"/>
            <a:ext cx="563033" cy="474663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kumimoji="1" lang="en-US" sz="2400">
              <a:latin typeface="Tahoma" pitchFamily="34" charset="0"/>
            </a:endParaRPr>
          </a:p>
        </p:txBody>
      </p:sp>
      <p:sp>
        <p:nvSpPr>
          <p:cNvPr id="291845" name="Rectangle 5"/>
          <p:cNvSpPr>
            <a:spLocks noChangeArrowheads="1"/>
          </p:cNvSpPr>
          <p:nvPr/>
        </p:nvSpPr>
        <p:spPr bwMode="ltGray">
          <a:xfrm>
            <a:off x="1214967" y="1520826"/>
            <a:ext cx="491067" cy="474663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9000">
                <a:schemeClr val="accent1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kumimoji="1" lang="en-US" sz="2400">
              <a:latin typeface="Tahoma" pitchFamily="34" charset="0"/>
            </a:endParaRPr>
          </a:p>
        </p:txBody>
      </p:sp>
      <p:sp>
        <p:nvSpPr>
          <p:cNvPr id="291846" name="Rectangle 6"/>
          <p:cNvSpPr>
            <a:spLocks noChangeArrowheads="1"/>
          </p:cNvSpPr>
          <p:nvPr/>
        </p:nvSpPr>
        <p:spPr bwMode="ltGray">
          <a:xfrm>
            <a:off x="169333" y="1447801"/>
            <a:ext cx="747184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kumimoji="1" lang="en-US" sz="2400">
              <a:latin typeface="Tahoma" pitchFamily="34" charset="0"/>
            </a:endParaRPr>
          </a:p>
        </p:txBody>
      </p:sp>
      <p:sp>
        <p:nvSpPr>
          <p:cNvPr id="291847" name="Rectangle 7"/>
          <p:cNvSpPr>
            <a:spLocks noChangeArrowheads="1"/>
          </p:cNvSpPr>
          <p:nvPr/>
        </p:nvSpPr>
        <p:spPr bwMode="gray">
          <a:xfrm>
            <a:off x="1016000" y="990601"/>
            <a:ext cx="42333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kumimoji="1" lang="en-US" sz="2400">
              <a:latin typeface="Tahoma" pitchFamily="34" charset="0"/>
            </a:endParaRPr>
          </a:p>
        </p:txBody>
      </p:sp>
      <p:sp>
        <p:nvSpPr>
          <p:cNvPr id="291848" name="Rectangle 8"/>
          <p:cNvSpPr>
            <a:spLocks noChangeArrowheads="1"/>
          </p:cNvSpPr>
          <p:nvPr/>
        </p:nvSpPr>
        <p:spPr bwMode="gray">
          <a:xfrm>
            <a:off x="590551" y="1781175"/>
            <a:ext cx="10968567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kumimoji="1" lang="en-US" sz="2400">
              <a:latin typeface="Tahoma" pitchFamily="34" charset="0"/>
            </a:endParaRPr>
          </a:p>
        </p:txBody>
      </p:sp>
      <p:sp>
        <p:nvSpPr>
          <p:cNvPr id="291849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653118" y="384048"/>
            <a:ext cx="10262023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291850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69333" y="2017713"/>
            <a:ext cx="11745808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" pitchFamily="2" charset="2"/>
        <a:buChar char="n"/>
        <a:defRPr sz="3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32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32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32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32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0" y="0"/>
            <a:ext cx="12192000" cy="369888"/>
          </a:xfrm>
          <a:prstGeom prst="rect">
            <a:avLst/>
          </a:prstGeom>
          <a:solidFill>
            <a:srgbClr val="001A4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1" name="Text Placeholder 3"/>
          <p:cNvSpPr>
            <a:spLocks noGrp="1"/>
          </p:cNvSpPr>
          <p:nvPr>
            <p:ph type="body" idx="1"/>
          </p:nvPr>
        </p:nvSpPr>
        <p:spPr bwMode="auto">
          <a:xfrm>
            <a:off x="838200" y="952500"/>
            <a:ext cx="10515600" cy="522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A352A1-3B59-4F46-8B27-7104614BE00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0363200" y="6605588"/>
            <a:ext cx="1827213" cy="2460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 b="1">
                <a:solidFill>
                  <a:schemeClr val="bg2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 b="1">
                <a:solidFill>
                  <a:schemeClr val="bg2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 b="1">
                <a:solidFill>
                  <a:schemeClr val="bg2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 b="1">
                <a:solidFill>
                  <a:schemeClr val="bg2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 b="1">
                <a:solidFill>
                  <a:schemeClr val="bg2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2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2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2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bg2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en-US" sz="1000" b="0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© 2023 Oxford University Press</a:t>
            </a:r>
          </a:p>
        </p:txBody>
      </p:sp>
    </p:spTree>
    <p:extLst>
      <p:ext uri="{BB962C8B-B14F-4D97-AF65-F5344CB8AC3E}">
        <p14:creationId xmlns:p14="http://schemas.microsoft.com/office/powerpoint/2010/main" val="3234750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</p:sldLayoutIdLst>
  <p:txStyles>
    <p:titleStyle>
      <a:lvl1pPr algn="l" rtl="0" fontAlgn="base">
        <a:spcBef>
          <a:spcPct val="0"/>
        </a:spcBef>
        <a:spcAft>
          <a:spcPct val="0"/>
        </a:spcAft>
        <a:defRPr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>
          <a:solidFill>
            <a:schemeClr val="bg1"/>
          </a:solidFill>
          <a:latin typeface="Calibri" panose="020F050202020403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>
          <a:solidFill>
            <a:schemeClr val="bg1"/>
          </a:solidFill>
          <a:latin typeface="Calibri" panose="020F050202020403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>
          <a:solidFill>
            <a:schemeClr val="bg1"/>
          </a:solidFill>
          <a:latin typeface="Calibri" panose="020F050202020403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>
          <a:solidFill>
            <a:schemeClr val="bg1"/>
          </a:solidFill>
          <a:latin typeface="Calibri" panose="020F050202020403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>
          <a:solidFill>
            <a:schemeClr val="bg1"/>
          </a:solidFill>
          <a:latin typeface="Calibri" panose="020F050202020403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>
          <a:solidFill>
            <a:schemeClr val="bg1"/>
          </a:solidFill>
          <a:latin typeface="Calibri" panose="020F050202020403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>
          <a:solidFill>
            <a:schemeClr val="bg1"/>
          </a:solidFill>
          <a:latin typeface="Calibri" panose="020F050202020403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>
          <a:solidFill>
            <a:schemeClr val="bg1"/>
          </a:solidFill>
          <a:latin typeface="Calibri" panose="020F050202020403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ncbi.nlm.nih.gov/books/NBK10989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i.org/10.4161%2Fcl.29391" TargetMode="External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microsoft.com/office/2007/relationships/diagramDrawing" Target="../diagrams/drawing2.xml"/><Relationship Id="rId3" Type="http://schemas.openxmlformats.org/officeDocument/2006/relationships/image" Target="../media/image10.jpg"/><Relationship Id="rId7" Type="http://schemas.openxmlformats.org/officeDocument/2006/relationships/diagramColors" Target="../diagrams/colors1.xml"/><Relationship Id="rId12" Type="http://schemas.openxmlformats.org/officeDocument/2006/relationships/diagramColors" Target="../diagrams/colors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11" Type="http://schemas.openxmlformats.org/officeDocument/2006/relationships/diagramQuickStyle" Target="../diagrams/quickStyle2.xml"/><Relationship Id="rId5" Type="http://schemas.openxmlformats.org/officeDocument/2006/relationships/diagramLayout" Target="../diagrams/layout1.xml"/><Relationship Id="rId10" Type="http://schemas.openxmlformats.org/officeDocument/2006/relationships/diagramLayout" Target="../diagrams/layout2.xml"/><Relationship Id="rId4" Type="http://schemas.openxmlformats.org/officeDocument/2006/relationships/diagramData" Target="../diagrams/data1.xml"/><Relationship Id="rId9" Type="http://schemas.openxmlformats.org/officeDocument/2006/relationships/diagramData" Target="../diagrams/data2.xml"/><Relationship Id="rId1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12.jp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foto.wuestenigel.com/close-up-of-supporting-structure-of-glass-and-steel-coppola-of-munich-olympiastadion/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6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Molecular Signaling Within Cells</a:t>
            </a:r>
          </a:p>
        </p:txBody>
      </p:sp>
      <p:sp>
        <p:nvSpPr>
          <p:cNvPr id="39936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By: Nicole Phillips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A87AC-017B-A98F-0312-F0D61A90F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988" y="381000"/>
            <a:ext cx="10262023" cy="13716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BA005-1F92-D168-118E-6907D79F7C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999" y="2017713"/>
            <a:ext cx="11153141" cy="4572000"/>
          </a:xfrm>
        </p:spPr>
        <p:txBody>
          <a:bodyPr/>
          <a:lstStyle/>
          <a:p>
            <a:r>
              <a:rPr lang="en-US" dirty="0"/>
              <a:t>Explain mechanisms of altering gene transcription</a:t>
            </a:r>
          </a:p>
          <a:p>
            <a:r>
              <a:rPr lang="en-US" dirty="0"/>
              <a:t>Describe, in detail, the G protein cycle</a:t>
            </a:r>
          </a:p>
          <a:p>
            <a:r>
              <a:rPr lang="en-US" dirty="0"/>
              <a:t>Identify different 2</a:t>
            </a:r>
            <a:r>
              <a:rPr lang="en-US" baseline="30000" dirty="0"/>
              <a:t>nd</a:t>
            </a:r>
            <a:r>
              <a:rPr lang="en-US" dirty="0"/>
              <a:t> messengers and describe their role in signal transduction.</a:t>
            </a:r>
          </a:p>
          <a:p>
            <a:r>
              <a:rPr lang="en-US" dirty="0"/>
              <a:t>Make a diagram of common intracellular signaling cascades</a:t>
            </a:r>
          </a:p>
        </p:txBody>
      </p:sp>
    </p:spTree>
    <p:extLst>
      <p:ext uri="{BB962C8B-B14F-4D97-AF65-F5344CB8AC3E}">
        <p14:creationId xmlns:p14="http://schemas.microsoft.com/office/powerpoint/2010/main" val="1465698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599B9-6D7A-4EA6-3A9F-83079A29B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988" y="268287"/>
            <a:ext cx="10262023" cy="13716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Signal Transduction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77DBE-A3AE-C264-66A0-027023762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Chemical signaling requires 3 components: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b="1" dirty="0"/>
              <a:t>A signal. </a:t>
            </a:r>
            <a:r>
              <a:rPr lang="en-US" sz="2800" dirty="0"/>
              <a:t>The molecule that transmits information from one cell to another.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b="1" dirty="0"/>
              <a:t>A receptor </a:t>
            </a:r>
            <a:r>
              <a:rPr lang="en-US" sz="2800" dirty="0"/>
              <a:t>that transduces the information from the signal.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b="1" dirty="0"/>
              <a:t>An effector</a:t>
            </a:r>
            <a:r>
              <a:rPr lang="en-US" sz="2800" dirty="0"/>
              <a:t>. Molecules that mediate the cellular response        (i.e. have an “effect” on the cell)</a:t>
            </a:r>
          </a:p>
          <a:p>
            <a:pPr marL="457200" lvl="1" indent="0">
              <a:buNone/>
            </a:pPr>
            <a:endParaRPr lang="en-US" sz="2800" dirty="0"/>
          </a:p>
          <a:p>
            <a:pPr marL="628650" indent="-571500"/>
            <a:r>
              <a:rPr lang="en-US" sz="2800" dirty="0"/>
              <a:t>When this takes place </a:t>
            </a:r>
            <a:r>
              <a:rPr lang="en-US" sz="2800" i="1" dirty="0"/>
              <a:t>within</a:t>
            </a:r>
            <a:r>
              <a:rPr lang="en-US" sz="2800" dirty="0"/>
              <a:t> a cell, it is referred to as </a:t>
            </a:r>
            <a:r>
              <a:rPr lang="en-US" sz="2800" b="1" dirty="0"/>
              <a:t>intracellular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54837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Neuroscience6e-Fig-07-04-0.jpg">
            <a:extLst>
              <a:ext uri="{FF2B5EF4-FFF2-40B4-BE49-F238E27FC236}">
                <a16:creationId xmlns:a16="http://schemas.microsoft.com/office/drawing/2014/main" id="{D6449EF2-6E54-46FE-A7B0-5FDD9EE5B2F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714" b="52033"/>
          <a:stretch/>
        </p:blipFill>
        <p:spPr>
          <a:xfrm>
            <a:off x="358308" y="2487388"/>
            <a:ext cx="2883083" cy="3590699"/>
          </a:xfrm>
          <a:prstGeom prst="rect">
            <a:avLst/>
          </a:prstGeom>
        </p:spPr>
      </p:pic>
      <p:pic>
        <p:nvPicPr>
          <p:cNvPr id="8" name="Picture 7" descr="Neuroscience6e-Fig-07-04-0.jpg">
            <a:extLst>
              <a:ext uri="{FF2B5EF4-FFF2-40B4-BE49-F238E27FC236}">
                <a16:creationId xmlns:a16="http://schemas.microsoft.com/office/drawing/2014/main" id="{4E100156-F6AB-489C-B11C-746B5297A5C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714" b="52033"/>
          <a:stretch/>
        </p:blipFill>
        <p:spPr>
          <a:xfrm>
            <a:off x="3158184" y="2487388"/>
            <a:ext cx="2909299" cy="3623356"/>
          </a:xfrm>
          <a:prstGeom prst="rect">
            <a:avLst/>
          </a:prstGeom>
        </p:spPr>
      </p:pic>
      <p:pic>
        <p:nvPicPr>
          <p:cNvPr id="9" name="Picture 8" descr="Neuroscience6e-Fig-07-04-0.jpg">
            <a:extLst>
              <a:ext uri="{FF2B5EF4-FFF2-40B4-BE49-F238E27FC236}">
                <a16:creationId xmlns:a16="http://schemas.microsoft.com/office/drawing/2014/main" id="{0578DFEE-B093-45A3-BACD-299AF44DBA6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67" r="50480" b="6113"/>
          <a:stretch/>
        </p:blipFill>
        <p:spPr>
          <a:xfrm>
            <a:off x="6107615" y="2487388"/>
            <a:ext cx="2827524" cy="3430932"/>
          </a:xfrm>
          <a:prstGeom prst="rect">
            <a:avLst/>
          </a:prstGeom>
        </p:spPr>
      </p:pic>
      <p:pic>
        <p:nvPicPr>
          <p:cNvPr id="6" name="Picture 5" descr="Neuroscience6e-Fig-07-04-0.jpg">
            <a:extLst>
              <a:ext uri="{FF2B5EF4-FFF2-40B4-BE49-F238E27FC236}">
                <a16:creationId xmlns:a16="http://schemas.microsoft.com/office/drawing/2014/main" id="{75E27E94-49B3-462C-8838-ECBEE54D8CF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80" t="47867" b="6113"/>
          <a:stretch/>
        </p:blipFill>
        <p:spPr>
          <a:xfrm>
            <a:off x="8991600" y="2514600"/>
            <a:ext cx="2827527" cy="343093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A79D548-3D62-A764-7547-7CCB1A5D8244}"/>
              </a:ext>
            </a:extLst>
          </p:cNvPr>
          <p:cNvSpPr txBox="1"/>
          <p:nvPr/>
        </p:nvSpPr>
        <p:spPr>
          <a:xfrm>
            <a:off x="-10265" y="6333899"/>
            <a:ext cx="3854403" cy="524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4"/>
              </a:rPr>
              <a:t>More information can be found here: https://www.ncbi.nlm.nih.gov/books/NBK10989/</a:t>
            </a:r>
            <a:r>
              <a:rPr lang="en-US" sz="1400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9E19AE-B98A-740F-BBFB-FBA30623B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988" y="268287"/>
            <a:ext cx="10262023" cy="13716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 Classes of Signal Transduction</a:t>
            </a:r>
          </a:p>
        </p:txBody>
      </p:sp>
    </p:spTree>
    <p:extLst>
      <p:ext uri="{BB962C8B-B14F-4D97-AF65-F5344CB8AC3E}">
        <p14:creationId xmlns:p14="http://schemas.microsoft.com/office/powerpoint/2010/main" val="2266842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F9562-1849-4644-920F-E325EC298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Signaling Cascades</a:t>
            </a:r>
          </a:p>
        </p:txBody>
      </p:sp>
      <p:pic>
        <p:nvPicPr>
          <p:cNvPr id="4" name="Content Placeholder 3" descr="Neuroscience6e-Fig-07-06-0.jpg">
            <a:extLst>
              <a:ext uri="{FF2B5EF4-FFF2-40B4-BE49-F238E27FC236}">
                <a16:creationId xmlns:a16="http://schemas.microsoft.com/office/drawing/2014/main" id="{5B410E36-3F60-40DE-9EBE-B9B7C7D095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7194" y="1935276"/>
            <a:ext cx="7917612" cy="4818433"/>
          </a:xfrm>
          <a:prstGeom prst="rect">
            <a:avLst/>
          </a:prstGeom>
        </p:spPr>
      </p:pic>
      <p:sp>
        <p:nvSpPr>
          <p:cNvPr id="5" name="Frame 4">
            <a:extLst>
              <a:ext uri="{FF2B5EF4-FFF2-40B4-BE49-F238E27FC236}">
                <a16:creationId xmlns:a16="http://schemas.microsoft.com/office/drawing/2014/main" id="{4E661198-A05D-1B9B-8512-A65EE35C46DA}"/>
              </a:ext>
            </a:extLst>
          </p:cNvPr>
          <p:cNvSpPr/>
          <p:nvPr/>
        </p:nvSpPr>
        <p:spPr>
          <a:xfrm>
            <a:off x="2021097" y="1820585"/>
            <a:ext cx="8149806" cy="835152"/>
          </a:xfrm>
          <a:prstGeom prst="frame">
            <a:avLst>
              <a:gd name="adj1" fmla="val 269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Frame 5">
            <a:extLst>
              <a:ext uri="{FF2B5EF4-FFF2-40B4-BE49-F238E27FC236}">
                <a16:creationId xmlns:a16="http://schemas.microsoft.com/office/drawing/2014/main" id="{FF885739-4C5E-F370-1394-4D8419D03C9F}"/>
              </a:ext>
            </a:extLst>
          </p:cNvPr>
          <p:cNvSpPr/>
          <p:nvPr/>
        </p:nvSpPr>
        <p:spPr>
          <a:xfrm>
            <a:off x="2021097" y="2448400"/>
            <a:ext cx="8149806" cy="835152"/>
          </a:xfrm>
          <a:prstGeom prst="frame">
            <a:avLst>
              <a:gd name="adj1" fmla="val 269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Frame 6">
            <a:extLst>
              <a:ext uri="{FF2B5EF4-FFF2-40B4-BE49-F238E27FC236}">
                <a16:creationId xmlns:a16="http://schemas.microsoft.com/office/drawing/2014/main" id="{10E0E270-47B8-5A71-85D1-5E88E7A12674}"/>
              </a:ext>
            </a:extLst>
          </p:cNvPr>
          <p:cNvSpPr/>
          <p:nvPr/>
        </p:nvSpPr>
        <p:spPr>
          <a:xfrm>
            <a:off x="2021097" y="3639940"/>
            <a:ext cx="8149806" cy="835152"/>
          </a:xfrm>
          <a:prstGeom prst="frame">
            <a:avLst>
              <a:gd name="adj1" fmla="val 269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Frame 7">
            <a:extLst>
              <a:ext uri="{FF2B5EF4-FFF2-40B4-BE49-F238E27FC236}">
                <a16:creationId xmlns:a16="http://schemas.microsoft.com/office/drawing/2014/main" id="{28D07FCD-7F49-F1A0-21C1-64D826B953E9}"/>
              </a:ext>
            </a:extLst>
          </p:cNvPr>
          <p:cNvSpPr/>
          <p:nvPr/>
        </p:nvSpPr>
        <p:spPr>
          <a:xfrm>
            <a:off x="2021097" y="4987856"/>
            <a:ext cx="8149806" cy="835152"/>
          </a:xfrm>
          <a:prstGeom prst="frame">
            <a:avLst>
              <a:gd name="adj1" fmla="val 269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6AE1D88-669A-6A19-AE14-29001DE54CC6}"/>
              </a:ext>
            </a:extLst>
          </p:cNvPr>
          <p:cNvSpPr txBox="1">
            <a:spLocks/>
          </p:cNvSpPr>
          <p:nvPr/>
        </p:nvSpPr>
        <p:spPr bwMode="auto">
          <a:xfrm>
            <a:off x="497098" y="1829028"/>
            <a:ext cx="1523999" cy="8588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9pPr>
          </a:lstStyle>
          <a:p>
            <a:pPr algn="ctr"/>
            <a:r>
              <a:rPr lang="en-US" sz="2400" b="1" kern="0" dirty="0">
                <a:solidFill>
                  <a:schemeClr val="tx1"/>
                </a:solidFill>
              </a:rPr>
              <a:t>signal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DF92F24-4EEC-5DE2-77A5-F6415405D36B}"/>
              </a:ext>
            </a:extLst>
          </p:cNvPr>
          <p:cNvSpPr txBox="1">
            <a:spLocks/>
          </p:cNvSpPr>
          <p:nvPr/>
        </p:nvSpPr>
        <p:spPr bwMode="auto">
          <a:xfrm>
            <a:off x="497098" y="2424716"/>
            <a:ext cx="1523999" cy="8588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9pPr>
          </a:lstStyle>
          <a:p>
            <a:pPr algn="ctr"/>
            <a:r>
              <a:rPr lang="en-US" sz="2400" b="1" kern="0" dirty="0">
                <a:solidFill>
                  <a:schemeClr val="tx1"/>
                </a:solidFill>
              </a:rPr>
              <a:t>receptor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83E5E04-F59C-9DEF-C361-6B5D112583D0}"/>
              </a:ext>
            </a:extLst>
          </p:cNvPr>
          <p:cNvSpPr txBox="1">
            <a:spLocks/>
          </p:cNvSpPr>
          <p:nvPr/>
        </p:nvSpPr>
        <p:spPr bwMode="auto">
          <a:xfrm>
            <a:off x="129119" y="4170137"/>
            <a:ext cx="1775881" cy="8588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9pPr>
          </a:lstStyle>
          <a:p>
            <a:pPr algn="ctr"/>
            <a:r>
              <a:rPr lang="en-US" sz="2400" b="1" kern="0" dirty="0">
                <a:solidFill>
                  <a:schemeClr val="tx1"/>
                </a:solidFill>
              </a:rPr>
              <a:t>effectors</a:t>
            </a:r>
          </a:p>
        </p:txBody>
      </p:sp>
      <p:pic>
        <p:nvPicPr>
          <p:cNvPr id="1026" name="Picture 2" descr="Domino Falling GIFs - Find &amp; Share on GIPHY">
            <a:extLst>
              <a:ext uri="{FF2B5EF4-FFF2-40B4-BE49-F238E27FC236}">
                <a16:creationId xmlns:a16="http://schemas.microsoft.com/office/drawing/2014/main" id="{7A1BE75E-8A0B-D54F-5FC2-7692C1C84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4806" y="3168501"/>
            <a:ext cx="2140891" cy="2140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0FF4DDA-DB64-5548-3954-911ED95B6A6D}"/>
              </a:ext>
            </a:extLst>
          </p:cNvPr>
          <p:cNvSpPr txBox="1"/>
          <p:nvPr/>
        </p:nvSpPr>
        <p:spPr>
          <a:xfrm>
            <a:off x="9906000" y="5300972"/>
            <a:ext cx="257625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https://giphy.com/explore/domino-falling</a:t>
            </a:r>
          </a:p>
        </p:txBody>
      </p:sp>
    </p:spTree>
    <p:extLst>
      <p:ext uri="{BB962C8B-B14F-4D97-AF65-F5344CB8AC3E}">
        <p14:creationId xmlns:p14="http://schemas.microsoft.com/office/powerpoint/2010/main" val="3694088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/>
      <p:bldP spid="10" grpId="0"/>
      <p:bldP spid="11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rrow: Right 2">
            <a:extLst>
              <a:ext uri="{FF2B5EF4-FFF2-40B4-BE49-F238E27FC236}">
                <a16:creationId xmlns:a16="http://schemas.microsoft.com/office/drawing/2014/main" id="{0336DDC4-55CD-49C8-9EB1-66C227D6C0EE}"/>
              </a:ext>
            </a:extLst>
          </p:cNvPr>
          <p:cNvSpPr/>
          <p:nvPr/>
        </p:nvSpPr>
        <p:spPr>
          <a:xfrm rot="5400000">
            <a:off x="5259413" y="3797039"/>
            <a:ext cx="6151416" cy="282233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FBDFAEF-D52D-4B96-ABFF-998B15F32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988" y="0"/>
            <a:ext cx="10262023" cy="967928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Cascades Allow for Signal Amplification</a:t>
            </a:r>
          </a:p>
        </p:txBody>
      </p:sp>
      <p:pic>
        <p:nvPicPr>
          <p:cNvPr id="6" name="Content Placeholder 5" descr="Neuroscience6e-Fig-07-02-0.jpg">
            <a:extLst>
              <a:ext uri="{FF2B5EF4-FFF2-40B4-BE49-F238E27FC236}">
                <a16:creationId xmlns:a16="http://schemas.microsoft.com/office/drawing/2014/main" id="{31CA278B-8636-4300-BFD2-0ACF9074FA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201" b="4763"/>
          <a:stretch/>
        </p:blipFill>
        <p:spPr>
          <a:xfrm>
            <a:off x="189231" y="1310558"/>
            <a:ext cx="7815542" cy="5008243"/>
          </a:xfrm>
          <a:prstGeom prst="rect">
            <a:avLst/>
          </a:prstGeom>
        </p:spPr>
      </p:pic>
      <p:pic>
        <p:nvPicPr>
          <p:cNvPr id="3074" name="Picture 2" descr="Building Techniques | Domino-Tim">
            <a:extLst>
              <a:ext uri="{FF2B5EF4-FFF2-40B4-BE49-F238E27FC236}">
                <a16:creationId xmlns:a16="http://schemas.microsoft.com/office/drawing/2014/main" id="{EBD72C36-0E78-461F-9C41-C127363E04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402"/>
          <a:stretch/>
        </p:blipFill>
        <p:spPr bwMode="auto">
          <a:xfrm>
            <a:off x="8530936" y="2239126"/>
            <a:ext cx="3661064" cy="2840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A5ADA6E-7940-4F87-8EF4-2C7455977A60}"/>
              </a:ext>
            </a:extLst>
          </p:cNvPr>
          <p:cNvSpPr txBox="1"/>
          <p:nvPr/>
        </p:nvSpPr>
        <p:spPr>
          <a:xfrm>
            <a:off x="8680309" y="6064885"/>
            <a:ext cx="336231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0" i="0" dirty="0" err="1">
                <a:solidFill>
                  <a:srgbClr val="212121"/>
                </a:solidFill>
                <a:effectLst/>
                <a:latin typeface="Helvetica Neue"/>
              </a:rPr>
              <a:t>doi</a:t>
            </a:r>
            <a:r>
              <a:rPr lang="en-US" sz="1050" b="0" i="0" dirty="0">
                <a:solidFill>
                  <a:srgbClr val="212121"/>
                </a:solidFill>
                <a:effectLst/>
                <a:latin typeface="Helvetica Neue"/>
              </a:rPr>
              <a:t>: </a:t>
            </a:r>
            <a:r>
              <a:rPr lang="en-US" sz="1050" b="0" i="0" u="sng" dirty="0">
                <a:solidFill>
                  <a:srgbClr val="376FAA"/>
                </a:solidFill>
                <a:effectLst/>
                <a:latin typeface="Helvetica Neue"/>
                <a:hlinkClick r:id="rId5"/>
              </a:rPr>
              <a:t>10.4161/cl.29391</a:t>
            </a:r>
            <a:r>
              <a:rPr lang="en-US" sz="1050" b="0" i="0" u="sng" dirty="0">
                <a:solidFill>
                  <a:srgbClr val="376FAA"/>
                </a:solidFill>
                <a:effectLst/>
                <a:latin typeface="Helvetica Neue"/>
              </a:rPr>
              <a:t> 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875847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itle 1">
            <a:extLst>
              <a:ext uri="{FF2B5EF4-FFF2-40B4-BE49-F238E27FC236}">
                <a16:creationId xmlns:a16="http://schemas.microsoft.com/office/drawing/2014/main" id="{08A2CED0-3DC4-4A30-BD2A-9E6742DB6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029" y="216195"/>
            <a:ext cx="10695941" cy="13716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Signal transduction pathways can alter gene transcription through many mechanisms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7334E71-55FD-A258-E661-06441991DF14}"/>
              </a:ext>
            </a:extLst>
          </p:cNvPr>
          <p:cNvSpPr/>
          <p:nvPr/>
        </p:nvSpPr>
        <p:spPr>
          <a:xfrm>
            <a:off x="5411353" y="2013108"/>
            <a:ext cx="6527080" cy="1075053"/>
          </a:xfrm>
          <a:custGeom>
            <a:avLst/>
            <a:gdLst>
              <a:gd name="connsiteX0" fmla="*/ 0 w 6527080"/>
              <a:gd name="connsiteY0" fmla="*/ 0 h 1075053"/>
              <a:gd name="connsiteX1" fmla="*/ 6527080 w 6527080"/>
              <a:gd name="connsiteY1" fmla="*/ 0 h 1075053"/>
              <a:gd name="connsiteX2" fmla="*/ 6527080 w 6527080"/>
              <a:gd name="connsiteY2" fmla="*/ 1075053 h 1075053"/>
              <a:gd name="connsiteX3" fmla="*/ 0 w 6527080"/>
              <a:gd name="connsiteY3" fmla="*/ 1075053 h 1075053"/>
              <a:gd name="connsiteX4" fmla="*/ 0 w 6527080"/>
              <a:gd name="connsiteY4" fmla="*/ 0 h 10750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27080" h="1075053">
                <a:moveTo>
                  <a:pt x="0" y="0"/>
                </a:moveTo>
                <a:lnTo>
                  <a:pt x="6527080" y="0"/>
                </a:lnTo>
                <a:lnTo>
                  <a:pt x="6527080" y="1075053"/>
                </a:lnTo>
                <a:lnTo>
                  <a:pt x="0" y="107505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1920" tIns="121920" rIns="121920" bIns="121920" numCol="1" spcCol="1270" anchor="ctr" anchorCtr="0">
            <a:noAutofit/>
          </a:bodyPr>
          <a:lstStyle/>
          <a:p>
            <a:pPr marL="0" lvl="0" indent="0" algn="l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200" kern="1200" dirty="0">
                <a:solidFill>
                  <a:schemeClr val="tx1"/>
                </a:solidFill>
              </a:rPr>
              <a:t>Metabotropic receptors coupled to 2</a:t>
            </a:r>
            <a:r>
              <a:rPr lang="en-US" sz="3200" kern="1200" baseline="30000" dirty="0">
                <a:solidFill>
                  <a:schemeClr val="tx1"/>
                </a:solidFill>
              </a:rPr>
              <a:t>nd</a:t>
            </a:r>
            <a:r>
              <a:rPr lang="en-US" sz="3200" kern="1200" dirty="0">
                <a:solidFill>
                  <a:schemeClr val="tx1"/>
                </a:solidFill>
              </a:rPr>
              <a:t> messenger systems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81D3C322-5C80-224B-1BE3-5AC0F32E924E}"/>
              </a:ext>
            </a:extLst>
          </p:cNvPr>
          <p:cNvSpPr/>
          <p:nvPr/>
        </p:nvSpPr>
        <p:spPr>
          <a:xfrm>
            <a:off x="5411353" y="3267337"/>
            <a:ext cx="6527080" cy="1097274"/>
          </a:xfrm>
          <a:custGeom>
            <a:avLst/>
            <a:gdLst>
              <a:gd name="connsiteX0" fmla="*/ 0 w 6527080"/>
              <a:gd name="connsiteY0" fmla="*/ 0 h 1097274"/>
              <a:gd name="connsiteX1" fmla="*/ 6527080 w 6527080"/>
              <a:gd name="connsiteY1" fmla="*/ 0 h 1097274"/>
              <a:gd name="connsiteX2" fmla="*/ 6527080 w 6527080"/>
              <a:gd name="connsiteY2" fmla="*/ 1097274 h 1097274"/>
              <a:gd name="connsiteX3" fmla="*/ 0 w 6527080"/>
              <a:gd name="connsiteY3" fmla="*/ 1097274 h 1097274"/>
              <a:gd name="connsiteX4" fmla="*/ 0 w 6527080"/>
              <a:gd name="connsiteY4" fmla="*/ 0 h 1097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27080" h="1097274">
                <a:moveTo>
                  <a:pt x="0" y="0"/>
                </a:moveTo>
                <a:lnTo>
                  <a:pt x="6527080" y="0"/>
                </a:lnTo>
                <a:lnTo>
                  <a:pt x="6527080" y="1097274"/>
                </a:lnTo>
                <a:lnTo>
                  <a:pt x="0" y="109727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1920" tIns="121920" rIns="121920" bIns="121920" numCol="1" spcCol="1270" anchor="ctr" anchorCtr="0">
            <a:noAutofit/>
          </a:bodyPr>
          <a:lstStyle/>
          <a:p>
            <a:pPr marL="0" lvl="0" indent="0" algn="l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200" kern="1200" dirty="0">
                <a:solidFill>
                  <a:schemeClr val="tx1"/>
                </a:solidFill>
              </a:rPr>
              <a:t>Ca</a:t>
            </a:r>
            <a:r>
              <a:rPr lang="en-US" sz="3200" kern="1200" baseline="30000" dirty="0">
                <a:solidFill>
                  <a:schemeClr val="tx1"/>
                </a:solidFill>
              </a:rPr>
              <a:t>2+</a:t>
            </a:r>
            <a:r>
              <a:rPr lang="en-US" sz="3200" kern="1200" dirty="0">
                <a:solidFill>
                  <a:schemeClr val="tx1"/>
                </a:solidFill>
              </a:rPr>
              <a:t> influx through voltage-gated or ligand-gated Ca</a:t>
            </a:r>
            <a:r>
              <a:rPr lang="en-US" sz="3200" kern="1200" baseline="30000" dirty="0">
                <a:solidFill>
                  <a:schemeClr val="tx1"/>
                </a:solidFill>
              </a:rPr>
              <a:t>2+</a:t>
            </a:r>
            <a:r>
              <a:rPr lang="en-US" sz="3200" kern="1200" dirty="0">
                <a:solidFill>
                  <a:schemeClr val="tx1"/>
                </a:solidFill>
              </a:rPr>
              <a:t> channels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FD783A0-091D-9E1E-D0A9-427C34A4D58D}"/>
              </a:ext>
            </a:extLst>
          </p:cNvPr>
          <p:cNvSpPr/>
          <p:nvPr/>
        </p:nvSpPr>
        <p:spPr>
          <a:xfrm>
            <a:off x="5411353" y="4543787"/>
            <a:ext cx="6527080" cy="822964"/>
          </a:xfrm>
          <a:custGeom>
            <a:avLst/>
            <a:gdLst>
              <a:gd name="connsiteX0" fmla="*/ 0 w 6527080"/>
              <a:gd name="connsiteY0" fmla="*/ 0 h 822964"/>
              <a:gd name="connsiteX1" fmla="*/ 6527080 w 6527080"/>
              <a:gd name="connsiteY1" fmla="*/ 0 h 822964"/>
              <a:gd name="connsiteX2" fmla="*/ 6527080 w 6527080"/>
              <a:gd name="connsiteY2" fmla="*/ 822964 h 822964"/>
              <a:gd name="connsiteX3" fmla="*/ 0 w 6527080"/>
              <a:gd name="connsiteY3" fmla="*/ 822964 h 822964"/>
              <a:gd name="connsiteX4" fmla="*/ 0 w 6527080"/>
              <a:gd name="connsiteY4" fmla="*/ 0 h 822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27080" h="822964">
                <a:moveTo>
                  <a:pt x="0" y="0"/>
                </a:moveTo>
                <a:lnTo>
                  <a:pt x="6527080" y="0"/>
                </a:lnTo>
                <a:lnTo>
                  <a:pt x="6527080" y="822964"/>
                </a:lnTo>
                <a:lnTo>
                  <a:pt x="0" y="82296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1920" tIns="121920" rIns="121920" bIns="121920" numCol="1" spcCol="1270" anchor="ctr" anchorCtr="0">
            <a:noAutofit/>
          </a:bodyPr>
          <a:lstStyle/>
          <a:p>
            <a:pPr marL="0" lvl="0" indent="0" algn="l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200" kern="1200" dirty="0">
                <a:solidFill>
                  <a:schemeClr val="tx1"/>
                </a:solidFill>
              </a:rPr>
              <a:t>Receptor tyrosine kinase signaling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2E9A834B-C0E5-9FA9-4EA4-BC277CEE1350}"/>
              </a:ext>
            </a:extLst>
          </p:cNvPr>
          <p:cNvSpPr/>
          <p:nvPr/>
        </p:nvSpPr>
        <p:spPr>
          <a:xfrm>
            <a:off x="5411353" y="5545927"/>
            <a:ext cx="6527080" cy="822964"/>
          </a:xfrm>
          <a:custGeom>
            <a:avLst/>
            <a:gdLst>
              <a:gd name="connsiteX0" fmla="*/ 0 w 6527080"/>
              <a:gd name="connsiteY0" fmla="*/ 0 h 822964"/>
              <a:gd name="connsiteX1" fmla="*/ 6527080 w 6527080"/>
              <a:gd name="connsiteY1" fmla="*/ 0 h 822964"/>
              <a:gd name="connsiteX2" fmla="*/ 6527080 w 6527080"/>
              <a:gd name="connsiteY2" fmla="*/ 822964 h 822964"/>
              <a:gd name="connsiteX3" fmla="*/ 0 w 6527080"/>
              <a:gd name="connsiteY3" fmla="*/ 822964 h 822964"/>
              <a:gd name="connsiteX4" fmla="*/ 0 w 6527080"/>
              <a:gd name="connsiteY4" fmla="*/ 0 h 822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27080" h="822964">
                <a:moveTo>
                  <a:pt x="0" y="0"/>
                </a:moveTo>
                <a:lnTo>
                  <a:pt x="6527080" y="0"/>
                </a:lnTo>
                <a:lnTo>
                  <a:pt x="6527080" y="822964"/>
                </a:lnTo>
                <a:lnTo>
                  <a:pt x="0" y="82296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1920" tIns="121920" rIns="121920" bIns="121920" numCol="1" spcCol="1270" anchor="ctr" anchorCtr="0">
            <a:noAutofit/>
          </a:bodyPr>
          <a:lstStyle/>
          <a:p>
            <a:pPr marL="0" lvl="0" indent="0" algn="l" defTabSz="1422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200" kern="1200" dirty="0">
                <a:solidFill>
                  <a:schemeClr val="tx1"/>
                </a:solidFill>
              </a:rPr>
              <a:t>Intracellular receptors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4A210125-069A-4302-8C7E-23B3859F5A4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46"/>
          <a:stretch/>
        </p:blipFill>
        <p:spPr>
          <a:xfrm>
            <a:off x="152400" y="2027238"/>
            <a:ext cx="5257800" cy="4341653"/>
          </a:xfrm>
          <a:prstGeom prst="rect">
            <a:avLst/>
          </a:prstGeom>
          <a:noFill/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93B33829-6E41-4D79-9BCC-5EE18D13DE27}"/>
              </a:ext>
            </a:extLst>
          </p:cNvPr>
          <p:cNvGrpSpPr/>
          <p:nvPr/>
        </p:nvGrpSpPr>
        <p:grpSpPr>
          <a:xfrm>
            <a:off x="304799" y="3798823"/>
            <a:ext cx="838201" cy="2220977"/>
            <a:chOff x="304799" y="3798823"/>
            <a:chExt cx="838201" cy="222097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2357D19-0CE6-451C-A38A-3748003BE7E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3144" t="78901" r="7547" b="6647"/>
            <a:stretch/>
          </p:blipFill>
          <p:spPr>
            <a:xfrm rot="5400000">
              <a:off x="-107951" y="4211573"/>
              <a:ext cx="1587499" cy="762000"/>
            </a:xfrm>
            <a:prstGeom prst="rect">
              <a:avLst/>
            </a:prstGeom>
            <a:ln>
              <a:solidFill>
                <a:schemeClr val="accent6">
                  <a:lumMod val="75000"/>
                </a:schemeClr>
              </a:solidFill>
            </a:ln>
          </p:spPr>
        </p:pic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B938ABB9-32A9-44D6-8AC1-3D2F098A96D4}"/>
                </a:ext>
              </a:extLst>
            </p:cNvPr>
            <p:cNvCxnSpPr>
              <a:stCxn id="5" idx="3"/>
            </p:cNvCxnSpPr>
            <p:nvPr/>
          </p:nvCxnSpPr>
          <p:spPr>
            <a:xfrm>
              <a:off x="685799" y="5386323"/>
              <a:ext cx="457201" cy="63347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70411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914400" y="1600200"/>
            <a:ext cx="10363200" cy="1462088"/>
          </a:xfrm>
        </p:spPr>
        <p:txBody>
          <a:bodyPr/>
          <a:lstStyle/>
          <a:p>
            <a:pPr algn="ctr"/>
            <a:r>
              <a:rPr lang="en-US" sz="6000" dirty="0">
                <a:solidFill>
                  <a:schemeClr val="tx1"/>
                </a:solidFill>
              </a:rPr>
              <a:t>G protein Coupled Receptor Signaling Cascades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4A521C-DD7C-565F-F33C-CBA54370F9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7614" y="3581400"/>
            <a:ext cx="5376772" cy="3276600"/>
          </a:xfrm>
          <a:prstGeom prst="rect">
            <a:avLst/>
          </a:prstGeom>
        </p:spPr>
      </p:pic>
      <p:sp>
        <p:nvSpPr>
          <p:cNvPr id="7" name="Frame 6">
            <a:extLst>
              <a:ext uri="{FF2B5EF4-FFF2-40B4-BE49-F238E27FC236}">
                <a16:creationId xmlns:a16="http://schemas.microsoft.com/office/drawing/2014/main" id="{9D7F89A1-AA94-2B4D-2765-D8EF7425667C}"/>
              </a:ext>
            </a:extLst>
          </p:cNvPr>
          <p:cNvSpPr/>
          <p:nvPr/>
        </p:nvSpPr>
        <p:spPr>
          <a:xfrm>
            <a:off x="3381571" y="3962401"/>
            <a:ext cx="5402815" cy="762000"/>
          </a:xfrm>
          <a:prstGeom prst="frame">
            <a:avLst>
              <a:gd name="adj1" fmla="val 269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7453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>
          <a:xfrm>
            <a:off x="964988" y="246078"/>
            <a:ext cx="10262023" cy="13716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 classes of G protein coupled receptors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5296D-7228-85FF-BEEA-7FD06BA85F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334" y="2017713"/>
            <a:ext cx="4193044" cy="4572000"/>
          </a:xfrm>
        </p:spPr>
        <p:txBody>
          <a:bodyPr/>
          <a:lstStyle/>
          <a:p>
            <a:r>
              <a:rPr lang="en-US" sz="2800" b="1" dirty="0"/>
              <a:t>Heterotrimeric</a:t>
            </a:r>
          </a:p>
          <a:p>
            <a:pPr lvl="1"/>
            <a:r>
              <a:rPr lang="en-US" sz="2800" dirty="0"/>
              <a:t>3 subunits</a:t>
            </a:r>
          </a:p>
          <a:p>
            <a:pPr lvl="2"/>
            <a:r>
              <a:rPr lang="el-GR" sz="2800" kern="12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</a:rPr>
              <a:t>α</a:t>
            </a:r>
            <a:r>
              <a:rPr lang="en-US" sz="2800" kern="12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</a:rPr>
              <a:t>, </a:t>
            </a:r>
            <a:r>
              <a:rPr lang="el-GR" sz="2800" kern="12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</a:rPr>
              <a:t>βγ</a:t>
            </a:r>
            <a:endParaRPr lang="en-US" sz="2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</a:endParaRPr>
          </a:p>
          <a:p>
            <a:pPr marL="457200" lvl="1" indent="0">
              <a:buNone/>
            </a:pPr>
            <a:endParaRPr lang="en-US" sz="28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</a:endParaRPr>
          </a:p>
          <a:p>
            <a:r>
              <a:rPr lang="en-US" sz="2800" b="1" dirty="0"/>
              <a:t>Monomeric</a:t>
            </a:r>
          </a:p>
          <a:p>
            <a:pPr lvl="1"/>
            <a:r>
              <a:rPr lang="en-US" sz="2800" dirty="0"/>
              <a:t>Single subunit</a:t>
            </a:r>
          </a:p>
          <a:p>
            <a:pPr lvl="2"/>
            <a:r>
              <a:rPr lang="en-US" sz="2800" dirty="0" err="1"/>
              <a:t>ras</a:t>
            </a:r>
            <a:endParaRPr lang="en-US" sz="2800" dirty="0"/>
          </a:p>
          <a:p>
            <a:endParaRPr lang="en-US" sz="3200" dirty="0"/>
          </a:p>
          <a:p>
            <a:pPr lvl="2"/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435D1D-DD33-CC7B-AE5C-A9B1B9C24C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2377" y="1905000"/>
            <a:ext cx="6893085" cy="4953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Neuroscience6e-Fig-07-05-1R.jpg">
            <a:extLst>
              <a:ext uri="{FF2B5EF4-FFF2-40B4-BE49-F238E27FC236}">
                <a16:creationId xmlns:a16="http://schemas.microsoft.com/office/drawing/2014/main" id="{D1B9AC6C-2E25-4245-AE7C-5EA05D0BFA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43" b="6647"/>
          <a:stretch/>
        </p:blipFill>
        <p:spPr>
          <a:xfrm>
            <a:off x="6190924" y="119232"/>
            <a:ext cx="5842458" cy="5976768"/>
          </a:xfrm>
          <a:prstGeom prst="rect">
            <a:avLst/>
          </a:prstGeom>
        </p:spPr>
      </p:pic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42B9A236-8B73-4FC7-A71E-B07C4C989FE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30820612"/>
              </p:ext>
            </p:extLst>
          </p:nvPr>
        </p:nvGraphicFramePr>
        <p:xfrm>
          <a:off x="323850" y="2527151"/>
          <a:ext cx="5852160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6" name="Arrow: Right 5">
            <a:extLst>
              <a:ext uri="{FF2B5EF4-FFF2-40B4-BE49-F238E27FC236}">
                <a16:creationId xmlns:a16="http://schemas.microsoft.com/office/drawing/2014/main" id="{5480B83B-7C5F-4247-BAAD-AA133D5BB3ED}"/>
              </a:ext>
            </a:extLst>
          </p:cNvPr>
          <p:cNvSpPr/>
          <p:nvPr/>
        </p:nvSpPr>
        <p:spPr>
          <a:xfrm>
            <a:off x="587243" y="1524000"/>
            <a:ext cx="4846320" cy="1097280"/>
          </a:xfrm>
          <a:prstGeom prst="rightArrow">
            <a:avLst/>
          </a:prstGeom>
          <a:gradFill flip="none" rotWithShape="1">
            <a:gsLst>
              <a:gs pos="83000">
                <a:schemeClr val="accent2">
                  <a:lumMod val="20000"/>
                  <a:lumOff val="80000"/>
                </a:schemeClr>
              </a:gs>
              <a:gs pos="17000">
                <a:schemeClr val="accent3">
                  <a:lumMod val="20000"/>
                  <a:lumOff val="80000"/>
                </a:schemeClr>
              </a:gs>
              <a:gs pos="0">
                <a:schemeClr val="accent3"/>
              </a:gs>
              <a:gs pos="50000">
                <a:schemeClr val="bg1"/>
              </a:gs>
              <a:gs pos="100000">
                <a:schemeClr val="accent2"/>
              </a:gs>
            </a:gsLst>
            <a:lin ang="0" scaled="1"/>
            <a:tileRect/>
          </a:gradFill>
          <a:ln>
            <a:gradFill flip="none" rotWithShape="1">
              <a:gsLst>
                <a:gs pos="0">
                  <a:schemeClr val="accent3"/>
                </a:gs>
                <a:gs pos="50000">
                  <a:schemeClr val="bg1">
                    <a:lumMod val="75000"/>
                  </a:schemeClr>
                </a:gs>
                <a:gs pos="100000">
                  <a:schemeClr val="accent2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i="1" u="sng" dirty="0">
                <a:solidFill>
                  <a:schemeClr val="tx1"/>
                </a:solidFill>
              </a:rPr>
              <a:t>Exchange</a:t>
            </a:r>
            <a:r>
              <a:rPr lang="en-US" sz="3200" dirty="0">
                <a:solidFill>
                  <a:schemeClr val="tx1"/>
                </a:solidFill>
              </a:rPr>
              <a:t> GDP for GTP</a:t>
            </a:r>
          </a:p>
        </p:txBody>
      </p:sp>
      <p:sp>
        <p:nvSpPr>
          <p:cNvPr id="7" name="Arrow: Left 6">
            <a:extLst>
              <a:ext uri="{FF2B5EF4-FFF2-40B4-BE49-F238E27FC236}">
                <a16:creationId xmlns:a16="http://schemas.microsoft.com/office/drawing/2014/main" id="{93D7D05A-E5C0-45FF-A86F-7961603FC89F}"/>
              </a:ext>
            </a:extLst>
          </p:cNvPr>
          <p:cNvSpPr/>
          <p:nvPr/>
        </p:nvSpPr>
        <p:spPr>
          <a:xfrm>
            <a:off x="587243" y="5684520"/>
            <a:ext cx="4846320" cy="1097280"/>
          </a:xfrm>
          <a:prstGeom prst="leftArrow">
            <a:avLst/>
          </a:prstGeom>
          <a:gradFill>
            <a:gsLst>
              <a:gs pos="0">
                <a:schemeClr val="accent3"/>
              </a:gs>
              <a:gs pos="83000">
                <a:schemeClr val="accent2">
                  <a:lumMod val="20000"/>
                  <a:lumOff val="80000"/>
                </a:schemeClr>
              </a:gs>
              <a:gs pos="17000">
                <a:schemeClr val="accent3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2"/>
              </a:gs>
            </a:gsLst>
            <a:lin ang="0" scaled="1"/>
          </a:gradFill>
          <a:ln>
            <a:gradFill flip="none" rotWithShape="1">
              <a:gsLst>
                <a:gs pos="0">
                  <a:schemeClr val="accent3"/>
                </a:gs>
                <a:gs pos="50000">
                  <a:schemeClr val="bg1">
                    <a:lumMod val="75000"/>
                  </a:schemeClr>
                </a:gs>
                <a:gs pos="100000">
                  <a:schemeClr val="accent2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i="1" u="sng" dirty="0">
                <a:solidFill>
                  <a:schemeClr val="tx1"/>
                </a:solidFill>
              </a:rPr>
              <a:t>Hydrolyze</a:t>
            </a:r>
            <a:r>
              <a:rPr lang="en-US" sz="3200" dirty="0">
                <a:solidFill>
                  <a:schemeClr val="tx1"/>
                </a:solidFill>
              </a:rPr>
              <a:t> GTP into GDP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148BE535-E45D-4F6D-9D2D-20EA2D1A0DB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5269017"/>
              </p:ext>
            </p:extLst>
          </p:nvPr>
        </p:nvGraphicFramePr>
        <p:xfrm>
          <a:off x="304800" y="118872"/>
          <a:ext cx="5791200" cy="12588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AC107CC9-9A82-4EB7-8EC2-06309916CE9B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l="39877" t="50357" r="51311" b="44541"/>
          <a:stretch/>
        </p:blipFill>
        <p:spPr>
          <a:xfrm>
            <a:off x="10424160" y="3302365"/>
            <a:ext cx="514677" cy="304800"/>
          </a:xfrm>
          <a:prstGeom prst="rect">
            <a:avLst/>
          </a:prstGeom>
        </p:spPr>
      </p:pic>
      <p:sp>
        <p:nvSpPr>
          <p:cNvPr id="15" name="4R">
            <a:extLst>
              <a:ext uri="{FF2B5EF4-FFF2-40B4-BE49-F238E27FC236}">
                <a16:creationId xmlns:a16="http://schemas.microsoft.com/office/drawing/2014/main" id="{28B5A89E-F2E0-47D4-E446-368F1AE4B78C}"/>
              </a:ext>
            </a:extLst>
          </p:cNvPr>
          <p:cNvSpPr/>
          <p:nvPr/>
        </p:nvSpPr>
        <p:spPr>
          <a:xfrm>
            <a:off x="7467600" y="4724400"/>
            <a:ext cx="762000" cy="7620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4</a:t>
            </a:r>
            <a:endParaRPr lang="en-US" dirty="0"/>
          </a:p>
        </p:txBody>
      </p:sp>
      <p:sp>
        <p:nvSpPr>
          <p:cNvPr id="11" name="4L">
            <a:extLst>
              <a:ext uri="{FF2B5EF4-FFF2-40B4-BE49-F238E27FC236}">
                <a16:creationId xmlns:a16="http://schemas.microsoft.com/office/drawing/2014/main" id="{B68FE018-C8E4-6C49-08AC-9EDEE7A467E2}"/>
              </a:ext>
            </a:extLst>
          </p:cNvPr>
          <p:cNvSpPr/>
          <p:nvPr/>
        </p:nvSpPr>
        <p:spPr>
          <a:xfrm>
            <a:off x="2895600" y="5181600"/>
            <a:ext cx="762000" cy="7620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4</a:t>
            </a:r>
            <a:endParaRPr lang="en-US" dirty="0"/>
          </a:p>
        </p:txBody>
      </p:sp>
      <p:sp>
        <p:nvSpPr>
          <p:cNvPr id="14" name="3R">
            <a:extLst>
              <a:ext uri="{FF2B5EF4-FFF2-40B4-BE49-F238E27FC236}">
                <a16:creationId xmlns:a16="http://schemas.microsoft.com/office/drawing/2014/main" id="{A24D16FC-DBCB-F95F-7858-EFF4C824339B}"/>
              </a:ext>
            </a:extLst>
          </p:cNvPr>
          <p:cNvSpPr/>
          <p:nvPr/>
        </p:nvSpPr>
        <p:spPr>
          <a:xfrm>
            <a:off x="9906000" y="3810000"/>
            <a:ext cx="762000" cy="7620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3</a:t>
            </a:r>
            <a:endParaRPr lang="en-US" dirty="0"/>
          </a:p>
        </p:txBody>
      </p:sp>
      <p:sp>
        <p:nvSpPr>
          <p:cNvPr id="10" name="3L">
            <a:extLst>
              <a:ext uri="{FF2B5EF4-FFF2-40B4-BE49-F238E27FC236}">
                <a16:creationId xmlns:a16="http://schemas.microsoft.com/office/drawing/2014/main" id="{D0216A48-3CF4-20D2-993B-F4454FBB8366}"/>
              </a:ext>
            </a:extLst>
          </p:cNvPr>
          <p:cNvSpPr/>
          <p:nvPr/>
        </p:nvSpPr>
        <p:spPr>
          <a:xfrm>
            <a:off x="5562600" y="2514600"/>
            <a:ext cx="762000" cy="7620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3</a:t>
            </a:r>
            <a:endParaRPr lang="en-US" dirty="0"/>
          </a:p>
        </p:txBody>
      </p:sp>
      <p:sp>
        <p:nvSpPr>
          <p:cNvPr id="13" name="2R">
            <a:extLst>
              <a:ext uri="{FF2B5EF4-FFF2-40B4-BE49-F238E27FC236}">
                <a16:creationId xmlns:a16="http://schemas.microsoft.com/office/drawing/2014/main" id="{9E7CBA7D-4C65-6017-FDE6-270EA6B3E6A3}"/>
              </a:ext>
            </a:extLst>
          </p:cNvPr>
          <p:cNvSpPr/>
          <p:nvPr/>
        </p:nvSpPr>
        <p:spPr>
          <a:xfrm>
            <a:off x="8675230" y="2345616"/>
            <a:ext cx="762000" cy="7620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2</a:t>
            </a:r>
            <a:endParaRPr lang="en-US" dirty="0"/>
          </a:p>
        </p:txBody>
      </p:sp>
      <p:sp>
        <p:nvSpPr>
          <p:cNvPr id="9" name="2L">
            <a:extLst>
              <a:ext uri="{FF2B5EF4-FFF2-40B4-BE49-F238E27FC236}">
                <a16:creationId xmlns:a16="http://schemas.microsoft.com/office/drawing/2014/main" id="{82E76855-5F25-EDF2-DE36-18750FA989F9}"/>
              </a:ext>
            </a:extLst>
          </p:cNvPr>
          <p:cNvSpPr/>
          <p:nvPr/>
        </p:nvSpPr>
        <p:spPr>
          <a:xfrm>
            <a:off x="2895600" y="1143000"/>
            <a:ext cx="762000" cy="7620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2</a:t>
            </a:r>
            <a:endParaRPr lang="en-US" dirty="0"/>
          </a:p>
        </p:txBody>
      </p:sp>
      <p:sp>
        <p:nvSpPr>
          <p:cNvPr id="12" name="1R">
            <a:extLst>
              <a:ext uri="{FF2B5EF4-FFF2-40B4-BE49-F238E27FC236}">
                <a16:creationId xmlns:a16="http://schemas.microsoft.com/office/drawing/2014/main" id="{9DA846D9-CF8B-481E-FA57-9DB311F34F71}"/>
              </a:ext>
            </a:extLst>
          </p:cNvPr>
          <p:cNvSpPr/>
          <p:nvPr/>
        </p:nvSpPr>
        <p:spPr>
          <a:xfrm>
            <a:off x="7585887" y="1899621"/>
            <a:ext cx="762000" cy="7620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1</a:t>
            </a:r>
            <a:endParaRPr lang="en-US" dirty="0"/>
          </a:p>
        </p:txBody>
      </p:sp>
      <p:sp>
        <p:nvSpPr>
          <p:cNvPr id="4" name="1L">
            <a:extLst>
              <a:ext uri="{FF2B5EF4-FFF2-40B4-BE49-F238E27FC236}">
                <a16:creationId xmlns:a16="http://schemas.microsoft.com/office/drawing/2014/main" id="{07552D60-D6C9-B5E0-09F6-8A1BE49A2484}"/>
              </a:ext>
            </a:extLst>
          </p:cNvPr>
          <p:cNvSpPr/>
          <p:nvPr/>
        </p:nvSpPr>
        <p:spPr>
          <a:xfrm>
            <a:off x="0" y="2514600"/>
            <a:ext cx="762000" cy="7620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1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5" grpId="1" animBg="1"/>
      <p:bldP spid="11" grpId="0" animBg="1"/>
      <p:bldP spid="11" grpId="1" animBg="1"/>
      <p:bldP spid="14" grpId="0" animBg="1"/>
      <p:bldP spid="14" grpId="1" animBg="1"/>
      <p:bldP spid="10" grpId="0" animBg="1"/>
      <p:bldP spid="10" grpId="1" animBg="1"/>
      <p:bldP spid="13" grpId="0" animBg="1"/>
      <p:bldP spid="13" grpId="1" animBg="1"/>
      <p:bldP spid="9" grpId="0" animBg="1"/>
      <p:bldP spid="9" grpId="1" animBg="1"/>
      <p:bldP spid="12" grpId="0" animBg="1"/>
      <p:bldP spid="12" grpId="1" animBg="1"/>
      <p:bldP spid="4" grpId="0" animBg="1"/>
      <p:bldP spid="4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Neuroscience6e-Fig-07-05-2R.jpg">
            <a:extLst>
              <a:ext uri="{FF2B5EF4-FFF2-40B4-BE49-F238E27FC236}">
                <a16:creationId xmlns:a16="http://schemas.microsoft.com/office/drawing/2014/main" id="{63F195A5-C24A-4B3F-8513-D0F89744723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43" b="5443"/>
          <a:stretch/>
        </p:blipFill>
        <p:spPr>
          <a:xfrm>
            <a:off x="6096000" y="60232"/>
            <a:ext cx="5943600" cy="6737537"/>
          </a:xfrm>
          <a:prstGeom prst="rect">
            <a:avLst/>
          </a:prstGeom>
        </p:spPr>
      </p:pic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C52EAB2-1969-49D9-A62F-4B9BD76C2FD7}"/>
              </a:ext>
            </a:extLst>
          </p:cNvPr>
          <p:cNvSpPr/>
          <p:nvPr/>
        </p:nvSpPr>
        <p:spPr>
          <a:xfrm>
            <a:off x="304827" y="3437095"/>
            <a:ext cx="2743200" cy="798848"/>
          </a:xfrm>
          <a:custGeom>
            <a:avLst/>
            <a:gdLst>
              <a:gd name="connsiteX0" fmla="*/ 0 w 2706141"/>
              <a:gd name="connsiteY0" fmla="*/ 0 h 798848"/>
              <a:gd name="connsiteX1" fmla="*/ 2706141 w 2706141"/>
              <a:gd name="connsiteY1" fmla="*/ 0 h 798848"/>
              <a:gd name="connsiteX2" fmla="*/ 2706141 w 2706141"/>
              <a:gd name="connsiteY2" fmla="*/ 798848 h 798848"/>
              <a:gd name="connsiteX3" fmla="*/ 0 w 2706141"/>
              <a:gd name="connsiteY3" fmla="*/ 798848 h 798848"/>
              <a:gd name="connsiteX4" fmla="*/ 0 w 2706141"/>
              <a:gd name="connsiteY4" fmla="*/ 0 h 798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06141" h="798848">
                <a:moveTo>
                  <a:pt x="0" y="0"/>
                </a:moveTo>
                <a:lnTo>
                  <a:pt x="2706141" y="0"/>
                </a:lnTo>
                <a:lnTo>
                  <a:pt x="2706141" y="798848"/>
                </a:lnTo>
                <a:lnTo>
                  <a:pt x="0" y="79884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56032" tIns="146304" rIns="256032" bIns="146304" numCol="1" spcCol="1270" anchor="ctr" anchorCtr="0">
            <a:noAutofit/>
          </a:bodyPr>
          <a:lstStyle/>
          <a:p>
            <a:pPr marL="0" lvl="0" indent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600" b="1" kern="1200" dirty="0">
                <a:solidFill>
                  <a:schemeClr val="tx1"/>
                </a:solidFill>
              </a:rPr>
              <a:t>Inactive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66AB1E13-1ACF-406F-8870-E71E4D7E4F05}"/>
              </a:ext>
            </a:extLst>
          </p:cNvPr>
          <p:cNvSpPr/>
          <p:nvPr/>
        </p:nvSpPr>
        <p:spPr>
          <a:xfrm>
            <a:off x="304827" y="4235944"/>
            <a:ext cx="2743200" cy="922320"/>
          </a:xfrm>
          <a:custGeom>
            <a:avLst/>
            <a:gdLst>
              <a:gd name="connsiteX0" fmla="*/ 0 w 2706141"/>
              <a:gd name="connsiteY0" fmla="*/ 0 h 922320"/>
              <a:gd name="connsiteX1" fmla="*/ 2706141 w 2706141"/>
              <a:gd name="connsiteY1" fmla="*/ 0 h 922320"/>
              <a:gd name="connsiteX2" fmla="*/ 2706141 w 2706141"/>
              <a:gd name="connsiteY2" fmla="*/ 922320 h 922320"/>
              <a:gd name="connsiteX3" fmla="*/ 0 w 2706141"/>
              <a:gd name="connsiteY3" fmla="*/ 922320 h 922320"/>
              <a:gd name="connsiteX4" fmla="*/ 0 w 2706141"/>
              <a:gd name="connsiteY4" fmla="*/ 0 h 922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06141" h="922320">
                <a:moveTo>
                  <a:pt x="0" y="0"/>
                </a:moveTo>
                <a:lnTo>
                  <a:pt x="2706141" y="0"/>
                </a:lnTo>
                <a:lnTo>
                  <a:pt x="2706141" y="922320"/>
                </a:lnTo>
                <a:lnTo>
                  <a:pt x="0" y="92232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  <a:alpha val="90000"/>
            </a:schemeClr>
          </a:solidFill>
          <a:ln>
            <a:solidFill>
              <a:schemeClr val="accent3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70688" tIns="170688" rIns="227584" bIns="256032" numCol="1" spcCol="1270" anchor="t" anchorCtr="0">
            <a:noAutofit/>
          </a:bodyPr>
          <a:lstStyle/>
          <a:p>
            <a:pPr marL="285750" lvl="1" indent="-285750" algn="l" defTabSz="1422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3200" kern="1200" dirty="0">
                <a:solidFill>
                  <a:schemeClr val="tx1"/>
                </a:solidFill>
              </a:rPr>
              <a:t>GDP bound</a:t>
            </a: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D9CD97AD-1C14-4B47-BB10-81BEC2967E41}"/>
              </a:ext>
            </a:extLst>
          </p:cNvPr>
          <p:cNvSpPr/>
          <p:nvPr/>
        </p:nvSpPr>
        <p:spPr>
          <a:xfrm>
            <a:off x="3389829" y="3437095"/>
            <a:ext cx="2706141" cy="798848"/>
          </a:xfrm>
          <a:custGeom>
            <a:avLst/>
            <a:gdLst>
              <a:gd name="connsiteX0" fmla="*/ 0 w 2706141"/>
              <a:gd name="connsiteY0" fmla="*/ 0 h 798848"/>
              <a:gd name="connsiteX1" fmla="*/ 2706141 w 2706141"/>
              <a:gd name="connsiteY1" fmla="*/ 0 h 798848"/>
              <a:gd name="connsiteX2" fmla="*/ 2706141 w 2706141"/>
              <a:gd name="connsiteY2" fmla="*/ 798848 h 798848"/>
              <a:gd name="connsiteX3" fmla="*/ 0 w 2706141"/>
              <a:gd name="connsiteY3" fmla="*/ 798848 h 798848"/>
              <a:gd name="connsiteX4" fmla="*/ 0 w 2706141"/>
              <a:gd name="connsiteY4" fmla="*/ 0 h 798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06141" h="798848">
                <a:moveTo>
                  <a:pt x="0" y="0"/>
                </a:moveTo>
                <a:lnTo>
                  <a:pt x="2706141" y="0"/>
                </a:lnTo>
                <a:lnTo>
                  <a:pt x="2706141" y="798848"/>
                </a:lnTo>
                <a:lnTo>
                  <a:pt x="0" y="79884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56032" tIns="146304" rIns="256032" bIns="146304" numCol="1" spcCol="1270" anchor="ctr" anchorCtr="0">
            <a:noAutofit/>
          </a:bodyPr>
          <a:lstStyle/>
          <a:p>
            <a:pPr marL="0" lvl="0" indent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600" b="1" kern="1200" dirty="0">
                <a:solidFill>
                  <a:schemeClr val="tx1"/>
                </a:solidFill>
              </a:rPr>
              <a:t>Active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13F6230-A562-445B-B3EE-EB4F67CBC722}"/>
              </a:ext>
            </a:extLst>
          </p:cNvPr>
          <p:cNvSpPr/>
          <p:nvPr/>
        </p:nvSpPr>
        <p:spPr>
          <a:xfrm>
            <a:off x="3389829" y="4235944"/>
            <a:ext cx="2706141" cy="922320"/>
          </a:xfrm>
          <a:custGeom>
            <a:avLst/>
            <a:gdLst>
              <a:gd name="connsiteX0" fmla="*/ 0 w 2706141"/>
              <a:gd name="connsiteY0" fmla="*/ 0 h 922320"/>
              <a:gd name="connsiteX1" fmla="*/ 2706141 w 2706141"/>
              <a:gd name="connsiteY1" fmla="*/ 0 h 922320"/>
              <a:gd name="connsiteX2" fmla="*/ 2706141 w 2706141"/>
              <a:gd name="connsiteY2" fmla="*/ 922320 h 922320"/>
              <a:gd name="connsiteX3" fmla="*/ 0 w 2706141"/>
              <a:gd name="connsiteY3" fmla="*/ 922320 h 922320"/>
              <a:gd name="connsiteX4" fmla="*/ 0 w 2706141"/>
              <a:gd name="connsiteY4" fmla="*/ 0 h 922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06141" h="922320">
                <a:moveTo>
                  <a:pt x="0" y="0"/>
                </a:moveTo>
                <a:lnTo>
                  <a:pt x="2706141" y="0"/>
                </a:lnTo>
                <a:lnTo>
                  <a:pt x="2706141" y="922320"/>
                </a:lnTo>
                <a:lnTo>
                  <a:pt x="0" y="92232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  <a:alpha val="90000"/>
            </a:schemeClr>
          </a:solidFill>
          <a:ln>
            <a:solidFill>
              <a:schemeClr val="accent2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70688" tIns="170688" rIns="227584" bIns="256032" numCol="1" spcCol="1270" anchor="t" anchorCtr="0">
            <a:noAutofit/>
          </a:bodyPr>
          <a:lstStyle/>
          <a:p>
            <a:pPr marL="285750" lvl="1" indent="-285750" algn="l" defTabSz="142240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"/>
            </a:pPr>
            <a:r>
              <a:rPr lang="en-US" sz="3200" kern="1200" dirty="0">
                <a:solidFill>
                  <a:schemeClr val="tx1"/>
                </a:solidFill>
              </a:rPr>
              <a:t>GTP bound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8B16723F-48AC-4C83-9165-4DC7711CEE6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85439109"/>
              </p:ext>
            </p:extLst>
          </p:nvPr>
        </p:nvGraphicFramePr>
        <p:xfrm>
          <a:off x="304800" y="118872"/>
          <a:ext cx="5791200" cy="12588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" name="Arrow: Right 1">
            <a:extLst>
              <a:ext uri="{FF2B5EF4-FFF2-40B4-BE49-F238E27FC236}">
                <a16:creationId xmlns:a16="http://schemas.microsoft.com/office/drawing/2014/main" id="{DF7FC292-3068-447C-B2F0-64EBDCA34C63}"/>
              </a:ext>
            </a:extLst>
          </p:cNvPr>
          <p:cNvSpPr/>
          <p:nvPr/>
        </p:nvSpPr>
        <p:spPr>
          <a:xfrm>
            <a:off x="762000" y="2209800"/>
            <a:ext cx="4846320" cy="1097280"/>
          </a:xfrm>
          <a:prstGeom prst="rightArrow">
            <a:avLst/>
          </a:prstGeom>
          <a:gradFill flip="none" rotWithShape="1">
            <a:gsLst>
              <a:gs pos="83000">
                <a:schemeClr val="accent2">
                  <a:lumMod val="20000"/>
                  <a:lumOff val="80000"/>
                </a:schemeClr>
              </a:gs>
              <a:gs pos="17000">
                <a:schemeClr val="accent3">
                  <a:lumMod val="20000"/>
                  <a:lumOff val="80000"/>
                </a:schemeClr>
              </a:gs>
              <a:gs pos="0">
                <a:schemeClr val="accent3"/>
              </a:gs>
              <a:gs pos="50000">
                <a:schemeClr val="bg1"/>
              </a:gs>
              <a:gs pos="100000">
                <a:schemeClr val="accent2"/>
              </a:gs>
            </a:gsLst>
            <a:lin ang="0" scaled="1"/>
            <a:tileRect/>
          </a:gradFill>
          <a:ln>
            <a:gradFill flip="none" rotWithShape="1">
              <a:gsLst>
                <a:gs pos="0">
                  <a:schemeClr val="accent3"/>
                </a:gs>
                <a:gs pos="50000">
                  <a:schemeClr val="bg1">
                    <a:lumMod val="75000"/>
                  </a:schemeClr>
                </a:gs>
                <a:gs pos="100000">
                  <a:schemeClr val="accent2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i="1" u="sng" dirty="0">
                <a:solidFill>
                  <a:schemeClr val="tx1"/>
                </a:solidFill>
              </a:rPr>
              <a:t>Exchange</a:t>
            </a:r>
            <a:r>
              <a:rPr lang="en-US" sz="3200" dirty="0">
                <a:solidFill>
                  <a:schemeClr val="tx1"/>
                </a:solidFill>
              </a:rPr>
              <a:t> GDP for GTP</a:t>
            </a:r>
          </a:p>
        </p:txBody>
      </p:sp>
      <p:sp>
        <p:nvSpPr>
          <p:cNvPr id="7" name="Arrow: Left 6">
            <a:extLst>
              <a:ext uri="{FF2B5EF4-FFF2-40B4-BE49-F238E27FC236}">
                <a16:creationId xmlns:a16="http://schemas.microsoft.com/office/drawing/2014/main" id="{FA0A34B4-6407-4D7D-9764-13FA56260933}"/>
              </a:ext>
            </a:extLst>
          </p:cNvPr>
          <p:cNvSpPr/>
          <p:nvPr/>
        </p:nvSpPr>
        <p:spPr>
          <a:xfrm>
            <a:off x="762000" y="5297805"/>
            <a:ext cx="4846320" cy="1097280"/>
          </a:xfrm>
          <a:prstGeom prst="leftArrow">
            <a:avLst/>
          </a:prstGeom>
          <a:gradFill>
            <a:gsLst>
              <a:gs pos="0">
                <a:schemeClr val="accent3"/>
              </a:gs>
              <a:gs pos="83000">
                <a:schemeClr val="accent2">
                  <a:lumMod val="20000"/>
                  <a:lumOff val="80000"/>
                </a:schemeClr>
              </a:gs>
              <a:gs pos="17000">
                <a:schemeClr val="accent3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2"/>
              </a:gs>
            </a:gsLst>
            <a:lin ang="0" scaled="1"/>
          </a:gradFill>
          <a:ln>
            <a:gradFill flip="none" rotWithShape="1">
              <a:gsLst>
                <a:gs pos="0">
                  <a:schemeClr val="accent3"/>
                </a:gs>
                <a:gs pos="50000">
                  <a:schemeClr val="bg1">
                    <a:lumMod val="75000"/>
                  </a:schemeClr>
                </a:gs>
                <a:gs pos="100000">
                  <a:schemeClr val="accent2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i="1" u="sng" dirty="0">
                <a:solidFill>
                  <a:schemeClr val="tx1"/>
                </a:solidFill>
              </a:rPr>
              <a:t>Hydrolyze</a:t>
            </a:r>
            <a:r>
              <a:rPr lang="en-US" sz="3200" dirty="0">
                <a:solidFill>
                  <a:schemeClr val="tx1"/>
                </a:solidFill>
              </a:rPr>
              <a:t> GTP into GDP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B8C231F-7282-4574-8D32-B3EB4B569DE8}"/>
              </a:ext>
            </a:extLst>
          </p:cNvPr>
          <p:cNvSpPr/>
          <p:nvPr/>
        </p:nvSpPr>
        <p:spPr>
          <a:xfrm>
            <a:off x="26126" y="2965641"/>
            <a:ext cx="762000" cy="7620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1</a:t>
            </a:r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7ACEF78-5541-4CDF-91B4-DC0E5BCE3FFB}"/>
              </a:ext>
            </a:extLst>
          </p:cNvPr>
          <p:cNvSpPr/>
          <p:nvPr/>
        </p:nvSpPr>
        <p:spPr>
          <a:xfrm>
            <a:off x="2819400" y="1641379"/>
            <a:ext cx="762000" cy="7620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2</a:t>
            </a:r>
            <a:endParaRPr lang="en-US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1C98F50-9DCD-4324-9321-8DD6AE0F31E7}"/>
              </a:ext>
            </a:extLst>
          </p:cNvPr>
          <p:cNvSpPr/>
          <p:nvPr/>
        </p:nvSpPr>
        <p:spPr>
          <a:xfrm>
            <a:off x="5334000" y="2991803"/>
            <a:ext cx="762000" cy="7620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3</a:t>
            </a:r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C3EDEE7-7669-4109-935E-5C779A0B1CE9}"/>
              </a:ext>
            </a:extLst>
          </p:cNvPr>
          <p:cNvSpPr/>
          <p:nvPr/>
        </p:nvSpPr>
        <p:spPr>
          <a:xfrm>
            <a:off x="2819400" y="6096000"/>
            <a:ext cx="762000" cy="7620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4</a:t>
            </a:r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FE37C31-A4B4-44B7-8887-670699CA1078}"/>
              </a:ext>
            </a:extLst>
          </p:cNvPr>
          <p:cNvSpPr/>
          <p:nvPr/>
        </p:nvSpPr>
        <p:spPr>
          <a:xfrm>
            <a:off x="6583680" y="3916680"/>
            <a:ext cx="762000" cy="7620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1</a:t>
            </a:r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367E4D0-0E50-462B-8F30-CC8DF39CAA16}"/>
              </a:ext>
            </a:extLst>
          </p:cNvPr>
          <p:cNvSpPr/>
          <p:nvPr/>
        </p:nvSpPr>
        <p:spPr>
          <a:xfrm>
            <a:off x="8549640" y="4191000"/>
            <a:ext cx="762000" cy="7620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2</a:t>
            </a:r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D432F98-4C93-40C3-A778-0091843A499F}"/>
              </a:ext>
            </a:extLst>
          </p:cNvPr>
          <p:cNvSpPr/>
          <p:nvPr/>
        </p:nvSpPr>
        <p:spPr>
          <a:xfrm>
            <a:off x="11125200" y="4678680"/>
            <a:ext cx="762000" cy="7620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3</a:t>
            </a:r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D480426-114B-42D2-92B9-273287C85541}"/>
              </a:ext>
            </a:extLst>
          </p:cNvPr>
          <p:cNvSpPr/>
          <p:nvPr/>
        </p:nvSpPr>
        <p:spPr>
          <a:xfrm>
            <a:off x="9387840" y="5943600"/>
            <a:ext cx="762000" cy="762000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/>
              <a:t>4</a:t>
            </a:r>
            <a:endParaRPr lang="en-US" dirty="0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A13BDB54-E660-47A4-92D9-06C88C525F43}"/>
              </a:ext>
            </a:extLst>
          </p:cNvPr>
          <p:cNvSpPr/>
          <p:nvPr/>
        </p:nvSpPr>
        <p:spPr>
          <a:xfrm rot="10800000">
            <a:off x="7086600" y="3581400"/>
            <a:ext cx="3555274" cy="1584960"/>
          </a:xfrm>
          <a:prstGeom prst="triangle">
            <a:avLst>
              <a:gd name="adj" fmla="val 49859"/>
            </a:avLst>
          </a:prstGeom>
          <a:noFill/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33F72CDF-1127-4C5A-B01D-2E6FBB0562D8}"/>
              </a:ext>
            </a:extLst>
          </p:cNvPr>
          <p:cNvSpPr/>
          <p:nvPr/>
        </p:nvSpPr>
        <p:spPr>
          <a:xfrm rot="5400000">
            <a:off x="5843587" y="3932872"/>
            <a:ext cx="3088005" cy="1836420"/>
          </a:xfrm>
          <a:prstGeom prst="triangle">
            <a:avLst>
              <a:gd name="adj" fmla="val 50538"/>
            </a:avLst>
          </a:prstGeom>
          <a:noFill/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3743011A-9D72-44B5-8CB4-9CC4867CF9B3}"/>
              </a:ext>
            </a:extLst>
          </p:cNvPr>
          <p:cNvSpPr/>
          <p:nvPr/>
        </p:nvSpPr>
        <p:spPr>
          <a:xfrm rot="16200000">
            <a:off x="8558614" y="4173503"/>
            <a:ext cx="3240264" cy="1751855"/>
          </a:xfrm>
          <a:prstGeom prst="triangle">
            <a:avLst>
              <a:gd name="adj" fmla="val 50538"/>
            </a:avLst>
          </a:prstGeom>
          <a:noFill/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AE8FFF7C-700A-4D1A-9D91-DD1F9B3D2E07}"/>
              </a:ext>
            </a:extLst>
          </p:cNvPr>
          <p:cNvSpPr/>
          <p:nvPr/>
        </p:nvSpPr>
        <p:spPr>
          <a:xfrm>
            <a:off x="7010400" y="5166360"/>
            <a:ext cx="3893821" cy="1567306"/>
          </a:xfrm>
          <a:prstGeom prst="triangle">
            <a:avLst>
              <a:gd name="adj" fmla="val 50538"/>
            </a:avLst>
          </a:prstGeom>
          <a:noFill/>
          <a:ln w="2857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F5970-3FC9-29A0-EFEC-8FEDE8C0D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Effector Proteins Activated by G proteins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BAB674-0125-1293-8497-E607B00A48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017713"/>
            <a:ext cx="6096000" cy="4572000"/>
          </a:xfrm>
        </p:spPr>
        <p:txBody>
          <a:bodyPr/>
          <a:lstStyle/>
          <a:p>
            <a:r>
              <a:rPr lang="en-US" sz="2400" dirty="0"/>
              <a:t>Many effector proteins are enzymes that produce 2</a:t>
            </a:r>
            <a:r>
              <a:rPr lang="en-US" sz="2400" baseline="30000" dirty="0"/>
              <a:t>nd</a:t>
            </a:r>
            <a:r>
              <a:rPr lang="en-US" sz="2400" dirty="0"/>
              <a:t> messengers.</a:t>
            </a:r>
          </a:p>
          <a:p>
            <a:r>
              <a:rPr lang="en-US" sz="2400" dirty="0"/>
              <a:t>Different G protein subunits activate/inactivate different effectors.</a:t>
            </a:r>
          </a:p>
          <a:p>
            <a:r>
              <a:rPr lang="en-US" sz="2400" dirty="0"/>
              <a:t>Examples:</a:t>
            </a:r>
          </a:p>
          <a:p>
            <a:pPr lvl="1"/>
            <a:r>
              <a:rPr lang="en-US" sz="2400" b="1" kern="1200" dirty="0"/>
              <a:t>G</a:t>
            </a:r>
            <a:r>
              <a:rPr lang="en-US" sz="2400" b="1" kern="1200" baseline="-25000" dirty="0"/>
              <a:t>s </a:t>
            </a:r>
            <a:r>
              <a:rPr lang="en-US" sz="2400" b="1" kern="1200" dirty="0"/>
              <a:t>→ </a:t>
            </a:r>
            <a:r>
              <a:rPr lang="en-US" sz="2400" kern="1200" dirty="0"/>
              <a:t>stimulates adenylyl cyclase (AC)</a:t>
            </a:r>
          </a:p>
          <a:p>
            <a:pPr lvl="1"/>
            <a:r>
              <a:rPr lang="en-US" sz="2400" b="1" kern="1200" dirty="0"/>
              <a:t>G</a:t>
            </a:r>
            <a:r>
              <a:rPr lang="en-US" sz="2400" b="1" kern="1200" baseline="-25000" dirty="0"/>
              <a:t>i </a:t>
            </a:r>
            <a:r>
              <a:rPr lang="en-US" sz="2400" b="1" kern="1200" dirty="0"/>
              <a:t>→ </a:t>
            </a:r>
            <a:r>
              <a:rPr lang="en-US" sz="2400" kern="1200" dirty="0"/>
              <a:t>inhibits AC</a:t>
            </a:r>
          </a:p>
          <a:p>
            <a:pPr lvl="1"/>
            <a:r>
              <a:rPr lang="en-US" sz="2400" b="1" kern="1200" dirty="0" err="1"/>
              <a:t>G</a:t>
            </a:r>
            <a:r>
              <a:rPr lang="en-US" sz="2400" b="1" kern="1200" baseline="-25000" dirty="0" err="1"/>
              <a:t>q</a:t>
            </a:r>
            <a:r>
              <a:rPr lang="en-US" sz="2400" b="1" kern="1200" dirty="0"/>
              <a:t>→ </a:t>
            </a:r>
            <a:r>
              <a:rPr lang="en-US" sz="2400" kern="1200" dirty="0"/>
              <a:t>stimulates phospholipase C</a:t>
            </a:r>
          </a:p>
          <a:p>
            <a:pPr lvl="1"/>
            <a:endParaRPr lang="en-US" sz="2000" b="1" kern="1200" dirty="0">
              <a:latin typeface="Garamond" panose="02020404030301010803" pitchFamily="18" charset="0"/>
            </a:endParaRPr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D91A44-3DA4-DA66-8241-5311636713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9505" y="2017713"/>
            <a:ext cx="5377138" cy="3273836"/>
          </a:xfrm>
          <a:prstGeom prst="rect">
            <a:avLst/>
          </a:prstGeom>
        </p:spPr>
      </p:pic>
      <p:sp>
        <p:nvSpPr>
          <p:cNvPr id="6" name="Frame 5">
            <a:extLst>
              <a:ext uri="{FF2B5EF4-FFF2-40B4-BE49-F238E27FC236}">
                <a16:creationId xmlns:a16="http://schemas.microsoft.com/office/drawing/2014/main" id="{57A84443-65ED-6062-E689-A47CC117759B}"/>
              </a:ext>
            </a:extLst>
          </p:cNvPr>
          <p:cNvSpPr/>
          <p:nvPr/>
        </p:nvSpPr>
        <p:spPr>
          <a:xfrm>
            <a:off x="6753828" y="3273631"/>
            <a:ext cx="5402815" cy="341518"/>
          </a:xfrm>
          <a:prstGeom prst="frame">
            <a:avLst>
              <a:gd name="adj1" fmla="val 269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9936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53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0"/>
            <a:ext cx="11430000" cy="11430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Several chemicals can serve as 2</a:t>
            </a:r>
            <a:r>
              <a:rPr lang="en-US" baseline="30000" dirty="0">
                <a:solidFill>
                  <a:schemeClr val="tx1"/>
                </a:solidFill>
              </a:rPr>
              <a:t>nd</a:t>
            </a:r>
            <a:r>
              <a:rPr lang="en-US" dirty="0">
                <a:solidFill>
                  <a:schemeClr val="tx1"/>
                </a:solidFill>
              </a:rPr>
              <a:t> messengers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A9B093-7B08-6BCE-C078-861F77FB42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197100"/>
            <a:ext cx="5647694" cy="34417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53A196E-C235-4BE8-6160-D9A6EE056EA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667" r="31684" b="55556"/>
          <a:stretch>
            <a:fillRect/>
          </a:stretch>
        </p:blipFill>
        <p:spPr>
          <a:xfrm>
            <a:off x="381000" y="2133600"/>
            <a:ext cx="5997756" cy="4724400"/>
          </a:xfrm>
          <a:prstGeom prst="rect">
            <a:avLst/>
          </a:prstGeom>
        </p:spPr>
      </p:pic>
      <p:sp>
        <p:nvSpPr>
          <p:cNvPr id="10" name="Frame 9">
            <a:extLst>
              <a:ext uri="{FF2B5EF4-FFF2-40B4-BE49-F238E27FC236}">
                <a16:creationId xmlns:a16="http://schemas.microsoft.com/office/drawing/2014/main" id="{2134E738-7413-A707-9BED-9801C8524707}"/>
              </a:ext>
            </a:extLst>
          </p:cNvPr>
          <p:cNvSpPr/>
          <p:nvPr/>
        </p:nvSpPr>
        <p:spPr>
          <a:xfrm>
            <a:off x="6400800" y="3917950"/>
            <a:ext cx="5647694" cy="501650"/>
          </a:xfrm>
          <a:prstGeom prst="frame">
            <a:avLst>
              <a:gd name="adj1" fmla="val 2695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384048"/>
            <a:ext cx="10238741" cy="1371600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tx1"/>
                </a:solidFill>
              </a:rPr>
              <a:t>cAMP and cGMP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557DB5-9626-4A6C-99F6-0131B253A2D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000"/>
          <a:stretch/>
        </p:blipFill>
        <p:spPr>
          <a:xfrm>
            <a:off x="3886200" y="1969560"/>
            <a:ext cx="8305800" cy="4888440"/>
          </a:xfrm>
          <a:prstGeom prst="rect">
            <a:avLst/>
          </a:prstGeo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39F1EDD-ACC9-D796-F617-90597F1B75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2017712"/>
            <a:ext cx="3505200" cy="4840287"/>
          </a:xfrm>
        </p:spPr>
        <p:txBody>
          <a:bodyPr/>
          <a:lstStyle/>
          <a:p>
            <a:pPr lvl="0"/>
            <a:r>
              <a:rPr lang="en-US" sz="2400" dirty="0"/>
              <a:t>cAMP activates PKA</a:t>
            </a:r>
          </a:p>
          <a:p>
            <a:pPr lvl="0"/>
            <a:r>
              <a:rPr lang="en-US" sz="2400" dirty="0"/>
              <a:t>cGMP activates PKG</a:t>
            </a:r>
          </a:p>
          <a:p>
            <a:pPr lvl="0"/>
            <a:endParaRPr lang="en-US" sz="2400" dirty="0"/>
          </a:p>
          <a:p>
            <a:r>
              <a:rPr lang="en-US" sz="2400" i="1" dirty="0" err="1"/>
              <a:t>Phosphodiesterases</a:t>
            </a:r>
            <a:r>
              <a:rPr lang="en-US" sz="2400" i="1" dirty="0"/>
              <a:t> </a:t>
            </a:r>
            <a:r>
              <a:rPr lang="en-US" sz="2400" dirty="0"/>
              <a:t>cleave cAMP to AMP and cGMP to GMP to stop signal transduction</a:t>
            </a:r>
          </a:p>
          <a:p>
            <a:endParaRPr lang="en-US" sz="2400" dirty="0"/>
          </a:p>
          <a:p>
            <a:pPr lvl="2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500102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26" name="Rectangle 2"/>
          <p:cNvSpPr>
            <a:spLocks noGrp="1" noChangeArrowheads="1"/>
          </p:cNvSpPr>
          <p:nvPr>
            <p:ph type="title"/>
          </p:nvPr>
        </p:nvSpPr>
        <p:spPr>
          <a:xfrm>
            <a:off x="2426759" y="228600"/>
            <a:ext cx="7338482" cy="1371600"/>
          </a:xfrm>
        </p:spPr>
        <p:txBody>
          <a:bodyPr/>
          <a:lstStyle/>
          <a:p>
            <a:pPr algn="ctr"/>
            <a:r>
              <a:rPr lang="en-US" sz="4800" dirty="0">
                <a:solidFill>
                  <a:schemeClr val="accent4">
                    <a:lumMod val="50000"/>
                  </a:schemeClr>
                </a:solidFill>
              </a:rPr>
              <a:t>IP3 and DAG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FD34E0-45E1-4259-B77A-B022BA22C0D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90"/>
          <a:stretch/>
        </p:blipFill>
        <p:spPr>
          <a:xfrm>
            <a:off x="3786718" y="2050489"/>
            <a:ext cx="8405282" cy="4807511"/>
          </a:xfrm>
          <a:prstGeom prst="rect">
            <a:avLst/>
          </a:prstGeo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EAD5EC3-E774-BB7D-2EAC-A77F94C662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333" y="2017713"/>
            <a:ext cx="3716867" cy="4572000"/>
          </a:xfrm>
        </p:spPr>
        <p:txBody>
          <a:bodyPr/>
          <a:lstStyle/>
          <a:p>
            <a:r>
              <a:rPr lang="en-US" sz="2800" dirty="0"/>
              <a:t>IP3 releases Ca</a:t>
            </a:r>
            <a:r>
              <a:rPr lang="en-US" sz="2800" baseline="30000" dirty="0"/>
              <a:t>2+</a:t>
            </a:r>
            <a:r>
              <a:rPr lang="en-US" sz="2800" dirty="0"/>
              <a:t> from intracellular stores</a:t>
            </a:r>
          </a:p>
          <a:p>
            <a:pPr lvl="1"/>
            <a:r>
              <a:rPr lang="en-US" sz="2800" dirty="0"/>
              <a:t>Inactivated by phosphatases</a:t>
            </a:r>
          </a:p>
          <a:p>
            <a:r>
              <a:rPr lang="en-US" sz="2800" dirty="0"/>
              <a:t>DAG activates protein kinase C (PKC)</a:t>
            </a:r>
          </a:p>
          <a:p>
            <a:pPr lvl="1"/>
            <a:r>
              <a:rPr lang="en-US" sz="2800" dirty="0"/>
              <a:t>Inactivated by several enzymes</a:t>
            </a:r>
          </a:p>
          <a:p>
            <a:pPr lvl="0"/>
            <a:endParaRPr lang="en-US" sz="2800" dirty="0"/>
          </a:p>
          <a:p>
            <a:endParaRPr lang="en-US" sz="3200" dirty="0"/>
          </a:p>
          <a:p>
            <a:pPr lvl="2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4466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853EC-EFE3-30E2-6BD8-7385D3069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C598A294-1D9C-D8F7-1A86-55284836AC49}"/>
              </a:ext>
            </a:extLst>
          </p:cNvPr>
          <p:cNvSpPr txBox="1">
            <a:spLocks noChangeArrowheads="1"/>
          </p:cNvSpPr>
          <p:nvPr/>
        </p:nvSpPr>
        <p:spPr>
          <a:xfrm>
            <a:off x="2019300" y="133597"/>
            <a:ext cx="8153400" cy="1600200"/>
          </a:xfrm>
          <a:prstGeom prst="rect">
            <a:avLst/>
          </a:prstGeom>
        </p:spPr>
        <p:txBody>
          <a:bodyPr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9pPr>
          </a:lstStyle>
          <a:p>
            <a:pPr algn="ctr"/>
            <a:r>
              <a:rPr lang="en-US" sz="4800" kern="0" dirty="0">
                <a:solidFill>
                  <a:schemeClr val="tx1"/>
                </a:solidFill>
              </a:rPr>
              <a:t>Calcium is the Most Common 2</a:t>
            </a:r>
            <a:r>
              <a:rPr lang="en-US" sz="4800" kern="0" baseline="30000" dirty="0">
                <a:solidFill>
                  <a:schemeClr val="tx1"/>
                </a:solidFill>
              </a:rPr>
              <a:t>nd</a:t>
            </a:r>
            <a:r>
              <a:rPr lang="en-US" sz="4800" kern="0" dirty="0">
                <a:solidFill>
                  <a:schemeClr val="tx1"/>
                </a:solidFill>
              </a:rPr>
              <a:t> Messenger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6DA34B0-3A8D-86B1-6379-7C259F62EBD6}"/>
              </a:ext>
            </a:extLst>
          </p:cNvPr>
          <p:cNvSpPr txBox="1">
            <a:spLocks/>
          </p:cNvSpPr>
          <p:nvPr/>
        </p:nvSpPr>
        <p:spPr>
          <a:xfrm>
            <a:off x="1066800" y="2260600"/>
            <a:ext cx="6845300" cy="4572000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n"/>
              <a:defRPr sz="3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800" kern="0" dirty="0"/>
              <a:t>Common targets:</a:t>
            </a:r>
          </a:p>
          <a:p>
            <a:pPr lvl="1"/>
            <a:r>
              <a:rPr lang="en-US" sz="2800" kern="0" dirty="0"/>
              <a:t>Calmodulin</a:t>
            </a:r>
          </a:p>
          <a:p>
            <a:pPr lvl="1"/>
            <a:r>
              <a:rPr lang="en-US" sz="2800" kern="0" dirty="0"/>
              <a:t>Various protein kinases and phosphatases</a:t>
            </a:r>
          </a:p>
          <a:p>
            <a:pPr lvl="1"/>
            <a:r>
              <a:rPr lang="en-US" sz="2800" kern="0" dirty="0"/>
              <a:t>Ion channels</a:t>
            </a:r>
          </a:p>
          <a:p>
            <a:pPr lvl="1"/>
            <a:r>
              <a:rPr lang="en-US" sz="2800" kern="0" dirty="0" err="1"/>
              <a:t>Synaptotagmin</a:t>
            </a:r>
            <a:endParaRPr lang="en-US" sz="2800" kern="0" dirty="0"/>
          </a:p>
          <a:p>
            <a:endParaRPr lang="en-US" sz="3200" kern="0" dirty="0"/>
          </a:p>
          <a:p>
            <a:pPr lvl="2"/>
            <a:endParaRPr lang="en-US" sz="2400" kern="0" dirty="0"/>
          </a:p>
        </p:txBody>
      </p:sp>
      <p:pic>
        <p:nvPicPr>
          <p:cNvPr id="16" name="Picture 15" descr="A hand holding a cookie over a glass of milk&#10;&#10;AI-generated content may be incorrect.">
            <a:extLst>
              <a:ext uri="{FF2B5EF4-FFF2-40B4-BE49-F238E27FC236}">
                <a16:creationId xmlns:a16="http://schemas.microsoft.com/office/drawing/2014/main" id="{DE564040-2799-77AF-88A2-B22D468CF1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7912100" y="1888301"/>
            <a:ext cx="3213100" cy="4817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950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8DCBB3-B120-A141-3377-028FD3AA4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11DB9F46-8BFE-63F1-BA6D-7CCF31E49A3D}"/>
              </a:ext>
            </a:extLst>
          </p:cNvPr>
          <p:cNvSpPr txBox="1">
            <a:spLocks noChangeArrowheads="1"/>
          </p:cNvSpPr>
          <p:nvPr/>
        </p:nvSpPr>
        <p:spPr>
          <a:xfrm>
            <a:off x="685799" y="381000"/>
            <a:ext cx="7167446" cy="990600"/>
          </a:xfrm>
          <a:prstGeom prst="rect">
            <a:avLst/>
          </a:prstGeom>
        </p:spPr>
        <p:txBody>
          <a:bodyPr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itchFamily="34" charset="0"/>
              </a:defRPr>
            </a:lvl9pPr>
          </a:lstStyle>
          <a:p>
            <a:pPr algn="ctr"/>
            <a:r>
              <a:rPr lang="en-US" sz="4800" kern="0" dirty="0">
                <a:solidFill>
                  <a:schemeClr val="tx1"/>
                </a:solidFill>
              </a:rPr>
              <a:t>Calcium Regulation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CC9416B-2F00-3C99-F10B-0B9A7384AED7}"/>
              </a:ext>
            </a:extLst>
          </p:cNvPr>
          <p:cNvSpPr txBox="1">
            <a:spLocks/>
          </p:cNvSpPr>
          <p:nvPr/>
        </p:nvSpPr>
        <p:spPr>
          <a:xfrm>
            <a:off x="685799" y="2004349"/>
            <a:ext cx="6481647" cy="4572000"/>
          </a:xfrm>
          <a:prstGeom prst="rect">
            <a:avLst/>
          </a:prstGeom>
        </p:spPr>
        <p:txBody>
          <a:bodyPr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60000"/>
              <a:buFont typeface="Wingdings" pitchFamily="2" charset="2"/>
              <a:buChar char="n"/>
              <a:defRPr sz="3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sz="2800" kern="0" dirty="0"/>
              <a:t>Increasing intracellular levels of Ca</a:t>
            </a:r>
            <a:r>
              <a:rPr lang="en-US" sz="2800" kern="0" baseline="30000" dirty="0"/>
              <a:t>2+</a:t>
            </a:r>
          </a:p>
          <a:p>
            <a:pPr lvl="1"/>
            <a:r>
              <a:rPr lang="en-US" sz="2400" dirty="0"/>
              <a:t>V-gated Ca</a:t>
            </a:r>
            <a:r>
              <a:rPr lang="en-US" sz="2400" baseline="30000" dirty="0"/>
              <a:t>2+</a:t>
            </a:r>
            <a:r>
              <a:rPr lang="en-US" sz="2400" dirty="0"/>
              <a:t> channels</a:t>
            </a:r>
          </a:p>
          <a:p>
            <a:pPr lvl="1"/>
            <a:r>
              <a:rPr lang="en-US" sz="2400" dirty="0"/>
              <a:t>ligand-gated Ca</a:t>
            </a:r>
            <a:r>
              <a:rPr lang="en-US" sz="2400" baseline="30000" dirty="0"/>
              <a:t>2+</a:t>
            </a:r>
            <a:r>
              <a:rPr lang="en-US" sz="2400" dirty="0"/>
              <a:t> channels</a:t>
            </a:r>
          </a:p>
          <a:p>
            <a:pPr lvl="1"/>
            <a:r>
              <a:rPr lang="en-US" sz="2400" dirty="0"/>
              <a:t>Release from intracellular stores</a:t>
            </a:r>
          </a:p>
          <a:p>
            <a:pPr marL="457200" lvl="1" indent="0">
              <a:buNone/>
            </a:pPr>
            <a:endParaRPr lang="en-US" sz="2400" dirty="0"/>
          </a:p>
          <a:p>
            <a:r>
              <a:rPr lang="en-US" sz="2800" dirty="0"/>
              <a:t>Decreasing intracellular levels of </a:t>
            </a:r>
            <a:r>
              <a:rPr lang="en-US" sz="2800" kern="0" dirty="0"/>
              <a:t>Ca</a:t>
            </a:r>
            <a:r>
              <a:rPr lang="en-US" sz="2800" kern="0" baseline="30000" dirty="0"/>
              <a:t>2+</a:t>
            </a:r>
          </a:p>
          <a:p>
            <a:pPr lvl="1"/>
            <a:r>
              <a:rPr lang="en-US" sz="2400" dirty="0"/>
              <a:t>Na</a:t>
            </a:r>
            <a:r>
              <a:rPr lang="en-US" sz="2400" baseline="30000" dirty="0"/>
              <a:t>+</a:t>
            </a:r>
            <a:r>
              <a:rPr lang="en-US" sz="2400" dirty="0"/>
              <a:t>/Ca</a:t>
            </a:r>
            <a:r>
              <a:rPr lang="en-US" sz="2400" baseline="30000" dirty="0"/>
              <a:t>2+</a:t>
            </a:r>
            <a:r>
              <a:rPr lang="en-US" sz="2400" dirty="0"/>
              <a:t> exchanger</a:t>
            </a:r>
          </a:p>
          <a:p>
            <a:pPr lvl="1"/>
            <a:r>
              <a:rPr lang="en-US" sz="2400" dirty="0"/>
              <a:t>Ca</a:t>
            </a:r>
            <a:r>
              <a:rPr lang="en-US" sz="2400" baseline="30000" dirty="0"/>
              <a:t>2+</a:t>
            </a:r>
            <a:r>
              <a:rPr lang="en-US" sz="2400" dirty="0"/>
              <a:t> pumps</a:t>
            </a:r>
          </a:p>
          <a:p>
            <a:pPr lvl="1"/>
            <a:r>
              <a:rPr lang="en-US" sz="2400" dirty="0"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</a:rPr>
              <a:t>calbindin</a:t>
            </a:r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pPr lvl="1"/>
            <a:endParaRPr lang="en-US" sz="2400" dirty="0"/>
          </a:p>
          <a:p>
            <a:pPr lvl="1"/>
            <a:endParaRPr lang="en-US" sz="2400" kern="0" dirty="0"/>
          </a:p>
          <a:p>
            <a:endParaRPr lang="en-US" sz="3200" kern="0" dirty="0"/>
          </a:p>
          <a:p>
            <a:pPr lvl="2"/>
            <a:endParaRPr lang="en-US" sz="2400" kern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9D187B-17C5-5440-879A-B6A040588B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0147" y="152400"/>
            <a:ext cx="4999153" cy="6675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847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3B15E-DEAD-6C4C-BDCE-ADE393503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1BF60C-039E-5DDA-4788-AB7DFF5F90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399" y="2017713"/>
            <a:ext cx="11381741" cy="4572000"/>
          </a:xfrm>
        </p:spPr>
        <p:txBody>
          <a:bodyPr/>
          <a:lstStyle/>
          <a:p>
            <a:r>
              <a:rPr lang="en-US" sz="2400" dirty="0"/>
              <a:t>4 receptor types result in 4 different modes of signal transduction</a:t>
            </a:r>
          </a:p>
          <a:p>
            <a:r>
              <a:rPr lang="en-US" sz="2400" dirty="0"/>
              <a:t>Intracellular signaling cascades allow for signal amplification</a:t>
            </a:r>
          </a:p>
          <a:p>
            <a:r>
              <a:rPr lang="en-US" sz="2400" dirty="0"/>
              <a:t>G protein coupled receptors activate by exchanging GDP for GTP. They are inactivated by hydrolyzing GTP back into GDP</a:t>
            </a:r>
          </a:p>
          <a:p>
            <a:r>
              <a:rPr lang="en-US" sz="2400" dirty="0"/>
              <a:t>Activated g proteins can activate or inactivate different effector proteins</a:t>
            </a:r>
          </a:p>
          <a:p>
            <a:r>
              <a:rPr lang="en-US" sz="2400" dirty="0"/>
              <a:t>Effector proteins produce 2</a:t>
            </a:r>
            <a:r>
              <a:rPr lang="en-US" sz="2400" baseline="30000" dirty="0"/>
              <a:t>nd</a:t>
            </a:r>
            <a:r>
              <a:rPr lang="en-US" sz="2400" dirty="0"/>
              <a:t> messengers</a:t>
            </a:r>
          </a:p>
          <a:p>
            <a:r>
              <a:rPr lang="en-US" sz="2400" dirty="0"/>
              <a:t>2</a:t>
            </a:r>
            <a:r>
              <a:rPr lang="en-US" sz="2400" baseline="30000" dirty="0"/>
              <a:t>nd</a:t>
            </a:r>
            <a:r>
              <a:rPr lang="en-US" sz="2400" dirty="0"/>
              <a:t> messengers mostly activate kinases or phosphatases</a:t>
            </a:r>
          </a:p>
          <a:p>
            <a:r>
              <a:rPr lang="en-US" sz="2400" dirty="0"/>
              <a:t>Calcium is the most common 2</a:t>
            </a:r>
            <a:r>
              <a:rPr lang="en-US" sz="2400" baseline="30000" dirty="0"/>
              <a:t>nd</a:t>
            </a:r>
            <a:r>
              <a:rPr lang="en-US" sz="2400" dirty="0"/>
              <a:t> messenger and impacts various important cellular functions.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1269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NOTES_FOOTER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IW_NOTES_FOOTER" val="1"/>
</p:tagLst>
</file>

<file path=ppt/theme/theme1.xml><?xml version="1.0" encoding="utf-8"?>
<a:theme xmlns:a="http://schemas.openxmlformats.org/drawingml/2006/main" name="Blends">
  <a:themeElements>
    <a:clrScheme name="Custom 1">
      <a:dk1>
        <a:sysClr val="windowText" lastClr="000000"/>
      </a:dk1>
      <a:lt1>
        <a:sysClr val="window" lastClr="FFFFFF"/>
      </a:lt1>
      <a:dk2>
        <a:srgbClr val="154734"/>
      </a:dk2>
      <a:lt2>
        <a:srgbClr val="FFB81C"/>
      </a:lt2>
      <a:accent1>
        <a:srgbClr val="3F693C"/>
      </a:accent1>
      <a:accent2>
        <a:srgbClr val="D19E12"/>
      </a:accent2>
      <a:accent3>
        <a:srgbClr val="9E3223"/>
      </a:accent3>
      <a:accent4>
        <a:srgbClr val="1B5A7D"/>
      </a:accent4>
      <a:accent5>
        <a:srgbClr val="DDDBD3"/>
      </a:accent5>
      <a:accent6>
        <a:srgbClr val="653A2B"/>
      </a:accent6>
      <a:hlink>
        <a:srgbClr val="0070C0"/>
      </a:hlink>
      <a:folHlink>
        <a:srgbClr val="3F693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Figure-Only Templat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xford Template 2020-05-05" id="{B78F6A64-C076-4E15-90E5-9A59F0E29698}" vid="{18DFF3BF-7F46-4B14-BD35-A03A29764567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1829</TotalTime>
  <Words>540</Words>
  <Application>Microsoft Office PowerPoint</Application>
  <PresentationFormat>Widescreen</PresentationFormat>
  <Paragraphs>134</Paragraphs>
  <Slides>18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Calibri</vt:lpstr>
      <vt:lpstr>Garamond</vt:lpstr>
      <vt:lpstr>Helvetica Neue</vt:lpstr>
      <vt:lpstr>Tahoma</vt:lpstr>
      <vt:lpstr>Times New Roman</vt:lpstr>
      <vt:lpstr>Wingdings</vt:lpstr>
      <vt:lpstr>Blends</vt:lpstr>
      <vt:lpstr>Figure-Only Templates</vt:lpstr>
      <vt:lpstr>Molecular Signaling Within Cells</vt:lpstr>
      <vt:lpstr>Learning Objectives</vt:lpstr>
      <vt:lpstr>Signal Transduction</vt:lpstr>
      <vt:lpstr>4 Classes of Signal Transduction</vt:lpstr>
      <vt:lpstr>Signaling Cascades</vt:lpstr>
      <vt:lpstr>Cascades Allow for Signal Amplification</vt:lpstr>
      <vt:lpstr>Signal transduction pathways can alter gene transcription through many mechanisms</vt:lpstr>
      <vt:lpstr>G protein Coupled Receptor Signaling Cascades</vt:lpstr>
      <vt:lpstr>2 classes of G protein coupled receptors</vt:lpstr>
      <vt:lpstr>PowerPoint Presentation</vt:lpstr>
      <vt:lpstr>PowerPoint Presentation</vt:lpstr>
      <vt:lpstr>Effector Proteins Activated by G proteins</vt:lpstr>
      <vt:lpstr>Several chemicals can serve as 2nd messengers</vt:lpstr>
      <vt:lpstr>cAMP and cGMP</vt:lpstr>
      <vt:lpstr>IP3 and DAG </vt:lpstr>
      <vt:lpstr>PowerPoint Presentation</vt:lpstr>
      <vt:lpstr>PowerPoint Presentation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Keele, Brad</dc:creator>
  <cp:lastModifiedBy>Phillips, Nicole</cp:lastModifiedBy>
  <cp:revision>89</cp:revision>
  <cp:lastPrinted>2021-10-11T16:10:15Z</cp:lastPrinted>
  <dcterms:created xsi:type="dcterms:W3CDTF">2019-09-24T20:57:11Z</dcterms:created>
  <dcterms:modified xsi:type="dcterms:W3CDTF">2026-02-20T02:43:50Z</dcterms:modified>
</cp:coreProperties>
</file>