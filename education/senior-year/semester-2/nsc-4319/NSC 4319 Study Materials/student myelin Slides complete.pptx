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8" r:id="rId2"/>
  </p:sldMasterIdLst>
  <p:notesMasterIdLst>
    <p:notesMasterId r:id="rId15"/>
  </p:notesMasterIdLst>
  <p:sldIdLst>
    <p:sldId id="646" r:id="rId3"/>
    <p:sldId id="654" r:id="rId4"/>
    <p:sldId id="362" r:id="rId5"/>
    <p:sldId id="269" r:id="rId6"/>
    <p:sldId id="367" r:id="rId7"/>
    <p:sldId id="365" r:id="rId8"/>
    <p:sldId id="382" r:id="rId9"/>
    <p:sldId id="327" r:id="rId10"/>
    <p:sldId id="333" r:id="rId11"/>
    <p:sldId id="658" r:id="rId12"/>
    <p:sldId id="271" r:id="rId13"/>
    <p:sldId id="274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lora, Kristin" initials="FK" lastIdx="2" clrIdx="0">
    <p:extLst>
      <p:ext uri="{19B8F6BF-5375-455C-9EA6-DF929625EA0E}">
        <p15:presenceInfo xmlns:p15="http://schemas.microsoft.com/office/powerpoint/2012/main" userId="S-1-5-21-2114926708-1884511829-1243820751-37399" providerId="AD"/>
      </p:ext>
    </p:extLst>
  </p:cmAuthor>
  <p:cmAuthor id="2" name="Bridget Leahy" initials="BL" lastIdx="2" clrIdx="1"/>
  <p:cmAuthor id="3" name="Deborah Licht" initials="DL" lastIdx="3" clrIdx="2">
    <p:extLst>
      <p:ext uri="{19B8F6BF-5375-455C-9EA6-DF929625EA0E}">
        <p15:presenceInfo xmlns:p15="http://schemas.microsoft.com/office/powerpoint/2012/main" userId="053266d661a4cdd3" providerId="Windows Live"/>
      </p:ext>
    </p:extLst>
  </p:cmAuthor>
  <p:cmAuthor id="4" name="Kimberly Welsh" initials="KW" lastIdx="5" clrIdx="3">
    <p:extLst>
      <p:ext uri="{19B8F6BF-5375-455C-9EA6-DF929625EA0E}">
        <p15:presenceInfo xmlns:p15="http://schemas.microsoft.com/office/powerpoint/2012/main" userId="425587efef6a84e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7A6"/>
    <a:srgbClr val="7A00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556" autoAdjust="0"/>
    <p:restoredTop sz="74644" autoAdjust="0"/>
  </p:normalViewPr>
  <p:slideViewPr>
    <p:cSldViewPr snapToGrid="0">
      <p:cViewPr varScale="1">
        <p:scale>
          <a:sx n="47" d="100"/>
          <a:sy n="47" d="100"/>
        </p:scale>
        <p:origin x="1052" y="4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DF49AF-1DB5-45F8-B433-D26172C6A7F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AE3CD2-4973-470A-BC59-11DBA87FC2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96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69B35-83A1-0BC8-5CB1-AE6097B42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9A0765-B7E7-B6DB-643B-DE75344CE0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4C70D6-9FE3-62BD-F33B-606F4C1AB8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951D00-9C4B-C566-302A-39E54C726B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E3CD2-4973-470A-BC59-11DBA87FC2D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7628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64836-5ACF-7B06-F4E3-630594172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513091-6A7D-BF78-2AD2-77D64A35ED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8FDE12-C37B-DC7A-BDB5-D06161F706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FCA64D-6FAF-8C5D-007A-0D609B8049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E3CD2-4973-470A-BC59-11DBA87FC2D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6931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1C5BA6-3F2C-43D4-8E4E-933915FB5F7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8105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E3CD2-4973-470A-BC59-11DBA87FC2D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6813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E3CD2-4973-470A-BC59-11DBA87FC2D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6215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E3CD2-4973-470A-BC59-11DBA87FC2D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1331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E5F915-560F-4B82-ABB4-161B81F34C1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2999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E5F915-560F-4B82-ABB4-161B81F34C1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8948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E5F915-560F-4B82-ABB4-161B81F34C1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2364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E3CD2-4973-470A-BC59-11DBA87FC2D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4757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E3CD2-4973-470A-BC59-11DBA87FC2D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4269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AE3CD2-4973-470A-BC59-11DBA87FC2D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6414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2150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508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8404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4867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6262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1329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8026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9798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81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4074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1610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822097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33177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85833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75151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7900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7691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EBA9F0-0E6C-4CB1-96BC-E8E635A597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8188" y="1147313"/>
            <a:ext cx="5486401" cy="5029650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147DFC-76D6-40C0-86AE-F46890B7FF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7409" y="1147313"/>
            <a:ext cx="5486401" cy="502965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F839DD-B76D-4DF7-9662-F90BFD46E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A24B1-7657-4621-BE31-95973278DD3B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70F139-29DD-4FA5-8FC7-4E35BE757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EA4B6A-1DD2-4235-A28A-E368698AB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A15C3-8C79-46A8-8447-0164942E2C3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03ADD3E-B91C-4351-89DB-1E304D3EE44E}"/>
              </a:ext>
            </a:extLst>
          </p:cNvPr>
          <p:cNvSpPr txBox="1">
            <a:spLocks/>
          </p:cNvSpPr>
          <p:nvPr userDrawn="1"/>
        </p:nvSpPr>
        <p:spPr>
          <a:xfrm>
            <a:off x="388188" y="135890"/>
            <a:ext cx="11197087" cy="138051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9060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136579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  <p:sldLayoutId id="2147483704" r:id="rId16"/>
    <p:sldLayoutId id="2147483705" r:id="rId17"/>
    <p:sldLayoutId id="2147483706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3A33B-4EFB-3F8F-25E3-C5525C1DF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3C29C-52B3-7414-D73C-D8BE92E6B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0753" y="2623670"/>
            <a:ext cx="9550494" cy="2031457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Part 2: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long distance signaling and myelin</a:t>
            </a:r>
          </a:p>
        </p:txBody>
      </p:sp>
    </p:spTree>
    <p:extLst>
      <p:ext uri="{BB962C8B-B14F-4D97-AF65-F5344CB8AC3E}">
        <p14:creationId xmlns:p14="http://schemas.microsoft.com/office/powerpoint/2010/main" val="21671482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A5C97-6563-2C34-D97F-B45A2F368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15668-B266-AE4D-12DC-0F0174F46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8616" y="460706"/>
            <a:ext cx="9905998" cy="777145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Movement of the action potential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CB2C64-456D-D41E-2DEE-330FDB7CF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495508"/>
            <a:ext cx="4509579" cy="5362492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Action potentials typically move away from the cell body, towards the axon terminals.</a:t>
            </a:r>
          </a:p>
          <a:p>
            <a:pPr lvl="1"/>
            <a:r>
              <a:rPr lang="en-US" sz="2800" dirty="0">
                <a:solidFill>
                  <a:schemeClr val="bg1"/>
                </a:solidFill>
              </a:rPr>
              <a:t>Refractory periods help</a:t>
            </a:r>
          </a:p>
          <a:p>
            <a:r>
              <a:rPr lang="en-US" sz="2800" dirty="0">
                <a:solidFill>
                  <a:schemeClr val="bg1"/>
                </a:solidFill>
              </a:rPr>
              <a:t>An action potential in one segment of the axon triggers an action potential in the next segment due to passive current flow.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3BD99E-53F2-F7A4-C2BB-CEF61A7642F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310" r="45639" b="59336"/>
          <a:stretch/>
        </p:blipFill>
        <p:spPr>
          <a:xfrm>
            <a:off x="5650992" y="1755014"/>
            <a:ext cx="6541008" cy="481037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33B30A6-6429-ED71-091A-9F95778BC2F0}"/>
              </a:ext>
            </a:extLst>
          </p:cNvPr>
          <p:cNvSpPr/>
          <p:nvPr/>
        </p:nvSpPr>
        <p:spPr>
          <a:xfrm>
            <a:off x="5650992" y="5049672"/>
            <a:ext cx="6541008" cy="151572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262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CD6B5-2C1C-4B8C-BEC2-DB5A4CF60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Speeding up Conduction velocity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B65737-1E7E-4578-AA2D-90F3D4E331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8008"/>
            <a:ext cx="3796861" cy="5038277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Two mechanisms: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>
                <a:solidFill>
                  <a:schemeClr val="bg1"/>
                </a:solidFill>
              </a:rPr>
              <a:t>Increase the diameter of the axon.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>
                <a:solidFill>
                  <a:schemeClr val="bg1"/>
                </a:solidFill>
              </a:rPr>
              <a:t>Myelin!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AAC9584-6355-4713-AF8F-CE46BC24AB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931" r="50000"/>
          <a:stretch/>
        </p:blipFill>
        <p:spPr bwMode="auto">
          <a:xfrm>
            <a:off x="4733886" y="1240101"/>
            <a:ext cx="3742378" cy="5617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79AE49F5-7189-4FD1-A68E-4BC3FE30FF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531" t="8046"/>
          <a:stretch/>
        </p:blipFill>
        <p:spPr bwMode="auto">
          <a:xfrm>
            <a:off x="8449622" y="1240101"/>
            <a:ext cx="3742378" cy="5617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4593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438DB6-88E7-F409-DFE1-8D7FEF6470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4675"/>
          <a:stretch>
            <a:fillRect/>
          </a:stretch>
        </p:blipFill>
        <p:spPr>
          <a:xfrm>
            <a:off x="0" y="4184811"/>
            <a:ext cx="12192000" cy="267319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93E96E12-7122-DE7C-9806-522E33139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Myelin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53D1B73-3F6B-E260-1DED-7D0BB1B710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107304" cy="5362492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Rich in lipids</a:t>
            </a:r>
          </a:p>
          <a:p>
            <a:pPr lvl="1"/>
            <a:r>
              <a:rPr lang="en-US" sz="2400" dirty="0">
                <a:solidFill>
                  <a:schemeClr val="bg1"/>
                </a:solidFill>
              </a:rPr>
              <a:t>High resistance</a:t>
            </a:r>
          </a:p>
          <a:p>
            <a:pPr lvl="2"/>
            <a:r>
              <a:rPr lang="en-US" sz="2400" dirty="0">
                <a:solidFill>
                  <a:schemeClr val="bg1"/>
                </a:solidFill>
              </a:rPr>
              <a:t>Keeps passive charge from leaking out</a:t>
            </a:r>
          </a:p>
          <a:p>
            <a:pPr lvl="1"/>
            <a:r>
              <a:rPr lang="en-US" sz="2400" dirty="0">
                <a:solidFill>
                  <a:schemeClr val="bg1"/>
                </a:solidFill>
              </a:rPr>
              <a:t>Low capacitance</a:t>
            </a:r>
          </a:p>
          <a:p>
            <a:pPr lvl="2"/>
            <a:r>
              <a:rPr lang="en-US" sz="2400" dirty="0">
                <a:solidFill>
                  <a:schemeClr val="bg1"/>
                </a:solidFill>
              </a:rPr>
              <a:t>Does not store charge well</a:t>
            </a:r>
          </a:p>
        </p:txBody>
      </p:sp>
    </p:spTree>
    <p:extLst>
      <p:ext uri="{BB962C8B-B14F-4D97-AF65-F5344CB8AC3E}">
        <p14:creationId xmlns:p14="http://schemas.microsoft.com/office/powerpoint/2010/main" val="687615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684A0-6265-4E7C-87A2-6CF3C4850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230" y="0"/>
            <a:ext cx="10581540" cy="1226608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Saltatory Conduction</a:t>
            </a:r>
          </a:p>
        </p:txBody>
      </p:sp>
      <p:pic>
        <p:nvPicPr>
          <p:cNvPr id="4" name="Content Placeholder 3" descr="Neuroscience6e-Fig-03-11-3R.jpg">
            <a:extLst>
              <a:ext uri="{FF2B5EF4-FFF2-40B4-BE49-F238E27FC236}">
                <a16:creationId xmlns:a16="http://schemas.microsoft.com/office/drawing/2014/main" id="{C042ACCF-7774-4FB1-80DF-118C6F29AA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172"/>
          <a:stretch>
            <a:fillRect/>
          </a:stretch>
        </p:blipFill>
        <p:spPr>
          <a:xfrm>
            <a:off x="4224680" y="1314769"/>
            <a:ext cx="7130257" cy="554323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0876A-42A1-CF10-F12D-8D2EB8432C07}"/>
              </a:ext>
            </a:extLst>
          </p:cNvPr>
          <p:cNvSpPr txBox="1">
            <a:spLocks/>
          </p:cNvSpPr>
          <p:nvPr/>
        </p:nvSpPr>
        <p:spPr>
          <a:xfrm>
            <a:off x="805231" y="1495508"/>
            <a:ext cx="3419450" cy="50698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Action potentials “leap” from one node of Ranvier to the next.</a:t>
            </a:r>
          </a:p>
          <a:p>
            <a:pPr lvl="1"/>
            <a:r>
              <a:rPr lang="en-US" sz="2400" dirty="0">
                <a:solidFill>
                  <a:schemeClr val="bg1"/>
                </a:solidFill>
              </a:rPr>
              <a:t>Voltage gated Na</a:t>
            </a:r>
            <a:r>
              <a:rPr lang="en-US" sz="2400" baseline="30000" dirty="0">
                <a:solidFill>
                  <a:schemeClr val="bg1"/>
                </a:solidFill>
              </a:rPr>
              <a:t>+</a:t>
            </a:r>
            <a:r>
              <a:rPr lang="en-US" sz="2400" dirty="0">
                <a:solidFill>
                  <a:schemeClr val="bg1"/>
                </a:solidFill>
              </a:rPr>
              <a:t> and K</a:t>
            </a:r>
            <a:r>
              <a:rPr lang="en-US" sz="2400" baseline="30000" dirty="0">
                <a:solidFill>
                  <a:schemeClr val="bg1"/>
                </a:solidFill>
              </a:rPr>
              <a:t>+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bg1"/>
                </a:solidFill>
              </a:rPr>
              <a:t>channels are localized to nodes of Ranvier</a:t>
            </a:r>
          </a:p>
          <a:p>
            <a:r>
              <a:rPr lang="en-US" dirty="0">
                <a:solidFill>
                  <a:schemeClr val="bg1"/>
                </a:solidFill>
              </a:rPr>
              <a:t>Saves time and energy.</a:t>
            </a:r>
          </a:p>
        </p:txBody>
      </p:sp>
    </p:spTree>
    <p:extLst>
      <p:ext uri="{BB962C8B-B14F-4D97-AF65-F5344CB8AC3E}">
        <p14:creationId xmlns:p14="http://schemas.microsoft.com/office/powerpoint/2010/main" val="3977648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Neuroscience6e-Table-03-01.jpg">
            <a:extLst>
              <a:ext uri="{FF2B5EF4-FFF2-40B4-BE49-F238E27FC236}">
                <a16:creationId xmlns:a16="http://schemas.microsoft.com/office/drawing/2014/main" id="{5B3D8243-46B2-40EE-B9A9-D81DF58607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1891" y="130126"/>
            <a:ext cx="7791165" cy="664196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16BFB26-71A2-4C99-8F6B-500D48992A65}"/>
              </a:ext>
            </a:extLst>
          </p:cNvPr>
          <p:cNvSpPr/>
          <p:nvPr/>
        </p:nvSpPr>
        <p:spPr>
          <a:xfrm>
            <a:off x="4832204" y="5891361"/>
            <a:ext cx="4309979" cy="29730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DC1443-F964-48E8-A0DB-B6B8031D613A}"/>
              </a:ext>
            </a:extLst>
          </p:cNvPr>
          <p:cNvSpPr/>
          <p:nvPr/>
        </p:nvSpPr>
        <p:spPr>
          <a:xfrm>
            <a:off x="4842710" y="4773679"/>
            <a:ext cx="4309979" cy="29730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D78109-14C6-4CDF-B308-2E2FA6A447C5}"/>
              </a:ext>
            </a:extLst>
          </p:cNvPr>
          <p:cNvSpPr/>
          <p:nvPr/>
        </p:nvSpPr>
        <p:spPr>
          <a:xfrm>
            <a:off x="4821688" y="3647919"/>
            <a:ext cx="4309979" cy="297309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E9105C-A0B2-436F-93F9-3FACFA8E713C}"/>
              </a:ext>
            </a:extLst>
          </p:cNvPr>
          <p:cNvSpPr/>
          <p:nvPr/>
        </p:nvSpPr>
        <p:spPr>
          <a:xfrm>
            <a:off x="4816433" y="2522928"/>
            <a:ext cx="4309979" cy="297309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822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C2CC03-A8DF-4CFB-AADD-15BFDDD236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3044" y="1610435"/>
            <a:ext cx="10946980" cy="4566527"/>
          </a:xfrm>
        </p:spPr>
        <p:txBody>
          <a:bodyPr>
            <a:normAutofit fontScale="77500" lnSpcReduction="20000"/>
          </a:bodyPr>
          <a:lstStyle/>
          <a:p>
            <a:r>
              <a:rPr lang="en-US" sz="4300" dirty="0">
                <a:solidFill>
                  <a:schemeClr val="bg1"/>
                </a:solidFill>
              </a:rPr>
              <a:t>Demyelination </a:t>
            </a:r>
          </a:p>
          <a:p>
            <a:pPr lvl="1"/>
            <a:r>
              <a:rPr lang="en-US" sz="4000" b="1" dirty="0">
                <a:solidFill>
                  <a:schemeClr val="bg1"/>
                </a:solidFill>
              </a:rPr>
              <a:t>Multiple Sclerosis</a:t>
            </a:r>
          </a:p>
          <a:p>
            <a:pPr lvl="1"/>
            <a:r>
              <a:rPr lang="en-US" sz="4000" i="0" dirty="0">
                <a:solidFill>
                  <a:schemeClr val="bg1"/>
                </a:solidFill>
                <a:effectLst/>
              </a:rPr>
              <a:t>Guillain-Barre syndrome</a:t>
            </a:r>
          </a:p>
          <a:p>
            <a:pPr lvl="1"/>
            <a:r>
              <a:rPr lang="en-US" sz="4000" dirty="0">
                <a:solidFill>
                  <a:schemeClr val="bg1"/>
                </a:solidFill>
              </a:rPr>
              <a:t>Viral-induced (e.g., Theiler’s Virus, </a:t>
            </a:r>
            <a:r>
              <a:rPr lang="en-US" sz="4000" i="0" dirty="0">
                <a:solidFill>
                  <a:schemeClr val="bg1"/>
                </a:solidFill>
                <a:effectLst/>
              </a:rPr>
              <a:t>Canine Distemper Virus </a:t>
            </a:r>
            <a:r>
              <a:rPr lang="en-US" sz="4000" dirty="0">
                <a:solidFill>
                  <a:schemeClr val="bg1"/>
                </a:solidFill>
              </a:rPr>
              <a:t>)</a:t>
            </a:r>
          </a:p>
          <a:p>
            <a:endParaRPr lang="en-US" sz="4300" dirty="0">
              <a:solidFill>
                <a:schemeClr val="bg1"/>
              </a:solidFill>
            </a:endParaRPr>
          </a:p>
          <a:p>
            <a:r>
              <a:rPr lang="en-US" sz="4000" dirty="0">
                <a:solidFill>
                  <a:schemeClr val="bg1"/>
                </a:solidFill>
              </a:rPr>
              <a:t>Developmental Disorders leading to hypomyelination or </a:t>
            </a:r>
            <a:r>
              <a:rPr lang="en-US" sz="4000" dirty="0" err="1">
                <a:solidFill>
                  <a:schemeClr val="bg1"/>
                </a:solidFill>
              </a:rPr>
              <a:t>dysmyelination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endParaRPr lang="en-US" sz="4300" dirty="0"/>
          </a:p>
          <a:p>
            <a:pPr lvl="1"/>
            <a:endParaRPr lang="en-US" sz="4000" dirty="0"/>
          </a:p>
          <a:p>
            <a:pPr lvl="1"/>
            <a:endParaRPr lang="en-US" sz="4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1682C7-028D-4CD7-952F-8E1F6B13F41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83044" y="265112"/>
            <a:ext cx="10825912" cy="1345324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/>
            <a:r>
              <a:rPr lang="en-US" sz="5400" dirty="0">
                <a:solidFill>
                  <a:schemeClr val="bg1"/>
                </a:solidFill>
              </a:rPr>
              <a:t>Myelin Associated Disorders</a:t>
            </a:r>
          </a:p>
        </p:txBody>
      </p:sp>
    </p:spTree>
    <p:extLst>
      <p:ext uri="{BB962C8B-B14F-4D97-AF65-F5344CB8AC3E}">
        <p14:creationId xmlns:p14="http://schemas.microsoft.com/office/powerpoint/2010/main" val="1929970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8235A-EB4C-4C99-A948-7B32C4956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49147"/>
            <a:ext cx="9905998" cy="147857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Multiple Sclerosis (MS)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94240-2F28-40FF-B5F8-4582E35385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921" y="1527717"/>
            <a:ext cx="4606893" cy="533028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 disabling disease of the nervous system resulting from a disruption of neural communication.</a:t>
            </a:r>
          </a:p>
          <a:p>
            <a:r>
              <a:rPr lang="en-US" dirty="0">
                <a:solidFill>
                  <a:schemeClr val="bg1"/>
                </a:solidFill>
              </a:rPr>
              <a:t>Involves an autoimmune-mediated process in which myelin is damaged.</a:t>
            </a:r>
          </a:p>
          <a:p>
            <a:r>
              <a:rPr lang="en-US" dirty="0">
                <a:solidFill>
                  <a:schemeClr val="bg1"/>
                </a:solidFill>
              </a:rPr>
              <a:t>Typical onset of symptoms between 20-40 years of age.</a:t>
            </a:r>
          </a:p>
          <a:p>
            <a:r>
              <a:rPr lang="en-US" dirty="0">
                <a:solidFill>
                  <a:schemeClr val="bg1"/>
                </a:solidFill>
              </a:rPr>
              <a:t>Affects over 2 million people worldwide</a:t>
            </a:r>
          </a:p>
        </p:txBody>
      </p:sp>
      <p:pic>
        <p:nvPicPr>
          <p:cNvPr id="2050" name="Picture 2" descr="Nerve damage">
            <a:extLst>
              <a:ext uri="{FF2B5EF4-FFF2-40B4-BE49-F238E27FC236}">
                <a16:creationId xmlns:a16="http://schemas.microsoft.com/office/drawing/2014/main" id="{DF355C3F-75CF-4DAA-B376-B0C04149EC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4814" y="1603032"/>
            <a:ext cx="6418997" cy="5254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9235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Neuroscience6e-CA-03-0.jpg">
            <a:extLst>
              <a:ext uri="{FF2B5EF4-FFF2-40B4-BE49-F238E27FC236}">
                <a16:creationId xmlns:a16="http://schemas.microsoft.com/office/drawing/2014/main" id="{AF35AB49-C5D8-48E5-9432-9DDF0211D6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7" t="37486" r="-518" b="17232"/>
          <a:stretch/>
        </p:blipFill>
        <p:spPr>
          <a:xfrm>
            <a:off x="0" y="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7253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C340A-2398-E004-BB59-6B12D3DBF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62991"/>
            <a:ext cx="9905998" cy="147857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3 Main types of 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A0F02E-17D7-AEC7-9656-45150BCBEA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1" y="1741560"/>
            <a:ext cx="9905999" cy="5116439"/>
          </a:xfrm>
        </p:spPr>
        <p:txBody>
          <a:bodyPr>
            <a:normAutofit fontScale="92500"/>
          </a:bodyPr>
          <a:lstStyle/>
          <a:p>
            <a:r>
              <a:rPr lang="en-US" dirty="0">
                <a:solidFill>
                  <a:schemeClr val="bg1"/>
                </a:solidFill>
              </a:rPr>
              <a:t>Relapsing remitting</a:t>
            </a:r>
          </a:p>
          <a:p>
            <a:pPr lvl="1"/>
            <a:r>
              <a:rPr lang="en-US" sz="2400" dirty="0">
                <a:solidFill>
                  <a:schemeClr val="bg1"/>
                </a:solidFill>
              </a:rPr>
              <a:t>Periods of attack (relapse) followed by remittance (partial or complete recovery)</a:t>
            </a:r>
          </a:p>
          <a:p>
            <a:pPr lvl="1"/>
            <a:r>
              <a:rPr lang="en-US" sz="2400" dirty="0">
                <a:solidFill>
                  <a:schemeClr val="bg1"/>
                </a:solidFill>
              </a:rPr>
              <a:t>Most common type</a:t>
            </a:r>
          </a:p>
          <a:p>
            <a:r>
              <a:rPr lang="en-US" dirty="0">
                <a:solidFill>
                  <a:schemeClr val="bg1"/>
                </a:solidFill>
              </a:rPr>
              <a:t>Primary Progressive</a:t>
            </a:r>
          </a:p>
          <a:p>
            <a:pPr lvl="1"/>
            <a:r>
              <a:rPr lang="en-US" sz="2400" dirty="0">
                <a:solidFill>
                  <a:schemeClr val="bg1"/>
                </a:solidFill>
              </a:rPr>
              <a:t>Once symptoms start they continuously worsen over time</a:t>
            </a:r>
          </a:p>
          <a:p>
            <a:pPr lvl="1"/>
            <a:r>
              <a:rPr lang="en-US" sz="2400" dirty="0">
                <a:solidFill>
                  <a:schemeClr val="bg1"/>
                </a:solidFill>
              </a:rPr>
              <a:t>No relapse or remittance</a:t>
            </a:r>
          </a:p>
          <a:p>
            <a:r>
              <a:rPr lang="en-US" dirty="0">
                <a:solidFill>
                  <a:schemeClr val="bg1"/>
                </a:solidFill>
              </a:rPr>
              <a:t>Secondary Progressive</a:t>
            </a:r>
          </a:p>
          <a:p>
            <a:pPr lvl="1"/>
            <a:r>
              <a:rPr lang="en-US" sz="2400" dirty="0">
                <a:solidFill>
                  <a:schemeClr val="bg1"/>
                </a:solidFill>
              </a:rPr>
              <a:t>Can develop after a period of RRMS where symptoms become more progressive</a:t>
            </a:r>
          </a:p>
          <a:p>
            <a:pPr lvl="1"/>
            <a:r>
              <a:rPr lang="en-US" sz="2400" dirty="0">
                <a:solidFill>
                  <a:schemeClr val="bg1"/>
                </a:solidFill>
              </a:rPr>
              <a:t>May still experience periods of stability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033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2B5FD-10D0-4AAD-80E0-264EC6638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5610" y="-104814"/>
            <a:ext cx="4776294" cy="746258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bg1"/>
                </a:solidFill>
                <a:ea typeface="Meiryo UI" panose="020B0604030504040204" pitchFamily="34" charset="-128"/>
              </a:rPr>
              <a:t>Possible symptoms</a:t>
            </a:r>
            <a:endParaRPr lang="en-US" sz="2800" i="1" dirty="0">
              <a:solidFill>
                <a:schemeClr val="bg1"/>
              </a:solidFill>
            </a:endParaRPr>
          </a:p>
        </p:txBody>
      </p:sp>
      <p:pic>
        <p:nvPicPr>
          <p:cNvPr id="5" name="Picture 2" descr="Image result for multiple sclerosis symptoms">
            <a:extLst>
              <a:ext uri="{FF2B5EF4-FFF2-40B4-BE49-F238E27FC236}">
                <a16:creationId xmlns:a16="http://schemas.microsoft.com/office/drawing/2014/main" id="{807E51FC-E524-4FB1-AA07-1E6572C644E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62"/>
          <a:stretch/>
        </p:blipFill>
        <p:spPr bwMode="auto">
          <a:xfrm>
            <a:off x="3834585" y="82764"/>
            <a:ext cx="4522830" cy="6692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770137-7738-9EEF-7B41-B5F825224814}"/>
              </a:ext>
            </a:extLst>
          </p:cNvPr>
          <p:cNvSpPr txBox="1">
            <a:spLocks/>
          </p:cNvSpPr>
          <p:nvPr/>
        </p:nvSpPr>
        <p:spPr>
          <a:xfrm>
            <a:off x="1280566" y="2466934"/>
            <a:ext cx="2328481" cy="19241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Symptoms are related to the location of the affected neurons.</a:t>
            </a:r>
            <a:endParaRPr lang="en-US" sz="2400" dirty="0">
              <a:solidFill>
                <a:schemeClr val="bg1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91003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2B5FD-10D0-4AAD-80E0-264EC6638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0"/>
            <a:ext cx="9905998" cy="1478570"/>
          </a:xfrm>
        </p:spPr>
        <p:txBody>
          <a:bodyPr/>
          <a:lstStyle/>
          <a:p>
            <a:pPr algn="ctr"/>
            <a:r>
              <a:rPr lang="en-US" i="0" dirty="0">
                <a:solidFill>
                  <a:schemeClr val="bg1"/>
                </a:solidFill>
                <a:effectLst/>
                <a:ea typeface="Meiryo UI" panose="020B0604030504040204" pitchFamily="34" charset="-128"/>
              </a:rPr>
              <a:t>What </a:t>
            </a:r>
            <a:r>
              <a:rPr lang="en-US" dirty="0">
                <a:solidFill>
                  <a:schemeClr val="bg1"/>
                </a:solidFill>
                <a:ea typeface="Meiryo UI" panose="020B0604030504040204" pitchFamily="34" charset="-128"/>
              </a:rPr>
              <a:t>causes MS?</a:t>
            </a:r>
            <a:endParaRPr lang="en-US" i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4A084-6605-4F3E-884F-6CA33FBEC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1" y="1478570"/>
            <a:ext cx="4678224" cy="53794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Hypotheses: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Autoimmune Disease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Viral Infection </a:t>
            </a:r>
          </a:p>
          <a:p>
            <a:pPr marL="285750" indent="-285750"/>
            <a:r>
              <a:rPr lang="en-US" sz="2800" dirty="0">
                <a:solidFill>
                  <a:schemeClr val="bg1"/>
                </a:solidFill>
              </a:rPr>
              <a:t>Genetic susceptibility </a:t>
            </a:r>
          </a:p>
          <a:p>
            <a:pPr marL="285750" indent="-285750"/>
            <a:r>
              <a:rPr lang="en-US" sz="2800" dirty="0">
                <a:solidFill>
                  <a:schemeClr val="bg1"/>
                </a:solidFill>
              </a:rPr>
              <a:t>Persistent infection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A1CEEF-5D1A-49A1-E9F6-9C55C337C8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1866" b="9407"/>
          <a:stretch>
            <a:fillRect/>
          </a:stretch>
        </p:blipFill>
        <p:spPr>
          <a:xfrm>
            <a:off x="6096000" y="1473695"/>
            <a:ext cx="3638265" cy="5384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694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w:document xmlns:w="http://schemas.openxmlformats.org/wordprocessingml/2006/main">
  <RequestId>cc78fb66-0e7f-43f8-9e2f-c06c4707cc61</RequestId>
  <RequestDate>7/26/2019 1:53:10 PM</RequestDate>
</w:document>
</file>

<file path=customXml/itemProps1.xml><?xml version="1.0" encoding="utf-8"?>
<ds:datastoreItem xmlns:ds="http://schemas.openxmlformats.org/officeDocument/2006/customXml" ds:itemID="{88828C38-7951-446B-9C20-6F7FA1998869}">
  <ds:schemaRefs>
    <ds:schemaRef ds:uri="http://schemas.openxmlformats.org/wordprocessingml/2006/main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12792</TotalTime>
  <Words>297</Words>
  <Application>Microsoft Office PowerPoint</Application>
  <PresentationFormat>Widescreen</PresentationFormat>
  <Paragraphs>61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Meiryo UI</vt:lpstr>
      <vt:lpstr>Arial</vt:lpstr>
      <vt:lpstr>Calibri</vt:lpstr>
      <vt:lpstr>Tw Cen MT</vt:lpstr>
      <vt:lpstr>Circuit</vt:lpstr>
      <vt:lpstr>Part 2: long distance signaling and myelin</vt:lpstr>
      <vt:lpstr>Movement of the action potential </vt:lpstr>
      <vt:lpstr>Speeding up Conduction velocity</vt:lpstr>
      <vt:lpstr>Myelin</vt:lpstr>
      <vt:lpstr>Saltatory Conduction</vt:lpstr>
      <vt:lpstr>PowerPoint Presentation</vt:lpstr>
      <vt:lpstr>Myelin Associated Disorders</vt:lpstr>
      <vt:lpstr>Multiple Sclerosis (MS)</vt:lpstr>
      <vt:lpstr>PowerPoint Presentation</vt:lpstr>
      <vt:lpstr>3 Main types of MS</vt:lpstr>
      <vt:lpstr>Possible symptoms</vt:lpstr>
      <vt:lpstr>What causes MS?</vt:lpstr>
    </vt:vector>
  </TitlesOfParts>
  <Company>Franklin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Biology and behavior</dc:title>
  <dc:creator>Flora, Kristin</dc:creator>
  <cp:lastModifiedBy>Phillips, Nicole</cp:lastModifiedBy>
  <cp:revision>511</cp:revision>
  <dcterms:created xsi:type="dcterms:W3CDTF">2018-11-08T16:26:32Z</dcterms:created>
  <dcterms:modified xsi:type="dcterms:W3CDTF">2026-05-08T02:28:59Z</dcterms:modified>
</cp:coreProperties>
</file>