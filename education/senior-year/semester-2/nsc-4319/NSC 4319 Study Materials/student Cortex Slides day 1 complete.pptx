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4" r:id="rId1"/>
  </p:sldMasterIdLst>
  <p:notesMasterIdLst>
    <p:notesMasterId r:id="rId28"/>
  </p:notesMasterIdLst>
  <p:handoutMasterIdLst>
    <p:handoutMasterId r:id="rId29"/>
  </p:handoutMasterIdLst>
  <p:sldIdLst>
    <p:sldId id="377" r:id="rId2"/>
    <p:sldId id="378" r:id="rId3"/>
    <p:sldId id="379" r:id="rId4"/>
    <p:sldId id="328" r:id="rId5"/>
    <p:sldId id="391" r:id="rId6"/>
    <p:sldId id="327" r:id="rId7"/>
    <p:sldId id="307" r:id="rId8"/>
    <p:sldId id="305" r:id="rId9"/>
    <p:sldId id="356" r:id="rId10"/>
    <p:sldId id="396" r:id="rId11"/>
    <p:sldId id="364" r:id="rId12"/>
    <p:sldId id="365" r:id="rId13"/>
    <p:sldId id="366" r:id="rId14"/>
    <p:sldId id="331" r:id="rId15"/>
    <p:sldId id="351" r:id="rId16"/>
    <p:sldId id="397" r:id="rId17"/>
    <p:sldId id="264" r:id="rId18"/>
    <p:sldId id="265" r:id="rId19"/>
    <p:sldId id="401" r:id="rId20"/>
    <p:sldId id="400" r:id="rId21"/>
    <p:sldId id="272" r:id="rId22"/>
    <p:sldId id="398" r:id="rId23"/>
    <p:sldId id="399" r:id="rId24"/>
    <p:sldId id="261" r:id="rId25"/>
    <p:sldId id="262" r:id="rId26"/>
    <p:sldId id="285" r:id="rId27"/>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62310"/>
    <a:srgbClr val="F5887C"/>
    <a:srgbClr val="F0F0F0"/>
    <a:srgbClr val="FAF701"/>
    <a:srgbClr val="2277BC"/>
    <a:srgbClr val="02D087"/>
    <a:srgbClr val="092853"/>
    <a:srgbClr val="009900"/>
    <a:srgbClr val="FF66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450" autoAdjust="0"/>
  </p:normalViewPr>
  <p:slideViewPr>
    <p:cSldViewPr>
      <p:cViewPr varScale="1">
        <p:scale>
          <a:sx n="129" d="100"/>
          <a:sy n="129" d="100"/>
        </p:scale>
        <p:origin x="1494" y="13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101" d="100"/>
          <a:sy n="101" d="100"/>
        </p:scale>
        <p:origin x="2604" y="11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EE807A-E371-4DC2-AC78-3ABF33751943}"/>
              </a:ext>
            </a:extLst>
          </p:cNvPr>
          <p:cNvSpPr>
            <a:spLocks noGrp="1"/>
          </p:cNvSpPr>
          <p:nvPr>
            <p:ph type="hdr" sz="quarter"/>
          </p:nvPr>
        </p:nvSpPr>
        <p:spPr>
          <a:xfrm>
            <a:off x="685800" y="650240"/>
            <a:ext cx="4419600" cy="367454"/>
          </a:xfrm>
          <a:prstGeom prst="rect">
            <a:avLst/>
          </a:prstGeom>
        </p:spPr>
        <p:txBody>
          <a:bodyPr vert="horz" lIns="96661" tIns="48331" rIns="96661" bIns="48331" rtlCol="0"/>
          <a:lstStyle>
            <a:lvl1pPr algn="l">
              <a:defRPr sz="1300"/>
            </a:lvl1pPr>
          </a:lstStyle>
          <a:p>
            <a:r>
              <a:rPr lang="en-US" dirty="0">
                <a:latin typeface="Calibri" panose="020F0502020204030204" pitchFamily="34" charset="0"/>
              </a:rPr>
              <a:t>Ch 27 – Cortical organization; Cortical function</a:t>
            </a:r>
          </a:p>
        </p:txBody>
      </p:sp>
      <p:sp>
        <p:nvSpPr>
          <p:cNvPr id="3" name="Slide Number Placeholder 2">
            <a:extLst>
              <a:ext uri="{FF2B5EF4-FFF2-40B4-BE49-F238E27FC236}">
                <a16:creationId xmlns:a16="http://schemas.microsoft.com/office/drawing/2014/main" id="{F86E7047-0470-7E77-1DB2-80C0F0702E92}"/>
              </a:ext>
            </a:extLst>
          </p:cNvPr>
          <p:cNvSpPr>
            <a:spLocks noGrp="1"/>
          </p:cNvSpPr>
          <p:nvPr>
            <p:ph type="sldNum" sz="quarter" idx="3"/>
          </p:nvPr>
        </p:nvSpPr>
        <p:spPr>
          <a:xfrm>
            <a:off x="5425921" y="6339840"/>
            <a:ext cx="3489479" cy="367453"/>
          </a:xfrm>
          <a:prstGeom prst="rect">
            <a:avLst/>
          </a:prstGeom>
        </p:spPr>
        <p:txBody>
          <a:bodyPr vert="horz" lIns="96661" tIns="48331" rIns="96661" bIns="48331" rtlCol="0" anchor="b"/>
          <a:lstStyle>
            <a:lvl1pPr algn="r">
              <a:defRPr sz="1300"/>
            </a:lvl1pPr>
          </a:lstStyle>
          <a:p>
            <a:fld id="{69A6095C-5686-4058-A35B-FB0B6AF9A78E}" type="slidenum">
              <a:rPr lang="en-US" smtClean="0">
                <a:latin typeface="Calibri" panose="020F0502020204030204" pitchFamily="34" charset="0"/>
              </a:rPr>
              <a:t>‹#›</a:t>
            </a:fld>
            <a:endParaRPr lang="en-US" dirty="0">
              <a:latin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EB7B72A-24F6-2899-B386-7E2C1528C7A6}"/>
              </a:ext>
            </a:extLst>
          </p:cNvPr>
          <p:cNvSpPr>
            <a:spLocks noGrp="1" noChangeArrowheads="1"/>
          </p:cNvSpPr>
          <p:nvPr>
            <p:ph type="body" sz="quarter" idx="3"/>
          </p:nvPr>
        </p:nvSpPr>
        <p:spPr bwMode="auto">
          <a:xfrm>
            <a:off x="1280160" y="3474720"/>
            <a:ext cx="7040880" cy="3291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655" tIns="46988" rIns="95655" bIns="4698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1" name="Rectangle 3">
            <a:extLst>
              <a:ext uri="{FF2B5EF4-FFF2-40B4-BE49-F238E27FC236}">
                <a16:creationId xmlns:a16="http://schemas.microsoft.com/office/drawing/2014/main" id="{3B28E61C-014D-2DED-9287-E3B517BD5A1F}"/>
              </a:ext>
            </a:extLst>
          </p:cNvPr>
          <p:cNvSpPr>
            <a:spLocks noGrp="1" noRot="1" noChangeAspect="1" noChangeArrowheads="1" noTextEdit="1"/>
          </p:cNvSpPr>
          <p:nvPr>
            <p:ph type="sldImg" idx="2"/>
          </p:nvPr>
        </p:nvSpPr>
        <p:spPr bwMode="auto">
          <a:xfrm>
            <a:off x="2373313" y="554038"/>
            <a:ext cx="4854575" cy="2732087"/>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3676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96474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3CD2-4973-470A-BC59-11DBA87FC2DE}" type="slidenum">
              <a:rPr lang="en-US" smtClean="0"/>
              <a:t>5</a:t>
            </a:fld>
            <a:endParaRPr lang="en-US"/>
          </a:p>
        </p:txBody>
      </p:sp>
    </p:spTree>
    <p:extLst>
      <p:ext uri="{BB962C8B-B14F-4D97-AF65-F5344CB8AC3E}">
        <p14:creationId xmlns:p14="http://schemas.microsoft.com/office/powerpoint/2010/main" val="881289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92288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30500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88560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lIns="96661" tIns="48331" rIns="96661" bIns="48331"/>
          <a:lstStyle/>
          <a:p>
            <a:pPr>
              <a:defRPr/>
            </a:pPr>
            <a:fld id="{5A36C6F0-438C-49ED-BA82-BE92D115643E}" type="slidenum">
              <a:rPr lang="en-US" smtClean="0">
                <a:latin typeface="Calibri" panose="020F0502020204030204" pitchFamily="34" charset="0"/>
              </a:rPr>
              <a:pPr>
                <a:defRPr/>
              </a:pPr>
              <a:t>9</a:t>
            </a:fld>
            <a:endParaRPr lang="en-US">
              <a:latin typeface="Calibri" panose="020F0502020204030204" pitchFamily="34" charset="0"/>
            </a:endParaRPr>
          </a:p>
        </p:txBody>
      </p:sp>
    </p:spTree>
    <p:extLst>
      <p:ext uri="{BB962C8B-B14F-4D97-AF65-F5344CB8AC3E}">
        <p14:creationId xmlns:p14="http://schemas.microsoft.com/office/powerpoint/2010/main" val="567912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19784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33582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36349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8206B8-0EDF-4CCC-8CB2-B20BEA189B16}" type="slidenum">
              <a:rPr lang="en-US" smtClean="0"/>
              <a:t>15</a:t>
            </a:fld>
            <a:endParaRPr lang="en-US"/>
          </a:p>
        </p:txBody>
      </p:sp>
    </p:spTree>
    <p:extLst>
      <p:ext uri="{BB962C8B-B14F-4D97-AF65-F5344CB8AC3E}">
        <p14:creationId xmlns:p14="http://schemas.microsoft.com/office/powerpoint/2010/main" val="1558786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8206B8-0EDF-4CCC-8CB2-B20BEA189B16}" type="slidenum">
              <a:rPr lang="en-US" smtClean="0"/>
              <a:t>16</a:t>
            </a:fld>
            <a:endParaRPr lang="en-US"/>
          </a:p>
        </p:txBody>
      </p:sp>
    </p:spTree>
    <p:extLst>
      <p:ext uri="{BB962C8B-B14F-4D97-AF65-F5344CB8AC3E}">
        <p14:creationId xmlns:p14="http://schemas.microsoft.com/office/powerpoint/2010/main" val="116782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D6773D-0560-4D5A-A480-BC64BA8E8722}" type="slidenum">
              <a:rPr lang="en-US" smtClean="0"/>
              <a:t>17</a:t>
            </a:fld>
            <a:endParaRPr lang="en-US"/>
          </a:p>
        </p:txBody>
      </p:sp>
    </p:spTree>
    <p:extLst>
      <p:ext uri="{BB962C8B-B14F-4D97-AF65-F5344CB8AC3E}">
        <p14:creationId xmlns:p14="http://schemas.microsoft.com/office/powerpoint/2010/main" val="2041595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D6773D-0560-4D5A-A480-BC64BA8E8722}" type="slidenum">
              <a:rPr lang="en-US" smtClean="0"/>
              <a:t>18</a:t>
            </a:fld>
            <a:endParaRPr lang="en-US"/>
          </a:p>
        </p:txBody>
      </p:sp>
    </p:spTree>
    <p:extLst>
      <p:ext uri="{BB962C8B-B14F-4D97-AF65-F5344CB8AC3E}">
        <p14:creationId xmlns:p14="http://schemas.microsoft.com/office/powerpoint/2010/main" val="3605790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21307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D6773D-0560-4D5A-A480-BC64BA8E8722}" type="slidenum">
              <a:rPr lang="en-US" smtClean="0"/>
              <a:t>20</a:t>
            </a:fld>
            <a:endParaRPr lang="en-US"/>
          </a:p>
        </p:txBody>
      </p:sp>
    </p:spTree>
    <p:extLst>
      <p:ext uri="{BB962C8B-B14F-4D97-AF65-F5344CB8AC3E}">
        <p14:creationId xmlns:p14="http://schemas.microsoft.com/office/powerpoint/2010/main" val="271467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D6773D-0560-4D5A-A480-BC64BA8E8722}" type="slidenum">
              <a:rPr lang="en-US" smtClean="0"/>
              <a:t>21</a:t>
            </a:fld>
            <a:endParaRPr lang="en-US"/>
          </a:p>
        </p:txBody>
      </p:sp>
    </p:spTree>
    <p:extLst>
      <p:ext uri="{BB962C8B-B14F-4D97-AF65-F5344CB8AC3E}">
        <p14:creationId xmlns:p14="http://schemas.microsoft.com/office/powerpoint/2010/main" val="1987702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369241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AD6773D-0560-4D5A-A480-BC64BA8E8722}" type="slidenum">
              <a:rPr lang="en-US" smtClean="0"/>
              <a:t>23</a:t>
            </a:fld>
            <a:endParaRPr lang="en-US"/>
          </a:p>
        </p:txBody>
      </p:sp>
    </p:spTree>
    <p:extLst>
      <p:ext uri="{BB962C8B-B14F-4D97-AF65-F5344CB8AC3E}">
        <p14:creationId xmlns:p14="http://schemas.microsoft.com/office/powerpoint/2010/main" val="3267215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D6773D-0560-4D5A-A480-BC64BA8E8722}" type="slidenum">
              <a:rPr lang="en-US" smtClean="0"/>
              <a:t>24</a:t>
            </a:fld>
            <a:endParaRPr lang="en-US"/>
          </a:p>
        </p:txBody>
      </p:sp>
    </p:spTree>
    <p:extLst>
      <p:ext uri="{BB962C8B-B14F-4D97-AF65-F5344CB8AC3E}">
        <p14:creationId xmlns:p14="http://schemas.microsoft.com/office/powerpoint/2010/main" val="1031719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D6773D-0560-4D5A-A480-BC64BA8E8722}" type="slidenum">
              <a:rPr lang="en-US" smtClean="0"/>
              <a:t>25</a:t>
            </a:fld>
            <a:endParaRPr lang="en-US"/>
          </a:p>
        </p:txBody>
      </p:sp>
    </p:spTree>
    <p:extLst>
      <p:ext uri="{BB962C8B-B14F-4D97-AF65-F5344CB8AC3E}">
        <p14:creationId xmlns:p14="http://schemas.microsoft.com/office/powerpoint/2010/main" val="343629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D6773D-0560-4D5A-A480-BC64BA8E8722}" type="slidenum">
              <a:rPr lang="en-US" smtClean="0"/>
              <a:t>26</a:t>
            </a:fld>
            <a:endParaRPr lang="en-US"/>
          </a:p>
        </p:txBody>
      </p:sp>
    </p:spTree>
    <p:extLst>
      <p:ext uri="{BB962C8B-B14F-4D97-AF65-F5344CB8AC3E}">
        <p14:creationId xmlns:p14="http://schemas.microsoft.com/office/powerpoint/2010/main" val="416538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05E8FEE0-47F9-4D29-A6AB-1F2E9DC4CF49}" type="slidenum">
              <a:rPr lang="en-US" altLang="en-US" smtClean="0"/>
              <a:pPr/>
              <a:t>‹#›</a:t>
            </a:fld>
            <a:endParaRPr lang="en-US"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530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67040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7098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66503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96675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476895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40976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764DE79-268F-4C1A-8933-263129D2AF90}" type="datetimeFigureOut">
              <a:rPr lang="en-US" smtClean="0"/>
              <a:t>4/17/2026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64073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31813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29594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34525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igur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1A7EB-3577-43FD-9B2D-BCEA4F83C945}"/>
              </a:ext>
            </a:extLst>
          </p:cNvPr>
          <p:cNvSpPr>
            <a:spLocks noGrp="1"/>
          </p:cNvSpPr>
          <p:nvPr>
            <p:ph type="title"/>
          </p:nvPr>
        </p:nvSpPr>
        <p:spPr/>
        <p:txBody>
          <a:bodyPr/>
          <a:lstStyle/>
          <a:p>
            <a:r>
              <a:rPr lang="en-US" dirty="0"/>
              <a:t>Click to edit Master title style</a:t>
            </a:r>
          </a:p>
        </p:txBody>
      </p:sp>
      <p:sp>
        <p:nvSpPr>
          <p:cNvPr id="4" name="Picture Placeholder 3">
            <a:extLst>
              <a:ext uri="{FF2B5EF4-FFF2-40B4-BE49-F238E27FC236}">
                <a16:creationId xmlns:a16="http://schemas.microsoft.com/office/drawing/2014/main" id="{F94AFEAB-6CC2-4F6A-8644-10935AED3A26}"/>
              </a:ext>
            </a:extLst>
          </p:cNvPr>
          <p:cNvSpPr>
            <a:spLocks noGrp="1"/>
          </p:cNvSpPr>
          <p:nvPr>
            <p:ph type="pic" sz="quarter" idx="10"/>
          </p:nvPr>
        </p:nvSpPr>
        <p:spPr>
          <a:xfrm>
            <a:off x="111096" y="512748"/>
            <a:ext cx="11947020" cy="6076059"/>
          </a:xfrm>
        </p:spPr>
        <p:txBody>
          <a:bodyPr rtlCol="0">
            <a:normAutofit/>
          </a:bodyPr>
          <a:lstStyle/>
          <a:p>
            <a:pPr lvl="0"/>
            <a:endParaRPr lang="en-US" noProof="0"/>
          </a:p>
        </p:txBody>
      </p:sp>
    </p:spTree>
    <p:extLst>
      <p:ext uri="{BB962C8B-B14F-4D97-AF65-F5344CB8AC3E}">
        <p14:creationId xmlns:p14="http://schemas.microsoft.com/office/powerpoint/2010/main" val="3455506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764DE79-268F-4C1A-8933-263129D2AF90}" type="datetimeFigureOut">
              <a:rPr lang="en-US" smtClean="0"/>
              <a:pPr/>
              <a:t>4/17/2026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8F63A3B-78C7-47BE-AE5E-E10140E04643}"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598013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video" Target="https://www.youtube.com/embed/3oef68YabD0?feature=oembed" TargetMode="External"/><Relationship Id="rId4" Type="http://schemas.openxmlformats.org/officeDocument/2006/relationships/hyperlink" Target="https://www.youtube.com/watch?v=3oef68YabD0"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ideo" Target="https://www.youtube.com/embed/ze8VVtBgK7A?feature=oembed" TargetMode="External"/><Relationship Id="rId4" Type="http://schemas.openxmlformats.org/officeDocument/2006/relationships/image" Target="../media/image23.jpe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ideo" Target="https://www.youtube.com/embed/-vQGPcYfIAo?feature=oembed" TargetMode="External"/><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F6160-B3E0-D5E0-69F5-CDE587C8B287}"/>
              </a:ext>
            </a:extLst>
          </p:cNvPr>
          <p:cNvSpPr>
            <a:spLocks noGrp="1"/>
          </p:cNvSpPr>
          <p:nvPr>
            <p:ph type="ctrTitle"/>
          </p:nvPr>
        </p:nvSpPr>
        <p:spPr/>
        <p:txBody>
          <a:bodyPr/>
          <a:lstStyle/>
          <a:p>
            <a:pPr algn="ctr"/>
            <a:r>
              <a:rPr lang="en-US" dirty="0"/>
              <a:t>Cognitive Functions and the Organization of the Cerebral Cortex</a:t>
            </a:r>
          </a:p>
        </p:txBody>
      </p:sp>
      <p:sp>
        <p:nvSpPr>
          <p:cNvPr id="3" name="Subtitle 2">
            <a:extLst>
              <a:ext uri="{FF2B5EF4-FFF2-40B4-BE49-F238E27FC236}">
                <a16:creationId xmlns:a16="http://schemas.microsoft.com/office/drawing/2014/main" id="{984099C2-626E-DF59-A613-D31DFAC50D9D}"/>
              </a:ext>
            </a:extLst>
          </p:cNvPr>
          <p:cNvSpPr>
            <a:spLocks noGrp="1"/>
          </p:cNvSpPr>
          <p:nvPr>
            <p:ph type="subTitle" idx="1"/>
          </p:nvPr>
        </p:nvSpPr>
        <p:spPr/>
        <p:txBody>
          <a:bodyPr/>
          <a:lstStyle/>
          <a:p>
            <a:pPr algn="ctr"/>
            <a:r>
              <a:rPr lang="en-US" dirty="0">
                <a:solidFill>
                  <a:schemeClr val="tx1"/>
                </a:solidFill>
              </a:rPr>
              <a:t>By: Nicole Phillps</a:t>
            </a:r>
          </a:p>
        </p:txBody>
      </p:sp>
    </p:spTree>
    <p:extLst>
      <p:ext uri="{BB962C8B-B14F-4D97-AF65-F5344CB8AC3E}">
        <p14:creationId xmlns:p14="http://schemas.microsoft.com/office/powerpoint/2010/main" val="893741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EA027-5774-6450-33D1-307096604116}"/>
              </a:ext>
            </a:extLst>
          </p:cNvPr>
          <p:cNvSpPr>
            <a:spLocks noGrp="1"/>
          </p:cNvSpPr>
          <p:nvPr>
            <p:ph type="title"/>
          </p:nvPr>
        </p:nvSpPr>
        <p:spPr/>
        <p:txBody>
          <a:bodyPr/>
          <a:lstStyle/>
          <a:p>
            <a:pPr algn="ctr"/>
            <a:r>
              <a:rPr lang="en-US" dirty="0"/>
              <a:t>Learning Objectives</a:t>
            </a:r>
          </a:p>
        </p:txBody>
      </p:sp>
      <p:sp>
        <p:nvSpPr>
          <p:cNvPr id="3" name="Content Placeholder 2">
            <a:extLst>
              <a:ext uri="{FF2B5EF4-FFF2-40B4-BE49-F238E27FC236}">
                <a16:creationId xmlns:a16="http://schemas.microsoft.com/office/drawing/2014/main" id="{D4D5BF95-86F1-CD28-502D-09AB2F335D4F}"/>
              </a:ext>
            </a:extLst>
          </p:cNvPr>
          <p:cNvSpPr>
            <a:spLocks noGrp="1"/>
          </p:cNvSpPr>
          <p:nvPr>
            <p:ph idx="1"/>
          </p:nvPr>
        </p:nvSpPr>
        <p:spPr>
          <a:xfrm>
            <a:off x="1097280" y="1828800"/>
            <a:ext cx="10058400" cy="4040294"/>
          </a:xfrm>
        </p:spPr>
        <p:txBody>
          <a:bodyPr/>
          <a:lstStyle/>
          <a:p>
            <a:pPr>
              <a:buFont typeface="Arial" panose="020B0604020202020204" pitchFamily="34" charset="0"/>
              <a:buChar char="•"/>
            </a:pPr>
            <a:r>
              <a:rPr lang="en-US" sz="2800" dirty="0">
                <a:solidFill>
                  <a:schemeClr val="tx1"/>
                </a:solidFill>
              </a:rPr>
              <a:t>Describe general properties of organization in the cerebral cortex</a:t>
            </a:r>
          </a:p>
          <a:p>
            <a:pPr>
              <a:buFont typeface="Arial" panose="020B0604020202020204" pitchFamily="34" charset="0"/>
              <a:buChar char="•"/>
            </a:pPr>
            <a:r>
              <a:rPr lang="en-US" sz="2800" dirty="0">
                <a:solidFill>
                  <a:schemeClr val="tx1"/>
                </a:solidFill>
              </a:rPr>
              <a:t>Identify and describe functional areas of importance in the frontal, temporal, and parietal lobes.</a:t>
            </a:r>
          </a:p>
          <a:p>
            <a:pPr>
              <a:buFont typeface="Arial" panose="020B0604020202020204" pitchFamily="34" charset="0"/>
              <a:buChar char="•"/>
            </a:pPr>
            <a:r>
              <a:rPr lang="en-US" sz="2800" dirty="0">
                <a:solidFill>
                  <a:schemeClr val="tx1"/>
                </a:solidFill>
              </a:rPr>
              <a:t>Identify and describe symptoms of cortical damage.</a:t>
            </a:r>
          </a:p>
          <a:p>
            <a:endParaRPr lang="en-US" dirty="0"/>
          </a:p>
        </p:txBody>
      </p:sp>
    </p:spTree>
    <p:extLst>
      <p:ext uri="{BB962C8B-B14F-4D97-AF65-F5344CB8AC3E}">
        <p14:creationId xmlns:p14="http://schemas.microsoft.com/office/powerpoint/2010/main" val="927894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73E60-C4B6-2338-96F5-A6CB68A5E2C8}"/>
              </a:ext>
            </a:extLst>
          </p:cNvPr>
          <p:cNvSpPr>
            <a:spLocks noGrp="1"/>
          </p:cNvSpPr>
          <p:nvPr>
            <p:ph type="title"/>
          </p:nvPr>
        </p:nvSpPr>
        <p:spPr/>
        <p:txBody>
          <a:bodyPr/>
          <a:lstStyle/>
          <a:p>
            <a:pPr algn="ctr"/>
            <a:r>
              <a:rPr lang="en-US" dirty="0"/>
              <a:t>Cerebral Cortex</a:t>
            </a:r>
          </a:p>
        </p:txBody>
      </p:sp>
      <p:sp>
        <p:nvSpPr>
          <p:cNvPr id="3" name="Content Placeholder 2">
            <a:extLst>
              <a:ext uri="{FF2B5EF4-FFF2-40B4-BE49-F238E27FC236}">
                <a16:creationId xmlns:a16="http://schemas.microsoft.com/office/drawing/2014/main" id="{EFD30A34-ABC4-A6FA-417D-9D896020031E}"/>
              </a:ext>
            </a:extLst>
          </p:cNvPr>
          <p:cNvSpPr>
            <a:spLocks noGrp="1"/>
          </p:cNvSpPr>
          <p:nvPr>
            <p:ph idx="1"/>
          </p:nvPr>
        </p:nvSpPr>
        <p:spPr>
          <a:xfrm>
            <a:off x="1097280" y="1845734"/>
            <a:ext cx="4998720" cy="4023360"/>
          </a:xfrm>
        </p:spPr>
        <p:txBody>
          <a:bodyPr/>
          <a:lstStyle/>
          <a:p>
            <a:pPr>
              <a:buFont typeface="Arial" panose="020B0604020202020204" pitchFamily="34" charset="0"/>
              <a:buChar char="•"/>
            </a:pPr>
            <a:r>
              <a:rPr lang="en-US" sz="2800" dirty="0">
                <a:solidFill>
                  <a:schemeClr val="tx1"/>
                </a:solidFill>
              </a:rPr>
              <a:t>Part of the forebrain</a:t>
            </a:r>
          </a:p>
          <a:p>
            <a:pPr>
              <a:buFont typeface="Arial" panose="020B0604020202020204" pitchFamily="34" charset="0"/>
              <a:buChar char="•"/>
            </a:pPr>
            <a:r>
              <a:rPr lang="en-US" sz="2800" dirty="0">
                <a:solidFill>
                  <a:schemeClr val="tx1"/>
                </a:solidFill>
              </a:rPr>
              <a:t>Collection of mostly gray matter</a:t>
            </a:r>
          </a:p>
          <a:p>
            <a:pPr>
              <a:buFont typeface="Arial" panose="020B0604020202020204" pitchFamily="34" charset="0"/>
              <a:buChar char="•"/>
            </a:pPr>
            <a:r>
              <a:rPr lang="en-US" altLang="en-US" sz="2800" dirty="0">
                <a:solidFill>
                  <a:schemeClr val="tx1"/>
                </a:solidFill>
              </a:rPr>
              <a:t>Folded (</a:t>
            </a:r>
            <a:r>
              <a:rPr lang="en-US" altLang="en-US" sz="2800" dirty="0" err="1">
                <a:solidFill>
                  <a:schemeClr val="tx1"/>
                </a:solidFill>
              </a:rPr>
              <a:t>gyrencephalized</a:t>
            </a:r>
            <a:r>
              <a:rPr lang="en-US" altLang="en-US" sz="2800" dirty="0">
                <a:solidFill>
                  <a:schemeClr val="tx1"/>
                </a:solidFill>
              </a:rPr>
              <a:t>) into gyri (hills) &amp; sulci (valleys)</a:t>
            </a:r>
          </a:p>
          <a:p>
            <a:endParaRPr lang="en-US" dirty="0"/>
          </a:p>
          <a:p>
            <a:endParaRPr lang="en-US" dirty="0"/>
          </a:p>
        </p:txBody>
      </p:sp>
      <mc:AlternateContent xmlns:mc="http://schemas.openxmlformats.org/markup-compatibility/2006">
        <mc:Choice xmlns:am3d="http://schemas.microsoft.com/office/drawing/2017/model3d" Requires="am3d">
          <p:graphicFrame>
            <p:nvGraphicFramePr>
              <p:cNvPr id="4" name="3D Model 3" descr="Brain">
                <a:extLst>
                  <a:ext uri="{FF2B5EF4-FFF2-40B4-BE49-F238E27FC236}">
                    <a16:creationId xmlns:a16="http://schemas.microsoft.com/office/drawing/2014/main" id="{38395304-36FC-AC8A-A96C-D6F662923258}"/>
                  </a:ext>
                </a:extLst>
              </p:cNvPr>
              <p:cNvGraphicFramePr>
                <a:graphicFrameLocks noChangeAspect="1"/>
              </p:cNvGraphicFramePr>
              <p:nvPr>
                <p:extLst>
                  <p:ext uri="{D42A27DB-BD31-4B8C-83A1-F6EECF244321}">
                    <p14:modId xmlns:p14="http://schemas.microsoft.com/office/powerpoint/2010/main" val="1735932994"/>
                  </p:ext>
                </p:extLst>
              </p:nvPr>
            </p:nvGraphicFramePr>
            <p:xfrm>
              <a:off x="7580838" y="1981200"/>
              <a:ext cx="3423800" cy="4023358"/>
            </p:xfrm>
            <a:graphic>
              <a:graphicData uri="http://schemas.microsoft.com/office/drawing/2017/model3d">
                <am3d:model3d r:embed="rId3">
                  <am3d:spPr>
                    <a:xfrm>
                      <a:off x="0" y="0"/>
                      <a:ext cx="3423800" cy="4023358"/>
                    </a:xfrm>
                    <a:prstGeom prst="rect">
                      <a:avLst/>
                    </a:prstGeom>
                  </am3d:spPr>
                  <am3d:camera>
                    <am3d:pos x="0" y="0" z="71845805"/>
                    <am3d:up dx="0" dy="36000000" dz="0"/>
                    <am3d:lookAt x="0" y="0" z="0"/>
                    <am3d:perspective fov="2700000"/>
                  </am3d:camera>
                  <am3d:trans>
                    <am3d:meterPerModelUnit n="1009047" d="1000000"/>
                    <am3d:preTrans dx="-67441" dy="-7461814" dz="-2071337"/>
                    <am3d:scale>
                      <am3d:sx n="1000000" d="1000000"/>
                      <am3d:sy n="1000000" d="1000000"/>
                      <am3d:sz n="1000000" d="1000000"/>
                    </am3d:scale>
                    <am3d:rot/>
                    <am3d:postTrans dx="0" dy="0" dz="0"/>
                  </am3d:trans>
                  <am3d:raster rName="Office3DRenderer" rVer="16.0.8326">
                    <am3d:blip r:embed="rId4"/>
                  </am3d:raster>
                  <am3d:objViewport viewportSz="698959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Brain">
                <a:extLst>
                  <a:ext uri="{FF2B5EF4-FFF2-40B4-BE49-F238E27FC236}">
                    <a16:creationId xmlns:a16="http://schemas.microsoft.com/office/drawing/2014/main" id="{38395304-36FC-AC8A-A96C-D6F662923258}"/>
                  </a:ext>
                </a:extLst>
              </p:cNvPr>
              <p:cNvPicPr>
                <a:picLocks noGrp="1" noRot="1" noChangeAspect="1" noMove="1" noResize="1" noEditPoints="1" noAdjustHandles="1" noChangeArrowheads="1" noChangeShapeType="1" noCrop="1"/>
              </p:cNvPicPr>
              <p:nvPr/>
            </p:nvPicPr>
            <p:blipFill>
              <a:blip r:embed="rId4"/>
              <a:stretch>
                <a:fillRect/>
              </a:stretch>
            </p:blipFill>
            <p:spPr>
              <a:xfrm>
                <a:off x="7580838" y="1981200"/>
                <a:ext cx="3423800" cy="4023358"/>
              </a:xfrm>
              <a:prstGeom prst="rect">
                <a:avLst/>
              </a:prstGeom>
            </p:spPr>
          </p:pic>
        </mc:Fallback>
      </mc:AlternateContent>
    </p:spTree>
    <p:extLst>
      <p:ext uri="{BB962C8B-B14F-4D97-AF65-F5344CB8AC3E}">
        <p14:creationId xmlns:p14="http://schemas.microsoft.com/office/powerpoint/2010/main" val="58061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mph" presetSubtype="128" accel="10000" decel="10000" fill="hold" nodeType="withEffect">
                                  <p:stCondLst>
                                    <p:cond delay="0"/>
                                  </p:stCondLst>
                                  <p:childTnLst>
                                    <p:animRot by="21600000">
                                      <p:cBhvr>
                                        <p:cTn id="6" dur="20000" fill="hold"/>
                                        <p:tgtEl>
                                          <p:spTgt spid="4"/>
                                        </p:tgtEl>
                                        <p:attrNameLst>
                                          <p:attrName>3d.view.rotation.y</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E816620-6D50-8927-A975-F9FA66DF9992}"/>
              </a:ext>
            </a:extLst>
          </p:cNvPr>
          <p:cNvSpPr>
            <a:spLocks noGrp="1" noChangeArrowheads="1"/>
          </p:cNvSpPr>
          <p:nvPr>
            <p:ph type="title"/>
          </p:nvPr>
        </p:nvSpPr>
        <p:spPr>
          <a:xfrm>
            <a:off x="848926" y="685800"/>
            <a:ext cx="6675120" cy="914400"/>
          </a:xfrm>
        </p:spPr>
        <p:txBody>
          <a:bodyPr anchor="b">
            <a:noAutofit/>
          </a:bodyPr>
          <a:lstStyle/>
          <a:p>
            <a:pPr algn="ctr"/>
            <a:r>
              <a:rPr lang="en-US" altLang="en-US" dirty="0">
                <a:solidFill>
                  <a:schemeClr val="tx1"/>
                </a:solidFill>
              </a:rPr>
              <a:t>Divisions of Cortex</a:t>
            </a:r>
          </a:p>
        </p:txBody>
      </p:sp>
      <p:sp>
        <p:nvSpPr>
          <p:cNvPr id="39939" name="Rectangle 3">
            <a:extLst>
              <a:ext uri="{FF2B5EF4-FFF2-40B4-BE49-F238E27FC236}">
                <a16:creationId xmlns:a16="http://schemas.microsoft.com/office/drawing/2014/main" id="{1C35D52D-D82C-7470-9FBA-86C555D266E4}"/>
              </a:ext>
            </a:extLst>
          </p:cNvPr>
          <p:cNvSpPr>
            <a:spLocks noGrp="1" noChangeArrowheads="1"/>
          </p:cNvSpPr>
          <p:nvPr>
            <p:ph idx="1"/>
          </p:nvPr>
        </p:nvSpPr>
        <p:spPr>
          <a:xfrm>
            <a:off x="927464" y="2057400"/>
            <a:ext cx="6596582" cy="4267200"/>
          </a:xfrm>
        </p:spPr>
        <p:txBody>
          <a:bodyPr anchor="t">
            <a:normAutofit/>
          </a:bodyPr>
          <a:lstStyle/>
          <a:p>
            <a:pPr>
              <a:buFont typeface="Arial" panose="020B0604020202020204" pitchFamily="34" charset="0"/>
              <a:buChar char="•"/>
            </a:pPr>
            <a:r>
              <a:rPr lang="en-US" altLang="en-US" sz="2800" dirty="0">
                <a:solidFill>
                  <a:schemeClr val="tx1"/>
                </a:solidFill>
              </a:rPr>
              <a:t>Neocortex (</a:t>
            </a:r>
            <a:r>
              <a:rPr lang="en-US" altLang="en-US" sz="2800" dirty="0" err="1">
                <a:solidFill>
                  <a:schemeClr val="tx1"/>
                </a:solidFill>
              </a:rPr>
              <a:t>isocortex</a:t>
            </a:r>
            <a:r>
              <a:rPr lang="en-US" altLang="en-US" sz="2800" dirty="0">
                <a:solidFill>
                  <a:schemeClr val="tx1"/>
                </a:solidFill>
              </a:rPr>
              <a:t>) has 6 layers (aka laminae)</a:t>
            </a:r>
          </a:p>
          <a:p>
            <a:pPr lvl="1">
              <a:buFont typeface="Arial" panose="020B0604020202020204" pitchFamily="34" charset="0"/>
              <a:buChar char="•"/>
            </a:pPr>
            <a:r>
              <a:rPr lang="en-US" altLang="en-US" sz="2600" dirty="0">
                <a:solidFill>
                  <a:schemeClr val="tx1"/>
                </a:solidFill>
              </a:rPr>
              <a:t>Largest division</a:t>
            </a:r>
          </a:p>
          <a:p>
            <a:pPr>
              <a:buFont typeface="Arial" panose="020B0604020202020204" pitchFamily="34" charset="0"/>
              <a:buChar char="•"/>
            </a:pPr>
            <a:r>
              <a:rPr lang="en-US" altLang="en-US" sz="2800" dirty="0">
                <a:solidFill>
                  <a:schemeClr val="tx1"/>
                </a:solidFill>
              </a:rPr>
              <a:t>Allocortex has less than 6 layers</a:t>
            </a:r>
          </a:p>
          <a:p>
            <a:pPr lvl="1">
              <a:buFont typeface="Arial" panose="020B0604020202020204" pitchFamily="34" charset="0"/>
              <a:buChar char="•"/>
            </a:pPr>
            <a:r>
              <a:rPr lang="en-US" altLang="en-US" sz="2800" dirty="0" err="1">
                <a:solidFill>
                  <a:schemeClr val="tx1"/>
                </a:solidFill>
              </a:rPr>
              <a:t>archicortex</a:t>
            </a:r>
            <a:r>
              <a:rPr lang="en-US" altLang="en-US" sz="2800" dirty="0">
                <a:solidFill>
                  <a:schemeClr val="tx1"/>
                </a:solidFill>
              </a:rPr>
              <a:t> </a:t>
            </a:r>
          </a:p>
          <a:p>
            <a:pPr lvl="2">
              <a:buFont typeface="Arial" panose="020B0604020202020204" pitchFamily="34" charset="0"/>
              <a:buChar char="•"/>
            </a:pPr>
            <a:r>
              <a:rPr lang="en-US" altLang="en-US" sz="2800" dirty="0">
                <a:solidFill>
                  <a:schemeClr val="tx1"/>
                </a:solidFill>
              </a:rPr>
              <a:t>4 layers</a:t>
            </a:r>
          </a:p>
          <a:p>
            <a:pPr lvl="1">
              <a:buFont typeface="Arial" panose="020B0604020202020204" pitchFamily="34" charset="0"/>
              <a:buChar char="•"/>
            </a:pPr>
            <a:r>
              <a:rPr lang="en-US" altLang="en-US" sz="2800" dirty="0">
                <a:solidFill>
                  <a:schemeClr val="tx1"/>
                </a:solidFill>
              </a:rPr>
              <a:t>paleocortex</a:t>
            </a:r>
          </a:p>
          <a:p>
            <a:pPr lvl="2">
              <a:buFont typeface="Arial" panose="020B0604020202020204" pitchFamily="34" charset="0"/>
              <a:buChar char="•"/>
            </a:pPr>
            <a:r>
              <a:rPr lang="en-US" altLang="en-US" sz="2800" dirty="0">
                <a:solidFill>
                  <a:schemeClr val="tx1"/>
                </a:solidFill>
              </a:rPr>
              <a:t>3 layers</a:t>
            </a:r>
          </a:p>
        </p:txBody>
      </p:sp>
      <p:pic>
        <p:nvPicPr>
          <p:cNvPr id="2" name="Picture 1" descr="&quot;A diagram shows the major types of cortex in the cerebral mantle, based primarily on the different apparent histological layers or laminae. The medial view of the human brain is depicted at the center. A single-headed arrow, emerging from a point in the middle of the upper region of the brain, points towards a long, vertical cross-section labeled neocortex. The numbers 1 to 6 are serially marked in the middle. These numbers depict the several histological layers in that region of the brain. The gap between layers 1 and 2 is much lesser than the other layers. Numerous small dots are randomly depicted throughout the whole cross-section. The density of these dots is more in layers 2, 4, and 5.&#10;Similarly, another single-headed arrow emerges from a point in the posterior region of the brain and points towards another long, vertical cross-section labeled neocortex(visual cortex). The numbers 1 to 6 are serially marked in the middle. These numbers depict the several histological layers in that region of the brain. The gap between layers 3 to 4 and layers 4 to 5 are greater and smaller, respectively, than the intermediate gap between the other layers. Numerous small dots are randomly depicted throughout the whole cross-section. The density of these dots is more in layers 2 and 3.&#10;Similarly, another single-headed arrow emerges from a point anterior to the middle of the basal region of the brain and points towards another long, vertical cross-section labeled paleocortex(pyriform cortex). The numbers 1 to 3 are serially marked in the middle along its left vertical margin. These numbers depict the several histological layers in that region of the brain. The gap between layers 1 and 2 is much lesser than those between layers 2 and 3. Numerous small dots are randomly depicted throughout the whole cross-section. The density of these dots is more in between the two upper layers and along the region marked as 3. Lastly, another single-headed arrow emerges from a point in the middle of the basal region of the brain and points towards another long, vertical cross-section labeled archicortex (hippocampus). The numbers 1 to 4 are serially marked in the middle along its left vertical margin. These numbers depict the several histological layers in that region of the brain. The gap between layers 2 and 3 is slightly larger than the other layers. Numerous small dots are randomly depicted throughout the whole cross-section. The density of these dots is more in layer 3.&quot;&#10;" title="BOX 27A Cortical Lamination">
            <a:extLst>
              <a:ext uri="{FF2B5EF4-FFF2-40B4-BE49-F238E27FC236}">
                <a16:creationId xmlns:a16="http://schemas.microsoft.com/office/drawing/2014/main" id="{10D0E112-2529-454E-38FD-135E7CD7C8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7561217" y="32657"/>
            <a:ext cx="3703320" cy="6858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747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93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93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939">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9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7F7FC-8A51-4295-960E-21A7C78698CE}"/>
              </a:ext>
            </a:extLst>
          </p:cNvPr>
          <p:cNvSpPr>
            <a:spLocks noGrp="1"/>
          </p:cNvSpPr>
          <p:nvPr>
            <p:ph type="title"/>
          </p:nvPr>
        </p:nvSpPr>
        <p:spPr>
          <a:xfrm>
            <a:off x="1141413" y="544330"/>
            <a:ext cx="9905998" cy="844522"/>
          </a:xfrm>
        </p:spPr>
        <p:txBody>
          <a:bodyPr/>
          <a:lstStyle/>
          <a:p>
            <a:r>
              <a:rPr lang="en-US" dirty="0">
                <a:solidFill>
                  <a:schemeClr val="tx1"/>
                </a:solidFill>
              </a:rPr>
              <a:t>Layers of Neocortex</a:t>
            </a:r>
          </a:p>
        </p:txBody>
      </p:sp>
      <p:sp>
        <p:nvSpPr>
          <p:cNvPr id="3" name="Content Placeholder 2">
            <a:extLst>
              <a:ext uri="{FF2B5EF4-FFF2-40B4-BE49-F238E27FC236}">
                <a16:creationId xmlns:a16="http://schemas.microsoft.com/office/drawing/2014/main" id="{0AACE61A-BC9D-4F89-A614-2798347DA3B9}"/>
              </a:ext>
            </a:extLst>
          </p:cNvPr>
          <p:cNvSpPr>
            <a:spLocks noGrp="1"/>
          </p:cNvSpPr>
          <p:nvPr>
            <p:ph idx="1"/>
          </p:nvPr>
        </p:nvSpPr>
        <p:spPr>
          <a:xfrm>
            <a:off x="1141413" y="1924435"/>
            <a:ext cx="6755678" cy="4752410"/>
          </a:xfrm>
        </p:spPr>
        <p:txBody>
          <a:bodyPr>
            <a:noAutofit/>
          </a:bodyPr>
          <a:lstStyle/>
          <a:p>
            <a:pPr>
              <a:buFont typeface="Arial" panose="020B0604020202020204" pitchFamily="34" charset="0"/>
              <a:buChar char="•"/>
            </a:pPr>
            <a:r>
              <a:rPr lang="en-US" altLang="en-US" sz="2800" dirty="0">
                <a:solidFill>
                  <a:schemeClr val="tx1"/>
                </a:solidFill>
              </a:rPr>
              <a:t>Neurons of the neocortex are arranged in six layers based on type of neuron and pattern of dendrites or axons.</a:t>
            </a:r>
          </a:p>
          <a:p>
            <a:pPr>
              <a:buFont typeface="Arial" panose="020B0604020202020204" pitchFamily="34" charset="0"/>
              <a:buChar char="•"/>
            </a:pPr>
            <a:r>
              <a:rPr lang="en-US" sz="2800" dirty="0">
                <a:solidFill>
                  <a:schemeClr val="tx1"/>
                </a:solidFill>
              </a:rPr>
              <a:t>Layers 1-3 serve mostly integrative functions</a:t>
            </a:r>
          </a:p>
          <a:p>
            <a:pPr>
              <a:buFont typeface="Arial" panose="020B0604020202020204" pitchFamily="34" charset="0"/>
              <a:buChar char="•"/>
            </a:pPr>
            <a:r>
              <a:rPr lang="en-US" sz="2800" dirty="0">
                <a:solidFill>
                  <a:schemeClr val="tx1"/>
                </a:solidFill>
              </a:rPr>
              <a:t>Layer 4 takes </a:t>
            </a:r>
            <a:r>
              <a:rPr lang="en-US" sz="2800" i="1" dirty="0">
                <a:solidFill>
                  <a:schemeClr val="tx1"/>
                </a:solidFill>
              </a:rPr>
              <a:t>in</a:t>
            </a:r>
            <a:r>
              <a:rPr lang="en-US" sz="2800" dirty="0">
                <a:solidFill>
                  <a:schemeClr val="tx1"/>
                </a:solidFill>
              </a:rPr>
              <a:t> sensory information</a:t>
            </a:r>
          </a:p>
          <a:p>
            <a:pPr>
              <a:buFont typeface="Arial" panose="020B0604020202020204" pitchFamily="34" charset="0"/>
              <a:buChar char="•"/>
            </a:pPr>
            <a:r>
              <a:rPr lang="en-US" sz="2800" dirty="0">
                <a:solidFill>
                  <a:schemeClr val="tx1"/>
                </a:solidFill>
              </a:rPr>
              <a:t>Layers 5-6 </a:t>
            </a:r>
            <a:r>
              <a:rPr lang="en-US" sz="2800" i="1" dirty="0">
                <a:solidFill>
                  <a:schemeClr val="tx1"/>
                </a:solidFill>
              </a:rPr>
              <a:t>send out </a:t>
            </a:r>
            <a:r>
              <a:rPr lang="en-US" sz="2800" dirty="0">
                <a:solidFill>
                  <a:schemeClr val="tx1"/>
                </a:solidFill>
              </a:rPr>
              <a:t>information to other brain areas</a:t>
            </a:r>
          </a:p>
        </p:txBody>
      </p:sp>
      <p:pic>
        <p:nvPicPr>
          <p:cNvPr id="4" name="Picture 3">
            <a:extLst>
              <a:ext uri="{FF2B5EF4-FFF2-40B4-BE49-F238E27FC236}">
                <a16:creationId xmlns:a16="http://schemas.microsoft.com/office/drawing/2014/main" id="{86D1A6DC-FE3A-49B2-814D-0B3B8E8216EC}"/>
              </a:ext>
            </a:extLst>
          </p:cNvPr>
          <p:cNvPicPr>
            <a:picLocks noChangeAspect="1"/>
          </p:cNvPicPr>
          <p:nvPr/>
        </p:nvPicPr>
        <p:blipFill rotWithShape="1">
          <a:blip r:embed="rId3"/>
          <a:srcRect r="20091"/>
          <a:stretch/>
        </p:blipFill>
        <p:spPr>
          <a:xfrm>
            <a:off x="8285018" y="8747"/>
            <a:ext cx="3906982" cy="6849253"/>
          </a:xfrm>
          <a:prstGeom prst="rect">
            <a:avLst/>
          </a:prstGeom>
        </p:spPr>
      </p:pic>
      <p:sp>
        <p:nvSpPr>
          <p:cNvPr id="5" name="Frame 4">
            <a:extLst>
              <a:ext uri="{FF2B5EF4-FFF2-40B4-BE49-F238E27FC236}">
                <a16:creationId xmlns:a16="http://schemas.microsoft.com/office/drawing/2014/main" id="{9863E3D4-FA34-4BF6-A7E9-0A8C1520813B}"/>
              </a:ext>
            </a:extLst>
          </p:cNvPr>
          <p:cNvSpPr/>
          <p:nvPr/>
        </p:nvSpPr>
        <p:spPr>
          <a:xfrm>
            <a:off x="8902460" y="465826"/>
            <a:ext cx="3289540" cy="1846053"/>
          </a:xfrm>
          <a:prstGeom prst="frame">
            <a:avLst>
              <a:gd name="adj1" fmla="val 23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rame 5">
            <a:extLst>
              <a:ext uri="{FF2B5EF4-FFF2-40B4-BE49-F238E27FC236}">
                <a16:creationId xmlns:a16="http://schemas.microsoft.com/office/drawing/2014/main" id="{2CD53E71-5DBE-477C-BC15-7C76E8B631C7}"/>
              </a:ext>
            </a:extLst>
          </p:cNvPr>
          <p:cNvSpPr/>
          <p:nvPr/>
        </p:nvSpPr>
        <p:spPr>
          <a:xfrm>
            <a:off x="8902460" y="2240280"/>
            <a:ext cx="3289540" cy="1641608"/>
          </a:xfrm>
          <a:prstGeom prst="frame">
            <a:avLst>
              <a:gd name="adj1" fmla="val 23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Frame 6">
            <a:extLst>
              <a:ext uri="{FF2B5EF4-FFF2-40B4-BE49-F238E27FC236}">
                <a16:creationId xmlns:a16="http://schemas.microsoft.com/office/drawing/2014/main" id="{CA8DB448-1FD2-42D2-93CA-CCAA64063105}"/>
              </a:ext>
            </a:extLst>
          </p:cNvPr>
          <p:cNvSpPr/>
          <p:nvPr/>
        </p:nvSpPr>
        <p:spPr>
          <a:xfrm>
            <a:off x="8902460" y="3881888"/>
            <a:ext cx="3289540" cy="2139350"/>
          </a:xfrm>
          <a:prstGeom prst="frame">
            <a:avLst>
              <a:gd name="adj1" fmla="val 233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02905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1" descr="An image shows the structure of the neocortex. The image has two diagrams. The first diagram depicts the lateral view of the human brain. A long, patch along the middle of the brain, extending from the top, up to the center, is highlighted along with the posterior tip of the brain. The second diagram depicts the medial view of the human brain. A small, round patch on the upper region, extending from the surface, is highlighted along with a thin, long horizontal patch extending from the posterior tip of the brain. All these highlighted regions, in both diagrams, are labeled primary sensory and motor areas of the neocortex. The rest of the regions, in both diagrams, are labeled association cortices.&#10;&quot;A diagram shows the cellular composition of the six layers of the neocortex. A long vertical cross-section shows six distinct horizontal layers, all stacked over each other. The topmost layer is labeled 1. The next layer below layer 1 represents two more distinct layers of the neocortex, combined as a single layer. Its bottom region is labeled 3. The next four layers are labeled 4, 5, 6, and white matter. Layer 1 is highly thin, and layer 2 to 3 is highly thick. Rest all layers are intermediate size, with layers 4 and 6 slightly thinner than the other two. Layer 4 has some patches, each containing a dot with numerous, thin, heavily branched projections coming out of it. These structures are labeled stellate cells. Some thin, long, vertical stalks are depicted along the whole length of the cross-section such that they all begin simultaneously from the base of white matter but terminate randomly within layer 1 or 2 to 3. The thickness of these stalks gradually reduces as we move towards the upper layers. The thin ascending part is labeled local axon collateral (local circuitry), and the thicker descending part is labeled descending axon (output). Some random points in the stalk are enlarged, except in the white matter layer. These enlarged points are labeled pyramidal cells. Numerous thin, radially arranged projections, called dendrites, arise from these points. &#10;&quot;&#10;&quot;An image has two diagrams. The first diagram shows the lateral view of the human brain, and the second diagram depicts the medial view of the human brain. The fifty different cytoarchitectonic areas of the human brain, all divided based on variations in the thickness, cell density, and other histological features of the six neocortical laminae, are distinctly highlighted and labeled from 1 to 50 in both the diagrams. These divisions were recognized by the neuroanatomist Korbinian Brodmann in his seminal 1909 monograph.&#10;&quot;&#10;" title="FIGURE 27.1 Structure of the human neocortex, including the association cortices">
            <a:extLst>
              <a:ext uri="{FF2B5EF4-FFF2-40B4-BE49-F238E27FC236}">
                <a16:creationId xmlns:a16="http://schemas.microsoft.com/office/drawing/2014/main" id="{DE66097D-144D-3689-FDF6-94B51BF828B9}"/>
              </a:ext>
            </a:extLst>
          </p:cNvPr>
          <p:cNvPicPr>
            <a:picLocks noChangeAspect="1"/>
          </p:cNvPicPr>
          <p:nvPr/>
        </p:nvPicPr>
        <p:blipFill rotWithShape="1">
          <a:blip r:embed="rId3">
            <a:extLst>
              <a:ext uri="{28A0092B-C50C-407E-A947-70E740481C1C}">
                <a14:useLocalDpi xmlns:a14="http://schemas.microsoft.com/office/drawing/2010/main" val="0"/>
              </a:ext>
            </a:extLst>
          </a:blip>
          <a:srcRect l="46624" r="5410" b="44666"/>
          <a:stretch/>
        </p:blipFill>
        <p:spPr bwMode="auto">
          <a:xfrm>
            <a:off x="6896100" y="342900"/>
            <a:ext cx="50673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a:extLst>
              <a:ext uri="{FF2B5EF4-FFF2-40B4-BE49-F238E27FC236}">
                <a16:creationId xmlns:a16="http://schemas.microsoft.com/office/drawing/2014/main" id="{AE816620-6D50-8927-A975-F9FA66DF9992}"/>
              </a:ext>
            </a:extLst>
          </p:cNvPr>
          <p:cNvSpPr>
            <a:spLocks noGrp="1" noChangeArrowheads="1"/>
          </p:cNvSpPr>
          <p:nvPr>
            <p:ph type="title"/>
          </p:nvPr>
        </p:nvSpPr>
        <p:spPr>
          <a:xfrm>
            <a:off x="304800" y="152400"/>
            <a:ext cx="6675120" cy="1474666"/>
          </a:xfrm>
        </p:spPr>
        <p:txBody>
          <a:bodyPr anchor="b">
            <a:noAutofit/>
          </a:bodyPr>
          <a:lstStyle/>
          <a:p>
            <a:pPr algn="ctr"/>
            <a:r>
              <a:rPr lang="en-US" altLang="en-US" dirty="0">
                <a:solidFill>
                  <a:schemeClr val="tx1"/>
                </a:solidFill>
              </a:rPr>
              <a:t>3 basic cell types in the cortex</a:t>
            </a:r>
          </a:p>
        </p:txBody>
      </p:sp>
      <p:sp>
        <p:nvSpPr>
          <p:cNvPr id="10" name="Rectangle 3">
            <a:extLst>
              <a:ext uri="{FF2B5EF4-FFF2-40B4-BE49-F238E27FC236}">
                <a16:creationId xmlns:a16="http://schemas.microsoft.com/office/drawing/2014/main" id="{1C35D52D-D82C-7470-9FBA-86C555D266E4}"/>
              </a:ext>
            </a:extLst>
          </p:cNvPr>
          <p:cNvSpPr>
            <a:spLocks noGrp="1" noChangeArrowheads="1"/>
          </p:cNvSpPr>
          <p:nvPr>
            <p:ph idx="1"/>
          </p:nvPr>
        </p:nvSpPr>
        <p:spPr>
          <a:xfrm>
            <a:off x="756886" y="2447337"/>
            <a:ext cx="6223034" cy="3770434"/>
          </a:xfrm>
        </p:spPr>
        <p:txBody>
          <a:bodyPr anchor="t">
            <a:normAutofit/>
          </a:bodyPr>
          <a:lstStyle/>
          <a:p>
            <a:pPr>
              <a:buFont typeface="Arial" panose="020B0604020202020204" pitchFamily="34" charset="0"/>
              <a:buChar char="•"/>
            </a:pPr>
            <a:r>
              <a:rPr lang="en-US" altLang="en-US" sz="3200" dirty="0">
                <a:solidFill>
                  <a:schemeClr val="tx1"/>
                </a:solidFill>
              </a:rPr>
              <a:t>pyramidal cells (including Betz cells)</a:t>
            </a:r>
          </a:p>
          <a:p>
            <a:pPr lvl="1">
              <a:buFont typeface="Arial" panose="020B0604020202020204" pitchFamily="34" charset="0"/>
              <a:buChar char="•"/>
            </a:pPr>
            <a:r>
              <a:rPr lang="en-US" altLang="en-US" sz="3000" dirty="0">
                <a:solidFill>
                  <a:schemeClr val="tx1"/>
                </a:solidFill>
              </a:rPr>
              <a:t>Most layers except 4</a:t>
            </a:r>
          </a:p>
          <a:p>
            <a:pPr>
              <a:buFont typeface="Arial" panose="020B0604020202020204" pitchFamily="34" charset="0"/>
              <a:buChar char="•"/>
            </a:pPr>
            <a:r>
              <a:rPr lang="en-US" altLang="en-US" sz="3200" dirty="0">
                <a:solidFill>
                  <a:schemeClr val="tx1"/>
                </a:solidFill>
              </a:rPr>
              <a:t>stellate cells</a:t>
            </a:r>
          </a:p>
          <a:p>
            <a:pPr lvl="1">
              <a:buFont typeface="Arial" panose="020B0604020202020204" pitchFamily="34" charset="0"/>
              <a:buChar char="•"/>
            </a:pPr>
            <a:r>
              <a:rPr lang="en-US" altLang="en-US" sz="3000" dirty="0">
                <a:solidFill>
                  <a:schemeClr val="tx1"/>
                </a:solidFill>
              </a:rPr>
              <a:t>Mostly in layer 4</a:t>
            </a:r>
          </a:p>
          <a:p>
            <a:pPr>
              <a:buFont typeface="Arial" panose="020B0604020202020204" pitchFamily="34" charset="0"/>
              <a:buChar char="•"/>
            </a:pPr>
            <a:r>
              <a:rPr lang="en-US" altLang="en-US" sz="3200" dirty="0" err="1">
                <a:solidFill>
                  <a:schemeClr val="tx1"/>
                </a:solidFill>
              </a:rPr>
              <a:t>aspiny</a:t>
            </a:r>
            <a:r>
              <a:rPr lang="en-US" altLang="en-US" sz="3200" dirty="0">
                <a:solidFill>
                  <a:schemeClr val="tx1"/>
                </a:solidFill>
              </a:rPr>
              <a:t> interneurons</a:t>
            </a:r>
          </a:p>
          <a:p>
            <a:pPr lvl="1">
              <a:buFont typeface="Arial" panose="020B0604020202020204" pitchFamily="34" charset="0"/>
              <a:buChar char="•"/>
            </a:pPr>
            <a:r>
              <a:rPr lang="en-US" altLang="en-US" sz="3000" dirty="0">
                <a:solidFill>
                  <a:schemeClr val="tx1"/>
                </a:solidFill>
              </a:rPr>
              <a:t>Scattered throughout</a:t>
            </a:r>
          </a:p>
          <a:p>
            <a:pPr lvl="1">
              <a:buFont typeface="Arial" panose="020B0604020202020204" pitchFamily="34" charset="0"/>
              <a:buChar char="•"/>
            </a:pPr>
            <a:r>
              <a:rPr lang="en-US" altLang="en-US" sz="3000">
                <a:solidFill>
                  <a:schemeClr val="tx1"/>
                </a:solidFill>
              </a:rPr>
              <a:t>Local interconnections</a:t>
            </a:r>
            <a:endParaRPr lang="en-US" altLang="en-US" sz="3000" dirty="0">
              <a:solidFill>
                <a:schemeClr val="tx1"/>
              </a:solidFill>
            </a:endParaRPr>
          </a:p>
        </p:txBody>
      </p:sp>
    </p:spTree>
    <p:extLst>
      <p:ext uri="{BB962C8B-B14F-4D97-AF65-F5344CB8AC3E}">
        <p14:creationId xmlns:p14="http://schemas.microsoft.com/office/powerpoint/2010/main" val="105464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a:extLst>
              <a:ext uri="{FF2B5EF4-FFF2-40B4-BE49-F238E27FC236}">
                <a16:creationId xmlns:a16="http://schemas.microsoft.com/office/drawing/2014/main" id="{54592086-B191-E681-94BE-25CEB5BE35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500" r="12500" b="4762"/>
          <a:stretch>
            <a:fillRect/>
          </a:stretch>
        </p:blipFill>
        <p:spPr bwMode="auto">
          <a:xfrm>
            <a:off x="7162800" y="0"/>
            <a:ext cx="72009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8AD4B012-2ACF-27F6-4E61-D9C5EA38A51E}"/>
              </a:ext>
            </a:extLst>
          </p:cNvPr>
          <p:cNvSpPr>
            <a:spLocks noGrp="1"/>
          </p:cNvSpPr>
          <p:nvPr>
            <p:ph type="title"/>
          </p:nvPr>
        </p:nvSpPr>
        <p:spPr>
          <a:xfrm>
            <a:off x="1447800" y="457200"/>
            <a:ext cx="5486400" cy="777875"/>
          </a:xfrm>
        </p:spPr>
        <p:txBody>
          <a:bodyPr>
            <a:normAutofit/>
          </a:bodyPr>
          <a:lstStyle/>
          <a:p>
            <a:pPr algn="ctr"/>
            <a:r>
              <a:rPr lang="en-US" sz="4800" dirty="0">
                <a:solidFill>
                  <a:schemeClr val="tx1"/>
                </a:solidFill>
              </a:rPr>
              <a:t>Neocortex </a:t>
            </a:r>
            <a:r>
              <a:rPr lang="en-US" dirty="0">
                <a:solidFill>
                  <a:schemeClr val="tx1"/>
                </a:solidFill>
              </a:rPr>
              <a:t>Projections</a:t>
            </a:r>
            <a:endParaRPr lang="en-US" sz="4800" dirty="0">
              <a:solidFill>
                <a:schemeClr val="tx1"/>
              </a:solidFill>
            </a:endParaRPr>
          </a:p>
        </p:txBody>
      </p:sp>
      <p:graphicFrame>
        <p:nvGraphicFramePr>
          <p:cNvPr id="6" name="!!Table1">
            <a:extLst>
              <a:ext uri="{FF2B5EF4-FFF2-40B4-BE49-F238E27FC236}">
                <a16:creationId xmlns:a16="http://schemas.microsoft.com/office/drawing/2014/main" id="{C4041B4C-99D3-F706-48F1-086850D57016}"/>
              </a:ext>
            </a:extLst>
          </p:cNvPr>
          <p:cNvGraphicFramePr>
            <a:graphicFrameLocks noGrp="1"/>
          </p:cNvGraphicFramePr>
          <p:nvPr>
            <p:ph idx="1"/>
            <p:extLst>
              <p:ext uri="{D42A27DB-BD31-4B8C-83A1-F6EECF244321}">
                <p14:modId xmlns:p14="http://schemas.microsoft.com/office/powerpoint/2010/main" val="3393260813"/>
              </p:ext>
            </p:extLst>
          </p:nvPr>
        </p:nvGraphicFramePr>
        <p:xfrm>
          <a:off x="0" y="1871692"/>
          <a:ext cx="7129347" cy="4986308"/>
        </p:xfrm>
        <a:graphic>
          <a:graphicData uri="http://schemas.openxmlformats.org/drawingml/2006/table">
            <a:tbl>
              <a:tblPr firstRow="1" bandRow="1">
                <a:tableStyleId>{5C22544A-7EE6-4342-B048-85BDC9FD1C3A}</a:tableStyleId>
              </a:tblPr>
              <a:tblGrid>
                <a:gridCol w="1414346">
                  <a:extLst>
                    <a:ext uri="{9D8B030D-6E8A-4147-A177-3AD203B41FA5}">
                      <a16:colId xmlns:a16="http://schemas.microsoft.com/office/drawing/2014/main" val="3476650150"/>
                    </a:ext>
                  </a:extLst>
                </a:gridCol>
                <a:gridCol w="3429000">
                  <a:extLst>
                    <a:ext uri="{9D8B030D-6E8A-4147-A177-3AD203B41FA5}">
                      <a16:colId xmlns:a16="http://schemas.microsoft.com/office/drawing/2014/main" val="3969064143"/>
                    </a:ext>
                  </a:extLst>
                </a:gridCol>
                <a:gridCol w="2286001">
                  <a:extLst>
                    <a:ext uri="{9D8B030D-6E8A-4147-A177-3AD203B41FA5}">
                      <a16:colId xmlns:a16="http://schemas.microsoft.com/office/drawing/2014/main" val="1646775704"/>
                    </a:ext>
                  </a:extLst>
                </a:gridCol>
              </a:tblGrid>
              <a:tr h="1222789">
                <a:tc>
                  <a:txBody>
                    <a:bodyPr/>
                    <a:lstStyle/>
                    <a:p>
                      <a:pPr algn="ctr"/>
                      <a:r>
                        <a:rPr lang="en-US" sz="3600" dirty="0">
                          <a:solidFill>
                            <a:schemeClr val="tx1"/>
                          </a:solidFill>
                          <a:latin typeface="Calibri" panose="020F0502020204030204" pitchFamily="34" charset="0"/>
                        </a:rPr>
                        <a:t>Origin Layer</a:t>
                      </a:r>
                    </a:p>
                  </a:txBody>
                  <a:tcPr anchor="ctr"/>
                </a:tc>
                <a:tc>
                  <a:txBody>
                    <a:bodyPr/>
                    <a:lstStyle/>
                    <a:p>
                      <a:pPr algn="ctr"/>
                      <a:r>
                        <a:rPr lang="en-US" sz="3600" dirty="0">
                          <a:solidFill>
                            <a:schemeClr val="tx1"/>
                          </a:solidFill>
                          <a:latin typeface="Calibri" panose="020F0502020204030204" pitchFamily="34" charset="0"/>
                        </a:rPr>
                        <a:t>Target</a:t>
                      </a:r>
                    </a:p>
                  </a:txBody>
                  <a:tcPr anchor="ctr"/>
                </a:tc>
                <a:tc>
                  <a:txBody>
                    <a:bodyPr/>
                    <a:lstStyle/>
                    <a:p>
                      <a:pPr algn="ctr"/>
                      <a:r>
                        <a:rPr lang="en-US" sz="3600" dirty="0">
                          <a:solidFill>
                            <a:schemeClr val="tx1"/>
                          </a:solidFill>
                          <a:latin typeface="Calibri" panose="020F0502020204030204" pitchFamily="34" charset="0"/>
                        </a:rPr>
                        <a:t>Target layer(s)</a:t>
                      </a:r>
                    </a:p>
                  </a:txBody>
                  <a:tcPr anchor="ctr"/>
                </a:tc>
                <a:extLst>
                  <a:ext uri="{0D108BD9-81ED-4DB2-BD59-A6C34878D82A}">
                    <a16:rowId xmlns:a16="http://schemas.microsoft.com/office/drawing/2014/main" val="1572328782"/>
                  </a:ext>
                </a:extLst>
              </a:tr>
              <a:tr h="1216719">
                <a:tc>
                  <a:txBody>
                    <a:bodyPr/>
                    <a:lstStyle/>
                    <a:p>
                      <a:pPr algn="ctr"/>
                      <a:r>
                        <a:rPr lang="en-US" sz="3200" dirty="0">
                          <a:latin typeface="Calibri" panose="020F0502020204030204" pitchFamily="34" charset="0"/>
                        </a:rPr>
                        <a:t>2 &amp; 3</a:t>
                      </a:r>
                    </a:p>
                  </a:txBody>
                  <a:tcPr anchor="ctr"/>
                </a:tc>
                <a:tc>
                  <a:txBody>
                    <a:bodyPr/>
                    <a:lstStyle/>
                    <a:p>
                      <a:r>
                        <a:rPr lang="en-US" sz="3200" dirty="0">
                          <a:latin typeface="Calibri" panose="020F0502020204030204" pitchFamily="34" charset="0"/>
                        </a:rPr>
                        <a:t>Cortico-cortical connections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latin typeface="Calibri" panose="020F0502020204030204" pitchFamily="34" charset="0"/>
                        </a:rPr>
                        <a:t>1, 2, 4, 5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latin typeface="Calibri" panose="020F0502020204030204" pitchFamily="34" charset="0"/>
                        </a:rPr>
                        <a:t>(purple line)</a:t>
                      </a:r>
                    </a:p>
                  </a:txBody>
                  <a:tcPr/>
                </a:tc>
                <a:extLst>
                  <a:ext uri="{0D108BD9-81ED-4DB2-BD59-A6C34878D82A}">
                    <a16:rowId xmlns:a16="http://schemas.microsoft.com/office/drawing/2014/main" val="2560153225"/>
                  </a:ext>
                </a:extLst>
              </a:tr>
              <a:tr h="1772934">
                <a:tc>
                  <a:txBody>
                    <a:bodyPr/>
                    <a:lstStyle/>
                    <a:p>
                      <a:pPr algn="ctr"/>
                      <a:r>
                        <a:rPr lang="en-US" sz="3200" dirty="0">
                          <a:latin typeface="Calibri" panose="020F0502020204030204" pitchFamily="34" charset="0"/>
                        </a:rPr>
                        <a:t>5</a:t>
                      </a:r>
                    </a:p>
                  </a:txBody>
                  <a:tcPr anchor="ctr"/>
                </a:tc>
                <a:tc>
                  <a:txBody>
                    <a:bodyPr/>
                    <a:lstStyle/>
                    <a:p>
                      <a:r>
                        <a:rPr lang="en-US" sz="3200" dirty="0">
                          <a:latin typeface="Calibri" panose="020F0502020204030204" pitchFamily="34" charset="0"/>
                        </a:rPr>
                        <a:t>Corticospinal</a:t>
                      </a:r>
                    </a:p>
                    <a:p>
                      <a:r>
                        <a:rPr lang="en-US" sz="3200" dirty="0"/>
                        <a:t>Corticobulbar</a:t>
                      </a:r>
                    </a:p>
                    <a:p>
                      <a:r>
                        <a:rPr lang="en-US" sz="3200" dirty="0" err="1"/>
                        <a:t>Corticostriatal</a:t>
                      </a:r>
                      <a:endParaRPr lang="en-US" sz="3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latin typeface="Calibri" panose="020F0502020204030204" pitchFamily="34" charset="0"/>
                        </a:rPr>
                        <a:t>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latin typeface="Calibri" panose="020F0502020204030204" pitchFamily="34" charset="0"/>
                        </a:rPr>
                        <a:t>(blue line)</a:t>
                      </a:r>
                    </a:p>
                    <a:p>
                      <a:endParaRPr lang="en-US" sz="3200" dirty="0"/>
                    </a:p>
                  </a:txBody>
                  <a:tcPr/>
                </a:tc>
                <a:extLst>
                  <a:ext uri="{0D108BD9-81ED-4DB2-BD59-A6C34878D82A}">
                    <a16:rowId xmlns:a16="http://schemas.microsoft.com/office/drawing/2014/main" val="2525474042"/>
                  </a:ext>
                </a:extLst>
              </a:tr>
              <a:tr h="773866">
                <a:tc>
                  <a:txBody>
                    <a:bodyPr/>
                    <a:lstStyle/>
                    <a:p>
                      <a:pPr algn="ctr"/>
                      <a:r>
                        <a:rPr lang="en-US" sz="3200" dirty="0">
                          <a:latin typeface="Calibri" panose="020F0502020204030204" pitchFamily="34" charset="0"/>
                        </a:rPr>
                        <a:t>6</a:t>
                      </a:r>
                    </a:p>
                  </a:txBody>
                  <a:tcPr anchor="ctr"/>
                </a:tc>
                <a:tc>
                  <a:txBody>
                    <a:bodyPr/>
                    <a:lstStyle/>
                    <a:p>
                      <a:r>
                        <a:rPr lang="en-US" sz="3200" dirty="0">
                          <a:latin typeface="Calibri" panose="020F0502020204030204" pitchFamily="34" charset="0"/>
                        </a:rPr>
                        <a:t>Corticothalamic</a:t>
                      </a:r>
                    </a:p>
                  </a:txBody>
                  <a:tcPr/>
                </a:tc>
                <a:tc>
                  <a:txBody>
                    <a:bodyPr/>
                    <a:lstStyle/>
                    <a:p>
                      <a:r>
                        <a:rPr lang="en-US" sz="3200" dirty="0">
                          <a:latin typeface="Calibri" panose="020F0502020204030204" pitchFamily="34" charset="0"/>
                        </a:rPr>
                        <a:t>4 (orange)</a:t>
                      </a:r>
                    </a:p>
                  </a:txBody>
                  <a:tcPr/>
                </a:tc>
                <a:extLst>
                  <a:ext uri="{0D108BD9-81ED-4DB2-BD59-A6C34878D82A}">
                    <a16:rowId xmlns:a16="http://schemas.microsoft.com/office/drawing/2014/main" val="50431314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quot;A flow chart is shown, representing the summary of the overall connectivity of the association cortices. Two rectangular boxes are present on the top, separated by a dotted line. The left box represents corresponding cortical areas. The right box represents noncorresponding cortical areas—these two boxes as association cortex of the contralateral hemisphere. Two downward arrows are pointed towards a long rectangular box labeled cerebral cortex from these upper two boxes. The left one represents the motor and premotor cortex. The middle represents frontal, parietal, and temporal. The right one represents other primary and secondary sensory cortical regions. The left and right boxes have arrows pointing towards the middle, and the middlebox also has arrows pointing towards the left and right boxes. Four more boxes are present below the cerebral cortex box, two on the left side and two on the right side. Two boxes at the left as a whole are labeled thalamus. The thalamus has two boxes; the left one represents &quot;&quot;V A/ V L&quot;&quot; (ventral anterior nucleus/ ventral lateral nucleus), and the right one represents &quot;&quot;M D, L P, pulvinar&quot;&quot;(medical dorsal nucleus, lateral posterior nucleus). From the V A/ V L box, an upward arrow is pointed towards the motor and promoter cortex box. From the M D, L P, pulvinar box, an upward arrow is pointed towards the association cortices box. A downward arrow from the association cortices box is pointed towards the M D, L P box. Another downward arrow from the association cortices box is pointed towards one of the two boxes representing &quot;&quot;caudate and putamen&quot;&quot; present at the right side below the association cortices box. Another horizontal arrow emerges from the downward arrow of the association cortices box and is then pointed downwards towards the &quot;&quot;cerebellum&quot;&quot; box, present adjacent to the caudate box. Two downward channels emerge from the caudate and cerebellum box, forming a single arrow running downwards horizontally and then pointed upwards at the bottom of the V A/ V L box. At the bottom of the chart, a box represents brainstem modulatory inputs. An arrow emerges horizontally from the right side of this box, then moves upwards and points towards the long cerebral cortex box on the right side.&#10;&#10;&#10;&quot;&#10;" title="FIGURE 27.3 Summary of the overall connectivity of the association cortices">
            <a:extLst>
              <a:ext uri="{FF2B5EF4-FFF2-40B4-BE49-F238E27FC236}">
                <a16:creationId xmlns:a16="http://schemas.microsoft.com/office/drawing/2014/main" id="{80A0DA79-9E83-EC6D-0D16-778DB131A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400800" y="1863089"/>
            <a:ext cx="5791200" cy="499491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EAD7E3AA-E488-AE97-3A5A-69149772AFAC}"/>
              </a:ext>
            </a:extLst>
          </p:cNvPr>
          <p:cNvSpPr>
            <a:spLocks noGrp="1"/>
          </p:cNvSpPr>
          <p:nvPr>
            <p:ph type="title"/>
          </p:nvPr>
        </p:nvSpPr>
        <p:spPr>
          <a:xfrm>
            <a:off x="1066800" y="76200"/>
            <a:ext cx="10058400" cy="1219200"/>
          </a:xfrm>
        </p:spPr>
        <p:txBody>
          <a:bodyPr/>
          <a:lstStyle/>
          <a:p>
            <a:pPr algn="ctr"/>
            <a:r>
              <a:rPr lang="en-US" dirty="0"/>
              <a:t>Connectivity of Association Cortices</a:t>
            </a:r>
          </a:p>
        </p:txBody>
      </p:sp>
      <p:sp>
        <p:nvSpPr>
          <p:cNvPr id="3" name="Rectangle 3">
            <a:extLst>
              <a:ext uri="{FF2B5EF4-FFF2-40B4-BE49-F238E27FC236}">
                <a16:creationId xmlns:a16="http://schemas.microsoft.com/office/drawing/2014/main" id="{0C6CCDCC-3E1E-6815-EA43-6675721E7629}"/>
              </a:ext>
            </a:extLst>
          </p:cNvPr>
          <p:cNvSpPr txBox="1">
            <a:spLocks noChangeArrowheads="1"/>
          </p:cNvSpPr>
          <p:nvPr/>
        </p:nvSpPr>
        <p:spPr>
          <a:xfrm>
            <a:off x="744186" y="1981200"/>
            <a:ext cx="5643914" cy="3770434"/>
          </a:xfrm>
          <a:prstGeom prst="rect">
            <a:avLst/>
          </a:prstGeom>
        </p:spPr>
        <p:txBody>
          <a:bodyPr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altLang="en-US" sz="2400" dirty="0">
                <a:solidFill>
                  <a:schemeClr val="tx1"/>
                </a:solidFill>
              </a:rPr>
              <a:t>Most inputs are from other cortical areas</a:t>
            </a:r>
          </a:p>
          <a:p>
            <a:pPr>
              <a:buFont typeface="Arial" panose="020B0604020202020204" pitchFamily="34" charset="0"/>
              <a:buChar char="•"/>
            </a:pPr>
            <a:r>
              <a:rPr lang="en-US" altLang="en-US" sz="2400" dirty="0">
                <a:solidFill>
                  <a:schemeClr val="tx1"/>
                </a:solidFill>
              </a:rPr>
              <a:t>Input from the Thalamus</a:t>
            </a:r>
          </a:p>
          <a:p>
            <a:pPr lvl="1">
              <a:buFont typeface="Arial" panose="020B0604020202020204" pitchFamily="34" charset="0"/>
              <a:buChar char="•"/>
            </a:pPr>
            <a:r>
              <a:rPr lang="en-US" altLang="en-US" sz="2400" dirty="0">
                <a:solidFill>
                  <a:schemeClr val="tx1"/>
                </a:solidFill>
              </a:rPr>
              <a:t>Pulvinar → parietal association cortex</a:t>
            </a:r>
          </a:p>
          <a:p>
            <a:pPr lvl="1">
              <a:buFont typeface="Arial" panose="020B0604020202020204" pitchFamily="34" charset="0"/>
              <a:buChar char="•"/>
            </a:pPr>
            <a:r>
              <a:rPr lang="en-US" altLang="en-US" sz="2400" dirty="0">
                <a:solidFill>
                  <a:schemeClr val="tx1"/>
                </a:solidFill>
              </a:rPr>
              <a:t>Medial dorsal nuclei → frontal association cortex</a:t>
            </a:r>
          </a:p>
          <a:p>
            <a:pPr>
              <a:buFont typeface="Arial" panose="020B0604020202020204" pitchFamily="34" charset="0"/>
              <a:buChar char="•"/>
            </a:pPr>
            <a:r>
              <a:rPr lang="en-US" altLang="en-US" sz="2600" dirty="0">
                <a:solidFill>
                  <a:schemeClr val="tx1"/>
                </a:solidFill>
              </a:rPr>
              <a:t>Input from subcortical regions</a:t>
            </a:r>
          </a:p>
          <a:p>
            <a:pPr lvl="1">
              <a:buFont typeface="Arial" panose="020B0604020202020204" pitchFamily="34" charset="0"/>
              <a:buChar char="•"/>
            </a:pPr>
            <a:r>
              <a:rPr lang="en-US" altLang="en-US" sz="2400" dirty="0">
                <a:solidFill>
                  <a:schemeClr val="tx1"/>
                </a:solidFill>
              </a:rPr>
              <a:t>DA, </a:t>
            </a:r>
            <a:r>
              <a:rPr lang="en-US" altLang="en-US" sz="2400" dirty="0" err="1">
                <a:solidFill>
                  <a:schemeClr val="tx1"/>
                </a:solidFill>
              </a:rPr>
              <a:t>ACh</a:t>
            </a:r>
            <a:r>
              <a:rPr lang="en-US" altLang="en-US" sz="2400" dirty="0">
                <a:solidFill>
                  <a:schemeClr val="tx1"/>
                </a:solidFill>
              </a:rPr>
              <a:t>, 5-ht, and NE hubs</a:t>
            </a:r>
          </a:p>
          <a:p>
            <a:pPr lvl="1">
              <a:buFont typeface="Arial" panose="020B0604020202020204" pitchFamily="34" charset="0"/>
              <a:buChar char="•"/>
            </a:pPr>
            <a:endParaRPr lang="en-US" altLang="en-US" sz="30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Title 3"/>
          <p:cNvSpPr>
            <a:spLocks noGrp="1"/>
          </p:cNvSpPr>
          <p:nvPr>
            <p:ph type="title"/>
          </p:nvPr>
        </p:nvSpPr>
        <p:spPr>
          <a:xfrm>
            <a:off x="838200" y="4072046"/>
            <a:ext cx="10668000" cy="2239107"/>
          </a:xfrm>
        </p:spPr>
        <p:txBody>
          <a:bodyPr vert="horz" lIns="91440" tIns="45720" rIns="91440" bIns="45720" rtlCol="0" anchor="ctr">
            <a:normAutofit/>
          </a:bodyPr>
          <a:lstStyle/>
          <a:p>
            <a:pPr algn="ctr"/>
            <a:r>
              <a:rPr lang="en-US" altLang="en-US" sz="3600" kern="1200" dirty="0">
                <a:solidFill>
                  <a:schemeClr val="tx1"/>
                </a:solidFill>
                <a:latin typeface="+mj-lt"/>
                <a:ea typeface="+mj-ea"/>
                <a:cs typeface="+mj-cs"/>
              </a:rPr>
              <a:t>Based on variations in histological features (thickness, cell density, inputs, etc.) of the six neocortical laminae, the human brain can be divided into some 50 cytoarchitectonic (Brodmann) areas</a:t>
            </a:r>
          </a:p>
        </p:txBody>
      </p:sp>
      <p:pic>
        <p:nvPicPr>
          <p:cNvPr id="10243" name="Picture 1" descr="&quot;An image has two diagrams. The first diagram shows the lateral view of the human brain, and the second diagram depicts the medial view of the human brain. The fifty different cytoarchitectonic areas of the human brain, all divided based on variations in the thickness, cell density, and other histological features of the six neocortical laminae, are distinctly highlighted and labeled from 1 to 50 in both the diagrams. These divisions were recognized by the neuroanatomist Korbinian Brodmann in his seminal 1909 monograph.&#10;&quot;&#10;" title="FIGURE 27.1 Structure of the human neocortex, including the association cortices (Part-C)"/>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838200" y="214449"/>
            <a:ext cx="10515599" cy="365417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9728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0583-9104-B18A-B982-826383B28AAE}"/>
              </a:ext>
            </a:extLst>
          </p:cNvPr>
          <p:cNvSpPr>
            <a:spLocks noGrp="1"/>
          </p:cNvSpPr>
          <p:nvPr>
            <p:ph type="title"/>
          </p:nvPr>
        </p:nvSpPr>
        <p:spPr/>
        <p:txBody>
          <a:bodyPr/>
          <a:lstStyle/>
          <a:p>
            <a:pPr algn="ctr"/>
            <a:r>
              <a:rPr lang="en-US" dirty="0"/>
              <a:t>Temporal Cortex</a:t>
            </a:r>
          </a:p>
        </p:txBody>
      </p:sp>
      <p:pic>
        <p:nvPicPr>
          <p:cNvPr id="3" name="Picture 2">
            <a:extLst>
              <a:ext uri="{FF2B5EF4-FFF2-40B4-BE49-F238E27FC236}">
                <a16:creationId xmlns:a16="http://schemas.microsoft.com/office/drawing/2014/main" id="{2FE55C3C-0578-452F-835A-53F25A680C58}"/>
              </a:ext>
            </a:extLst>
          </p:cNvPr>
          <p:cNvPicPr>
            <a:picLocks noChangeAspect="1"/>
          </p:cNvPicPr>
          <p:nvPr/>
        </p:nvPicPr>
        <p:blipFill>
          <a:blip r:embed="rId2"/>
          <a:stretch>
            <a:fillRect/>
          </a:stretch>
        </p:blipFill>
        <p:spPr>
          <a:xfrm>
            <a:off x="2976372" y="1903091"/>
            <a:ext cx="6239256" cy="4936120"/>
          </a:xfrm>
          <a:prstGeom prst="rect">
            <a:avLst/>
          </a:prstGeom>
        </p:spPr>
      </p:pic>
    </p:spTree>
    <p:extLst>
      <p:ext uri="{BB962C8B-B14F-4D97-AF65-F5344CB8AC3E}">
        <p14:creationId xmlns:p14="http://schemas.microsoft.com/office/powerpoint/2010/main" val="3662099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D91E82-1721-609D-5256-BA7997B20C40}"/>
              </a:ext>
            </a:extLst>
          </p:cNvPr>
          <p:cNvSpPr>
            <a:spLocks noGrp="1"/>
          </p:cNvSpPr>
          <p:nvPr>
            <p:ph type="title"/>
          </p:nvPr>
        </p:nvSpPr>
        <p:spPr/>
        <p:txBody>
          <a:bodyPr/>
          <a:lstStyle/>
          <a:p>
            <a:r>
              <a:rPr lang="en-US" dirty="0">
                <a:solidFill>
                  <a:schemeClr val="tx1"/>
                </a:solidFill>
              </a:rPr>
              <a:t>Temporal cortex includes</a:t>
            </a:r>
          </a:p>
        </p:txBody>
      </p:sp>
      <p:sp>
        <p:nvSpPr>
          <p:cNvPr id="7" name="Straight Connector 6">
            <a:extLst>
              <a:ext uri="{FF2B5EF4-FFF2-40B4-BE49-F238E27FC236}">
                <a16:creationId xmlns:a16="http://schemas.microsoft.com/office/drawing/2014/main" id="{BC1331CA-BB49-8873-6533-EDBE41DCD0AE}"/>
              </a:ext>
            </a:extLst>
          </p:cNvPr>
          <p:cNvSpPr/>
          <p:nvPr/>
        </p:nvSpPr>
        <p:spPr>
          <a:xfrm>
            <a:off x="975466" y="6324600"/>
            <a:ext cx="5486400" cy="0"/>
          </a:xfrm>
          <a:prstGeom prst="line">
            <a:avLst/>
          </a:prstGeom>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8" name="Straight Connector 7">
            <a:extLst>
              <a:ext uri="{FF2B5EF4-FFF2-40B4-BE49-F238E27FC236}">
                <a16:creationId xmlns:a16="http://schemas.microsoft.com/office/drawing/2014/main" id="{A9430ADE-0001-789A-64AA-2FBD703C1E3B}"/>
              </a:ext>
            </a:extLst>
          </p:cNvPr>
          <p:cNvSpPr/>
          <p:nvPr/>
        </p:nvSpPr>
        <p:spPr>
          <a:xfrm>
            <a:off x="974422" y="4876800"/>
            <a:ext cx="5486400" cy="0"/>
          </a:xfrm>
          <a:prstGeom prst="line">
            <a:avLst/>
          </a:prstGeom>
          <a:ln>
            <a:solidFill>
              <a:schemeClr val="accent4"/>
            </a:solidFill>
          </a:ln>
        </p:spPr>
        <p:style>
          <a:lnRef idx="2">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9" name="Straight Connector 8">
            <a:extLst>
              <a:ext uri="{FF2B5EF4-FFF2-40B4-BE49-F238E27FC236}">
                <a16:creationId xmlns:a16="http://schemas.microsoft.com/office/drawing/2014/main" id="{E411ECF0-2F0B-5C5A-3AE7-48D7083D1EE4}"/>
              </a:ext>
            </a:extLst>
          </p:cNvPr>
          <p:cNvSpPr/>
          <p:nvPr/>
        </p:nvSpPr>
        <p:spPr>
          <a:xfrm>
            <a:off x="975466" y="3313391"/>
            <a:ext cx="5486400" cy="0"/>
          </a:xfrm>
          <a:prstGeom prst="line">
            <a:avLst/>
          </a:prstGeom>
          <a:ln>
            <a:solidFill>
              <a:schemeClr val="accent3"/>
            </a:solidFill>
          </a:ln>
        </p:spPr>
        <p:style>
          <a:lnRef idx="2">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10" name="Freeform: Shape 9">
            <a:extLst>
              <a:ext uri="{FF2B5EF4-FFF2-40B4-BE49-F238E27FC236}">
                <a16:creationId xmlns:a16="http://schemas.microsoft.com/office/drawing/2014/main" id="{26256371-A1A9-4927-975C-EBDD264F3813}"/>
              </a:ext>
            </a:extLst>
          </p:cNvPr>
          <p:cNvSpPr/>
          <p:nvPr/>
        </p:nvSpPr>
        <p:spPr>
          <a:xfrm>
            <a:off x="3254319" y="2133600"/>
            <a:ext cx="3200400" cy="1179791"/>
          </a:xfrm>
          <a:custGeom>
            <a:avLst/>
            <a:gdLst>
              <a:gd name="connsiteX0" fmla="*/ 0 w 4663440"/>
              <a:gd name="connsiteY0" fmla="*/ 0 h 1179791"/>
              <a:gd name="connsiteX1" fmla="*/ 4663440 w 4663440"/>
              <a:gd name="connsiteY1" fmla="*/ 0 h 1179791"/>
              <a:gd name="connsiteX2" fmla="*/ 4663440 w 4663440"/>
              <a:gd name="connsiteY2" fmla="*/ 1179791 h 1179791"/>
              <a:gd name="connsiteX3" fmla="*/ 0 w 4663440"/>
              <a:gd name="connsiteY3" fmla="*/ 1179791 h 1179791"/>
              <a:gd name="connsiteX4" fmla="*/ 0 w 4663440"/>
              <a:gd name="connsiteY4" fmla="*/ 0 h 1179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3440" h="1179791">
                <a:moveTo>
                  <a:pt x="0" y="0"/>
                </a:moveTo>
                <a:lnTo>
                  <a:pt x="4663440" y="0"/>
                </a:lnTo>
                <a:lnTo>
                  <a:pt x="4663440" y="1179791"/>
                </a:lnTo>
                <a:lnTo>
                  <a:pt x="0" y="11797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6675" tIns="66675" rIns="66675" bIns="66675" numCol="1" spcCol="1270" anchor="b" anchorCtr="0">
            <a:noAutofit/>
          </a:bodyPr>
          <a:lstStyle/>
          <a:p>
            <a:pPr marL="0" lvl="0" indent="0" algn="l" defTabSz="1555750">
              <a:lnSpc>
                <a:spcPct val="90000"/>
              </a:lnSpc>
              <a:spcBef>
                <a:spcPct val="0"/>
              </a:spcBef>
              <a:buNone/>
            </a:pPr>
            <a:r>
              <a:rPr lang="en-US" sz="3500" kern="1200" dirty="0">
                <a:latin typeface="Calibri" panose="020F0502020204030204" pitchFamily="34" charset="0"/>
              </a:rPr>
              <a:t>Auditory cortex</a:t>
            </a:r>
          </a:p>
        </p:txBody>
      </p:sp>
      <p:sp>
        <p:nvSpPr>
          <p:cNvPr id="11" name="Freeform: Shape 10">
            <a:extLst>
              <a:ext uri="{FF2B5EF4-FFF2-40B4-BE49-F238E27FC236}">
                <a16:creationId xmlns:a16="http://schemas.microsoft.com/office/drawing/2014/main" id="{0B332EDB-3748-0C34-60B1-C52037076A3C}"/>
              </a:ext>
            </a:extLst>
          </p:cNvPr>
          <p:cNvSpPr/>
          <p:nvPr/>
        </p:nvSpPr>
        <p:spPr>
          <a:xfrm>
            <a:off x="839244" y="2133600"/>
            <a:ext cx="2388367" cy="1179791"/>
          </a:xfrm>
          <a:custGeom>
            <a:avLst/>
            <a:gdLst>
              <a:gd name="connsiteX0" fmla="*/ 196671 w 2388367"/>
              <a:gd name="connsiteY0" fmla="*/ 0 h 1179791"/>
              <a:gd name="connsiteX1" fmla="*/ 2191696 w 2388367"/>
              <a:gd name="connsiteY1" fmla="*/ 0 h 1179791"/>
              <a:gd name="connsiteX2" fmla="*/ 2388367 w 2388367"/>
              <a:gd name="connsiteY2" fmla="*/ 196671 h 1179791"/>
              <a:gd name="connsiteX3" fmla="*/ 2388367 w 2388367"/>
              <a:gd name="connsiteY3" fmla="*/ 1179791 h 1179791"/>
              <a:gd name="connsiteX4" fmla="*/ 2388367 w 2388367"/>
              <a:gd name="connsiteY4" fmla="*/ 1179791 h 1179791"/>
              <a:gd name="connsiteX5" fmla="*/ 0 w 2388367"/>
              <a:gd name="connsiteY5" fmla="*/ 1179791 h 1179791"/>
              <a:gd name="connsiteX6" fmla="*/ 0 w 2388367"/>
              <a:gd name="connsiteY6" fmla="*/ 1179791 h 1179791"/>
              <a:gd name="connsiteX7" fmla="*/ 0 w 2388367"/>
              <a:gd name="connsiteY7" fmla="*/ 196671 h 1179791"/>
              <a:gd name="connsiteX8" fmla="*/ 196671 w 2388367"/>
              <a:gd name="connsiteY8" fmla="*/ 0 h 117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367" h="1179791">
                <a:moveTo>
                  <a:pt x="196671" y="0"/>
                </a:moveTo>
                <a:lnTo>
                  <a:pt x="2191696" y="0"/>
                </a:lnTo>
                <a:cubicBezTo>
                  <a:pt x="2300314" y="0"/>
                  <a:pt x="2388367" y="88053"/>
                  <a:pt x="2388367" y="196671"/>
                </a:cubicBezTo>
                <a:lnTo>
                  <a:pt x="2388367" y="1179791"/>
                </a:lnTo>
                <a:lnTo>
                  <a:pt x="2388367" y="1179791"/>
                </a:lnTo>
                <a:lnTo>
                  <a:pt x="0" y="1179791"/>
                </a:lnTo>
                <a:lnTo>
                  <a:pt x="0" y="1179791"/>
                </a:lnTo>
                <a:lnTo>
                  <a:pt x="0" y="196671"/>
                </a:lnTo>
                <a:cubicBezTo>
                  <a:pt x="0" y="88053"/>
                  <a:pt x="88053" y="0"/>
                  <a:pt x="196671" y="0"/>
                </a:cubicBezTo>
                <a:close/>
              </a:path>
            </a:pathLst>
          </a:custGeom>
          <a:solidFill>
            <a:schemeClr val="accent3"/>
          </a:solidFill>
          <a:ln>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24278" tIns="124278" rIns="124278" bIns="66675" numCol="1" spcCol="1270" anchor="ctr" anchorCtr="0">
            <a:noAutofit/>
          </a:bodyPr>
          <a:lstStyle/>
          <a:p>
            <a:pPr marL="0" lvl="0" indent="0" algn="ctr" defTabSz="1555750">
              <a:lnSpc>
                <a:spcPct val="90000"/>
              </a:lnSpc>
              <a:spcBef>
                <a:spcPct val="0"/>
              </a:spcBef>
              <a:spcAft>
                <a:spcPct val="35000"/>
              </a:spcAft>
              <a:buNone/>
            </a:pPr>
            <a:r>
              <a:rPr lang="en-US" sz="3200" kern="1200" dirty="0">
                <a:solidFill>
                  <a:schemeClr val="tx1"/>
                </a:solidFill>
                <a:latin typeface="Calibri" panose="020F0502020204030204" pitchFamily="34" charset="0"/>
              </a:rPr>
              <a:t>BA </a:t>
            </a:r>
            <a:r>
              <a:rPr lang="en-US" sz="3200" dirty="0">
                <a:solidFill>
                  <a:schemeClr val="tx1"/>
                </a:solidFill>
                <a:latin typeface="Calibri" panose="020F0502020204030204" pitchFamily="34" charset="0"/>
              </a:rPr>
              <a:t>41,42 &amp; 22</a:t>
            </a:r>
            <a:endParaRPr lang="en-US" sz="3200" kern="1200" dirty="0">
              <a:solidFill>
                <a:schemeClr val="tx1"/>
              </a:solidFill>
              <a:latin typeface="Calibri" panose="020F0502020204030204" pitchFamily="34" charset="0"/>
            </a:endParaRPr>
          </a:p>
        </p:txBody>
      </p:sp>
      <p:sp>
        <p:nvSpPr>
          <p:cNvPr id="12" name="Freeform: Shape 11">
            <a:extLst>
              <a:ext uri="{FF2B5EF4-FFF2-40B4-BE49-F238E27FC236}">
                <a16:creationId xmlns:a16="http://schemas.microsoft.com/office/drawing/2014/main" id="{B5633A4F-B9B2-527D-CC88-A37D8C71F544}"/>
              </a:ext>
            </a:extLst>
          </p:cNvPr>
          <p:cNvSpPr/>
          <p:nvPr/>
        </p:nvSpPr>
        <p:spPr>
          <a:xfrm>
            <a:off x="3253274" y="3697009"/>
            <a:ext cx="4519126" cy="1179791"/>
          </a:xfrm>
          <a:custGeom>
            <a:avLst/>
            <a:gdLst>
              <a:gd name="connsiteX0" fmla="*/ 0 w 4663440"/>
              <a:gd name="connsiteY0" fmla="*/ 0 h 1179791"/>
              <a:gd name="connsiteX1" fmla="*/ 4663440 w 4663440"/>
              <a:gd name="connsiteY1" fmla="*/ 0 h 1179791"/>
              <a:gd name="connsiteX2" fmla="*/ 4663440 w 4663440"/>
              <a:gd name="connsiteY2" fmla="*/ 1179791 h 1179791"/>
              <a:gd name="connsiteX3" fmla="*/ 0 w 4663440"/>
              <a:gd name="connsiteY3" fmla="*/ 1179791 h 1179791"/>
              <a:gd name="connsiteX4" fmla="*/ 0 w 4663440"/>
              <a:gd name="connsiteY4" fmla="*/ 0 h 1179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3440" h="1179791">
                <a:moveTo>
                  <a:pt x="0" y="0"/>
                </a:moveTo>
                <a:lnTo>
                  <a:pt x="4663440" y="0"/>
                </a:lnTo>
                <a:lnTo>
                  <a:pt x="4663440" y="1179791"/>
                </a:lnTo>
                <a:lnTo>
                  <a:pt x="0" y="11797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6675" tIns="66675" rIns="66675" bIns="66675" numCol="1" spcCol="1270" anchor="b" anchorCtr="0">
            <a:noAutofit/>
          </a:bodyPr>
          <a:lstStyle/>
          <a:p>
            <a:pPr marL="0" lvl="0" indent="0" algn="l" defTabSz="1555750">
              <a:lnSpc>
                <a:spcPct val="90000"/>
              </a:lnSpc>
              <a:spcBef>
                <a:spcPct val="0"/>
              </a:spcBef>
              <a:buNone/>
            </a:pPr>
            <a:r>
              <a:rPr lang="en-US" sz="3500" kern="1200" dirty="0">
                <a:latin typeface="Calibri" panose="020F0502020204030204" pitchFamily="34" charset="0"/>
              </a:rPr>
              <a:t>Inferior temporal cortex Fusiform gyrus</a:t>
            </a:r>
          </a:p>
        </p:txBody>
      </p:sp>
      <p:sp>
        <p:nvSpPr>
          <p:cNvPr id="13" name="Freeform: Shape 12">
            <a:extLst>
              <a:ext uri="{FF2B5EF4-FFF2-40B4-BE49-F238E27FC236}">
                <a16:creationId xmlns:a16="http://schemas.microsoft.com/office/drawing/2014/main" id="{12AAB9DA-F521-A753-A415-9A8DEEDDD536}"/>
              </a:ext>
            </a:extLst>
          </p:cNvPr>
          <p:cNvSpPr/>
          <p:nvPr/>
        </p:nvSpPr>
        <p:spPr>
          <a:xfrm>
            <a:off x="838200" y="3697009"/>
            <a:ext cx="2388367" cy="1179791"/>
          </a:xfrm>
          <a:custGeom>
            <a:avLst/>
            <a:gdLst>
              <a:gd name="connsiteX0" fmla="*/ 196671 w 2388367"/>
              <a:gd name="connsiteY0" fmla="*/ 0 h 1179791"/>
              <a:gd name="connsiteX1" fmla="*/ 2191696 w 2388367"/>
              <a:gd name="connsiteY1" fmla="*/ 0 h 1179791"/>
              <a:gd name="connsiteX2" fmla="*/ 2388367 w 2388367"/>
              <a:gd name="connsiteY2" fmla="*/ 196671 h 1179791"/>
              <a:gd name="connsiteX3" fmla="*/ 2388367 w 2388367"/>
              <a:gd name="connsiteY3" fmla="*/ 1179791 h 1179791"/>
              <a:gd name="connsiteX4" fmla="*/ 2388367 w 2388367"/>
              <a:gd name="connsiteY4" fmla="*/ 1179791 h 1179791"/>
              <a:gd name="connsiteX5" fmla="*/ 0 w 2388367"/>
              <a:gd name="connsiteY5" fmla="*/ 1179791 h 1179791"/>
              <a:gd name="connsiteX6" fmla="*/ 0 w 2388367"/>
              <a:gd name="connsiteY6" fmla="*/ 1179791 h 1179791"/>
              <a:gd name="connsiteX7" fmla="*/ 0 w 2388367"/>
              <a:gd name="connsiteY7" fmla="*/ 196671 h 1179791"/>
              <a:gd name="connsiteX8" fmla="*/ 196671 w 2388367"/>
              <a:gd name="connsiteY8" fmla="*/ 0 h 117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367" h="1179791">
                <a:moveTo>
                  <a:pt x="196671" y="0"/>
                </a:moveTo>
                <a:lnTo>
                  <a:pt x="2191696" y="0"/>
                </a:lnTo>
                <a:cubicBezTo>
                  <a:pt x="2300314" y="0"/>
                  <a:pt x="2388367" y="88053"/>
                  <a:pt x="2388367" y="196671"/>
                </a:cubicBezTo>
                <a:lnTo>
                  <a:pt x="2388367" y="1179791"/>
                </a:lnTo>
                <a:lnTo>
                  <a:pt x="2388367" y="1179791"/>
                </a:lnTo>
                <a:lnTo>
                  <a:pt x="0" y="1179791"/>
                </a:lnTo>
                <a:lnTo>
                  <a:pt x="0" y="1179791"/>
                </a:lnTo>
                <a:lnTo>
                  <a:pt x="0" y="196671"/>
                </a:lnTo>
                <a:cubicBezTo>
                  <a:pt x="0" y="88053"/>
                  <a:pt x="88053" y="0"/>
                  <a:pt x="196671" y="0"/>
                </a:cubicBezTo>
                <a:close/>
              </a:path>
            </a:pathLst>
          </a:custGeom>
          <a:solidFill>
            <a:schemeClr val="accent4"/>
          </a:solidFill>
          <a:ln>
            <a:solidFill>
              <a:schemeClr val="accent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24278" tIns="124278" rIns="124278" bIns="66675" numCol="1" spcCol="1270" anchor="ctr" anchorCtr="0">
            <a:noAutofit/>
          </a:bodyPr>
          <a:lstStyle/>
          <a:p>
            <a:pPr marL="0" lvl="0" indent="0" algn="ctr" defTabSz="1555750">
              <a:lnSpc>
                <a:spcPct val="90000"/>
              </a:lnSpc>
              <a:spcBef>
                <a:spcPct val="0"/>
              </a:spcBef>
              <a:spcAft>
                <a:spcPct val="35000"/>
              </a:spcAft>
              <a:buNone/>
            </a:pPr>
            <a:r>
              <a:rPr lang="en-US" sz="3200" kern="1200" dirty="0">
                <a:solidFill>
                  <a:schemeClr val="tx1"/>
                </a:solidFill>
                <a:latin typeface="Calibri" panose="020F0502020204030204" pitchFamily="34" charset="0"/>
              </a:rPr>
              <a:t>BA </a:t>
            </a:r>
            <a:r>
              <a:rPr lang="en-US" sz="3200" dirty="0">
                <a:solidFill>
                  <a:schemeClr val="tx1"/>
                </a:solidFill>
                <a:latin typeface="Calibri" panose="020F0502020204030204" pitchFamily="34" charset="0"/>
              </a:rPr>
              <a:t>20, 21 &amp; 37</a:t>
            </a:r>
            <a:endParaRPr lang="en-US" sz="3200" kern="1200" dirty="0">
              <a:solidFill>
                <a:schemeClr val="tx1"/>
              </a:solidFill>
              <a:latin typeface="Calibri" panose="020F0502020204030204" pitchFamily="34" charset="0"/>
            </a:endParaRPr>
          </a:p>
        </p:txBody>
      </p:sp>
      <p:sp>
        <p:nvSpPr>
          <p:cNvPr id="14" name="Freeform: Shape 13">
            <a:extLst>
              <a:ext uri="{FF2B5EF4-FFF2-40B4-BE49-F238E27FC236}">
                <a16:creationId xmlns:a16="http://schemas.microsoft.com/office/drawing/2014/main" id="{82EDFF55-1983-D2B2-2B9D-6BEF7FB0A50E}"/>
              </a:ext>
            </a:extLst>
          </p:cNvPr>
          <p:cNvSpPr/>
          <p:nvPr/>
        </p:nvSpPr>
        <p:spPr>
          <a:xfrm>
            <a:off x="3254319" y="5144809"/>
            <a:ext cx="3200400" cy="1179791"/>
          </a:xfrm>
          <a:custGeom>
            <a:avLst/>
            <a:gdLst>
              <a:gd name="connsiteX0" fmla="*/ 0 w 4663440"/>
              <a:gd name="connsiteY0" fmla="*/ 0 h 1179791"/>
              <a:gd name="connsiteX1" fmla="*/ 4663440 w 4663440"/>
              <a:gd name="connsiteY1" fmla="*/ 0 h 1179791"/>
              <a:gd name="connsiteX2" fmla="*/ 4663440 w 4663440"/>
              <a:gd name="connsiteY2" fmla="*/ 1179791 h 1179791"/>
              <a:gd name="connsiteX3" fmla="*/ 0 w 4663440"/>
              <a:gd name="connsiteY3" fmla="*/ 1179791 h 1179791"/>
              <a:gd name="connsiteX4" fmla="*/ 0 w 4663440"/>
              <a:gd name="connsiteY4" fmla="*/ 0 h 1179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63440" h="1179791">
                <a:moveTo>
                  <a:pt x="0" y="0"/>
                </a:moveTo>
                <a:lnTo>
                  <a:pt x="4663440" y="0"/>
                </a:lnTo>
                <a:lnTo>
                  <a:pt x="4663440" y="1179791"/>
                </a:lnTo>
                <a:lnTo>
                  <a:pt x="0" y="11797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6675" tIns="66675" rIns="66675" bIns="66675" numCol="1" spcCol="1270" anchor="b" anchorCtr="0">
            <a:noAutofit/>
          </a:bodyPr>
          <a:lstStyle/>
          <a:p>
            <a:pPr marL="0" lvl="0" indent="0" algn="l" defTabSz="1555750">
              <a:lnSpc>
                <a:spcPct val="90000"/>
              </a:lnSpc>
              <a:spcBef>
                <a:spcPct val="0"/>
              </a:spcBef>
              <a:buNone/>
            </a:pPr>
            <a:r>
              <a:rPr lang="en-US" sz="3500" kern="1200" dirty="0">
                <a:latin typeface="Calibri" panose="020F0502020204030204" pitchFamily="34" charset="0"/>
              </a:rPr>
              <a:t>Medial temporal cortex</a:t>
            </a:r>
          </a:p>
        </p:txBody>
      </p:sp>
      <p:sp>
        <p:nvSpPr>
          <p:cNvPr id="15" name="Freeform: Shape 14">
            <a:extLst>
              <a:ext uri="{FF2B5EF4-FFF2-40B4-BE49-F238E27FC236}">
                <a16:creationId xmlns:a16="http://schemas.microsoft.com/office/drawing/2014/main" id="{733C836D-3D0D-3044-73E0-56A4B64EE329}"/>
              </a:ext>
            </a:extLst>
          </p:cNvPr>
          <p:cNvSpPr/>
          <p:nvPr/>
        </p:nvSpPr>
        <p:spPr>
          <a:xfrm>
            <a:off x="839244" y="5144809"/>
            <a:ext cx="2388367" cy="1179791"/>
          </a:xfrm>
          <a:custGeom>
            <a:avLst/>
            <a:gdLst>
              <a:gd name="connsiteX0" fmla="*/ 196671 w 2388367"/>
              <a:gd name="connsiteY0" fmla="*/ 0 h 1179791"/>
              <a:gd name="connsiteX1" fmla="*/ 2191696 w 2388367"/>
              <a:gd name="connsiteY1" fmla="*/ 0 h 1179791"/>
              <a:gd name="connsiteX2" fmla="*/ 2388367 w 2388367"/>
              <a:gd name="connsiteY2" fmla="*/ 196671 h 1179791"/>
              <a:gd name="connsiteX3" fmla="*/ 2388367 w 2388367"/>
              <a:gd name="connsiteY3" fmla="*/ 1179791 h 1179791"/>
              <a:gd name="connsiteX4" fmla="*/ 2388367 w 2388367"/>
              <a:gd name="connsiteY4" fmla="*/ 1179791 h 1179791"/>
              <a:gd name="connsiteX5" fmla="*/ 0 w 2388367"/>
              <a:gd name="connsiteY5" fmla="*/ 1179791 h 1179791"/>
              <a:gd name="connsiteX6" fmla="*/ 0 w 2388367"/>
              <a:gd name="connsiteY6" fmla="*/ 1179791 h 1179791"/>
              <a:gd name="connsiteX7" fmla="*/ 0 w 2388367"/>
              <a:gd name="connsiteY7" fmla="*/ 196671 h 1179791"/>
              <a:gd name="connsiteX8" fmla="*/ 196671 w 2388367"/>
              <a:gd name="connsiteY8" fmla="*/ 0 h 117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8367" h="1179791">
                <a:moveTo>
                  <a:pt x="196671" y="0"/>
                </a:moveTo>
                <a:lnTo>
                  <a:pt x="2191696" y="0"/>
                </a:lnTo>
                <a:cubicBezTo>
                  <a:pt x="2300314" y="0"/>
                  <a:pt x="2388367" y="88053"/>
                  <a:pt x="2388367" y="196671"/>
                </a:cubicBezTo>
                <a:lnTo>
                  <a:pt x="2388367" y="1179791"/>
                </a:lnTo>
                <a:lnTo>
                  <a:pt x="2388367" y="1179791"/>
                </a:lnTo>
                <a:lnTo>
                  <a:pt x="0" y="1179791"/>
                </a:lnTo>
                <a:lnTo>
                  <a:pt x="0" y="1179791"/>
                </a:lnTo>
                <a:lnTo>
                  <a:pt x="0" y="196671"/>
                </a:lnTo>
                <a:cubicBezTo>
                  <a:pt x="0" y="88053"/>
                  <a:pt x="88053" y="0"/>
                  <a:pt x="196671" y="0"/>
                </a:cubicBez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4278" tIns="124278" rIns="124278" bIns="66675" numCol="1" spcCol="1270" anchor="ctr" anchorCtr="0">
            <a:noAutofit/>
          </a:bodyPr>
          <a:lstStyle/>
          <a:p>
            <a:pPr marL="0" lvl="0" indent="0" algn="ctr" defTabSz="1555750">
              <a:lnSpc>
                <a:spcPct val="90000"/>
              </a:lnSpc>
              <a:spcBef>
                <a:spcPct val="0"/>
              </a:spcBef>
              <a:spcAft>
                <a:spcPct val="35000"/>
              </a:spcAft>
              <a:buNone/>
            </a:pPr>
            <a:r>
              <a:rPr lang="en-US" sz="3200" kern="1200" dirty="0">
                <a:solidFill>
                  <a:schemeClr val="tx1"/>
                </a:solidFill>
                <a:latin typeface="Calibri" panose="020F0502020204030204" pitchFamily="34" charset="0"/>
              </a:rPr>
              <a:t>BA 27, 28 &amp; 34, 35, 36</a:t>
            </a:r>
          </a:p>
        </p:txBody>
      </p:sp>
      <p:pic>
        <p:nvPicPr>
          <p:cNvPr id="51202" name="!!Temporal">
            <a:extLst>
              <a:ext uri="{FF2B5EF4-FFF2-40B4-BE49-F238E27FC236}">
                <a16:creationId xmlns:a16="http://schemas.microsoft.com/office/drawing/2014/main" id="{0C3E19E6-6B8D-C472-6F1C-BB14ABD31B5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0000" y="-16296"/>
            <a:ext cx="4251960" cy="3140496"/>
          </a:xfrm>
          <a:prstGeom prst="rect">
            <a:avLst/>
          </a:prstGeom>
          <a:noFill/>
          <a:extLst>
            <a:ext uri="{909E8E84-426E-40DD-AFC4-6F175D3DCCD1}">
              <a14:hiddenFill xmlns:a14="http://schemas.microsoft.com/office/drawing/2010/main">
                <a:solidFill>
                  <a:srgbClr val="FFFFFF"/>
                </a:solidFill>
              </a14:hiddenFill>
            </a:ext>
          </a:extLst>
        </p:spPr>
      </p:pic>
      <p:pic>
        <p:nvPicPr>
          <p:cNvPr id="52226" name="Picture 2">
            <a:extLst>
              <a:ext uri="{FF2B5EF4-FFF2-40B4-BE49-F238E27FC236}">
                <a16:creationId xmlns:a16="http://schemas.microsoft.com/office/drawing/2014/main" id="{03982118-B29B-796A-9532-7A045BCB68A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9952" y="3631099"/>
            <a:ext cx="4251960" cy="2945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73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D91E82-1721-609D-5256-BA7997B20C40}"/>
              </a:ext>
            </a:extLst>
          </p:cNvPr>
          <p:cNvSpPr>
            <a:spLocks noGrp="1"/>
          </p:cNvSpPr>
          <p:nvPr>
            <p:ph type="title"/>
          </p:nvPr>
        </p:nvSpPr>
        <p:spPr/>
        <p:txBody>
          <a:bodyPr/>
          <a:lstStyle/>
          <a:p>
            <a:r>
              <a:rPr lang="en-US" dirty="0">
                <a:solidFill>
                  <a:schemeClr val="tx1"/>
                </a:solidFill>
              </a:rPr>
              <a:t>Temporal cortex functions</a:t>
            </a:r>
          </a:p>
        </p:txBody>
      </p:sp>
      <p:pic>
        <p:nvPicPr>
          <p:cNvPr id="51202" name="Picture 2">
            <a:extLst>
              <a:ext uri="{FF2B5EF4-FFF2-40B4-BE49-F238E27FC236}">
                <a16:creationId xmlns:a16="http://schemas.microsoft.com/office/drawing/2014/main" id="{0C3E19E6-6B8D-C472-6F1C-BB14ABD31B5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0000" y="-16296"/>
            <a:ext cx="4251960" cy="3140496"/>
          </a:xfrm>
          <a:prstGeom prst="rect">
            <a:avLst/>
          </a:prstGeom>
          <a:noFill/>
          <a:extLst>
            <a:ext uri="{909E8E84-426E-40DD-AFC4-6F175D3DCCD1}">
              <a14:hiddenFill xmlns:a14="http://schemas.microsoft.com/office/drawing/2010/main">
                <a:solidFill>
                  <a:srgbClr val="FFFFFF"/>
                </a:solidFill>
              </a14:hiddenFill>
            </a:ext>
          </a:extLst>
        </p:spPr>
      </p:pic>
      <p:pic>
        <p:nvPicPr>
          <p:cNvPr id="52226" name="Picture 2">
            <a:extLst>
              <a:ext uri="{FF2B5EF4-FFF2-40B4-BE49-F238E27FC236}">
                <a16:creationId xmlns:a16="http://schemas.microsoft.com/office/drawing/2014/main" id="{03982118-B29B-796A-9532-7A045BCB68A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9952" y="3631099"/>
            <a:ext cx="4251960" cy="2945368"/>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39AE6993-AA76-9173-D0A2-433AAC9CAFC7}"/>
              </a:ext>
            </a:extLst>
          </p:cNvPr>
          <p:cNvGrpSpPr/>
          <p:nvPr/>
        </p:nvGrpSpPr>
        <p:grpSpPr>
          <a:xfrm>
            <a:off x="762000" y="1656826"/>
            <a:ext cx="6629400" cy="1087332"/>
            <a:chOff x="762000" y="1656826"/>
            <a:chExt cx="6629400" cy="1087332"/>
          </a:xfrm>
        </p:grpSpPr>
        <p:sp>
          <p:nvSpPr>
            <p:cNvPr id="18" name="Straight Connector 17">
              <a:extLst>
                <a:ext uri="{FF2B5EF4-FFF2-40B4-BE49-F238E27FC236}">
                  <a16:creationId xmlns:a16="http://schemas.microsoft.com/office/drawing/2014/main" id="{4A4438C7-D303-9387-6CE7-9B465156A4C0}"/>
                </a:ext>
              </a:extLst>
            </p:cNvPr>
            <p:cNvSpPr/>
            <p:nvPr/>
          </p:nvSpPr>
          <p:spPr>
            <a:xfrm>
              <a:off x="762000" y="2744158"/>
              <a:ext cx="6629400" cy="0"/>
            </a:xfrm>
            <a:prstGeom prst="line">
              <a:avLst/>
            </a:prstGeom>
          </p:spPr>
          <p:style>
            <a:lnRef idx="2">
              <a:schemeClr val="accent3">
                <a:hueOff val="0"/>
                <a:satOff val="0"/>
                <a:lumOff val="0"/>
                <a:alphaOff val="0"/>
              </a:schemeClr>
            </a:lnRef>
            <a:fillRef idx="0">
              <a:schemeClr val="accent3">
                <a:hueOff val="0"/>
                <a:satOff val="0"/>
                <a:lumOff val="0"/>
                <a:alphaOff val="0"/>
              </a:schemeClr>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19" name="Freeform: Shape 18">
              <a:extLst>
                <a:ext uri="{FF2B5EF4-FFF2-40B4-BE49-F238E27FC236}">
                  <a16:creationId xmlns:a16="http://schemas.microsoft.com/office/drawing/2014/main" id="{9E566548-ECFB-35A2-B1EC-DDC0C2CF8A90}"/>
                </a:ext>
              </a:extLst>
            </p:cNvPr>
            <p:cNvSpPr/>
            <p:nvPr/>
          </p:nvSpPr>
          <p:spPr>
            <a:xfrm>
              <a:off x="2485643" y="1830261"/>
              <a:ext cx="4905756" cy="913897"/>
            </a:xfrm>
            <a:custGeom>
              <a:avLst/>
              <a:gdLst>
                <a:gd name="connsiteX0" fmla="*/ 0 w 4905756"/>
                <a:gd name="connsiteY0" fmla="*/ 0 h 913897"/>
                <a:gd name="connsiteX1" fmla="*/ 4905756 w 4905756"/>
                <a:gd name="connsiteY1" fmla="*/ 0 h 913897"/>
                <a:gd name="connsiteX2" fmla="*/ 4905756 w 4905756"/>
                <a:gd name="connsiteY2" fmla="*/ 913897 h 913897"/>
                <a:gd name="connsiteX3" fmla="*/ 0 w 4905756"/>
                <a:gd name="connsiteY3" fmla="*/ 913897 h 913897"/>
                <a:gd name="connsiteX4" fmla="*/ 0 w 4905756"/>
                <a:gd name="connsiteY4" fmla="*/ 0 h 91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5756" h="913897">
                  <a:moveTo>
                    <a:pt x="0" y="0"/>
                  </a:moveTo>
                  <a:lnTo>
                    <a:pt x="4905756" y="0"/>
                  </a:lnTo>
                  <a:lnTo>
                    <a:pt x="4905756" y="913897"/>
                  </a:lnTo>
                  <a:lnTo>
                    <a:pt x="0" y="9138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endParaRPr lang="en-US" sz="2400" kern="1200" dirty="0">
                <a:latin typeface="Calibri" panose="020F0502020204030204" pitchFamily="34" charset="0"/>
              </a:endParaRPr>
            </a:p>
          </p:txBody>
        </p:sp>
        <p:sp>
          <p:nvSpPr>
            <p:cNvPr id="20" name="Freeform: Shape 19">
              <a:extLst>
                <a:ext uri="{FF2B5EF4-FFF2-40B4-BE49-F238E27FC236}">
                  <a16:creationId xmlns:a16="http://schemas.microsoft.com/office/drawing/2014/main" id="{9E6CE40B-37B4-A3AC-93A7-82F1970A6803}"/>
                </a:ext>
              </a:extLst>
            </p:cNvPr>
            <p:cNvSpPr/>
            <p:nvPr/>
          </p:nvSpPr>
          <p:spPr>
            <a:xfrm>
              <a:off x="762000" y="1830261"/>
              <a:ext cx="1723644" cy="913897"/>
            </a:xfrm>
            <a:custGeom>
              <a:avLst/>
              <a:gdLst>
                <a:gd name="connsiteX0" fmla="*/ 152347 w 1723644"/>
                <a:gd name="connsiteY0" fmla="*/ 0 h 913897"/>
                <a:gd name="connsiteX1" fmla="*/ 1571297 w 1723644"/>
                <a:gd name="connsiteY1" fmla="*/ 0 h 913897"/>
                <a:gd name="connsiteX2" fmla="*/ 1723644 w 1723644"/>
                <a:gd name="connsiteY2" fmla="*/ 152347 h 913897"/>
                <a:gd name="connsiteX3" fmla="*/ 1723644 w 1723644"/>
                <a:gd name="connsiteY3" fmla="*/ 913897 h 913897"/>
                <a:gd name="connsiteX4" fmla="*/ 1723644 w 1723644"/>
                <a:gd name="connsiteY4" fmla="*/ 913897 h 913897"/>
                <a:gd name="connsiteX5" fmla="*/ 0 w 1723644"/>
                <a:gd name="connsiteY5" fmla="*/ 913897 h 913897"/>
                <a:gd name="connsiteX6" fmla="*/ 0 w 1723644"/>
                <a:gd name="connsiteY6" fmla="*/ 913897 h 913897"/>
                <a:gd name="connsiteX7" fmla="*/ 0 w 1723644"/>
                <a:gd name="connsiteY7" fmla="*/ 152347 h 913897"/>
                <a:gd name="connsiteX8" fmla="*/ 152347 w 1723644"/>
                <a:gd name="connsiteY8" fmla="*/ 0 h 91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3644" h="913897">
                  <a:moveTo>
                    <a:pt x="152347" y="0"/>
                  </a:moveTo>
                  <a:lnTo>
                    <a:pt x="1571297" y="0"/>
                  </a:lnTo>
                  <a:cubicBezTo>
                    <a:pt x="1655436" y="0"/>
                    <a:pt x="1723644" y="68208"/>
                    <a:pt x="1723644" y="152347"/>
                  </a:cubicBezTo>
                  <a:lnTo>
                    <a:pt x="1723644" y="913897"/>
                  </a:lnTo>
                  <a:lnTo>
                    <a:pt x="1723644" y="913897"/>
                  </a:lnTo>
                  <a:lnTo>
                    <a:pt x="0" y="913897"/>
                  </a:lnTo>
                  <a:lnTo>
                    <a:pt x="0" y="913897"/>
                  </a:lnTo>
                  <a:lnTo>
                    <a:pt x="0" y="152347"/>
                  </a:lnTo>
                  <a:cubicBezTo>
                    <a:pt x="0" y="68208"/>
                    <a:pt x="68208" y="0"/>
                    <a:pt x="152347" y="0"/>
                  </a:cubicBez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0341" tIns="90341" rIns="90341"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Calibri" panose="020F0502020204030204" pitchFamily="34" charset="0"/>
                </a:rPr>
                <a:t>Auditory processing</a:t>
              </a:r>
            </a:p>
          </p:txBody>
        </p:sp>
        <p:sp>
          <p:nvSpPr>
            <p:cNvPr id="21" name="Freeform: Shape 20">
              <a:extLst>
                <a:ext uri="{FF2B5EF4-FFF2-40B4-BE49-F238E27FC236}">
                  <a16:creationId xmlns:a16="http://schemas.microsoft.com/office/drawing/2014/main" id="{67BE6898-887F-C6CD-917B-9435FC1176ED}"/>
                </a:ext>
              </a:extLst>
            </p:cNvPr>
            <p:cNvSpPr/>
            <p:nvPr/>
          </p:nvSpPr>
          <p:spPr>
            <a:xfrm>
              <a:off x="2133600" y="1656826"/>
              <a:ext cx="5134358" cy="989644"/>
            </a:xfrm>
            <a:custGeom>
              <a:avLst/>
              <a:gdLst>
                <a:gd name="connsiteX0" fmla="*/ 0 w 6629400"/>
                <a:gd name="connsiteY0" fmla="*/ 0 h 1828068"/>
                <a:gd name="connsiteX1" fmla="*/ 6629400 w 6629400"/>
                <a:gd name="connsiteY1" fmla="*/ 0 h 1828068"/>
                <a:gd name="connsiteX2" fmla="*/ 6629400 w 6629400"/>
                <a:gd name="connsiteY2" fmla="*/ 1828068 h 1828068"/>
                <a:gd name="connsiteX3" fmla="*/ 0 w 6629400"/>
                <a:gd name="connsiteY3" fmla="*/ 1828068 h 1828068"/>
                <a:gd name="connsiteX4" fmla="*/ 0 w 6629400"/>
                <a:gd name="connsiteY4" fmla="*/ 0 h 1828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9400" h="1828068">
                  <a:moveTo>
                    <a:pt x="0" y="0"/>
                  </a:moveTo>
                  <a:lnTo>
                    <a:pt x="6629400" y="0"/>
                  </a:lnTo>
                  <a:lnTo>
                    <a:pt x="6629400" y="1828068"/>
                  </a:lnTo>
                  <a:lnTo>
                    <a:pt x="0" y="182806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b" anchorCtr="0">
              <a:noAutofit/>
            </a:bodyPr>
            <a:lstStyle/>
            <a:p>
              <a:pPr lvl="1"/>
              <a:r>
                <a:rPr lang="en-US" sz="2400" dirty="0">
                  <a:latin typeface="Calibri" panose="020F0502020204030204" pitchFamily="34" charset="0"/>
                </a:rPr>
                <a:t>Primary auditory cortex (BA 41, 42)</a:t>
              </a:r>
            </a:p>
            <a:p>
              <a:pPr lvl="1"/>
              <a:r>
                <a:rPr lang="en-US" sz="2400" dirty="0">
                  <a:latin typeface="Calibri" panose="020F0502020204030204" pitchFamily="34" charset="0"/>
                </a:rPr>
                <a:t>Secondary auditory cortex (BA 22)</a:t>
              </a:r>
            </a:p>
          </p:txBody>
        </p:sp>
      </p:grpSp>
      <p:grpSp>
        <p:nvGrpSpPr>
          <p:cNvPr id="27" name="Group 26">
            <a:extLst>
              <a:ext uri="{FF2B5EF4-FFF2-40B4-BE49-F238E27FC236}">
                <a16:creationId xmlns:a16="http://schemas.microsoft.com/office/drawing/2014/main" id="{335BB3BE-36EE-6651-F1DD-83F3863ACB32}"/>
              </a:ext>
            </a:extLst>
          </p:cNvPr>
          <p:cNvGrpSpPr/>
          <p:nvPr/>
        </p:nvGrpSpPr>
        <p:grpSpPr>
          <a:xfrm>
            <a:off x="762000" y="3047545"/>
            <a:ext cx="6629400" cy="914855"/>
            <a:chOff x="762000" y="3199945"/>
            <a:chExt cx="6629400" cy="914855"/>
          </a:xfrm>
        </p:grpSpPr>
        <p:sp>
          <p:nvSpPr>
            <p:cNvPr id="17" name="Straight Connector 16">
              <a:extLst>
                <a:ext uri="{FF2B5EF4-FFF2-40B4-BE49-F238E27FC236}">
                  <a16:creationId xmlns:a16="http://schemas.microsoft.com/office/drawing/2014/main" id="{8A76EFD1-7C67-6870-D317-A5731DE16FF2}"/>
                </a:ext>
              </a:extLst>
            </p:cNvPr>
            <p:cNvSpPr/>
            <p:nvPr/>
          </p:nvSpPr>
          <p:spPr>
            <a:xfrm>
              <a:off x="762000" y="4114800"/>
              <a:ext cx="6629400" cy="0"/>
            </a:xfrm>
            <a:prstGeom prst="line">
              <a:avLst/>
            </a:prstGeom>
            <a:ln>
              <a:solidFill>
                <a:schemeClr val="accent3">
                  <a:lumMod val="20000"/>
                  <a:lumOff val="80000"/>
                </a:schemeClr>
              </a:solidFill>
            </a:ln>
          </p:spPr>
          <p:style>
            <a:lnRef idx="2">
              <a:schemeClr val="accent3">
                <a:hueOff val="0"/>
                <a:satOff val="0"/>
                <a:lumOff val="0"/>
                <a:alphaOff val="0"/>
              </a:schemeClr>
            </a:lnRef>
            <a:fillRef idx="0">
              <a:schemeClr val="accent3">
                <a:hueOff val="0"/>
                <a:satOff val="0"/>
                <a:lumOff val="0"/>
                <a:alphaOff val="0"/>
              </a:schemeClr>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22" name="Freeform: Shape 21">
              <a:extLst>
                <a:ext uri="{FF2B5EF4-FFF2-40B4-BE49-F238E27FC236}">
                  <a16:creationId xmlns:a16="http://schemas.microsoft.com/office/drawing/2014/main" id="{381E2291-2266-CA0C-FAD2-BC844EB04DFA}"/>
                </a:ext>
              </a:extLst>
            </p:cNvPr>
            <p:cNvSpPr/>
            <p:nvPr/>
          </p:nvSpPr>
          <p:spPr>
            <a:xfrm>
              <a:off x="2485643" y="3199945"/>
              <a:ext cx="4905756" cy="913897"/>
            </a:xfrm>
            <a:custGeom>
              <a:avLst/>
              <a:gdLst>
                <a:gd name="connsiteX0" fmla="*/ 0 w 4905756"/>
                <a:gd name="connsiteY0" fmla="*/ 0 h 913897"/>
                <a:gd name="connsiteX1" fmla="*/ 4905756 w 4905756"/>
                <a:gd name="connsiteY1" fmla="*/ 0 h 913897"/>
                <a:gd name="connsiteX2" fmla="*/ 4905756 w 4905756"/>
                <a:gd name="connsiteY2" fmla="*/ 913897 h 913897"/>
                <a:gd name="connsiteX3" fmla="*/ 0 w 4905756"/>
                <a:gd name="connsiteY3" fmla="*/ 913897 h 913897"/>
                <a:gd name="connsiteX4" fmla="*/ 0 w 4905756"/>
                <a:gd name="connsiteY4" fmla="*/ 0 h 91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5756" h="913897">
                  <a:moveTo>
                    <a:pt x="0" y="0"/>
                  </a:moveTo>
                  <a:lnTo>
                    <a:pt x="4905756" y="0"/>
                  </a:lnTo>
                  <a:lnTo>
                    <a:pt x="4905756" y="913897"/>
                  </a:lnTo>
                  <a:lnTo>
                    <a:pt x="0" y="913897"/>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kern="1200" dirty="0">
                  <a:latin typeface="Calibri" panose="020F0502020204030204" pitchFamily="34" charset="0"/>
                </a:rPr>
                <a:t>Wernicke’s area (BA 22)</a:t>
              </a:r>
            </a:p>
          </p:txBody>
        </p:sp>
        <p:sp>
          <p:nvSpPr>
            <p:cNvPr id="23" name="Freeform: Shape 22">
              <a:extLst>
                <a:ext uri="{FF2B5EF4-FFF2-40B4-BE49-F238E27FC236}">
                  <a16:creationId xmlns:a16="http://schemas.microsoft.com/office/drawing/2014/main" id="{4DAB944A-B7BE-9DA4-1D8D-0A0ED97C01EE}"/>
                </a:ext>
              </a:extLst>
            </p:cNvPr>
            <p:cNvSpPr/>
            <p:nvPr/>
          </p:nvSpPr>
          <p:spPr>
            <a:xfrm>
              <a:off x="762000" y="3199945"/>
              <a:ext cx="1723644" cy="913897"/>
            </a:xfrm>
            <a:custGeom>
              <a:avLst/>
              <a:gdLst>
                <a:gd name="connsiteX0" fmla="*/ 152347 w 1723644"/>
                <a:gd name="connsiteY0" fmla="*/ 0 h 913897"/>
                <a:gd name="connsiteX1" fmla="*/ 1571297 w 1723644"/>
                <a:gd name="connsiteY1" fmla="*/ 0 h 913897"/>
                <a:gd name="connsiteX2" fmla="*/ 1723644 w 1723644"/>
                <a:gd name="connsiteY2" fmla="*/ 152347 h 913897"/>
                <a:gd name="connsiteX3" fmla="*/ 1723644 w 1723644"/>
                <a:gd name="connsiteY3" fmla="*/ 913897 h 913897"/>
                <a:gd name="connsiteX4" fmla="*/ 1723644 w 1723644"/>
                <a:gd name="connsiteY4" fmla="*/ 913897 h 913897"/>
                <a:gd name="connsiteX5" fmla="*/ 0 w 1723644"/>
                <a:gd name="connsiteY5" fmla="*/ 913897 h 913897"/>
                <a:gd name="connsiteX6" fmla="*/ 0 w 1723644"/>
                <a:gd name="connsiteY6" fmla="*/ 913897 h 913897"/>
                <a:gd name="connsiteX7" fmla="*/ 0 w 1723644"/>
                <a:gd name="connsiteY7" fmla="*/ 152347 h 913897"/>
                <a:gd name="connsiteX8" fmla="*/ 152347 w 1723644"/>
                <a:gd name="connsiteY8" fmla="*/ 0 h 91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3644" h="913897">
                  <a:moveTo>
                    <a:pt x="152347" y="0"/>
                  </a:moveTo>
                  <a:lnTo>
                    <a:pt x="1571297" y="0"/>
                  </a:lnTo>
                  <a:cubicBezTo>
                    <a:pt x="1655436" y="0"/>
                    <a:pt x="1723644" y="68208"/>
                    <a:pt x="1723644" y="152347"/>
                  </a:cubicBezTo>
                  <a:lnTo>
                    <a:pt x="1723644" y="913897"/>
                  </a:lnTo>
                  <a:lnTo>
                    <a:pt x="1723644" y="913897"/>
                  </a:lnTo>
                  <a:lnTo>
                    <a:pt x="0" y="913897"/>
                  </a:lnTo>
                  <a:lnTo>
                    <a:pt x="0" y="913897"/>
                  </a:lnTo>
                  <a:lnTo>
                    <a:pt x="0" y="152347"/>
                  </a:lnTo>
                  <a:cubicBezTo>
                    <a:pt x="0" y="68208"/>
                    <a:pt x="68208" y="0"/>
                    <a:pt x="152347" y="0"/>
                  </a:cubicBezTo>
                  <a:close/>
                </a:path>
              </a:pathLst>
            </a:custGeom>
            <a:solidFill>
              <a:schemeClr val="accent3">
                <a:lumMod val="20000"/>
                <a:lumOff val="80000"/>
              </a:schemeClr>
            </a:solidFill>
            <a:ln>
              <a:solidFill>
                <a:schemeClr val="accent3">
                  <a:lumMod val="20000"/>
                  <a:lumOff val="80000"/>
                </a:schemeClr>
              </a:solidFill>
            </a:ln>
          </p:spPr>
          <p:style>
            <a:lnRef idx="2">
              <a:schemeClr val="accent3">
                <a:hueOff val="5823353"/>
                <a:satOff val="373"/>
                <a:lumOff val="-4020"/>
                <a:alphaOff val="0"/>
              </a:schemeClr>
            </a:lnRef>
            <a:fillRef idx="1">
              <a:schemeClr val="accent3">
                <a:hueOff val="5823353"/>
                <a:satOff val="373"/>
                <a:lumOff val="-4020"/>
                <a:alphaOff val="0"/>
              </a:schemeClr>
            </a:fillRef>
            <a:effectRef idx="0">
              <a:schemeClr val="accent3">
                <a:hueOff val="5823353"/>
                <a:satOff val="373"/>
                <a:lumOff val="-4020"/>
                <a:alphaOff val="0"/>
              </a:schemeClr>
            </a:effectRef>
            <a:fontRef idx="minor">
              <a:schemeClr val="lt1"/>
            </a:fontRef>
          </p:style>
          <p:txBody>
            <a:bodyPr spcFirstLastPara="0" vert="horz" wrap="square" lIns="90341" tIns="90341" rIns="90341"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Calibri" panose="020F0502020204030204" pitchFamily="34" charset="0"/>
                </a:rPr>
                <a:t>Language processing</a:t>
              </a:r>
            </a:p>
          </p:txBody>
        </p:sp>
      </p:grpSp>
      <p:grpSp>
        <p:nvGrpSpPr>
          <p:cNvPr id="26" name="Group 25">
            <a:extLst>
              <a:ext uri="{FF2B5EF4-FFF2-40B4-BE49-F238E27FC236}">
                <a16:creationId xmlns:a16="http://schemas.microsoft.com/office/drawing/2014/main" id="{038B2B1C-6F7C-E9A7-3261-4019932CE3AE}"/>
              </a:ext>
            </a:extLst>
          </p:cNvPr>
          <p:cNvGrpSpPr/>
          <p:nvPr/>
        </p:nvGrpSpPr>
        <p:grpSpPr>
          <a:xfrm>
            <a:off x="762000" y="3962400"/>
            <a:ext cx="6629400" cy="1526372"/>
            <a:chOff x="762000" y="4569629"/>
            <a:chExt cx="6629400" cy="1526372"/>
          </a:xfrm>
        </p:grpSpPr>
        <p:sp>
          <p:nvSpPr>
            <p:cNvPr id="16" name="Straight Connector 15">
              <a:extLst>
                <a:ext uri="{FF2B5EF4-FFF2-40B4-BE49-F238E27FC236}">
                  <a16:creationId xmlns:a16="http://schemas.microsoft.com/office/drawing/2014/main" id="{6CF2EDB0-5C83-9362-4D2A-BFC781D0FF18}"/>
                </a:ext>
              </a:extLst>
            </p:cNvPr>
            <p:cNvSpPr/>
            <p:nvPr/>
          </p:nvSpPr>
          <p:spPr>
            <a:xfrm>
              <a:off x="762000" y="6096000"/>
              <a:ext cx="6629400" cy="0"/>
            </a:xfrm>
            <a:prstGeom prst="line">
              <a:avLst/>
            </a:prstGeom>
            <a:ln>
              <a:solidFill>
                <a:schemeClr val="accent1"/>
              </a:solidFill>
            </a:ln>
          </p:spPr>
          <p:style>
            <a:lnRef idx="2">
              <a:schemeClr val="accent3">
                <a:hueOff val="0"/>
                <a:satOff val="0"/>
                <a:lumOff val="0"/>
                <a:alphaOff val="0"/>
              </a:schemeClr>
            </a:lnRef>
            <a:fillRef idx="0">
              <a:schemeClr val="accent3">
                <a:hueOff val="0"/>
                <a:satOff val="0"/>
                <a:lumOff val="0"/>
                <a:alphaOff val="0"/>
              </a:schemeClr>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24" name="Freeform: Shape 23">
              <a:extLst>
                <a:ext uri="{FF2B5EF4-FFF2-40B4-BE49-F238E27FC236}">
                  <a16:creationId xmlns:a16="http://schemas.microsoft.com/office/drawing/2014/main" id="{3BA7558C-9A0D-C69A-8CF6-3F77D5CA7246}"/>
                </a:ext>
              </a:extLst>
            </p:cNvPr>
            <p:cNvSpPr/>
            <p:nvPr/>
          </p:nvSpPr>
          <p:spPr>
            <a:xfrm>
              <a:off x="2485643" y="4569629"/>
              <a:ext cx="4905756" cy="1526372"/>
            </a:xfrm>
            <a:custGeom>
              <a:avLst/>
              <a:gdLst>
                <a:gd name="connsiteX0" fmla="*/ 0 w 4905756"/>
                <a:gd name="connsiteY0" fmla="*/ 0 h 913897"/>
                <a:gd name="connsiteX1" fmla="*/ 4905756 w 4905756"/>
                <a:gd name="connsiteY1" fmla="*/ 0 h 913897"/>
                <a:gd name="connsiteX2" fmla="*/ 4905756 w 4905756"/>
                <a:gd name="connsiteY2" fmla="*/ 913897 h 913897"/>
                <a:gd name="connsiteX3" fmla="*/ 0 w 4905756"/>
                <a:gd name="connsiteY3" fmla="*/ 913897 h 913897"/>
                <a:gd name="connsiteX4" fmla="*/ 0 w 4905756"/>
                <a:gd name="connsiteY4" fmla="*/ 0 h 91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5756" h="913897">
                  <a:moveTo>
                    <a:pt x="0" y="0"/>
                  </a:moveTo>
                  <a:lnTo>
                    <a:pt x="4905756" y="0"/>
                  </a:lnTo>
                  <a:lnTo>
                    <a:pt x="4905756" y="913897"/>
                  </a:lnTo>
                  <a:lnTo>
                    <a:pt x="0" y="913897"/>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r>
                <a:rPr lang="en-US" sz="2400" kern="1200" dirty="0">
                  <a:latin typeface="Calibri" panose="020F0502020204030204" pitchFamily="34" charset="0"/>
                </a:rPr>
                <a:t>Entorhinal cortex (BA 28 &amp; 34)</a:t>
              </a:r>
            </a:p>
            <a:p>
              <a:pPr marL="0" lvl="0" indent="0" algn="l" defTabSz="1066800">
                <a:lnSpc>
                  <a:spcPct val="90000"/>
                </a:lnSpc>
                <a:spcBef>
                  <a:spcPct val="0"/>
                </a:spcBef>
                <a:spcAft>
                  <a:spcPct val="35000"/>
                </a:spcAft>
                <a:buNone/>
              </a:pPr>
              <a:r>
                <a:rPr lang="en-US" sz="2400" kern="1200" dirty="0">
                  <a:latin typeface="Calibri" panose="020F0502020204030204" pitchFamily="34" charset="0"/>
                </a:rPr>
                <a:t>Perirhinal cortex (BA 35)</a:t>
              </a:r>
            </a:p>
            <a:p>
              <a:pPr marL="0" lvl="0" indent="0" algn="l" defTabSz="1066800">
                <a:lnSpc>
                  <a:spcPct val="90000"/>
                </a:lnSpc>
                <a:spcBef>
                  <a:spcPct val="0"/>
                </a:spcBef>
                <a:spcAft>
                  <a:spcPct val="35000"/>
                </a:spcAft>
                <a:buNone/>
              </a:pPr>
              <a:r>
                <a:rPr lang="en-US" sz="2400" kern="1200" dirty="0" err="1">
                  <a:latin typeface="Calibri" panose="020F0502020204030204" pitchFamily="34" charset="0"/>
                </a:rPr>
                <a:t>Parahippocampal</a:t>
              </a:r>
              <a:r>
                <a:rPr lang="en-US" sz="2400" kern="1200" dirty="0">
                  <a:latin typeface="Calibri" panose="020F0502020204030204" pitchFamily="34" charset="0"/>
                </a:rPr>
                <a:t> gyrus (BA 36)</a:t>
              </a:r>
            </a:p>
          </p:txBody>
        </p:sp>
        <p:sp>
          <p:nvSpPr>
            <p:cNvPr id="25" name="Freeform: Shape 24">
              <a:extLst>
                <a:ext uri="{FF2B5EF4-FFF2-40B4-BE49-F238E27FC236}">
                  <a16:creationId xmlns:a16="http://schemas.microsoft.com/office/drawing/2014/main" id="{4252FF5D-4CB1-315A-51EA-AFE45BFEF462}"/>
                </a:ext>
              </a:extLst>
            </p:cNvPr>
            <p:cNvSpPr/>
            <p:nvPr/>
          </p:nvSpPr>
          <p:spPr>
            <a:xfrm>
              <a:off x="762000" y="5182103"/>
              <a:ext cx="1723644" cy="913897"/>
            </a:xfrm>
            <a:custGeom>
              <a:avLst/>
              <a:gdLst>
                <a:gd name="connsiteX0" fmla="*/ 152347 w 1723644"/>
                <a:gd name="connsiteY0" fmla="*/ 0 h 913897"/>
                <a:gd name="connsiteX1" fmla="*/ 1571297 w 1723644"/>
                <a:gd name="connsiteY1" fmla="*/ 0 h 913897"/>
                <a:gd name="connsiteX2" fmla="*/ 1723644 w 1723644"/>
                <a:gd name="connsiteY2" fmla="*/ 152347 h 913897"/>
                <a:gd name="connsiteX3" fmla="*/ 1723644 w 1723644"/>
                <a:gd name="connsiteY3" fmla="*/ 913897 h 913897"/>
                <a:gd name="connsiteX4" fmla="*/ 1723644 w 1723644"/>
                <a:gd name="connsiteY4" fmla="*/ 913897 h 913897"/>
                <a:gd name="connsiteX5" fmla="*/ 0 w 1723644"/>
                <a:gd name="connsiteY5" fmla="*/ 913897 h 913897"/>
                <a:gd name="connsiteX6" fmla="*/ 0 w 1723644"/>
                <a:gd name="connsiteY6" fmla="*/ 913897 h 913897"/>
                <a:gd name="connsiteX7" fmla="*/ 0 w 1723644"/>
                <a:gd name="connsiteY7" fmla="*/ 152347 h 913897"/>
                <a:gd name="connsiteX8" fmla="*/ 152347 w 1723644"/>
                <a:gd name="connsiteY8" fmla="*/ 0 h 91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3644" h="913897">
                  <a:moveTo>
                    <a:pt x="152347" y="0"/>
                  </a:moveTo>
                  <a:lnTo>
                    <a:pt x="1571297" y="0"/>
                  </a:lnTo>
                  <a:cubicBezTo>
                    <a:pt x="1655436" y="0"/>
                    <a:pt x="1723644" y="68208"/>
                    <a:pt x="1723644" y="152347"/>
                  </a:cubicBezTo>
                  <a:lnTo>
                    <a:pt x="1723644" y="913897"/>
                  </a:lnTo>
                  <a:lnTo>
                    <a:pt x="1723644" y="913897"/>
                  </a:lnTo>
                  <a:lnTo>
                    <a:pt x="0" y="913897"/>
                  </a:lnTo>
                  <a:lnTo>
                    <a:pt x="0" y="913897"/>
                  </a:lnTo>
                  <a:lnTo>
                    <a:pt x="0" y="152347"/>
                  </a:lnTo>
                  <a:cubicBezTo>
                    <a:pt x="0" y="68208"/>
                    <a:pt x="68208" y="0"/>
                    <a:pt x="152347" y="0"/>
                  </a:cubicBezTo>
                  <a:close/>
                </a:path>
              </a:pathLst>
            </a:custGeom>
            <a:solidFill>
              <a:schemeClr val="accent1"/>
            </a:solidFill>
            <a:ln>
              <a:solidFill>
                <a:schemeClr val="accent1"/>
              </a:solidFill>
            </a:ln>
          </p:spPr>
          <p:style>
            <a:lnRef idx="2">
              <a:schemeClr val="accent3">
                <a:hueOff val="11646705"/>
                <a:satOff val="746"/>
                <a:lumOff val="-8040"/>
                <a:alphaOff val="0"/>
              </a:schemeClr>
            </a:lnRef>
            <a:fillRef idx="1">
              <a:schemeClr val="accent3">
                <a:hueOff val="11646705"/>
                <a:satOff val="746"/>
                <a:lumOff val="-8040"/>
                <a:alphaOff val="0"/>
              </a:schemeClr>
            </a:fillRef>
            <a:effectRef idx="0">
              <a:schemeClr val="accent3">
                <a:hueOff val="11646705"/>
                <a:satOff val="746"/>
                <a:lumOff val="-8040"/>
                <a:alphaOff val="0"/>
              </a:schemeClr>
            </a:effectRef>
            <a:fontRef idx="minor">
              <a:schemeClr val="lt1"/>
            </a:fontRef>
          </p:style>
          <p:txBody>
            <a:bodyPr spcFirstLastPara="0" vert="horz" wrap="square" lIns="90341" tIns="90341" rIns="90341" bIns="4572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latin typeface="Calibri" panose="020F0502020204030204" pitchFamily="34" charset="0"/>
                </a:rPr>
                <a:t>Memory</a:t>
              </a:r>
            </a:p>
          </p:txBody>
        </p:sp>
      </p:grpSp>
    </p:spTree>
    <p:extLst>
      <p:ext uri="{BB962C8B-B14F-4D97-AF65-F5344CB8AC3E}">
        <p14:creationId xmlns:p14="http://schemas.microsoft.com/office/powerpoint/2010/main" val="26673025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D91E82-1721-609D-5256-BA7997B20C40}"/>
              </a:ext>
            </a:extLst>
          </p:cNvPr>
          <p:cNvSpPr>
            <a:spLocks noGrp="1"/>
          </p:cNvSpPr>
          <p:nvPr>
            <p:ph type="title"/>
          </p:nvPr>
        </p:nvSpPr>
        <p:spPr/>
        <p:txBody>
          <a:bodyPr/>
          <a:lstStyle/>
          <a:p>
            <a:r>
              <a:rPr lang="en-US" dirty="0">
                <a:solidFill>
                  <a:schemeClr val="tx1"/>
                </a:solidFill>
              </a:rPr>
              <a:t>Temporal cortex functions</a:t>
            </a:r>
          </a:p>
        </p:txBody>
      </p:sp>
      <p:pic>
        <p:nvPicPr>
          <p:cNvPr id="51202" name="Picture 2">
            <a:extLst>
              <a:ext uri="{FF2B5EF4-FFF2-40B4-BE49-F238E27FC236}">
                <a16:creationId xmlns:a16="http://schemas.microsoft.com/office/drawing/2014/main" id="{0C3E19E6-6B8D-C472-6F1C-BB14ABD31B5D}"/>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0000" y="-16296"/>
            <a:ext cx="4251960" cy="3140496"/>
          </a:xfrm>
          <a:prstGeom prst="rect">
            <a:avLst/>
          </a:prstGeom>
          <a:noFill/>
          <a:extLst>
            <a:ext uri="{909E8E84-426E-40DD-AFC4-6F175D3DCCD1}">
              <a14:hiddenFill xmlns:a14="http://schemas.microsoft.com/office/drawing/2010/main">
                <a:solidFill>
                  <a:srgbClr val="FFFFFF"/>
                </a:solidFill>
              </a14:hiddenFill>
            </a:ext>
          </a:extLst>
        </p:spPr>
      </p:pic>
      <p:pic>
        <p:nvPicPr>
          <p:cNvPr id="52226" name="Picture 2">
            <a:extLst>
              <a:ext uri="{FF2B5EF4-FFF2-40B4-BE49-F238E27FC236}">
                <a16:creationId xmlns:a16="http://schemas.microsoft.com/office/drawing/2014/main" id="{03982118-B29B-796A-9532-7A045BCB68A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9952" y="3631099"/>
            <a:ext cx="4251960" cy="2945368"/>
          </a:xfrm>
          <a:prstGeom prst="rect">
            <a:avLst/>
          </a:prstGeom>
          <a:noFill/>
          <a:extLst>
            <a:ext uri="{909E8E84-426E-40DD-AFC4-6F175D3DCCD1}">
              <a14:hiddenFill xmlns:a14="http://schemas.microsoft.com/office/drawing/2010/main">
                <a:solidFill>
                  <a:srgbClr val="FFFFFF"/>
                </a:solidFill>
              </a14:hiddenFill>
            </a:ext>
          </a:extLst>
        </p:spPr>
      </p:pic>
      <p:sp>
        <p:nvSpPr>
          <p:cNvPr id="19" name="Freeform: Shape 18">
            <a:extLst>
              <a:ext uri="{FF2B5EF4-FFF2-40B4-BE49-F238E27FC236}">
                <a16:creationId xmlns:a16="http://schemas.microsoft.com/office/drawing/2014/main" id="{9E566548-ECFB-35A2-B1EC-DDC0C2CF8A90}"/>
              </a:ext>
            </a:extLst>
          </p:cNvPr>
          <p:cNvSpPr/>
          <p:nvPr/>
        </p:nvSpPr>
        <p:spPr>
          <a:xfrm>
            <a:off x="2485643" y="3048503"/>
            <a:ext cx="4905756" cy="913897"/>
          </a:xfrm>
          <a:custGeom>
            <a:avLst/>
            <a:gdLst>
              <a:gd name="connsiteX0" fmla="*/ 0 w 4905756"/>
              <a:gd name="connsiteY0" fmla="*/ 0 h 913897"/>
              <a:gd name="connsiteX1" fmla="*/ 4905756 w 4905756"/>
              <a:gd name="connsiteY1" fmla="*/ 0 h 913897"/>
              <a:gd name="connsiteX2" fmla="*/ 4905756 w 4905756"/>
              <a:gd name="connsiteY2" fmla="*/ 913897 h 913897"/>
              <a:gd name="connsiteX3" fmla="*/ 0 w 4905756"/>
              <a:gd name="connsiteY3" fmla="*/ 913897 h 913897"/>
              <a:gd name="connsiteX4" fmla="*/ 0 w 4905756"/>
              <a:gd name="connsiteY4" fmla="*/ 0 h 91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5756" h="913897">
                <a:moveTo>
                  <a:pt x="0" y="0"/>
                </a:moveTo>
                <a:lnTo>
                  <a:pt x="4905756" y="0"/>
                </a:lnTo>
                <a:lnTo>
                  <a:pt x="4905756" y="913897"/>
                </a:lnTo>
                <a:lnTo>
                  <a:pt x="0" y="9138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b" anchorCtr="0">
            <a:noAutofit/>
          </a:bodyPr>
          <a:lstStyle/>
          <a:p>
            <a:pPr marL="0" lvl="0" indent="0" algn="l" defTabSz="1066800">
              <a:lnSpc>
                <a:spcPct val="90000"/>
              </a:lnSpc>
              <a:spcBef>
                <a:spcPct val="0"/>
              </a:spcBef>
              <a:spcAft>
                <a:spcPct val="35000"/>
              </a:spcAft>
              <a:buNone/>
            </a:pPr>
            <a:endParaRPr lang="en-US" sz="2400" kern="1200" dirty="0">
              <a:latin typeface="Calibri" panose="020F0502020204030204" pitchFamily="34" charset="0"/>
            </a:endParaRPr>
          </a:p>
        </p:txBody>
      </p:sp>
      <p:sp>
        <p:nvSpPr>
          <p:cNvPr id="20" name="Freeform: Shape 19">
            <a:extLst>
              <a:ext uri="{FF2B5EF4-FFF2-40B4-BE49-F238E27FC236}">
                <a16:creationId xmlns:a16="http://schemas.microsoft.com/office/drawing/2014/main" id="{9E6CE40B-37B4-A3AC-93A7-82F1970A6803}"/>
              </a:ext>
            </a:extLst>
          </p:cNvPr>
          <p:cNvSpPr/>
          <p:nvPr/>
        </p:nvSpPr>
        <p:spPr>
          <a:xfrm>
            <a:off x="370088" y="2316480"/>
            <a:ext cx="2286000" cy="1645920"/>
          </a:xfrm>
          <a:custGeom>
            <a:avLst/>
            <a:gdLst>
              <a:gd name="connsiteX0" fmla="*/ 152347 w 1723644"/>
              <a:gd name="connsiteY0" fmla="*/ 0 h 913897"/>
              <a:gd name="connsiteX1" fmla="*/ 1571297 w 1723644"/>
              <a:gd name="connsiteY1" fmla="*/ 0 h 913897"/>
              <a:gd name="connsiteX2" fmla="*/ 1723644 w 1723644"/>
              <a:gd name="connsiteY2" fmla="*/ 152347 h 913897"/>
              <a:gd name="connsiteX3" fmla="*/ 1723644 w 1723644"/>
              <a:gd name="connsiteY3" fmla="*/ 913897 h 913897"/>
              <a:gd name="connsiteX4" fmla="*/ 1723644 w 1723644"/>
              <a:gd name="connsiteY4" fmla="*/ 913897 h 913897"/>
              <a:gd name="connsiteX5" fmla="*/ 0 w 1723644"/>
              <a:gd name="connsiteY5" fmla="*/ 913897 h 913897"/>
              <a:gd name="connsiteX6" fmla="*/ 0 w 1723644"/>
              <a:gd name="connsiteY6" fmla="*/ 913897 h 913897"/>
              <a:gd name="connsiteX7" fmla="*/ 0 w 1723644"/>
              <a:gd name="connsiteY7" fmla="*/ 152347 h 913897"/>
              <a:gd name="connsiteX8" fmla="*/ 152347 w 1723644"/>
              <a:gd name="connsiteY8" fmla="*/ 0 h 91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3644" h="913897">
                <a:moveTo>
                  <a:pt x="152347" y="0"/>
                </a:moveTo>
                <a:lnTo>
                  <a:pt x="1571297" y="0"/>
                </a:lnTo>
                <a:cubicBezTo>
                  <a:pt x="1655436" y="0"/>
                  <a:pt x="1723644" y="68208"/>
                  <a:pt x="1723644" y="152347"/>
                </a:cubicBezTo>
                <a:lnTo>
                  <a:pt x="1723644" y="913897"/>
                </a:lnTo>
                <a:lnTo>
                  <a:pt x="1723644" y="913897"/>
                </a:lnTo>
                <a:lnTo>
                  <a:pt x="0" y="913897"/>
                </a:lnTo>
                <a:lnTo>
                  <a:pt x="0" y="913897"/>
                </a:lnTo>
                <a:lnTo>
                  <a:pt x="0" y="152347"/>
                </a:lnTo>
                <a:cubicBezTo>
                  <a:pt x="0" y="68208"/>
                  <a:pt x="68208" y="0"/>
                  <a:pt x="152347" y="0"/>
                </a:cubicBezTo>
                <a:close/>
              </a:path>
            </a:pathLst>
          </a:custGeom>
          <a:solidFill>
            <a:schemeClr val="accent4"/>
          </a:solidFill>
          <a:ln>
            <a:solidFill>
              <a:schemeClr val="accent4"/>
            </a:solid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0341" tIns="90341" rIns="90341" bIns="45720" numCol="1" spcCol="1270" anchor="ctr" anchorCtr="0">
            <a:noAutofit/>
          </a:bodyPr>
          <a:lstStyle/>
          <a:p>
            <a:pPr marL="0" lvl="0" indent="0" algn="ctr" defTabSz="1066800">
              <a:lnSpc>
                <a:spcPct val="90000"/>
              </a:lnSpc>
              <a:spcBef>
                <a:spcPct val="0"/>
              </a:spcBef>
              <a:spcAft>
                <a:spcPct val="35000"/>
              </a:spcAft>
              <a:buNone/>
            </a:pPr>
            <a:r>
              <a:rPr lang="en-US" sz="3200" kern="1200" dirty="0">
                <a:solidFill>
                  <a:schemeClr val="tx1"/>
                </a:solidFill>
                <a:latin typeface="Calibri" panose="020F0502020204030204" pitchFamily="34" charset="0"/>
              </a:rPr>
              <a:t>Visual processing</a:t>
            </a:r>
          </a:p>
        </p:txBody>
      </p:sp>
      <p:sp>
        <p:nvSpPr>
          <p:cNvPr id="21" name="Freeform: Shape 20">
            <a:extLst>
              <a:ext uri="{FF2B5EF4-FFF2-40B4-BE49-F238E27FC236}">
                <a16:creationId xmlns:a16="http://schemas.microsoft.com/office/drawing/2014/main" id="{67BE6898-887F-C6CD-917B-9435FC1176ED}"/>
              </a:ext>
            </a:extLst>
          </p:cNvPr>
          <p:cNvSpPr/>
          <p:nvPr/>
        </p:nvSpPr>
        <p:spPr>
          <a:xfrm>
            <a:off x="2673833" y="2244259"/>
            <a:ext cx="5802112" cy="2664629"/>
          </a:xfrm>
          <a:custGeom>
            <a:avLst/>
            <a:gdLst>
              <a:gd name="connsiteX0" fmla="*/ 0 w 6629400"/>
              <a:gd name="connsiteY0" fmla="*/ 0 h 1828068"/>
              <a:gd name="connsiteX1" fmla="*/ 6629400 w 6629400"/>
              <a:gd name="connsiteY1" fmla="*/ 0 h 1828068"/>
              <a:gd name="connsiteX2" fmla="*/ 6629400 w 6629400"/>
              <a:gd name="connsiteY2" fmla="*/ 1828068 h 1828068"/>
              <a:gd name="connsiteX3" fmla="*/ 0 w 6629400"/>
              <a:gd name="connsiteY3" fmla="*/ 1828068 h 1828068"/>
              <a:gd name="connsiteX4" fmla="*/ 0 w 6629400"/>
              <a:gd name="connsiteY4" fmla="*/ 0 h 1828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9400" h="1828068">
                <a:moveTo>
                  <a:pt x="0" y="0"/>
                </a:moveTo>
                <a:lnTo>
                  <a:pt x="6629400" y="0"/>
                </a:lnTo>
                <a:lnTo>
                  <a:pt x="6629400" y="1828068"/>
                </a:lnTo>
                <a:lnTo>
                  <a:pt x="0" y="182806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b" anchorCtr="0">
            <a:noAutofit/>
          </a:bodyPr>
          <a:lstStyle/>
          <a:p>
            <a:pPr lvl="1"/>
            <a:r>
              <a:rPr lang="en-US" sz="2800" dirty="0">
                <a:latin typeface="Calibri" panose="020F0502020204030204" pitchFamily="34" charset="0"/>
              </a:rPr>
              <a:t>Stimulus recognition and categorization</a:t>
            </a:r>
          </a:p>
          <a:p>
            <a:pPr lvl="1"/>
            <a:r>
              <a:rPr lang="en-US" sz="2800" dirty="0">
                <a:latin typeface="Calibri" panose="020F0502020204030204" pitchFamily="34" charset="0"/>
              </a:rPr>
              <a:t>Ventral visual stream</a:t>
            </a:r>
          </a:p>
          <a:p>
            <a:pPr marL="800100" lvl="1" indent="-342900">
              <a:buFont typeface="Arial" panose="020B0604020202020204" pitchFamily="34" charset="0"/>
              <a:buChar char="•"/>
            </a:pPr>
            <a:r>
              <a:rPr lang="en-US" sz="2800" dirty="0">
                <a:latin typeface="Calibri" panose="020F0502020204030204" pitchFamily="34" charset="0"/>
              </a:rPr>
              <a:t>Inferior temporal cortex (BA20,21) </a:t>
            </a:r>
          </a:p>
          <a:p>
            <a:pPr marL="800100" lvl="1" indent="-342900">
              <a:buFont typeface="Arial" panose="020B0604020202020204" pitchFamily="34" charset="0"/>
              <a:buChar char="•"/>
            </a:pPr>
            <a:r>
              <a:rPr lang="en-US" sz="2800" dirty="0">
                <a:latin typeface="Calibri" panose="020F0502020204030204" pitchFamily="34" charset="0"/>
              </a:rPr>
              <a:t>Fusiform gyrus (BA 37)</a:t>
            </a:r>
          </a:p>
        </p:txBody>
      </p:sp>
      <p:sp>
        <p:nvSpPr>
          <p:cNvPr id="16" name="Straight Connector 15">
            <a:extLst>
              <a:ext uri="{FF2B5EF4-FFF2-40B4-BE49-F238E27FC236}">
                <a16:creationId xmlns:a16="http://schemas.microsoft.com/office/drawing/2014/main" id="{6CF2EDB0-5C83-9362-4D2A-BFC781D0FF18}"/>
              </a:ext>
            </a:extLst>
          </p:cNvPr>
          <p:cNvSpPr/>
          <p:nvPr/>
        </p:nvSpPr>
        <p:spPr>
          <a:xfrm>
            <a:off x="762000" y="6096000"/>
            <a:ext cx="6629400" cy="0"/>
          </a:xfrm>
          <a:prstGeom prst="line">
            <a:avLst/>
          </a:prstGeom>
          <a:ln>
            <a:solidFill>
              <a:schemeClr val="accent1"/>
            </a:solidFill>
          </a:ln>
        </p:spPr>
        <p:style>
          <a:lnRef idx="2">
            <a:schemeClr val="accent3">
              <a:hueOff val="0"/>
              <a:satOff val="0"/>
              <a:lumOff val="0"/>
              <a:alphaOff val="0"/>
            </a:schemeClr>
          </a:lnRef>
          <a:fillRef idx="0">
            <a:schemeClr val="accent3">
              <a:hueOff val="0"/>
              <a:satOff val="0"/>
              <a:lumOff val="0"/>
              <a:alphaOff val="0"/>
            </a:schemeClr>
          </a:fillRef>
          <a:effectRef idx="0">
            <a:schemeClr val="accent3">
              <a:hueOff val="0"/>
              <a:satOff val="0"/>
              <a:lumOff val="0"/>
              <a:alphaOff val="0"/>
            </a:schemeClr>
          </a:effectRef>
          <a:fontRef idx="minor">
            <a:schemeClr val="tx1">
              <a:hueOff val="0"/>
              <a:satOff val="0"/>
              <a:lumOff val="0"/>
              <a:alphaOff val="0"/>
            </a:schemeClr>
          </a:fontRef>
        </p:style>
        <p:txBody>
          <a:bodyPr/>
          <a:lstStyle/>
          <a:p>
            <a:endParaRPr lang="en-US" dirty="0">
              <a:latin typeface="Calibri" panose="020F0502020204030204" pitchFamily="34" charset="0"/>
            </a:endParaRPr>
          </a:p>
        </p:txBody>
      </p:sp>
      <p:sp>
        <p:nvSpPr>
          <p:cNvPr id="24" name="Freeform: Shape 23">
            <a:extLst>
              <a:ext uri="{FF2B5EF4-FFF2-40B4-BE49-F238E27FC236}">
                <a16:creationId xmlns:a16="http://schemas.microsoft.com/office/drawing/2014/main" id="{3BA7558C-9A0D-C69A-8CF6-3F77D5CA7246}"/>
              </a:ext>
            </a:extLst>
          </p:cNvPr>
          <p:cNvSpPr/>
          <p:nvPr/>
        </p:nvSpPr>
        <p:spPr>
          <a:xfrm>
            <a:off x="2362200" y="4569628"/>
            <a:ext cx="5907505" cy="1526372"/>
          </a:xfrm>
          <a:custGeom>
            <a:avLst/>
            <a:gdLst>
              <a:gd name="connsiteX0" fmla="*/ 0 w 4905756"/>
              <a:gd name="connsiteY0" fmla="*/ 0 h 913897"/>
              <a:gd name="connsiteX1" fmla="*/ 4905756 w 4905756"/>
              <a:gd name="connsiteY1" fmla="*/ 0 h 913897"/>
              <a:gd name="connsiteX2" fmla="*/ 4905756 w 4905756"/>
              <a:gd name="connsiteY2" fmla="*/ 913897 h 913897"/>
              <a:gd name="connsiteX3" fmla="*/ 0 w 4905756"/>
              <a:gd name="connsiteY3" fmla="*/ 913897 h 913897"/>
              <a:gd name="connsiteX4" fmla="*/ 0 w 4905756"/>
              <a:gd name="connsiteY4" fmla="*/ 0 h 91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5756" h="913897">
                <a:moveTo>
                  <a:pt x="0" y="0"/>
                </a:moveTo>
                <a:lnTo>
                  <a:pt x="4905756" y="0"/>
                </a:lnTo>
                <a:lnTo>
                  <a:pt x="4905756" y="913897"/>
                </a:lnTo>
                <a:lnTo>
                  <a:pt x="0" y="913897"/>
                </a:lnTo>
                <a:lnTo>
                  <a:pt x="0" y="0"/>
                </a:lnTo>
                <a:close/>
              </a:path>
            </a:pathLst>
          </a:custGeom>
          <a:ln>
            <a:noFill/>
          </a:ln>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b" anchorCtr="0">
            <a:noAutofit/>
          </a:bodyPr>
          <a:lstStyle/>
          <a:p>
            <a:pPr lvl="1"/>
            <a:r>
              <a:rPr lang="en-US" altLang="en-US" sz="2800" dirty="0">
                <a:latin typeface="Calibri" panose="020F0502020204030204" pitchFamily="34" charset="0"/>
              </a:rPr>
              <a:t>Temporal pole (BA 38) </a:t>
            </a:r>
          </a:p>
          <a:p>
            <a:pPr lvl="1"/>
            <a:r>
              <a:rPr lang="en-US" altLang="en-US" sz="2800" dirty="0">
                <a:latin typeface="Calibri" panose="020F0502020204030204" pitchFamily="34" charset="0"/>
              </a:rPr>
              <a:t>Superior temporal sulcus (STS)</a:t>
            </a:r>
          </a:p>
        </p:txBody>
      </p:sp>
      <p:sp>
        <p:nvSpPr>
          <p:cNvPr id="25" name="Freeform: Shape 24">
            <a:extLst>
              <a:ext uri="{FF2B5EF4-FFF2-40B4-BE49-F238E27FC236}">
                <a16:creationId xmlns:a16="http://schemas.microsoft.com/office/drawing/2014/main" id="{4252FF5D-4CB1-315A-51EA-AFE45BFEF462}"/>
              </a:ext>
            </a:extLst>
          </p:cNvPr>
          <p:cNvSpPr/>
          <p:nvPr/>
        </p:nvSpPr>
        <p:spPr>
          <a:xfrm>
            <a:off x="370088" y="4450080"/>
            <a:ext cx="2286000" cy="1645920"/>
          </a:xfrm>
          <a:custGeom>
            <a:avLst/>
            <a:gdLst>
              <a:gd name="connsiteX0" fmla="*/ 152347 w 1723644"/>
              <a:gd name="connsiteY0" fmla="*/ 0 h 913897"/>
              <a:gd name="connsiteX1" fmla="*/ 1571297 w 1723644"/>
              <a:gd name="connsiteY1" fmla="*/ 0 h 913897"/>
              <a:gd name="connsiteX2" fmla="*/ 1723644 w 1723644"/>
              <a:gd name="connsiteY2" fmla="*/ 152347 h 913897"/>
              <a:gd name="connsiteX3" fmla="*/ 1723644 w 1723644"/>
              <a:gd name="connsiteY3" fmla="*/ 913897 h 913897"/>
              <a:gd name="connsiteX4" fmla="*/ 1723644 w 1723644"/>
              <a:gd name="connsiteY4" fmla="*/ 913897 h 913897"/>
              <a:gd name="connsiteX5" fmla="*/ 0 w 1723644"/>
              <a:gd name="connsiteY5" fmla="*/ 913897 h 913897"/>
              <a:gd name="connsiteX6" fmla="*/ 0 w 1723644"/>
              <a:gd name="connsiteY6" fmla="*/ 913897 h 913897"/>
              <a:gd name="connsiteX7" fmla="*/ 0 w 1723644"/>
              <a:gd name="connsiteY7" fmla="*/ 152347 h 913897"/>
              <a:gd name="connsiteX8" fmla="*/ 152347 w 1723644"/>
              <a:gd name="connsiteY8" fmla="*/ 0 h 91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3644" h="913897">
                <a:moveTo>
                  <a:pt x="152347" y="0"/>
                </a:moveTo>
                <a:lnTo>
                  <a:pt x="1571297" y="0"/>
                </a:lnTo>
                <a:cubicBezTo>
                  <a:pt x="1655436" y="0"/>
                  <a:pt x="1723644" y="68208"/>
                  <a:pt x="1723644" y="152347"/>
                </a:cubicBezTo>
                <a:lnTo>
                  <a:pt x="1723644" y="913897"/>
                </a:lnTo>
                <a:lnTo>
                  <a:pt x="1723644" y="913897"/>
                </a:lnTo>
                <a:lnTo>
                  <a:pt x="0" y="913897"/>
                </a:lnTo>
                <a:lnTo>
                  <a:pt x="0" y="913897"/>
                </a:lnTo>
                <a:lnTo>
                  <a:pt x="0" y="152347"/>
                </a:lnTo>
                <a:cubicBezTo>
                  <a:pt x="0" y="68208"/>
                  <a:pt x="68208" y="0"/>
                  <a:pt x="152347" y="0"/>
                </a:cubicBezTo>
                <a:close/>
              </a:path>
            </a:pathLst>
          </a:custGeom>
          <a:solidFill>
            <a:schemeClr val="accent1"/>
          </a:solidFill>
          <a:ln>
            <a:solidFill>
              <a:schemeClr val="accent1"/>
            </a:solidFill>
          </a:ln>
        </p:spPr>
        <p:style>
          <a:lnRef idx="2">
            <a:schemeClr val="accent3">
              <a:hueOff val="11646705"/>
              <a:satOff val="746"/>
              <a:lumOff val="-8040"/>
              <a:alphaOff val="0"/>
            </a:schemeClr>
          </a:lnRef>
          <a:fillRef idx="1">
            <a:schemeClr val="accent3">
              <a:hueOff val="11646705"/>
              <a:satOff val="746"/>
              <a:lumOff val="-8040"/>
              <a:alphaOff val="0"/>
            </a:schemeClr>
          </a:fillRef>
          <a:effectRef idx="0">
            <a:schemeClr val="accent3">
              <a:hueOff val="11646705"/>
              <a:satOff val="746"/>
              <a:lumOff val="-8040"/>
              <a:alphaOff val="0"/>
            </a:schemeClr>
          </a:effectRef>
          <a:fontRef idx="minor">
            <a:schemeClr val="lt1"/>
          </a:fontRef>
        </p:style>
        <p:txBody>
          <a:bodyPr spcFirstLastPara="0" vert="horz" wrap="square" lIns="90341" tIns="90341" rIns="90341" bIns="45720" numCol="1" spcCol="1270" anchor="ctr" anchorCtr="0">
            <a:noAutofit/>
          </a:bodyPr>
          <a:lstStyle/>
          <a:p>
            <a:pPr marL="0" lvl="0" indent="0" algn="ctr" defTabSz="1066800">
              <a:lnSpc>
                <a:spcPct val="90000"/>
              </a:lnSpc>
              <a:spcBef>
                <a:spcPct val="0"/>
              </a:spcBef>
              <a:spcAft>
                <a:spcPct val="35000"/>
              </a:spcAft>
              <a:buNone/>
            </a:pPr>
            <a:r>
              <a:rPr lang="en-US" sz="3200" kern="1200" dirty="0">
                <a:solidFill>
                  <a:schemeClr val="tx1"/>
                </a:solidFill>
                <a:latin typeface="Calibri" panose="020F0502020204030204" pitchFamily="34" charset="0"/>
              </a:rPr>
              <a:t>Multimodal Association Areas</a:t>
            </a:r>
          </a:p>
        </p:txBody>
      </p:sp>
    </p:spTree>
    <p:extLst>
      <p:ext uri="{BB962C8B-B14F-4D97-AF65-F5344CB8AC3E}">
        <p14:creationId xmlns:p14="http://schemas.microsoft.com/office/powerpoint/2010/main" val="34162357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24" grpId="0"/>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4157B-E7A6-42A8-B33D-F4942C49CD9E}"/>
              </a:ext>
            </a:extLst>
          </p:cNvPr>
          <p:cNvSpPr>
            <a:spLocks noGrp="1"/>
          </p:cNvSpPr>
          <p:nvPr>
            <p:ph type="title"/>
          </p:nvPr>
        </p:nvSpPr>
        <p:spPr>
          <a:xfrm>
            <a:off x="1143001" y="0"/>
            <a:ext cx="9905998" cy="679340"/>
          </a:xfrm>
        </p:spPr>
        <p:txBody>
          <a:bodyPr>
            <a:normAutofit fontScale="90000"/>
          </a:bodyPr>
          <a:lstStyle/>
          <a:p>
            <a:pPr algn="ctr"/>
            <a:r>
              <a:rPr lang="en-US" dirty="0">
                <a:solidFill>
                  <a:schemeClr val="tx1"/>
                </a:solidFill>
              </a:rPr>
              <a:t>Wernicke’s aphasia</a:t>
            </a:r>
          </a:p>
        </p:txBody>
      </p:sp>
      <p:pic>
        <p:nvPicPr>
          <p:cNvPr id="4" name="Online Media 3" title="Fluent Aphasia (Wernicke's Aphasia)">
            <a:hlinkClick r:id="" action="ppaction://media"/>
            <a:extLst>
              <a:ext uri="{FF2B5EF4-FFF2-40B4-BE49-F238E27FC236}">
                <a16:creationId xmlns:a16="http://schemas.microsoft.com/office/drawing/2014/main" id="{DADB082F-BA50-47A1-B7B3-2FDA2B305513}"/>
              </a:ext>
            </a:extLst>
          </p:cNvPr>
          <p:cNvPicPr>
            <a:picLocks noRot="1" noChangeAspect="1"/>
          </p:cNvPicPr>
          <p:nvPr>
            <a:videoFile r:link="rId1"/>
          </p:nvPr>
        </p:nvPicPr>
        <p:blipFill>
          <a:blip r:embed="rId3"/>
          <a:stretch>
            <a:fillRect/>
          </a:stretch>
        </p:blipFill>
        <p:spPr>
          <a:xfrm>
            <a:off x="1143001" y="829596"/>
            <a:ext cx="9905998" cy="5572124"/>
          </a:xfrm>
          <a:prstGeom prst="rect">
            <a:avLst/>
          </a:prstGeom>
        </p:spPr>
      </p:pic>
      <p:sp>
        <p:nvSpPr>
          <p:cNvPr id="5" name="Rectangle 4">
            <a:extLst>
              <a:ext uri="{FF2B5EF4-FFF2-40B4-BE49-F238E27FC236}">
                <a16:creationId xmlns:a16="http://schemas.microsoft.com/office/drawing/2014/main" id="{43C6E648-249E-4EAC-825B-CC583227CC4C}"/>
              </a:ext>
            </a:extLst>
          </p:cNvPr>
          <p:cNvSpPr/>
          <p:nvPr/>
        </p:nvSpPr>
        <p:spPr>
          <a:xfrm>
            <a:off x="3501892" y="6484243"/>
            <a:ext cx="5188215" cy="373757"/>
          </a:xfrm>
          <a:prstGeom prst="rect">
            <a:avLst/>
          </a:prstGeom>
        </p:spPr>
        <p:txBody>
          <a:bodyPr wrap="none">
            <a:spAutoFit/>
          </a:bodyPr>
          <a:lstStyle/>
          <a:p>
            <a:pPr>
              <a:lnSpc>
                <a:spcPct val="107000"/>
              </a:lnSpc>
              <a:spcAft>
                <a:spcPts val="800"/>
              </a:spcAft>
            </a:pPr>
            <a:r>
              <a:rPr lang="en-US" u="sng"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https://www.youtube.com/watch?v=3oef68YabD0</a:t>
            </a:r>
            <a:endParaRPr lang="en-US"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4562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8147C-2490-4533-9C30-5A7FCBD7D9B0}"/>
              </a:ext>
            </a:extLst>
          </p:cNvPr>
          <p:cNvSpPr>
            <a:spLocks noGrp="1"/>
          </p:cNvSpPr>
          <p:nvPr>
            <p:ph type="title"/>
          </p:nvPr>
        </p:nvSpPr>
        <p:spPr>
          <a:xfrm>
            <a:off x="1141413" y="0"/>
            <a:ext cx="9905998" cy="1528820"/>
          </a:xfrm>
        </p:spPr>
        <p:txBody>
          <a:bodyPr>
            <a:normAutofit fontScale="90000"/>
          </a:bodyPr>
          <a:lstStyle/>
          <a:p>
            <a:pPr algn="ctr"/>
            <a:r>
              <a:rPr lang="en-US" dirty="0">
                <a:solidFill>
                  <a:schemeClr val="tx1"/>
                </a:solidFill>
              </a:rPr>
              <a:t>The hippocampus and surrounding cortex are important for declarative Memory formation</a:t>
            </a:r>
          </a:p>
        </p:txBody>
      </p:sp>
      <p:sp>
        <p:nvSpPr>
          <p:cNvPr id="3" name="Content Placeholder 2">
            <a:extLst>
              <a:ext uri="{FF2B5EF4-FFF2-40B4-BE49-F238E27FC236}">
                <a16:creationId xmlns:a16="http://schemas.microsoft.com/office/drawing/2014/main" id="{73792E76-E03C-4D95-ABB6-5A01235D0CC3}"/>
              </a:ext>
            </a:extLst>
          </p:cNvPr>
          <p:cNvSpPr>
            <a:spLocks noGrp="1"/>
          </p:cNvSpPr>
          <p:nvPr>
            <p:ph idx="1"/>
          </p:nvPr>
        </p:nvSpPr>
        <p:spPr>
          <a:xfrm>
            <a:off x="1141413" y="1772857"/>
            <a:ext cx="9905998" cy="1528821"/>
          </a:xfrm>
        </p:spPr>
        <p:txBody>
          <a:bodyPr>
            <a:normAutofit/>
          </a:bodyPr>
          <a:lstStyle/>
          <a:p>
            <a:r>
              <a:rPr lang="en-US" sz="2800" dirty="0">
                <a:solidFill>
                  <a:schemeClr val="tx1"/>
                </a:solidFill>
              </a:rPr>
              <a:t>Damage to the hippocampus </a:t>
            </a:r>
            <a:r>
              <a:rPr lang="en-US" sz="2800" b="1" dirty="0">
                <a:solidFill>
                  <a:schemeClr val="tx1"/>
                </a:solidFill>
              </a:rPr>
              <a:t>and </a:t>
            </a:r>
            <a:r>
              <a:rPr lang="en-US" sz="2800" dirty="0">
                <a:solidFill>
                  <a:schemeClr val="tx1"/>
                </a:solidFill>
              </a:rPr>
              <a:t>surrounding cortex (Entorhinal, Perirhinal, and </a:t>
            </a:r>
            <a:r>
              <a:rPr lang="en-US" sz="2800" dirty="0" err="1">
                <a:solidFill>
                  <a:schemeClr val="tx1"/>
                </a:solidFill>
              </a:rPr>
              <a:t>Parahippocampal</a:t>
            </a:r>
            <a:r>
              <a:rPr lang="en-US" sz="2800" dirty="0">
                <a:solidFill>
                  <a:schemeClr val="tx1"/>
                </a:solidFill>
              </a:rPr>
              <a:t>) results in severe declarative memory impairment.</a:t>
            </a:r>
          </a:p>
        </p:txBody>
      </p:sp>
      <p:pic>
        <p:nvPicPr>
          <p:cNvPr id="4" name="Picture 3">
            <a:extLst>
              <a:ext uri="{FF2B5EF4-FFF2-40B4-BE49-F238E27FC236}">
                <a16:creationId xmlns:a16="http://schemas.microsoft.com/office/drawing/2014/main" id="{DCC725A9-3CF4-4887-AC01-7F1F03A5C9FA}"/>
              </a:ext>
            </a:extLst>
          </p:cNvPr>
          <p:cNvPicPr>
            <a:picLocks noChangeAspect="1"/>
          </p:cNvPicPr>
          <p:nvPr/>
        </p:nvPicPr>
        <p:blipFill>
          <a:blip r:embed="rId3"/>
          <a:stretch>
            <a:fillRect/>
          </a:stretch>
        </p:blipFill>
        <p:spPr>
          <a:xfrm>
            <a:off x="7939541" y="3442398"/>
            <a:ext cx="3330580" cy="3402205"/>
          </a:xfrm>
          <a:prstGeom prst="rect">
            <a:avLst/>
          </a:prstGeom>
        </p:spPr>
      </p:pic>
      <p:pic>
        <p:nvPicPr>
          <p:cNvPr id="5" name="Picture 4">
            <a:extLst>
              <a:ext uri="{FF2B5EF4-FFF2-40B4-BE49-F238E27FC236}">
                <a16:creationId xmlns:a16="http://schemas.microsoft.com/office/drawing/2014/main" id="{4A41F54C-B270-40E7-9A32-C2469B77DFF9}"/>
              </a:ext>
            </a:extLst>
          </p:cNvPr>
          <p:cNvPicPr>
            <a:picLocks noChangeAspect="1"/>
          </p:cNvPicPr>
          <p:nvPr/>
        </p:nvPicPr>
        <p:blipFill>
          <a:blip r:embed="rId4"/>
          <a:stretch>
            <a:fillRect/>
          </a:stretch>
        </p:blipFill>
        <p:spPr>
          <a:xfrm>
            <a:off x="1009122" y="3442398"/>
            <a:ext cx="6930419" cy="3402205"/>
          </a:xfrm>
          <a:prstGeom prst="rect">
            <a:avLst/>
          </a:prstGeom>
        </p:spPr>
      </p:pic>
    </p:spTree>
    <p:extLst>
      <p:ext uri="{BB962C8B-B14F-4D97-AF65-F5344CB8AC3E}">
        <p14:creationId xmlns:p14="http://schemas.microsoft.com/office/powerpoint/2010/main" val="337733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3342F-8143-4762-9897-0944E8C71749}"/>
              </a:ext>
            </a:extLst>
          </p:cNvPr>
          <p:cNvSpPr>
            <a:spLocks noGrp="1"/>
          </p:cNvSpPr>
          <p:nvPr>
            <p:ph type="title"/>
          </p:nvPr>
        </p:nvSpPr>
        <p:spPr>
          <a:xfrm>
            <a:off x="1141413" y="0"/>
            <a:ext cx="9905998" cy="1478570"/>
          </a:xfrm>
        </p:spPr>
        <p:txBody>
          <a:bodyPr/>
          <a:lstStyle/>
          <a:p>
            <a:pPr algn="ctr"/>
            <a:r>
              <a:rPr lang="en-US" dirty="0">
                <a:solidFill>
                  <a:schemeClr val="tx1"/>
                </a:solidFill>
              </a:rPr>
              <a:t>Two streams contribute to Episodic memory formation</a:t>
            </a:r>
          </a:p>
        </p:txBody>
      </p:sp>
      <p:sp>
        <p:nvSpPr>
          <p:cNvPr id="3" name="Content Placeholder 2">
            <a:extLst>
              <a:ext uri="{FF2B5EF4-FFF2-40B4-BE49-F238E27FC236}">
                <a16:creationId xmlns:a16="http://schemas.microsoft.com/office/drawing/2014/main" id="{2B30C146-6F4F-4663-A5EF-528A610C7ED8}"/>
              </a:ext>
            </a:extLst>
          </p:cNvPr>
          <p:cNvSpPr>
            <a:spLocks noGrp="1"/>
          </p:cNvSpPr>
          <p:nvPr>
            <p:ph idx="1"/>
          </p:nvPr>
        </p:nvSpPr>
        <p:spPr>
          <a:xfrm>
            <a:off x="1141412" y="1752600"/>
            <a:ext cx="7316788" cy="5105400"/>
          </a:xfrm>
        </p:spPr>
        <p:txBody>
          <a:bodyPr>
            <a:normAutofit/>
          </a:bodyPr>
          <a:lstStyle/>
          <a:p>
            <a:pPr>
              <a:buFont typeface="Arial" panose="020B0604020202020204" pitchFamily="34" charset="0"/>
              <a:buChar char="•"/>
            </a:pPr>
            <a:r>
              <a:rPr lang="en-US" sz="2400" dirty="0">
                <a:solidFill>
                  <a:schemeClr val="tx1"/>
                </a:solidFill>
              </a:rPr>
              <a:t>Information from the ventral “what” stream passes through </a:t>
            </a:r>
            <a:r>
              <a:rPr lang="en-US" sz="2400" b="1" dirty="0">
                <a:solidFill>
                  <a:schemeClr val="tx1"/>
                </a:solidFill>
              </a:rPr>
              <a:t>perirhinal cortex </a:t>
            </a:r>
            <a:r>
              <a:rPr lang="en-US" sz="2400" dirty="0">
                <a:solidFill>
                  <a:schemeClr val="tx1"/>
                </a:solidFill>
              </a:rPr>
              <a:t>to entorhinal cortex to hippocampus.</a:t>
            </a:r>
          </a:p>
          <a:p>
            <a:pPr lvl="1">
              <a:buFont typeface="Arial" panose="020B0604020202020204" pitchFamily="34" charset="0"/>
              <a:buChar char="•"/>
            </a:pPr>
            <a:r>
              <a:rPr lang="en-US" sz="2400" dirty="0">
                <a:solidFill>
                  <a:schemeClr val="tx1"/>
                </a:solidFill>
              </a:rPr>
              <a:t>Binds features of an item</a:t>
            </a:r>
          </a:p>
          <a:p>
            <a:pPr>
              <a:buFont typeface="Arial" panose="020B0604020202020204" pitchFamily="34" charset="0"/>
              <a:buChar char="•"/>
            </a:pPr>
            <a:r>
              <a:rPr lang="en-US" sz="2400" dirty="0">
                <a:solidFill>
                  <a:schemeClr val="tx1"/>
                </a:solidFill>
              </a:rPr>
              <a:t>Information from the dorsal “where” stream passes through </a:t>
            </a:r>
            <a:r>
              <a:rPr lang="en-US" sz="2400" b="1" dirty="0" err="1">
                <a:solidFill>
                  <a:schemeClr val="tx1"/>
                </a:solidFill>
              </a:rPr>
              <a:t>parahippocampal</a:t>
            </a:r>
            <a:r>
              <a:rPr lang="en-US" sz="2400" b="1" dirty="0">
                <a:solidFill>
                  <a:schemeClr val="tx1"/>
                </a:solidFill>
              </a:rPr>
              <a:t> cortex</a:t>
            </a:r>
            <a:r>
              <a:rPr lang="en-US" sz="2400" i="1" dirty="0">
                <a:solidFill>
                  <a:schemeClr val="tx1"/>
                </a:solidFill>
              </a:rPr>
              <a:t> </a:t>
            </a:r>
            <a:r>
              <a:rPr lang="en-US" sz="2400" dirty="0">
                <a:solidFill>
                  <a:schemeClr val="tx1"/>
                </a:solidFill>
              </a:rPr>
              <a:t>to entorhinal cortex to hippocampus.</a:t>
            </a:r>
          </a:p>
          <a:p>
            <a:pPr lvl="1">
              <a:buFont typeface="Arial" panose="020B0604020202020204" pitchFamily="34" charset="0"/>
              <a:buChar char="•"/>
            </a:pPr>
            <a:r>
              <a:rPr lang="en-US" sz="2400" dirty="0">
                <a:solidFill>
                  <a:schemeClr val="tx1"/>
                </a:solidFill>
              </a:rPr>
              <a:t>Binds contextual details</a:t>
            </a:r>
          </a:p>
          <a:p>
            <a:pPr>
              <a:buFont typeface="Arial" panose="020B0604020202020204" pitchFamily="34" charset="0"/>
              <a:buChar char="•"/>
            </a:pPr>
            <a:r>
              <a:rPr lang="en-US" sz="2400" dirty="0">
                <a:solidFill>
                  <a:schemeClr val="tx1"/>
                </a:solidFill>
              </a:rPr>
              <a:t>The </a:t>
            </a:r>
            <a:r>
              <a:rPr lang="en-US" sz="2400" b="1" dirty="0">
                <a:solidFill>
                  <a:schemeClr val="tx1"/>
                </a:solidFill>
              </a:rPr>
              <a:t>hippocampus</a:t>
            </a:r>
            <a:r>
              <a:rPr lang="en-US" sz="2400" dirty="0">
                <a:solidFill>
                  <a:schemeClr val="tx1"/>
                </a:solidFill>
              </a:rPr>
              <a:t> integrates information from both streams to form </a:t>
            </a:r>
            <a:r>
              <a:rPr lang="en-US" sz="2400" i="1" dirty="0">
                <a:solidFill>
                  <a:schemeClr val="tx1"/>
                </a:solidFill>
              </a:rPr>
              <a:t>item in context associations </a:t>
            </a:r>
            <a:r>
              <a:rPr lang="en-US" sz="2400" dirty="0">
                <a:solidFill>
                  <a:schemeClr val="tx1"/>
                </a:solidFill>
              </a:rPr>
              <a:t>(episodes).</a:t>
            </a:r>
          </a:p>
        </p:txBody>
      </p:sp>
      <p:pic>
        <p:nvPicPr>
          <p:cNvPr id="4" name="Picture 3">
            <a:extLst>
              <a:ext uri="{FF2B5EF4-FFF2-40B4-BE49-F238E27FC236}">
                <a16:creationId xmlns:a16="http://schemas.microsoft.com/office/drawing/2014/main" id="{8061AD21-6B56-4CDF-8521-76B12C1942B8}"/>
              </a:ext>
            </a:extLst>
          </p:cNvPr>
          <p:cNvPicPr>
            <a:picLocks noChangeAspect="1"/>
          </p:cNvPicPr>
          <p:nvPr/>
        </p:nvPicPr>
        <p:blipFill>
          <a:blip r:embed="rId3"/>
          <a:stretch>
            <a:fillRect/>
          </a:stretch>
        </p:blipFill>
        <p:spPr>
          <a:xfrm>
            <a:off x="8878389" y="1868152"/>
            <a:ext cx="3313611" cy="2658960"/>
          </a:xfrm>
          <a:prstGeom prst="rect">
            <a:avLst/>
          </a:prstGeom>
        </p:spPr>
      </p:pic>
      <p:pic>
        <p:nvPicPr>
          <p:cNvPr id="5" name="Picture 4">
            <a:extLst>
              <a:ext uri="{FF2B5EF4-FFF2-40B4-BE49-F238E27FC236}">
                <a16:creationId xmlns:a16="http://schemas.microsoft.com/office/drawing/2014/main" id="{671A559A-9115-D133-5548-E55EFA35A76B}"/>
              </a:ext>
            </a:extLst>
          </p:cNvPr>
          <p:cNvPicPr>
            <a:picLocks noChangeAspect="1"/>
          </p:cNvPicPr>
          <p:nvPr/>
        </p:nvPicPr>
        <p:blipFill rotWithShape="1">
          <a:blip r:embed="rId4"/>
          <a:srcRect l="30306"/>
          <a:stretch/>
        </p:blipFill>
        <p:spPr>
          <a:xfrm>
            <a:off x="8878845" y="4527112"/>
            <a:ext cx="3313155" cy="2335063"/>
          </a:xfrm>
          <a:prstGeom prst="rect">
            <a:avLst/>
          </a:prstGeom>
        </p:spPr>
      </p:pic>
    </p:spTree>
    <p:extLst>
      <p:ext uri="{BB962C8B-B14F-4D97-AF65-F5344CB8AC3E}">
        <p14:creationId xmlns:p14="http://schemas.microsoft.com/office/powerpoint/2010/main" val="1763259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022E-E61E-46F4-8B3B-A21365C4953C}"/>
              </a:ext>
            </a:extLst>
          </p:cNvPr>
          <p:cNvSpPr>
            <a:spLocks noGrp="1"/>
          </p:cNvSpPr>
          <p:nvPr>
            <p:ph type="title"/>
          </p:nvPr>
        </p:nvSpPr>
        <p:spPr>
          <a:xfrm>
            <a:off x="1141412" y="130838"/>
            <a:ext cx="9905998" cy="1478570"/>
          </a:xfrm>
        </p:spPr>
        <p:txBody>
          <a:bodyPr/>
          <a:lstStyle/>
          <a:p>
            <a:pPr algn="ctr"/>
            <a:r>
              <a:rPr lang="en-US" dirty="0">
                <a:solidFill>
                  <a:schemeClr val="tx1"/>
                </a:solidFill>
              </a:rPr>
              <a:t>How is a specific object represented within the ventral visual stream?</a:t>
            </a:r>
          </a:p>
        </p:txBody>
      </p:sp>
      <p:sp>
        <p:nvSpPr>
          <p:cNvPr id="3" name="Content Placeholder 2">
            <a:extLst>
              <a:ext uri="{FF2B5EF4-FFF2-40B4-BE49-F238E27FC236}">
                <a16:creationId xmlns:a16="http://schemas.microsoft.com/office/drawing/2014/main" id="{5B7CD7D4-0421-4471-B8F0-22263B8E002C}"/>
              </a:ext>
            </a:extLst>
          </p:cNvPr>
          <p:cNvSpPr>
            <a:spLocks noGrp="1"/>
          </p:cNvSpPr>
          <p:nvPr>
            <p:ph idx="1"/>
          </p:nvPr>
        </p:nvSpPr>
        <p:spPr>
          <a:xfrm>
            <a:off x="1141411" y="1828800"/>
            <a:ext cx="9905999" cy="2377440"/>
          </a:xfrm>
        </p:spPr>
        <p:txBody>
          <a:bodyPr>
            <a:normAutofit/>
          </a:bodyPr>
          <a:lstStyle/>
          <a:p>
            <a:r>
              <a:rPr lang="en-US" sz="2400" b="1" dirty="0">
                <a:solidFill>
                  <a:schemeClr val="tx1"/>
                </a:solidFill>
              </a:rPr>
              <a:t>Sparse coding: </a:t>
            </a:r>
            <a:r>
              <a:rPr lang="en-US" sz="2400" dirty="0">
                <a:solidFill>
                  <a:schemeClr val="tx1"/>
                </a:solidFill>
              </a:rPr>
              <a:t>theory that a small but specific group of cells responds to the presence of a given object.</a:t>
            </a:r>
          </a:p>
          <a:p>
            <a:r>
              <a:rPr lang="en-US" sz="2400" b="1" dirty="0">
                <a:solidFill>
                  <a:schemeClr val="tx1"/>
                </a:solidFill>
              </a:rPr>
              <a:t>Population coding: </a:t>
            </a:r>
            <a:r>
              <a:rPr lang="en-US" sz="2400" dirty="0">
                <a:solidFill>
                  <a:schemeClr val="tx1"/>
                </a:solidFill>
              </a:rPr>
              <a:t>theory that the pattern of activity across a large population of cells codes for individual objects.</a:t>
            </a:r>
          </a:p>
        </p:txBody>
      </p:sp>
      <p:pic>
        <p:nvPicPr>
          <p:cNvPr id="4" name="Picture 3">
            <a:extLst>
              <a:ext uri="{FF2B5EF4-FFF2-40B4-BE49-F238E27FC236}">
                <a16:creationId xmlns:a16="http://schemas.microsoft.com/office/drawing/2014/main" id="{CD08EDC8-C7EF-4187-97E5-5E137A24D6F6}"/>
              </a:ext>
            </a:extLst>
          </p:cNvPr>
          <p:cNvPicPr>
            <a:picLocks noChangeAspect="1"/>
          </p:cNvPicPr>
          <p:nvPr/>
        </p:nvPicPr>
        <p:blipFill>
          <a:blip r:embed="rId3"/>
          <a:stretch>
            <a:fillRect/>
          </a:stretch>
        </p:blipFill>
        <p:spPr>
          <a:xfrm>
            <a:off x="2612694" y="3634902"/>
            <a:ext cx="6966612" cy="3227379"/>
          </a:xfrm>
          <a:prstGeom prst="rect">
            <a:avLst/>
          </a:prstGeom>
        </p:spPr>
      </p:pic>
    </p:spTree>
    <p:extLst>
      <p:ext uri="{BB962C8B-B14F-4D97-AF65-F5344CB8AC3E}">
        <p14:creationId xmlns:p14="http://schemas.microsoft.com/office/powerpoint/2010/main" val="2957915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DB3AEE-09F2-4047-8EFB-20FFD1F75B13}"/>
              </a:ext>
            </a:extLst>
          </p:cNvPr>
          <p:cNvPicPr>
            <a:picLocks noChangeAspect="1"/>
          </p:cNvPicPr>
          <p:nvPr/>
        </p:nvPicPr>
        <p:blipFill>
          <a:blip r:embed="rId3"/>
          <a:stretch>
            <a:fillRect/>
          </a:stretch>
        </p:blipFill>
        <p:spPr>
          <a:xfrm>
            <a:off x="1333500" y="113203"/>
            <a:ext cx="9525000" cy="6744797"/>
          </a:xfrm>
          <a:prstGeom prst="rect">
            <a:avLst/>
          </a:prstGeom>
        </p:spPr>
      </p:pic>
    </p:spTree>
    <p:extLst>
      <p:ext uri="{BB962C8B-B14F-4D97-AF65-F5344CB8AC3E}">
        <p14:creationId xmlns:p14="http://schemas.microsoft.com/office/powerpoint/2010/main" val="1090566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F12B01-34FC-61EC-6B0A-BDB15EE54D2A}"/>
              </a:ext>
            </a:extLst>
          </p:cNvPr>
          <p:cNvPicPr>
            <a:picLocks noChangeAspect="1"/>
          </p:cNvPicPr>
          <p:nvPr/>
        </p:nvPicPr>
        <p:blipFill>
          <a:blip r:embed="rId3"/>
          <a:stretch>
            <a:fillRect/>
          </a:stretch>
        </p:blipFill>
        <p:spPr>
          <a:xfrm>
            <a:off x="-1044" y="1017254"/>
            <a:ext cx="12192000" cy="4823492"/>
          </a:xfrm>
          <a:prstGeom prst="rect">
            <a:avLst/>
          </a:prstGeom>
        </p:spPr>
      </p:pic>
    </p:spTree>
    <p:extLst>
      <p:ext uri="{BB962C8B-B14F-4D97-AF65-F5344CB8AC3E}">
        <p14:creationId xmlns:p14="http://schemas.microsoft.com/office/powerpoint/2010/main" val="4103876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AE615-9AA5-4310-BA51-4C9F3CEC63FB}"/>
              </a:ext>
            </a:extLst>
          </p:cNvPr>
          <p:cNvSpPr>
            <a:spLocks noGrp="1"/>
          </p:cNvSpPr>
          <p:nvPr>
            <p:ph type="title"/>
          </p:nvPr>
        </p:nvSpPr>
        <p:spPr>
          <a:xfrm>
            <a:off x="1141413" y="327514"/>
            <a:ext cx="9905998" cy="1478570"/>
          </a:xfrm>
        </p:spPr>
        <p:txBody>
          <a:bodyPr/>
          <a:lstStyle/>
          <a:p>
            <a:pPr algn="ctr"/>
            <a:r>
              <a:rPr lang="en-US" dirty="0">
                <a:solidFill>
                  <a:schemeClr val="tx1"/>
                </a:solidFill>
              </a:rPr>
              <a:t>Object categories may be more widely distributed across the ventral stream</a:t>
            </a:r>
          </a:p>
        </p:txBody>
      </p:sp>
      <p:sp>
        <p:nvSpPr>
          <p:cNvPr id="3" name="Content Placeholder 2">
            <a:extLst>
              <a:ext uri="{FF2B5EF4-FFF2-40B4-BE49-F238E27FC236}">
                <a16:creationId xmlns:a16="http://schemas.microsoft.com/office/drawing/2014/main" id="{D2111E6E-8206-4EE6-92E8-1B088BAFDD96}"/>
              </a:ext>
            </a:extLst>
          </p:cNvPr>
          <p:cNvSpPr>
            <a:spLocks noGrp="1"/>
          </p:cNvSpPr>
          <p:nvPr>
            <p:ph idx="1"/>
          </p:nvPr>
        </p:nvSpPr>
        <p:spPr>
          <a:xfrm>
            <a:off x="1141413" y="1806084"/>
            <a:ext cx="4954588" cy="4724402"/>
          </a:xfrm>
        </p:spPr>
        <p:txBody>
          <a:bodyPr>
            <a:normAutofit/>
          </a:bodyPr>
          <a:lstStyle/>
          <a:p>
            <a:pPr>
              <a:buFont typeface="Arial" panose="020B0604020202020204" pitchFamily="34" charset="0"/>
              <a:buChar char="•"/>
            </a:pPr>
            <a:r>
              <a:rPr lang="en-US" sz="2800" dirty="0">
                <a:solidFill>
                  <a:schemeClr val="tx1"/>
                </a:solidFill>
              </a:rPr>
              <a:t>Haxby, et al., 2001</a:t>
            </a:r>
          </a:p>
          <a:p>
            <a:pPr>
              <a:buFont typeface="Arial" panose="020B0604020202020204" pitchFamily="34" charset="0"/>
              <a:buChar char="•"/>
            </a:pPr>
            <a:r>
              <a:rPr lang="en-US" sz="2800" dirty="0">
                <a:solidFill>
                  <a:schemeClr val="tx1"/>
                </a:solidFill>
              </a:rPr>
              <a:t>Used multi-voxel pattern analysis and machine learning to group stimuli with similar neural responses.</a:t>
            </a:r>
          </a:p>
          <a:p>
            <a:pPr>
              <a:buFont typeface="Arial" panose="020B0604020202020204" pitchFamily="34" charset="0"/>
              <a:buChar char="•"/>
            </a:pPr>
            <a:r>
              <a:rPr lang="en-US" sz="2800" dirty="0">
                <a:solidFill>
                  <a:schemeClr val="tx1"/>
                </a:solidFill>
              </a:rPr>
              <a:t>The more similar visual items are, the more similar are their patterns of activity across the brain</a:t>
            </a:r>
            <a:r>
              <a:rPr lang="en-GB" sz="2800" dirty="0">
                <a:solidFill>
                  <a:schemeClr val="tx1"/>
                </a:solidFill>
              </a:rPr>
              <a:t>.</a:t>
            </a:r>
            <a:endParaRPr lang="en-US" sz="2800" dirty="0">
              <a:solidFill>
                <a:schemeClr val="tx1"/>
              </a:solidFill>
            </a:endParaRPr>
          </a:p>
        </p:txBody>
      </p:sp>
      <p:pic>
        <p:nvPicPr>
          <p:cNvPr id="4" name="Picture 3">
            <a:extLst>
              <a:ext uri="{FF2B5EF4-FFF2-40B4-BE49-F238E27FC236}">
                <a16:creationId xmlns:a16="http://schemas.microsoft.com/office/drawing/2014/main" id="{5258E29E-0F9B-469E-8056-69828688B264}"/>
              </a:ext>
            </a:extLst>
          </p:cNvPr>
          <p:cNvPicPr>
            <a:picLocks noChangeAspect="1"/>
          </p:cNvPicPr>
          <p:nvPr/>
        </p:nvPicPr>
        <p:blipFill>
          <a:blip r:embed="rId3"/>
          <a:stretch>
            <a:fillRect/>
          </a:stretch>
        </p:blipFill>
        <p:spPr>
          <a:xfrm>
            <a:off x="6283598" y="1944044"/>
            <a:ext cx="4952999" cy="4913956"/>
          </a:xfrm>
          <a:prstGeom prst="rect">
            <a:avLst/>
          </a:prstGeom>
        </p:spPr>
      </p:pic>
      <p:sp>
        <p:nvSpPr>
          <p:cNvPr id="5" name="Circle: Hollow 4">
            <a:extLst>
              <a:ext uri="{FF2B5EF4-FFF2-40B4-BE49-F238E27FC236}">
                <a16:creationId xmlns:a16="http://schemas.microsoft.com/office/drawing/2014/main" id="{612752C7-58CD-47B2-8C70-0A5D429E3BCA}"/>
              </a:ext>
            </a:extLst>
          </p:cNvPr>
          <p:cNvSpPr/>
          <p:nvPr/>
        </p:nvSpPr>
        <p:spPr>
          <a:xfrm>
            <a:off x="5975131" y="4099034"/>
            <a:ext cx="2254469" cy="2431452"/>
          </a:xfrm>
          <a:prstGeom prst="donut">
            <a:avLst>
              <a:gd name="adj" fmla="val 381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ircle: Hollow 5">
            <a:extLst>
              <a:ext uri="{FF2B5EF4-FFF2-40B4-BE49-F238E27FC236}">
                <a16:creationId xmlns:a16="http://schemas.microsoft.com/office/drawing/2014/main" id="{7BC348BE-842C-4B3C-AF22-94D3513BFDBA}"/>
              </a:ext>
            </a:extLst>
          </p:cNvPr>
          <p:cNvSpPr/>
          <p:nvPr/>
        </p:nvSpPr>
        <p:spPr>
          <a:xfrm>
            <a:off x="6821214" y="1805813"/>
            <a:ext cx="2254469" cy="2431452"/>
          </a:xfrm>
          <a:prstGeom prst="donut">
            <a:avLst>
              <a:gd name="adj" fmla="val 381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ircle: Hollow 6">
            <a:extLst>
              <a:ext uri="{FF2B5EF4-FFF2-40B4-BE49-F238E27FC236}">
                <a16:creationId xmlns:a16="http://schemas.microsoft.com/office/drawing/2014/main" id="{990B18D1-25C3-4A41-BEEB-8BBCC2132E30}"/>
              </a:ext>
            </a:extLst>
          </p:cNvPr>
          <p:cNvSpPr/>
          <p:nvPr/>
        </p:nvSpPr>
        <p:spPr>
          <a:xfrm rot="2141961">
            <a:off x="8606826" y="4301877"/>
            <a:ext cx="2790645" cy="2224973"/>
          </a:xfrm>
          <a:prstGeom prst="donut">
            <a:avLst>
              <a:gd name="adj" fmla="val 3817"/>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79498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A020-F984-4FC6-87BC-A6582D5A5EB8}"/>
              </a:ext>
            </a:extLst>
          </p:cNvPr>
          <p:cNvSpPr>
            <a:spLocks noGrp="1"/>
          </p:cNvSpPr>
          <p:nvPr>
            <p:ph type="title"/>
          </p:nvPr>
        </p:nvSpPr>
        <p:spPr>
          <a:xfrm>
            <a:off x="1141413" y="287442"/>
            <a:ext cx="9905998" cy="1478570"/>
          </a:xfrm>
        </p:spPr>
        <p:txBody>
          <a:bodyPr>
            <a:normAutofit/>
          </a:bodyPr>
          <a:lstStyle/>
          <a:p>
            <a:pPr algn="ctr"/>
            <a:r>
              <a:rPr lang="en-US" dirty="0">
                <a:solidFill>
                  <a:schemeClr val="tx1"/>
                </a:solidFill>
              </a:rPr>
              <a:t>Specialized Areas of the Temporal Lobe for Recognizing Visual Objects</a:t>
            </a:r>
          </a:p>
        </p:txBody>
      </p:sp>
      <p:sp>
        <p:nvSpPr>
          <p:cNvPr id="3" name="Content Placeholder 2">
            <a:extLst>
              <a:ext uri="{FF2B5EF4-FFF2-40B4-BE49-F238E27FC236}">
                <a16:creationId xmlns:a16="http://schemas.microsoft.com/office/drawing/2014/main" id="{DC0897FC-C115-4973-8988-1420A7EE4BCB}"/>
              </a:ext>
            </a:extLst>
          </p:cNvPr>
          <p:cNvSpPr>
            <a:spLocks noGrp="1"/>
          </p:cNvSpPr>
          <p:nvPr>
            <p:ph idx="1"/>
          </p:nvPr>
        </p:nvSpPr>
        <p:spPr>
          <a:xfrm>
            <a:off x="1141413" y="2249487"/>
            <a:ext cx="5716588" cy="4435092"/>
          </a:xfrm>
        </p:spPr>
        <p:txBody>
          <a:bodyPr>
            <a:normAutofit/>
          </a:bodyPr>
          <a:lstStyle/>
          <a:p>
            <a:pPr>
              <a:buFont typeface="Arial" panose="020B0604020202020204" pitchFamily="34" charset="0"/>
              <a:buChar char="•"/>
            </a:pPr>
            <a:r>
              <a:rPr lang="en-US" sz="2800" dirty="0">
                <a:solidFill>
                  <a:schemeClr val="tx1"/>
                </a:solidFill>
              </a:rPr>
              <a:t>Evidence from fMRI studies show at least some </a:t>
            </a:r>
            <a:r>
              <a:rPr lang="en-GB" sz="2800" dirty="0">
                <a:solidFill>
                  <a:schemeClr val="tx1"/>
                </a:solidFill>
              </a:rPr>
              <a:t>specialized segments including:</a:t>
            </a:r>
          </a:p>
          <a:p>
            <a:pPr lvl="1">
              <a:buFont typeface="Arial" panose="020B0604020202020204" pitchFamily="34" charset="0"/>
              <a:buChar char="•"/>
            </a:pPr>
            <a:r>
              <a:rPr lang="en-US" sz="2800" dirty="0" err="1">
                <a:solidFill>
                  <a:schemeClr val="tx1"/>
                </a:solidFill>
              </a:rPr>
              <a:t>Extrastriate</a:t>
            </a:r>
            <a:r>
              <a:rPr lang="en-US" sz="2800" dirty="0">
                <a:solidFill>
                  <a:schemeClr val="tx1"/>
                </a:solidFill>
              </a:rPr>
              <a:t> body area (EBA)</a:t>
            </a:r>
          </a:p>
          <a:p>
            <a:pPr lvl="1">
              <a:buFont typeface="Arial" panose="020B0604020202020204" pitchFamily="34" charset="0"/>
              <a:buChar char="•"/>
            </a:pPr>
            <a:r>
              <a:rPr lang="en-US" sz="2800" dirty="0">
                <a:solidFill>
                  <a:schemeClr val="tx1"/>
                </a:solidFill>
              </a:rPr>
              <a:t>Parahippocampal place area (PPA)</a:t>
            </a:r>
          </a:p>
          <a:p>
            <a:pPr lvl="1">
              <a:buFont typeface="Arial" panose="020B0604020202020204" pitchFamily="34" charset="0"/>
              <a:buChar char="•"/>
            </a:pPr>
            <a:r>
              <a:rPr lang="en-US" sz="2800" dirty="0">
                <a:solidFill>
                  <a:schemeClr val="tx1"/>
                </a:solidFill>
              </a:rPr>
              <a:t>Visual word form area (VWFA)</a:t>
            </a:r>
          </a:p>
          <a:p>
            <a:pPr lvl="1">
              <a:buFont typeface="Arial" panose="020B0604020202020204" pitchFamily="34" charset="0"/>
              <a:buChar char="•"/>
            </a:pPr>
            <a:r>
              <a:rPr lang="en-US" sz="2800" dirty="0">
                <a:solidFill>
                  <a:schemeClr val="tx1"/>
                </a:solidFill>
              </a:rPr>
              <a:t>Fusiform face area (FFA)</a:t>
            </a:r>
          </a:p>
          <a:p>
            <a:pPr marL="457200" lvl="1" indent="0">
              <a:buNone/>
            </a:pPr>
            <a:endParaRPr lang="en-GB" sz="2400" dirty="0">
              <a:solidFill>
                <a:schemeClr val="bg1"/>
              </a:solidFill>
            </a:endParaRPr>
          </a:p>
        </p:txBody>
      </p:sp>
      <p:pic>
        <p:nvPicPr>
          <p:cNvPr id="4" name="Picture 3">
            <a:extLst>
              <a:ext uri="{FF2B5EF4-FFF2-40B4-BE49-F238E27FC236}">
                <a16:creationId xmlns:a16="http://schemas.microsoft.com/office/drawing/2014/main" id="{CD792997-EA90-473E-80AE-D11E39294884}"/>
              </a:ext>
            </a:extLst>
          </p:cNvPr>
          <p:cNvPicPr>
            <a:picLocks noChangeAspect="1"/>
          </p:cNvPicPr>
          <p:nvPr/>
        </p:nvPicPr>
        <p:blipFill>
          <a:blip r:embed="rId3"/>
          <a:stretch>
            <a:fillRect/>
          </a:stretch>
        </p:blipFill>
        <p:spPr>
          <a:xfrm>
            <a:off x="6522708" y="1846569"/>
            <a:ext cx="4925082" cy="4760912"/>
          </a:xfrm>
          <a:prstGeom prst="rect">
            <a:avLst/>
          </a:prstGeom>
        </p:spPr>
      </p:pic>
    </p:spTree>
    <p:extLst>
      <p:ext uri="{BB962C8B-B14F-4D97-AF65-F5344CB8AC3E}">
        <p14:creationId xmlns:p14="http://schemas.microsoft.com/office/powerpoint/2010/main" val="2040844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6A99B-B3B5-DC74-29F2-4F1B9D81D232}"/>
              </a:ext>
            </a:extLst>
          </p:cNvPr>
          <p:cNvSpPr>
            <a:spLocks noGrp="1"/>
          </p:cNvSpPr>
          <p:nvPr>
            <p:ph type="title"/>
          </p:nvPr>
        </p:nvSpPr>
        <p:spPr/>
        <p:txBody>
          <a:bodyPr/>
          <a:lstStyle/>
          <a:p>
            <a:pPr algn="ctr"/>
            <a:r>
              <a:rPr lang="en-US" dirty="0" err="1">
                <a:solidFill>
                  <a:schemeClr val="tx1"/>
                </a:solidFill>
              </a:rPr>
              <a:t>Agnosias</a:t>
            </a:r>
            <a:endParaRPr lang="en-US" dirty="0">
              <a:solidFill>
                <a:schemeClr val="tx1"/>
              </a:solidFill>
            </a:endParaRPr>
          </a:p>
        </p:txBody>
      </p:sp>
      <p:sp>
        <p:nvSpPr>
          <p:cNvPr id="3" name="Content Placeholder 2">
            <a:extLst>
              <a:ext uri="{FF2B5EF4-FFF2-40B4-BE49-F238E27FC236}">
                <a16:creationId xmlns:a16="http://schemas.microsoft.com/office/drawing/2014/main" id="{EEC87BE2-8EF0-7E0D-9C68-2CF71D107905}"/>
              </a:ext>
            </a:extLst>
          </p:cNvPr>
          <p:cNvSpPr>
            <a:spLocks noGrp="1"/>
          </p:cNvSpPr>
          <p:nvPr>
            <p:ph idx="1"/>
          </p:nvPr>
        </p:nvSpPr>
        <p:spPr>
          <a:xfrm>
            <a:off x="1097280" y="1845734"/>
            <a:ext cx="6294120" cy="4023360"/>
          </a:xfrm>
        </p:spPr>
        <p:txBody>
          <a:bodyPr/>
          <a:lstStyle/>
          <a:p>
            <a:pPr>
              <a:buFont typeface="Arial" panose="020B0604020202020204" pitchFamily="34" charset="0"/>
              <a:buChar char="•"/>
            </a:pPr>
            <a:r>
              <a:rPr lang="en-US" sz="2800" dirty="0"/>
              <a:t>Inability to recognize objects.</a:t>
            </a:r>
          </a:p>
          <a:p>
            <a:pPr>
              <a:buFont typeface="Arial" panose="020B0604020202020204" pitchFamily="34" charset="0"/>
              <a:buChar char="•"/>
            </a:pPr>
            <a:r>
              <a:rPr lang="en-US" sz="2800" dirty="0"/>
              <a:t>Often linked to temporal lobe damage.</a:t>
            </a:r>
          </a:p>
          <a:p>
            <a:pPr>
              <a:buFont typeface="Arial" panose="020B0604020202020204" pitchFamily="34" charset="0"/>
              <a:buChar char="•"/>
            </a:pPr>
            <a:r>
              <a:rPr lang="en-US" sz="2800" dirty="0"/>
              <a:t>Examples:</a:t>
            </a:r>
          </a:p>
          <a:p>
            <a:pPr lvl="1">
              <a:buFont typeface="Arial" panose="020B0604020202020204" pitchFamily="34" charset="0"/>
              <a:buChar char="•"/>
            </a:pPr>
            <a:r>
              <a:rPr lang="en-US" sz="2800" dirty="0"/>
              <a:t>Visual agnosia</a:t>
            </a:r>
          </a:p>
          <a:p>
            <a:pPr lvl="1">
              <a:buFont typeface="Arial" panose="020B0604020202020204" pitchFamily="34" charset="0"/>
              <a:buChar char="•"/>
            </a:pPr>
            <a:r>
              <a:rPr lang="en-US" sz="2800" dirty="0"/>
              <a:t>Prosopagnosia</a:t>
            </a:r>
          </a:p>
          <a:p>
            <a:pPr lvl="1"/>
            <a:endParaRPr lang="en-US" dirty="0"/>
          </a:p>
        </p:txBody>
      </p:sp>
    </p:spTree>
    <p:extLst>
      <p:ext uri="{BB962C8B-B14F-4D97-AF65-F5344CB8AC3E}">
        <p14:creationId xmlns:p14="http://schemas.microsoft.com/office/powerpoint/2010/main" val="3135625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ECD74-9EAB-42DB-AC4F-C31584D58C06}"/>
              </a:ext>
            </a:extLst>
          </p:cNvPr>
          <p:cNvSpPr>
            <a:spLocks noGrp="1"/>
          </p:cNvSpPr>
          <p:nvPr>
            <p:ph type="title"/>
          </p:nvPr>
        </p:nvSpPr>
        <p:spPr>
          <a:xfrm>
            <a:off x="1141413" y="262129"/>
            <a:ext cx="9905998" cy="1389436"/>
          </a:xfrm>
        </p:spPr>
        <p:txBody>
          <a:bodyPr>
            <a:normAutofit/>
          </a:bodyPr>
          <a:lstStyle/>
          <a:p>
            <a:pPr algn="ctr"/>
            <a:r>
              <a:rPr lang="en-US" dirty="0">
                <a:solidFill>
                  <a:schemeClr val="tx1"/>
                </a:solidFill>
              </a:rPr>
              <a:t>Visual Agnosia</a:t>
            </a:r>
          </a:p>
        </p:txBody>
      </p:sp>
      <p:sp>
        <p:nvSpPr>
          <p:cNvPr id="3" name="Content Placeholder 2">
            <a:extLst>
              <a:ext uri="{FF2B5EF4-FFF2-40B4-BE49-F238E27FC236}">
                <a16:creationId xmlns:a16="http://schemas.microsoft.com/office/drawing/2014/main" id="{94835444-AA3E-48BF-BA50-4569D02FE761}"/>
              </a:ext>
            </a:extLst>
          </p:cNvPr>
          <p:cNvSpPr>
            <a:spLocks noGrp="1"/>
          </p:cNvSpPr>
          <p:nvPr>
            <p:ph idx="1"/>
          </p:nvPr>
        </p:nvSpPr>
        <p:spPr>
          <a:xfrm>
            <a:off x="1141413" y="1919578"/>
            <a:ext cx="4954587" cy="4078372"/>
          </a:xfrm>
        </p:spPr>
        <p:txBody>
          <a:bodyPr>
            <a:normAutofit/>
          </a:bodyPr>
          <a:lstStyle/>
          <a:p>
            <a:pPr lvl="1">
              <a:buFont typeface="Arial" panose="020B0604020202020204" pitchFamily="34" charset="0"/>
              <a:buChar char="•"/>
            </a:pPr>
            <a:r>
              <a:rPr lang="en-US" sz="2800" dirty="0">
                <a:solidFill>
                  <a:schemeClr val="tx1"/>
                </a:solidFill>
              </a:rPr>
              <a:t>an inability to recognize objects in </a:t>
            </a:r>
            <a:r>
              <a:rPr lang="en-GB" sz="2800" dirty="0">
                <a:solidFill>
                  <a:schemeClr val="tx1"/>
                </a:solidFill>
              </a:rPr>
              <a:t>the visual modality that cannot be explained by other causes.</a:t>
            </a:r>
          </a:p>
          <a:p>
            <a:pPr lvl="2">
              <a:buFont typeface="Arial" panose="020B0604020202020204" pitchFamily="34" charset="0"/>
              <a:buChar char="•"/>
            </a:pPr>
            <a:r>
              <a:rPr lang="en-GB" sz="2800" dirty="0">
                <a:solidFill>
                  <a:schemeClr val="tx1"/>
                </a:solidFill>
              </a:rPr>
              <a:t>Objects can be recognized using other senses</a:t>
            </a:r>
            <a:endParaRPr lang="en-US" sz="2800" dirty="0">
              <a:solidFill>
                <a:schemeClr val="tx1"/>
              </a:solidFill>
            </a:endParaRPr>
          </a:p>
          <a:p>
            <a:pPr lvl="1">
              <a:buFont typeface="Arial" panose="020B0604020202020204" pitchFamily="34" charset="0"/>
              <a:buChar char="•"/>
            </a:pPr>
            <a:r>
              <a:rPr lang="en-US" sz="2800" dirty="0">
                <a:solidFill>
                  <a:schemeClr val="tx1"/>
                </a:solidFill>
              </a:rPr>
              <a:t>damage between occipital and temporal lobe</a:t>
            </a:r>
          </a:p>
          <a:p>
            <a:pPr lvl="1"/>
            <a:endParaRPr lang="en-US" dirty="0">
              <a:solidFill>
                <a:schemeClr val="bg1"/>
              </a:solidFill>
            </a:endParaRPr>
          </a:p>
        </p:txBody>
      </p:sp>
      <p:pic>
        <p:nvPicPr>
          <p:cNvPr id="4" name="Picture 3">
            <a:extLst>
              <a:ext uri="{FF2B5EF4-FFF2-40B4-BE49-F238E27FC236}">
                <a16:creationId xmlns:a16="http://schemas.microsoft.com/office/drawing/2014/main" id="{6F1C733C-D0D8-445D-AD22-B8E031F19C6A}"/>
              </a:ext>
            </a:extLst>
          </p:cNvPr>
          <p:cNvPicPr>
            <a:picLocks noChangeAspect="1"/>
          </p:cNvPicPr>
          <p:nvPr/>
        </p:nvPicPr>
        <p:blipFill>
          <a:blip r:embed="rId3"/>
          <a:stretch>
            <a:fillRect/>
          </a:stretch>
        </p:blipFill>
        <p:spPr>
          <a:xfrm>
            <a:off x="9399790" y="1651565"/>
            <a:ext cx="2792210" cy="5206435"/>
          </a:xfrm>
          <a:prstGeom prst="rect">
            <a:avLst/>
          </a:prstGeom>
        </p:spPr>
      </p:pic>
      <p:pic>
        <p:nvPicPr>
          <p:cNvPr id="5" name="Picture 4">
            <a:extLst>
              <a:ext uri="{FF2B5EF4-FFF2-40B4-BE49-F238E27FC236}">
                <a16:creationId xmlns:a16="http://schemas.microsoft.com/office/drawing/2014/main" id="{77628D84-6274-4AA3-94DE-BBD088929AE2}"/>
              </a:ext>
            </a:extLst>
          </p:cNvPr>
          <p:cNvPicPr>
            <a:picLocks noChangeAspect="1"/>
          </p:cNvPicPr>
          <p:nvPr/>
        </p:nvPicPr>
        <p:blipFill rotWithShape="1">
          <a:blip r:embed="rId4"/>
          <a:srcRect t="50000" r="55192"/>
          <a:stretch/>
        </p:blipFill>
        <p:spPr>
          <a:xfrm>
            <a:off x="6096001" y="1651565"/>
            <a:ext cx="3303790" cy="3356928"/>
          </a:xfrm>
          <a:prstGeom prst="rect">
            <a:avLst/>
          </a:prstGeom>
        </p:spPr>
      </p:pic>
      <p:sp>
        <p:nvSpPr>
          <p:cNvPr id="6" name="Rectangle 5">
            <a:extLst>
              <a:ext uri="{FF2B5EF4-FFF2-40B4-BE49-F238E27FC236}">
                <a16:creationId xmlns:a16="http://schemas.microsoft.com/office/drawing/2014/main" id="{17BC6B34-3EF9-459E-BFA6-C71FE5DEECF4}"/>
              </a:ext>
            </a:extLst>
          </p:cNvPr>
          <p:cNvSpPr/>
          <p:nvPr/>
        </p:nvSpPr>
        <p:spPr>
          <a:xfrm>
            <a:off x="9026074" y="1750132"/>
            <a:ext cx="520262" cy="2680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467E4F-FDB5-4C71-ACCF-BF2335A821FA}"/>
              </a:ext>
            </a:extLst>
          </p:cNvPr>
          <p:cNvSpPr/>
          <p:nvPr/>
        </p:nvSpPr>
        <p:spPr>
          <a:xfrm>
            <a:off x="6104914" y="1651565"/>
            <a:ext cx="520262" cy="2680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3665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B0DFE-7A56-4849-93F0-C46DE4638FCE}"/>
              </a:ext>
            </a:extLst>
          </p:cNvPr>
          <p:cNvSpPr>
            <a:spLocks noGrp="1"/>
          </p:cNvSpPr>
          <p:nvPr>
            <p:ph type="title"/>
          </p:nvPr>
        </p:nvSpPr>
        <p:spPr>
          <a:xfrm>
            <a:off x="1141412" y="155222"/>
            <a:ext cx="9905998" cy="1478570"/>
          </a:xfrm>
        </p:spPr>
        <p:txBody>
          <a:bodyPr/>
          <a:lstStyle/>
          <a:p>
            <a:pPr algn="ctr"/>
            <a:r>
              <a:rPr lang="en-US" dirty="0">
                <a:solidFill>
                  <a:schemeClr val="tx1"/>
                </a:solidFill>
              </a:rPr>
              <a:t>Visual Agnosia Patient</a:t>
            </a:r>
          </a:p>
        </p:txBody>
      </p:sp>
      <p:pic>
        <p:nvPicPr>
          <p:cNvPr id="3" name="Online Media 2" title="Visual Agnosia">
            <a:hlinkClick r:id="" action="ppaction://media"/>
            <a:extLst>
              <a:ext uri="{FF2B5EF4-FFF2-40B4-BE49-F238E27FC236}">
                <a16:creationId xmlns:a16="http://schemas.microsoft.com/office/drawing/2014/main" id="{BEA0FF24-6108-49A1-B220-1052F4FFCDBE}"/>
              </a:ext>
            </a:extLst>
          </p:cNvPr>
          <p:cNvPicPr>
            <a:picLocks noRot="1" noChangeAspect="1"/>
          </p:cNvPicPr>
          <p:nvPr>
            <a:videoFile r:link="rId1"/>
          </p:nvPr>
        </p:nvPicPr>
        <p:blipFill>
          <a:blip r:embed="rId4"/>
          <a:stretch>
            <a:fillRect/>
          </a:stretch>
        </p:blipFill>
        <p:spPr>
          <a:xfrm>
            <a:off x="1872237" y="1633792"/>
            <a:ext cx="8444348" cy="4771057"/>
          </a:xfrm>
          <a:prstGeom prst="rect">
            <a:avLst/>
          </a:prstGeom>
        </p:spPr>
      </p:pic>
      <p:sp>
        <p:nvSpPr>
          <p:cNvPr id="7" name="TextBox 6">
            <a:extLst>
              <a:ext uri="{FF2B5EF4-FFF2-40B4-BE49-F238E27FC236}">
                <a16:creationId xmlns:a16="http://schemas.microsoft.com/office/drawing/2014/main" id="{90C7A1E0-CA70-480F-8EB7-04319B8F818C}"/>
              </a:ext>
            </a:extLst>
          </p:cNvPr>
          <p:cNvSpPr txBox="1"/>
          <p:nvPr/>
        </p:nvSpPr>
        <p:spPr>
          <a:xfrm>
            <a:off x="3131013" y="6470344"/>
            <a:ext cx="5926795" cy="369332"/>
          </a:xfrm>
          <a:prstGeom prst="rect">
            <a:avLst/>
          </a:prstGeom>
          <a:noFill/>
        </p:spPr>
        <p:txBody>
          <a:bodyPr wrap="square">
            <a:spAutoFit/>
          </a:bodyPr>
          <a:lstStyle/>
          <a:p>
            <a:pPr algn="ctr"/>
            <a:r>
              <a:rPr lang="en-US" dirty="0"/>
              <a:t>https://www.youtube.com/watch?v=ze8VVtBgK7A</a:t>
            </a:r>
          </a:p>
        </p:txBody>
      </p:sp>
    </p:spTree>
    <p:extLst>
      <p:ext uri="{BB962C8B-B14F-4D97-AF65-F5344CB8AC3E}">
        <p14:creationId xmlns:p14="http://schemas.microsoft.com/office/powerpoint/2010/main" val="200909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3EE8D-1A31-4B7A-81F0-60B2291800FD}"/>
              </a:ext>
            </a:extLst>
          </p:cNvPr>
          <p:cNvSpPr>
            <a:spLocks noGrp="1"/>
          </p:cNvSpPr>
          <p:nvPr>
            <p:ph type="title"/>
          </p:nvPr>
        </p:nvSpPr>
        <p:spPr>
          <a:xfrm>
            <a:off x="1141413" y="327514"/>
            <a:ext cx="9905998" cy="1196486"/>
          </a:xfrm>
        </p:spPr>
        <p:txBody>
          <a:bodyPr/>
          <a:lstStyle/>
          <a:p>
            <a:pPr algn="ctr"/>
            <a:r>
              <a:rPr lang="en-US" dirty="0">
                <a:solidFill>
                  <a:schemeClr val="tx1"/>
                </a:solidFill>
              </a:rPr>
              <a:t>Prosopagnosia</a:t>
            </a:r>
          </a:p>
        </p:txBody>
      </p:sp>
      <p:sp>
        <p:nvSpPr>
          <p:cNvPr id="3" name="Content Placeholder 2">
            <a:extLst>
              <a:ext uri="{FF2B5EF4-FFF2-40B4-BE49-F238E27FC236}">
                <a16:creationId xmlns:a16="http://schemas.microsoft.com/office/drawing/2014/main" id="{51D79336-16D8-40F6-ABED-0B7303F2AD4A}"/>
              </a:ext>
            </a:extLst>
          </p:cNvPr>
          <p:cNvSpPr>
            <a:spLocks noGrp="1"/>
          </p:cNvSpPr>
          <p:nvPr>
            <p:ph idx="1"/>
          </p:nvPr>
        </p:nvSpPr>
        <p:spPr>
          <a:xfrm>
            <a:off x="1141413" y="2249487"/>
            <a:ext cx="4954588" cy="3541714"/>
          </a:xfrm>
        </p:spPr>
        <p:txBody>
          <a:bodyPr>
            <a:normAutofit/>
          </a:bodyPr>
          <a:lstStyle/>
          <a:p>
            <a:pPr>
              <a:buFont typeface="Arial" panose="020B0604020202020204" pitchFamily="34" charset="0"/>
              <a:buChar char="•"/>
            </a:pPr>
            <a:r>
              <a:rPr lang="en-US" sz="2800" dirty="0">
                <a:solidFill>
                  <a:schemeClr val="tx1"/>
                </a:solidFill>
              </a:rPr>
              <a:t>a selective inability to recognize </a:t>
            </a:r>
            <a:r>
              <a:rPr lang="en-GB" sz="2800" dirty="0">
                <a:solidFill>
                  <a:schemeClr val="tx1"/>
                </a:solidFill>
              </a:rPr>
              <a:t>or differentiate among faces.</a:t>
            </a:r>
          </a:p>
          <a:p>
            <a:pPr>
              <a:buFont typeface="Arial" panose="020B0604020202020204" pitchFamily="34" charset="0"/>
              <a:buChar char="•"/>
            </a:pPr>
            <a:r>
              <a:rPr lang="en-GB" sz="2800" dirty="0">
                <a:solidFill>
                  <a:schemeClr val="tx1"/>
                </a:solidFill>
              </a:rPr>
              <a:t>Damage to the fusiform face area, especially in the right hemisphere</a:t>
            </a:r>
            <a:endParaRPr lang="en-US" sz="2800" dirty="0">
              <a:solidFill>
                <a:schemeClr val="tx1"/>
              </a:solidFill>
            </a:endParaRPr>
          </a:p>
        </p:txBody>
      </p:sp>
      <p:pic>
        <p:nvPicPr>
          <p:cNvPr id="4" name="Picture 3">
            <a:extLst>
              <a:ext uri="{FF2B5EF4-FFF2-40B4-BE49-F238E27FC236}">
                <a16:creationId xmlns:a16="http://schemas.microsoft.com/office/drawing/2014/main" id="{9E35AE91-BFA4-478E-8809-DFFE382EA246}"/>
              </a:ext>
            </a:extLst>
          </p:cNvPr>
          <p:cNvPicPr>
            <a:picLocks noChangeAspect="1"/>
          </p:cNvPicPr>
          <p:nvPr/>
        </p:nvPicPr>
        <p:blipFill rotWithShape="1">
          <a:blip r:embed="rId3"/>
          <a:srcRect l="51032"/>
          <a:stretch/>
        </p:blipFill>
        <p:spPr>
          <a:xfrm>
            <a:off x="7242048" y="2163951"/>
            <a:ext cx="4048102" cy="3712786"/>
          </a:xfrm>
          <a:prstGeom prst="rect">
            <a:avLst/>
          </a:prstGeom>
        </p:spPr>
      </p:pic>
    </p:spTree>
    <p:extLst>
      <p:ext uri="{BB962C8B-B14F-4D97-AF65-F5344CB8AC3E}">
        <p14:creationId xmlns:p14="http://schemas.microsoft.com/office/powerpoint/2010/main" val="2127199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868BA-FFBE-4EFD-B016-D85E1538DA79}"/>
              </a:ext>
            </a:extLst>
          </p:cNvPr>
          <p:cNvSpPr>
            <a:spLocks noGrp="1"/>
          </p:cNvSpPr>
          <p:nvPr>
            <p:ph type="title"/>
          </p:nvPr>
        </p:nvSpPr>
        <p:spPr>
          <a:xfrm>
            <a:off x="1141413" y="0"/>
            <a:ext cx="9905998" cy="1182976"/>
          </a:xfrm>
        </p:spPr>
        <p:txBody>
          <a:bodyPr/>
          <a:lstStyle/>
          <a:p>
            <a:pPr algn="ctr"/>
            <a:r>
              <a:rPr lang="en-US" dirty="0">
                <a:solidFill>
                  <a:schemeClr val="tx1"/>
                </a:solidFill>
              </a:rPr>
              <a:t>Prosopagnosia Patients</a:t>
            </a:r>
          </a:p>
        </p:txBody>
      </p:sp>
      <p:pic>
        <p:nvPicPr>
          <p:cNvPr id="4" name="Online Media 3" title="Living with face blindness">
            <a:hlinkClick r:id="" action="ppaction://media"/>
            <a:extLst>
              <a:ext uri="{FF2B5EF4-FFF2-40B4-BE49-F238E27FC236}">
                <a16:creationId xmlns:a16="http://schemas.microsoft.com/office/drawing/2014/main" id="{63033AC6-5F16-417F-8CB0-F7AB28AD4B46}"/>
              </a:ext>
            </a:extLst>
          </p:cNvPr>
          <p:cNvPicPr>
            <a:picLocks noRot="1" noChangeAspect="1"/>
          </p:cNvPicPr>
          <p:nvPr>
            <a:videoFile r:link="rId1"/>
          </p:nvPr>
        </p:nvPicPr>
        <p:blipFill>
          <a:blip r:embed="rId4"/>
          <a:stretch>
            <a:fillRect/>
          </a:stretch>
        </p:blipFill>
        <p:spPr>
          <a:xfrm>
            <a:off x="1751887" y="1305149"/>
            <a:ext cx="8685049" cy="4907053"/>
          </a:xfrm>
          <a:prstGeom prst="rect">
            <a:avLst/>
          </a:prstGeom>
        </p:spPr>
      </p:pic>
      <p:sp>
        <p:nvSpPr>
          <p:cNvPr id="6" name="TextBox 5">
            <a:extLst>
              <a:ext uri="{FF2B5EF4-FFF2-40B4-BE49-F238E27FC236}">
                <a16:creationId xmlns:a16="http://schemas.microsoft.com/office/drawing/2014/main" id="{6212DC1B-0B82-4CD2-8EA0-816EEFF3643D}"/>
              </a:ext>
            </a:extLst>
          </p:cNvPr>
          <p:cNvSpPr txBox="1"/>
          <p:nvPr/>
        </p:nvSpPr>
        <p:spPr>
          <a:xfrm>
            <a:off x="3043784" y="6334375"/>
            <a:ext cx="6101254" cy="369332"/>
          </a:xfrm>
          <a:prstGeom prst="rect">
            <a:avLst/>
          </a:prstGeom>
          <a:noFill/>
        </p:spPr>
        <p:txBody>
          <a:bodyPr wrap="square">
            <a:spAutoFit/>
          </a:bodyPr>
          <a:lstStyle/>
          <a:p>
            <a:pPr algn="ctr"/>
            <a:r>
              <a:rPr lang="en-US" dirty="0"/>
              <a:t>https://www.youtube.com/watch?v=-vQGPcYfIAo</a:t>
            </a:r>
          </a:p>
        </p:txBody>
      </p:sp>
    </p:spTree>
    <p:extLst>
      <p:ext uri="{BB962C8B-B14F-4D97-AF65-F5344CB8AC3E}">
        <p14:creationId xmlns:p14="http://schemas.microsoft.com/office/powerpoint/2010/main" val="363510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3470</TotalTime>
  <Pages>12</Pages>
  <Words>800</Words>
  <Application>Microsoft Office PowerPoint</Application>
  <PresentationFormat>Widescreen</PresentationFormat>
  <Paragraphs>135</Paragraphs>
  <Slides>26</Slides>
  <Notes>22</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Retrospect</vt:lpstr>
      <vt:lpstr>Cognitive Functions and the Organization of the Cerebral Cortex</vt:lpstr>
      <vt:lpstr>Learning Objectives</vt:lpstr>
      <vt:lpstr>Cerebral Cortex</vt:lpstr>
      <vt:lpstr>Divisions of Cortex</vt:lpstr>
      <vt:lpstr>Layers of Neocortex</vt:lpstr>
      <vt:lpstr>3 basic cell types in the cortex</vt:lpstr>
      <vt:lpstr>Neocortex Projections</vt:lpstr>
      <vt:lpstr>Connectivity of Association Cortices</vt:lpstr>
      <vt:lpstr>Based on variations in histological features (thickness, cell density, inputs, etc.) of the six neocortical laminae, the human brain can be divided into some 50 cytoarchitectonic (Brodmann) areas</vt:lpstr>
      <vt:lpstr>Temporal Cortex</vt:lpstr>
      <vt:lpstr>Temporal cortex includes</vt:lpstr>
      <vt:lpstr>Temporal cortex functions</vt:lpstr>
      <vt:lpstr>Temporal cortex functions</vt:lpstr>
      <vt:lpstr>Wernicke’s aphasia</vt:lpstr>
      <vt:lpstr>The hippocampus and surrounding cortex are important for declarative Memory formation</vt:lpstr>
      <vt:lpstr>Two streams contribute to Episodic memory formation</vt:lpstr>
      <vt:lpstr>How is a specific object represented within the ventral visual stream?</vt:lpstr>
      <vt:lpstr>PowerPoint Presentation</vt:lpstr>
      <vt:lpstr>PowerPoint Presentation</vt:lpstr>
      <vt:lpstr>Object categories may be more widely distributed across the ventral stream</vt:lpstr>
      <vt:lpstr>Specialized Areas of the Temporal Lobe for Recognizing Visual Objects</vt:lpstr>
      <vt:lpstr>Agnosias</vt:lpstr>
      <vt:lpstr>Visual Agnosia</vt:lpstr>
      <vt:lpstr>Visual Agnosia Patient</vt:lpstr>
      <vt:lpstr>Prosopagnosia</vt:lpstr>
      <vt:lpstr>Prosopagnosia Patients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Parietal Cortex</dc:title>
  <dc:subject/>
  <dc:creator>Keele, Brad</dc:creator>
  <cp:keywords/>
  <dc:description/>
  <cp:lastModifiedBy>Phillips, Nicole</cp:lastModifiedBy>
  <cp:revision>120</cp:revision>
  <cp:lastPrinted>2024-11-14T14:40:41Z</cp:lastPrinted>
  <dcterms:created xsi:type="dcterms:W3CDTF">1998-10-22T12:39:31Z</dcterms:created>
  <dcterms:modified xsi:type="dcterms:W3CDTF">2026-04-17T17:46:27Z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NB_Keele@Baylor.edu</vt:lpwstr>
  </property>
  <property fmtid="{D5CDD505-2E9C-101B-9397-08002B2CF9AE}" pid="8" name="HomePage">
    <vt:lpwstr>http://www.baylor.edu/~NB_Keele/</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2</vt:i4>
  </property>
  <property fmtid="{D5CDD505-2E9C-101B-9397-08002B2CF9AE}" pid="19" name="ShowNotes">
    <vt:bool>false</vt:bool>
  </property>
  <property fmtid="{D5CDD505-2E9C-101B-9397-08002B2CF9AE}" pid="20" name="NavBtnPos">
    <vt:i4>1</vt:i4>
  </property>
  <property fmtid="{D5CDD505-2E9C-101B-9397-08002B2CF9AE}" pid="21" name="OutputDir">
    <vt:lpwstr>E:\DESKTOP\Class Stuff\Fall 1999\3319 Stuff\Lectures\WWW</vt:lpwstr>
  </property>
</Properties>
</file>