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76" r:id="rId3"/>
    <p:sldId id="257" r:id="rId4"/>
    <p:sldId id="328" r:id="rId5"/>
    <p:sldId id="262" r:id="rId6"/>
    <p:sldId id="392" r:id="rId7"/>
    <p:sldId id="433" r:id="rId8"/>
    <p:sldId id="436" r:id="rId9"/>
    <p:sldId id="390" r:id="rId10"/>
    <p:sldId id="389" r:id="rId11"/>
    <p:sldId id="426" r:id="rId12"/>
    <p:sldId id="435" r:id="rId13"/>
    <p:sldId id="273" r:id="rId14"/>
    <p:sldId id="266" r:id="rId15"/>
    <p:sldId id="437" r:id="rId16"/>
    <p:sldId id="434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76211" autoAdjust="0"/>
  </p:normalViewPr>
  <p:slideViewPr>
    <p:cSldViewPr snapToGrid="0">
      <p:cViewPr varScale="1">
        <p:scale>
          <a:sx n="48" d="100"/>
          <a:sy n="48" d="100"/>
        </p:scale>
        <p:origin x="136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2B88F-780F-478B-BCB1-9EEE6F75E93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6773D-0560-4D5A-A480-BC64BA8E8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69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16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917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704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802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023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7802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2736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5F915-560F-4B82-ABB4-161B81F34C1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846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2145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6369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526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endParaRPr lang="en-US" dirty="0"/>
          </a:p>
        </p:txBody>
      </p:sp>
      <p:sp>
        <p:nvSpPr>
          <p:cNvPr id="41987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373313" y="554038"/>
            <a:ext cx="4856162" cy="2732087"/>
          </a:xfrm>
          <a:ln cap="flat"/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1232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6225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836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3B731A2-3C6B-4801-98CD-7F4FBF32C4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513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708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08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135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78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846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83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16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8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360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48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5423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6760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5798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242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422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801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731A2-3C6B-4801-98CD-7F4FBF32C4E7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717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vF80u3qJkkQ?feature=oembed" TargetMode="External"/><Relationship Id="rId4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377B0-B466-48F0-B1A5-A580DEA508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Touch and proprioception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4B477E-2387-4F85-A824-A0F813C63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By: Nicole Phillips</a:t>
            </a:r>
          </a:p>
        </p:txBody>
      </p:sp>
    </p:spTree>
    <p:extLst>
      <p:ext uri="{BB962C8B-B14F-4D97-AF65-F5344CB8AC3E}">
        <p14:creationId xmlns:p14="http://schemas.microsoft.com/office/powerpoint/2010/main" val="3909563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0D65F-F961-63F8-B1D4-60C2756D85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11F47B-837C-F050-DD8C-8003E65D1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Differentiate somatosensory receptors and their functional importance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Describe the anatomical pathways that convey sensory input from the body and face to the brain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bg1"/>
                </a:solidFill>
              </a:rPr>
              <a:t>Predict the location of damage from presentation of clinical symptoms</a:t>
            </a:r>
          </a:p>
          <a:p>
            <a:pPr marL="0" indent="0">
              <a:buNone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31347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58D5A661-4C63-427A-99D4-BBA0F5986057}"/>
              </a:ext>
            </a:extLst>
          </p:cNvPr>
          <p:cNvSpPr/>
          <p:nvPr/>
        </p:nvSpPr>
        <p:spPr>
          <a:xfrm>
            <a:off x="8086728" y="3429000"/>
            <a:ext cx="3455667" cy="3282341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alpha val="90000"/>
              <a:hueOff val="0"/>
              <a:satOff val="0"/>
              <a:lumOff val="0"/>
              <a:alphaOff val="-20000"/>
            </a:schemeClr>
          </a:fillRef>
          <a:effectRef idx="0">
            <a:schemeClr val="accent2">
              <a:alpha val="90000"/>
              <a:hueOff val="0"/>
              <a:satOff val="0"/>
              <a:lumOff val="0"/>
              <a:alphaOff val="-20000"/>
            </a:schemeClr>
          </a:effectRef>
          <a:fontRef idx="minor">
            <a:schemeClr val="lt1"/>
          </a:fontRef>
        </p:style>
        <p:txBody>
          <a:bodyPr spcFirstLastPara="0" vert="horz" wrap="square" lIns="137160" tIns="137160" rIns="137160" bIns="13716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 dirty="0">
                <a:solidFill>
                  <a:schemeClr val="tx1"/>
                </a:solidFill>
              </a:rPr>
              <a:t>Signal transmission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C838065-5487-6389-A978-362D98306743}"/>
              </a:ext>
            </a:extLst>
          </p:cNvPr>
          <p:cNvSpPr/>
          <p:nvPr/>
        </p:nvSpPr>
        <p:spPr>
          <a:xfrm>
            <a:off x="649604" y="3429000"/>
            <a:ext cx="3455667" cy="3282341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alpha val="90000"/>
              <a:hueOff val="0"/>
              <a:satOff val="0"/>
              <a:lumOff val="0"/>
              <a:alphaOff val="-20000"/>
            </a:schemeClr>
          </a:fillRef>
          <a:effectRef idx="0">
            <a:schemeClr val="accent2">
              <a:alpha val="90000"/>
              <a:hueOff val="0"/>
              <a:satOff val="0"/>
              <a:lumOff val="0"/>
              <a:alphaOff val="-20000"/>
            </a:schemeClr>
          </a:effectRef>
          <a:fontRef idx="minor">
            <a:schemeClr val="lt1"/>
          </a:fontRef>
        </p:style>
        <p:txBody>
          <a:bodyPr spcFirstLastPara="0" vert="horz" wrap="square" lIns="137160" tIns="137160" rIns="137160" bIns="13716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 dirty="0">
                <a:solidFill>
                  <a:schemeClr val="tx1"/>
                </a:solidFill>
              </a:rPr>
              <a:t>Signal </a:t>
            </a:r>
            <a:r>
              <a:rPr lang="en-US" sz="3600" dirty="0">
                <a:solidFill>
                  <a:schemeClr val="tx1"/>
                </a:solidFill>
              </a:rPr>
              <a:t>detection</a:t>
            </a:r>
            <a:endParaRPr lang="en-US" sz="3600" kern="1200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A0771C-E74A-4283-AACD-86F2F9ADC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049809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Sensory Receptors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188D1-003E-4AB9-AA95-63F64EC45E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9465" y="1013143"/>
            <a:ext cx="9905997" cy="2394930"/>
          </a:xfrm>
        </p:spPr>
        <p:txBody>
          <a:bodyPr>
            <a:normAutofit/>
          </a:bodyPr>
          <a:lstStyle/>
          <a:p>
            <a:r>
              <a:rPr lang="en-US" altLang="en-US" sz="2800" b="1" dirty="0">
                <a:solidFill>
                  <a:schemeClr val="bg1"/>
                </a:solidFill>
              </a:rPr>
              <a:t>Sensory receptor organs</a:t>
            </a:r>
            <a:r>
              <a:rPr lang="en-US" altLang="en-US" sz="2800" dirty="0">
                <a:solidFill>
                  <a:schemeClr val="bg1"/>
                </a:solidFill>
              </a:rPr>
              <a:t> are organs specialized to detect a certain stimulus. </a:t>
            </a:r>
          </a:p>
          <a:p>
            <a:r>
              <a:rPr lang="en-US" altLang="en-US" sz="2800" b="1" dirty="0">
                <a:solidFill>
                  <a:schemeClr val="bg1"/>
                </a:solidFill>
              </a:rPr>
              <a:t>Receptor cells</a:t>
            </a:r>
            <a:r>
              <a:rPr lang="en-US" altLang="en-US" sz="2800" dirty="0">
                <a:solidFill>
                  <a:schemeClr val="bg1"/>
                </a:solidFill>
              </a:rPr>
              <a:t> within the organ convert stimuli into action potentials (</a:t>
            </a:r>
            <a:r>
              <a:rPr lang="en-US" altLang="en-US" sz="2800" b="1" dirty="0">
                <a:solidFill>
                  <a:schemeClr val="bg1"/>
                </a:solidFill>
              </a:rPr>
              <a:t>transduction</a:t>
            </a:r>
            <a:r>
              <a:rPr lang="en-US" altLang="en-US" sz="2800" dirty="0">
                <a:solidFill>
                  <a:schemeClr val="bg1"/>
                </a:solidFill>
              </a:rPr>
              <a:t>).</a:t>
            </a:r>
          </a:p>
          <a:p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7464B42C-80E0-87BF-79D7-5D3614075062}"/>
              </a:ext>
            </a:extLst>
          </p:cNvPr>
          <p:cNvSpPr/>
          <p:nvPr/>
        </p:nvSpPr>
        <p:spPr>
          <a:xfrm>
            <a:off x="4366578" y="3429000"/>
            <a:ext cx="3455667" cy="3282341"/>
          </a:xfrm>
          <a:prstGeom prst="ellipse">
            <a:avLst/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alpha val="90000"/>
              <a:hueOff val="0"/>
              <a:satOff val="0"/>
              <a:lumOff val="0"/>
              <a:alphaOff val="-20000"/>
            </a:schemeClr>
          </a:fillRef>
          <a:effectRef idx="0">
            <a:schemeClr val="accent2">
              <a:alpha val="90000"/>
              <a:hueOff val="0"/>
              <a:satOff val="0"/>
              <a:lumOff val="0"/>
              <a:alphaOff val="-20000"/>
            </a:schemeClr>
          </a:effectRef>
          <a:fontRef idx="minor">
            <a:schemeClr val="lt1"/>
          </a:fontRef>
        </p:style>
        <p:txBody>
          <a:bodyPr spcFirstLastPara="0" vert="horz" wrap="square" lIns="137160" tIns="137160" rIns="137160" bIns="137160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 dirty="0">
                <a:solidFill>
                  <a:schemeClr val="tx1"/>
                </a:solidFill>
              </a:rPr>
              <a:t>Signal transduction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741B7C33-9CC3-7F1D-76A9-773285697FA8}"/>
              </a:ext>
            </a:extLst>
          </p:cNvPr>
          <p:cNvSpPr/>
          <p:nvPr/>
        </p:nvSpPr>
        <p:spPr bwMode="auto">
          <a:xfrm>
            <a:off x="2086424" y="3549052"/>
            <a:ext cx="582026" cy="1097280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ahoma" pitchFamily="34" charset="0"/>
              </a:rPr>
              <a:t>1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F86E225-EE19-7560-D9AE-23C0693982A2}"/>
              </a:ext>
            </a:extLst>
          </p:cNvPr>
          <p:cNvSpPr/>
          <p:nvPr/>
        </p:nvSpPr>
        <p:spPr bwMode="auto">
          <a:xfrm>
            <a:off x="5821451" y="3482212"/>
            <a:ext cx="582026" cy="1097280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ahoma" pitchFamily="34" charset="0"/>
              </a:rPr>
              <a:t>2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C0424AB9-69CC-5A2F-9293-DEDA4842F836}"/>
              </a:ext>
            </a:extLst>
          </p:cNvPr>
          <p:cNvSpPr/>
          <p:nvPr/>
        </p:nvSpPr>
        <p:spPr bwMode="auto">
          <a:xfrm>
            <a:off x="9523550" y="3549052"/>
            <a:ext cx="582026" cy="1097280"/>
          </a:xfrm>
          <a:prstGeom prst="right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ahoma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834973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  <p:bldP spid="6" grpId="0" animBg="1"/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AA53F-B139-F07D-14D8-0023EAA425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327514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Receptor Potentials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1998F2-16D2-B5F4-5A62-126429C5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06084"/>
            <a:ext cx="4953000" cy="4608513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Passive electrotonic potentials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Typically </a:t>
            </a:r>
            <a:r>
              <a:rPr lang="en-US" sz="2800" i="1" u="sng" dirty="0">
                <a:solidFill>
                  <a:schemeClr val="bg1"/>
                </a:solidFill>
              </a:rPr>
              <a:t>depolarizing </a:t>
            </a:r>
          </a:p>
          <a:p>
            <a:r>
              <a:rPr lang="en-US" sz="2800" dirty="0">
                <a:solidFill>
                  <a:schemeClr val="bg1"/>
                </a:solidFill>
              </a:rPr>
              <a:t>RPs can summate similar to PSPs</a:t>
            </a:r>
          </a:p>
          <a:p>
            <a:r>
              <a:rPr lang="en-US" sz="2800" dirty="0">
                <a:solidFill>
                  <a:schemeClr val="bg1"/>
                </a:solidFill>
              </a:rPr>
              <a:t>May trigger an AP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3CD916-1E87-774A-E875-D43FDA6859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412" y="1806084"/>
            <a:ext cx="5334200" cy="50519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996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A69AAA-6C94-44BC-866A-8150439F4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Proprioceptors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4E453-2B1C-44FD-9152-6A124A89DB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3079" y="1645506"/>
            <a:ext cx="6430383" cy="5212494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chemeClr val="bg1"/>
                </a:solidFill>
              </a:rPr>
              <a:t>Proprioception</a:t>
            </a:r>
            <a:r>
              <a:rPr lang="en-US" altLang="en-US" dirty="0">
                <a:solidFill>
                  <a:schemeClr val="bg1"/>
                </a:solidFill>
              </a:rPr>
              <a:t>: perception of body movements and positions in space.</a:t>
            </a:r>
          </a:p>
          <a:p>
            <a:r>
              <a:rPr lang="en-US" altLang="en-US" dirty="0">
                <a:solidFill>
                  <a:schemeClr val="bg1"/>
                </a:solidFill>
              </a:rPr>
              <a:t>Proprioceptive receptors:</a:t>
            </a:r>
          </a:p>
          <a:p>
            <a:pPr lvl="1">
              <a:spcBef>
                <a:spcPct val="40000"/>
              </a:spcBef>
            </a:pPr>
            <a:r>
              <a:rPr lang="en-US" altLang="en-US" sz="2400" b="1" dirty="0">
                <a:solidFill>
                  <a:schemeClr val="bg1"/>
                </a:solidFill>
              </a:rPr>
              <a:t>Muscle spindles</a:t>
            </a:r>
            <a:r>
              <a:rPr lang="en-US" altLang="en-US" sz="2400" dirty="0">
                <a:solidFill>
                  <a:schemeClr val="bg1"/>
                </a:solidFill>
              </a:rPr>
              <a:t> monitor muscle length.</a:t>
            </a:r>
          </a:p>
          <a:p>
            <a:pPr lvl="1">
              <a:spcBef>
                <a:spcPct val="40000"/>
              </a:spcBef>
            </a:pPr>
            <a:r>
              <a:rPr lang="en-US" altLang="en-US" sz="2400" b="1" dirty="0">
                <a:solidFill>
                  <a:schemeClr val="bg1"/>
                </a:solidFill>
              </a:rPr>
              <a:t>Golgi tendon organs </a:t>
            </a:r>
            <a:r>
              <a:rPr lang="en-US" altLang="en-US" sz="2400" dirty="0">
                <a:solidFill>
                  <a:schemeClr val="bg1"/>
                </a:solidFill>
              </a:rPr>
              <a:t>monitor muscle tension.</a:t>
            </a:r>
          </a:p>
          <a:p>
            <a:pPr lvl="1">
              <a:spcBef>
                <a:spcPct val="40000"/>
              </a:spcBef>
            </a:pPr>
            <a:r>
              <a:rPr lang="en-US" altLang="en-US" sz="2400" b="1" dirty="0">
                <a:solidFill>
                  <a:schemeClr val="bg1"/>
                </a:solidFill>
              </a:rPr>
              <a:t>Joint receptors: </a:t>
            </a:r>
            <a:r>
              <a:rPr lang="en-US" altLang="en-US" sz="2400" dirty="0">
                <a:solidFill>
                  <a:schemeClr val="bg1"/>
                </a:solidFill>
              </a:rPr>
              <a:t>joint movement and pain.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6B3E3E-D933-C708-C987-C18FC4BE2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9017" y="1645506"/>
            <a:ext cx="5832983" cy="4873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577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Neuroscience6e-Fig-09-05-0.jpg">
            <a:extLst>
              <a:ext uri="{FF2B5EF4-FFF2-40B4-BE49-F238E27FC236}">
                <a16:creationId xmlns:a16="http://schemas.microsoft.com/office/drawing/2014/main" id="{71479A58-5084-4174-80FE-BD974FC1D01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049"/>
          <a:stretch/>
        </p:blipFill>
        <p:spPr>
          <a:xfrm>
            <a:off x="4698259" y="2541924"/>
            <a:ext cx="7493741" cy="4316076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4E2A541-22A0-C1C5-FA1B-8E79701500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Skin is the sensory organ for touch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C6E027F-E819-2088-32C0-E03EC3B6580E}"/>
              </a:ext>
            </a:extLst>
          </p:cNvPr>
          <p:cNvSpPr txBox="1">
            <a:spLocks/>
          </p:cNvSpPr>
          <p:nvPr/>
        </p:nvSpPr>
        <p:spPr>
          <a:xfrm>
            <a:off x="1143001" y="1279789"/>
            <a:ext cx="10015779" cy="11379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50000"/>
              </a:spcBef>
              <a:buNone/>
            </a:pPr>
            <a:r>
              <a:rPr lang="en-US" altLang="en-US" sz="2600" dirty="0">
                <a:solidFill>
                  <a:schemeClr val="bg1"/>
                </a:solidFill>
              </a:rPr>
              <a:t>Mechanical manipulation of receptors produces receptor potentials in touch sensory neurons.</a:t>
            </a:r>
          </a:p>
          <a:p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725305D-9497-304F-2D17-A44DF3B80AF9}"/>
              </a:ext>
            </a:extLst>
          </p:cNvPr>
          <p:cNvSpPr txBox="1">
            <a:spLocks/>
          </p:cNvSpPr>
          <p:nvPr/>
        </p:nvSpPr>
        <p:spPr>
          <a:xfrm>
            <a:off x="867905" y="2541924"/>
            <a:ext cx="3830354" cy="4316076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600" b="1" dirty="0">
                <a:solidFill>
                  <a:schemeClr val="bg1"/>
                </a:solidFill>
              </a:rPr>
              <a:t>Free nerve endings: </a:t>
            </a:r>
            <a:r>
              <a:rPr lang="en-US" altLang="en-US" sz="2600" dirty="0">
                <a:solidFill>
                  <a:schemeClr val="bg1"/>
                </a:solidFill>
              </a:rPr>
              <a:t>pain and temperature</a:t>
            </a:r>
          </a:p>
          <a:p>
            <a:pPr>
              <a:spcBef>
                <a:spcPct val="50000"/>
              </a:spcBef>
            </a:pPr>
            <a:r>
              <a:rPr lang="en-US" altLang="en-US" sz="2600" b="1" dirty="0">
                <a:solidFill>
                  <a:schemeClr val="bg1"/>
                </a:solidFill>
              </a:rPr>
              <a:t>Merkel cells: </a:t>
            </a:r>
            <a:r>
              <a:rPr lang="en-US" altLang="en-US" sz="2600" dirty="0">
                <a:solidFill>
                  <a:schemeClr val="bg1"/>
                </a:solidFill>
              </a:rPr>
              <a:t>fine touch</a:t>
            </a:r>
          </a:p>
          <a:p>
            <a:pPr>
              <a:spcBef>
                <a:spcPct val="50000"/>
              </a:spcBef>
            </a:pPr>
            <a:r>
              <a:rPr lang="en-US" altLang="en-US" sz="2600" b="1" dirty="0">
                <a:solidFill>
                  <a:schemeClr val="bg1"/>
                </a:solidFill>
              </a:rPr>
              <a:t>Meissner’s corpuscles: </a:t>
            </a:r>
            <a:r>
              <a:rPr lang="en-US" altLang="en-US" sz="2600" dirty="0">
                <a:solidFill>
                  <a:schemeClr val="bg1"/>
                </a:solidFill>
              </a:rPr>
              <a:t>motion and grip</a:t>
            </a:r>
          </a:p>
          <a:p>
            <a:pPr>
              <a:spcBef>
                <a:spcPct val="50000"/>
              </a:spcBef>
            </a:pPr>
            <a:r>
              <a:rPr lang="en-US" altLang="en-US" sz="2600" b="1" dirty="0">
                <a:solidFill>
                  <a:schemeClr val="bg1"/>
                </a:solidFill>
              </a:rPr>
              <a:t>Hair follicles: </a:t>
            </a:r>
            <a:r>
              <a:rPr lang="en-US" altLang="en-US" sz="2600" dirty="0">
                <a:solidFill>
                  <a:schemeClr val="bg1"/>
                </a:solidFill>
              </a:rPr>
              <a:t>touch</a:t>
            </a:r>
          </a:p>
          <a:p>
            <a:pPr>
              <a:spcBef>
                <a:spcPct val="50000"/>
              </a:spcBef>
            </a:pPr>
            <a:r>
              <a:rPr lang="en-US" altLang="en-US" sz="2600" b="1" dirty="0">
                <a:solidFill>
                  <a:schemeClr val="bg1"/>
                </a:solidFill>
              </a:rPr>
              <a:t>Pacinian corpuscles: </a:t>
            </a:r>
            <a:r>
              <a:rPr lang="en-US" altLang="en-US" sz="2600" dirty="0">
                <a:solidFill>
                  <a:schemeClr val="bg1"/>
                </a:solidFill>
              </a:rPr>
              <a:t>vibration and pressure</a:t>
            </a:r>
          </a:p>
          <a:p>
            <a:pPr>
              <a:spcBef>
                <a:spcPct val="50000"/>
              </a:spcBef>
            </a:pPr>
            <a:r>
              <a:rPr lang="en-US" altLang="en-US" sz="2600" b="1" dirty="0">
                <a:solidFill>
                  <a:schemeClr val="bg1"/>
                </a:solidFill>
              </a:rPr>
              <a:t>Ruffini’s corpuscles:</a:t>
            </a:r>
            <a:r>
              <a:rPr lang="en-US" altLang="en-US" sz="2600" dirty="0">
                <a:solidFill>
                  <a:schemeClr val="bg1"/>
                </a:solidFill>
              </a:rPr>
              <a:t> stretch</a:t>
            </a:r>
          </a:p>
          <a:p>
            <a:pPr marL="0" indent="0">
              <a:spcBef>
                <a:spcPct val="50000"/>
              </a:spcBef>
              <a:buNone/>
            </a:pPr>
            <a:endParaRPr lang="en-US" altLang="en-US" sz="2600" dirty="0">
              <a:solidFill>
                <a:schemeClr val="bg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1191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Animal organs. Senses. Atlas of plant and animal histology.">
            <a:extLst>
              <a:ext uri="{FF2B5EF4-FFF2-40B4-BE49-F238E27FC236}">
                <a16:creationId xmlns:a16="http://schemas.microsoft.com/office/drawing/2014/main" id="{85499B22-D5B9-4D71-8933-ED4C4496EE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466" y="0"/>
            <a:ext cx="10335067" cy="6901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47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1351107-CB47-CFC6-5FD0-EA25108AA5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0295" y="0"/>
            <a:ext cx="713140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54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5700AF-0B33-49BE-B379-F23ED0F340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638"/>
          <a:stretch/>
        </p:blipFill>
        <p:spPr>
          <a:xfrm>
            <a:off x="783264" y="141328"/>
            <a:ext cx="10625472" cy="6716672"/>
          </a:xfrm>
          <a:prstGeom prst="rect">
            <a:avLst/>
          </a:prstGeom>
        </p:spPr>
      </p:pic>
      <p:sp>
        <p:nvSpPr>
          <p:cNvPr id="2" name="Frame 1">
            <a:extLst>
              <a:ext uri="{FF2B5EF4-FFF2-40B4-BE49-F238E27FC236}">
                <a16:creationId xmlns:a16="http://schemas.microsoft.com/office/drawing/2014/main" id="{C0799EC4-36D3-7B0D-B4B0-79E84F47EA89}"/>
              </a:ext>
            </a:extLst>
          </p:cNvPr>
          <p:cNvSpPr/>
          <p:nvPr/>
        </p:nvSpPr>
        <p:spPr>
          <a:xfrm>
            <a:off x="783264" y="3874576"/>
            <a:ext cx="10625471" cy="666427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" name="Frame 2">
            <a:extLst>
              <a:ext uri="{FF2B5EF4-FFF2-40B4-BE49-F238E27FC236}">
                <a16:creationId xmlns:a16="http://schemas.microsoft.com/office/drawing/2014/main" id="{87F0E73F-28F9-5BB5-80B4-9153C09B49C7}"/>
              </a:ext>
            </a:extLst>
          </p:cNvPr>
          <p:cNvSpPr/>
          <p:nvPr/>
        </p:nvSpPr>
        <p:spPr>
          <a:xfrm>
            <a:off x="783263" y="4699861"/>
            <a:ext cx="10625472" cy="523068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49828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54BFA-6F96-461A-A9DD-E8D9FB5F3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2331" y="169828"/>
            <a:ext cx="3438939" cy="13716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Receptor Fields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D4434-3222-42B0-934C-C06F2CD8D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766" y="1541428"/>
            <a:ext cx="5122430" cy="503827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The region of a receptive surface within which a specific stimulus elicits the greatest firing rate from a sensory cell.</a:t>
            </a:r>
          </a:p>
          <a:p>
            <a:r>
              <a:rPr lang="en-US" sz="2800" dirty="0">
                <a:solidFill>
                  <a:schemeClr val="bg1"/>
                </a:solidFill>
              </a:rPr>
              <a:t>The size of a receptor field is highly variable.</a:t>
            </a:r>
          </a:p>
          <a:p>
            <a:r>
              <a:rPr lang="en-US" sz="2800" dirty="0">
                <a:solidFill>
                  <a:schemeClr val="bg1"/>
                </a:solidFill>
              </a:rPr>
              <a:t>The larger the receptive field, the </a:t>
            </a:r>
            <a:r>
              <a:rPr lang="en-US" sz="2800" i="1" u="sng" dirty="0">
                <a:solidFill>
                  <a:schemeClr val="bg1"/>
                </a:solidFill>
              </a:rPr>
              <a:t>less </a:t>
            </a:r>
            <a:r>
              <a:rPr lang="en-US" sz="2800" dirty="0">
                <a:solidFill>
                  <a:schemeClr val="bg1"/>
                </a:solidFill>
              </a:rPr>
              <a:t>spatial acuity.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2-point discrimination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B9C052-D24D-D863-137B-BACC0BBF37A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637"/>
          <a:stretch>
            <a:fillRect/>
          </a:stretch>
        </p:blipFill>
        <p:spPr>
          <a:xfrm>
            <a:off x="5710196" y="0"/>
            <a:ext cx="648180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742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CDFAA-3F1D-419A-9143-8ADC12910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242841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Innervation Densities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DB02C0-F65C-43B4-91B5-720D90082A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548" y="1721411"/>
            <a:ext cx="4088864" cy="4754880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Concentration of nerve fibers in a specific area.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High=many nerves </a:t>
            </a:r>
          </a:p>
          <a:p>
            <a:pPr lvl="2"/>
            <a:r>
              <a:rPr lang="en-US" sz="2800" dirty="0">
                <a:solidFill>
                  <a:schemeClr val="bg1"/>
                </a:solidFill>
              </a:rPr>
              <a:t>More sensitive</a:t>
            </a:r>
          </a:p>
          <a:p>
            <a:pPr lvl="1"/>
            <a:r>
              <a:rPr lang="en-US" sz="2800" dirty="0">
                <a:solidFill>
                  <a:schemeClr val="bg1"/>
                </a:solidFill>
              </a:rPr>
              <a:t>Low= not many nerves</a:t>
            </a:r>
          </a:p>
          <a:p>
            <a:pPr lvl="2"/>
            <a:r>
              <a:rPr lang="en-US" sz="2800" dirty="0">
                <a:solidFill>
                  <a:schemeClr val="bg1"/>
                </a:solidFill>
              </a:rPr>
              <a:t>Less sensitive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2E3957F-9E70-46DD-B3C0-1E66F3B7D6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0412" y="1721411"/>
            <a:ext cx="7811588" cy="4754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032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902E1-8F47-9FAF-D9FA-B3BFEC2A0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169067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Sensory Adaptation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E3D94F-D05E-0ACE-75B7-FB009F5A6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647636"/>
            <a:ext cx="5516127" cy="5210363"/>
          </a:xfrm>
        </p:spPr>
        <p:txBody>
          <a:bodyPr>
            <a:normAutofit fontScale="92500" lnSpcReduction="20000"/>
          </a:bodyPr>
          <a:lstStyle/>
          <a:p>
            <a:r>
              <a:rPr lang="en-US" altLang="en-US" sz="2800" dirty="0">
                <a:solidFill>
                  <a:schemeClr val="bg1"/>
                </a:solidFill>
              </a:rPr>
              <a:t>Progressive loss of response to a constant stimulus.</a:t>
            </a:r>
          </a:p>
          <a:p>
            <a:r>
              <a:rPr lang="en-US" altLang="en-US" sz="2800" b="1" dirty="0">
                <a:solidFill>
                  <a:schemeClr val="bg1"/>
                </a:solidFill>
              </a:rPr>
              <a:t>Rapidly adapting </a:t>
            </a:r>
            <a:r>
              <a:rPr lang="en-US" altLang="en-US" sz="2800" dirty="0">
                <a:solidFill>
                  <a:schemeClr val="bg1"/>
                </a:solidFill>
              </a:rPr>
              <a:t>receptors (aka phasic) initially show a response to a stimulus, but quickly go through adaptation.</a:t>
            </a:r>
          </a:p>
          <a:p>
            <a:pPr lvl="1"/>
            <a:r>
              <a:rPr lang="en-US" altLang="en-US" sz="2800" dirty="0">
                <a:solidFill>
                  <a:schemeClr val="bg1"/>
                </a:solidFill>
              </a:rPr>
              <a:t>Meisner's &amp; Pacinian corpuscles</a:t>
            </a:r>
          </a:p>
          <a:p>
            <a:r>
              <a:rPr lang="en-US" altLang="en-US" sz="2800" b="1" dirty="0">
                <a:solidFill>
                  <a:schemeClr val="bg1"/>
                </a:solidFill>
              </a:rPr>
              <a:t>Slowly adapting </a:t>
            </a:r>
            <a:r>
              <a:rPr lang="en-US" altLang="en-US" sz="2800" dirty="0">
                <a:solidFill>
                  <a:schemeClr val="bg1"/>
                </a:solidFill>
              </a:rPr>
              <a:t>receptors (aka tonic) sustain activity in response to a stimulus.</a:t>
            </a:r>
          </a:p>
          <a:p>
            <a:pPr lvl="1"/>
            <a:r>
              <a:rPr lang="en-US" altLang="en-US" sz="2800" dirty="0">
                <a:solidFill>
                  <a:schemeClr val="bg1"/>
                </a:solidFill>
              </a:rPr>
              <a:t>Merkel cells &amp; Ruffini corpuscles</a:t>
            </a:r>
            <a:endParaRPr lang="en-US" altLang="en-US" sz="2800" dirty="0"/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A4CE2D-1FF7-BFA6-A84F-930E1AF5E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539" y="1647636"/>
            <a:ext cx="4389872" cy="39026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C89AE5-1569-0DFD-92EE-3B2F71EA6E5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0246" b="41479"/>
          <a:stretch>
            <a:fillRect/>
          </a:stretch>
        </p:blipFill>
        <p:spPr>
          <a:xfrm>
            <a:off x="6657539" y="5475763"/>
            <a:ext cx="4389872" cy="1382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7190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026"/>
          <p:cNvSpPr>
            <a:spLocks noGrp="1" noChangeArrowheads="1"/>
          </p:cNvSpPr>
          <p:nvPr>
            <p:ph type="title"/>
          </p:nvPr>
        </p:nvSpPr>
        <p:spPr>
          <a:xfrm>
            <a:off x="1143001" y="163298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Sensory receptors are associated with a specific primary afferent</a:t>
            </a:r>
          </a:p>
        </p:txBody>
      </p:sp>
      <p:pic>
        <p:nvPicPr>
          <p:cNvPr id="40963" name="Picture 1027" descr="24-1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 l="5580" r="3275"/>
          <a:stretch>
            <a:fillRect/>
          </a:stretch>
        </p:blipFill>
        <p:spPr>
          <a:xfrm>
            <a:off x="719549" y="2171699"/>
            <a:ext cx="11208010" cy="4152901"/>
          </a:xfrm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901AC69-447C-428B-8516-4BBC2620572D}"/>
              </a:ext>
            </a:extLst>
          </p:cNvPr>
          <p:cNvSpPr/>
          <p:nvPr/>
        </p:nvSpPr>
        <p:spPr bwMode="auto">
          <a:xfrm>
            <a:off x="4419600" y="2650666"/>
            <a:ext cx="2194560" cy="320040"/>
          </a:xfrm>
          <a:prstGeom prst="roundRect">
            <a:avLst/>
          </a:prstGeom>
          <a:solidFill>
            <a:schemeClr val="accent1">
              <a:lumMod val="50000"/>
              <a:lumOff val="50000"/>
              <a:alpha val="20000"/>
            </a:schemeClr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tx1"/>
              </a:solidFill>
              <a:latin typeface="Tahoma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ED825BE-1985-4146-A1EC-7F3EAC373C0E}"/>
              </a:ext>
            </a:extLst>
          </p:cNvPr>
          <p:cNvSpPr/>
          <p:nvPr/>
        </p:nvSpPr>
        <p:spPr bwMode="auto">
          <a:xfrm>
            <a:off x="9311568" y="2667000"/>
            <a:ext cx="1813632" cy="304800"/>
          </a:xfrm>
          <a:prstGeom prst="roundRect">
            <a:avLst/>
          </a:prstGeom>
          <a:solidFill>
            <a:schemeClr val="accent1">
              <a:lumMod val="50000"/>
              <a:lumOff val="50000"/>
              <a:alpha val="20000"/>
            </a:schemeClr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 dirty="0">
              <a:solidFill>
                <a:schemeClr val="tx1"/>
              </a:solidFill>
              <a:latin typeface="Tahoma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D2878CA-7327-4713-89E1-2AFFB3986D2B}"/>
              </a:ext>
            </a:extLst>
          </p:cNvPr>
          <p:cNvCxnSpPr>
            <a:cxnSpLocks/>
            <a:stCxn id="7" idx="0"/>
          </p:cNvCxnSpPr>
          <p:nvPr/>
        </p:nvCxnSpPr>
        <p:spPr bwMode="auto">
          <a:xfrm flipH="1" flipV="1">
            <a:off x="3048000" y="4724400"/>
            <a:ext cx="1051796" cy="1057766"/>
          </a:xfrm>
          <a:prstGeom prst="straightConnector1">
            <a:avLst/>
          </a:prstGeom>
          <a:ln w="38100">
            <a:solidFill>
              <a:schemeClr val="bg2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D25E9842-6B51-4394-97BF-BB05DFA14782}"/>
              </a:ext>
            </a:extLst>
          </p:cNvPr>
          <p:cNvSpPr/>
          <p:nvPr/>
        </p:nvSpPr>
        <p:spPr bwMode="auto">
          <a:xfrm>
            <a:off x="2156696" y="5782166"/>
            <a:ext cx="3886200" cy="533400"/>
          </a:xfrm>
          <a:prstGeom prst="roundRect">
            <a:avLst/>
          </a:prstGeom>
          <a:solidFill>
            <a:schemeClr val="bg2">
              <a:lumMod val="20000"/>
              <a:lumOff val="80000"/>
            </a:schemeClr>
          </a:solidFill>
          <a:ln w="38100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Sensory receptors are here</a:t>
            </a:r>
            <a:endParaRPr lang="en-US" sz="2400" dirty="0">
              <a:solidFill>
                <a:schemeClr val="bg1"/>
              </a:solidFill>
              <a:latin typeface="Tahoma" pitchFamily="34" charset="0"/>
            </a:endParaRPr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9601AD8-E547-4A1B-B744-639E48A145A5}"/>
              </a:ext>
            </a:extLst>
          </p:cNvPr>
          <p:cNvCxnSpPr>
            <a:cxnSpLocks/>
          </p:cNvCxnSpPr>
          <p:nvPr/>
        </p:nvCxnSpPr>
        <p:spPr bwMode="auto">
          <a:xfrm rot="16200000" flipH="1">
            <a:off x="6873202" y="2834602"/>
            <a:ext cx="1165864" cy="632531"/>
          </a:xfrm>
          <a:prstGeom prst="bentConnector3">
            <a:avLst>
              <a:gd name="adj1" fmla="val 100545"/>
            </a:avLst>
          </a:prstGeom>
          <a:ln w="38100"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23DE9E5-63C5-444A-BD47-7022E42C96D2}"/>
              </a:ext>
            </a:extLst>
          </p:cNvPr>
          <p:cNvSpPr/>
          <p:nvPr/>
        </p:nvSpPr>
        <p:spPr bwMode="auto">
          <a:xfrm>
            <a:off x="6781800" y="2015213"/>
            <a:ext cx="3886200" cy="533400"/>
          </a:xfrm>
          <a:prstGeom prst="roundRect">
            <a:avLst/>
          </a:prstGeom>
          <a:solidFill>
            <a:schemeClr val="accent1">
              <a:lumMod val="10000"/>
              <a:lumOff val="90000"/>
            </a:schemeClr>
          </a:solidFill>
          <a:ln w="381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Dorsal root ganglion (DRG)</a:t>
            </a:r>
            <a:endParaRPr lang="en-US" sz="2400" dirty="0">
              <a:solidFill>
                <a:schemeClr val="bg1"/>
              </a:solidFill>
              <a:latin typeface="Tahoma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7" grpId="0" animBg="1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C0A03B-92EF-44DE-9154-4C92AE324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644" y="1350839"/>
            <a:ext cx="10254712" cy="550716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6A6157-AC3E-A048-CBDB-23A7CF754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0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Primary afferents differ in myelination &amp; axon diameter</a:t>
            </a:r>
          </a:p>
        </p:txBody>
      </p:sp>
    </p:spTree>
    <p:extLst>
      <p:ext uri="{BB962C8B-B14F-4D97-AF65-F5344CB8AC3E}">
        <p14:creationId xmlns:p14="http://schemas.microsoft.com/office/powerpoint/2010/main" val="8720666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70"/>
          <a:stretch/>
        </p:blipFill>
        <p:spPr>
          <a:xfrm>
            <a:off x="7640201" y="1752600"/>
            <a:ext cx="4324491" cy="5079974"/>
          </a:xfrm>
          <a:prstGeom prst="rect">
            <a:avLst/>
          </a:prstGeom>
        </p:spPr>
      </p:pic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143001" y="152400"/>
            <a:ext cx="9905998" cy="1478570"/>
          </a:xfrm>
          <a:noFill/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Afferents convey information to the CNS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91EFDB-88D7-4DF3-B3C4-F3DBFB85CF1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43"/>
          <a:stretch/>
        </p:blipFill>
        <p:spPr>
          <a:xfrm>
            <a:off x="93358" y="1752600"/>
            <a:ext cx="7546843" cy="3656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2785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2F3B9-8443-465F-474C-6A3A1C6DF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2" y="0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2 Minute Neuroscience: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Touch Receptors</a:t>
            </a:r>
          </a:p>
        </p:txBody>
      </p:sp>
      <p:pic>
        <p:nvPicPr>
          <p:cNvPr id="4" name="Online Media 3" title="2-Minute Neuroscience: Touch Receptors">
            <a:hlinkClick r:id="" action="ppaction://media"/>
            <a:extLst>
              <a:ext uri="{FF2B5EF4-FFF2-40B4-BE49-F238E27FC236}">
                <a16:creationId xmlns:a16="http://schemas.microsoft.com/office/drawing/2014/main" id="{7E64BFC6-F9AC-9550-7A34-F5A463D1F669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1300909" y="1441342"/>
            <a:ext cx="9587005" cy="541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601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1273</TotalTime>
  <Words>362</Words>
  <Application>Microsoft Office PowerPoint</Application>
  <PresentationFormat>Widescreen</PresentationFormat>
  <Paragraphs>71</Paragraphs>
  <Slides>16</Slides>
  <Notes>15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Tahoma</vt:lpstr>
      <vt:lpstr>Tw Cen MT</vt:lpstr>
      <vt:lpstr>Circuit</vt:lpstr>
      <vt:lpstr>Touch and proprioception</vt:lpstr>
      <vt:lpstr>Learning Objectives</vt:lpstr>
      <vt:lpstr>Sensory Receptors</vt:lpstr>
      <vt:lpstr>Receptor Potentials</vt:lpstr>
      <vt:lpstr>Proprioceptors </vt:lpstr>
      <vt:lpstr>Skin is the sensory organ for touch</vt:lpstr>
      <vt:lpstr>PowerPoint Presentation</vt:lpstr>
      <vt:lpstr>PowerPoint Presentation</vt:lpstr>
      <vt:lpstr>PowerPoint Presentation</vt:lpstr>
      <vt:lpstr>Receptor Fields </vt:lpstr>
      <vt:lpstr>Innervation Densities</vt:lpstr>
      <vt:lpstr>Sensory Adaptation</vt:lpstr>
      <vt:lpstr>Sensory receptors are associated with a specific primary afferent</vt:lpstr>
      <vt:lpstr>Primary afferents differ in myelination &amp; axon diameter</vt:lpstr>
      <vt:lpstr>Afferents convey information to the CNS</vt:lpstr>
      <vt:lpstr>2 Minute Neuroscience:  Touch Receptors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sensory processing: Touch and pain</dc:title>
  <dc:creator>Nicole Forner</dc:creator>
  <cp:lastModifiedBy>Phillips, Nicole</cp:lastModifiedBy>
  <cp:revision>120</cp:revision>
  <dcterms:created xsi:type="dcterms:W3CDTF">2020-09-22T01:09:55Z</dcterms:created>
  <dcterms:modified xsi:type="dcterms:W3CDTF">2026-03-01T19:32:37Z</dcterms:modified>
</cp:coreProperties>
</file>