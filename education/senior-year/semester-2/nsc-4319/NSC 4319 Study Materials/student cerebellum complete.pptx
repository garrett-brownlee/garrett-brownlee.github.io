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14.jpg" ContentType="image/jpeg"/>
  <Override PartName="/ppt/ink/ink2.xml" ContentType="application/inkml+xml"/>
  <Override PartName="/ppt/notesSlides/notesSlide14.xml" ContentType="application/vnd.openxmlformats-officedocument.presentationml.notesSlide+xml"/>
  <Override PartName="/ppt/ink/ink3.xml" ContentType="application/inkml+xml"/>
  <Override PartName="/ppt/notesSlides/notesSlide15.xml" ContentType="application/vnd.openxmlformats-officedocument.presentationml.notesSlide+xml"/>
  <Override PartName="/ppt/ink/ink4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7"/>
  </p:notesMasterIdLst>
  <p:sldIdLst>
    <p:sldId id="256" r:id="rId2"/>
    <p:sldId id="257" r:id="rId3"/>
    <p:sldId id="348" r:id="rId4"/>
    <p:sldId id="408" r:id="rId5"/>
    <p:sldId id="399" r:id="rId6"/>
    <p:sldId id="401" r:id="rId7"/>
    <p:sldId id="402" r:id="rId8"/>
    <p:sldId id="400" r:id="rId9"/>
    <p:sldId id="359" r:id="rId10"/>
    <p:sldId id="409" r:id="rId11"/>
    <p:sldId id="404" r:id="rId12"/>
    <p:sldId id="405" r:id="rId13"/>
    <p:sldId id="406" r:id="rId14"/>
    <p:sldId id="420" r:id="rId15"/>
    <p:sldId id="419" r:id="rId16"/>
    <p:sldId id="412" r:id="rId17"/>
    <p:sldId id="358" r:id="rId18"/>
    <p:sldId id="411" r:id="rId19"/>
    <p:sldId id="410" r:id="rId20"/>
    <p:sldId id="418" r:id="rId21"/>
    <p:sldId id="417" r:id="rId22"/>
    <p:sldId id="414" r:id="rId23"/>
    <p:sldId id="407" r:id="rId24"/>
    <p:sldId id="415" r:id="rId25"/>
    <p:sldId id="41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DB7"/>
    <a:srgbClr val="F06952"/>
    <a:srgbClr val="F67A7A"/>
    <a:srgbClr val="F46262"/>
    <a:srgbClr val="F99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4929" autoAdjust="0"/>
  </p:normalViewPr>
  <p:slideViewPr>
    <p:cSldViewPr snapToGrid="0">
      <p:cViewPr varScale="1">
        <p:scale>
          <a:sx n="119" d="100"/>
          <a:sy n="119" d="100"/>
        </p:scale>
        <p:origin x="18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9:38:42.7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8383 242 24575,'-23'0'0,"-38"1"0,1-2 0,-1-4 0,-64-12 0,-657-132 0,546 116 0,-363-2 0,26 33 0,-438 5 0,741 7 0,-165 2 0,391-13 0,0 3 0,0 2 0,-75 16 0,-21 10 0,70-17 0,1 3 0,0 3 0,-70 30 0,84-24 0,0 3 0,2 2 0,-79 58 0,86-56 0,-89 46 0,-12 8 0,136-79 0,1 2 0,1-1 0,0 1 0,0 0 0,1 1 0,0 0 0,1 1 0,0-1 0,-7 15 0,-5 15 0,-18 55 0,10-24 0,-11 10 0,-4-2 0,-3-2 0,-77 99 0,64-106 0,-3-2 0,-133 113 0,80-78 0,83-74 0,-104 91 0,129-115 0,-1-1 0,0 0 0,0-1 0,0 1 0,0-1 0,-1-1 0,1 0 0,-1 0 0,0 0 0,1-1 0,-15 1 0,-12-1 0,-49-5 0,21 1 0,47 4 0,0 0 0,-1 2 0,2 0 0,-1 1 0,0 0 0,1 1 0,-1 1 0,-19 10 0,20-8 0,-1-1 0,-1-1 0,1 0 0,-1-1 0,0-1 0,0 0 0,-20 1 0,-400-4 0,193-4 0,229 4 0,0 1 0,0 0 0,0 1 0,0 0 0,0 1 0,1 1 0,0 0 0,0 1 0,-16 9 0,-16 12 0,-47 37 0,78-53 0,-6 5 0,1 1 0,0 0 0,2 1 0,0 2 0,1-1 0,-26 44 0,38-55 0,1 0 0,0 0 0,0 1 0,1-1 0,0 1 0,0-1 0,1 1 0,0 12 0,4 78 0,0-39 0,-1 79 0,-5 200 0,0-313 0,-2 0 0,-8 29 0,7-33 0,0-1 0,2 0 0,1 1 0,-1 24 0,3 53 0,4 130 0,2-174 0,15 62 0,-1-46 0,30 71 0,10 33 0,-47-121 0,-1 0 0,4 89 0,-10 110 0,-5-191 0,0-51 0,1 0 0,0 0 0,1 0 0,1 1 0,0-2 0,0 1 0,1 0 0,0-1 0,1 1 0,0-1 0,12 16 0,-3-7 0,1 0 0,1-1 0,0-1 0,31 24 0,-34-32 0,0 0 0,1-1 0,0 0 0,0-1 0,1-1 0,0 0 0,19 5 0,116 19 0,-108-23 0,212 21 0,-113-16 0,405 2 0,-364-15 0,-122 8 0,-54-5 0,0-1 0,0 1 0,1-1 0,-1-1 0,1 1 0,-1-1 0,0 0 0,1 0 0,-1-1 0,1 0 0,-1 0 0,0 0 0,0-1 0,0 0 0,0 0 0,0-1 0,6-3 0,5-7 0,-1 0 0,-1-1 0,0-1 0,13-18 0,-16 18 0,1 1 0,0 0 0,1 0 0,1 2 0,21-15 0,-18 15 0,0 0 0,-1-1 0,-1-1 0,0 0 0,-1-2 0,-1 1 0,20-28 0,-25 29 0,0 1 0,-1-2 0,-1 1 0,0-1 0,-1 0 0,-1 0 0,0-1 0,-1 1 0,0-1 0,1-26 0,-3-312 0,-4 178 0,0 143 0,-2-1 0,-2 1 0,-17-58 0,11 43 0,-4-36 0,4-1 0,4 0 0,4-147 0,4 199 0,1 15 0,0-1 0,2 1 0,0 0 0,1-1 0,11-30 0,43-84 0,-4 10 0,-38 84 0,2 0 0,1 0 0,39-55 0,-35 65 0,2 0 0,1 2 0,0 0 0,2 2 0,39-27 0,-39 34 0,0 1 0,0 2 0,1 1 0,1 1 0,1 2 0,-1 1 0,53-10 0,233-19 0,-250 33 0,242-8 0,-164 11 0,160-24 0,111-24 0,703 2 0,-1025 53 0,0 4 0,135 29 0,-127-21 0,161 7 0,106-22 0,-176-3 0,-107-1 0,125-20 0,83-32 0,-197 36 0,-38 7 0,0-2 0,-1-3 0,0-2 0,-2-3 0,0-2 0,82-50 0,-133 71 0,142-99 0,-125 85 0,-2 0 0,0-2 0,-1 0 0,28-40 0,101-175 0,11-17 0,-147 233 0,-1 0 0,0 0 0,-2-1 0,0 0 0,-1-1 0,-1 1 0,-1-1 0,-1-1 0,3-26 0,-2-24 0,-6-98 0,-1 66 0,2 74 0,-6-130 0,4 141 0,-1 2 0,0-1 0,-1 0 0,-1 1 0,-1-1 0,0 1 0,-10-18 0,14 31 0,0 1 0,0 0 0,0-1 0,0 1 0,0 0 0,0 0 0,-1 0 0,1 0 0,-1 0 0,0 1 0,1-1 0,-1 1 0,0 0 0,-5-2 0,-48-8 0,17 4 0,-197-52-1365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9:50:19.0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14984 482 24575,'0'-2'0,"-1"0"0,0 0 0,0 0 0,0 1 0,0-1 0,0 0 0,0 1 0,-1-1 0,1 1 0,-1-1 0,1 1 0,-1 0 0,1-1 0,-1 1 0,0 0 0,1 0 0,-1 0 0,-3-1 0,-5-4 0,-4-1 0,-1-1 0,0 2 0,0 0 0,0 1 0,-1 0 0,-27-3 0,-5-3 0,30 6 0,-46-12 0,-110-14 0,64 12 0,-4 1 0,10 1 0,5 1 0,-52 8 0,-63-7 0,202 13 0,-14-1 0,-1-1 0,1-2 0,-26-9 0,-3-5 0,-79-18 0,84 26 0,6 2 0,1 1 0,-67-4 0,73 11 0,1-2 0,0-2 0,0-1 0,-60-21 0,70 21 0,-1 1 0,0 1 0,-52-2 0,45 5 0,-63-13 0,55 7 0,0 1 0,-66-2 0,-88 11 0,72 0 0,116-2 0,-46-1 0,-1 3 0,-69 12 0,35 0 0,-42 9 0,-63 14 0,22-13 0,161-21 0,-1 1 0,0 0 0,1 1 0,-12 8 0,11-7 0,0 0 0,-26 8 0,2-7 0,1-1 0,-1-2 0,-1-2 0,-58-4 0,-31 3 0,97 2 0,0 2 0,0 1 0,1 2 0,-1 0 0,-32 16 0,-20 5 0,-43 3 0,22-8 0,-86 18 0,-21 5 0,129-26 0,57-16 0,0 0 0,1 2 0,0 1 0,0 0 0,-33 19 0,51-24 0,-208 119 0,183-108 0,0-2 0,-1 0 0,-1-2 0,0-1 0,-52 7 0,-38-7 0,-157-9 0,111-3 0,-228 3 0,385 1 0,0 0 0,-1 1 0,1 0 0,0 0 0,0 1 0,0 1 0,1 0 0,-1 0 0,1 1 0,0 0 0,0 0 0,0 1 0,-14 13 0,0-2 0,0-2 0,-27 13 0,24-14 0,-38 27 0,51-33 0,1-1 0,-1 0 0,0-1 0,0-1 0,0 0 0,-1-1 0,-15 3 0,7-1 0,-37 14 0,47-14 0,0 1 0,1 0 0,0 0 0,0 1 0,1 0 0,0 1 0,1 1 0,0-1 0,-15 22 0,14-20 0,-1 1 0,0-2 0,-1 1 0,0-2 0,0 1 0,-1-2 0,0 0 0,-1 0 0,-18 6 0,-17 5 0,-71 18 0,56-19 0,-15 1 0,-19 7 0,85-22 0,0 1 0,0 1 0,0 0 0,1 1 0,-13 9 0,-102 85 0,104-83 0,0 0 0,-1-2 0,-1 0 0,-52 23 0,-113 29 0,-23-10 0,174-46 0,19-6 0,0 0 0,0 1 0,1 1 0,-34 20 0,-8 19 0,45-33 0,-1-1 0,0 0 0,-30 15 0,-17 0 0,36-16 0,1 0 0,-27 18 0,24-10 0,-26 27 0,28-24 0,-30 20 0,-114 51 0,56-34 0,11-9 0,12-6 0,22-12 0,45-21 0,0 0 0,-30 21 0,-70 60 0,60-44 0,-13 15 0,69-55 0,0 1 0,1-1 0,1 2 0,0-1 0,-11 20 0,-49 85 0,58-100 0,-1-1 0,0 0 0,-1-1 0,-1 0 0,-19 15 0,15-15 0,1 0 0,0 1 0,1 0 0,1 2 0,-18 22 0,23-24 0,-1 0 0,-1 0 0,-1-2 0,0 1 0,0-1 0,-1-1 0,-1 0 0,0-1 0,-17 9 0,18-12 0,0 0 0,0 0 0,0 1 0,1 0 0,-18 16 0,27-22 0,-51 49 0,-72 51 0,-71 16 0,135-84 0,1 2 0,-85 66 0,109-74 0,-1-2 0,-1-2 0,-81 36 0,70-37 0,2 3 0,-48 32 0,91-54 0,-4 3 0,0-1 0,0 1 0,-1-2 0,1 1 0,-1-1 0,0-1 0,-1 0 0,-20 6 0,8-6 0,1 1 0,-28 10 0,40-11 0,0 1 0,0 0 0,0 1 0,1 0 0,-1 0 0,-15 16 0,0-1 0,0-1 0,-51 32 0,-63 22 0,79-44 0,7 1 0,-81 62 0,14-8 0,71-53 0,1 2 0,-85 80 0,106-86 0,1 1 0,1 2 0,1 0 0,2 1 0,-25 50 0,9-6 0,-94 168 0,110-211 0,-3 4 0,1 2 0,1 1 0,-21 53 0,22-30 0,-12 31 0,29-82 0,0-1 0,-1 0 0,-1 0 0,0-1 0,-16 18 0,-8 8 0,1 2 0,2 0 0,-25 45 0,35-48 0,1 0 0,-13 41 0,-15 32 0,-41 58 0,-32 67 0,95-181 0,2 1 0,-21 87 0,-2 96 0,29-170 0,8-29 0,-1-1 0,-2 0 0,-1 0 0,-24 49 0,15-51 0,2 2 0,1 0 0,2 1 0,2 0 0,-9 41 0,9-12 0,3 1 0,-3 87 0,14 261 0,0-164 0,-3-224 0,0-1 0,-7 28 0,-1 9 0,-73 590 0,67-551 0,4-37 0,-4 106 0,16-128 0,-5 77 0,3-107 0,0 1 0,-1-1 0,0 0 0,-1 0 0,-1 0 0,-11 22 0,-2-1 0,3-10 0,1 2 0,1 0 0,2 0 0,-14 49 0,6 19 0,-8 115 0,11-61 0,-7 137 0,6-51 0,1-45 0,14 149 0,3-179 0,1-125 0,2-1 0,1 1 0,13 42 0,-8-34 0,23 164 0,-30-182 0,11 57 0,-6-48 0,3 50 0,-2-3 0,20 86 0,-15-96 0,-2 0 0,3 91 0,-13-128 0,1 0 0,9 34 0,-5-30 0,2 42 0,-8-3 0,2 31 0,-2-96 0,0 1 0,1-1 0,1 0 0,0-1 0,0 1 0,1 0 0,6 10 0,-8-17 0,1 0 0,0 0 0,0 0 0,1 0 0,-1-1 0,1 1 0,-1-1 0,1 0 0,0 0 0,0 0 0,1-1 0,-1 0 0,0 1 0,1-2 0,0 1 0,-1 0 0,10 1 0,7 1 0,0-2 0,0 0 0,22-1 0,12 1 0,645 55 0,-518-39 0,115 5 0,805-25 0,-1053-1 0,90-16 0,-33 3 0,-76 13 0,0-1 0,0-2 0,0-1 0,-1-1 0,0-1 0,37-19 0,-54 22 0,4-2 0,-1-1 0,25-19 0,-29 20 0,1 0 0,0 0 0,0 1 0,0 1 0,24-9 0,71-16 0,-41 14 0,-13 1 0,-1 0 0,2 1 0,-1 3 0,92-9 0,-78 15 0,87-20 0,-151 26 0,1-1 0,-1 0 0,1 0 0,-1-1 0,1 1 0,-1-1 0,0 1 0,0-1 0,0 0 0,0 0 0,0 0 0,0-1 0,0 1 0,-1-1 0,5-5 0,-4 4 0,-1-1 0,0 1 0,1-1 0,-1 0 0,-1 1 0,1-1 0,-1 0 0,0 0 0,0 0 0,0-6 0,-1-9 0,-1 0 0,0 1 0,-1-1 0,-9-32 0,5 28 0,-13-58 0,3-1 0,-9-139 0,23 186 0,-12-61 0,-2-22 0,14 89 0,3 17 0,-2-1 0,0 1 0,0-1 0,-1 1 0,-1-1 0,0 1 0,-1 0 0,0 0 0,-9-16 0,-71-109 0,74 121 0,1-1 0,1 0 0,1-1 0,-6-23 0,-13-81 0,18 76 0,-17-55 0,6 36 0,-11-90 0,17 85 0,10 48 0,0 0 0,2 0 0,0 0 0,2 0 0,4-30 0,1 18 0,2 0 0,19-58 0,-2 25 0,26-79 0,-44 122 0,-2 0 0,0-1 0,-2 0 0,1-27 0,13-141 0,0 30 0,-16-84 0,-2 152 0,3 73 0,1 0 0,1 0 0,1 1 0,1-1 0,15-36 0,5-22 0,-24 73 0,11-36 0,-3 0 0,8-68 0,-11 54 0,29-114 0,-11 71 0,-19 71 0,2 1 0,2-1 0,0 1 0,26-47 0,-26 53 0,0 0 0,-1-1 0,8-38 0,-10 37 0,0-1 0,2 1 0,13-28 0,0 5 0,-3-1 0,-1 0 0,14-68 0,-20 67 0,2 0 0,3 1 0,33-70 0,61-68 0,-68 118 0,-25 36 0,21-54 0,13-24 0,-30 68 0,25-72 0,-29 68 0,30-57 0,-40 88 0,-1 0 0,-1 0 0,5-23 0,-7 24 0,1 0 0,0 0 0,1 0 0,10-17 0,-7 18 0,0 1 0,1 0 0,0 1 0,1 0 0,1 0 0,0 1 0,22-16 0,-15 15 0,1 1 0,-1 1 0,2 0 0,42-13 0,46-10 0,91-30 0,9-26 0,-193 80 0,0-1 0,-1-1 0,19-15 0,6-6 0,-27 25 0,0-1 0,1 2 0,0 0 0,28-8 0,8-4 0,-20 6 0,0-1 0,-1-2 0,0 0 0,-2-2 0,51-40 0,106-102 0,-167 145 0,31-18 0,6-3 0,-44 28 0,0 1 0,0 0 0,0 1 0,16-5 0,-13 4 0,1 0 0,12-8 0,22-17 0,67-39 0,-94 59 0,-1 1 0,2 1 0,38-11 0,-28 12 0,-1-2 0,1 0 0,43-23 0,-39 17 0,1 1 0,61-15 0,-44 15 0,-30 8 0,38-3 0,-41 7 0,-1-1 0,41-12 0,-16-1 0,163-55 0,-167 60 0,0 2 0,0 2 0,53-3 0,308 8 0,-199 6 0,-175-3 0,53 8 0,-70-6 0,1 1 0,-1-1 0,0 2 0,0 0 0,0 0 0,-1 1 0,15 8 0,-12-4 0,2 0 0,-1-1 0,1-1 0,0 0 0,1-1 0,25 7 0,70 17 0,61 14 0,-113-30 0,-26-5 0,1-2 0,57 5 0,198-11 0,-132-3 0,-136 1 0,0 0 0,0-2 0,-1 0 0,1-1 0,-1-1 0,0-1 0,0-1 0,20-10 0,131-62 0,-140 63 0,138-67 0,-133 68 0,1 1 0,68-15 0,-72 23 0,0-2 0,-1-1 0,0-1 0,58-29 0,91-76 0,32-17 0,-120 90 0,-58 28 0,0-3 0,37-22 0,-6-6 0,85-52 0,-128 86 0,1 1 0,-1 1 0,50-11 0,22-9 0,-83 24 0,1 0 0,-2-1 0,1-1 0,-1 0 0,18-13 0,35-39 0,21-16 0,-73 66 0,1 0 0,0 1 0,0 0 0,1 2 0,19-9 0,1 3 0,0-1 0,-2-2 0,46-28 0,104-63 0,-176 104 0,-1-1 0,0-1 0,1 1 0,-1-1 0,-1 0 0,1 0 0,-1 0 0,1-1 0,-1 0 0,0 0 0,-1 0 0,5-7 0,5-13 0,2 0 0,19-24 0,-25 38 0,0 1 0,0 1 0,1-1 0,0 2 0,1-1 0,19-11 0,-9 6 0,-1-1 0,-1-1 0,0-1 0,-2-1 0,0 0 0,0-1 0,19-30 0,-27 37 0,0 1 0,1 0 0,20-16 0,17-19 0,-39 35 0,-1 1 0,9-17 0,-10 16 0,0 1 0,0 0 0,10-10 0,-7 9 0,1 0 0,1 1 0,-1 0 0,2 1 0,-1 0 0,17-8 0,-17 11 0,-1-1 0,0 0 0,-1 0 0,0-1 0,12-13 0,39-51 0,-9 10 0,-47 58 0,1 0 0,0 0 0,0 0 0,0 1 0,0-1 0,1 1 0,-1 0 0,8-2 0,52-14 0,-34 10 0,140-42 0,-150 44 0,-1-1 0,0-1 0,-1-1 0,0 0 0,18-14 0,-19 12 0,73-52 0,-55 37 0,63-35 0,-52 37 0,140-68 0,-172 88 0,0 1 0,0 0 0,0 0 0,1 2 0,-1 0 0,27 0 0,-17 1 0,35-6 0,-55 6 0,0-1 0,-1 1 0,1-1 0,-1 1 0,0-1 0,0-1 0,1 1 0,-1-1 0,-1 1 0,1-1 0,0 0 0,-1 0 0,1-1 0,-1 1 0,0-1 0,0 1 0,-1-1 0,1 0 0,-1 0 0,1-1 0,-1 1 0,-1 0 0,1-1 0,-1 1 0,1-1 0,0-4 0,1-14 0,0 0 0,-1 0 0,-2 0 0,-2-28 0,1 21 0,-4-585 0,6 584 0,2 1 0,11-48 0,-6 42 0,3-45 0,-11 78 0,1-26 0,2 0 0,9-43 0,-3 25 0,-3 1 0,-1-1 0,-3-78 0,0-3 0,1 95 0,10-42 0,-6 43 0,3-41 0,-8-292 0,-4 188 0,2-234-1365,0 380-5461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0:00:39.1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11044 0 24575,'-1'7'0,"1"-1"0,-2 0 0,1 1 0,-1-1 0,0 0 0,0 0 0,0 0 0,-1 0 0,0 0 0,0-1 0,-1 1 0,1-1 0,-1 0 0,-1 0 0,-8 8 0,-1 0 0,0-1 0,0-1 0,-2 0 0,-19 10 0,-30 10 0,41-20 0,-46 28 0,-64 55 0,116-84 0,-1-1 0,0-1 0,-25 8 0,-2-1 0,-92 39 0,93-38 0,-74 16 0,15-5 0,46-11 0,0-1 0,-1-3 0,-96 7 0,134-17 0,0 1 0,1 1 0,0 1 0,-36 15 0,31-11 0,0-1 0,-34 6 0,-72 12 0,55-9 0,64-14 0,1 0 0,0 1 0,0 1 0,0 0 0,-13 8 0,13-6 0,0-1 0,-1-1 0,1 0 0,-16 4 0,-21 5 0,0 3 0,-75 35 0,87-35 0,1 2 0,1 1 0,-34 25 0,4 5 0,-3-3 0,-2-3 0,-1-3 0,-106 44 0,97-53 0,-83 32 0,124-50 0,0 3 0,1 1 0,0 1 0,-40 30 0,31-15 0,1 2 0,-56 57 0,-133 115 0,115-108 0,-76 73 0,64-71 0,62-50 0,13-11 0,37-27 0,0-2 0,-1 1 0,0-2 0,0-1 0,-1 0 0,-1-2 0,1 0 0,-1-2 0,-1 0 0,-34 4 0,-151 4 0,79-8 0,115-4 0,1 0 0,-1 1 0,1 0 0,0 1 0,-15 6 0,-60 34 0,67-32 0,0-1 0,-1-1 0,-1-1 0,-40 12 0,1-13 0,0-2 0,-1-3 0,-68-5 0,46 1 0,-1071-1 0,723 2 0,380-2 0,-72-13 0,-26-3 0,-140 17 0,160 2 0,106 0 0,0 1 0,0 1 0,0 1 0,1 1 0,-1 2 0,1 0 0,1 2 0,-24 11 0,1 4 0,0 1 0,-75 58 0,99-67 0,-1-2 0,0 0 0,-1-2 0,-33 13 0,-103 27 0,109-39 0,1 3 0,1 3 0,-51 25 0,82-32 0,0 1 0,1 0 0,1 1 0,0 1 0,-22 28 0,18-20 0,-1-2 0,-29 25 0,-18 11 0,-116 128 0,91-87 0,80-86 0,0 0 0,-27 16 0,29-21 0,0 1 0,0 0 0,0 1 0,1 0 0,1 0 0,-13 16 0,-71 126 0,14-20 0,23-51 0,-4-2 0,-118 119 0,149-166 0,1 2 0,-35 52 0,54-72 0,0 0 0,-1 0 0,-1-1 0,0 0 0,0 0 0,-1-2 0,-22 16 0,28-21 0,1-1 0,-1 1 0,1 0 0,0 0 0,0 0 0,0 1 0,1 0 0,0 0 0,0 0 0,-5 11 0,5-8 0,-1 0 0,0-1 0,-1 0 0,-10 12 0,-66 66 0,74-78 0,-1 0 0,-1 0 0,1-1 0,-1-1 0,-1 0 0,1 0 0,-1-1 0,-19 7 0,13-5 0,1 0 0,-26 16 0,37-19 0,-1 0 0,1 0 0,1 0 0,-1 1 0,0 0 0,1 0 0,0 0 0,0 0 0,1 1 0,-1-1 0,-2 8 0,-33 97 0,-1 0 0,-28 69 0,46-112 0,3-13 0,-16 78 0,-15 273 0,35-256 0,-6 139 0,23 1031 0,-3-1304 0,2 0 0,0 0 0,0-1 0,2 1 0,-1 0 0,2-1 0,0 1 0,1-1 0,0 0 0,11 18 0,-1-6 0,-1 0 0,-2 0 0,0 2 0,-2-1 0,-1 1 0,7 38 0,-8-18 0,-2 1 0,-1 98 0,-7 291 0,0-410 0,-2 0 0,0 0 0,-2 0 0,-10 31 0,-9 42 0,-20 222 0,21-133 0,11-62 0,5 181 0,7-306 0,1-1 0,0 1 0,0 0 0,0-1 0,1 1 0,-1-1 0,1 1 0,-1 0 0,1-1 0,0 1 0,0-1 0,0 1 0,0-1 0,0 0 0,0 1 0,1-1 0,-1 0 0,1 0 0,0 0 0,0 0 0,0 0 0,0 0 0,0-1 0,0 1 0,0-1 0,0 1 0,0-1 0,1 0 0,-1 0 0,1 0 0,-1 0 0,1 0 0,-1 0 0,1-1 0,0 1 0,4-1 0,16 2 0,-1-2 0,0-1 0,0-1 0,35-7 0,-24 4 0,110-20 0,-71 11 0,145-9 0,-104 25 0,64-3 0,-174 1 0,0-1 0,1 1 0,-1-1 0,0 1 0,0-1 0,1 0 0,-1-1 0,0 1 0,0 0 0,0-1 0,0 0 0,-1 1 0,1-1 0,0 0 0,4-5 0,-4 4 0,-1-1 0,1 0 0,-1 0 0,0 0 0,0 0 0,-1 0 0,1 0 0,-1 0 0,0-1 0,0 1 0,1-9 0,3-61 0,-8-126 0,-1 79 0,3 69 0,0-24 0,-13-103 0,1 66 0,2-213 0,-5 71 0,-23 1 0,16 109 0,4 24 0,-21-156 0,32 189 0,3-106 0,8-271 0,-3 326 0,3 86 0,3 1 0,2 0 0,21-76 0,-15 70 0,81-261 0,22 9 0,-108 285 0,8-11 0,1 0 0,2 1 0,34-45 0,-4 5 0,51-71 0,-24 37 0,-56 74 0,20-44 0,-26 46 0,2 1 0,22-30 0,105-120 0,-134 170 0,-1-1 0,2 1 0,0 1 0,0 0 0,1 1 0,25-17 0,-32 23 0,1 1 0,-1-1 0,0 0 0,0 0 0,0-1 0,0 1 0,-1-1 0,1 0 0,-1 0 0,-1-1 0,1 1 0,-1-1 0,0 1 0,3-9 0,3-10 0,2 1 0,0 0 0,1 1 0,1 0 0,1 1 0,2 0 0,33-36 0,2 7 0,-9 6 0,79-61 0,2 23 0,36-28 0,-82 56 0,-31 23 0,3 4 0,-38 22 0,0-1 0,-1 0 0,1 0 0,11-11 0,177-153 0,-186 161 0,1 1 0,0 0 0,0 1 0,1 1 0,-1 0 0,1 1 0,1 0 0,23-3 0,-14 2 0,-1-1 0,31-12 0,-18 3 0,138-66 0,-134 61 0,0 1 0,1 2 0,1 1 0,0 3 0,59-11 0,129-22 0,-157 33 0,-37 5 0,50-3 0,320 7 0,-221 8 0,-143-4 0,0 0 0,1 2 0,-1 2 0,51 9 0,-88-10 0,128 31 0,-115-26 0,1 0 0,-1 1 0,0 1 0,27 17 0,15 18 0,-30-21 0,62 35 0,-79-52 0,-1 0 0,1-1 0,1-1 0,-1-1 0,0 0 0,30 2 0,93-6 0,-81-1 0,26 2 0,-33 1 0,94-11 0,-127 7 0,1-1 0,-1-1 0,0-1 0,0 0 0,19-12 0,72-47 0,-80 47 0,150-103 0,-164 113 0,1 1 0,-1 0 0,1 2 0,1-1 0,-1 1 0,25-4 0,-16 3 0,32-12 0,-48 15 0,0 0 0,0-1 0,0 1 0,0-2 0,-1 1 0,0-1 0,0 0 0,7-7 0,13-21 0,-20 25 0,-1 0 0,2 0 0,-1 1 0,1 0 0,0 1 0,12-10 0,7 1 0,1 0 0,1 2 0,0 1 0,0 1 0,1 2 0,40-8 0,-43 11 0,-1-2 0,0 0 0,-1-1 0,0-2 0,0 0 0,-1-2 0,-1 0 0,0-2 0,-1 0 0,0-1 0,27-30 0,-37 35 0,0 1 0,0 0 0,1 0 0,0 1 0,0 1 0,1 0 0,14-7 0,191-78 0,-140 51 0,-4 2 0,0 3 0,-2-4 0,117-86 0,-126 83 0,-19 14 0,70-63 0,-99 78 0,2 1 0,0 0 0,0 1 0,1 1 0,1 1 0,29-14 0,-19 12 0,0 2 0,2 0 0,53-10 0,63-15 0,-70 15 0,20 0 0,117-10 0,-199 30 0,0-1 0,0 0 0,0-1 0,-1-1 0,1-1 0,-1 0 0,0 0 0,0-2 0,0 0 0,-1 0 0,0-1 0,-1-1 0,0 0 0,0-1 0,-1 0 0,16-18 0,-1-6 0,-20 25 0,1 0 0,0 0 0,0 0 0,1 1 0,0 0 0,0 0 0,1 1 0,0 0 0,13-7 0,-1 5 0,-4 2 0,0-1 0,0 0 0,0-1 0,-1-1 0,-1-1 0,18-14 0,6-12 0,-15 12 0,1 2 0,2 0 0,56-36 0,-15 15 0,-44 28 0,42-23 0,-22 15 0,-1-2 0,63-50 0,-14 9 0,48-35 0,-131 97 0,0 0 0,1 1 0,0 1 0,-1 0 0,1 0 0,1 1 0,10-2 0,-10 3 0,1-2 0,-1 1 0,0-1 0,20-9 0,-27 10 0,0 0 0,-1-1 0,1 0 0,-1 1 0,1-1 0,-1 0 0,0 0 0,0-1 0,-1 1 0,1-1 0,-1 1 0,1-1 0,-1 0 0,0 0 0,0 0 0,2-9 0,1-12 0,0 0 0,-2-1 0,-1 0 0,-1 0 0,-3-38 0,0 15 0,-1-538-1365,3 551-5461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0:01:27.9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9831 0 24575,'-13'1'0,"-1"0"0,1 1 0,0 0 0,0 1 0,1 1 0,-1 0 0,-19 9 0,12-5 0,-76 21 0,74-24 0,1 1 0,1 0 0,-1 2 0,1 0 0,0 1 0,-33 21 0,15-3 0,23-18 0,1 1 0,0 1 0,-15 15 0,16-12 0,0-1 0,0-1 0,-1 0 0,-1-1 0,0-1 0,0 0 0,-27 12 0,-145 68 0,-29 11 0,141-73 0,-66 28 0,122-46 0,1 0 0,0 1 0,1 0 0,0 1 0,-19 19 0,18-16 0,0-2 0,0 0 0,-2 0 0,1-2 0,-27 11 0,-13 8 0,43-20 0,1 1 0,0 1 0,0 0 0,-13 16 0,13-14 0,1 0 0,-2-1 0,-24 16 0,-115 65 0,101-71 0,46-20 0,0-1 0,0 1 0,1 1 0,-1-1 0,1 1 0,0 0 0,0 1 0,0 0 0,1 0 0,-1 0 0,-7 10 0,-12 18 0,-56 55 0,67-74 0,-1-1 0,0-1 0,-1 0 0,-1-1 0,-34 16 0,-2-3 0,-56 22 0,-56 18 0,122-48 0,-58 15 0,5-2 0,-52 11 0,14-5 0,79-20 0,-94 14 0,101-19 0,0 3 0,1 2 0,-82 36 0,52-19 0,23-15 0,45-15 0,-1 1 0,1 0 0,-1 1 0,1 0 0,0 0 0,0 1 0,-9 7 0,-1 4 0,-34 36 0,-5 5 0,34-39 0,-33 20 0,34-24 0,2 0 0,-24 21 0,21-12 0,0 0 0,2 2 0,0 1 0,-19 30 0,34-44 0,2-1 0,0-2 0,-1 1 0,0-1 0,0 0 0,-1 0 0,0-1 0,0 0 0,-1-1 0,0 1 0,-12 5 0,-45 16 0,46-22 0,1 1 0,0 1 0,-27 18 0,32-17 0,1-1 0,-2 0 0,1-1 0,-1 0 0,-1-1 0,1-1 0,-1-1 0,0 0 0,0 0 0,-27 2 0,8-5 0,1-1 0,-1-2 0,1-2 0,-47-8 0,1-4 0,16 5 0,0-4 0,-82-28 0,-92-37 0,205 73 0,0 1 0,-1 2 0,1 1 0,-52 4 0,30 0 0,39-2 0,0 2 0,0 0 0,0 1 0,0 1 0,1 0 0,-1 1 0,1 0 0,0 2 0,1 0 0,-1 0 0,2 1 0,-23 17 0,3-5 0,0-1 0,-46 19 0,-40 22 0,87-43 0,0-1 0,-1-2 0,0-1 0,-50 12 0,-104 37 0,155-53 0,1 0 0,0-1 0,-61 8 0,63-14 0,0 2 0,0 1 0,1 1 0,-1 1 0,-40 18 0,57-21 0,1 0 0,-1 0 0,0-1 0,-1 0 0,1-1 0,0-1 0,-1 0 0,1-1 0,-1 0 0,1-1 0,0 0 0,-1-1 0,-14-3 0,26 4 0,-34-7 0,-69-8 0,93 15 0,1 1 0,-1 0 0,0 1 0,1 0 0,-1 0 0,1 1 0,-1 1 0,1 0 0,0 0 0,0 1 0,-12 6 0,-9 7 0,17-10 0,0 1 0,0 0 0,1 1 0,-18 15 0,21-15 0,0 1 0,-1 0 0,0 0 0,0-1 0,-1-1 0,-24 13 0,2-3 0,-52 36 0,1 0 0,65-41 0,0 1 0,1 1 0,-29 28 0,27-23 0,-45 33 0,16-21 0,-51 35 0,71-44 0,-1-3 0,-50 26 0,57-32 0,1 0 0,0 2 0,-37 33 0,27-21 0,-247 210 0,251-211 0,-46 51 0,41-40 0,26-28 0,1 0 0,0 1 0,0-1 0,1 2 0,-8 20 0,-4 8 0,2-4 0,-13 43 0,21-53 0,-1-1 0,-2 0 0,0-1 0,-1 0 0,-16 23 0,10-22 0,2 1 0,1 1 0,1 0 0,2 0 0,-11 32 0,11-24 0,3-14 0,2-1 0,1 1 0,0 1 0,-3 27 0,5-17 0,-3 0 0,-18 58 0,16-61 0,0 0 0,2 1 0,-5 53 0,10 271 0,4-169 0,-21 37 0,1-44 0,16 254 0,4-224 0,-4-171 0,-13 72 0,0-5 0,13-82 0,0 5 0,-1 1 0,-10 42 0,2-20 0,9-35 0,-2 0 0,1-1 0,-11 26 0,-7 6 0,2 2 0,2 1 0,-20 95 0,23-78 0,3-17 0,-4 55 0,-3 14 0,10-76 0,-3 52 0,9 301 0,4-197 0,-3-164 0,0-22 0,0-1 0,1 1 0,1-1 0,-1 1 0,2-1 0,0 0 0,3 13 0,-3-21 0,0 0 0,0 0 0,0 0 0,0 0 0,0-1 0,0 1 0,1-1 0,-1 1 0,1-1 0,0 0 0,0 0 0,0 0 0,0-1 0,0 1 0,0 0 0,0-1 0,1 0 0,-1 0 0,0 0 0,1 0 0,3 0 0,12 1 0,-1 0 0,33-1 0,-39-1 0,700-7 0,1773 7 0,-2433 2 0,80 15 0,40 2 0,-141-18 0,30 0 0,74 12 0,41 7 0,-17-3 0,-29-4 0,207-5 0,-336-8 0,48-3 0,0-2 0,71-17 0,1-11 0,-4 0 0,-74 22 0,-1-1 0,0-3 0,58-29 0,-99 44 0,50-23 0,-1-3 0,80-56 0,-9 0 0,-87 63 0,-1-3 0,-2-1 0,0-1 0,-1-1 0,25-30 0,1-15 0,-31 38 0,56-58 0,-45 58 0,-2-1 0,-1-2 0,-1-2 0,41-63 0,-58 75 0,-4 5 0,1 1 0,0 0 0,30-32 0,-26 35 0,-3 4 0,0-1 0,-1 0 0,0-1 0,-1 0 0,-1 0 0,16-31 0,-12 13 0,-5 8 0,16-25 0,-21 42 0,0 1 0,0 0 0,1-1 0,0 1 0,0 1 0,1-1 0,0 1 0,6-5 0,16-12 0,-1-1 0,-1-1 0,26-31 0,-25 25 0,54-46 0,-79 74 0,53-42 0,3 1 0,111-61 0,-149 95 0,-1-1 0,0-1 0,0-1 0,-1 0 0,-1-1 0,18-17 0,4-11 0,63-59 0,-56 61 0,-2-2 0,46-54 0,-73 74 0,-5 6 0,0 0 0,0 1 0,1 0 0,25-19 0,48-20 0,10-9 0,-81 50 0,-1-1 0,-1 0 0,0-1 0,-1 0 0,11-17 0,-10 12 0,2 0 0,24-22 0,-6 13 0,37-23 0,-37 28 0,46-41 0,-71 55 0,0-1 0,0 0 0,-1 0 0,0 0 0,-1-1 0,5-12 0,19-31 0,-10 28 0,0 1 0,2 2 0,40-35 0,-37 36 0,-1-1 0,-1-1 0,30-41 0,-44 53 0,1-4 0,0 2 0,0-1 0,2 2 0,0-1 0,0 2 0,15-12 0,7-3 0,271-204 0,-272 209 0,0 0 0,69-31 0,-60 32 0,-1-1 0,-1-3 0,44-34 0,-59 38 0,-1-2 0,40-49 0,-6 6 0,-21 30 0,3 2 0,43-29 0,-43 34 0,-2-1 0,53-53 0,-71 60 0,-2 0 0,32-51 0,-39 57 0,1 1 0,0 1 0,2 0 0,0 0 0,28-22 0,-25 22 0,-13 11 0,1-1 0,-2 1 0,1-1 0,0 0 0,-1 0 0,0-1 0,0 1 0,0-1 0,-1 1 0,0-1 0,0 0 0,0 0 0,-1 0 0,0 0 0,0 0 0,0 0 0,-1 0 0,0 0 0,-1-12 0,-1 4 0,-1-1 0,0 0 0,-1 1 0,0-1 0,-1 1 0,-1 0 0,-7-13 0,1 6 0,2 0 0,0-1 0,2 0 0,0 0 0,1 0 0,2-1 0,-4-24 0,4-1 0,0-8 0,-22-92 0,13 91 0,-24-78 0,30 108 0,1-1 0,-6-56 0,2 6 0,-12-83 0,11 63 0,-7-23 0,-22-228 0,38 317 0,-1 1 0,-2 0 0,-15-48 0,10 40 0,-10-58 0,13-24 0,7 77 0,-12-70 0,4 71 0,3 0 0,1-1 0,2 1 0,3-1 0,4-50 0,2 64 0,0 1 0,17-43 0,-14 45 0,-1-1 0,-1 1 0,5-36 0,-8-261 0,-7 184 0,5 15 0,-5-123 0,-13 147 0,-1 2 0,14 56-1365,2 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663C5-59D1-45AC-AC35-991A022452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C05B-ACE8-4620-ADE1-C92D63531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2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54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https://www.youtube.com/shorts/EjTaVh_vn84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14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78C6A-545C-3387-020A-495AF5FEE7D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37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54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5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14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31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6EC03-A3E6-E87D-C38B-0249F61A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623D4-60CC-7157-F649-605ABC90F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03F7A-358D-61C0-D8AD-06BB3C2EF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851C4-E026-8802-DD12-E03EF1E87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92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32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89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04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78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0C80D-C551-F809-2954-90A83152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6C183-0D89-D5B5-C1D3-56D666EE6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1B1F7-7E66-9140-FF13-63368CD49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D7D6B-2D0E-DEB1-CF3B-3F3A02A46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19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30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074B-D72E-B101-E4A4-9B7F5EC8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3DB60-439C-283F-8957-0935B27D2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813D6-9945-992D-08A0-ACF28C0BC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4DC9F-66DD-6343-AC66-FD421F582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27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E4067-4715-41E6-B2B6-88C2AAEB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84090-2036-B4B8-C281-DC8976B53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82C19-F22C-63FD-4B15-131421A2F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4B6B4-63F4-C47B-781F-E72CF2AFC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29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973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603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https://www.youtube.com/watch?v=-dFMisBl1aM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764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70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2043-251F-B094-E66E-78C00385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2ECAF-69A0-FDFA-BEAC-2F30EFAB5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8076A-481B-E4F6-1F80-8AE6D45D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2B899-18D5-221A-90BB-D433DC05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00F1-6993-EFBC-3610-EA1AF649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9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E8A-4A4B-4B0C-B554-8D5B3956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E9E7-F370-4DA9-362E-9612FA9D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42A3A-0EA0-2C59-6DE6-49EC2DD1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BA93-FDCE-EAAE-7CDC-63EFC7FB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495F-1E2F-B135-667D-848A9507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69F-7AD8-F999-6ADD-C8C78F9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E26E-1130-F9E4-29B7-AB462A63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F71E-2A72-84D5-D2AB-641B2F4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32EC2-2B3F-CAC2-5D45-6FAEEFBD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FCAE-5A7B-F3B8-4BD3-266D209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1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A30-F879-D158-831E-8A009DBA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805C-8980-2094-024D-7FF6D610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1A39E-E8F4-ADA9-DFF8-3F7B81A5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5CFD-59B6-CACE-C998-FDCB49A5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8826-8C17-9528-7E65-99B4F843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C6-E801-A63D-E280-04413734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D687-0564-D611-F856-B37FBF59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1694-9977-49AA-BF94-9FE0BB634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218F-0966-279D-1154-F3B3BF92B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66B44-3C1A-972B-A930-2B6594821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D72B3-EDE5-9D6E-F0A5-39E3F3607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9E44E-9603-A57A-C4F1-548AACBB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D45C4-35B9-18A0-62D5-D8F50F7D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DB466-8203-A9DB-F786-5D460519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9DBD-9274-E5A3-9717-95459D1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9DDE0-C42C-6D48-EA99-DC2576EE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367A-D13D-5699-55E3-67BAE57C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A8496-78A0-51DA-5C6F-FF36E32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6F61E-511F-838F-1211-0DD4FA5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2945C-842C-19ED-64FF-DA4F6C2A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7E83-4207-0858-40F4-2541C9A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7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3B2A-4523-FE19-8CCE-C875C0BF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0D74-EBDD-9D11-21A1-44E75B07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ABA93-88D1-7808-9020-C3E57F12F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B6E7C-EA94-1853-D232-25FEAD70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AFEB-7050-3E90-20E6-E86B3C0A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582C-0469-D552-5D4C-BC012A9C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53D9-84DA-81F4-8475-D7B72E02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86B5A-331E-7CED-091E-AE0BF5173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6164-40AB-D69B-A39B-17442A66C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E1067-39E7-BC90-914F-2288F1B4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8F90-1503-304F-AA32-24B43EE8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E7B5-6665-EC0F-C044-ABC5889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CC16-424E-9272-0C5C-4DE616E4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AD6C-088E-FE47-3EB5-2A704ED7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0EE8-C46C-F218-1487-998916C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CA69-BE6E-21D2-227E-872272BE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C3F6-8B68-54A8-9CB3-A5DE66DE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FEF8C-01A6-2878-6C1C-5E793621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9D01-1A75-726E-BAD6-736049D0D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D67B-A848-EC87-EF28-FF5751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D383-2714-8B78-92ED-12919F28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0D86-CA06-2EEA-4AF6-A9CAD27C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BDB7"/>
            </a:gs>
            <a:gs pos="74000">
              <a:srgbClr val="F99787"/>
            </a:gs>
            <a:gs pos="83000">
              <a:srgbClr val="F67A7A"/>
            </a:gs>
            <a:gs pos="100000">
              <a:srgbClr val="F0695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FD30D-E3BA-1B02-9753-44834E9E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DE1A3-A97F-47FC-ADBB-C133A443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FC58-E11F-FDD5-AC26-E2FC58B6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58B08-D63B-4AF0-BEC4-15CBC22939B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BCAC-77DC-1180-4873-1E5F750D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B340-DD46-B64E-E040-8221E4EB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4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jTaVh_vn84?feature=oembed" TargetMode="Externa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ir-v6EoZNE?feature=oembed" TargetMode="Externa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00.png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customXml" Target="../ink/ink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dFMisBl1aM?feature=oembed" TargetMode="External"/><Relationship Id="rId4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E32-4C7E-7E75-42CA-AB0724AB3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726738" cy="2971801"/>
          </a:xfrm>
        </p:spPr>
        <p:txBody>
          <a:bodyPr/>
          <a:lstStyle/>
          <a:p>
            <a:pPr algn="ctr"/>
            <a:r>
              <a:rPr lang="en-US" dirty="0"/>
              <a:t>Modulation of Movement by the Cerebellum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65983-34A2-7F47-5652-29946CC20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962" y="3818467"/>
            <a:ext cx="6400800" cy="1947333"/>
          </a:xfrm>
        </p:spPr>
        <p:txBody>
          <a:bodyPr/>
          <a:lstStyle/>
          <a:p>
            <a:pPr algn="ctr"/>
            <a:r>
              <a:rPr lang="en-US" dirty="0"/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263161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E0AD-910D-FEDD-B954-61A4AF7A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A9DBB-5D88-25A7-02DA-6BA1BBB1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661" y="1507067"/>
            <a:ext cx="10414123" cy="4839025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1D514-4CAE-2772-C2E1-35A404D201BE}"/>
              </a:ext>
            </a:extLst>
          </p:cNvPr>
          <p:cNvSpPr txBox="1"/>
          <p:nvPr/>
        </p:nvSpPr>
        <p:spPr>
          <a:xfrm>
            <a:off x="922216" y="1507067"/>
            <a:ext cx="1041412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Explain the organization of afferent and efferent connections of the cerebellum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Describe the cytoarchitecture of cerebellar cortex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Describe the functional divisions of the cerebellum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Identify symptoms of cerebellar damage &amp; how these elucidate the function of a healthy cerebellum</a:t>
            </a:r>
          </a:p>
        </p:txBody>
      </p:sp>
    </p:spTree>
    <p:extLst>
      <p:ext uri="{BB962C8B-B14F-4D97-AF65-F5344CB8AC3E}">
        <p14:creationId xmlns:p14="http://schemas.microsoft.com/office/powerpoint/2010/main" val="30645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58B1-3D2A-4EF9-9EB0-A4EA3410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417" y="52172"/>
            <a:ext cx="10515600" cy="1679899"/>
          </a:xfrm>
        </p:spPr>
        <p:txBody>
          <a:bodyPr/>
          <a:lstStyle/>
          <a:p>
            <a:pPr algn="ctr"/>
            <a:r>
              <a:rPr lang="en-US" dirty="0"/>
              <a:t>Four Neural Centers for Movement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5D05D05-363F-4D4E-AD54-AACFA210FDB0}"/>
              </a:ext>
            </a:extLst>
          </p:cNvPr>
          <p:cNvSpPr/>
          <p:nvPr/>
        </p:nvSpPr>
        <p:spPr>
          <a:xfrm>
            <a:off x="3250829" y="1732071"/>
            <a:ext cx="5328745" cy="5125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A0908-C8FC-4D7D-BFDE-B853A7E7E964}"/>
              </a:ext>
            </a:extLst>
          </p:cNvPr>
          <p:cNvSpPr txBox="1"/>
          <p:nvPr/>
        </p:nvSpPr>
        <p:spPr>
          <a:xfrm>
            <a:off x="2710859" y="4824125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7D04C-FE0E-4029-8236-FA1DCBB7BC7F}"/>
              </a:ext>
            </a:extLst>
          </p:cNvPr>
          <p:cNvSpPr txBox="1"/>
          <p:nvPr/>
        </p:nvSpPr>
        <p:spPr>
          <a:xfrm>
            <a:off x="240233" y="5193457"/>
            <a:ext cx="2827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Lower motor neurons (LMNs)</a:t>
            </a:r>
          </a:p>
          <a:p>
            <a:pPr algn="ctr"/>
            <a:r>
              <a:rPr lang="en-US" dirty="0"/>
              <a:t>“Final common path” for initiating movement</a:t>
            </a:r>
          </a:p>
          <a:p>
            <a:pPr algn="ctr"/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D088C-C851-480C-991E-C24576F658C6}"/>
              </a:ext>
            </a:extLst>
          </p:cNvPr>
          <p:cNvSpPr txBox="1"/>
          <p:nvPr/>
        </p:nvSpPr>
        <p:spPr>
          <a:xfrm>
            <a:off x="2710859" y="2330533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A8A57-EE55-4B4E-BAAA-96671EB97695}"/>
              </a:ext>
            </a:extLst>
          </p:cNvPr>
          <p:cNvSpPr txBox="1"/>
          <p:nvPr/>
        </p:nvSpPr>
        <p:spPr>
          <a:xfrm>
            <a:off x="8307620" y="3092971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FE3EFD-3E1E-4BD3-A11D-3817D9C4FD10}"/>
              </a:ext>
            </a:extLst>
          </p:cNvPr>
          <p:cNvSpPr txBox="1"/>
          <p:nvPr/>
        </p:nvSpPr>
        <p:spPr>
          <a:xfrm>
            <a:off x="8307619" y="2156221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48241-7CEE-4506-BB1D-677F7DA9FA75}"/>
              </a:ext>
            </a:extLst>
          </p:cNvPr>
          <p:cNvSpPr txBox="1"/>
          <p:nvPr/>
        </p:nvSpPr>
        <p:spPr>
          <a:xfrm>
            <a:off x="8762192" y="2624596"/>
            <a:ext cx="307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Modulation of motor plans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49C0C-D734-41CB-929F-92261BCEF3DB}"/>
              </a:ext>
            </a:extLst>
          </p:cNvPr>
          <p:cNvSpPr txBox="1"/>
          <p:nvPr/>
        </p:nvSpPr>
        <p:spPr>
          <a:xfrm>
            <a:off x="562708" y="2330533"/>
            <a:ext cx="2505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Upper Motor Neurons (UMNs)</a:t>
            </a:r>
            <a:endParaRPr lang="en-US" dirty="0"/>
          </a:p>
          <a:p>
            <a:pPr algn="ctr"/>
            <a:r>
              <a:rPr lang="en-US" dirty="0"/>
              <a:t>Top-down control of movement</a:t>
            </a: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F0323D78-281A-828C-4871-397A7804570E}"/>
              </a:ext>
            </a:extLst>
          </p:cNvPr>
          <p:cNvSpPr/>
          <p:nvPr/>
        </p:nvSpPr>
        <p:spPr>
          <a:xfrm>
            <a:off x="3204933" y="1732072"/>
            <a:ext cx="5681160" cy="2347560"/>
          </a:xfrm>
          <a:prstGeom prst="frame">
            <a:avLst>
              <a:gd name="adj1" fmla="val 32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545A1-C4AF-F7EB-4151-91FE2FB99A31}"/>
              </a:ext>
            </a:extLst>
          </p:cNvPr>
          <p:cNvSpPr/>
          <p:nvPr/>
        </p:nvSpPr>
        <p:spPr>
          <a:xfrm>
            <a:off x="6007768" y="2221832"/>
            <a:ext cx="2571806" cy="77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5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3390-1573-B549-C02A-75BE21EA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6598"/>
          </a:xfrm>
        </p:spPr>
        <p:txBody>
          <a:bodyPr/>
          <a:lstStyle/>
          <a:p>
            <a:pPr algn="ctr"/>
            <a:r>
              <a:rPr lang="en-US" dirty="0"/>
              <a:t>Cerebellar Hypoplasia</a:t>
            </a:r>
          </a:p>
        </p:txBody>
      </p:sp>
      <p:pic>
        <p:nvPicPr>
          <p:cNvPr id="4" name="Online Media 3" title="Understanding Wobbly Cat Syndrome: 😿💫 Cerebellar Hypoplasia Explained">
            <a:hlinkClick r:id="" action="ppaction://media"/>
            <a:extLst>
              <a:ext uri="{FF2B5EF4-FFF2-40B4-BE49-F238E27FC236}">
                <a16:creationId xmlns:a16="http://schemas.microsoft.com/office/drawing/2014/main" id="{D320ADAA-804F-D3C3-AE4B-0A33583A992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417416" y="916598"/>
            <a:ext cx="3357167" cy="594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05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2-Minute Neuroscience: Cerebellum">
            <a:hlinkClick r:id="" action="ppaction://media"/>
            <a:extLst>
              <a:ext uri="{FF2B5EF4-FFF2-40B4-BE49-F238E27FC236}">
                <a16:creationId xmlns:a16="http://schemas.microsoft.com/office/drawing/2014/main" id="{CC16B256-F959-18B7-199B-914A1D3880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3304" y="7154"/>
            <a:ext cx="12125392" cy="685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4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14D1-FDBD-A940-7C58-F54223FA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6"/>
            <a:ext cx="10515600" cy="779796"/>
          </a:xfrm>
        </p:spPr>
        <p:txBody>
          <a:bodyPr/>
          <a:lstStyle/>
          <a:p>
            <a:pPr algn="ctr"/>
            <a:r>
              <a:rPr lang="en-US" dirty="0"/>
              <a:t>The 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20025-602E-708C-5318-349C63716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48" y="1372516"/>
            <a:ext cx="7028532" cy="5346336"/>
          </a:xfrm>
        </p:spPr>
        <p:txBody>
          <a:bodyPr>
            <a:normAutofit/>
          </a:bodyPr>
          <a:lstStyle/>
          <a:p>
            <a:r>
              <a:rPr lang="en-US" dirty="0"/>
              <a:t>Modulates motor plans from motor cortex.</a:t>
            </a:r>
          </a:p>
          <a:p>
            <a:endParaRPr lang="en-US" dirty="0"/>
          </a:p>
          <a:p>
            <a:r>
              <a:rPr lang="en-US" dirty="0"/>
              <a:t>Plays an important role in:</a:t>
            </a:r>
          </a:p>
          <a:p>
            <a:pPr lvl="1"/>
            <a:r>
              <a:rPr lang="en-US" sz="2800" dirty="0"/>
              <a:t>coordinating voluntary movements</a:t>
            </a:r>
          </a:p>
          <a:p>
            <a:pPr lvl="1"/>
            <a:r>
              <a:rPr lang="en-US" sz="2800" dirty="0"/>
              <a:t>resolving “motor error”</a:t>
            </a:r>
          </a:p>
          <a:p>
            <a:pPr lvl="1"/>
            <a:r>
              <a:rPr lang="en-US" sz="2800" dirty="0"/>
              <a:t>maintaining balance and posture</a:t>
            </a:r>
          </a:p>
          <a:p>
            <a:pPr lvl="1"/>
            <a:r>
              <a:rPr lang="en-US" sz="2800" dirty="0"/>
              <a:t>regulating muscle tone</a:t>
            </a:r>
          </a:p>
          <a:p>
            <a:pPr lvl="1"/>
            <a:r>
              <a:rPr lang="en-US" sz="2800" dirty="0"/>
              <a:t>procedural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99F32-DF51-C0C4-9315-AE189958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57" y="798051"/>
            <a:ext cx="5017443" cy="60599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7BB86B-C2EB-9880-37F6-7B3FD38820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52" r="32285" b="62735"/>
          <a:stretch>
            <a:fillRect/>
          </a:stretch>
        </p:blipFill>
        <p:spPr>
          <a:xfrm>
            <a:off x="10293967" y="4704862"/>
            <a:ext cx="1749540" cy="12174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CE45C8-21E3-BC0E-30A3-C428F04411C9}"/>
              </a:ext>
            </a:extLst>
          </p:cNvPr>
          <p:cNvSpPr/>
          <p:nvPr/>
        </p:nvSpPr>
        <p:spPr>
          <a:xfrm>
            <a:off x="9175262" y="2125785"/>
            <a:ext cx="1484923" cy="142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3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8E92-9B5D-61B4-B67E-24F5D333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47" y="146295"/>
            <a:ext cx="3788508" cy="1325563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Parts of the 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4B1C5-694B-F9AC-C9FF-E6C96AD01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858"/>
            <a:ext cx="3788508" cy="5386142"/>
          </a:xfrm>
        </p:spPr>
        <p:txBody>
          <a:bodyPr>
            <a:normAutofit/>
          </a:bodyPr>
          <a:lstStyle/>
          <a:p>
            <a:r>
              <a:rPr lang="en-US" sz="2400" b="1" dirty="0"/>
              <a:t>Cerebellar cortex</a:t>
            </a:r>
          </a:p>
          <a:p>
            <a:pPr lvl="1"/>
            <a:r>
              <a:rPr lang="en-US" dirty="0" err="1"/>
              <a:t>Cerebrocerebellum</a:t>
            </a:r>
            <a:endParaRPr lang="en-US" dirty="0"/>
          </a:p>
          <a:p>
            <a:pPr lvl="1"/>
            <a:r>
              <a:rPr lang="en-US" dirty="0" err="1"/>
              <a:t>Spinocerebellum</a:t>
            </a:r>
            <a:endParaRPr lang="en-US" dirty="0"/>
          </a:p>
          <a:p>
            <a:pPr lvl="2"/>
            <a:r>
              <a:rPr lang="en-US" sz="2400" dirty="0"/>
              <a:t>Vermis</a:t>
            </a:r>
          </a:p>
          <a:p>
            <a:pPr lvl="1"/>
            <a:r>
              <a:rPr lang="en-US" dirty="0" err="1"/>
              <a:t>Vestibulocerebellum</a:t>
            </a:r>
            <a:endParaRPr lang="en-US" dirty="0"/>
          </a:p>
          <a:p>
            <a:r>
              <a:rPr lang="en-US" sz="2400" b="1" dirty="0"/>
              <a:t>Cerebellar peduncles</a:t>
            </a:r>
          </a:p>
          <a:p>
            <a:pPr lvl="1"/>
            <a:r>
              <a:rPr lang="en-US" dirty="0"/>
              <a:t>Superior</a:t>
            </a:r>
          </a:p>
          <a:p>
            <a:pPr lvl="1"/>
            <a:r>
              <a:rPr lang="en-US" dirty="0"/>
              <a:t>Middle</a:t>
            </a:r>
          </a:p>
          <a:p>
            <a:pPr lvl="1"/>
            <a:r>
              <a:rPr lang="en-US" dirty="0"/>
              <a:t>Inferior</a:t>
            </a:r>
          </a:p>
          <a:p>
            <a:r>
              <a:rPr lang="en-US" sz="2400" b="1" dirty="0"/>
              <a:t>Deep cerebellar nuclei</a:t>
            </a:r>
          </a:p>
          <a:p>
            <a:pPr lvl="1"/>
            <a:r>
              <a:rPr lang="en-US" dirty="0"/>
              <a:t>Dentate nucleus</a:t>
            </a:r>
          </a:p>
          <a:p>
            <a:pPr lvl="1"/>
            <a:r>
              <a:rPr lang="en-US" dirty="0"/>
              <a:t>Interposed nuclei</a:t>
            </a:r>
          </a:p>
          <a:p>
            <a:pPr lvl="1"/>
            <a:r>
              <a:rPr lang="en-US" dirty="0"/>
              <a:t>Fastigial nuclei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83C20-1DFA-F4BD-9A7A-DF533190A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55" y="0"/>
            <a:ext cx="769264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9D0326-4C21-EC9C-3411-25C2768EE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137" y="4431842"/>
            <a:ext cx="3040185" cy="24261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59AC497-CA25-AAFD-AED8-2F34DEC98775}"/>
              </a:ext>
            </a:extLst>
          </p:cNvPr>
          <p:cNvSpPr/>
          <p:nvPr/>
        </p:nvSpPr>
        <p:spPr>
          <a:xfrm>
            <a:off x="11496431" y="4423508"/>
            <a:ext cx="617415" cy="2434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7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2BDC-A95A-ACF1-963A-FF151A4E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26565"/>
          </a:xfrm>
        </p:spPr>
        <p:txBody>
          <a:bodyPr/>
          <a:lstStyle/>
          <a:p>
            <a:pPr algn="ctr"/>
            <a:r>
              <a:rPr lang="en-US" dirty="0"/>
              <a:t>Functional Subdivisions of the </a:t>
            </a:r>
            <a:br>
              <a:rPr lang="en-US" dirty="0"/>
            </a:br>
            <a:r>
              <a:rPr lang="en-US" dirty="0"/>
              <a:t>Cerebellar Cortex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B3720-6613-D0C2-C89F-EF69A2710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065" y="1526565"/>
            <a:ext cx="6841935" cy="5331204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DE385480-0327-9F88-186E-C37079D3CFAD}"/>
              </a:ext>
            </a:extLst>
          </p:cNvPr>
          <p:cNvSpPr/>
          <p:nvPr/>
        </p:nvSpPr>
        <p:spPr>
          <a:xfrm>
            <a:off x="10287218" y="5838091"/>
            <a:ext cx="1904782" cy="898769"/>
          </a:xfrm>
          <a:prstGeom prst="frame">
            <a:avLst>
              <a:gd name="adj1" fmla="val 467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D1D03-4D5F-4A67-C4A3-6ED9294BA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84" y="1526565"/>
            <a:ext cx="4995481" cy="526742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err="1"/>
              <a:t>Cerebrocerebellum</a:t>
            </a:r>
            <a:endParaRPr lang="en-US" sz="2400" dirty="0"/>
          </a:p>
          <a:p>
            <a:pPr lvl="1"/>
            <a:r>
              <a:rPr lang="en-US" dirty="0"/>
              <a:t>Input from the “cerebrum”</a:t>
            </a:r>
          </a:p>
          <a:p>
            <a:pPr lvl="1"/>
            <a:r>
              <a:rPr lang="en-US" dirty="0"/>
              <a:t>Procedural learning and highly skilled movements</a:t>
            </a:r>
          </a:p>
          <a:p>
            <a:r>
              <a:rPr lang="en-US" sz="2400" dirty="0" err="1"/>
              <a:t>Spinocerebellum</a:t>
            </a:r>
            <a:endParaRPr lang="en-US" sz="2400" dirty="0"/>
          </a:p>
          <a:p>
            <a:pPr lvl="1"/>
            <a:r>
              <a:rPr lang="en-US" dirty="0"/>
              <a:t>Input from the spinal cord</a:t>
            </a:r>
          </a:p>
          <a:p>
            <a:pPr lvl="1"/>
            <a:r>
              <a:rPr lang="en-US" dirty="0"/>
              <a:t>Regulation of muscle tone and coordination of voluntary movements</a:t>
            </a:r>
          </a:p>
          <a:p>
            <a:pPr lvl="2"/>
            <a:r>
              <a:rPr lang="en-US" sz="2400" i="1" dirty="0"/>
              <a:t>Vermis</a:t>
            </a:r>
            <a:r>
              <a:rPr lang="en-US" sz="2400" dirty="0"/>
              <a:t> important for movement of proximal muscles and certain eye movements</a:t>
            </a:r>
          </a:p>
          <a:p>
            <a:r>
              <a:rPr lang="en-US" sz="2400" dirty="0" err="1"/>
              <a:t>Vestibulocerebellum</a:t>
            </a:r>
            <a:endParaRPr lang="en-US" sz="2400" dirty="0"/>
          </a:p>
          <a:p>
            <a:pPr lvl="1"/>
            <a:r>
              <a:rPr lang="en-US" dirty="0"/>
              <a:t>Input from the vestibular nuclei</a:t>
            </a:r>
          </a:p>
          <a:p>
            <a:pPr lvl="1"/>
            <a:r>
              <a:rPr lang="en-US" dirty="0"/>
              <a:t>Maintaining balance and posture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76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7A46-F991-4634-BE6D-483CF3CC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87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Peduncles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53502-DC47-4E33-A378-DCF13F23B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898769"/>
            <a:ext cx="10515600" cy="5959232"/>
          </a:xfrm>
        </p:spPr>
        <p:txBody>
          <a:bodyPr>
            <a:noAutofit/>
          </a:bodyPr>
          <a:lstStyle/>
          <a:p>
            <a:pPr marL="342900" indent="-342900"/>
            <a:r>
              <a:rPr lang="en-US" sz="2200" dirty="0"/>
              <a:t>Axon tracts connecting the cerebellum to other brain regions</a:t>
            </a:r>
          </a:p>
          <a:p>
            <a:pPr marL="342900" indent="-342900"/>
            <a:r>
              <a:rPr lang="en-US" sz="2200" dirty="0"/>
              <a:t>Some have afferent (incoming) fibers, while others have efferent (outgoing) fibers.</a:t>
            </a:r>
            <a:endParaRPr lang="en-US" sz="2200" b="1" dirty="0"/>
          </a:p>
          <a:p>
            <a:r>
              <a:rPr lang="en-US" sz="2200" b="1" dirty="0"/>
              <a:t>Superior</a:t>
            </a:r>
          </a:p>
          <a:p>
            <a:pPr lvl="1"/>
            <a:r>
              <a:rPr lang="en-US" sz="2200" dirty="0"/>
              <a:t>Major </a:t>
            </a:r>
            <a:r>
              <a:rPr lang="en-US" sz="2200" b="1" dirty="0"/>
              <a:t>efferent</a:t>
            </a:r>
            <a:r>
              <a:rPr lang="en-US" sz="2200" dirty="0"/>
              <a:t> pathway</a:t>
            </a:r>
          </a:p>
          <a:p>
            <a:pPr lvl="1"/>
            <a:r>
              <a:rPr lang="en-US" sz="2200" dirty="0"/>
              <a:t>Tracts from the deep nuclei of cerebellum </a:t>
            </a:r>
            <a:r>
              <a:rPr lang="en-US" sz="2200" b="1" dirty="0"/>
              <a:t>to</a:t>
            </a:r>
            <a:r>
              <a:rPr lang="en-US" sz="2200" dirty="0"/>
              <a:t> </a:t>
            </a:r>
          </a:p>
          <a:p>
            <a:pPr marL="457200" lvl="1" indent="0">
              <a:buNone/>
            </a:pPr>
            <a:r>
              <a:rPr lang="en-US" sz="2200" dirty="0"/>
              <a:t>    contralateral cortex</a:t>
            </a:r>
          </a:p>
          <a:p>
            <a:r>
              <a:rPr lang="en-US" sz="2200" b="1" dirty="0"/>
              <a:t>Middle</a:t>
            </a:r>
          </a:p>
          <a:p>
            <a:pPr lvl="1"/>
            <a:r>
              <a:rPr lang="en-US" sz="2200" dirty="0"/>
              <a:t>Major </a:t>
            </a:r>
            <a:r>
              <a:rPr lang="en-US" sz="2200" b="1" dirty="0"/>
              <a:t>afferent</a:t>
            </a:r>
            <a:r>
              <a:rPr lang="en-US" sz="2200" dirty="0"/>
              <a:t> pathway</a:t>
            </a:r>
          </a:p>
          <a:p>
            <a:pPr lvl="1"/>
            <a:r>
              <a:rPr lang="en-US" sz="2200" dirty="0"/>
              <a:t>Tracts </a:t>
            </a:r>
            <a:r>
              <a:rPr lang="en-US" sz="2200" b="1" dirty="0"/>
              <a:t>from</a:t>
            </a:r>
            <a:r>
              <a:rPr lang="en-US" sz="2200" dirty="0"/>
              <a:t> the contralateral cortex</a:t>
            </a:r>
          </a:p>
          <a:p>
            <a:r>
              <a:rPr lang="en-US" sz="2200" b="1" dirty="0"/>
              <a:t>Inferior</a:t>
            </a:r>
          </a:p>
          <a:p>
            <a:pPr lvl="1"/>
            <a:r>
              <a:rPr lang="en-US" sz="2200" b="1" dirty="0"/>
              <a:t>Afferent &amp; efferent </a:t>
            </a:r>
            <a:r>
              <a:rPr lang="en-US" sz="2200" dirty="0"/>
              <a:t>pathways</a:t>
            </a:r>
          </a:p>
          <a:p>
            <a:pPr lvl="1"/>
            <a:r>
              <a:rPr lang="en-US" sz="2200" i="1" dirty="0"/>
              <a:t>Afferent</a:t>
            </a:r>
            <a:r>
              <a:rPr lang="en-US" sz="2200" dirty="0"/>
              <a:t> tracts with ipsilateral proprioceptive information from the spinal cord, vestibular nuclei, and inferior olive</a:t>
            </a:r>
          </a:p>
          <a:p>
            <a:pPr lvl="1"/>
            <a:r>
              <a:rPr lang="en-US" sz="2200" i="1" dirty="0"/>
              <a:t>Efferent</a:t>
            </a:r>
            <a:r>
              <a:rPr lang="en-US" sz="2200" dirty="0"/>
              <a:t> tracts from deep cerebellar nuclei </a:t>
            </a:r>
            <a:r>
              <a:rPr lang="en-US" sz="2200" b="1" dirty="0"/>
              <a:t>to</a:t>
            </a:r>
            <a:r>
              <a:rPr lang="en-US" sz="2200" dirty="0"/>
              <a:t> the reticular 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909D5C-D5E0-5F9A-06BA-EC084B8C9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85" y="1865501"/>
            <a:ext cx="4102715" cy="31269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E71FD2-3E2B-9414-0A02-CE0044846453}"/>
              </a:ext>
            </a:extLst>
          </p:cNvPr>
          <p:cNvSpPr txBox="1"/>
          <p:nvPr/>
        </p:nvSpPr>
        <p:spPr>
          <a:xfrm>
            <a:off x="7251084" y="4992499"/>
            <a:ext cx="4102715" cy="24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https://en.wikipedia.org/wiki/File:1612_Cerebellar_Peduncles-02.jpg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973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CEFF-C98F-2DB0-923C-EC861E7E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C078-1CA8-0B9C-4C9C-0EB4314E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9864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Major inputs to the 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F023-E813-C3C5-82EC-3640DC32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214" y="1398647"/>
            <a:ext cx="5228493" cy="5459354"/>
          </a:xfrm>
        </p:spPr>
        <p:txBody>
          <a:bodyPr>
            <a:noAutofit/>
          </a:bodyPr>
          <a:lstStyle/>
          <a:p>
            <a:r>
              <a:rPr lang="en-US" sz="2400" b="1" dirty="0"/>
              <a:t>Cortex</a:t>
            </a:r>
            <a:r>
              <a:rPr lang="en-US" sz="2400" dirty="0"/>
              <a:t> → Pontine nuclei → </a:t>
            </a:r>
            <a:r>
              <a:rPr lang="en-US" sz="2400" dirty="0" err="1"/>
              <a:t>cerebrocerebellum</a:t>
            </a:r>
            <a:endParaRPr lang="en-US" sz="2400" dirty="0"/>
          </a:p>
          <a:p>
            <a:pPr lvl="1"/>
            <a:r>
              <a:rPr lang="en-US" i="1" dirty="0"/>
              <a:t>Middle</a:t>
            </a:r>
            <a:r>
              <a:rPr lang="en-US" dirty="0"/>
              <a:t> peduncle</a:t>
            </a:r>
          </a:p>
          <a:p>
            <a:r>
              <a:rPr lang="en-US" sz="2400" b="1" dirty="0"/>
              <a:t>Cortex</a:t>
            </a:r>
            <a:r>
              <a:rPr lang="en-US" sz="2400" dirty="0"/>
              <a:t> → red nucleus → inferior olive → </a:t>
            </a:r>
            <a:r>
              <a:rPr lang="en-US" sz="2400" dirty="0" err="1"/>
              <a:t>cerebrocerebellum</a:t>
            </a:r>
            <a:endParaRPr lang="en-US" sz="2400" dirty="0"/>
          </a:p>
          <a:p>
            <a:pPr lvl="1"/>
            <a:r>
              <a:rPr lang="en-US" i="1" dirty="0"/>
              <a:t>Inferior</a:t>
            </a:r>
            <a:r>
              <a:rPr lang="en-US" dirty="0"/>
              <a:t> peduncle</a:t>
            </a:r>
          </a:p>
          <a:p>
            <a:pPr lvl="1"/>
            <a:r>
              <a:rPr lang="en-US" dirty="0"/>
              <a:t>Special role in procedural learning</a:t>
            </a:r>
          </a:p>
          <a:p>
            <a:r>
              <a:rPr lang="en-US" sz="2400" b="1" dirty="0"/>
              <a:t>Spinal cord </a:t>
            </a:r>
            <a:r>
              <a:rPr lang="en-US" sz="2400" dirty="0"/>
              <a:t>→ </a:t>
            </a:r>
            <a:r>
              <a:rPr lang="en-US" sz="2400" dirty="0" err="1"/>
              <a:t>spinocerebellum</a:t>
            </a:r>
            <a:endParaRPr lang="en-US" sz="2400" dirty="0"/>
          </a:p>
          <a:p>
            <a:pPr lvl="1"/>
            <a:r>
              <a:rPr lang="en-US" dirty="0"/>
              <a:t>Inferior peduncle</a:t>
            </a:r>
          </a:p>
          <a:p>
            <a:r>
              <a:rPr lang="en-US" sz="2400" b="1" dirty="0"/>
              <a:t>Vestibular nuclei </a:t>
            </a:r>
            <a:r>
              <a:rPr lang="en-US" sz="2400" dirty="0"/>
              <a:t>→ </a:t>
            </a:r>
            <a:r>
              <a:rPr lang="en-US" sz="2400" dirty="0" err="1"/>
              <a:t>vestibulocerebellum</a:t>
            </a:r>
            <a:endParaRPr lang="en-US" sz="2400" dirty="0"/>
          </a:p>
          <a:p>
            <a:pPr lvl="1"/>
            <a:r>
              <a:rPr lang="en-US" dirty="0"/>
              <a:t>Inferior peduncle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B24ED3-CC23-C67B-BA6C-4756BAFC2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708" y="1602088"/>
            <a:ext cx="6549292" cy="44628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80D3E3E-301E-F4F5-F356-5B362901D9BA}"/>
                  </a:ext>
                </a:extLst>
              </p14:cNvPr>
              <p14:cNvContentPartPr/>
              <p14:nvPr/>
            </p14:nvContentPartPr>
            <p14:xfrm>
              <a:off x="8158151" y="2515320"/>
              <a:ext cx="3191040" cy="1843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80D3E3E-301E-F4F5-F356-5B362901D9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22511" y="2479680"/>
                <a:ext cx="3262680" cy="191484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rame 14">
            <a:extLst>
              <a:ext uri="{FF2B5EF4-FFF2-40B4-BE49-F238E27FC236}">
                <a16:creationId xmlns:a16="http://schemas.microsoft.com/office/drawing/2014/main" id="{20B0C4A1-5C3B-3005-C7F8-BE27C4EB8ACB}"/>
              </a:ext>
            </a:extLst>
          </p:cNvPr>
          <p:cNvSpPr/>
          <p:nvPr/>
        </p:nvSpPr>
        <p:spPr>
          <a:xfrm>
            <a:off x="7138870" y="4208669"/>
            <a:ext cx="5053129" cy="996377"/>
          </a:xfrm>
          <a:prstGeom prst="frame">
            <a:avLst>
              <a:gd name="adj1" fmla="val 467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462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9AC8E-07DD-5350-FBE8-6209DD4E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Major Outputs of the Cerebellum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F9D16-E646-1706-35D4-CBE4D1C0E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1343818"/>
            <a:ext cx="6197600" cy="5511437"/>
          </a:xfrm>
          <a:prstGeom prst="rect">
            <a:avLst/>
          </a:prstGeom>
        </p:spPr>
      </p:pic>
      <p:sp>
        <p:nvSpPr>
          <p:cNvPr id="3" name="Frame 2">
            <a:extLst>
              <a:ext uri="{FF2B5EF4-FFF2-40B4-BE49-F238E27FC236}">
                <a16:creationId xmlns:a16="http://schemas.microsoft.com/office/drawing/2014/main" id="{6B1655D2-FE1A-0353-A225-0023A46B857E}"/>
              </a:ext>
            </a:extLst>
          </p:cNvPr>
          <p:cNvSpPr/>
          <p:nvPr/>
        </p:nvSpPr>
        <p:spPr>
          <a:xfrm>
            <a:off x="9692564" y="1359328"/>
            <a:ext cx="1661236" cy="5495927"/>
          </a:xfrm>
          <a:prstGeom prst="frame">
            <a:avLst>
              <a:gd name="adj1" fmla="val 67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037D67-2DAE-E7C5-E125-79F423D9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199" y="1315883"/>
            <a:ext cx="4445001" cy="5511437"/>
          </a:xfrm>
        </p:spPr>
        <p:txBody>
          <a:bodyPr>
            <a:noAutofit/>
          </a:bodyPr>
          <a:lstStyle/>
          <a:p>
            <a:r>
              <a:rPr lang="en-US" dirty="0"/>
              <a:t>Most efferent fibers from cerebellar cortex project to a specific region of the deep cerebellar nuclei.</a:t>
            </a:r>
          </a:p>
          <a:p>
            <a:pPr lvl="1"/>
            <a:r>
              <a:rPr lang="en-US" sz="2800" dirty="0" err="1"/>
              <a:t>Vestibulocerebellum</a:t>
            </a:r>
            <a:r>
              <a:rPr lang="en-US" sz="2800" dirty="0"/>
              <a:t> is the exception. Most of its projections go directly to the vestibular nuclei in the brainstem.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0734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4A87-F88C-BF74-95A0-856B31F5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142719"/>
          </a:xfrm>
        </p:spPr>
        <p:txBody>
          <a:bodyPr/>
          <a:lstStyle/>
          <a:p>
            <a:pPr algn="ctr"/>
            <a:r>
              <a:rPr lang="en-US" dirty="0"/>
              <a:t>Superior Peduncle Pathways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36AAB3-6BCB-2DDE-4037-D6A2E10A7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73399"/>
            <a:ext cx="5257800" cy="566634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7AADFD-1837-232D-3F05-FEDF5663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199" y="1173399"/>
            <a:ext cx="5384801" cy="5653921"/>
          </a:xfrm>
        </p:spPr>
        <p:txBody>
          <a:bodyPr>
            <a:noAutofit/>
          </a:bodyPr>
          <a:lstStyle/>
          <a:p>
            <a:r>
              <a:rPr lang="en-US" sz="2400" dirty="0"/>
              <a:t>Pathways from the </a:t>
            </a:r>
            <a:r>
              <a:rPr lang="en-US" sz="2400" b="1" dirty="0"/>
              <a:t>dentate nucleus </a:t>
            </a:r>
            <a:r>
              <a:rPr lang="en-US" sz="2400" dirty="0"/>
              <a:t>primarily travel to premotor and association cortices.</a:t>
            </a:r>
          </a:p>
          <a:p>
            <a:pPr lvl="1"/>
            <a:r>
              <a:rPr lang="en-US" dirty="0"/>
              <a:t>Input from </a:t>
            </a:r>
            <a:r>
              <a:rPr lang="en-US" dirty="0" err="1"/>
              <a:t>cerebrocerebellum</a:t>
            </a:r>
            <a:endParaRPr lang="en-US" dirty="0"/>
          </a:p>
          <a:p>
            <a:pPr lvl="1"/>
            <a:r>
              <a:rPr lang="en-US" dirty="0"/>
              <a:t>Planning and initiating voluntary movements</a:t>
            </a:r>
          </a:p>
          <a:p>
            <a:r>
              <a:rPr lang="en-US" sz="2400" dirty="0"/>
              <a:t>Pathways from the </a:t>
            </a:r>
            <a:r>
              <a:rPr lang="en-US" sz="2400" b="1" dirty="0"/>
              <a:t>interposed nuclei </a:t>
            </a:r>
            <a:r>
              <a:rPr lang="en-US" sz="2400" dirty="0"/>
              <a:t>primarily travel to parts of motor cortex associated with limb movement.</a:t>
            </a:r>
          </a:p>
          <a:p>
            <a:pPr lvl="1"/>
            <a:r>
              <a:rPr lang="en-US" dirty="0"/>
              <a:t>Input from </a:t>
            </a:r>
            <a:r>
              <a:rPr lang="en-US" dirty="0" err="1"/>
              <a:t>spinocerebellum</a:t>
            </a:r>
            <a:endParaRPr lang="en-US" dirty="0"/>
          </a:p>
          <a:p>
            <a:r>
              <a:rPr lang="en-US" sz="2400" dirty="0"/>
              <a:t>Both send projections to the superior colliculus</a:t>
            </a:r>
          </a:p>
          <a:p>
            <a:pPr lvl="1"/>
            <a:r>
              <a:rPr lang="en-US" dirty="0"/>
              <a:t>Orienting movements of head and eyes</a:t>
            </a:r>
          </a:p>
          <a:p>
            <a:endParaRPr lang="en-US" sz="22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483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5F6B2-B346-7370-AEE8-DC9B3949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164502"/>
          </a:xfrm>
        </p:spPr>
        <p:txBody>
          <a:bodyPr/>
          <a:lstStyle/>
          <a:p>
            <a:pPr algn="ctr"/>
            <a:r>
              <a:rPr lang="en-US" dirty="0"/>
              <a:t>Inferior Peduncle Efferent Pathways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2240E-3387-5089-B510-39F6CB70C4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88"/>
          <a:stretch>
            <a:fillRect/>
          </a:stretch>
        </p:blipFill>
        <p:spPr>
          <a:xfrm>
            <a:off x="6516077" y="1224842"/>
            <a:ext cx="4837723" cy="565984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FEA58F-1760-96A8-6D54-E62BC5FB3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199" y="1173399"/>
            <a:ext cx="5744309" cy="5653921"/>
          </a:xfrm>
        </p:spPr>
        <p:txBody>
          <a:bodyPr>
            <a:noAutofit/>
          </a:bodyPr>
          <a:lstStyle/>
          <a:p>
            <a:r>
              <a:rPr lang="en-US" dirty="0"/>
              <a:t>Input primarily from </a:t>
            </a:r>
            <a:r>
              <a:rPr lang="en-US" dirty="0" err="1"/>
              <a:t>spinocerebellum</a:t>
            </a:r>
            <a:r>
              <a:rPr lang="en-US" dirty="0"/>
              <a:t> to the </a:t>
            </a:r>
            <a:r>
              <a:rPr lang="en-US" b="1" dirty="0"/>
              <a:t>fastigial nuclei.</a:t>
            </a:r>
          </a:p>
          <a:p>
            <a:pPr lvl="1"/>
            <a:r>
              <a:rPr lang="en-US" sz="2800" dirty="0"/>
              <a:t>There is also some input from the </a:t>
            </a:r>
            <a:r>
              <a:rPr lang="en-US" sz="2800" dirty="0" err="1"/>
              <a:t>vestibulocerebellum</a:t>
            </a:r>
            <a:r>
              <a:rPr lang="en-US" sz="2800" dirty="0"/>
              <a:t>.</a:t>
            </a:r>
          </a:p>
          <a:p>
            <a:pPr lvl="1"/>
            <a:r>
              <a:rPr lang="en-US" sz="2800" dirty="0"/>
              <a:t>The fastigial nuclei send information to the </a:t>
            </a:r>
            <a:r>
              <a:rPr lang="en-US" sz="2800" i="1" dirty="0"/>
              <a:t>reticular formation </a:t>
            </a:r>
            <a:r>
              <a:rPr lang="en-US" sz="2800" dirty="0"/>
              <a:t>and</a:t>
            </a:r>
            <a:r>
              <a:rPr lang="en-US" sz="2800" i="1" dirty="0"/>
              <a:t> superior colliculus.</a:t>
            </a:r>
          </a:p>
          <a:p>
            <a:r>
              <a:rPr lang="en-US" dirty="0"/>
              <a:t>Projections directly from the </a:t>
            </a:r>
            <a:r>
              <a:rPr lang="en-US" dirty="0" err="1"/>
              <a:t>vestibulocerebellum</a:t>
            </a:r>
            <a:r>
              <a:rPr lang="en-US" dirty="0"/>
              <a:t> also form part of the inferior peduncle on their way to the vestibular nuclei in the brainstem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7C88B-33FF-412D-265C-3C3CD844DA44}"/>
              </a:ext>
            </a:extLst>
          </p:cNvPr>
          <p:cNvSpPr/>
          <p:nvPr/>
        </p:nvSpPr>
        <p:spPr>
          <a:xfrm>
            <a:off x="6516077" y="1738251"/>
            <a:ext cx="382954" cy="32902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9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EEEAE-D63B-5DAB-9B21-698F1B129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700B-39A4-05EC-92BF-7517B443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591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Cerebellum Pathways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E08326-CB90-8E58-006A-C63A1431C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83534"/>
              </p:ext>
            </p:extLst>
          </p:nvPr>
        </p:nvGraphicFramePr>
        <p:xfrm>
          <a:off x="325272" y="685914"/>
          <a:ext cx="11541456" cy="617208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626358">
                  <a:extLst>
                    <a:ext uri="{9D8B030D-6E8A-4147-A177-3AD203B41FA5}">
                      <a16:colId xmlns:a16="http://schemas.microsoft.com/office/drawing/2014/main" val="835187508"/>
                    </a:ext>
                  </a:extLst>
                </a:gridCol>
                <a:gridCol w="1801504">
                  <a:extLst>
                    <a:ext uri="{9D8B030D-6E8A-4147-A177-3AD203B41FA5}">
                      <a16:colId xmlns:a16="http://schemas.microsoft.com/office/drawing/2014/main" val="74462608"/>
                    </a:ext>
                  </a:extLst>
                </a:gridCol>
                <a:gridCol w="2893326">
                  <a:extLst>
                    <a:ext uri="{9D8B030D-6E8A-4147-A177-3AD203B41FA5}">
                      <a16:colId xmlns:a16="http://schemas.microsoft.com/office/drawing/2014/main" val="4287551063"/>
                    </a:ext>
                  </a:extLst>
                </a:gridCol>
                <a:gridCol w="1965277">
                  <a:extLst>
                    <a:ext uri="{9D8B030D-6E8A-4147-A177-3AD203B41FA5}">
                      <a16:colId xmlns:a16="http://schemas.microsoft.com/office/drawing/2014/main" val="1771902986"/>
                    </a:ext>
                  </a:extLst>
                </a:gridCol>
                <a:gridCol w="1733266">
                  <a:extLst>
                    <a:ext uri="{9D8B030D-6E8A-4147-A177-3AD203B41FA5}">
                      <a16:colId xmlns:a16="http://schemas.microsoft.com/office/drawing/2014/main" val="2648752737"/>
                    </a:ext>
                  </a:extLst>
                </a:gridCol>
                <a:gridCol w="1521725">
                  <a:extLst>
                    <a:ext uri="{9D8B030D-6E8A-4147-A177-3AD203B41FA5}">
                      <a16:colId xmlns:a16="http://schemas.microsoft.com/office/drawing/2014/main" val="3559398995"/>
                    </a:ext>
                  </a:extLst>
                </a:gridCol>
              </a:tblGrid>
              <a:tr h="128799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Starting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Afferent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Pathway(s)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Cerebellar Cortex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Cerebellar Deep Nuclei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Efferent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Pathway(s)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End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384381"/>
                  </a:ext>
                </a:extLst>
              </a:tr>
              <a:tr h="1287998">
                <a:tc>
                  <a:txBody>
                    <a:bodyPr/>
                    <a:lstStyle/>
                    <a:p>
                      <a:r>
                        <a:rPr lang="en-US" sz="2400" b="1" dirty="0"/>
                        <a:t>Motor Cortex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563112"/>
                  </a:ext>
                </a:extLst>
              </a:tr>
              <a:tr h="1911785">
                <a:tc>
                  <a:txBody>
                    <a:bodyPr/>
                    <a:lstStyle/>
                    <a:p>
                      <a:r>
                        <a:rPr lang="en-US" sz="2400" b="1" dirty="0"/>
                        <a:t>Spinal 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551307"/>
                  </a:ext>
                </a:extLst>
              </a:tr>
              <a:tr h="1684305">
                <a:tc>
                  <a:txBody>
                    <a:bodyPr/>
                    <a:lstStyle/>
                    <a:p>
                      <a:r>
                        <a:rPr lang="en-US" sz="2400" b="1" dirty="0"/>
                        <a:t>Vestibular nuclei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5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16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55D14-0CDE-B772-BE65-97FE5383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591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Cerebellum Pathways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EA529A-E2B7-2404-F671-B3F2F0D28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589005"/>
              </p:ext>
            </p:extLst>
          </p:nvPr>
        </p:nvGraphicFramePr>
        <p:xfrm>
          <a:off x="325272" y="685914"/>
          <a:ext cx="11541456" cy="618054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626358">
                  <a:extLst>
                    <a:ext uri="{9D8B030D-6E8A-4147-A177-3AD203B41FA5}">
                      <a16:colId xmlns:a16="http://schemas.microsoft.com/office/drawing/2014/main" val="835187508"/>
                    </a:ext>
                  </a:extLst>
                </a:gridCol>
                <a:gridCol w="1801504">
                  <a:extLst>
                    <a:ext uri="{9D8B030D-6E8A-4147-A177-3AD203B41FA5}">
                      <a16:colId xmlns:a16="http://schemas.microsoft.com/office/drawing/2014/main" val="74462608"/>
                    </a:ext>
                  </a:extLst>
                </a:gridCol>
                <a:gridCol w="2893326">
                  <a:extLst>
                    <a:ext uri="{9D8B030D-6E8A-4147-A177-3AD203B41FA5}">
                      <a16:colId xmlns:a16="http://schemas.microsoft.com/office/drawing/2014/main" val="4287551063"/>
                    </a:ext>
                  </a:extLst>
                </a:gridCol>
                <a:gridCol w="1965277">
                  <a:extLst>
                    <a:ext uri="{9D8B030D-6E8A-4147-A177-3AD203B41FA5}">
                      <a16:colId xmlns:a16="http://schemas.microsoft.com/office/drawing/2014/main" val="1771902986"/>
                    </a:ext>
                  </a:extLst>
                </a:gridCol>
                <a:gridCol w="1733266">
                  <a:extLst>
                    <a:ext uri="{9D8B030D-6E8A-4147-A177-3AD203B41FA5}">
                      <a16:colId xmlns:a16="http://schemas.microsoft.com/office/drawing/2014/main" val="2648752737"/>
                    </a:ext>
                  </a:extLst>
                </a:gridCol>
                <a:gridCol w="1521725">
                  <a:extLst>
                    <a:ext uri="{9D8B030D-6E8A-4147-A177-3AD203B41FA5}">
                      <a16:colId xmlns:a16="http://schemas.microsoft.com/office/drawing/2014/main" val="3559398995"/>
                    </a:ext>
                  </a:extLst>
                </a:gridCol>
              </a:tblGrid>
              <a:tr h="128799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Starting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Afferent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Pathway(s)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Cerebellar Cortex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Cerebellar Deep Nuclei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Efferent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Pathway(s)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End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384381"/>
                  </a:ext>
                </a:extLst>
              </a:tr>
              <a:tr h="1287998">
                <a:tc>
                  <a:txBody>
                    <a:bodyPr/>
                    <a:lstStyle/>
                    <a:p>
                      <a:r>
                        <a:rPr lang="en-US" sz="2400" b="1" dirty="0"/>
                        <a:t>Motor Cortex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Middle and inferior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cerebrocerebellum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Dentate nucleus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superior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Motor cortex and 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563112"/>
                  </a:ext>
                </a:extLst>
              </a:tr>
              <a:tr h="1911785">
                <a:tc>
                  <a:txBody>
                    <a:bodyPr/>
                    <a:lstStyle/>
                    <a:p>
                      <a:r>
                        <a:rPr lang="en-US" sz="2400" b="1" dirty="0"/>
                        <a:t>Spinal 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inferior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spinocerebellum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Interposed and fastigial nuclei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Superior and inferior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Motor cortex, SC, and reticular 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551307"/>
                  </a:ext>
                </a:extLst>
              </a:tr>
              <a:tr h="1684305">
                <a:tc>
                  <a:txBody>
                    <a:bodyPr/>
                    <a:lstStyle/>
                    <a:p>
                      <a:r>
                        <a:rPr lang="en-US" sz="2400" b="1" dirty="0"/>
                        <a:t>Vestibular nuclei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inferior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vestibulocerebellum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Some projections to fastigial nuclei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inferior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Vestibular nuclei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5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281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5214A-4C36-2B13-DD18-C559E561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Neuroscience6e-Fig-19-09-1R.jpg">
            <a:extLst>
              <a:ext uri="{FF2B5EF4-FFF2-40B4-BE49-F238E27FC236}">
                <a16:creationId xmlns:a16="http://schemas.microsoft.com/office/drawing/2014/main" id="{DD51F6F6-85D8-F8BA-9C60-C51991C4A9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9"/>
          <a:stretch/>
        </p:blipFill>
        <p:spPr>
          <a:xfrm>
            <a:off x="5184046" y="956913"/>
            <a:ext cx="7007954" cy="5901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712C6-FFF2-2EB0-E137-00D0B5B0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6913"/>
          </a:xfrm>
        </p:spPr>
        <p:txBody>
          <a:bodyPr/>
          <a:lstStyle/>
          <a:p>
            <a:pPr algn="ctr"/>
            <a:r>
              <a:rPr lang="en-US" dirty="0"/>
              <a:t>Layers of the Cerebellum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2DD8D-9A59-0163-5839-D2290C21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9" y="956913"/>
            <a:ext cx="4795858" cy="5901087"/>
          </a:xfrm>
        </p:spPr>
        <p:txBody>
          <a:bodyPr>
            <a:normAutofit/>
          </a:bodyPr>
          <a:lstStyle/>
          <a:p>
            <a:r>
              <a:rPr lang="en-US" sz="2400" b="1" dirty="0"/>
              <a:t>Molecular layer</a:t>
            </a:r>
          </a:p>
          <a:p>
            <a:pPr lvl="1"/>
            <a:r>
              <a:rPr lang="en-US" i="1" dirty="0"/>
              <a:t>Basket</a:t>
            </a:r>
            <a:r>
              <a:rPr lang="en-US" dirty="0"/>
              <a:t> &amp; </a:t>
            </a:r>
            <a:r>
              <a:rPr lang="en-US" i="1" dirty="0"/>
              <a:t>stellate</a:t>
            </a:r>
            <a:r>
              <a:rPr lang="en-US" dirty="0"/>
              <a:t> cell bodies</a:t>
            </a:r>
          </a:p>
          <a:p>
            <a:pPr lvl="1"/>
            <a:r>
              <a:rPr lang="en-US" i="1" dirty="0"/>
              <a:t>Purkinje</a:t>
            </a:r>
            <a:r>
              <a:rPr lang="en-US" dirty="0"/>
              <a:t> cell dendrites</a:t>
            </a:r>
          </a:p>
          <a:p>
            <a:pPr lvl="1"/>
            <a:r>
              <a:rPr lang="en-US" i="1" dirty="0"/>
              <a:t>Granule</a:t>
            </a:r>
            <a:r>
              <a:rPr lang="en-US" dirty="0"/>
              <a:t> cell axons (</a:t>
            </a:r>
            <a:r>
              <a:rPr lang="en-US" b="1" i="1" dirty="0"/>
              <a:t>parallel fibers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sz="2400" b="1" dirty="0"/>
              <a:t>Basket cells and Stellate cells: </a:t>
            </a:r>
            <a:r>
              <a:rPr lang="en-US" sz="2400" dirty="0"/>
              <a:t>inhibitory interneurons that inhibit Purkinje cells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6266EB-22DE-12C1-69DA-51A445D8D80F}"/>
                  </a:ext>
                </a:extLst>
              </p14:cNvPr>
              <p14:cNvContentPartPr/>
              <p14:nvPr/>
            </p14:nvContentPartPr>
            <p14:xfrm>
              <a:off x="5075050" y="1284146"/>
              <a:ext cx="5394600" cy="4918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6266EB-22DE-12C1-69DA-51A445D8D8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39410" y="1248146"/>
                <a:ext cx="5466240" cy="49903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FC5728F-D4B3-3DC4-D3D7-57945C44F9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826" r="3883" b="52077"/>
          <a:stretch>
            <a:fillRect/>
          </a:stretch>
        </p:blipFill>
        <p:spPr>
          <a:xfrm>
            <a:off x="2796209" y="4693925"/>
            <a:ext cx="2387838" cy="216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5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Neuroscience6e-Fig-19-09-1R.jpg">
            <a:extLst>
              <a:ext uri="{FF2B5EF4-FFF2-40B4-BE49-F238E27FC236}">
                <a16:creationId xmlns:a16="http://schemas.microsoft.com/office/drawing/2014/main" id="{F088A535-005D-4375-919B-9E53CA9C86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9"/>
          <a:stretch/>
        </p:blipFill>
        <p:spPr>
          <a:xfrm>
            <a:off x="5184046" y="956913"/>
            <a:ext cx="7007954" cy="5901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A0EF7A-D510-496E-84DC-8C7A77F4F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6913"/>
          </a:xfrm>
        </p:spPr>
        <p:txBody>
          <a:bodyPr/>
          <a:lstStyle/>
          <a:p>
            <a:pPr algn="ctr"/>
            <a:r>
              <a:rPr lang="en-US" dirty="0"/>
              <a:t>Layers of the Cerebellum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137B-770D-4FBE-8C60-CB49E0D09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9" y="956913"/>
            <a:ext cx="4795858" cy="5901087"/>
          </a:xfrm>
        </p:spPr>
        <p:txBody>
          <a:bodyPr>
            <a:normAutofit/>
          </a:bodyPr>
          <a:lstStyle/>
          <a:p>
            <a:r>
              <a:rPr lang="en-US" b="1" dirty="0"/>
              <a:t>Purkinje cell layer</a:t>
            </a:r>
          </a:p>
          <a:p>
            <a:pPr lvl="1"/>
            <a:r>
              <a:rPr lang="en-US" i="1" dirty="0"/>
              <a:t>Purkinje</a:t>
            </a:r>
            <a:r>
              <a:rPr lang="en-US" dirty="0"/>
              <a:t> cell bodies</a:t>
            </a:r>
          </a:p>
          <a:p>
            <a:pPr lvl="1"/>
            <a:r>
              <a:rPr lang="en-US" dirty="0"/>
              <a:t>Climbing fiber synaptic connections</a:t>
            </a:r>
          </a:p>
          <a:p>
            <a:r>
              <a:rPr lang="en-US" b="1" dirty="0"/>
              <a:t>Purkinje cells: GABAergic</a:t>
            </a:r>
            <a:r>
              <a:rPr lang="en-US" dirty="0"/>
              <a:t> neuron inhibiting neurons in the deep cerebellar nuclei </a:t>
            </a:r>
          </a:p>
          <a:p>
            <a:r>
              <a:rPr lang="en-US" b="1" dirty="0"/>
              <a:t>Climbing Fibers:</a:t>
            </a:r>
            <a:r>
              <a:rPr lang="en-US" dirty="0"/>
              <a:t> axons from the olivary nucleus of the medulla oblongata that use glutamate to excite Purkinje cells </a:t>
            </a:r>
            <a:r>
              <a:rPr lang="en-US" b="1" dirty="0"/>
              <a:t>and </a:t>
            </a:r>
            <a:r>
              <a:rPr lang="en-US" dirty="0"/>
              <a:t>neurons in the deep nuclei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122FB6-0516-D847-B67F-961B9C04DDD0}"/>
                  </a:ext>
                </a:extLst>
              </p14:cNvPr>
              <p14:cNvContentPartPr/>
              <p14:nvPr/>
            </p14:nvContentPartPr>
            <p14:xfrm>
              <a:off x="6506410" y="2517506"/>
              <a:ext cx="3976200" cy="3619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1122FB6-0516-D847-B67F-961B9C04DD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0410" y="2481506"/>
                <a:ext cx="4047840" cy="36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05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B65C-76CC-A61F-7A06-0C5E17ED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Neuroscience6e-Fig-19-09-1R.jpg">
            <a:extLst>
              <a:ext uri="{FF2B5EF4-FFF2-40B4-BE49-F238E27FC236}">
                <a16:creationId xmlns:a16="http://schemas.microsoft.com/office/drawing/2014/main" id="{9A6329BC-BBE5-E944-5597-4BEFDACAC7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9"/>
          <a:stretch/>
        </p:blipFill>
        <p:spPr>
          <a:xfrm>
            <a:off x="5184046" y="956913"/>
            <a:ext cx="7007954" cy="5901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A8EFE6-7953-D8CB-4307-C25D3FE9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6913"/>
          </a:xfrm>
        </p:spPr>
        <p:txBody>
          <a:bodyPr/>
          <a:lstStyle/>
          <a:p>
            <a:pPr algn="ctr"/>
            <a:r>
              <a:rPr lang="en-US" dirty="0"/>
              <a:t>Layers of the Cerebellum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E3735-7272-329D-4B66-7DA4693EB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9" y="956913"/>
            <a:ext cx="4795858" cy="5901087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/>
              <a:t>Granule cell layer</a:t>
            </a:r>
          </a:p>
          <a:p>
            <a:pPr lvl="1"/>
            <a:r>
              <a:rPr lang="en-US" sz="2600" i="1" dirty="0"/>
              <a:t>Granule</a:t>
            </a:r>
            <a:r>
              <a:rPr lang="en-US" sz="2600" dirty="0"/>
              <a:t> &amp; </a:t>
            </a:r>
            <a:r>
              <a:rPr lang="en-US" sz="2600" i="1" dirty="0"/>
              <a:t>Golgi </a:t>
            </a:r>
            <a:r>
              <a:rPr lang="en-US" sz="2600" dirty="0"/>
              <a:t>cell bodies</a:t>
            </a:r>
          </a:p>
          <a:p>
            <a:pPr lvl="1"/>
            <a:r>
              <a:rPr lang="en-US" sz="2600" dirty="0"/>
              <a:t>Climbing fiber and Purkinje cell axons</a:t>
            </a:r>
          </a:p>
          <a:p>
            <a:pPr lvl="1"/>
            <a:r>
              <a:rPr lang="en-US" sz="2600" dirty="0"/>
              <a:t>Mossy fiber synaptic connections</a:t>
            </a:r>
          </a:p>
          <a:p>
            <a:r>
              <a:rPr lang="en-US" sz="2600" b="1" dirty="0"/>
              <a:t>Granule cells: Glutamatergic</a:t>
            </a:r>
            <a:r>
              <a:rPr lang="en-US" sz="2600" dirty="0"/>
              <a:t> cells that excite Purkinje cells via axonal branches called </a:t>
            </a:r>
            <a:r>
              <a:rPr lang="en-US" sz="2600" i="1" dirty="0"/>
              <a:t>parallel fibers</a:t>
            </a:r>
          </a:p>
          <a:p>
            <a:pPr lvl="1"/>
            <a:r>
              <a:rPr lang="en-US" sz="2600" dirty="0"/>
              <a:t>Activated by </a:t>
            </a:r>
            <a:r>
              <a:rPr lang="en-US" sz="2600" i="1" dirty="0"/>
              <a:t>mossy fibers</a:t>
            </a:r>
          </a:p>
          <a:p>
            <a:r>
              <a:rPr lang="en-US" sz="2600" b="1" dirty="0"/>
              <a:t>Mossy Fibers: </a:t>
            </a:r>
            <a:r>
              <a:rPr lang="en-US" sz="2600" dirty="0"/>
              <a:t>afferent fibers that activate granule cells (glutamate) </a:t>
            </a:r>
            <a:r>
              <a:rPr lang="en-US" sz="2600" b="1" dirty="0"/>
              <a:t>&amp;</a:t>
            </a:r>
            <a:r>
              <a:rPr lang="en-US" sz="2600" dirty="0"/>
              <a:t> cells of the deep cerebellar nuclei </a:t>
            </a:r>
          </a:p>
          <a:p>
            <a:r>
              <a:rPr lang="en-US" sz="2600" b="1" dirty="0"/>
              <a:t>Golgi cells:  </a:t>
            </a:r>
            <a:r>
              <a:rPr lang="en-US" sz="2600" dirty="0"/>
              <a:t>inhibitory interneurons that inhibit granule cells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FBEB070-552B-A649-FE42-6C36041A1952}"/>
                  </a:ext>
                </a:extLst>
              </p14:cNvPr>
              <p14:cNvContentPartPr/>
              <p14:nvPr/>
            </p14:nvContentPartPr>
            <p14:xfrm>
              <a:off x="6837250" y="2888666"/>
              <a:ext cx="3685320" cy="3154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FBEB070-552B-A649-FE42-6C36041A19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1250" y="2852666"/>
                <a:ext cx="3756960" cy="322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278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3ABE-E4A8-AF05-8EF7-EE6A6D0F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F149-A657-986E-5D6D-6717451F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803391" cy="11386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Circuits Within the Cerebellum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55F16-CA0F-1123-AC93-517FF7893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57" y="1138687"/>
            <a:ext cx="5382634" cy="5719313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/>
              <a:t>Deep excitatory loop</a:t>
            </a:r>
          </a:p>
          <a:p>
            <a:pPr lvl="1"/>
            <a:r>
              <a:rPr lang="en-US" sz="2600" dirty="0"/>
              <a:t>Cells of the deep nuclei receive excitatory signals from climbing fibers (from inferior olive) and mossy fibers (all other afferents).</a:t>
            </a:r>
          </a:p>
          <a:p>
            <a:r>
              <a:rPr lang="en-US" sz="2600" b="1" dirty="0"/>
              <a:t>Cortical inhibitory loop</a:t>
            </a:r>
          </a:p>
          <a:p>
            <a:pPr lvl="1"/>
            <a:r>
              <a:rPr lang="en-US" sz="2600" dirty="0"/>
              <a:t>Purkinje cells receive excitatory signals from climbing fibers and parallel fibers.</a:t>
            </a:r>
          </a:p>
          <a:p>
            <a:pPr lvl="2"/>
            <a:r>
              <a:rPr lang="en-US" sz="2600" dirty="0"/>
              <a:t>Granule cells are activated by mossy fibers</a:t>
            </a:r>
          </a:p>
          <a:p>
            <a:pPr lvl="1"/>
            <a:r>
              <a:rPr lang="en-US" sz="2600" dirty="0"/>
              <a:t>Purkinje cell receive inhibitory signals from basket and stellate cells.</a:t>
            </a:r>
          </a:p>
          <a:p>
            <a:pPr lvl="1"/>
            <a:r>
              <a:rPr lang="en-US" sz="2600" dirty="0"/>
              <a:t>Allows for “motor error” to be addressed while movement is ongoing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3041E-2100-65D0-89E1-CA5E87EFA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91" y="0"/>
            <a:ext cx="638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5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12C27-A45C-4937-452C-195C8168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D7F6-CC65-53B3-74C6-E5133967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 of Cells and Fibers of the Cerebellum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ED0A21-12B9-A7C2-A628-5740B1BC7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069347"/>
              </p:ext>
            </p:extLst>
          </p:nvPr>
        </p:nvGraphicFramePr>
        <p:xfrm>
          <a:off x="742122" y="1690688"/>
          <a:ext cx="10611680" cy="438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22336">
                  <a:extLst>
                    <a:ext uri="{9D8B030D-6E8A-4147-A177-3AD203B41FA5}">
                      <a16:colId xmlns:a16="http://schemas.microsoft.com/office/drawing/2014/main" val="1984910946"/>
                    </a:ext>
                  </a:extLst>
                </a:gridCol>
                <a:gridCol w="2122336">
                  <a:extLst>
                    <a:ext uri="{9D8B030D-6E8A-4147-A177-3AD203B41FA5}">
                      <a16:colId xmlns:a16="http://schemas.microsoft.com/office/drawing/2014/main" val="272178779"/>
                    </a:ext>
                  </a:extLst>
                </a:gridCol>
                <a:gridCol w="2122336">
                  <a:extLst>
                    <a:ext uri="{9D8B030D-6E8A-4147-A177-3AD203B41FA5}">
                      <a16:colId xmlns:a16="http://schemas.microsoft.com/office/drawing/2014/main" val="3380996318"/>
                    </a:ext>
                  </a:extLst>
                </a:gridCol>
                <a:gridCol w="2122336">
                  <a:extLst>
                    <a:ext uri="{9D8B030D-6E8A-4147-A177-3AD203B41FA5}">
                      <a16:colId xmlns:a16="http://schemas.microsoft.com/office/drawing/2014/main" val="180680884"/>
                    </a:ext>
                  </a:extLst>
                </a:gridCol>
                <a:gridCol w="2122336">
                  <a:extLst>
                    <a:ext uri="{9D8B030D-6E8A-4147-A177-3AD203B41FA5}">
                      <a16:colId xmlns:a16="http://schemas.microsoft.com/office/drawing/2014/main" val="2357681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Cell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Fiber name 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(if applicable)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Input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Output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Output type (excitatory or inhibitory)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4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Basket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25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Stellate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306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Golgi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228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Purkinje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813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Granule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99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Mossy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57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Climbing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68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014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396A24-5AFF-5C6A-00C0-9EA008F67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713936"/>
              </p:ext>
            </p:extLst>
          </p:nvPr>
        </p:nvGraphicFramePr>
        <p:xfrm>
          <a:off x="0" y="0"/>
          <a:ext cx="12192000" cy="69229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6278">
                  <a:extLst>
                    <a:ext uri="{9D8B030D-6E8A-4147-A177-3AD203B41FA5}">
                      <a16:colId xmlns:a16="http://schemas.microsoft.com/office/drawing/2014/main" val="1984910946"/>
                    </a:ext>
                  </a:extLst>
                </a:gridCol>
                <a:gridCol w="2160105">
                  <a:extLst>
                    <a:ext uri="{9D8B030D-6E8A-4147-A177-3AD203B41FA5}">
                      <a16:colId xmlns:a16="http://schemas.microsoft.com/office/drawing/2014/main" val="272178779"/>
                    </a:ext>
                  </a:extLst>
                </a:gridCol>
                <a:gridCol w="4558747">
                  <a:extLst>
                    <a:ext uri="{9D8B030D-6E8A-4147-A177-3AD203B41FA5}">
                      <a16:colId xmlns:a16="http://schemas.microsoft.com/office/drawing/2014/main" val="3380996318"/>
                    </a:ext>
                  </a:extLst>
                </a:gridCol>
                <a:gridCol w="1643270">
                  <a:extLst>
                    <a:ext uri="{9D8B030D-6E8A-4147-A177-3AD203B41FA5}">
                      <a16:colId xmlns:a16="http://schemas.microsoft.com/office/drawing/2014/main" val="18068088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357681638"/>
                    </a:ext>
                  </a:extLst>
                </a:gridCol>
              </a:tblGrid>
              <a:tr h="1390332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Cell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Fiber name 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(if applicable)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Input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Output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Output type (excitatory or inhibitory)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46998"/>
                  </a:ext>
                </a:extLst>
              </a:tr>
              <a:tr h="534743">
                <a:tc>
                  <a:txBody>
                    <a:bodyPr/>
                    <a:lstStyle/>
                    <a:p>
                      <a:r>
                        <a:rPr lang="en-US" sz="2000" dirty="0"/>
                        <a:t>Basket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Purkinje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inhibitory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255990"/>
                  </a:ext>
                </a:extLst>
              </a:tr>
              <a:tr h="534743">
                <a:tc>
                  <a:txBody>
                    <a:bodyPr/>
                    <a:lstStyle/>
                    <a:p>
                      <a:r>
                        <a:rPr lang="en-US" sz="2000" dirty="0"/>
                        <a:t>Stellate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Parallel fibers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Purkinje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inhibitory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306398"/>
                  </a:ext>
                </a:extLst>
              </a:tr>
              <a:tr h="534743">
                <a:tc>
                  <a:txBody>
                    <a:bodyPr/>
                    <a:lstStyle/>
                    <a:p>
                      <a:r>
                        <a:rPr lang="en-US" sz="2000" dirty="0"/>
                        <a:t>Golgi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Parallel fibers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Granule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inhibitory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228122"/>
                  </a:ext>
                </a:extLst>
              </a:tr>
              <a:tr h="883096">
                <a:tc>
                  <a:txBody>
                    <a:bodyPr/>
                    <a:lstStyle/>
                    <a:p>
                      <a:r>
                        <a:rPr lang="en-US" sz="2000" dirty="0"/>
                        <a:t>Purkinje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Parallel fibers, Climbing fibers, Stellate and basket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Deep nuclei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inhibitory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813806"/>
                  </a:ext>
                </a:extLst>
              </a:tr>
              <a:tr h="534743">
                <a:tc>
                  <a:txBody>
                    <a:bodyPr/>
                    <a:lstStyle/>
                    <a:p>
                      <a:r>
                        <a:rPr lang="en-US" sz="2000" dirty="0"/>
                        <a:t>Granule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Mossy fibers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Purkinje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excitatory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990971"/>
                  </a:ext>
                </a:extLst>
              </a:tr>
              <a:tr h="913075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Mossy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Most afferents except the inferior olive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Granule cells and deep nuclei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excitatory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57217"/>
                  </a:ext>
                </a:extLst>
              </a:tr>
              <a:tr h="534743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Climbing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Inferior olive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Purkinje cells and deep nuclei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excitatory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68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179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DB38-0055-AAC8-8ECA-379F28DB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95535" cy="169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Reducing Motor Error Increases Accuracy and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52436-3C4E-5033-3DAD-593507C9A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/>
          </a:bodyPr>
          <a:lstStyle/>
          <a:p>
            <a:r>
              <a:rPr lang="en-US" sz="2400" b="1" dirty="0"/>
              <a:t>Motor error: </a:t>
            </a:r>
            <a:r>
              <a:rPr lang="en-US" sz="2400" dirty="0"/>
              <a:t>the difference between the precision and accuracy of an </a:t>
            </a:r>
            <a:r>
              <a:rPr lang="en-US" sz="2400" i="1" dirty="0"/>
              <a:t>intended</a:t>
            </a:r>
            <a:r>
              <a:rPr lang="en-US" sz="2400" dirty="0"/>
              <a:t> and an </a:t>
            </a:r>
            <a:r>
              <a:rPr lang="en-US" sz="2400" i="1" dirty="0"/>
              <a:t>actual</a:t>
            </a:r>
            <a:r>
              <a:rPr lang="en-US" sz="2400" dirty="0"/>
              <a:t> movement. </a:t>
            </a:r>
          </a:p>
          <a:p>
            <a:pPr lvl="1"/>
            <a:r>
              <a:rPr lang="en-US" dirty="0"/>
              <a:t>Reduction of motor error is important for adapting to changing circumstances while a movement is being carried out.</a:t>
            </a:r>
          </a:p>
          <a:p>
            <a:r>
              <a:rPr lang="en-US" sz="2400" dirty="0"/>
              <a:t>Climbing fibers send information about motor error to Purkinje cells.</a:t>
            </a:r>
          </a:p>
          <a:p>
            <a:r>
              <a:rPr lang="en-US" sz="2400" dirty="0"/>
              <a:t>Discharge patterns of Purkinje cells modulate output of the deep nuclei.</a:t>
            </a:r>
          </a:p>
          <a:p>
            <a:r>
              <a:rPr lang="en-US" sz="2400" dirty="0"/>
              <a:t>Cells of the deep nuclei send corrective signals to 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45035-7839-244E-DB9B-AB5B3BC2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535" y="1"/>
            <a:ext cx="5896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8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B1D3-C1CF-2ED0-8672-9FB26F78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Damage to the Cerebellum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4506-119F-38A5-A48A-62A6595A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25563"/>
            <a:ext cx="10515599" cy="5532437"/>
          </a:xfrm>
        </p:spPr>
        <p:txBody>
          <a:bodyPr>
            <a:normAutofit/>
          </a:bodyPr>
          <a:lstStyle/>
          <a:p>
            <a:r>
              <a:rPr lang="en-US" sz="2400" dirty="0"/>
              <a:t>Cerebellar damage causes persistent errors in ongoing movements  (incoordination) </a:t>
            </a:r>
            <a:r>
              <a:rPr lang="en-US" sz="2400" b="1" dirty="0"/>
              <a:t>ipsilateral</a:t>
            </a:r>
            <a:r>
              <a:rPr lang="en-US" sz="2400" dirty="0"/>
              <a:t> to the site of damage.</a:t>
            </a:r>
          </a:p>
          <a:p>
            <a:r>
              <a:rPr lang="en-US" sz="2400" dirty="0"/>
              <a:t>Location specific due to topographical organization</a:t>
            </a:r>
          </a:p>
          <a:p>
            <a:r>
              <a:rPr lang="en-US" sz="2400" dirty="0"/>
              <a:t>Damage to </a:t>
            </a:r>
            <a:r>
              <a:rPr lang="en-US" sz="2400" i="1" dirty="0" err="1"/>
              <a:t>cerebrocerebellum</a:t>
            </a:r>
            <a:r>
              <a:rPr lang="en-US" sz="2400" dirty="0"/>
              <a:t> impairs highly skilled movement and motor learning.</a:t>
            </a:r>
          </a:p>
          <a:p>
            <a:r>
              <a:rPr lang="en-US" sz="2400" dirty="0"/>
              <a:t>Damage to </a:t>
            </a:r>
            <a:r>
              <a:rPr lang="en-US" sz="2400" i="1" dirty="0" err="1"/>
              <a:t>vestibulocerebellum</a:t>
            </a:r>
            <a:r>
              <a:rPr lang="en-US" sz="2400" i="1" dirty="0"/>
              <a:t> </a:t>
            </a:r>
            <a:r>
              <a:rPr lang="en-US" sz="2400" dirty="0"/>
              <a:t>results in difficulty standing upright and maintaining fixation with the eyes</a:t>
            </a:r>
          </a:p>
          <a:p>
            <a:r>
              <a:rPr lang="en-US" sz="2400" i="1" dirty="0"/>
              <a:t>Cerebellar motor syndrome</a:t>
            </a:r>
          </a:p>
          <a:p>
            <a:pPr lvl="1"/>
            <a:r>
              <a:rPr lang="en-US" dirty="0"/>
              <a:t>Damage to </a:t>
            </a:r>
            <a:r>
              <a:rPr lang="en-US" dirty="0" err="1"/>
              <a:t>Spinocerebellum</a:t>
            </a:r>
            <a:endParaRPr lang="en-US" dirty="0"/>
          </a:p>
          <a:p>
            <a:pPr lvl="1"/>
            <a:r>
              <a:rPr lang="en-US" b="1" dirty="0"/>
              <a:t>Ataxia: </a:t>
            </a:r>
            <a:r>
              <a:rPr lang="en-US" dirty="0"/>
              <a:t>inability to coordinate voluntary muscular movements</a:t>
            </a:r>
          </a:p>
          <a:p>
            <a:pPr lvl="1"/>
            <a:r>
              <a:rPr lang="en-US" b="1" dirty="0"/>
              <a:t>Intention tremor:</a:t>
            </a:r>
            <a:r>
              <a:rPr lang="en-US" dirty="0"/>
              <a:t> task-related shakiness of the hands</a:t>
            </a:r>
          </a:p>
          <a:p>
            <a:pPr lvl="1"/>
            <a:r>
              <a:rPr lang="en-US" b="1" dirty="0"/>
              <a:t>Dysdiadochokinesia</a:t>
            </a:r>
            <a:r>
              <a:rPr lang="en-US" dirty="0"/>
              <a:t>:  deficits in rapidly alternating movements</a:t>
            </a:r>
          </a:p>
          <a:p>
            <a:pPr lvl="1"/>
            <a:r>
              <a:rPr lang="en-US" b="1" dirty="0"/>
              <a:t>Dysmetria: </a:t>
            </a:r>
            <a:r>
              <a:rPr lang="en-US" dirty="0"/>
              <a:t>over-reaching and under-reaching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53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6321-5872-4587-0556-0C1722D4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 with Cerebellar Motor Syndrome</a:t>
            </a:r>
          </a:p>
        </p:txBody>
      </p:sp>
      <p:pic>
        <p:nvPicPr>
          <p:cNvPr id="4" name="Online Media 5" title="Abnormal Coordination Exam ; Finger-to-nose">
            <a:hlinkClick r:id="" action="ppaction://media"/>
            <a:extLst>
              <a:ext uri="{FF2B5EF4-FFF2-40B4-BE49-F238E27FC236}">
                <a16:creationId xmlns:a16="http://schemas.microsoft.com/office/drawing/2014/main" id="{7280C71F-AFF2-99B7-395C-CFF40884A32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407709" y="1325563"/>
            <a:ext cx="7376582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8445-121F-0777-8782-964A8261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6"/>
          </a:xfrm>
        </p:spPr>
        <p:txBody>
          <a:bodyPr/>
          <a:lstStyle/>
          <a:p>
            <a:pPr algn="ctr"/>
            <a:r>
              <a:rPr lang="en-US" dirty="0"/>
              <a:t>Non-Motor Impairments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D5AB3-7D9A-43A8-59E1-F4F8ACC9B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714582" cy="5106247"/>
          </a:xfrm>
        </p:spPr>
        <p:txBody>
          <a:bodyPr>
            <a:normAutofit/>
          </a:bodyPr>
          <a:lstStyle/>
          <a:p>
            <a:r>
              <a:rPr lang="en-US" sz="2400" dirty="0"/>
              <a:t>Schmahmann’s Syndrome</a:t>
            </a:r>
          </a:p>
          <a:p>
            <a:pPr lvl="1"/>
            <a:r>
              <a:rPr lang="en-US" dirty="0"/>
              <a:t>Lesions to posterior lateral cerebellar cortex</a:t>
            </a:r>
          </a:p>
          <a:p>
            <a:pPr lvl="1"/>
            <a:r>
              <a:rPr lang="en-US" dirty="0"/>
              <a:t>Impaired executive functioning, visual spatial processing, linguistic abilities, and emotion regulation.</a:t>
            </a:r>
          </a:p>
          <a:p>
            <a:pPr lvl="2"/>
            <a:r>
              <a:rPr lang="en-US" sz="2400" i="1" dirty="0"/>
              <a:t>Dysmetria</a:t>
            </a:r>
            <a:r>
              <a:rPr lang="en-US" sz="2400" dirty="0"/>
              <a:t> of thought and emotion</a:t>
            </a:r>
          </a:p>
          <a:p>
            <a:pPr lvl="2"/>
            <a:endParaRPr lang="en-US" sz="2400" dirty="0"/>
          </a:p>
          <a:p>
            <a:r>
              <a:rPr lang="en-US" sz="2400" dirty="0"/>
              <a:t>Abnormal cerebellar development linked to:</a:t>
            </a:r>
          </a:p>
          <a:p>
            <a:pPr lvl="1"/>
            <a:r>
              <a:rPr lang="en-US" dirty="0"/>
              <a:t>Intellectual disability</a:t>
            </a:r>
          </a:p>
          <a:p>
            <a:pPr lvl="1"/>
            <a:r>
              <a:rPr lang="en-US" dirty="0"/>
              <a:t>Down syndrome</a:t>
            </a:r>
          </a:p>
          <a:p>
            <a:pPr lvl="1"/>
            <a:r>
              <a:rPr lang="en-US" dirty="0"/>
              <a:t>ASD</a:t>
            </a:r>
          </a:p>
          <a:p>
            <a:pPr lvl="1"/>
            <a:r>
              <a:rPr lang="en-US" dirty="0"/>
              <a:t>ADHD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2765B-4D10-839D-43A1-2BA46D410B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560" r="37500"/>
          <a:stretch>
            <a:fillRect/>
          </a:stretch>
        </p:blipFill>
        <p:spPr>
          <a:xfrm>
            <a:off x="7552782" y="1690689"/>
            <a:ext cx="4639218" cy="2918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99690E-3FA7-D4DB-7CB9-487BC9BE8E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39" t="29991" b="27124"/>
          <a:stretch>
            <a:fillRect/>
          </a:stretch>
        </p:blipFill>
        <p:spPr>
          <a:xfrm>
            <a:off x="7552782" y="4609179"/>
            <a:ext cx="4639218" cy="21877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354C5F-A70A-A370-4CA5-5A9F8262988F}"/>
              </a:ext>
            </a:extLst>
          </p:cNvPr>
          <p:cNvSpPr/>
          <p:nvPr/>
        </p:nvSpPr>
        <p:spPr>
          <a:xfrm>
            <a:off x="11158330" y="1690689"/>
            <a:ext cx="1033670" cy="1834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2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2805</TotalTime>
  <Words>1225</Words>
  <Application>Microsoft Office PowerPoint</Application>
  <PresentationFormat>Widescreen</PresentationFormat>
  <Paragraphs>273</Paragraphs>
  <Slides>25</Slides>
  <Notes>20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Modulation of Movement by the Cerebellum</vt:lpstr>
      <vt:lpstr>Learning objectives</vt:lpstr>
      <vt:lpstr>Four Neural Centers for Movement</vt:lpstr>
      <vt:lpstr>Cerebellar Hypoplasia</vt:lpstr>
      <vt:lpstr>PowerPoint Presentation</vt:lpstr>
      <vt:lpstr>The Cerebellum</vt:lpstr>
      <vt:lpstr>Parts of the Cerebellum</vt:lpstr>
      <vt:lpstr>Functional Subdivisions of the  Cerebellar Cortex</vt:lpstr>
      <vt:lpstr>The Peduncles</vt:lpstr>
      <vt:lpstr>Major inputs to the Cerebellum</vt:lpstr>
      <vt:lpstr>Major Outputs of the Cerebellum</vt:lpstr>
      <vt:lpstr>Superior Peduncle Pathways</vt:lpstr>
      <vt:lpstr>Inferior Peduncle Efferent Pathways</vt:lpstr>
      <vt:lpstr>Cerebellum Pathways Summary</vt:lpstr>
      <vt:lpstr>Cerebellum Pathways Summary</vt:lpstr>
      <vt:lpstr>Layers of the Cerebellum </vt:lpstr>
      <vt:lpstr>Layers of the Cerebellum </vt:lpstr>
      <vt:lpstr>Layers of the Cerebellum </vt:lpstr>
      <vt:lpstr>Circuits Within the Cerebellum </vt:lpstr>
      <vt:lpstr>Summary of Cells and Fibers of the Cerebellum</vt:lpstr>
      <vt:lpstr>PowerPoint Presentation</vt:lpstr>
      <vt:lpstr>Reducing Motor Error Increases Accuracy and Precision</vt:lpstr>
      <vt:lpstr>Damage to the Cerebellum</vt:lpstr>
      <vt:lpstr>Individual with Cerebellar Motor Syndrome</vt:lpstr>
      <vt:lpstr>Non-Motor Impairments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Nicole</dc:creator>
  <cp:lastModifiedBy>Phillips, Nicole</cp:lastModifiedBy>
  <cp:revision>288</cp:revision>
  <dcterms:created xsi:type="dcterms:W3CDTF">2025-10-21T15:15:45Z</dcterms:created>
  <dcterms:modified xsi:type="dcterms:W3CDTF">2026-04-15T20:40:05Z</dcterms:modified>
</cp:coreProperties>
</file>