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81" r:id="rId3"/>
    <p:sldId id="262" r:id="rId4"/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82" r:id="rId13"/>
    <p:sldId id="32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FFAB"/>
    <a:srgbClr val="29FF8A"/>
    <a:srgbClr val="00E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69275" autoAdjust="0"/>
  </p:normalViewPr>
  <p:slideViewPr>
    <p:cSldViewPr snapToGrid="0">
      <p:cViewPr varScale="1">
        <p:scale>
          <a:sx n="44" d="100"/>
          <a:sy n="44" d="100"/>
        </p:scale>
        <p:origin x="1532" y="2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F88D-9B42-4438-91E8-29989F1BA79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80816-5FFA-43E3-8011-C9222720B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32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36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02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47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20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5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39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97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46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78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56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Decreased </a:t>
            </a:r>
            <a:r>
              <a:rPr lang="en-US" dirty="0" err="1"/>
              <a:t>dlpfc</a:t>
            </a:r>
            <a:r>
              <a:rPr lang="en-US" dirty="0"/>
              <a:t> and </a:t>
            </a:r>
            <a:r>
              <a:rPr lang="en-US" dirty="0" err="1"/>
              <a:t>pcc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increase in activity of brain regions critical for emotional processing, coupled with a marked decrease in the influence of the prefrontal cortex, presumably explains some characteristics of dreams (e.g., their heightened emotionality in REM sleep and their often inappropriate social content).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33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33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31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2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8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95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80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93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43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9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35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1324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40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87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7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51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3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638C3-472F-4F90-8B44-0974D7407FB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14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sa/3.0/" TargetMode="External"/><Relationship Id="rId5" Type="http://schemas.openxmlformats.org/officeDocument/2006/relationships/hyperlink" Target="http://geekymathteacher.com/" TargetMode="External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9400-9578-42F3-9082-403790CE68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Cortical States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DEF71-1F3F-4142-93C9-813A793B9B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By: Nicole Phillips</a:t>
            </a:r>
          </a:p>
        </p:txBody>
      </p:sp>
    </p:spTree>
    <p:extLst>
      <p:ext uri="{BB962C8B-B14F-4D97-AF65-F5344CB8AC3E}">
        <p14:creationId xmlns:p14="http://schemas.microsoft.com/office/powerpoint/2010/main" val="392758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32A9-6413-E3BE-3E02-5A23CC5B72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48623-6523-CBAF-C725-93C527FF8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82661"/>
            <a:ext cx="9905999" cy="4875339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Describe circadian rhythm and identify biological structures that help maintain circadian rhythm.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Recognize the 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biological and behavioral markers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different stages of sleep.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Describe how progression through sleep stages changes across a night of sleep as well as across the lifespan.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Identify the purposes of sleep and what happens to cognition and behavior when we do not get enough sleep.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Describe the default-mode network and its importance in cognitive functioning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9EA9-1AC7-4D83-81DD-6FD7009BB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2998726"/>
            <a:ext cx="8791575" cy="86054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Circadian Rhythm</a:t>
            </a:r>
          </a:p>
        </p:txBody>
      </p:sp>
    </p:spTree>
    <p:extLst>
      <p:ext uri="{BB962C8B-B14F-4D97-AF65-F5344CB8AC3E}">
        <p14:creationId xmlns:p14="http://schemas.microsoft.com/office/powerpoint/2010/main" val="599457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6440-D262-4972-B631-15319A14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Circadian rhythm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7A5B-A111-4D52-A643-59DF99A4D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78570"/>
            <a:ext cx="5321409" cy="519588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A pattern of behavioral, physiological, or biochemical fluctuation that has a 24 hour period.</a:t>
            </a:r>
          </a:p>
          <a:p>
            <a:pPr lvl="1">
              <a:spcBef>
                <a:spcPct val="40000"/>
              </a:spcBef>
            </a:pPr>
            <a:r>
              <a:rPr lang="en-US" altLang="en-US" sz="2800" b="1" dirty="0">
                <a:solidFill>
                  <a:schemeClr val="bg1"/>
                </a:solidFill>
                <a:effectLst/>
              </a:rPr>
              <a:t>Diurnal: </a:t>
            </a:r>
            <a:r>
              <a:rPr lang="en-US" altLang="en-US" sz="2800" dirty="0">
                <a:solidFill>
                  <a:schemeClr val="bg1"/>
                </a:solidFill>
                <a:effectLst/>
              </a:rPr>
              <a:t>active during light</a:t>
            </a:r>
          </a:p>
          <a:p>
            <a:pPr lvl="1">
              <a:spcBef>
                <a:spcPct val="40000"/>
              </a:spcBef>
            </a:pPr>
            <a:r>
              <a:rPr lang="en-US" altLang="en-US" sz="2800" b="1" dirty="0">
                <a:solidFill>
                  <a:schemeClr val="bg1"/>
                </a:solidFill>
                <a:effectLst/>
              </a:rPr>
              <a:t>Nocturnal: </a:t>
            </a:r>
            <a:r>
              <a:rPr lang="en-US" altLang="en-US" sz="2800" dirty="0">
                <a:solidFill>
                  <a:schemeClr val="bg1"/>
                </a:solidFill>
                <a:effectLst/>
              </a:rPr>
              <a:t>active during dark</a:t>
            </a:r>
          </a:p>
          <a:p>
            <a:pPr marL="0" indent="0">
              <a:spcBef>
                <a:spcPct val="40000"/>
              </a:spcBef>
              <a:buNone/>
            </a:pPr>
            <a:endParaRPr lang="en-US" sz="320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endParaRPr lang="en-US" altLang="en-US" sz="2800" dirty="0">
              <a:solidFill>
                <a:schemeClr val="bg1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04857-EDD4-47F2-A898-C1E9452D8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410" y="1478570"/>
            <a:ext cx="4584589" cy="45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2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E6E9-BA8D-4A03-9F2B-CC6E5F3C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Light is an important cue for circadian rhythm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CD9777-24D0-4CDE-894A-924712380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697" y="1230904"/>
            <a:ext cx="3682303" cy="562709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A515C-EDA3-4166-8A1C-C810569C5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208" y="1675114"/>
            <a:ext cx="7194960" cy="252519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Delaying the onset of light/dark will cause a </a:t>
            </a:r>
            <a:r>
              <a:rPr lang="en-US" sz="2800" b="1" dirty="0">
                <a:solidFill>
                  <a:schemeClr val="bg1"/>
                </a:solidFill>
                <a:effectLst/>
              </a:rPr>
              <a:t>phase shift</a:t>
            </a:r>
            <a:r>
              <a:rPr lang="en-US" sz="2800" dirty="0">
                <a:solidFill>
                  <a:schemeClr val="bg1"/>
                </a:solidFill>
                <a:effectLst/>
              </a:rPr>
              <a:t>.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In constant darkness, the onset of activity each day will start to shift slightly.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6AAA8B-091D-4690-BBFB-B401128DDB62}"/>
              </a:ext>
            </a:extLst>
          </p:cNvPr>
          <p:cNvGrpSpPr/>
          <p:nvPr/>
        </p:nvGrpSpPr>
        <p:grpSpPr>
          <a:xfrm>
            <a:off x="4990920" y="4431142"/>
            <a:ext cx="3346248" cy="2499588"/>
            <a:chOff x="5163449" y="4151267"/>
            <a:chExt cx="3346248" cy="2499588"/>
          </a:xfrm>
        </p:grpSpPr>
        <p:pic>
          <p:nvPicPr>
            <p:cNvPr id="7" name="Picture 6" descr="A picture containing indoor, small, sitting, table&#10;&#10;Description automatically generated">
              <a:extLst>
                <a:ext uri="{FF2B5EF4-FFF2-40B4-BE49-F238E27FC236}">
                  <a16:creationId xmlns:a16="http://schemas.microsoft.com/office/drawing/2014/main" id="{B2C01F97-5D5F-4699-8CC0-BD03C92CA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5163449" y="4151267"/>
              <a:ext cx="3346248" cy="226875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B6B939-0028-4530-A38B-15D54A68C7E2}"/>
                </a:ext>
              </a:extLst>
            </p:cNvPr>
            <p:cNvSpPr txBox="1"/>
            <p:nvPr/>
          </p:nvSpPr>
          <p:spPr>
            <a:xfrm>
              <a:off x="5163449" y="6420023"/>
              <a:ext cx="33462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hlinkClick r:id="rId5" tooltip="http://geekymathteacher.com/"/>
                </a:rPr>
                <a:t>This Photo</a:t>
              </a:r>
              <a:r>
                <a:rPr lang="en-US" sz="900" dirty="0"/>
                <a:t> by Unknown Author is licensed under </a:t>
              </a:r>
              <a:r>
                <a:rPr lang="en-US" sz="900" dirty="0">
                  <a:hlinkClick r:id="rId6" tooltip="https://creativecommons.org/licenses/by-nc-sa/3.0/"/>
                </a:rPr>
                <a:t>CC BY-SA-NC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4834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7C782-D143-4BF8-AD23-4D3430C17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6205318" cy="19290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The Suprachiasmatic nucleus (SCN) of the hypothalamus controls circadian rhythm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703A5-A565-4D91-8DDB-0A547FE3C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29032"/>
            <a:ext cx="6046787" cy="472517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Lesions of the SCN throw off circadian rhythm.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When the SCN is transplanted into another animal, the host animal will follow the circadian rhythm of the donor animal.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Some axons of the optic tract synapse directly with the SCN!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5BF70-3372-4B9F-A2E8-0B21F1A1F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731" y="0"/>
            <a:ext cx="3700680" cy="2815804"/>
          </a:xfrm>
          <a:prstGeom prst="rect">
            <a:avLst/>
          </a:prstGeom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D095CD02-813C-4500-AAF3-4EEC66FA3DD3}"/>
              </a:ext>
            </a:extLst>
          </p:cNvPr>
          <p:cNvSpPr/>
          <p:nvPr/>
        </p:nvSpPr>
        <p:spPr>
          <a:xfrm>
            <a:off x="8882959" y="1153375"/>
            <a:ext cx="384436" cy="254527"/>
          </a:xfrm>
          <a:prstGeom prst="donut">
            <a:avLst>
              <a:gd name="adj" fmla="val 431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0FCB94-17CF-48AF-951F-6BD3643AC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429" y="2815803"/>
            <a:ext cx="1665982" cy="4042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CE8B01-E22E-4D52-B984-EE048E3D5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6731" y="2815803"/>
            <a:ext cx="2034698" cy="406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2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BF68C-E8D1-4509-A184-E29945256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15164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Cellular cycles in the Mammalian SCN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84FA7-D121-42E6-902F-8A3C6A4B258B}"/>
              </a:ext>
            </a:extLst>
          </p:cNvPr>
          <p:cNvSpPr/>
          <p:nvPr/>
        </p:nvSpPr>
        <p:spPr>
          <a:xfrm>
            <a:off x="4497699" y="1845742"/>
            <a:ext cx="1213128" cy="6068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019A0D-92FA-4A7E-9CE5-ABACFEB7F1EF}"/>
              </a:ext>
            </a:extLst>
          </p:cNvPr>
          <p:cNvSpPr/>
          <p:nvPr/>
        </p:nvSpPr>
        <p:spPr>
          <a:xfrm>
            <a:off x="6847206" y="1151649"/>
            <a:ext cx="957942" cy="8295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E4B23C-2285-4452-8392-0BB024C46405}"/>
              </a:ext>
            </a:extLst>
          </p:cNvPr>
          <p:cNvSpPr/>
          <p:nvPr/>
        </p:nvSpPr>
        <p:spPr>
          <a:xfrm>
            <a:off x="6156277" y="3835236"/>
            <a:ext cx="1648872" cy="3775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4C6FB-5371-42EF-929F-16B6350D17ED}"/>
              </a:ext>
            </a:extLst>
          </p:cNvPr>
          <p:cNvSpPr/>
          <p:nvPr/>
        </p:nvSpPr>
        <p:spPr>
          <a:xfrm>
            <a:off x="6781892" y="4145625"/>
            <a:ext cx="1023256" cy="66586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C0811D-6193-86FA-97D5-75428DFF6B05}"/>
              </a:ext>
            </a:extLst>
          </p:cNvPr>
          <p:cNvSpPr/>
          <p:nvPr/>
        </p:nvSpPr>
        <p:spPr>
          <a:xfrm>
            <a:off x="4386850" y="6411686"/>
            <a:ext cx="1404442" cy="4463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11D21-A757-BAC9-82E9-D6D0501E085F}"/>
              </a:ext>
            </a:extLst>
          </p:cNvPr>
          <p:cNvSpPr/>
          <p:nvPr/>
        </p:nvSpPr>
        <p:spPr>
          <a:xfrm>
            <a:off x="4687571" y="4024003"/>
            <a:ext cx="820692" cy="3775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F92674-B81C-380D-7C2F-751B1A54CD8B}"/>
              </a:ext>
            </a:extLst>
          </p:cNvPr>
          <p:cNvSpPr/>
          <p:nvPr/>
        </p:nvSpPr>
        <p:spPr>
          <a:xfrm>
            <a:off x="4386850" y="2572422"/>
            <a:ext cx="936356" cy="5742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9C8366-E747-9F34-BC5A-B68A44719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851" y="1151649"/>
            <a:ext cx="3418297" cy="570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3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4" grpId="0" animBg="1"/>
      <p:bldP spid="5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EBA5-756A-4496-A1F1-6271F089D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3032918"/>
            <a:ext cx="8791575" cy="7921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Sleep </a:t>
            </a:r>
          </a:p>
        </p:txBody>
      </p:sp>
    </p:spTree>
    <p:extLst>
      <p:ext uri="{BB962C8B-B14F-4D97-AF65-F5344CB8AC3E}">
        <p14:creationId xmlns:p14="http://schemas.microsoft.com/office/powerpoint/2010/main" val="4115829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10472A-841E-46A7-99F7-5C1D4C4BC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629" y="1587577"/>
            <a:ext cx="6346371" cy="52704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AED588-E3D5-43E7-8319-93B750E7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Sleep is separated into 4 distinct stages Based on brain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F0C2E-E0CC-45A0-B2AD-A02A32338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041" y="1587578"/>
            <a:ext cx="4954588" cy="51146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Non-REM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N1= Theta waves (drowsy)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N2= Sleep spindles and           K-complexes, (light sleep)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N3= Delta waves                (Slow wave sleep)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Rapid Eye Movement (REM)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The progression through these stages (</a:t>
            </a:r>
            <a:r>
              <a:rPr lang="en-US" b="1" dirty="0">
                <a:solidFill>
                  <a:schemeClr val="bg1"/>
                </a:solidFill>
                <a:effectLst/>
              </a:rPr>
              <a:t>sleep cycle</a:t>
            </a:r>
            <a:r>
              <a:rPr lang="en-US" dirty="0">
                <a:solidFill>
                  <a:schemeClr val="bg1"/>
                </a:solidFill>
                <a:effectLst/>
              </a:rPr>
              <a:t>) typically takes about 90 minutes.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27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EFD55-8FB4-464C-AE56-13ED5425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Time spent in Sleep Stages Changes throughout a night of sleep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C5402-D192-411A-8630-34C5864FD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06" y="1465032"/>
            <a:ext cx="11047411" cy="5392968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DD1A1398-F952-4013-A9EA-CDE62EB828C1}"/>
              </a:ext>
            </a:extLst>
          </p:cNvPr>
          <p:cNvSpPr/>
          <p:nvPr/>
        </p:nvSpPr>
        <p:spPr>
          <a:xfrm>
            <a:off x="1453243" y="2661557"/>
            <a:ext cx="1845128" cy="3086100"/>
          </a:xfrm>
          <a:prstGeom prst="frame">
            <a:avLst>
              <a:gd name="adj1" fmla="val 276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A5BE148D-A816-4289-99AB-B541830C650A}"/>
              </a:ext>
            </a:extLst>
          </p:cNvPr>
          <p:cNvSpPr/>
          <p:nvPr/>
        </p:nvSpPr>
        <p:spPr>
          <a:xfrm>
            <a:off x="9699171" y="2661557"/>
            <a:ext cx="1605643" cy="3086100"/>
          </a:xfrm>
          <a:prstGeom prst="frame">
            <a:avLst>
              <a:gd name="adj1" fmla="val 276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01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8950-2B9E-423A-93A3-BD34968D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Time spent in sleep stages changes throughout the life-span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70AC9-6729-44C3-9D0C-52360CF65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027" y="1291870"/>
            <a:ext cx="8132769" cy="55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10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0972-E756-2FE5-EC5F-BF709628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A Neural marker of dreaming?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9A234-3F19-C3B9-9D2E-1D2314E82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50434"/>
            <a:ext cx="9905999" cy="1201130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effectLst/>
              </a:rPr>
              <a:t>Vivid dreams can be predicted if there is a lot of high-frequency EEG activity in posterior cortex regions.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7396B-F1AD-ACD9-3798-2FE1EE1D6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381" y="2651980"/>
            <a:ext cx="5357237" cy="420602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FB8439-E937-7DE6-D0A3-D961DBA171D3}"/>
              </a:ext>
            </a:extLst>
          </p:cNvPr>
          <p:cNvSpPr txBox="1">
            <a:spLocks/>
          </p:cNvSpPr>
          <p:nvPr/>
        </p:nvSpPr>
        <p:spPr>
          <a:xfrm>
            <a:off x="8958150" y="6300761"/>
            <a:ext cx="2781073" cy="557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dirty="0">
                <a:solidFill>
                  <a:schemeClr val="bg1"/>
                </a:solidFill>
                <a:effectLst/>
              </a:rPr>
              <a:t>Siclari et al, 2017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126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44EE-A6B3-FB65-BCB5-B65689EF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96003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Brain activity Changes during REM/Dreaming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71FC50-A298-6FA9-2494-BB21FD77B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9" y="1574573"/>
            <a:ext cx="12191999" cy="411153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A5F653E-11F7-F2A1-598E-9588FAFD3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686104"/>
            <a:ext cx="9905999" cy="117189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effectLst/>
              </a:rPr>
              <a:t>May help explain unique qualities of dreams during REM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906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1690</TotalTime>
  <Words>412</Words>
  <Application>Microsoft Office PowerPoint</Application>
  <PresentationFormat>Widescreen</PresentationFormat>
  <Paragraphs>51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Tw Cen MT</vt:lpstr>
      <vt:lpstr>Circuit</vt:lpstr>
      <vt:lpstr>Cortical States</vt:lpstr>
      <vt:lpstr>Learning Objectives</vt:lpstr>
      <vt:lpstr>Circadian Rhythm</vt:lpstr>
      <vt:lpstr>Circadian rhythm</vt:lpstr>
      <vt:lpstr>Light is an important cue for circadian rhythm</vt:lpstr>
      <vt:lpstr>The Suprachiasmatic nucleus (SCN) of the hypothalamus controls circadian rhythm</vt:lpstr>
      <vt:lpstr>Cellular cycles in the Mammalian SCN</vt:lpstr>
      <vt:lpstr>Sleep </vt:lpstr>
      <vt:lpstr>Sleep is separated into 4 distinct stages Based on brain activity</vt:lpstr>
      <vt:lpstr>Time spent in Sleep Stages Changes throughout a night of sleep</vt:lpstr>
      <vt:lpstr>Time spent in sleep stages changes throughout the life-span</vt:lpstr>
      <vt:lpstr>A Neural marker of dreaming?</vt:lpstr>
      <vt:lpstr>Brain activity Changes during REM/Dreaming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Nicole Forner</dc:creator>
  <cp:lastModifiedBy>Phillips, Nicole</cp:lastModifiedBy>
  <cp:revision>161</cp:revision>
  <dcterms:created xsi:type="dcterms:W3CDTF">2020-10-10T21:03:14Z</dcterms:created>
  <dcterms:modified xsi:type="dcterms:W3CDTF">2026-04-23T17:01:44Z</dcterms:modified>
</cp:coreProperties>
</file>