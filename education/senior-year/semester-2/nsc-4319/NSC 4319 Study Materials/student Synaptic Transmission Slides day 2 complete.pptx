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2"/>
  </p:sldMasterIdLst>
  <p:notesMasterIdLst>
    <p:notesMasterId r:id="rId16"/>
  </p:notesMasterIdLst>
  <p:sldIdLst>
    <p:sldId id="597" r:id="rId3"/>
    <p:sldId id="391" r:id="rId4"/>
    <p:sldId id="392" r:id="rId5"/>
    <p:sldId id="393" r:id="rId6"/>
    <p:sldId id="344" r:id="rId7"/>
    <p:sldId id="388" r:id="rId8"/>
    <p:sldId id="386" r:id="rId9"/>
    <p:sldId id="387" r:id="rId10"/>
    <p:sldId id="598" r:id="rId11"/>
    <p:sldId id="599" r:id="rId12"/>
    <p:sldId id="653" r:id="rId13"/>
    <p:sldId id="587" r:id="rId14"/>
    <p:sldId id="65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a, Kristin" initials="FK" lastIdx="2" clrIdx="0">
    <p:extLst>
      <p:ext uri="{19B8F6BF-5375-455C-9EA6-DF929625EA0E}">
        <p15:presenceInfo xmlns:p15="http://schemas.microsoft.com/office/powerpoint/2012/main" userId="S-1-5-21-2114926708-1884511829-1243820751-37399" providerId="AD"/>
      </p:ext>
    </p:extLst>
  </p:cmAuthor>
  <p:cmAuthor id="2" name="Bridget Leahy" initials="BL" lastIdx="2" clrIdx="1"/>
  <p:cmAuthor id="3" name="Deborah Licht" initials="DL" lastIdx="3" clrIdx="2">
    <p:extLst>
      <p:ext uri="{19B8F6BF-5375-455C-9EA6-DF929625EA0E}">
        <p15:presenceInfo xmlns:p15="http://schemas.microsoft.com/office/powerpoint/2012/main" userId="053266d661a4cdd3" providerId="Windows Live"/>
      </p:ext>
    </p:extLst>
  </p:cmAuthor>
  <p:cmAuthor id="4" name="Kimberly Welsh" initials="KW" lastIdx="5" clrIdx="3">
    <p:extLst>
      <p:ext uri="{19B8F6BF-5375-455C-9EA6-DF929625EA0E}">
        <p15:presenceInfo xmlns:p15="http://schemas.microsoft.com/office/powerpoint/2012/main" userId="425587efef6a84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A6"/>
    <a:srgbClr val="7A0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83191" autoAdjust="0"/>
  </p:normalViewPr>
  <p:slideViewPr>
    <p:cSldViewPr snapToGrid="0">
      <p:cViewPr varScale="1">
        <p:scale>
          <a:sx n="52" d="100"/>
          <a:sy n="52" d="100"/>
        </p:scale>
        <p:origin x="1216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F49AF-1DB5-45F8-B433-D26172C6A7F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E3CD2-4973-470A-BC59-11DBA87FC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92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79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33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19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24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00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61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87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DCF68-A7F5-9873-14A1-351E11EE8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D6E90-6E9B-E871-29DC-D5DF7F208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9638B-537A-E527-B78A-0E46BD3A2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EF558-A542-A94F-EADF-AF48395DF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01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33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3ABB8-CA02-0FE8-497F-06FA983D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7EF0B-FF13-5169-18E9-F1C6A0ED1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7C25D-DF86-4F3F-6C28-8B1FBAB16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F9E9A-7AA0-F36B-6A68-27A8BA619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95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BAF8A-081F-40C0-972E-0D2307FD17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26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15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0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40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86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329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02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9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81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074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161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2209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17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583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515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790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76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3657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8707-918F-05C4-85B3-63A537E4A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B154-922D-4CB8-0B5E-91FC8B106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01881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Steps 6-8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D100E37-BD25-654C-B57D-29ECEA534F99}"/>
              </a:ext>
            </a:extLst>
          </p:cNvPr>
          <p:cNvSpPr/>
          <p:nvPr/>
        </p:nvSpPr>
        <p:spPr>
          <a:xfrm>
            <a:off x="5111445" y="1018819"/>
            <a:ext cx="7080555" cy="58391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D9BED133-3C7D-AA3A-2B17-49BBCC431CA2}"/>
              </a:ext>
            </a:extLst>
          </p:cNvPr>
          <p:cNvSpPr/>
          <p:nvPr/>
        </p:nvSpPr>
        <p:spPr>
          <a:xfrm>
            <a:off x="7123816" y="4348312"/>
            <a:ext cx="3253562" cy="997958"/>
          </a:xfrm>
          <a:prstGeom prst="donut">
            <a:avLst>
              <a:gd name="adj" fmla="val 4439"/>
            </a:avLst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8C2E5F-E5D5-6174-5110-D720BC831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033" y="1018819"/>
            <a:ext cx="4200411" cy="573641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dirty="0">
                <a:solidFill>
                  <a:schemeClr val="bg1"/>
                </a:solidFill>
              </a:rPr>
              <a:t>Neurotransmitters are released into the synaptic cleft (exocytosis)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chemeClr val="bg1"/>
                </a:solidFill>
              </a:rPr>
              <a:t>Neurotransmitters bind to receptor molecules in the postsynaptic membrane.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chemeClr val="bg1"/>
                </a:solidFill>
              </a:rPr>
              <a:t>Opening or closing of postsynaptic channels</a:t>
            </a:r>
          </a:p>
        </p:txBody>
      </p: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34A42261-C799-7E45-E7CA-924415AE949F}"/>
              </a:ext>
            </a:extLst>
          </p:cNvPr>
          <p:cNvSpPr/>
          <p:nvPr/>
        </p:nvSpPr>
        <p:spPr>
          <a:xfrm rot="21069002">
            <a:off x="7735188" y="4921422"/>
            <a:ext cx="2429538" cy="542260"/>
          </a:xfrm>
          <a:prstGeom prst="donut">
            <a:avLst>
              <a:gd name="adj" fmla="val 4439"/>
            </a:avLst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12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5E74-0F68-49EE-82C6-4FA89602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Receptors on the Post-synaptic membrane determine the action of the neurotransmitter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D2853-1C70-41FF-BB3F-C9181727B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825" y="1478570"/>
            <a:ext cx="4954587" cy="4348072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Only certain neurotransmitters can bind with certain receptors, like a lock and key.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Main types: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Ionotropic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Metabotropic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A8BABB-CFF2-4DA6-B51D-98E417FB91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830"/>
          <a:stretch/>
        </p:blipFill>
        <p:spPr>
          <a:xfrm>
            <a:off x="6967728" y="1352456"/>
            <a:ext cx="3250277" cy="550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87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F445-D3FF-4A02-89F5-755739D2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369883"/>
            <a:ext cx="5622851" cy="12882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Ionotropic receptors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D8641-97D1-4999-9210-DD92C877A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658143"/>
            <a:ext cx="4954589" cy="354171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Chemically/ligand gated ion channels</a:t>
            </a:r>
          </a:p>
          <a:p>
            <a:r>
              <a:rPr lang="en-US" sz="2800" dirty="0">
                <a:solidFill>
                  <a:schemeClr val="bg1"/>
                </a:solidFill>
              </a:rPr>
              <a:t>Direct control over an ion channel</a:t>
            </a:r>
          </a:p>
          <a:p>
            <a:r>
              <a:rPr lang="en-US" sz="2800" dirty="0">
                <a:solidFill>
                  <a:schemeClr val="bg1"/>
                </a:solidFill>
              </a:rPr>
              <a:t>“Fast” transmission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76380-2153-42E7-93F6-FF55525DA0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1388"/>
          <a:stretch/>
        </p:blipFill>
        <p:spPr>
          <a:xfrm>
            <a:off x="6496611" y="43727"/>
            <a:ext cx="4553978" cy="677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108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98AE4-1727-42CE-98C5-80B9904BE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91102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Metabotropic receptors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680D5-98B2-4792-B062-B05E8339F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133856"/>
            <a:ext cx="3169330" cy="572414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Indirect control over ion channels </a:t>
            </a:r>
            <a:r>
              <a:rPr lang="en-US" sz="2800" i="1" dirty="0">
                <a:solidFill>
                  <a:schemeClr val="bg1"/>
                </a:solidFill>
              </a:rPr>
              <a:t>and</a:t>
            </a:r>
            <a:r>
              <a:rPr lang="en-US" sz="2800" dirty="0">
                <a:solidFill>
                  <a:schemeClr val="bg1"/>
                </a:solidFill>
              </a:rPr>
              <a:t> other cellular processes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AKA G-protein coupled receptors</a:t>
            </a:r>
          </a:p>
          <a:p>
            <a:r>
              <a:rPr lang="en-US" sz="2800" dirty="0">
                <a:solidFill>
                  <a:schemeClr val="bg1"/>
                </a:solidFill>
              </a:rPr>
              <a:t>“slow” transmission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AED062-2739-4258-989F-DA6B2AAC4B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028" b="20681"/>
          <a:stretch/>
        </p:blipFill>
        <p:spPr>
          <a:xfrm>
            <a:off x="4904247" y="1133856"/>
            <a:ext cx="7287754" cy="572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16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0C93-D95A-49ED-84D1-3A270D19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45275"/>
            <a:ext cx="9905998" cy="92152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Step 9: Postsynaptic potentials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6C534-9AF6-4F6D-9185-141D9EC45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035" y="1066799"/>
            <a:ext cx="10707285" cy="214563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Excitatory post-synaptic potential (EPSP)</a:t>
            </a:r>
            <a:r>
              <a:rPr lang="en-US" dirty="0">
                <a:solidFill>
                  <a:schemeClr val="bg1"/>
                </a:solidFill>
              </a:rPr>
              <a:t> : makes the environment inside the cell more positive</a:t>
            </a:r>
          </a:p>
          <a:p>
            <a:r>
              <a:rPr lang="en-US" b="1" dirty="0">
                <a:solidFill>
                  <a:schemeClr val="bg1"/>
                </a:solidFill>
              </a:rPr>
              <a:t>Inhibitory post-synaptic potential (IPSP)</a:t>
            </a:r>
            <a:r>
              <a:rPr lang="en-US" dirty="0">
                <a:solidFill>
                  <a:schemeClr val="bg1"/>
                </a:solidFill>
              </a:rPr>
              <a:t> : makes the environment inside the cell more negative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72DB6-FE7D-425C-A8D6-7FDBE5670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714" y="2925443"/>
            <a:ext cx="5436571" cy="3932557"/>
          </a:xfrm>
          <a:prstGeom prst="rect">
            <a:avLst/>
          </a:prstGeom>
        </p:spPr>
      </p:pic>
      <p:sp>
        <p:nvSpPr>
          <p:cNvPr id="4" name="Frame 3">
            <a:extLst>
              <a:ext uri="{FF2B5EF4-FFF2-40B4-BE49-F238E27FC236}">
                <a16:creationId xmlns:a16="http://schemas.microsoft.com/office/drawing/2014/main" id="{6EDFB03E-BF0E-4BC0-A5D9-E2009B6EFDC3}"/>
              </a:ext>
            </a:extLst>
          </p:cNvPr>
          <p:cNvSpPr/>
          <p:nvPr/>
        </p:nvSpPr>
        <p:spPr>
          <a:xfrm>
            <a:off x="4901184" y="2925443"/>
            <a:ext cx="3913101" cy="1866013"/>
          </a:xfrm>
          <a:prstGeom prst="frame">
            <a:avLst>
              <a:gd name="adj1" fmla="val 269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EC9C96FC-62D8-488A-882C-874FEC98AAB2}"/>
              </a:ext>
            </a:extLst>
          </p:cNvPr>
          <p:cNvSpPr/>
          <p:nvPr/>
        </p:nvSpPr>
        <p:spPr>
          <a:xfrm>
            <a:off x="4901183" y="4632323"/>
            <a:ext cx="3913101" cy="2080402"/>
          </a:xfrm>
          <a:prstGeom prst="frame">
            <a:avLst>
              <a:gd name="adj1" fmla="val 269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29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8" grpId="0" animBg="1"/>
      <p:bldP spid="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B712-3003-4D35-9E62-2CCB6AFFF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86009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Differences between the Action potential and post-synaptic potentials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1EAF36-1D04-4E82-93E3-4AD07CF35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18" y="1764579"/>
            <a:ext cx="11471564" cy="5044526"/>
          </a:xfrm>
          <a:prstGeom prst="rect">
            <a:avLst/>
          </a:prstGeom>
        </p:spPr>
      </p:pic>
      <p:sp>
        <p:nvSpPr>
          <p:cNvPr id="3" name="Frame 2">
            <a:extLst>
              <a:ext uri="{FF2B5EF4-FFF2-40B4-BE49-F238E27FC236}">
                <a16:creationId xmlns:a16="http://schemas.microsoft.com/office/drawing/2014/main" id="{123D7669-BDC1-7470-BCD4-A389270A0C04}"/>
              </a:ext>
            </a:extLst>
          </p:cNvPr>
          <p:cNvSpPr/>
          <p:nvPr/>
        </p:nvSpPr>
        <p:spPr>
          <a:xfrm>
            <a:off x="360218" y="4674413"/>
            <a:ext cx="11471564" cy="768096"/>
          </a:xfrm>
          <a:prstGeom prst="frame">
            <a:avLst>
              <a:gd name="adj1" fmla="val 488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364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77CB-4566-4530-AD12-9247DA4E3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34666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Influences on PSP power: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Spatial summation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16A2C-F315-46D1-B6D9-2E791334E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12916"/>
            <a:ext cx="4954588" cy="427828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Post-synaptic potentials </a:t>
            </a:r>
            <a:r>
              <a:rPr lang="en-US" sz="2800" u="sng" dirty="0">
                <a:solidFill>
                  <a:schemeClr val="bg1"/>
                </a:solidFill>
              </a:rPr>
              <a:t>physically</a:t>
            </a:r>
            <a:r>
              <a:rPr lang="en-US" sz="2800" dirty="0">
                <a:solidFill>
                  <a:schemeClr val="bg1"/>
                </a:solidFill>
              </a:rPr>
              <a:t> close to the cell body will have better summed power than post-synaptic potentials originating farther away.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AE7A8-62F4-4298-A683-50D46DE463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371"/>
          <a:stretch/>
        </p:blipFill>
        <p:spPr>
          <a:xfrm>
            <a:off x="6498471" y="1612566"/>
            <a:ext cx="5338854" cy="524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9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9BB5D-4CD2-4FAE-B6E0-E4236062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40" y="130629"/>
            <a:ext cx="10435544" cy="13508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Influences on PSP power: Temporal Summation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58214-AD3E-469E-9E40-34C5B9C1A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824" y="1481439"/>
            <a:ext cx="4954588" cy="3541714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Post-synaptic potentials close together in </a:t>
            </a:r>
            <a:r>
              <a:rPr lang="en-US" sz="2800" u="sng" dirty="0">
                <a:solidFill>
                  <a:schemeClr val="bg1"/>
                </a:solidFill>
              </a:rPr>
              <a:t>timing</a:t>
            </a:r>
            <a:r>
              <a:rPr lang="en-US" sz="2800" dirty="0">
                <a:solidFill>
                  <a:schemeClr val="bg1"/>
                </a:solidFill>
              </a:rPr>
              <a:t> will have better summed effect than post-synaptic potentials spaced out in time.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B087F1-F2D9-47CF-BA74-F361C8259E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/>
          <a:stretch/>
        </p:blipFill>
        <p:spPr>
          <a:xfrm>
            <a:off x="6528261" y="1481439"/>
            <a:ext cx="5447607" cy="509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74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E6509-EF1D-E532-102F-94763901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E3F0-E528-17A8-0DB0-9C5A34FD3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01881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Steps 10: Removal of Neurotransmitters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47875CA-5604-B8AB-E082-951392D0A865}"/>
              </a:ext>
            </a:extLst>
          </p:cNvPr>
          <p:cNvSpPr/>
          <p:nvPr/>
        </p:nvSpPr>
        <p:spPr>
          <a:xfrm>
            <a:off x="5111445" y="1018819"/>
            <a:ext cx="7080555" cy="58391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30E4D7C1-586C-250E-AA5C-629300902FDF}"/>
              </a:ext>
            </a:extLst>
          </p:cNvPr>
          <p:cNvSpPr/>
          <p:nvPr/>
        </p:nvSpPr>
        <p:spPr>
          <a:xfrm>
            <a:off x="7123816" y="4348312"/>
            <a:ext cx="3253562" cy="997958"/>
          </a:xfrm>
          <a:prstGeom prst="donut">
            <a:avLst>
              <a:gd name="adj" fmla="val 4439"/>
            </a:avLst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A640C0-6DA6-D706-406B-187B30942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033" y="1018819"/>
            <a:ext cx="4200411" cy="573641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Neurotransmitters in the synaptic cleft can: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Be destroyed by enzymes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Diffuse out of the synaptic cleft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Could bind with an </a:t>
            </a:r>
            <a:r>
              <a:rPr lang="en-US" sz="2400" dirty="0" err="1">
                <a:solidFill>
                  <a:schemeClr val="bg1"/>
                </a:solidFill>
              </a:rPr>
              <a:t>autoreceptor</a:t>
            </a:r>
            <a:endParaRPr lang="en-US" sz="2400" dirty="0">
              <a:solidFill>
                <a:schemeClr val="bg1"/>
              </a:solidFill>
            </a:endParaRP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Could be absorbed by glial cells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Be removed by pre-synaptic transporter proteins and recycled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D70F1422-938D-CE90-B0E9-7C3E897D52C5}"/>
              </a:ext>
            </a:extLst>
          </p:cNvPr>
          <p:cNvSpPr/>
          <p:nvPr/>
        </p:nvSpPr>
        <p:spPr>
          <a:xfrm rot="478430">
            <a:off x="5911070" y="4055372"/>
            <a:ext cx="1429596" cy="1068079"/>
          </a:xfrm>
          <a:prstGeom prst="donut">
            <a:avLst>
              <a:gd name="adj" fmla="val 4439"/>
            </a:avLst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ircle: Hollow 4">
            <a:extLst>
              <a:ext uri="{FF2B5EF4-FFF2-40B4-BE49-F238E27FC236}">
                <a16:creationId xmlns:a16="http://schemas.microsoft.com/office/drawing/2014/main" id="{9FCDB3C4-4619-0955-3E4E-88E800E6FDEE}"/>
              </a:ext>
            </a:extLst>
          </p:cNvPr>
          <p:cNvSpPr/>
          <p:nvPr/>
        </p:nvSpPr>
        <p:spPr>
          <a:xfrm rot="478430">
            <a:off x="7466805" y="2941534"/>
            <a:ext cx="2116587" cy="2139123"/>
          </a:xfrm>
          <a:prstGeom prst="donut">
            <a:avLst>
              <a:gd name="adj" fmla="val 2704"/>
            </a:avLst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90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9638-E5BD-47C2-EA46-ACF2EA987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156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 closer look at reuptake (endocytosis)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500CF1-5570-F670-F80E-DCA003603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062" y="1586726"/>
            <a:ext cx="8825875" cy="527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46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EA59A-CA92-0BD8-8E23-FB12FEEB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3FA24-8E95-B3E2-31E8-A38C2DF8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26465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Vesicle Trafficking 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836DC-CD8E-A7ED-9F9D-6E2FD1D456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 r="4257"/>
          <a:stretch>
            <a:fillRect/>
          </a:stretch>
        </p:blipFill>
        <p:spPr>
          <a:xfrm>
            <a:off x="1547812" y="1264656"/>
            <a:ext cx="9093200" cy="559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20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BB9A-5CAD-4E5B-8EAF-0E7F05A99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33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Disorders at the synapse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29056-8F98-4D6C-9F4A-C95CF2BD6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5996"/>
            <a:ext cx="4903824" cy="5711371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b="1" i="0" dirty="0">
                <a:solidFill>
                  <a:schemeClr val="bg1"/>
                </a:solidFill>
                <a:effectLst/>
                <a:latin typeface="Lao UI" panose="020B0604020202020204" pitchFamily="34" charset="0"/>
                <a:cs typeface="Lao UI" panose="020B0604020202020204" pitchFamily="34" charset="0"/>
              </a:rPr>
              <a:t>Myasthenic syndromes</a:t>
            </a:r>
          </a:p>
          <a:p>
            <a:pPr lvl="1"/>
            <a:r>
              <a:rPr lang="en-US" b="0" i="0" dirty="0">
                <a:solidFill>
                  <a:schemeClr val="bg1"/>
                </a:solidFill>
                <a:effectLst/>
                <a:latin typeface="Lao UI" panose="020B0604020202020204" pitchFamily="34" charset="0"/>
                <a:cs typeface="Lao UI" panose="020B0604020202020204" pitchFamily="34" charset="0"/>
              </a:rPr>
              <a:t>abnormal transmission at NMJ leading to weakness and fatigue of skeletal muscles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bg1"/>
                </a:solidFill>
                <a:effectLst/>
                <a:latin typeface="Lao UI" panose="020B0604020202020204" pitchFamily="34" charset="0"/>
                <a:cs typeface="Lao UI" panose="020B0604020202020204" pitchFamily="34" charset="0"/>
              </a:rPr>
              <a:t>Botulism</a:t>
            </a:r>
          </a:p>
          <a:p>
            <a:pPr lvl="1"/>
            <a:r>
              <a:rPr lang="en-US" b="0" i="0" dirty="0">
                <a:solidFill>
                  <a:schemeClr val="bg1"/>
                </a:solidFill>
                <a:effectLst/>
                <a:latin typeface="Lao UI" panose="020B0604020202020204" pitchFamily="34" charset="0"/>
                <a:cs typeface="Lao UI" panose="020B0604020202020204" pitchFamily="34" charset="0"/>
              </a:rPr>
              <a:t>caused by a </a:t>
            </a:r>
            <a:r>
              <a:rPr lang="en-US" b="0" i="1" dirty="0">
                <a:solidFill>
                  <a:schemeClr val="bg1"/>
                </a:solidFill>
                <a:effectLst/>
                <a:latin typeface="Lao UI" panose="020B0604020202020204" pitchFamily="34" charset="0"/>
                <a:cs typeface="Lao UI" panose="020B0604020202020204" pitchFamily="34" charset="0"/>
              </a:rPr>
              <a:t>Clostridium botulinum </a:t>
            </a:r>
            <a:r>
              <a:rPr lang="en-US" b="0" i="0" dirty="0">
                <a:solidFill>
                  <a:schemeClr val="bg1"/>
                </a:solidFill>
                <a:effectLst/>
                <a:latin typeface="Lao UI" panose="020B0604020202020204" pitchFamily="34" charset="0"/>
                <a:cs typeface="Lao UI" panose="020B0604020202020204" pitchFamily="34" charset="0"/>
              </a:rPr>
              <a:t>toxin, can impair NT release at NMJs leading to flaccid paralysis </a:t>
            </a:r>
          </a:p>
          <a:p>
            <a:r>
              <a:rPr lang="en-US" b="1" dirty="0">
                <a:solidFill>
                  <a:schemeClr val="bg1"/>
                </a:solidFill>
                <a:latin typeface="Lao UI" panose="020B0604020202020204" pitchFamily="34" charset="0"/>
                <a:cs typeface="Lao UI" panose="020B0604020202020204" pitchFamily="34" charset="0"/>
              </a:rPr>
              <a:t>Tetanus </a:t>
            </a:r>
            <a:endParaRPr lang="en-US" b="1" i="0" dirty="0">
              <a:solidFill>
                <a:schemeClr val="bg1"/>
              </a:solidFill>
              <a:effectLst/>
              <a:latin typeface="Lao UI" panose="020B0604020202020204" pitchFamily="34" charset="0"/>
              <a:cs typeface="Lao UI" panose="020B0604020202020204" pitchFamily="34" charset="0"/>
            </a:endParaRPr>
          </a:p>
          <a:p>
            <a:pPr lvl="1"/>
            <a:r>
              <a:rPr lang="en-US" b="0" i="0" dirty="0">
                <a:solidFill>
                  <a:schemeClr val="bg1"/>
                </a:solidFill>
                <a:effectLst/>
                <a:latin typeface="Lao UI" panose="020B0604020202020204" pitchFamily="34" charset="0"/>
                <a:cs typeface="Lao UI" panose="020B0604020202020204" pitchFamily="34" charset="0"/>
              </a:rPr>
              <a:t>Caused by </a:t>
            </a:r>
            <a:r>
              <a:rPr lang="en-US" i="1" dirty="0" err="1">
                <a:solidFill>
                  <a:schemeClr val="bg1"/>
                </a:solidFill>
                <a:latin typeface="Lao UI" panose="020B0604020202020204" pitchFamily="34" charset="0"/>
                <a:cs typeface="Lao UI" panose="020B0604020202020204" pitchFamily="34" charset="0"/>
              </a:rPr>
              <a:t>Clostridum</a:t>
            </a:r>
            <a:r>
              <a:rPr lang="en-US" i="1" dirty="0">
                <a:solidFill>
                  <a:schemeClr val="bg1"/>
                </a:solidFill>
                <a:latin typeface="Lao UI" panose="020B0604020202020204" pitchFamily="34" charset="0"/>
                <a:cs typeface="Lao UI" panose="020B0604020202020204" pitchFamily="34" charset="0"/>
              </a:rPr>
              <a:t> tetani</a:t>
            </a:r>
            <a:r>
              <a:rPr lang="en-US" dirty="0">
                <a:solidFill>
                  <a:schemeClr val="bg1"/>
                </a:solidFill>
                <a:latin typeface="Lao UI" panose="020B0604020202020204" pitchFamily="34" charset="0"/>
                <a:cs typeface="Lao UI" panose="020B0604020202020204" pitchFamily="34" charset="0"/>
              </a:rPr>
              <a:t> toxin, can impair inhibitory control of primary motor neurons leading to spastic paralysis</a:t>
            </a:r>
          </a:p>
          <a:p>
            <a:r>
              <a:rPr lang="el-GR" b="1" dirty="0">
                <a:solidFill>
                  <a:schemeClr val="bg1"/>
                </a:solidFill>
                <a:cs typeface="Lao UI" panose="020B0604020202020204" pitchFamily="34" charset="0"/>
              </a:rPr>
              <a:t>α-</a:t>
            </a:r>
            <a:r>
              <a:rPr lang="en-US" b="1" dirty="0">
                <a:solidFill>
                  <a:schemeClr val="bg1"/>
                </a:solidFill>
                <a:latin typeface="Lao UI" panose="020B0604020202020204" pitchFamily="34" charset="0"/>
                <a:cs typeface="Lao UI" panose="020B0604020202020204" pitchFamily="34" charset="0"/>
              </a:rPr>
              <a:t>latrotoxin (</a:t>
            </a:r>
            <a:r>
              <a:rPr lang="el-GR" b="1" dirty="0">
                <a:solidFill>
                  <a:schemeClr val="bg1"/>
                </a:solidFill>
                <a:cs typeface="Lao UI" panose="020B0604020202020204" pitchFamily="34" charset="0"/>
              </a:rPr>
              <a:t>α-</a:t>
            </a:r>
            <a:r>
              <a:rPr lang="en-US" b="1" dirty="0">
                <a:solidFill>
                  <a:schemeClr val="bg1"/>
                </a:solidFill>
                <a:latin typeface="Lao UI" panose="020B0604020202020204" pitchFamily="34" charset="0"/>
                <a:cs typeface="Lao UI" panose="020B0604020202020204" pitchFamily="34" charset="0"/>
              </a:rPr>
              <a:t>LTX)</a:t>
            </a:r>
            <a:endParaRPr lang="en-US" dirty="0">
              <a:solidFill>
                <a:schemeClr val="bg1"/>
              </a:solidFill>
              <a:latin typeface="Lao UI" panose="020B0604020202020204" pitchFamily="34" charset="0"/>
              <a:cs typeface="Lao UI" panose="020B0604020202020204" pitchFamily="34" charset="0"/>
            </a:endParaRPr>
          </a:p>
          <a:p>
            <a:pPr lvl="1"/>
            <a:r>
              <a:rPr lang="en-US" dirty="0">
                <a:solidFill>
                  <a:schemeClr val="bg1"/>
                </a:solidFill>
                <a:latin typeface="Lao UI" panose="020B0604020202020204" pitchFamily="34" charset="0"/>
                <a:cs typeface="Lao UI" panose="020B0604020202020204" pitchFamily="34" charset="0"/>
              </a:rPr>
              <a:t>from black widow spider venom induces exhaustive release of neurotransmitters from vertebrate nerve terminals. Causes muscle cramping and difficulty breathing</a:t>
            </a:r>
            <a:endParaRPr lang="en-US" b="0" i="0" dirty="0">
              <a:solidFill>
                <a:schemeClr val="bg1"/>
              </a:solidFill>
              <a:effectLst/>
              <a:latin typeface="Lao UI" panose="020B0604020202020204" pitchFamily="34" charset="0"/>
              <a:cs typeface="Lao UI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FE1B57-809C-DABC-7187-1B5E3517D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024" y="1046051"/>
            <a:ext cx="6215758" cy="5700738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C7DF0CA8-5C15-44B1-51AC-650664FE6385}"/>
              </a:ext>
            </a:extLst>
          </p:cNvPr>
          <p:cNvSpPr/>
          <p:nvPr/>
        </p:nvSpPr>
        <p:spPr>
          <a:xfrm>
            <a:off x="6096000" y="1046051"/>
            <a:ext cx="1342768" cy="1325563"/>
          </a:xfrm>
          <a:prstGeom prst="frame">
            <a:avLst>
              <a:gd name="adj1" fmla="val 504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8EF1BF6F-B56A-8D15-DEDE-835F34939097}"/>
              </a:ext>
            </a:extLst>
          </p:cNvPr>
          <p:cNvSpPr/>
          <p:nvPr/>
        </p:nvSpPr>
        <p:spPr>
          <a:xfrm>
            <a:off x="9303080" y="945474"/>
            <a:ext cx="2404696" cy="1167532"/>
          </a:xfrm>
          <a:prstGeom prst="frame">
            <a:avLst>
              <a:gd name="adj1" fmla="val 504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A9C4B3B0-D041-F601-571B-DB598AF353E0}"/>
              </a:ext>
            </a:extLst>
          </p:cNvPr>
          <p:cNvSpPr/>
          <p:nvPr/>
        </p:nvSpPr>
        <p:spPr>
          <a:xfrm>
            <a:off x="9399372" y="5579257"/>
            <a:ext cx="2404695" cy="1167532"/>
          </a:xfrm>
          <a:prstGeom prst="frame">
            <a:avLst>
              <a:gd name="adj1" fmla="val 504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B48EE149-1D3F-4464-AD58-AE7773FE12B3}"/>
              </a:ext>
            </a:extLst>
          </p:cNvPr>
          <p:cNvSpPr/>
          <p:nvPr/>
        </p:nvSpPr>
        <p:spPr>
          <a:xfrm>
            <a:off x="10755435" y="3148424"/>
            <a:ext cx="1202348" cy="1167532"/>
          </a:xfrm>
          <a:prstGeom prst="frame">
            <a:avLst>
              <a:gd name="adj1" fmla="val 504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7E67DF39-170A-1BEB-C18F-0BE02CE350B6}"/>
              </a:ext>
            </a:extLst>
          </p:cNvPr>
          <p:cNvSpPr/>
          <p:nvPr/>
        </p:nvSpPr>
        <p:spPr>
          <a:xfrm>
            <a:off x="6096000" y="5696465"/>
            <a:ext cx="1651686" cy="1050324"/>
          </a:xfrm>
          <a:prstGeom prst="frame">
            <a:avLst>
              <a:gd name="adj1" fmla="val 504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8126-8791-F13A-958B-E2A95FC39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11891"/>
            <a:ext cx="9905998" cy="81486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6F95C-C5EF-F2FD-340B-7C455D06F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26756"/>
            <a:ext cx="9905999" cy="593124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Neurotransmitters released into the synaptic cleft can bind with specific receptors on the post-synaptic membrane.</a:t>
            </a:r>
          </a:p>
          <a:p>
            <a:r>
              <a:rPr lang="en-US" dirty="0">
                <a:solidFill>
                  <a:schemeClr val="bg1"/>
                </a:solidFill>
              </a:rPr>
              <a:t>The action of a NT depends on activation of a receptor</a:t>
            </a:r>
          </a:p>
          <a:p>
            <a:r>
              <a:rPr lang="en-US" dirty="0">
                <a:solidFill>
                  <a:schemeClr val="bg1"/>
                </a:solidFill>
              </a:rPr>
              <a:t>Ionotropic receptors have direct control over an ion channel whereas metabotropic receptors have secondary cellular mechanisms that can influence several processes in the post-synaptic cell.</a:t>
            </a:r>
          </a:p>
          <a:p>
            <a:r>
              <a:rPr lang="en-US" dirty="0">
                <a:solidFill>
                  <a:schemeClr val="bg1"/>
                </a:solidFill>
              </a:rPr>
              <a:t>Post-synaptic potentials can be excitatory or inhibitory. </a:t>
            </a:r>
          </a:p>
          <a:p>
            <a:r>
              <a:rPr lang="en-US" dirty="0">
                <a:solidFill>
                  <a:schemeClr val="bg1"/>
                </a:solidFill>
              </a:rPr>
              <a:t>The power of post-synaptic potentials degrades over time and space.</a:t>
            </a:r>
          </a:p>
          <a:p>
            <a:r>
              <a:rPr lang="en-US" dirty="0">
                <a:solidFill>
                  <a:schemeClr val="bg1"/>
                </a:solidFill>
              </a:rPr>
              <a:t>NTs are removed from the synapse through degradation, reuptake, or diffusion.</a:t>
            </a:r>
          </a:p>
          <a:p>
            <a:r>
              <a:rPr lang="en-US" dirty="0">
                <a:solidFill>
                  <a:schemeClr val="bg1"/>
                </a:solidFill>
              </a:rPr>
              <a:t>Endocytosis is the process by which vesicles are recycled from the presynaptic membrane.</a:t>
            </a:r>
          </a:p>
          <a:p>
            <a:r>
              <a:rPr lang="en-US" dirty="0">
                <a:solidFill>
                  <a:schemeClr val="bg1"/>
                </a:solidFill>
              </a:rPr>
              <a:t>There are several clinical conditions that alter events at the synapse resulting in impairments of bodily functions, especially those involving muscles.</a:t>
            </a:r>
          </a:p>
        </p:txBody>
      </p:sp>
    </p:spTree>
    <p:extLst>
      <p:ext uri="{BB962C8B-B14F-4D97-AF65-F5344CB8AC3E}">
        <p14:creationId xmlns:p14="http://schemas.microsoft.com/office/powerpoint/2010/main" val="951603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w:document xmlns:w="http://schemas.openxmlformats.org/wordprocessingml/2006/main">
  <RequestId>cc78fb66-0e7f-43f8-9e2f-c06c4707cc61</RequestId>
  <RequestDate>7/26/2019 1:53:10 PM</RequestDate>
</w:document>
</file>

<file path=customXml/itemProps1.xml><?xml version="1.0" encoding="utf-8"?>
<ds:datastoreItem xmlns:ds="http://schemas.openxmlformats.org/officeDocument/2006/customXml" ds:itemID="{88828C38-7951-446B-9C20-6F7FA1998869}">
  <ds:schemaRefs>
    <ds:schemaRef ds:uri="http://schemas.openxmlformats.org/wordprocessingml/2006/ma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12658</TotalTime>
  <Words>464</Words>
  <Application>Microsoft Office PowerPoint</Application>
  <PresentationFormat>Widescreen</PresentationFormat>
  <Paragraphs>65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Lao UI</vt:lpstr>
      <vt:lpstr>Tw Cen MT</vt:lpstr>
      <vt:lpstr>Circuit</vt:lpstr>
      <vt:lpstr>Steps 6-8</vt:lpstr>
      <vt:lpstr>Receptors on the Post-synaptic membrane determine the action of the neurotransmitter</vt:lpstr>
      <vt:lpstr>Ionotropic receptors</vt:lpstr>
      <vt:lpstr>Metabotropic receptors</vt:lpstr>
      <vt:lpstr>Step 9: Postsynaptic potentials</vt:lpstr>
      <vt:lpstr>Differences between the Action potential and post-synaptic potentials</vt:lpstr>
      <vt:lpstr>Influences on PSP power:  Spatial summation</vt:lpstr>
      <vt:lpstr>Influences on PSP power: Temporal Summation</vt:lpstr>
      <vt:lpstr>Steps 10: Removal of Neurotransmitters</vt:lpstr>
      <vt:lpstr>A closer look at reuptake (endocytosis)</vt:lpstr>
      <vt:lpstr>Vesicle Trafficking cycle</vt:lpstr>
      <vt:lpstr>Disorders at the synapse</vt:lpstr>
      <vt:lpstr>Summary</vt:lpstr>
    </vt:vector>
  </TitlesOfParts>
  <Company>Franklin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and behavior</dc:title>
  <dc:creator>Flora, Kristin</dc:creator>
  <cp:lastModifiedBy>Phillips, Nicole</cp:lastModifiedBy>
  <cp:revision>474</cp:revision>
  <dcterms:created xsi:type="dcterms:W3CDTF">2018-11-08T16:26:32Z</dcterms:created>
  <dcterms:modified xsi:type="dcterms:W3CDTF">2026-02-08T20:36:07Z</dcterms:modified>
</cp:coreProperties>
</file>