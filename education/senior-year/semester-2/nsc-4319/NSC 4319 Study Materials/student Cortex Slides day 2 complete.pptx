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04" r:id="rId1"/>
  </p:sldMasterIdLst>
  <p:notesMasterIdLst>
    <p:notesMasterId r:id="rId19"/>
  </p:notesMasterIdLst>
  <p:handoutMasterIdLst>
    <p:handoutMasterId r:id="rId20"/>
  </p:handoutMasterIdLst>
  <p:sldIdLst>
    <p:sldId id="392" r:id="rId2"/>
    <p:sldId id="260" r:id="rId3"/>
    <p:sldId id="316" r:id="rId4"/>
    <p:sldId id="314" r:id="rId5"/>
    <p:sldId id="395" r:id="rId6"/>
    <p:sldId id="393" r:id="rId7"/>
    <p:sldId id="309" r:id="rId8"/>
    <p:sldId id="363" r:id="rId9"/>
    <p:sldId id="286" r:id="rId10"/>
    <p:sldId id="288" r:id="rId11"/>
    <p:sldId id="368" r:id="rId12"/>
    <p:sldId id="427" r:id="rId13"/>
    <p:sldId id="268" r:id="rId14"/>
    <p:sldId id="344" r:id="rId15"/>
    <p:sldId id="428" r:id="rId16"/>
    <p:sldId id="266" r:id="rId17"/>
    <p:sldId id="336" r:id="rId18"/>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62310"/>
    <a:srgbClr val="F5887C"/>
    <a:srgbClr val="F0F0F0"/>
    <a:srgbClr val="FAF701"/>
    <a:srgbClr val="2277BC"/>
    <a:srgbClr val="02D087"/>
    <a:srgbClr val="092853"/>
    <a:srgbClr val="009900"/>
    <a:srgbClr val="FF66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450" autoAdjust="0"/>
  </p:normalViewPr>
  <p:slideViewPr>
    <p:cSldViewPr>
      <p:cViewPr varScale="1">
        <p:scale>
          <a:sx n="51" d="100"/>
          <a:sy n="51" d="100"/>
        </p:scale>
        <p:origin x="1232" y="4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p:cViewPr varScale="1">
        <p:scale>
          <a:sx n="101" d="100"/>
          <a:sy n="101" d="100"/>
        </p:scale>
        <p:origin x="2604" y="11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4EE807A-E371-4DC2-AC78-3ABF33751943}"/>
              </a:ext>
            </a:extLst>
          </p:cNvPr>
          <p:cNvSpPr>
            <a:spLocks noGrp="1"/>
          </p:cNvSpPr>
          <p:nvPr>
            <p:ph type="hdr" sz="quarter"/>
          </p:nvPr>
        </p:nvSpPr>
        <p:spPr>
          <a:xfrm>
            <a:off x="685800" y="650240"/>
            <a:ext cx="4419600" cy="367454"/>
          </a:xfrm>
          <a:prstGeom prst="rect">
            <a:avLst/>
          </a:prstGeom>
        </p:spPr>
        <p:txBody>
          <a:bodyPr vert="horz" lIns="96661" tIns="48331" rIns="96661" bIns="48331" rtlCol="0"/>
          <a:lstStyle>
            <a:lvl1pPr algn="l">
              <a:defRPr sz="1300"/>
            </a:lvl1pPr>
          </a:lstStyle>
          <a:p>
            <a:r>
              <a:rPr lang="en-US" dirty="0">
                <a:latin typeface="Calibri" panose="020F0502020204030204" pitchFamily="34" charset="0"/>
              </a:rPr>
              <a:t>Ch 27 – Cortical organization; Cortical function</a:t>
            </a:r>
          </a:p>
        </p:txBody>
      </p:sp>
      <p:sp>
        <p:nvSpPr>
          <p:cNvPr id="3" name="Slide Number Placeholder 2">
            <a:extLst>
              <a:ext uri="{FF2B5EF4-FFF2-40B4-BE49-F238E27FC236}">
                <a16:creationId xmlns:a16="http://schemas.microsoft.com/office/drawing/2014/main" id="{F86E7047-0470-7E77-1DB2-80C0F0702E92}"/>
              </a:ext>
            </a:extLst>
          </p:cNvPr>
          <p:cNvSpPr>
            <a:spLocks noGrp="1"/>
          </p:cNvSpPr>
          <p:nvPr>
            <p:ph type="sldNum" sz="quarter" idx="3"/>
          </p:nvPr>
        </p:nvSpPr>
        <p:spPr>
          <a:xfrm>
            <a:off x="5425921" y="6339840"/>
            <a:ext cx="3489479" cy="367453"/>
          </a:xfrm>
          <a:prstGeom prst="rect">
            <a:avLst/>
          </a:prstGeom>
        </p:spPr>
        <p:txBody>
          <a:bodyPr vert="horz" lIns="96661" tIns="48331" rIns="96661" bIns="48331" rtlCol="0" anchor="b"/>
          <a:lstStyle>
            <a:lvl1pPr algn="r">
              <a:defRPr sz="1300"/>
            </a:lvl1pPr>
          </a:lstStyle>
          <a:p>
            <a:fld id="{69A6095C-5686-4058-A35B-FB0B6AF9A78E}" type="slidenum">
              <a:rPr lang="en-US" smtClean="0">
                <a:latin typeface="Calibri" panose="020F0502020204030204" pitchFamily="34" charset="0"/>
              </a:rPr>
              <a:t>‹#›</a:t>
            </a:fld>
            <a:endParaRPr lang="en-US" dirty="0">
              <a:latin typeface="Calibri" panose="020F050202020403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8EB7B72A-24F6-2899-B386-7E2C1528C7A6}"/>
              </a:ext>
            </a:extLst>
          </p:cNvPr>
          <p:cNvSpPr>
            <a:spLocks noGrp="1" noChangeArrowheads="1"/>
          </p:cNvSpPr>
          <p:nvPr>
            <p:ph type="body" sz="quarter" idx="3"/>
          </p:nvPr>
        </p:nvSpPr>
        <p:spPr bwMode="auto">
          <a:xfrm>
            <a:off x="1280160" y="3474720"/>
            <a:ext cx="7040880" cy="3291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655" tIns="46988" rIns="95655" bIns="4698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051" name="Rectangle 3">
            <a:extLst>
              <a:ext uri="{FF2B5EF4-FFF2-40B4-BE49-F238E27FC236}">
                <a16:creationId xmlns:a16="http://schemas.microsoft.com/office/drawing/2014/main" id="{3B28E61C-014D-2DED-9287-E3B517BD5A1F}"/>
              </a:ext>
            </a:extLst>
          </p:cNvPr>
          <p:cNvSpPr>
            <a:spLocks noGrp="1" noRot="1" noChangeAspect="1" noChangeArrowheads="1" noTextEdit="1"/>
          </p:cNvSpPr>
          <p:nvPr>
            <p:ph type="sldImg" idx="2"/>
          </p:nvPr>
        </p:nvSpPr>
        <p:spPr bwMode="auto">
          <a:xfrm>
            <a:off x="2373313" y="554038"/>
            <a:ext cx="4854575" cy="2732087"/>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0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0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0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0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1727368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47483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093203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Tree>
    <p:extLst>
      <p:ext uri="{BB962C8B-B14F-4D97-AF65-F5344CB8AC3E}">
        <p14:creationId xmlns:p14="http://schemas.microsoft.com/office/powerpoint/2010/main" val="35081622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802088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a:buFont typeface="Arial" panose="020B0604020202020204" pitchFamily="34" charset="0"/>
              <a:buChar char="•"/>
            </a:pPr>
            <a:endParaRPr lang="en-US" b="1" dirty="0"/>
          </a:p>
        </p:txBody>
      </p:sp>
    </p:spTree>
    <p:extLst>
      <p:ext uri="{BB962C8B-B14F-4D97-AF65-F5344CB8AC3E}">
        <p14:creationId xmlns:p14="http://schemas.microsoft.com/office/powerpoint/2010/main" val="4217981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0708194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11460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32340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8206B8-0EDF-4CCC-8CB2-B20BEA189B16}" type="slidenum">
              <a:rPr lang="en-US" smtClean="0"/>
              <a:t>12</a:t>
            </a:fld>
            <a:endParaRPr lang="en-US"/>
          </a:p>
        </p:txBody>
      </p:sp>
    </p:spTree>
    <p:extLst>
      <p:ext uri="{BB962C8B-B14F-4D97-AF65-F5344CB8AC3E}">
        <p14:creationId xmlns:p14="http://schemas.microsoft.com/office/powerpoint/2010/main" val="2957035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8206B8-0EDF-4CCC-8CB2-B20BEA189B16}" type="slidenum">
              <a:rPr lang="en-US" smtClean="0"/>
              <a:t>13</a:t>
            </a:fld>
            <a:endParaRPr lang="en-US"/>
          </a:p>
        </p:txBody>
      </p:sp>
    </p:spTree>
    <p:extLst>
      <p:ext uri="{BB962C8B-B14F-4D97-AF65-F5344CB8AC3E}">
        <p14:creationId xmlns:p14="http://schemas.microsoft.com/office/powerpoint/2010/main" val="1842194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8206B8-0EDF-4CCC-8CB2-B20BEA189B16}" type="slidenum">
              <a:rPr lang="en-US" smtClean="0"/>
              <a:t>15</a:t>
            </a:fld>
            <a:endParaRPr lang="en-US"/>
          </a:p>
        </p:txBody>
      </p:sp>
    </p:spTree>
    <p:extLst>
      <p:ext uri="{BB962C8B-B14F-4D97-AF65-F5344CB8AC3E}">
        <p14:creationId xmlns:p14="http://schemas.microsoft.com/office/powerpoint/2010/main" val="8566124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8206B8-0EDF-4CCC-8CB2-B20BEA189B16}" type="slidenum">
              <a:rPr lang="en-US" smtClean="0"/>
              <a:t>16</a:t>
            </a:fld>
            <a:endParaRPr lang="en-US"/>
          </a:p>
        </p:txBody>
      </p:sp>
    </p:spTree>
    <p:extLst>
      <p:ext uri="{BB962C8B-B14F-4D97-AF65-F5344CB8AC3E}">
        <p14:creationId xmlns:p14="http://schemas.microsoft.com/office/powerpoint/2010/main" val="283306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lvl="2"/>
            <a:endParaRPr lang="en-GB" dirty="0"/>
          </a:p>
        </p:txBody>
      </p:sp>
      <p:sp>
        <p:nvSpPr>
          <p:cNvPr id="4" name="Slide Number Placeholder 3"/>
          <p:cNvSpPr>
            <a:spLocks noGrp="1"/>
          </p:cNvSpPr>
          <p:nvPr>
            <p:ph type="sldNum" sz="quarter" idx="5"/>
          </p:nvPr>
        </p:nvSpPr>
        <p:spPr/>
        <p:txBody>
          <a:bodyPr/>
          <a:lstStyle/>
          <a:p>
            <a:fld id="{40CFADD6-F779-4508-B80A-02C048990848}" type="slidenum">
              <a:rPr lang="en-US" smtClean="0"/>
              <a:t>17</a:t>
            </a:fld>
            <a:endParaRPr lang="en-US"/>
          </a:p>
        </p:txBody>
      </p:sp>
    </p:spTree>
    <p:extLst>
      <p:ext uri="{BB962C8B-B14F-4D97-AF65-F5344CB8AC3E}">
        <p14:creationId xmlns:p14="http://schemas.microsoft.com/office/powerpoint/2010/main" val="840976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05E8FEE0-47F9-4D29-A6AB-1F2E9DC4CF49}" type="slidenum">
              <a:rPr lang="en-US" altLang="en-US" smtClean="0"/>
              <a:pPr/>
              <a:t>‹#›</a:t>
            </a:fld>
            <a:endParaRPr lang="en-US"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530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67040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7098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11/18/2025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66503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11/18/2025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596675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11/18/2025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476895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C764DE79-268F-4C1A-8933-263129D2AF90}" type="datetimeFigureOut">
              <a:rPr lang="en-US" smtClean="0"/>
              <a:t>11/18/2025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040976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764DE79-268F-4C1A-8933-263129D2AF90}" type="datetimeFigureOut">
              <a:rPr lang="en-US" smtClean="0"/>
              <a:t>11/18/2025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464073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11/18/2025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331813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29594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34525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C764DE79-268F-4C1A-8933-263129D2AF90}" type="datetimeFigureOut">
              <a:rPr lang="en-US" smtClean="0"/>
              <a:pPr/>
              <a:t>11/18/2025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8F63A3B-78C7-47BE-AE5E-E10140E04643}"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5980135"/>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2.xml"/><Relationship Id="rId1" Type="http://schemas.openxmlformats.org/officeDocument/2006/relationships/video" Target="https://www.youtube.com/embed/xFVq0xbjXv4?feature=oembed"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BC856-1FF4-02C1-DCEB-78469ED00CF7}"/>
              </a:ext>
            </a:extLst>
          </p:cNvPr>
          <p:cNvSpPr>
            <a:spLocks noGrp="1"/>
          </p:cNvSpPr>
          <p:nvPr>
            <p:ph type="title"/>
          </p:nvPr>
        </p:nvSpPr>
        <p:spPr/>
        <p:txBody>
          <a:bodyPr/>
          <a:lstStyle/>
          <a:p>
            <a:pPr algn="ctr"/>
            <a:r>
              <a:rPr lang="en-US" dirty="0"/>
              <a:t>Parietal Cortex</a:t>
            </a:r>
          </a:p>
        </p:txBody>
      </p:sp>
      <p:pic>
        <p:nvPicPr>
          <p:cNvPr id="3" name="Picture 2">
            <a:extLst>
              <a:ext uri="{FF2B5EF4-FFF2-40B4-BE49-F238E27FC236}">
                <a16:creationId xmlns:a16="http://schemas.microsoft.com/office/drawing/2014/main" id="{A06605E2-A43E-4A0D-6333-485E74C0F370}"/>
              </a:ext>
            </a:extLst>
          </p:cNvPr>
          <p:cNvPicPr>
            <a:picLocks noChangeAspect="1"/>
          </p:cNvPicPr>
          <p:nvPr/>
        </p:nvPicPr>
        <p:blipFill>
          <a:blip r:embed="rId2"/>
          <a:stretch>
            <a:fillRect/>
          </a:stretch>
        </p:blipFill>
        <p:spPr>
          <a:xfrm>
            <a:off x="3124200" y="1898277"/>
            <a:ext cx="5845861" cy="4959723"/>
          </a:xfrm>
          <a:prstGeom prst="rect">
            <a:avLst/>
          </a:prstGeom>
        </p:spPr>
      </p:pic>
    </p:spTree>
    <p:extLst>
      <p:ext uri="{BB962C8B-B14F-4D97-AF65-F5344CB8AC3E}">
        <p14:creationId xmlns:p14="http://schemas.microsoft.com/office/powerpoint/2010/main" val="1870244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CBDF8EB9-1C66-8D4C-9BFB-9558618F3B63}"/>
              </a:ext>
            </a:extLst>
          </p:cNvPr>
          <p:cNvPicPr>
            <a:picLocks noChangeAspect="1" noChangeArrowheads="1"/>
          </p:cNvPicPr>
          <p:nvPr/>
        </p:nvPicPr>
        <p:blipFill>
          <a:blip r:embed="rId3">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7620000" y="3631099"/>
            <a:ext cx="4201912" cy="2912242"/>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arietal">
            <a:extLst>
              <a:ext uri="{FF2B5EF4-FFF2-40B4-BE49-F238E27FC236}">
                <a16:creationId xmlns:a16="http://schemas.microsoft.com/office/drawing/2014/main" id="{DE35D306-EB98-25DF-5B85-C9C0A8ABF019}"/>
              </a:ext>
            </a:extLst>
          </p:cNvPr>
          <p:cNvPicPr>
            <a:picLocks noChangeAspect="1" noChangeArrowheads="1"/>
          </p:cNvPicPr>
          <p:nvPr/>
        </p:nvPicPr>
        <p:blipFill>
          <a:blip r:embed="rId4">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7620000" y="0"/>
            <a:ext cx="4249235" cy="313906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DCD91E82-1721-609D-5256-BA7997B20C40}"/>
              </a:ext>
            </a:extLst>
          </p:cNvPr>
          <p:cNvSpPr>
            <a:spLocks noGrp="1"/>
          </p:cNvSpPr>
          <p:nvPr>
            <p:ph type="title"/>
          </p:nvPr>
        </p:nvSpPr>
        <p:spPr/>
        <p:txBody>
          <a:bodyPr/>
          <a:lstStyle/>
          <a:p>
            <a:r>
              <a:rPr lang="en-US" dirty="0">
                <a:solidFill>
                  <a:schemeClr val="tx1"/>
                </a:solidFill>
              </a:rPr>
              <a:t>Parietal cortex includes</a:t>
            </a:r>
          </a:p>
        </p:txBody>
      </p:sp>
      <p:sp>
        <p:nvSpPr>
          <p:cNvPr id="7" name="Straight Connector 6">
            <a:extLst>
              <a:ext uri="{FF2B5EF4-FFF2-40B4-BE49-F238E27FC236}">
                <a16:creationId xmlns:a16="http://schemas.microsoft.com/office/drawing/2014/main" id="{BC1331CA-BB49-8873-6533-EDBE41DCD0AE}"/>
              </a:ext>
            </a:extLst>
          </p:cNvPr>
          <p:cNvSpPr/>
          <p:nvPr/>
        </p:nvSpPr>
        <p:spPr>
          <a:xfrm>
            <a:off x="975466" y="6324600"/>
            <a:ext cx="5486400" cy="0"/>
          </a:xfrm>
          <a:prstGeom prst="line">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latin typeface="Calibri" panose="020F0502020204030204" pitchFamily="34" charset="0"/>
            </a:endParaRPr>
          </a:p>
        </p:txBody>
      </p:sp>
      <p:sp>
        <p:nvSpPr>
          <p:cNvPr id="8" name="Straight Connector 7">
            <a:extLst>
              <a:ext uri="{FF2B5EF4-FFF2-40B4-BE49-F238E27FC236}">
                <a16:creationId xmlns:a16="http://schemas.microsoft.com/office/drawing/2014/main" id="{A9430ADE-0001-789A-64AA-2FBD703C1E3B}"/>
              </a:ext>
            </a:extLst>
          </p:cNvPr>
          <p:cNvSpPr/>
          <p:nvPr/>
        </p:nvSpPr>
        <p:spPr>
          <a:xfrm>
            <a:off x="974422" y="4876800"/>
            <a:ext cx="5486400" cy="0"/>
          </a:xfrm>
          <a:prstGeom prst="line">
            <a:avLst/>
          </a:prstGeom>
          <a:ln>
            <a:solidFill>
              <a:schemeClr val="accent4"/>
            </a:solidFill>
          </a:ln>
        </p:spPr>
        <p:style>
          <a:lnRef idx="2">
            <a:scrgbClr r="0" g="0" b="0"/>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latin typeface="Calibri" panose="020F0502020204030204" pitchFamily="34" charset="0"/>
            </a:endParaRPr>
          </a:p>
        </p:txBody>
      </p:sp>
      <p:sp>
        <p:nvSpPr>
          <p:cNvPr id="9" name="Straight Connector 8">
            <a:extLst>
              <a:ext uri="{FF2B5EF4-FFF2-40B4-BE49-F238E27FC236}">
                <a16:creationId xmlns:a16="http://schemas.microsoft.com/office/drawing/2014/main" id="{E411ECF0-2F0B-5C5A-3AE7-48D7083D1EE4}"/>
              </a:ext>
            </a:extLst>
          </p:cNvPr>
          <p:cNvSpPr/>
          <p:nvPr/>
        </p:nvSpPr>
        <p:spPr>
          <a:xfrm>
            <a:off x="975466" y="3426629"/>
            <a:ext cx="5486400" cy="0"/>
          </a:xfrm>
          <a:prstGeom prst="line">
            <a:avLst/>
          </a:prstGeom>
          <a:ln>
            <a:solidFill>
              <a:schemeClr val="accent3"/>
            </a:solidFill>
          </a:ln>
        </p:spPr>
        <p:style>
          <a:lnRef idx="2">
            <a:scrgbClr r="0" g="0" b="0"/>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latin typeface="Calibri" panose="020F0502020204030204" pitchFamily="34" charset="0"/>
            </a:endParaRPr>
          </a:p>
        </p:txBody>
      </p:sp>
      <p:sp>
        <p:nvSpPr>
          <p:cNvPr id="10" name="Freeform: Shape 9">
            <a:extLst>
              <a:ext uri="{FF2B5EF4-FFF2-40B4-BE49-F238E27FC236}">
                <a16:creationId xmlns:a16="http://schemas.microsoft.com/office/drawing/2014/main" id="{26256371-A1A9-4927-975C-EBDD264F3813}"/>
              </a:ext>
            </a:extLst>
          </p:cNvPr>
          <p:cNvSpPr/>
          <p:nvPr/>
        </p:nvSpPr>
        <p:spPr>
          <a:xfrm>
            <a:off x="3254319" y="2246838"/>
            <a:ext cx="3200400" cy="1179791"/>
          </a:xfrm>
          <a:custGeom>
            <a:avLst/>
            <a:gdLst>
              <a:gd name="connsiteX0" fmla="*/ 0 w 4663440"/>
              <a:gd name="connsiteY0" fmla="*/ 0 h 1179791"/>
              <a:gd name="connsiteX1" fmla="*/ 4663440 w 4663440"/>
              <a:gd name="connsiteY1" fmla="*/ 0 h 1179791"/>
              <a:gd name="connsiteX2" fmla="*/ 4663440 w 4663440"/>
              <a:gd name="connsiteY2" fmla="*/ 1179791 h 1179791"/>
              <a:gd name="connsiteX3" fmla="*/ 0 w 4663440"/>
              <a:gd name="connsiteY3" fmla="*/ 1179791 h 1179791"/>
              <a:gd name="connsiteX4" fmla="*/ 0 w 4663440"/>
              <a:gd name="connsiteY4" fmla="*/ 0 h 1179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3440" h="1179791">
                <a:moveTo>
                  <a:pt x="0" y="0"/>
                </a:moveTo>
                <a:lnTo>
                  <a:pt x="4663440" y="0"/>
                </a:lnTo>
                <a:lnTo>
                  <a:pt x="4663440" y="1179791"/>
                </a:lnTo>
                <a:lnTo>
                  <a:pt x="0" y="117979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6675" tIns="66675" rIns="66675" bIns="66675" numCol="1" spcCol="1270" anchor="b" anchorCtr="0">
            <a:noAutofit/>
          </a:bodyPr>
          <a:lstStyle/>
          <a:p>
            <a:pPr marL="0" lvl="0" indent="0" algn="l" defTabSz="1555750">
              <a:lnSpc>
                <a:spcPct val="90000"/>
              </a:lnSpc>
              <a:spcBef>
                <a:spcPct val="0"/>
              </a:spcBef>
              <a:buNone/>
            </a:pPr>
            <a:r>
              <a:rPr lang="en-US" sz="3500" kern="1200" dirty="0">
                <a:latin typeface="Calibri" panose="020F0502020204030204" pitchFamily="34" charset="0"/>
              </a:rPr>
              <a:t>Somatosensory cortex</a:t>
            </a:r>
          </a:p>
        </p:txBody>
      </p:sp>
      <p:sp>
        <p:nvSpPr>
          <p:cNvPr id="11" name="Freeform: Shape 10">
            <a:extLst>
              <a:ext uri="{FF2B5EF4-FFF2-40B4-BE49-F238E27FC236}">
                <a16:creationId xmlns:a16="http://schemas.microsoft.com/office/drawing/2014/main" id="{0B332EDB-3748-0C34-60B1-C52037076A3C}"/>
              </a:ext>
            </a:extLst>
          </p:cNvPr>
          <p:cNvSpPr/>
          <p:nvPr/>
        </p:nvSpPr>
        <p:spPr>
          <a:xfrm>
            <a:off x="839244" y="2246838"/>
            <a:ext cx="2388367" cy="1179791"/>
          </a:xfrm>
          <a:custGeom>
            <a:avLst/>
            <a:gdLst>
              <a:gd name="connsiteX0" fmla="*/ 196671 w 2388367"/>
              <a:gd name="connsiteY0" fmla="*/ 0 h 1179791"/>
              <a:gd name="connsiteX1" fmla="*/ 2191696 w 2388367"/>
              <a:gd name="connsiteY1" fmla="*/ 0 h 1179791"/>
              <a:gd name="connsiteX2" fmla="*/ 2388367 w 2388367"/>
              <a:gd name="connsiteY2" fmla="*/ 196671 h 1179791"/>
              <a:gd name="connsiteX3" fmla="*/ 2388367 w 2388367"/>
              <a:gd name="connsiteY3" fmla="*/ 1179791 h 1179791"/>
              <a:gd name="connsiteX4" fmla="*/ 2388367 w 2388367"/>
              <a:gd name="connsiteY4" fmla="*/ 1179791 h 1179791"/>
              <a:gd name="connsiteX5" fmla="*/ 0 w 2388367"/>
              <a:gd name="connsiteY5" fmla="*/ 1179791 h 1179791"/>
              <a:gd name="connsiteX6" fmla="*/ 0 w 2388367"/>
              <a:gd name="connsiteY6" fmla="*/ 1179791 h 1179791"/>
              <a:gd name="connsiteX7" fmla="*/ 0 w 2388367"/>
              <a:gd name="connsiteY7" fmla="*/ 196671 h 1179791"/>
              <a:gd name="connsiteX8" fmla="*/ 196671 w 2388367"/>
              <a:gd name="connsiteY8" fmla="*/ 0 h 1179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8367" h="1179791">
                <a:moveTo>
                  <a:pt x="196671" y="0"/>
                </a:moveTo>
                <a:lnTo>
                  <a:pt x="2191696" y="0"/>
                </a:lnTo>
                <a:cubicBezTo>
                  <a:pt x="2300314" y="0"/>
                  <a:pt x="2388367" y="88053"/>
                  <a:pt x="2388367" y="196671"/>
                </a:cubicBezTo>
                <a:lnTo>
                  <a:pt x="2388367" y="1179791"/>
                </a:lnTo>
                <a:lnTo>
                  <a:pt x="2388367" y="1179791"/>
                </a:lnTo>
                <a:lnTo>
                  <a:pt x="0" y="1179791"/>
                </a:lnTo>
                <a:lnTo>
                  <a:pt x="0" y="1179791"/>
                </a:lnTo>
                <a:lnTo>
                  <a:pt x="0" y="196671"/>
                </a:lnTo>
                <a:cubicBezTo>
                  <a:pt x="0" y="88053"/>
                  <a:pt x="88053" y="0"/>
                  <a:pt x="196671" y="0"/>
                </a:cubicBezTo>
                <a:close/>
              </a:path>
            </a:pathLst>
          </a:custGeom>
          <a:solidFill>
            <a:schemeClr val="accent3"/>
          </a:solidFill>
          <a:ln>
            <a:solidFill>
              <a:schemeClr val="accent3"/>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24278" tIns="124278" rIns="124278" bIns="66675" numCol="1" spcCol="1270" anchor="ctr" anchorCtr="0">
            <a:noAutofit/>
          </a:bodyPr>
          <a:lstStyle/>
          <a:p>
            <a:pPr marL="0" lvl="0" indent="0" algn="ctr" defTabSz="1555750">
              <a:lnSpc>
                <a:spcPct val="90000"/>
              </a:lnSpc>
              <a:spcBef>
                <a:spcPct val="0"/>
              </a:spcBef>
              <a:spcAft>
                <a:spcPct val="35000"/>
              </a:spcAft>
              <a:buNone/>
            </a:pPr>
            <a:r>
              <a:rPr lang="en-US" sz="3500" kern="1200" dirty="0">
                <a:solidFill>
                  <a:schemeClr val="tx1"/>
                </a:solidFill>
                <a:latin typeface="Calibri" panose="020F0502020204030204" pitchFamily="34" charset="0"/>
              </a:rPr>
              <a:t>BA 3, 1 &amp; 2</a:t>
            </a:r>
          </a:p>
        </p:txBody>
      </p:sp>
      <p:sp>
        <p:nvSpPr>
          <p:cNvPr id="12" name="Freeform: Shape 11">
            <a:extLst>
              <a:ext uri="{FF2B5EF4-FFF2-40B4-BE49-F238E27FC236}">
                <a16:creationId xmlns:a16="http://schemas.microsoft.com/office/drawing/2014/main" id="{B5633A4F-B9B2-527D-CC88-A37D8C71F544}"/>
              </a:ext>
            </a:extLst>
          </p:cNvPr>
          <p:cNvSpPr/>
          <p:nvPr/>
        </p:nvSpPr>
        <p:spPr>
          <a:xfrm>
            <a:off x="3253275" y="3697009"/>
            <a:ext cx="3200400" cy="1179791"/>
          </a:xfrm>
          <a:custGeom>
            <a:avLst/>
            <a:gdLst>
              <a:gd name="connsiteX0" fmla="*/ 0 w 4663440"/>
              <a:gd name="connsiteY0" fmla="*/ 0 h 1179791"/>
              <a:gd name="connsiteX1" fmla="*/ 4663440 w 4663440"/>
              <a:gd name="connsiteY1" fmla="*/ 0 h 1179791"/>
              <a:gd name="connsiteX2" fmla="*/ 4663440 w 4663440"/>
              <a:gd name="connsiteY2" fmla="*/ 1179791 h 1179791"/>
              <a:gd name="connsiteX3" fmla="*/ 0 w 4663440"/>
              <a:gd name="connsiteY3" fmla="*/ 1179791 h 1179791"/>
              <a:gd name="connsiteX4" fmla="*/ 0 w 4663440"/>
              <a:gd name="connsiteY4" fmla="*/ 0 h 1179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3440" h="1179791">
                <a:moveTo>
                  <a:pt x="0" y="0"/>
                </a:moveTo>
                <a:lnTo>
                  <a:pt x="4663440" y="0"/>
                </a:lnTo>
                <a:lnTo>
                  <a:pt x="4663440" y="1179791"/>
                </a:lnTo>
                <a:lnTo>
                  <a:pt x="0" y="117979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6675" tIns="66675" rIns="66675" bIns="66675" numCol="1" spcCol="1270" anchor="b" anchorCtr="0">
            <a:noAutofit/>
          </a:bodyPr>
          <a:lstStyle/>
          <a:p>
            <a:pPr marL="0" lvl="0" indent="0" algn="l" defTabSz="1555750">
              <a:lnSpc>
                <a:spcPct val="90000"/>
              </a:lnSpc>
              <a:spcBef>
                <a:spcPct val="0"/>
              </a:spcBef>
              <a:buNone/>
            </a:pPr>
            <a:r>
              <a:rPr lang="en-US" sz="3500" kern="1200" dirty="0">
                <a:latin typeface="Calibri" panose="020F0502020204030204" pitchFamily="34" charset="0"/>
              </a:rPr>
              <a:t>Superior </a:t>
            </a:r>
          </a:p>
          <a:p>
            <a:pPr marL="0" lvl="0" indent="0" algn="l" defTabSz="1555750">
              <a:lnSpc>
                <a:spcPct val="90000"/>
              </a:lnSpc>
              <a:spcBef>
                <a:spcPct val="0"/>
              </a:spcBef>
              <a:spcAft>
                <a:spcPct val="35000"/>
              </a:spcAft>
              <a:buNone/>
            </a:pPr>
            <a:r>
              <a:rPr lang="en-US" sz="3500" kern="1200" dirty="0">
                <a:latin typeface="Calibri" panose="020F0502020204030204" pitchFamily="34" charset="0"/>
              </a:rPr>
              <a:t>parietal lobule</a:t>
            </a:r>
          </a:p>
        </p:txBody>
      </p:sp>
      <p:sp>
        <p:nvSpPr>
          <p:cNvPr id="13" name="Freeform: Shape 12">
            <a:extLst>
              <a:ext uri="{FF2B5EF4-FFF2-40B4-BE49-F238E27FC236}">
                <a16:creationId xmlns:a16="http://schemas.microsoft.com/office/drawing/2014/main" id="{12AAB9DA-F521-A753-A415-9A8DEEDDD536}"/>
              </a:ext>
            </a:extLst>
          </p:cNvPr>
          <p:cNvSpPr/>
          <p:nvPr/>
        </p:nvSpPr>
        <p:spPr>
          <a:xfrm>
            <a:off x="838200" y="3697009"/>
            <a:ext cx="2388367" cy="1179791"/>
          </a:xfrm>
          <a:custGeom>
            <a:avLst/>
            <a:gdLst>
              <a:gd name="connsiteX0" fmla="*/ 196671 w 2388367"/>
              <a:gd name="connsiteY0" fmla="*/ 0 h 1179791"/>
              <a:gd name="connsiteX1" fmla="*/ 2191696 w 2388367"/>
              <a:gd name="connsiteY1" fmla="*/ 0 h 1179791"/>
              <a:gd name="connsiteX2" fmla="*/ 2388367 w 2388367"/>
              <a:gd name="connsiteY2" fmla="*/ 196671 h 1179791"/>
              <a:gd name="connsiteX3" fmla="*/ 2388367 w 2388367"/>
              <a:gd name="connsiteY3" fmla="*/ 1179791 h 1179791"/>
              <a:gd name="connsiteX4" fmla="*/ 2388367 w 2388367"/>
              <a:gd name="connsiteY4" fmla="*/ 1179791 h 1179791"/>
              <a:gd name="connsiteX5" fmla="*/ 0 w 2388367"/>
              <a:gd name="connsiteY5" fmla="*/ 1179791 h 1179791"/>
              <a:gd name="connsiteX6" fmla="*/ 0 w 2388367"/>
              <a:gd name="connsiteY6" fmla="*/ 1179791 h 1179791"/>
              <a:gd name="connsiteX7" fmla="*/ 0 w 2388367"/>
              <a:gd name="connsiteY7" fmla="*/ 196671 h 1179791"/>
              <a:gd name="connsiteX8" fmla="*/ 196671 w 2388367"/>
              <a:gd name="connsiteY8" fmla="*/ 0 h 1179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8367" h="1179791">
                <a:moveTo>
                  <a:pt x="196671" y="0"/>
                </a:moveTo>
                <a:lnTo>
                  <a:pt x="2191696" y="0"/>
                </a:lnTo>
                <a:cubicBezTo>
                  <a:pt x="2300314" y="0"/>
                  <a:pt x="2388367" y="88053"/>
                  <a:pt x="2388367" y="196671"/>
                </a:cubicBezTo>
                <a:lnTo>
                  <a:pt x="2388367" y="1179791"/>
                </a:lnTo>
                <a:lnTo>
                  <a:pt x="2388367" y="1179791"/>
                </a:lnTo>
                <a:lnTo>
                  <a:pt x="0" y="1179791"/>
                </a:lnTo>
                <a:lnTo>
                  <a:pt x="0" y="1179791"/>
                </a:lnTo>
                <a:lnTo>
                  <a:pt x="0" y="196671"/>
                </a:lnTo>
                <a:cubicBezTo>
                  <a:pt x="0" y="88053"/>
                  <a:pt x="88053" y="0"/>
                  <a:pt x="196671" y="0"/>
                </a:cubicBezTo>
                <a:close/>
              </a:path>
            </a:pathLst>
          </a:custGeom>
          <a:solidFill>
            <a:schemeClr val="accent4"/>
          </a:solidFill>
          <a:ln>
            <a:solidFill>
              <a:schemeClr val="accent4"/>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24278" tIns="124278" rIns="124278" bIns="66675" numCol="1" spcCol="1270" anchor="ctr" anchorCtr="0">
            <a:noAutofit/>
          </a:bodyPr>
          <a:lstStyle/>
          <a:p>
            <a:pPr marL="0" lvl="0" indent="0" algn="ctr" defTabSz="1555750">
              <a:lnSpc>
                <a:spcPct val="90000"/>
              </a:lnSpc>
              <a:spcBef>
                <a:spcPct val="0"/>
              </a:spcBef>
              <a:spcAft>
                <a:spcPct val="35000"/>
              </a:spcAft>
              <a:buNone/>
            </a:pPr>
            <a:r>
              <a:rPr lang="en-US" sz="3500" kern="1200" dirty="0">
                <a:solidFill>
                  <a:schemeClr val="tx1"/>
                </a:solidFill>
                <a:latin typeface="Calibri" panose="020F0502020204030204" pitchFamily="34" charset="0"/>
              </a:rPr>
              <a:t>BA 5 &amp; 7</a:t>
            </a:r>
          </a:p>
        </p:txBody>
      </p:sp>
      <p:sp>
        <p:nvSpPr>
          <p:cNvPr id="14" name="Freeform: Shape 13">
            <a:extLst>
              <a:ext uri="{FF2B5EF4-FFF2-40B4-BE49-F238E27FC236}">
                <a16:creationId xmlns:a16="http://schemas.microsoft.com/office/drawing/2014/main" id="{82EDFF55-1983-D2B2-2B9D-6BEF7FB0A50E}"/>
              </a:ext>
            </a:extLst>
          </p:cNvPr>
          <p:cNvSpPr/>
          <p:nvPr/>
        </p:nvSpPr>
        <p:spPr>
          <a:xfrm>
            <a:off x="3254319" y="5144809"/>
            <a:ext cx="3200400" cy="1179791"/>
          </a:xfrm>
          <a:custGeom>
            <a:avLst/>
            <a:gdLst>
              <a:gd name="connsiteX0" fmla="*/ 0 w 4663440"/>
              <a:gd name="connsiteY0" fmla="*/ 0 h 1179791"/>
              <a:gd name="connsiteX1" fmla="*/ 4663440 w 4663440"/>
              <a:gd name="connsiteY1" fmla="*/ 0 h 1179791"/>
              <a:gd name="connsiteX2" fmla="*/ 4663440 w 4663440"/>
              <a:gd name="connsiteY2" fmla="*/ 1179791 h 1179791"/>
              <a:gd name="connsiteX3" fmla="*/ 0 w 4663440"/>
              <a:gd name="connsiteY3" fmla="*/ 1179791 h 1179791"/>
              <a:gd name="connsiteX4" fmla="*/ 0 w 4663440"/>
              <a:gd name="connsiteY4" fmla="*/ 0 h 1179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3440" h="1179791">
                <a:moveTo>
                  <a:pt x="0" y="0"/>
                </a:moveTo>
                <a:lnTo>
                  <a:pt x="4663440" y="0"/>
                </a:lnTo>
                <a:lnTo>
                  <a:pt x="4663440" y="1179791"/>
                </a:lnTo>
                <a:lnTo>
                  <a:pt x="0" y="117979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6675" tIns="66675" rIns="66675" bIns="66675" numCol="1" spcCol="1270" anchor="b" anchorCtr="0">
            <a:noAutofit/>
          </a:bodyPr>
          <a:lstStyle/>
          <a:p>
            <a:pPr marL="0" lvl="0" indent="0" algn="l" defTabSz="1555750">
              <a:lnSpc>
                <a:spcPct val="90000"/>
              </a:lnSpc>
              <a:spcBef>
                <a:spcPct val="0"/>
              </a:spcBef>
              <a:buNone/>
            </a:pPr>
            <a:r>
              <a:rPr lang="en-US" sz="3500" kern="1200" dirty="0">
                <a:latin typeface="Calibri" panose="020F0502020204030204" pitchFamily="34" charset="0"/>
              </a:rPr>
              <a:t>Inferior </a:t>
            </a:r>
          </a:p>
          <a:p>
            <a:pPr marL="0" lvl="0" indent="0" algn="l" defTabSz="1555750">
              <a:lnSpc>
                <a:spcPct val="90000"/>
              </a:lnSpc>
              <a:spcBef>
                <a:spcPct val="0"/>
              </a:spcBef>
              <a:spcAft>
                <a:spcPct val="35000"/>
              </a:spcAft>
              <a:buNone/>
            </a:pPr>
            <a:r>
              <a:rPr lang="en-US" sz="3500" kern="1200" dirty="0">
                <a:latin typeface="Calibri" panose="020F0502020204030204" pitchFamily="34" charset="0"/>
              </a:rPr>
              <a:t>parietal lobule</a:t>
            </a:r>
          </a:p>
        </p:txBody>
      </p:sp>
      <p:sp>
        <p:nvSpPr>
          <p:cNvPr id="15" name="Freeform: Shape 14">
            <a:extLst>
              <a:ext uri="{FF2B5EF4-FFF2-40B4-BE49-F238E27FC236}">
                <a16:creationId xmlns:a16="http://schemas.microsoft.com/office/drawing/2014/main" id="{733C836D-3D0D-3044-73E0-56A4B64EE329}"/>
              </a:ext>
            </a:extLst>
          </p:cNvPr>
          <p:cNvSpPr/>
          <p:nvPr/>
        </p:nvSpPr>
        <p:spPr>
          <a:xfrm>
            <a:off x="839244" y="5144809"/>
            <a:ext cx="2388367" cy="1179791"/>
          </a:xfrm>
          <a:custGeom>
            <a:avLst/>
            <a:gdLst>
              <a:gd name="connsiteX0" fmla="*/ 196671 w 2388367"/>
              <a:gd name="connsiteY0" fmla="*/ 0 h 1179791"/>
              <a:gd name="connsiteX1" fmla="*/ 2191696 w 2388367"/>
              <a:gd name="connsiteY1" fmla="*/ 0 h 1179791"/>
              <a:gd name="connsiteX2" fmla="*/ 2388367 w 2388367"/>
              <a:gd name="connsiteY2" fmla="*/ 196671 h 1179791"/>
              <a:gd name="connsiteX3" fmla="*/ 2388367 w 2388367"/>
              <a:gd name="connsiteY3" fmla="*/ 1179791 h 1179791"/>
              <a:gd name="connsiteX4" fmla="*/ 2388367 w 2388367"/>
              <a:gd name="connsiteY4" fmla="*/ 1179791 h 1179791"/>
              <a:gd name="connsiteX5" fmla="*/ 0 w 2388367"/>
              <a:gd name="connsiteY5" fmla="*/ 1179791 h 1179791"/>
              <a:gd name="connsiteX6" fmla="*/ 0 w 2388367"/>
              <a:gd name="connsiteY6" fmla="*/ 1179791 h 1179791"/>
              <a:gd name="connsiteX7" fmla="*/ 0 w 2388367"/>
              <a:gd name="connsiteY7" fmla="*/ 196671 h 1179791"/>
              <a:gd name="connsiteX8" fmla="*/ 196671 w 2388367"/>
              <a:gd name="connsiteY8" fmla="*/ 0 h 1179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8367" h="1179791">
                <a:moveTo>
                  <a:pt x="196671" y="0"/>
                </a:moveTo>
                <a:lnTo>
                  <a:pt x="2191696" y="0"/>
                </a:lnTo>
                <a:cubicBezTo>
                  <a:pt x="2300314" y="0"/>
                  <a:pt x="2388367" y="88053"/>
                  <a:pt x="2388367" y="196671"/>
                </a:cubicBezTo>
                <a:lnTo>
                  <a:pt x="2388367" y="1179791"/>
                </a:lnTo>
                <a:lnTo>
                  <a:pt x="2388367" y="1179791"/>
                </a:lnTo>
                <a:lnTo>
                  <a:pt x="0" y="1179791"/>
                </a:lnTo>
                <a:lnTo>
                  <a:pt x="0" y="1179791"/>
                </a:lnTo>
                <a:lnTo>
                  <a:pt x="0" y="196671"/>
                </a:lnTo>
                <a:cubicBezTo>
                  <a:pt x="0" y="88053"/>
                  <a:pt x="88053" y="0"/>
                  <a:pt x="196671" y="0"/>
                </a:cubicBez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4278" tIns="124278" rIns="124278" bIns="66675" numCol="1" spcCol="1270" anchor="ctr" anchorCtr="0">
            <a:noAutofit/>
          </a:bodyPr>
          <a:lstStyle/>
          <a:p>
            <a:pPr marL="0" lvl="0" indent="0" algn="ctr" defTabSz="1555750">
              <a:lnSpc>
                <a:spcPct val="90000"/>
              </a:lnSpc>
              <a:spcBef>
                <a:spcPct val="0"/>
              </a:spcBef>
              <a:spcAft>
                <a:spcPct val="35000"/>
              </a:spcAft>
              <a:buNone/>
            </a:pPr>
            <a:r>
              <a:rPr lang="en-US" sz="3500" kern="1200" dirty="0">
                <a:solidFill>
                  <a:schemeClr val="tx1"/>
                </a:solidFill>
                <a:latin typeface="Calibri" panose="020F0502020204030204" pitchFamily="34" charset="0"/>
              </a:rPr>
              <a:t>BA 39 &amp; 40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2" name="Picture 2">
            <a:extLst>
              <a:ext uri="{FF2B5EF4-FFF2-40B4-BE49-F238E27FC236}">
                <a16:creationId xmlns:a16="http://schemas.microsoft.com/office/drawing/2014/main" id="{0B2EA928-C893-217A-17ED-EFEC383714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3440" t="7500" r="9669" b="5000"/>
          <a:stretch>
            <a:fillRect/>
          </a:stretch>
        </p:blipFill>
        <p:spPr bwMode="auto">
          <a:xfrm>
            <a:off x="6651602" y="341790"/>
            <a:ext cx="5540398" cy="473011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2C1B549-586A-4B4A-995A-688DDD61CBF6}"/>
              </a:ext>
            </a:extLst>
          </p:cNvPr>
          <p:cNvSpPr>
            <a:spLocks noGrp="1"/>
          </p:cNvSpPr>
          <p:nvPr>
            <p:ph type="title"/>
          </p:nvPr>
        </p:nvSpPr>
        <p:spPr>
          <a:xfrm>
            <a:off x="1249680" y="365125"/>
            <a:ext cx="4846320" cy="1325563"/>
          </a:xfrm>
        </p:spPr>
        <p:txBody>
          <a:bodyPr>
            <a:normAutofit fontScale="90000"/>
          </a:bodyPr>
          <a:lstStyle/>
          <a:p>
            <a:r>
              <a:rPr lang="en-US" dirty="0">
                <a:solidFill>
                  <a:schemeClr val="tx1"/>
                </a:solidFill>
              </a:rPr>
              <a:t>Parietal Cortex and Sensory Information</a:t>
            </a:r>
          </a:p>
        </p:txBody>
      </p:sp>
      <p:sp>
        <p:nvSpPr>
          <p:cNvPr id="3" name="Content Placeholder 2">
            <a:extLst>
              <a:ext uri="{FF2B5EF4-FFF2-40B4-BE49-F238E27FC236}">
                <a16:creationId xmlns:a16="http://schemas.microsoft.com/office/drawing/2014/main" id="{B03F5D30-94CB-2B3B-FF5A-F8DC485350DB}"/>
              </a:ext>
            </a:extLst>
          </p:cNvPr>
          <p:cNvSpPr>
            <a:spLocks noGrp="1"/>
          </p:cNvSpPr>
          <p:nvPr>
            <p:ph idx="1"/>
          </p:nvPr>
        </p:nvSpPr>
        <p:spPr>
          <a:xfrm>
            <a:off x="838200" y="1825625"/>
            <a:ext cx="5813402" cy="4351338"/>
          </a:xfrm>
        </p:spPr>
        <p:txBody>
          <a:bodyPr>
            <a:normAutofit/>
          </a:bodyPr>
          <a:lstStyle/>
          <a:p>
            <a:pPr marL="0" indent="0">
              <a:buNone/>
            </a:pPr>
            <a:r>
              <a:rPr lang="en-US" sz="2800" dirty="0">
                <a:solidFill>
                  <a:schemeClr val="tx1"/>
                </a:solidFill>
              </a:rPr>
              <a:t>Posterior parietal cortex receives polymodal inputs</a:t>
            </a:r>
          </a:p>
          <a:p>
            <a:r>
              <a:rPr lang="en-US" sz="2800" dirty="0">
                <a:solidFill>
                  <a:schemeClr val="tx1"/>
                </a:solidFill>
              </a:rPr>
              <a:t>Visual (dorsal stream)</a:t>
            </a:r>
          </a:p>
          <a:p>
            <a:r>
              <a:rPr lang="en-US" sz="2800" dirty="0">
                <a:solidFill>
                  <a:schemeClr val="tx1"/>
                </a:solidFill>
              </a:rPr>
              <a:t>Auditory</a:t>
            </a:r>
          </a:p>
          <a:p>
            <a:r>
              <a:rPr lang="en-US" sz="2800" dirty="0">
                <a:solidFill>
                  <a:schemeClr val="tx1"/>
                </a:solidFill>
              </a:rPr>
              <a:t>Somatosensory</a:t>
            </a:r>
          </a:p>
          <a:p>
            <a:pPr marL="0" indent="0">
              <a:buNone/>
            </a:pPr>
            <a:r>
              <a:rPr lang="en-US" sz="2800" dirty="0">
                <a:solidFill>
                  <a:schemeClr val="tx1"/>
                </a:solidFill>
              </a:rPr>
              <a:t>Intermodal mixing (BA 39, 40)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54148-87AC-7B17-8BCB-2D4872C7B540}"/>
              </a:ext>
            </a:extLst>
          </p:cNvPr>
          <p:cNvSpPr>
            <a:spLocks noGrp="1"/>
          </p:cNvSpPr>
          <p:nvPr>
            <p:ph type="title"/>
          </p:nvPr>
        </p:nvSpPr>
        <p:spPr>
          <a:xfrm>
            <a:off x="838200" y="365125"/>
            <a:ext cx="10317480" cy="1325563"/>
          </a:xfrm>
        </p:spPr>
        <p:txBody>
          <a:bodyPr>
            <a:normAutofit fontScale="90000"/>
          </a:bodyPr>
          <a:lstStyle/>
          <a:p>
            <a:pPr algn="ctr"/>
            <a:r>
              <a:rPr lang="en-US" dirty="0">
                <a:solidFill>
                  <a:schemeClr val="tx1"/>
                </a:solidFill>
              </a:rPr>
              <a:t>Neural Activity in Parietal Cortex Associated with Attention</a:t>
            </a:r>
          </a:p>
        </p:txBody>
      </p:sp>
      <p:pic>
        <p:nvPicPr>
          <p:cNvPr id="6" name="Picture 1" descr="&quot;A lateral view of the rhesus monkey brain showing the parietal, temporal, occipital, and frontal cortices. &#10;The frontal cortex is at the anterior end, the occipital cortex is at the posterior end, at the dorsal side is the parietal cortex, below the parietal cortex, and at the ventral side is the temporal cortex. All the sections are highlighted.&quot;&#10;An image of a monkey sitting on a restraint chair in front of a stimulus screen with its head connected to the recording electrode and drinking juice through a pipe from a juice reward mechanism. Its hands are placed on a response bar.  A stimulus screen is seen on the front of the response bar.&#10;" title="FIGURE 27.4 Recording from single neurons in the brain of an awake, behaving rhesus monkey">
            <a:extLst>
              <a:ext uri="{FF2B5EF4-FFF2-40B4-BE49-F238E27FC236}">
                <a16:creationId xmlns:a16="http://schemas.microsoft.com/office/drawing/2014/main" id="{2A8AC8FD-CC7F-746F-340A-73B2170BD479}"/>
              </a:ext>
            </a:extLst>
          </p:cNvPr>
          <p:cNvPicPr>
            <a:picLocks noChangeAspect="1"/>
          </p:cNvPicPr>
          <p:nvPr/>
        </p:nvPicPr>
        <p:blipFill rotWithShape="1">
          <a:blip r:embed="rId3">
            <a:extLst>
              <a:ext uri="{28A0092B-C50C-407E-A947-70E740481C1C}">
                <a14:useLocalDpi xmlns:a14="http://schemas.microsoft.com/office/drawing/2010/main" val="0"/>
              </a:ext>
            </a:extLst>
          </a:blip>
          <a:srcRect t="40383"/>
          <a:stretch/>
        </p:blipFill>
        <p:spPr bwMode="auto">
          <a:xfrm>
            <a:off x="1295400" y="3662067"/>
            <a:ext cx="2747679" cy="2537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79BE1377-80DA-51DF-8AB8-91FCBBFA09C3}"/>
              </a:ext>
            </a:extLst>
          </p:cNvPr>
          <p:cNvPicPr>
            <a:picLocks noChangeAspect="1"/>
          </p:cNvPicPr>
          <p:nvPr/>
        </p:nvPicPr>
        <p:blipFill>
          <a:blip r:embed="rId4"/>
          <a:srcRect l="38125"/>
          <a:stretch>
            <a:fillRect/>
          </a:stretch>
        </p:blipFill>
        <p:spPr>
          <a:xfrm>
            <a:off x="4267200" y="1811457"/>
            <a:ext cx="6858000" cy="5048988"/>
          </a:xfrm>
          <a:prstGeom prst="rect">
            <a:avLst/>
          </a:prstGeom>
        </p:spPr>
      </p:pic>
      <p:pic>
        <p:nvPicPr>
          <p:cNvPr id="8" name="Picture 7">
            <a:extLst>
              <a:ext uri="{FF2B5EF4-FFF2-40B4-BE49-F238E27FC236}">
                <a16:creationId xmlns:a16="http://schemas.microsoft.com/office/drawing/2014/main" id="{11D2E88C-D23C-CE2C-C4E1-5FEEB885097A}"/>
              </a:ext>
            </a:extLst>
          </p:cNvPr>
          <p:cNvPicPr>
            <a:picLocks noChangeAspect="1"/>
          </p:cNvPicPr>
          <p:nvPr/>
        </p:nvPicPr>
        <p:blipFill>
          <a:blip r:embed="rId4"/>
          <a:srcRect r="61250" b="30792"/>
          <a:stretch>
            <a:fillRect/>
          </a:stretch>
        </p:blipFill>
        <p:spPr>
          <a:xfrm>
            <a:off x="1066800" y="1796589"/>
            <a:ext cx="2281562" cy="18562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6B4F0-8C1B-6806-4BAC-C4D4734C8721}"/>
              </a:ext>
            </a:extLst>
          </p:cNvPr>
          <p:cNvSpPr>
            <a:spLocks noGrp="1"/>
          </p:cNvSpPr>
          <p:nvPr>
            <p:ph type="title"/>
          </p:nvPr>
        </p:nvSpPr>
        <p:spPr/>
        <p:txBody>
          <a:bodyPr/>
          <a:lstStyle/>
          <a:p>
            <a:r>
              <a:rPr lang="en-US" dirty="0">
                <a:solidFill>
                  <a:schemeClr val="tx1"/>
                </a:solidFill>
              </a:rPr>
              <a:t>Attention Orientation and Parietal Cortex</a:t>
            </a:r>
          </a:p>
        </p:txBody>
      </p:sp>
      <p:sp>
        <p:nvSpPr>
          <p:cNvPr id="3" name="Content Placeholder 2">
            <a:extLst>
              <a:ext uri="{FF2B5EF4-FFF2-40B4-BE49-F238E27FC236}">
                <a16:creationId xmlns:a16="http://schemas.microsoft.com/office/drawing/2014/main" id="{44EE4FF3-39D8-B7EF-F2B5-71BF2F0AAE35}"/>
              </a:ext>
            </a:extLst>
          </p:cNvPr>
          <p:cNvSpPr>
            <a:spLocks noGrp="1"/>
          </p:cNvSpPr>
          <p:nvPr>
            <p:ph idx="1"/>
          </p:nvPr>
        </p:nvSpPr>
        <p:spPr>
          <a:xfrm>
            <a:off x="1097280" y="1845734"/>
            <a:ext cx="5836920" cy="4023360"/>
          </a:xfrm>
        </p:spPr>
        <p:txBody>
          <a:bodyPr/>
          <a:lstStyle/>
          <a:p>
            <a:pPr>
              <a:buFont typeface="Arial" panose="020B0604020202020204" pitchFamily="34" charset="0"/>
              <a:buChar char="•"/>
            </a:pPr>
            <a:r>
              <a:rPr lang="en-US" sz="2800" dirty="0">
                <a:solidFill>
                  <a:schemeClr val="tx1"/>
                </a:solidFill>
              </a:rPr>
              <a:t>IPS orients attention towards salient stimuli.</a:t>
            </a:r>
          </a:p>
          <a:p>
            <a:pPr lvl="1">
              <a:buFont typeface="Arial" panose="020B0604020202020204" pitchFamily="34" charset="0"/>
              <a:buChar char="•"/>
            </a:pPr>
            <a:r>
              <a:rPr lang="en-US" sz="2800" dirty="0">
                <a:solidFill>
                  <a:schemeClr val="tx1"/>
                </a:solidFill>
              </a:rPr>
              <a:t>Voluntary attention</a:t>
            </a:r>
          </a:p>
          <a:p>
            <a:pPr lvl="1">
              <a:buFont typeface="Arial" panose="020B0604020202020204" pitchFamily="34" charset="0"/>
              <a:buChar char="•"/>
            </a:pPr>
            <a:endParaRPr lang="en-US" sz="2800" dirty="0">
              <a:solidFill>
                <a:schemeClr val="tx1"/>
              </a:solidFill>
            </a:endParaRPr>
          </a:p>
          <a:p>
            <a:pPr>
              <a:buFont typeface="Arial" panose="020B0604020202020204" pitchFamily="34" charset="0"/>
              <a:buChar char="•"/>
            </a:pPr>
            <a:r>
              <a:rPr lang="en-US" sz="2800" dirty="0">
                <a:solidFill>
                  <a:schemeClr val="tx1"/>
                </a:solidFill>
              </a:rPr>
              <a:t>TPJ increases activity in response to </a:t>
            </a:r>
            <a:r>
              <a:rPr lang="en-US" sz="2800" i="1" dirty="0">
                <a:solidFill>
                  <a:schemeClr val="tx1"/>
                </a:solidFill>
              </a:rPr>
              <a:t>unexpected</a:t>
            </a:r>
            <a:r>
              <a:rPr lang="en-US" sz="2800" dirty="0">
                <a:solidFill>
                  <a:schemeClr val="tx1"/>
                </a:solidFill>
              </a:rPr>
              <a:t> salient stimuli.</a:t>
            </a:r>
          </a:p>
          <a:p>
            <a:pPr lvl="1">
              <a:buFont typeface="Arial" panose="020B0604020202020204" pitchFamily="34" charset="0"/>
              <a:buChar char="•"/>
            </a:pPr>
            <a:r>
              <a:rPr lang="en-US" sz="2800" dirty="0">
                <a:solidFill>
                  <a:schemeClr val="tx1"/>
                </a:solidFill>
              </a:rPr>
              <a:t>Reflexive attention</a:t>
            </a:r>
          </a:p>
          <a:p>
            <a:pPr>
              <a:buFont typeface="Arial" panose="020B0604020202020204" pitchFamily="34" charset="0"/>
              <a:buChar char="•"/>
            </a:pPr>
            <a:endParaRPr lang="en-US" sz="2800" dirty="0">
              <a:solidFill>
                <a:schemeClr val="tx1"/>
              </a:solidFill>
            </a:endParaRPr>
          </a:p>
          <a:p>
            <a:endParaRPr lang="en-US" dirty="0"/>
          </a:p>
        </p:txBody>
      </p:sp>
      <p:pic>
        <p:nvPicPr>
          <p:cNvPr id="5" name="Picture 4">
            <a:extLst>
              <a:ext uri="{FF2B5EF4-FFF2-40B4-BE49-F238E27FC236}">
                <a16:creationId xmlns:a16="http://schemas.microsoft.com/office/drawing/2014/main" id="{B52F781E-C070-6847-6B29-CED283DF61AE}"/>
              </a:ext>
            </a:extLst>
          </p:cNvPr>
          <p:cNvPicPr>
            <a:picLocks noChangeAspect="1"/>
          </p:cNvPicPr>
          <p:nvPr/>
        </p:nvPicPr>
        <p:blipFill>
          <a:blip r:embed="rId2"/>
          <a:stretch>
            <a:fillRect/>
          </a:stretch>
        </p:blipFill>
        <p:spPr>
          <a:xfrm>
            <a:off x="7010400" y="1806982"/>
            <a:ext cx="4145280" cy="5051018"/>
          </a:xfrm>
          <a:prstGeom prst="rect">
            <a:avLst/>
          </a:prstGeom>
        </p:spPr>
      </p:pic>
      <p:sp>
        <p:nvSpPr>
          <p:cNvPr id="6" name="Frame 5">
            <a:extLst>
              <a:ext uri="{FF2B5EF4-FFF2-40B4-BE49-F238E27FC236}">
                <a16:creationId xmlns:a16="http://schemas.microsoft.com/office/drawing/2014/main" id="{81A628FC-4FC0-7768-15A2-2D8FC7776B05}"/>
              </a:ext>
            </a:extLst>
          </p:cNvPr>
          <p:cNvSpPr/>
          <p:nvPr/>
        </p:nvSpPr>
        <p:spPr>
          <a:xfrm>
            <a:off x="9448800" y="5334000"/>
            <a:ext cx="1600200" cy="609600"/>
          </a:xfrm>
          <a:prstGeom prst="frame">
            <a:avLst>
              <a:gd name="adj1" fmla="val 5183"/>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061478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A0F90-2940-43A6-9A74-D35D5DB244CF}"/>
              </a:ext>
            </a:extLst>
          </p:cNvPr>
          <p:cNvSpPr>
            <a:spLocks noGrp="1"/>
          </p:cNvSpPr>
          <p:nvPr>
            <p:ph type="title"/>
          </p:nvPr>
        </p:nvSpPr>
        <p:spPr>
          <a:xfrm>
            <a:off x="1143000" y="457200"/>
            <a:ext cx="6726974" cy="1126966"/>
          </a:xfrm>
        </p:spPr>
        <p:txBody>
          <a:bodyPr>
            <a:normAutofit fontScale="90000"/>
          </a:bodyPr>
          <a:lstStyle/>
          <a:p>
            <a:pPr algn="ctr"/>
            <a:r>
              <a:rPr lang="en-US" dirty="0">
                <a:solidFill>
                  <a:schemeClr val="tx1"/>
                </a:solidFill>
              </a:rPr>
              <a:t>Damage to Parietal Lobe: Contralateral  Neglect</a:t>
            </a:r>
          </a:p>
        </p:txBody>
      </p:sp>
      <p:sp>
        <p:nvSpPr>
          <p:cNvPr id="3" name="Content Placeholder 2">
            <a:extLst>
              <a:ext uri="{FF2B5EF4-FFF2-40B4-BE49-F238E27FC236}">
                <a16:creationId xmlns:a16="http://schemas.microsoft.com/office/drawing/2014/main" id="{0AC1DCC6-9B36-4CBF-BBDD-A5656B95F6F0}"/>
              </a:ext>
            </a:extLst>
          </p:cNvPr>
          <p:cNvSpPr>
            <a:spLocks noGrp="1"/>
          </p:cNvSpPr>
          <p:nvPr>
            <p:ph idx="1"/>
          </p:nvPr>
        </p:nvSpPr>
        <p:spPr>
          <a:xfrm>
            <a:off x="807630" y="1828800"/>
            <a:ext cx="3306726" cy="4419600"/>
          </a:xfrm>
        </p:spPr>
        <p:txBody>
          <a:bodyPr>
            <a:noAutofit/>
          </a:bodyPr>
          <a:lstStyle/>
          <a:p>
            <a:r>
              <a:rPr lang="en-US" sz="2800" dirty="0">
                <a:solidFill>
                  <a:schemeClr val="tx1"/>
                </a:solidFill>
              </a:rPr>
              <a:t>A syndrome in which a person fails to pay attention to objects presented to one side of the body.</a:t>
            </a:r>
          </a:p>
          <a:p>
            <a:r>
              <a:rPr lang="en-US" sz="2800" dirty="0">
                <a:solidFill>
                  <a:schemeClr val="tx1"/>
                </a:solidFill>
              </a:rPr>
              <a:t>Linked to damage of regions related to attention control, especially right inferior parietal cortex</a:t>
            </a:r>
          </a:p>
        </p:txBody>
      </p:sp>
      <p:pic>
        <p:nvPicPr>
          <p:cNvPr id="4" name="Picture 3">
            <a:extLst>
              <a:ext uri="{FF2B5EF4-FFF2-40B4-BE49-F238E27FC236}">
                <a16:creationId xmlns:a16="http://schemas.microsoft.com/office/drawing/2014/main" id="{020092D0-F124-44C2-B58A-C8BB266FE682}"/>
              </a:ext>
            </a:extLst>
          </p:cNvPr>
          <p:cNvPicPr>
            <a:picLocks noChangeAspect="1"/>
          </p:cNvPicPr>
          <p:nvPr/>
        </p:nvPicPr>
        <p:blipFill>
          <a:blip r:embed="rId3"/>
          <a:stretch>
            <a:fillRect/>
          </a:stretch>
        </p:blipFill>
        <p:spPr>
          <a:xfrm>
            <a:off x="8203757" y="76493"/>
            <a:ext cx="3988243" cy="6781507"/>
          </a:xfrm>
          <a:prstGeom prst="rect">
            <a:avLst/>
          </a:prstGeom>
        </p:spPr>
      </p:pic>
      <p:pic>
        <p:nvPicPr>
          <p:cNvPr id="5" name="Picture 4">
            <a:extLst>
              <a:ext uri="{FF2B5EF4-FFF2-40B4-BE49-F238E27FC236}">
                <a16:creationId xmlns:a16="http://schemas.microsoft.com/office/drawing/2014/main" id="{8EF97C28-999C-4A16-B0C1-A2F19D7ACA80}"/>
              </a:ext>
            </a:extLst>
          </p:cNvPr>
          <p:cNvPicPr>
            <a:picLocks noChangeAspect="1"/>
          </p:cNvPicPr>
          <p:nvPr/>
        </p:nvPicPr>
        <p:blipFill>
          <a:blip r:embed="rId4"/>
          <a:srcRect r="49843"/>
          <a:stretch>
            <a:fillRect/>
          </a:stretch>
        </p:blipFill>
        <p:spPr>
          <a:xfrm>
            <a:off x="4101656" y="1886668"/>
            <a:ext cx="4114801" cy="3395766"/>
          </a:xfrm>
          <a:prstGeom prst="rect">
            <a:avLst/>
          </a:prstGeom>
        </p:spPr>
      </p:pic>
      <p:sp>
        <p:nvSpPr>
          <p:cNvPr id="6" name="Rectangle 5">
            <a:extLst>
              <a:ext uri="{FF2B5EF4-FFF2-40B4-BE49-F238E27FC236}">
                <a16:creationId xmlns:a16="http://schemas.microsoft.com/office/drawing/2014/main" id="{F436A74D-C199-B420-1E9E-B32584D63EF6}"/>
              </a:ext>
            </a:extLst>
          </p:cNvPr>
          <p:cNvSpPr/>
          <p:nvPr/>
        </p:nvSpPr>
        <p:spPr>
          <a:xfrm>
            <a:off x="6769100" y="4672834"/>
            <a:ext cx="1421957" cy="381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8687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a:extLst>
              <a:ext uri="{FF2B5EF4-FFF2-40B4-BE49-F238E27FC236}">
                <a16:creationId xmlns:a16="http://schemas.microsoft.com/office/drawing/2014/main" id="{617229B2-F092-E362-148E-A50FDC9220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0149" b="21342"/>
          <a:stretch>
            <a:fillRect/>
          </a:stretch>
        </p:blipFill>
        <p:spPr bwMode="auto">
          <a:xfrm>
            <a:off x="1428750" y="2774157"/>
            <a:ext cx="9334500" cy="4083843"/>
          </a:xfrm>
          <a:prstGeom prst="rect">
            <a:avLst/>
          </a:prstGeom>
          <a:noFill/>
          <a:extLst>
            <a:ext uri="{909E8E84-426E-40DD-AFC4-6F175D3DCCD1}">
              <a14:hiddenFill xmlns:a14="http://schemas.microsoft.com/office/drawing/2010/main">
                <a:solidFill>
                  <a:srgbClr val="FFFFFF"/>
                </a:solidFill>
              </a14:hiddenFill>
            </a:ext>
          </a:extLst>
        </p:spPr>
      </p:pic>
      <p:sp>
        <p:nvSpPr>
          <p:cNvPr id="78851" name="Rectangle 3">
            <a:extLst>
              <a:ext uri="{FF2B5EF4-FFF2-40B4-BE49-F238E27FC236}">
                <a16:creationId xmlns:a16="http://schemas.microsoft.com/office/drawing/2014/main" id="{051733B5-A3E7-4C43-CB11-5E19C91DAC79}"/>
              </a:ext>
            </a:extLst>
          </p:cNvPr>
          <p:cNvSpPr>
            <a:spLocks noGrp="1" noChangeArrowheads="1"/>
          </p:cNvSpPr>
          <p:nvPr>
            <p:ph type="title"/>
          </p:nvPr>
        </p:nvSpPr>
        <p:spPr/>
        <p:txBody>
          <a:bodyPr>
            <a:normAutofit/>
          </a:bodyPr>
          <a:lstStyle/>
          <a:p>
            <a:pPr algn="ctr"/>
            <a:r>
              <a:rPr lang="en-US" altLang="en-US" dirty="0">
                <a:solidFill>
                  <a:schemeClr val="tx1"/>
                </a:solidFill>
              </a:rPr>
              <a:t>Functional asymmetry in parietal cortex is thought to contribute to left neglect</a:t>
            </a:r>
          </a:p>
        </p:txBody>
      </p:sp>
      <p:sp>
        <p:nvSpPr>
          <p:cNvPr id="3" name="Rectangle 3">
            <a:extLst>
              <a:ext uri="{FF2B5EF4-FFF2-40B4-BE49-F238E27FC236}">
                <a16:creationId xmlns:a16="http://schemas.microsoft.com/office/drawing/2014/main" id="{310CE5EF-0776-9711-7174-A7C9883BBA0A}"/>
              </a:ext>
            </a:extLst>
          </p:cNvPr>
          <p:cNvSpPr txBox="1">
            <a:spLocks noChangeArrowheads="1"/>
          </p:cNvSpPr>
          <p:nvPr/>
        </p:nvSpPr>
        <p:spPr>
          <a:xfrm>
            <a:off x="1219200" y="1737360"/>
            <a:ext cx="9936480" cy="1450757"/>
          </a:xfrm>
          <a:prstGeom prst="rect">
            <a:avLst/>
          </a:prstGeom>
        </p:spPr>
        <p:txBody>
          <a:bodyPr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en-US" sz="2400" dirty="0">
                <a:latin typeface="Calibri" panose="020F0502020204030204" pitchFamily="34" charset="0"/>
              </a:rPr>
              <a:t>Attention to right visual space is represented on both sides.</a:t>
            </a:r>
          </a:p>
          <a:p>
            <a:pPr marL="0" indent="0">
              <a:buNone/>
            </a:pPr>
            <a:r>
              <a:rPr lang="en-US" altLang="en-US" sz="2400" dirty="0">
                <a:latin typeface="Calibri" panose="020F0502020204030204" pitchFamily="34" charset="0"/>
              </a:rPr>
              <a:t>Attention to left visual space is represented only in right parietal cortex</a:t>
            </a:r>
          </a:p>
          <a:p>
            <a:pPr marL="0" indent="0">
              <a:buFont typeface="Arial" panose="020B0604020202020204" pitchFamily="34" charset="0"/>
              <a:buNone/>
            </a:pPr>
            <a:endParaRPr lang="en-US" altLang="en-US" sz="2400" dirty="0">
              <a:latin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4CE4A4E-A563-4BFA-2BE4-0475DBA1953F}"/>
              </a:ext>
            </a:extLst>
          </p:cNvPr>
          <p:cNvSpPr>
            <a:spLocks noGrp="1"/>
          </p:cNvSpPr>
          <p:nvPr>
            <p:ph type="title"/>
          </p:nvPr>
        </p:nvSpPr>
        <p:spPr>
          <a:xfrm>
            <a:off x="1516380" y="0"/>
            <a:ext cx="3093720" cy="1783080"/>
          </a:xfrm>
        </p:spPr>
        <p:txBody>
          <a:bodyPr anchor="b">
            <a:normAutofit/>
          </a:bodyPr>
          <a:lstStyle/>
          <a:p>
            <a:r>
              <a:rPr lang="en-US" sz="5400" dirty="0"/>
              <a:t>Balint’s syndrome</a:t>
            </a:r>
          </a:p>
        </p:txBody>
      </p:sp>
      <p:sp>
        <p:nvSpPr>
          <p:cNvPr id="4" name="Content Placeholder 3">
            <a:extLst>
              <a:ext uri="{FF2B5EF4-FFF2-40B4-BE49-F238E27FC236}">
                <a16:creationId xmlns:a16="http://schemas.microsoft.com/office/drawing/2014/main" id="{0F626E01-5A5D-5207-4C24-67DD5D274224}"/>
              </a:ext>
            </a:extLst>
          </p:cNvPr>
          <p:cNvSpPr>
            <a:spLocks noGrp="1"/>
          </p:cNvSpPr>
          <p:nvPr>
            <p:ph idx="1"/>
          </p:nvPr>
        </p:nvSpPr>
        <p:spPr>
          <a:xfrm>
            <a:off x="1066800" y="1981200"/>
            <a:ext cx="4411926" cy="4267200"/>
          </a:xfrm>
        </p:spPr>
        <p:txBody>
          <a:bodyPr>
            <a:normAutofit/>
          </a:bodyPr>
          <a:lstStyle/>
          <a:p>
            <a:pPr>
              <a:buFont typeface="Arial" panose="020B0604020202020204" pitchFamily="34" charset="0"/>
              <a:buChar char="•"/>
            </a:pPr>
            <a:r>
              <a:rPr lang="en-US" sz="2800" dirty="0"/>
              <a:t>Bilateral damage to posterior parietal cortex</a:t>
            </a:r>
          </a:p>
          <a:p>
            <a:pPr>
              <a:buFont typeface="Arial" panose="020B0604020202020204" pitchFamily="34" charset="0"/>
              <a:buChar char="•"/>
            </a:pPr>
            <a:r>
              <a:rPr lang="en-US" sz="2800" dirty="0"/>
              <a:t>Symptoms include:</a:t>
            </a:r>
          </a:p>
          <a:p>
            <a:pPr lvl="1">
              <a:buFont typeface="Arial" panose="020B0604020202020204" pitchFamily="34" charset="0"/>
              <a:buChar char="•"/>
            </a:pPr>
            <a:r>
              <a:rPr lang="en-US" sz="2800" dirty="0"/>
              <a:t>Simultanagnosia</a:t>
            </a:r>
          </a:p>
          <a:p>
            <a:pPr lvl="1">
              <a:buFont typeface="Arial" panose="020B0604020202020204" pitchFamily="34" charset="0"/>
              <a:buChar char="•"/>
            </a:pPr>
            <a:r>
              <a:rPr lang="en-US" sz="2800" dirty="0"/>
              <a:t>Optic ataxia</a:t>
            </a:r>
          </a:p>
          <a:p>
            <a:pPr lvl="1">
              <a:buFont typeface="Arial" panose="020B0604020202020204" pitchFamily="34" charset="0"/>
              <a:buChar char="•"/>
            </a:pPr>
            <a:r>
              <a:rPr lang="en-US" sz="2800" dirty="0"/>
              <a:t>Oculomotor apraxia</a:t>
            </a:r>
          </a:p>
        </p:txBody>
      </p:sp>
      <p:pic>
        <p:nvPicPr>
          <p:cNvPr id="6" name="Picture 1" descr="Image A shows the left and right lateral views of a brain on the upper left side and the left and right occipital views of a brain on the lower left side. The lateral views show the brain with a lesion in the posterior parietal cortex, and the occipital view shows a lesion in the occipital cortex. A coronal M R I image is shown on the right side.&#10;" title="Clinical Applications">
            <a:extLst>
              <a:ext uri="{FF2B5EF4-FFF2-40B4-BE49-F238E27FC236}">
                <a16:creationId xmlns:a16="http://schemas.microsoft.com/office/drawing/2014/main" id="{9CE81BB3-2BC2-3C37-EC06-AA085D48B0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5486401" y="329184"/>
            <a:ext cx="6391656" cy="295614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 descr="Image A shows the left and right lateral views of a brain on the upper left side and the left and right occipital views of a brain on the lower left side. The lateral views show the brain with a lesion in the posterior parietal cortex, and the occipital view shows a lesion in the occipital cortex. A coronal M R I image is shown on the right side.&#10;" title="Clinical Applications">
            <a:extLst>
              <a:ext uri="{FF2B5EF4-FFF2-40B4-BE49-F238E27FC236}">
                <a16:creationId xmlns:a16="http://schemas.microsoft.com/office/drawing/2014/main" id="{FAB6FEB8-9191-31D2-3D6D-123FC9505837}"/>
              </a:ext>
            </a:extLst>
          </p:cNvPr>
          <p:cNvPicPr>
            <a:picLocks noChangeAspect="1"/>
          </p:cNvPicPr>
          <p:nvPr/>
        </p:nvPicPr>
        <p:blipFill rotWithShape="1">
          <a:blip r:embed="rId4">
            <a:extLst>
              <a:ext uri="{28A0092B-C50C-407E-A947-70E740481C1C}">
                <a14:useLocalDpi xmlns:a14="http://schemas.microsoft.com/office/drawing/2010/main" val="0"/>
              </a:ext>
            </a:extLst>
          </a:blip>
          <a:srcRect r="42943"/>
          <a:stretch/>
        </p:blipFill>
        <p:spPr bwMode="auto">
          <a:xfrm>
            <a:off x="6738675" y="3571633"/>
            <a:ext cx="4135371" cy="309843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8038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CDE3987A-BEF8-9BC7-2929-30621AE483D2}"/>
              </a:ext>
            </a:extLst>
          </p:cNvPr>
          <p:cNvSpPr>
            <a:spLocks noGrp="1" noChangeArrowheads="1"/>
          </p:cNvSpPr>
          <p:nvPr>
            <p:ph type="ctrTitle"/>
          </p:nvPr>
        </p:nvSpPr>
        <p:spPr>
          <a:xfrm>
            <a:off x="890338" y="640080"/>
            <a:ext cx="3734014" cy="3566160"/>
          </a:xfrm>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numCol="1" anchor="b" anchorCtr="0" compatLnSpc="1">
            <a:prstTxWarp prst="textNoShape">
              <a:avLst/>
            </a:prstTxWarp>
            <a:normAutofit/>
          </a:bodyPr>
          <a:lstStyle/>
          <a:p>
            <a:pPr algn="l"/>
            <a:r>
              <a:rPr lang="en-US" altLang="en-US" sz="5400" dirty="0"/>
              <a:t>Frontal Cortex</a:t>
            </a:r>
          </a:p>
        </p:txBody>
      </p:sp>
      <p:pic>
        <p:nvPicPr>
          <p:cNvPr id="2" name="Picture 2">
            <a:extLst>
              <a:ext uri="{FF2B5EF4-FFF2-40B4-BE49-F238E27FC236}">
                <a16:creationId xmlns:a16="http://schemas.microsoft.com/office/drawing/2014/main" id="{D75321F6-8859-8679-168C-C035A096FA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25776"/>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CB3D09CC-3584-2677-6631-2DBA3C71E9C4}"/>
              </a:ext>
            </a:extLst>
          </p:cNvPr>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ctr" anchorCtr="0" compatLnSpc="1">
            <a:prstTxWarp prst="textNoShape">
              <a:avLst/>
            </a:prstTxWarp>
          </a:bodyPr>
          <a:lstStyle/>
          <a:p>
            <a:r>
              <a:rPr lang="en-US" altLang="en-US" dirty="0"/>
              <a:t>Frontal cortex includes</a:t>
            </a:r>
          </a:p>
        </p:txBody>
      </p:sp>
      <p:sp>
        <p:nvSpPr>
          <p:cNvPr id="4" name="Straight Connector 3">
            <a:extLst>
              <a:ext uri="{FF2B5EF4-FFF2-40B4-BE49-F238E27FC236}">
                <a16:creationId xmlns:a16="http://schemas.microsoft.com/office/drawing/2014/main" id="{D333B0A6-354B-2FAE-7748-98DA9C03B05B}"/>
              </a:ext>
            </a:extLst>
          </p:cNvPr>
          <p:cNvSpPr/>
          <p:nvPr/>
        </p:nvSpPr>
        <p:spPr>
          <a:xfrm>
            <a:off x="838200" y="5791200"/>
            <a:ext cx="6858000" cy="0"/>
          </a:xfrm>
          <a:prstGeom prst="line">
            <a:avLst/>
          </a:prstGeom>
          <a:ln>
            <a:solidFill>
              <a:schemeClr val="accent4"/>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latin typeface="Calibri" panose="020F0502020204030204" pitchFamily="34" charset="0"/>
            </a:endParaRPr>
          </a:p>
        </p:txBody>
      </p:sp>
      <p:sp>
        <p:nvSpPr>
          <p:cNvPr id="5" name="Straight Connector 4">
            <a:extLst>
              <a:ext uri="{FF2B5EF4-FFF2-40B4-BE49-F238E27FC236}">
                <a16:creationId xmlns:a16="http://schemas.microsoft.com/office/drawing/2014/main" id="{B2B3D038-54B8-6213-5AFB-B4EFB82A9BAD}"/>
              </a:ext>
            </a:extLst>
          </p:cNvPr>
          <p:cNvSpPr/>
          <p:nvPr/>
        </p:nvSpPr>
        <p:spPr>
          <a:xfrm>
            <a:off x="838200" y="4800600"/>
            <a:ext cx="6858000" cy="0"/>
          </a:xfrm>
          <a:prstGeom prst="line">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latin typeface="Calibri" panose="020F0502020204030204" pitchFamily="34" charset="0"/>
            </a:endParaRPr>
          </a:p>
        </p:txBody>
      </p:sp>
      <p:sp>
        <p:nvSpPr>
          <p:cNvPr id="6" name="Straight Connector 5">
            <a:extLst>
              <a:ext uri="{FF2B5EF4-FFF2-40B4-BE49-F238E27FC236}">
                <a16:creationId xmlns:a16="http://schemas.microsoft.com/office/drawing/2014/main" id="{616DB994-E355-F26F-930F-6180F69CEB94}"/>
              </a:ext>
            </a:extLst>
          </p:cNvPr>
          <p:cNvSpPr/>
          <p:nvPr/>
        </p:nvSpPr>
        <p:spPr>
          <a:xfrm>
            <a:off x="838200" y="3550920"/>
            <a:ext cx="6858000" cy="0"/>
          </a:xfrm>
          <a:prstGeom prst="line">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latin typeface="Calibri" panose="020F0502020204030204" pitchFamily="34" charset="0"/>
            </a:endParaRPr>
          </a:p>
        </p:txBody>
      </p:sp>
      <p:sp>
        <p:nvSpPr>
          <p:cNvPr id="7" name="Straight Connector 6">
            <a:extLst>
              <a:ext uri="{FF2B5EF4-FFF2-40B4-BE49-F238E27FC236}">
                <a16:creationId xmlns:a16="http://schemas.microsoft.com/office/drawing/2014/main" id="{AB98EDF9-9F47-7E32-6D63-EF77BAD84CD3}"/>
              </a:ext>
            </a:extLst>
          </p:cNvPr>
          <p:cNvSpPr/>
          <p:nvPr/>
        </p:nvSpPr>
        <p:spPr>
          <a:xfrm>
            <a:off x="838200" y="2269465"/>
            <a:ext cx="6858000" cy="0"/>
          </a:xfrm>
          <a:prstGeom prst="line">
            <a:avLst/>
          </a:prstGeom>
          <a:ln>
            <a:solidFill>
              <a:schemeClr val="accent3"/>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latin typeface="Calibri" panose="020F0502020204030204" pitchFamily="34" charset="0"/>
            </a:endParaRPr>
          </a:p>
        </p:txBody>
      </p:sp>
      <p:sp>
        <p:nvSpPr>
          <p:cNvPr id="8" name="Freeform: Shape 7">
            <a:extLst>
              <a:ext uri="{FF2B5EF4-FFF2-40B4-BE49-F238E27FC236}">
                <a16:creationId xmlns:a16="http://schemas.microsoft.com/office/drawing/2014/main" id="{44C7CFE1-04BC-FC63-0C24-8EA5C21EDEF8}"/>
              </a:ext>
            </a:extLst>
          </p:cNvPr>
          <p:cNvSpPr/>
          <p:nvPr/>
        </p:nvSpPr>
        <p:spPr>
          <a:xfrm>
            <a:off x="2621279" y="1447991"/>
            <a:ext cx="5074920" cy="821474"/>
          </a:xfrm>
          <a:custGeom>
            <a:avLst/>
            <a:gdLst>
              <a:gd name="connsiteX0" fmla="*/ 0 w 5074920"/>
              <a:gd name="connsiteY0" fmla="*/ 0 h 821474"/>
              <a:gd name="connsiteX1" fmla="*/ 5074920 w 5074920"/>
              <a:gd name="connsiteY1" fmla="*/ 0 h 821474"/>
              <a:gd name="connsiteX2" fmla="*/ 5074920 w 5074920"/>
              <a:gd name="connsiteY2" fmla="*/ 821474 h 821474"/>
              <a:gd name="connsiteX3" fmla="*/ 0 w 5074920"/>
              <a:gd name="connsiteY3" fmla="*/ 821474 h 821474"/>
              <a:gd name="connsiteX4" fmla="*/ 0 w 5074920"/>
              <a:gd name="connsiteY4" fmla="*/ 0 h 821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4920" h="821474">
                <a:moveTo>
                  <a:pt x="0" y="0"/>
                </a:moveTo>
                <a:lnTo>
                  <a:pt x="5074920" y="0"/>
                </a:lnTo>
                <a:lnTo>
                  <a:pt x="5074920" y="821474"/>
                </a:lnTo>
                <a:lnTo>
                  <a:pt x="0" y="82147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0960" tIns="60960" rIns="60960" bIns="60960" numCol="1" spcCol="1270" anchor="b" anchorCtr="0">
            <a:noAutofit/>
          </a:bodyPr>
          <a:lstStyle/>
          <a:p>
            <a:pPr marL="0" lvl="0" indent="0" algn="l" defTabSz="1422400">
              <a:lnSpc>
                <a:spcPct val="90000"/>
              </a:lnSpc>
              <a:spcBef>
                <a:spcPct val="0"/>
              </a:spcBef>
              <a:spcAft>
                <a:spcPct val="35000"/>
              </a:spcAft>
              <a:buNone/>
            </a:pPr>
            <a:r>
              <a:rPr lang="en-US" sz="3200" kern="1200" dirty="0">
                <a:latin typeface="Calibri" panose="020F0502020204030204" pitchFamily="34" charset="0"/>
              </a:rPr>
              <a:t>Primary motor cortex</a:t>
            </a:r>
          </a:p>
        </p:txBody>
      </p:sp>
      <p:sp>
        <p:nvSpPr>
          <p:cNvPr id="9" name="Freeform: Shape 8">
            <a:extLst>
              <a:ext uri="{FF2B5EF4-FFF2-40B4-BE49-F238E27FC236}">
                <a16:creationId xmlns:a16="http://schemas.microsoft.com/office/drawing/2014/main" id="{283AFB48-EA54-8554-EB2D-5F2DA3291511}"/>
              </a:ext>
            </a:extLst>
          </p:cNvPr>
          <p:cNvSpPr/>
          <p:nvPr/>
        </p:nvSpPr>
        <p:spPr>
          <a:xfrm>
            <a:off x="838200" y="1447991"/>
            <a:ext cx="1783080" cy="821474"/>
          </a:xfrm>
          <a:custGeom>
            <a:avLst/>
            <a:gdLst>
              <a:gd name="connsiteX0" fmla="*/ 136940 w 1783080"/>
              <a:gd name="connsiteY0" fmla="*/ 0 h 821474"/>
              <a:gd name="connsiteX1" fmla="*/ 1646140 w 1783080"/>
              <a:gd name="connsiteY1" fmla="*/ 0 h 821474"/>
              <a:gd name="connsiteX2" fmla="*/ 1783080 w 1783080"/>
              <a:gd name="connsiteY2" fmla="*/ 136940 h 821474"/>
              <a:gd name="connsiteX3" fmla="*/ 1783080 w 1783080"/>
              <a:gd name="connsiteY3" fmla="*/ 821474 h 821474"/>
              <a:gd name="connsiteX4" fmla="*/ 1783080 w 1783080"/>
              <a:gd name="connsiteY4" fmla="*/ 821474 h 821474"/>
              <a:gd name="connsiteX5" fmla="*/ 0 w 1783080"/>
              <a:gd name="connsiteY5" fmla="*/ 821474 h 821474"/>
              <a:gd name="connsiteX6" fmla="*/ 0 w 1783080"/>
              <a:gd name="connsiteY6" fmla="*/ 821474 h 821474"/>
              <a:gd name="connsiteX7" fmla="*/ 0 w 1783080"/>
              <a:gd name="connsiteY7" fmla="*/ 136940 h 821474"/>
              <a:gd name="connsiteX8" fmla="*/ 136940 w 1783080"/>
              <a:gd name="connsiteY8" fmla="*/ 0 h 821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3080" h="821474">
                <a:moveTo>
                  <a:pt x="136940" y="0"/>
                </a:moveTo>
                <a:lnTo>
                  <a:pt x="1646140" y="0"/>
                </a:lnTo>
                <a:cubicBezTo>
                  <a:pt x="1721770" y="0"/>
                  <a:pt x="1783080" y="61310"/>
                  <a:pt x="1783080" y="136940"/>
                </a:cubicBezTo>
                <a:lnTo>
                  <a:pt x="1783080" y="821474"/>
                </a:lnTo>
                <a:lnTo>
                  <a:pt x="1783080" y="821474"/>
                </a:lnTo>
                <a:lnTo>
                  <a:pt x="0" y="821474"/>
                </a:lnTo>
                <a:lnTo>
                  <a:pt x="0" y="821474"/>
                </a:lnTo>
                <a:lnTo>
                  <a:pt x="0" y="136940"/>
                </a:lnTo>
                <a:cubicBezTo>
                  <a:pt x="0" y="61310"/>
                  <a:pt x="61310" y="0"/>
                  <a:pt x="136940" y="0"/>
                </a:cubicBezTo>
                <a:close/>
              </a:path>
            </a:pathLst>
          </a:custGeom>
          <a:solidFill>
            <a:schemeClr val="accent3"/>
          </a:solidFill>
          <a:ln>
            <a:solidFill>
              <a:schemeClr val="accent3"/>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8688" tIns="108688" rIns="108688" bIns="68580" numCol="1" spcCol="1270" anchor="ctr" anchorCtr="0">
            <a:noAutofit/>
          </a:bodyPr>
          <a:lstStyle/>
          <a:p>
            <a:pPr marL="0" lvl="0" indent="0" algn="ctr" defTabSz="1600200">
              <a:lnSpc>
                <a:spcPct val="90000"/>
              </a:lnSpc>
              <a:spcBef>
                <a:spcPct val="0"/>
              </a:spcBef>
              <a:spcAft>
                <a:spcPct val="35000"/>
              </a:spcAft>
              <a:buNone/>
            </a:pPr>
            <a:r>
              <a:rPr lang="en-US" sz="3600" kern="1200" dirty="0">
                <a:latin typeface="Calibri" panose="020F0502020204030204" pitchFamily="34" charset="0"/>
              </a:rPr>
              <a:t>BA 4</a:t>
            </a:r>
          </a:p>
        </p:txBody>
      </p:sp>
      <p:sp>
        <p:nvSpPr>
          <p:cNvPr id="10" name="Freeform: Shape 9">
            <a:extLst>
              <a:ext uri="{FF2B5EF4-FFF2-40B4-BE49-F238E27FC236}">
                <a16:creationId xmlns:a16="http://schemas.microsoft.com/office/drawing/2014/main" id="{D63BE0D8-533A-7571-723F-D1C49F9B392B}"/>
              </a:ext>
            </a:extLst>
          </p:cNvPr>
          <p:cNvSpPr/>
          <p:nvPr/>
        </p:nvSpPr>
        <p:spPr>
          <a:xfrm>
            <a:off x="2621279" y="2729445"/>
            <a:ext cx="5227320" cy="821474"/>
          </a:xfrm>
          <a:custGeom>
            <a:avLst/>
            <a:gdLst>
              <a:gd name="connsiteX0" fmla="*/ 0 w 5074920"/>
              <a:gd name="connsiteY0" fmla="*/ 0 h 821474"/>
              <a:gd name="connsiteX1" fmla="*/ 5074920 w 5074920"/>
              <a:gd name="connsiteY1" fmla="*/ 0 h 821474"/>
              <a:gd name="connsiteX2" fmla="*/ 5074920 w 5074920"/>
              <a:gd name="connsiteY2" fmla="*/ 821474 h 821474"/>
              <a:gd name="connsiteX3" fmla="*/ 0 w 5074920"/>
              <a:gd name="connsiteY3" fmla="*/ 821474 h 821474"/>
              <a:gd name="connsiteX4" fmla="*/ 0 w 5074920"/>
              <a:gd name="connsiteY4" fmla="*/ 0 h 821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4920" h="821474">
                <a:moveTo>
                  <a:pt x="0" y="0"/>
                </a:moveTo>
                <a:lnTo>
                  <a:pt x="5074920" y="0"/>
                </a:lnTo>
                <a:lnTo>
                  <a:pt x="5074920" y="821474"/>
                </a:lnTo>
                <a:lnTo>
                  <a:pt x="0" y="82147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0960" tIns="60960" rIns="60960" bIns="60960" numCol="1" spcCol="1270" anchor="b" anchorCtr="0">
            <a:noAutofit/>
          </a:bodyPr>
          <a:lstStyle/>
          <a:p>
            <a:pPr marL="0" lvl="0" indent="0" algn="l" defTabSz="1422400">
              <a:lnSpc>
                <a:spcPct val="90000"/>
              </a:lnSpc>
              <a:spcBef>
                <a:spcPct val="0"/>
              </a:spcBef>
              <a:buNone/>
            </a:pPr>
            <a:r>
              <a:rPr lang="en-US" sz="3200" kern="1200" dirty="0">
                <a:latin typeface="Calibri" panose="020F0502020204030204" pitchFamily="34" charset="0"/>
              </a:rPr>
              <a:t>Premotor cortex</a:t>
            </a:r>
          </a:p>
          <a:p>
            <a:pPr defTabSz="1422400">
              <a:lnSpc>
                <a:spcPct val="90000"/>
              </a:lnSpc>
              <a:spcBef>
                <a:spcPct val="0"/>
              </a:spcBef>
              <a:spcAft>
                <a:spcPct val="35000"/>
              </a:spcAft>
            </a:pPr>
            <a:r>
              <a:rPr lang="en-US" sz="3200" kern="1200" dirty="0">
                <a:latin typeface="Calibri" panose="020F0502020204030204" pitchFamily="34" charset="0"/>
              </a:rPr>
              <a:t>Supplementary motor cortex</a:t>
            </a:r>
          </a:p>
        </p:txBody>
      </p:sp>
      <p:sp>
        <p:nvSpPr>
          <p:cNvPr id="11" name="Freeform: Shape 10">
            <a:extLst>
              <a:ext uri="{FF2B5EF4-FFF2-40B4-BE49-F238E27FC236}">
                <a16:creationId xmlns:a16="http://schemas.microsoft.com/office/drawing/2014/main" id="{2D1857EB-8369-C454-1BA6-5339F2A08CFC}"/>
              </a:ext>
            </a:extLst>
          </p:cNvPr>
          <p:cNvSpPr/>
          <p:nvPr/>
        </p:nvSpPr>
        <p:spPr>
          <a:xfrm>
            <a:off x="838200" y="2438274"/>
            <a:ext cx="1783080" cy="1097280"/>
          </a:xfrm>
          <a:custGeom>
            <a:avLst/>
            <a:gdLst>
              <a:gd name="connsiteX0" fmla="*/ 136940 w 1783080"/>
              <a:gd name="connsiteY0" fmla="*/ 0 h 821474"/>
              <a:gd name="connsiteX1" fmla="*/ 1646140 w 1783080"/>
              <a:gd name="connsiteY1" fmla="*/ 0 h 821474"/>
              <a:gd name="connsiteX2" fmla="*/ 1783080 w 1783080"/>
              <a:gd name="connsiteY2" fmla="*/ 136940 h 821474"/>
              <a:gd name="connsiteX3" fmla="*/ 1783080 w 1783080"/>
              <a:gd name="connsiteY3" fmla="*/ 821474 h 821474"/>
              <a:gd name="connsiteX4" fmla="*/ 1783080 w 1783080"/>
              <a:gd name="connsiteY4" fmla="*/ 821474 h 821474"/>
              <a:gd name="connsiteX5" fmla="*/ 0 w 1783080"/>
              <a:gd name="connsiteY5" fmla="*/ 821474 h 821474"/>
              <a:gd name="connsiteX6" fmla="*/ 0 w 1783080"/>
              <a:gd name="connsiteY6" fmla="*/ 821474 h 821474"/>
              <a:gd name="connsiteX7" fmla="*/ 0 w 1783080"/>
              <a:gd name="connsiteY7" fmla="*/ 136940 h 821474"/>
              <a:gd name="connsiteX8" fmla="*/ 136940 w 1783080"/>
              <a:gd name="connsiteY8" fmla="*/ 0 h 821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3080" h="821474">
                <a:moveTo>
                  <a:pt x="136940" y="0"/>
                </a:moveTo>
                <a:lnTo>
                  <a:pt x="1646140" y="0"/>
                </a:lnTo>
                <a:cubicBezTo>
                  <a:pt x="1721770" y="0"/>
                  <a:pt x="1783080" y="61310"/>
                  <a:pt x="1783080" y="136940"/>
                </a:cubicBezTo>
                <a:lnTo>
                  <a:pt x="1783080" y="821474"/>
                </a:lnTo>
                <a:lnTo>
                  <a:pt x="1783080" y="821474"/>
                </a:lnTo>
                <a:lnTo>
                  <a:pt x="0" y="821474"/>
                </a:lnTo>
                <a:lnTo>
                  <a:pt x="0" y="821474"/>
                </a:lnTo>
                <a:lnTo>
                  <a:pt x="0" y="136940"/>
                </a:lnTo>
                <a:cubicBezTo>
                  <a:pt x="0" y="61310"/>
                  <a:pt x="61310" y="0"/>
                  <a:pt x="136940" y="0"/>
                </a:cubicBez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8688" tIns="108688" rIns="108688" bIns="68580" numCol="1" spcCol="1270" anchor="ctr" anchorCtr="0">
            <a:noAutofit/>
          </a:bodyPr>
          <a:lstStyle/>
          <a:p>
            <a:pPr marL="0" lvl="0" indent="0" algn="ctr" defTabSz="1600200">
              <a:lnSpc>
                <a:spcPct val="90000"/>
              </a:lnSpc>
              <a:spcBef>
                <a:spcPct val="0"/>
              </a:spcBef>
              <a:spcAft>
                <a:spcPct val="35000"/>
              </a:spcAft>
              <a:buNone/>
            </a:pPr>
            <a:r>
              <a:rPr lang="en-US" sz="3600" kern="1200" dirty="0">
                <a:latin typeface="Calibri" panose="020F0502020204030204" pitchFamily="34" charset="0"/>
              </a:rPr>
              <a:t>BA 6     &amp; 8</a:t>
            </a:r>
          </a:p>
        </p:txBody>
      </p:sp>
      <p:sp>
        <p:nvSpPr>
          <p:cNvPr id="13" name="Freeform: Shape 12">
            <a:extLst>
              <a:ext uri="{FF2B5EF4-FFF2-40B4-BE49-F238E27FC236}">
                <a16:creationId xmlns:a16="http://schemas.microsoft.com/office/drawing/2014/main" id="{D507A789-B808-3803-B7A4-8515B61A64CC}"/>
              </a:ext>
            </a:extLst>
          </p:cNvPr>
          <p:cNvSpPr/>
          <p:nvPr/>
        </p:nvSpPr>
        <p:spPr>
          <a:xfrm>
            <a:off x="2621279" y="3979126"/>
            <a:ext cx="5074920" cy="821474"/>
          </a:xfrm>
          <a:custGeom>
            <a:avLst/>
            <a:gdLst>
              <a:gd name="connsiteX0" fmla="*/ 0 w 5074920"/>
              <a:gd name="connsiteY0" fmla="*/ 0 h 821474"/>
              <a:gd name="connsiteX1" fmla="*/ 5074920 w 5074920"/>
              <a:gd name="connsiteY1" fmla="*/ 0 h 821474"/>
              <a:gd name="connsiteX2" fmla="*/ 5074920 w 5074920"/>
              <a:gd name="connsiteY2" fmla="*/ 821474 h 821474"/>
              <a:gd name="connsiteX3" fmla="*/ 0 w 5074920"/>
              <a:gd name="connsiteY3" fmla="*/ 821474 h 821474"/>
              <a:gd name="connsiteX4" fmla="*/ 0 w 5074920"/>
              <a:gd name="connsiteY4" fmla="*/ 0 h 821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4920" h="821474">
                <a:moveTo>
                  <a:pt x="0" y="0"/>
                </a:moveTo>
                <a:lnTo>
                  <a:pt x="5074920" y="0"/>
                </a:lnTo>
                <a:lnTo>
                  <a:pt x="5074920" y="821474"/>
                </a:lnTo>
                <a:lnTo>
                  <a:pt x="0" y="82147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0960" tIns="60960" rIns="60960" bIns="60960" numCol="1" spcCol="1270" anchor="b" anchorCtr="0">
            <a:noAutofit/>
          </a:bodyPr>
          <a:lstStyle/>
          <a:p>
            <a:pPr marL="0" lvl="0" indent="0" algn="l" defTabSz="1422400">
              <a:lnSpc>
                <a:spcPct val="90000"/>
              </a:lnSpc>
              <a:spcBef>
                <a:spcPct val="0"/>
              </a:spcBef>
              <a:spcAft>
                <a:spcPct val="35000"/>
              </a:spcAft>
              <a:buNone/>
            </a:pPr>
            <a:r>
              <a:rPr lang="en-US" sz="3200" kern="1200" dirty="0">
                <a:latin typeface="Calibri" panose="020F0502020204030204" pitchFamily="34" charset="0"/>
              </a:rPr>
              <a:t>Broca’s area</a:t>
            </a:r>
          </a:p>
        </p:txBody>
      </p:sp>
      <p:sp>
        <p:nvSpPr>
          <p:cNvPr id="14" name="Freeform: Shape 13">
            <a:extLst>
              <a:ext uri="{FF2B5EF4-FFF2-40B4-BE49-F238E27FC236}">
                <a16:creationId xmlns:a16="http://schemas.microsoft.com/office/drawing/2014/main" id="{88DD51A8-9FE4-F5FE-EE40-A9980CA7F4C5}"/>
              </a:ext>
            </a:extLst>
          </p:cNvPr>
          <p:cNvSpPr/>
          <p:nvPr/>
        </p:nvSpPr>
        <p:spPr>
          <a:xfrm>
            <a:off x="838200" y="3703320"/>
            <a:ext cx="1783080" cy="1097280"/>
          </a:xfrm>
          <a:custGeom>
            <a:avLst/>
            <a:gdLst>
              <a:gd name="connsiteX0" fmla="*/ 136940 w 1783080"/>
              <a:gd name="connsiteY0" fmla="*/ 0 h 821474"/>
              <a:gd name="connsiteX1" fmla="*/ 1646140 w 1783080"/>
              <a:gd name="connsiteY1" fmla="*/ 0 h 821474"/>
              <a:gd name="connsiteX2" fmla="*/ 1783080 w 1783080"/>
              <a:gd name="connsiteY2" fmla="*/ 136940 h 821474"/>
              <a:gd name="connsiteX3" fmla="*/ 1783080 w 1783080"/>
              <a:gd name="connsiteY3" fmla="*/ 821474 h 821474"/>
              <a:gd name="connsiteX4" fmla="*/ 1783080 w 1783080"/>
              <a:gd name="connsiteY4" fmla="*/ 821474 h 821474"/>
              <a:gd name="connsiteX5" fmla="*/ 0 w 1783080"/>
              <a:gd name="connsiteY5" fmla="*/ 821474 h 821474"/>
              <a:gd name="connsiteX6" fmla="*/ 0 w 1783080"/>
              <a:gd name="connsiteY6" fmla="*/ 821474 h 821474"/>
              <a:gd name="connsiteX7" fmla="*/ 0 w 1783080"/>
              <a:gd name="connsiteY7" fmla="*/ 136940 h 821474"/>
              <a:gd name="connsiteX8" fmla="*/ 136940 w 1783080"/>
              <a:gd name="connsiteY8" fmla="*/ 0 h 821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3080" h="821474">
                <a:moveTo>
                  <a:pt x="136940" y="0"/>
                </a:moveTo>
                <a:lnTo>
                  <a:pt x="1646140" y="0"/>
                </a:lnTo>
                <a:cubicBezTo>
                  <a:pt x="1721770" y="0"/>
                  <a:pt x="1783080" y="61310"/>
                  <a:pt x="1783080" y="136940"/>
                </a:cubicBezTo>
                <a:lnTo>
                  <a:pt x="1783080" y="821474"/>
                </a:lnTo>
                <a:lnTo>
                  <a:pt x="1783080" y="821474"/>
                </a:lnTo>
                <a:lnTo>
                  <a:pt x="0" y="821474"/>
                </a:lnTo>
                <a:lnTo>
                  <a:pt x="0" y="821474"/>
                </a:lnTo>
                <a:lnTo>
                  <a:pt x="0" y="136940"/>
                </a:lnTo>
                <a:cubicBezTo>
                  <a:pt x="0" y="61310"/>
                  <a:pt x="61310" y="0"/>
                  <a:pt x="136940" y="0"/>
                </a:cubicBez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8688" tIns="108688" rIns="108688" bIns="68580" numCol="1" spcCol="1270" anchor="ctr" anchorCtr="0">
            <a:noAutofit/>
          </a:bodyPr>
          <a:lstStyle/>
          <a:p>
            <a:pPr marL="0" lvl="0" indent="0" algn="ctr" defTabSz="1600200">
              <a:lnSpc>
                <a:spcPct val="90000"/>
              </a:lnSpc>
              <a:spcBef>
                <a:spcPct val="0"/>
              </a:spcBef>
              <a:spcAft>
                <a:spcPct val="35000"/>
              </a:spcAft>
              <a:buNone/>
            </a:pPr>
            <a:r>
              <a:rPr lang="en-US" sz="3600" kern="1200" dirty="0">
                <a:latin typeface="Calibri" panose="020F0502020204030204" pitchFamily="34" charset="0"/>
              </a:rPr>
              <a:t>BA 44 (&amp; 45)</a:t>
            </a:r>
          </a:p>
        </p:txBody>
      </p:sp>
      <p:sp>
        <p:nvSpPr>
          <p:cNvPr id="15" name="Rectangle 14">
            <a:extLst>
              <a:ext uri="{FF2B5EF4-FFF2-40B4-BE49-F238E27FC236}">
                <a16:creationId xmlns:a16="http://schemas.microsoft.com/office/drawing/2014/main" id="{03D63222-1909-C042-773B-6818B906EC62}"/>
              </a:ext>
            </a:extLst>
          </p:cNvPr>
          <p:cNvSpPr/>
          <p:nvPr/>
        </p:nvSpPr>
        <p:spPr>
          <a:xfrm>
            <a:off x="2621279" y="4969726"/>
            <a:ext cx="5074920" cy="821474"/>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dirty="0">
              <a:latin typeface="Calibri" panose="020F0502020204030204" pitchFamily="34" charset="0"/>
            </a:endParaRPr>
          </a:p>
        </p:txBody>
      </p:sp>
      <p:sp>
        <p:nvSpPr>
          <p:cNvPr id="16" name="Freeform: Shape 15">
            <a:extLst>
              <a:ext uri="{FF2B5EF4-FFF2-40B4-BE49-F238E27FC236}">
                <a16:creationId xmlns:a16="http://schemas.microsoft.com/office/drawing/2014/main" id="{18DD61F3-4C9E-EB6A-503F-B7B5AC77B972}"/>
              </a:ext>
            </a:extLst>
          </p:cNvPr>
          <p:cNvSpPr/>
          <p:nvPr/>
        </p:nvSpPr>
        <p:spPr>
          <a:xfrm>
            <a:off x="838200" y="4969726"/>
            <a:ext cx="4754880" cy="821474"/>
          </a:xfrm>
          <a:custGeom>
            <a:avLst/>
            <a:gdLst>
              <a:gd name="connsiteX0" fmla="*/ 136940 w 1783080"/>
              <a:gd name="connsiteY0" fmla="*/ 0 h 821474"/>
              <a:gd name="connsiteX1" fmla="*/ 1646140 w 1783080"/>
              <a:gd name="connsiteY1" fmla="*/ 0 h 821474"/>
              <a:gd name="connsiteX2" fmla="*/ 1783080 w 1783080"/>
              <a:gd name="connsiteY2" fmla="*/ 136940 h 821474"/>
              <a:gd name="connsiteX3" fmla="*/ 1783080 w 1783080"/>
              <a:gd name="connsiteY3" fmla="*/ 821474 h 821474"/>
              <a:gd name="connsiteX4" fmla="*/ 1783080 w 1783080"/>
              <a:gd name="connsiteY4" fmla="*/ 821474 h 821474"/>
              <a:gd name="connsiteX5" fmla="*/ 0 w 1783080"/>
              <a:gd name="connsiteY5" fmla="*/ 821474 h 821474"/>
              <a:gd name="connsiteX6" fmla="*/ 0 w 1783080"/>
              <a:gd name="connsiteY6" fmla="*/ 821474 h 821474"/>
              <a:gd name="connsiteX7" fmla="*/ 0 w 1783080"/>
              <a:gd name="connsiteY7" fmla="*/ 136940 h 821474"/>
              <a:gd name="connsiteX8" fmla="*/ 136940 w 1783080"/>
              <a:gd name="connsiteY8" fmla="*/ 0 h 821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3080" h="821474">
                <a:moveTo>
                  <a:pt x="136940" y="0"/>
                </a:moveTo>
                <a:lnTo>
                  <a:pt x="1646140" y="0"/>
                </a:lnTo>
                <a:cubicBezTo>
                  <a:pt x="1721770" y="0"/>
                  <a:pt x="1783080" y="61310"/>
                  <a:pt x="1783080" y="136940"/>
                </a:cubicBezTo>
                <a:lnTo>
                  <a:pt x="1783080" y="821474"/>
                </a:lnTo>
                <a:lnTo>
                  <a:pt x="1783080" y="821474"/>
                </a:lnTo>
                <a:lnTo>
                  <a:pt x="0" y="821474"/>
                </a:lnTo>
                <a:lnTo>
                  <a:pt x="0" y="821474"/>
                </a:lnTo>
                <a:lnTo>
                  <a:pt x="0" y="136940"/>
                </a:lnTo>
                <a:cubicBezTo>
                  <a:pt x="0" y="61310"/>
                  <a:pt x="61310" y="0"/>
                  <a:pt x="136940" y="0"/>
                </a:cubicBezTo>
                <a:close/>
              </a:path>
            </a:pathLst>
          </a:custGeom>
          <a:solidFill>
            <a:schemeClr val="accent4"/>
          </a:solidFill>
          <a:ln>
            <a:solidFill>
              <a:schemeClr val="accent4"/>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8688" tIns="108688" rIns="108688" bIns="68580" numCol="1" spcCol="1270" anchor="ctr" anchorCtr="0">
            <a:noAutofit/>
          </a:bodyPr>
          <a:lstStyle/>
          <a:p>
            <a:pPr marL="0" lvl="0" indent="0" algn="ctr" defTabSz="1600200">
              <a:lnSpc>
                <a:spcPct val="90000"/>
              </a:lnSpc>
              <a:spcBef>
                <a:spcPct val="0"/>
              </a:spcBef>
              <a:spcAft>
                <a:spcPct val="35000"/>
              </a:spcAft>
              <a:buNone/>
            </a:pPr>
            <a:r>
              <a:rPr lang="en-US" sz="3600" kern="1200" dirty="0">
                <a:latin typeface="Calibri" panose="020F0502020204030204" pitchFamily="34" charset="0"/>
              </a:rPr>
              <a:t>Prefrontal cortex (PFC)</a:t>
            </a:r>
          </a:p>
        </p:txBody>
      </p:sp>
      <p:pic>
        <p:nvPicPr>
          <p:cNvPr id="58370" name="Picture 2">
            <a:extLst>
              <a:ext uri="{FF2B5EF4-FFF2-40B4-BE49-F238E27FC236}">
                <a16:creationId xmlns:a16="http://schemas.microsoft.com/office/drawing/2014/main" id="{45814483-91A6-7856-D920-FFE9EA3F70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8600" y="227807"/>
            <a:ext cx="3961417" cy="2925762"/>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D7AB92DB-D1B5-69CD-10D5-8DE96E9A495A}"/>
              </a:ext>
            </a:extLst>
          </p:cNvPr>
          <p:cNvGrpSpPr/>
          <p:nvPr/>
        </p:nvGrpSpPr>
        <p:grpSpPr>
          <a:xfrm>
            <a:off x="8687782" y="3048000"/>
            <a:ext cx="3961418" cy="2743746"/>
            <a:chOff x="7848599" y="3756749"/>
            <a:chExt cx="3961418" cy="2743746"/>
          </a:xfrm>
        </p:grpSpPr>
        <p:pic>
          <p:nvPicPr>
            <p:cNvPr id="3" name="Picture 2">
              <a:extLst>
                <a:ext uri="{FF2B5EF4-FFF2-40B4-BE49-F238E27FC236}">
                  <a16:creationId xmlns:a16="http://schemas.microsoft.com/office/drawing/2014/main" id="{341B8F3C-D139-2A55-177B-8AA26E415593}"/>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48599" y="3756749"/>
              <a:ext cx="3961418" cy="2743746"/>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Shape 11">
              <a:extLst>
                <a:ext uri="{FF2B5EF4-FFF2-40B4-BE49-F238E27FC236}">
                  <a16:creationId xmlns:a16="http://schemas.microsoft.com/office/drawing/2014/main" id="{595A2668-37C6-539F-022E-10141C885E5F}"/>
                </a:ext>
              </a:extLst>
            </p:cNvPr>
            <p:cNvSpPr/>
            <p:nvPr/>
          </p:nvSpPr>
          <p:spPr>
            <a:xfrm>
              <a:off x="8705850" y="4347210"/>
              <a:ext cx="1017885" cy="731520"/>
            </a:xfrm>
            <a:custGeom>
              <a:avLst/>
              <a:gdLst>
                <a:gd name="connsiteX0" fmla="*/ 156210 w 1017885"/>
                <a:gd name="connsiteY0" fmla="*/ 251460 h 731520"/>
                <a:gd name="connsiteX1" fmla="*/ 175260 w 1017885"/>
                <a:gd name="connsiteY1" fmla="*/ 240030 h 731520"/>
                <a:gd name="connsiteX2" fmla="*/ 198120 w 1017885"/>
                <a:gd name="connsiteY2" fmla="*/ 232410 h 731520"/>
                <a:gd name="connsiteX3" fmla="*/ 209550 w 1017885"/>
                <a:gd name="connsiteY3" fmla="*/ 228600 h 731520"/>
                <a:gd name="connsiteX4" fmla="*/ 232410 w 1017885"/>
                <a:gd name="connsiteY4" fmla="*/ 224790 h 731520"/>
                <a:gd name="connsiteX5" fmla="*/ 243840 w 1017885"/>
                <a:gd name="connsiteY5" fmla="*/ 220980 h 731520"/>
                <a:gd name="connsiteX6" fmla="*/ 278130 w 1017885"/>
                <a:gd name="connsiteY6" fmla="*/ 217170 h 731520"/>
                <a:gd name="connsiteX7" fmla="*/ 320040 w 1017885"/>
                <a:gd name="connsiteY7" fmla="*/ 205740 h 731520"/>
                <a:gd name="connsiteX8" fmla="*/ 331470 w 1017885"/>
                <a:gd name="connsiteY8" fmla="*/ 198120 h 731520"/>
                <a:gd name="connsiteX9" fmla="*/ 335280 w 1017885"/>
                <a:gd name="connsiteY9" fmla="*/ 186690 h 731520"/>
                <a:gd name="connsiteX10" fmla="*/ 346710 w 1017885"/>
                <a:gd name="connsiteY10" fmla="*/ 182880 h 731520"/>
                <a:gd name="connsiteX11" fmla="*/ 384810 w 1017885"/>
                <a:gd name="connsiteY11" fmla="*/ 179070 h 731520"/>
                <a:gd name="connsiteX12" fmla="*/ 396240 w 1017885"/>
                <a:gd name="connsiteY12" fmla="*/ 171450 h 731520"/>
                <a:gd name="connsiteX13" fmla="*/ 411480 w 1017885"/>
                <a:gd name="connsiteY13" fmla="*/ 152400 h 731520"/>
                <a:gd name="connsiteX14" fmla="*/ 438150 w 1017885"/>
                <a:gd name="connsiteY14" fmla="*/ 148590 h 731520"/>
                <a:gd name="connsiteX15" fmla="*/ 453390 w 1017885"/>
                <a:gd name="connsiteY15" fmla="*/ 144780 h 731520"/>
                <a:gd name="connsiteX16" fmla="*/ 480060 w 1017885"/>
                <a:gd name="connsiteY16" fmla="*/ 140970 h 731520"/>
                <a:gd name="connsiteX17" fmla="*/ 529590 w 1017885"/>
                <a:gd name="connsiteY17" fmla="*/ 118110 h 731520"/>
                <a:gd name="connsiteX18" fmla="*/ 541020 w 1017885"/>
                <a:gd name="connsiteY18" fmla="*/ 114300 h 731520"/>
                <a:gd name="connsiteX19" fmla="*/ 567690 w 1017885"/>
                <a:gd name="connsiteY19" fmla="*/ 99060 h 731520"/>
                <a:gd name="connsiteX20" fmla="*/ 598170 w 1017885"/>
                <a:gd name="connsiteY20" fmla="*/ 95250 h 731520"/>
                <a:gd name="connsiteX21" fmla="*/ 605790 w 1017885"/>
                <a:gd name="connsiteY21" fmla="*/ 83820 h 731520"/>
                <a:gd name="connsiteX22" fmla="*/ 617220 w 1017885"/>
                <a:gd name="connsiteY22" fmla="*/ 68580 h 731520"/>
                <a:gd name="connsiteX23" fmla="*/ 621030 w 1017885"/>
                <a:gd name="connsiteY23" fmla="*/ 57150 h 731520"/>
                <a:gd name="connsiteX24" fmla="*/ 632460 w 1017885"/>
                <a:gd name="connsiteY24" fmla="*/ 45720 h 731520"/>
                <a:gd name="connsiteX25" fmla="*/ 640080 w 1017885"/>
                <a:gd name="connsiteY25" fmla="*/ 34290 h 731520"/>
                <a:gd name="connsiteX26" fmla="*/ 662940 w 1017885"/>
                <a:gd name="connsiteY26" fmla="*/ 45720 h 731520"/>
                <a:gd name="connsiteX27" fmla="*/ 678180 w 1017885"/>
                <a:gd name="connsiteY27" fmla="*/ 53340 h 731520"/>
                <a:gd name="connsiteX28" fmla="*/ 697230 w 1017885"/>
                <a:gd name="connsiteY28" fmla="*/ 57150 h 731520"/>
                <a:gd name="connsiteX29" fmla="*/ 762000 w 1017885"/>
                <a:gd name="connsiteY29" fmla="*/ 53340 h 731520"/>
                <a:gd name="connsiteX30" fmla="*/ 784860 w 1017885"/>
                <a:gd name="connsiteY30" fmla="*/ 45720 h 731520"/>
                <a:gd name="connsiteX31" fmla="*/ 800100 w 1017885"/>
                <a:gd name="connsiteY31" fmla="*/ 41910 h 731520"/>
                <a:gd name="connsiteX32" fmla="*/ 811530 w 1017885"/>
                <a:gd name="connsiteY32" fmla="*/ 38100 h 731520"/>
                <a:gd name="connsiteX33" fmla="*/ 853440 w 1017885"/>
                <a:gd name="connsiteY33" fmla="*/ 26670 h 731520"/>
                <a:gd name="connsiteX34" fmla="*/ 864870 w 1017885"/>
                <a:gd name="connsiteY34" fmla="*/ 15240 h 731520"/>
                <a:gd name="connsiteX35" fmla="*/ 872490 w 1017885"/>
                <a:gd name="connsiteY35" fmla="*/ 3810 h 731520"/>
                <a:gd name="connsiteX36" fmla="*/ 883920 w 1017885"/>
                <a:gd name="connsiteY36" fmla="*/ 0 h 731520"/>
                <a:gd name="connsiteX37" fmla="*/ 906780 w 1017885"/>
                <a:gd name="connsiteY37" fmla="*/ 11430 h 731520"/>
                <a:gd name="connsiteX38" fmla="*/ 914400 w 1017885"/>
                <a:gd name="connsiteY38" fmla="*/ 22860 h 731520"/>
                <a:gd name="connsiteX39" fmla="*/ 937260 w 1017885"/>
                <a:gd name="connsiteY39" fmla="*/ 26670 h 731520"/>
                <a:gd name="connsiteX40" fmla="*/ 1009650 w 1017885"/>
                <a:gd name="connsiteY40" fmla="*/ 34290 h 731520"/>
                <a:gd name="connsiteX41" fmla="*/ 1009650 w 1017885"/>
                <a:gd name="connsiteY41" fmla="*/ 121920 h 731520"/>
                <a:gd name="connsiteX42" fmla="*/ 982980 w 1017885"/>
                <a:gd name="connsiteY42" fmla="*/ 156210 h 731520"/>
                <a:gd name="connsiteX43" fmla="*/ 967740 w 1017885"/>
                <a:gd name="connsiteY43" fmla="*/ 179070 h 731520"/>
                <a:gd name="connsiteX44" fmla="*/ 960120 w 1017885"/>
                <a:gd name="connsiteY44" fmla="*/ 190500 h 731520"/>
                <a:gd name="connsiteX45" fmla="*/ 948690 w 1017885"/>
                <a:gd name="connsiteY45" fmla="*/ 194310 h 731520"/>
                <a:gd name="connsiteX46" fmla="*/ 929640 w 1017885"/>
                <a:gd name="connsiteY46" fmla="*/ 201930 h 731520"/>
                <a:gd name="connsiteX47" fmla="*/ 887730 w 1017885"/>
                <a:gd name="connsiteY47" fmla="*/ 209550 h 731520"/>
                <a:gd name="connsiteX48" fmla="*/ 857250 w 1017885"/>
                <a:gd name="connsiteY48" fmla="*/ 217170 h 731520"/>
                <a:gd name="connsiteX49" fmla="*/ 842010 w 1017885"/>
                <a:gd name="connsiteY49" fmla="*/ 220980 h 731520"/>
                <a:gd name="connsiteX50" fmla="*/ 826770 w 1017885"/>
                <a:gd name="connsiteY50" fmla="*/ 224790 h 731520"/>
                <a:gd name="connsiteX51" fmla="*/ 769620 w 1017885"/>
                <a:gd name="connsiteY51" fmla="*/ 220980 h 731520"/>
                <a:gd name="connsiteX52" fmla="*/ 739140 w 1017885"/>
                <a:gd name="connsiteY52" fmla="*/ 240030 h 731520"/>
                <a:gd name="connsiteX53" fmla="*/ 697230 w 1017885"/>
                <a:gd name="connsiteY53" fmla="*/ 247650 h 731520"/>
                <a:gd name="connsiteX54" fmla="*/ 659130 w 1017885"/>
                <a:gd name="connsiteY54" fmla="*/ 251460 h 731520"/>
                <a:gd name="connsiteX55" fmla="*/ 636270 w 1017885"/>
                <a:gd name="connsiteY55" fmla="*/ 262890 h 731520"/>
                <a:gd name="connsiteX56" fmla="*/ 624840 w 1017885"/>
                <a:gd name="connsiteY56" fmla="*/ 266700 h 731520"/>
                <a:gd name="connsiteX57" fmla="*/ 594360 w 1017885"/>
                <a:gd name="connsiteY57" fmla="*/ 262890 h 731520"/>
                <a:gd name="connsiteX58" fmla="*/ 541020 w 1017885"/>
                <a:gd name="connsiteY58" fmla="*/ 266700 h 731520"/>
                <a:gd name="connsiteX59" fmla="*/ 525780 w 1017885"/>
                <a:gd name="connsiteY59" fmla="*/ 270510 h 731520"/>
                <a:gd name="connsiteX60" fmla="*/ 514350 w 1017885"/>
                <a:gd name="connsiteY60" fmla="*/ 281940 h 731520"/>
                <a:gd name="connsiteX61" fmla="*/ 419100 w 1017885"/>
                <a:gd name="connsiteY61" fmla="*/ 285750 h 731520"/>
                <a:gd name="connsiteX62" fmla="*/ 400050 w 1017885"/>
                <a:gd name="connsiteY62" fmla="*/ 293370 h 731520"/>
                <a:gd name="connsiteX63" fmla="*/ 373380 w 1017885"/>
                <a:gd name="connsiteY63" fmla="*/ 304800 h 731520"/>
                <a:gd name="connsiteX64" fmla="*/ 350520 w 1017885"/>
                <a:gd name="connsiteY64" fmla="*/ 308610 h 731520"/>
                <a:gd name="connsiteX65" fmla="*/ 339090 w 1017885"/>
                <a:gd name="connsiteY65" fmla="*/ 312420 h 731520"/>
                <a:gd name="connsiteX66" fmla="*/ 316230 w 1017885"/>
                <a:gd name="connsiteY66" fmla="*/ 316230 h 731520"/>
                <a:gd name="connsiteX67" fmla="*/ 300990 w 1017885"/>
                <a:gd name="connsiteY67" fmla="*/ 323850 h 731520"/>
                <a:gd name="connsiteX68" fmla="*/ 281940 w 1017885"/>
                <a:gd name="connsiteY68" fmla="*/ 335280 h 731520"/>
                <a:gd name="connsiteX69" fmla="*/ 255270 w 1017885"/>
                <a:gd name="connsiteY69" fmla="*/ 342900 h 731520"/>
                <a:gd name="connsiteX70" fmla="*/ 243840 w 1017885"/>
                <a:gd name="connsiteY70" fmla="*/ 350520 h 731520"/>
                <a:gd name="connsiteX71" fmla="*/ 220980 w 1017885"/>
                <a:gd name="connsiteY71" fmla="*/ 358140 h 731520"/>
                <a:gd name="connsiteX72" fmla="*/ 182880 w 1017885"/>
                <a:gd name="connsiteY72" fmla="*/ 377190 h 731520"/>
                <a:gd name="connsiteX73" fmla="*/ 171450 w 1017885"/>
                <a:gd name="connsiteY73" fmla="*/ 384810 h 731520"/>
                <a:gd name="connsiteX74" fmla="*/ 144780 w 1017885"/>
                <a:gd name="connsiteY74" fmla="*/ 392430 h 731520"/>
                <a:gd name="connsiteX75" fmla="*/ 133350 w 1017885"/>
                <a:gd name="connsiteY75" fmla="*/ 400050 h 731520"/>
                <a:gd name="connsiteX76" fmla="*/ 118110 w 1017885"/>
                <a:gd name="connsiteY76" fmla="*/ 411480 h 731520"/>
                <a:gd name="connsiteX77" fmla="*/ 106680 w 1017885"/>
                <a:gd name="connsiteY77" fmla="*/ 415290 h 731520"/>
                <a:gd name="connsiteX78" fmla="*/ 91440 w 1017885"/>
                <a:gd name="connsiteY78" fmla="*/ 426720 h 731520"/>
                <a:gd name="connsiteX79" fmla="*/ 76200 w 1017885"/>
                <a:gd name="connsiteY79" fmla="*/ 468630 h 731520"/>
                <a:gd name="connsiteX80" fmla="*/ 80010 w 1017885"/>
                <a:gd name="connsiteY80" fmla="*/ 514350 h 731520"/>
                <a:gd name="connsiteX81" fmla="*/ 87630 w 1017885"/>
                <a:gd name="connsiteY81" fmla="*/ 525780 h 731520"/>
                <a:gd name="connsiteX82" fmla="*/ 95250 w 1017885"/>
                <a:gd name="connsiteY82" fmla="*/ 563880 h 731520"/>
                <a:gd name="connsiteX83" fmla="*/ 99060 w 1017885"/>
                <a:gd name="connsiteY83" fmla="*/ 579120 h 731520"/>
                <a:gd name="connsiteX84" fmla="*/ 114300 w 1017885"/>
                <a:gd name="connsiteY84" fmla="*/ 601980 h 731520"/>
                <a:gd name="connsiteX85" fmla="*/ 125730 w 1017885"/>
                <a:gd name="connsiteY85" fmla="*/ 605790 h 731520"/>
                <a:gd name="connsiteX86" fmla="*/ 140970 w 1017885"/>
                <a:gd name="connsiteY86" fmla="*/ 617220 h 731520"/>
                <a:gd name="connsiteX87" fmla="*/ 171450 w 1017885"/>
                <a:gd name="connsiteY87" fmla="*/ 621030 h 731520"/>
                <a:gd name="connsiteX88" fmla="*/ 217170 w 1017885"/>
                <a:gd name="connsiteY88" fmla="*/ 624840 h 731520"/>
                <a:gd name="connsiteX89" fmla="*/ 228600 w 1017885"/>
                <a:gd name="connsiteY89" fmla="*/ 628650 h 731520"/>
                <a:gd name="connsiteX90" fmla="*/ 240030 w 1017885"/>
                <a:gd name="connsiteY90" fmla="*/ 636270 h 731520"/>
                <a:gd name="connsiteX91" fmla="*/ 255270 w 1017885"/>
                <a:gd name="connsiteY91" fmla="*/ 647700 h 731520"/>
                <a:gd name="connsiteX92" fmla="*/ 270510 w 1017885"/>
                <a:gd name="connsiteY92" fmla="*/ 651510 h 731520"/>
                <a:gd name="connsiteX93" fmla="*/ 373380 w 1017885"/>
                <a:gd name="connsiteY93" fmla="*/ 655320 h 731520"/>
                <a:gd name="connsiteX94" fmla="*/ 381000 w 1017885"/>
                <a:gd name="connsiteY94" fmla="*/ 670560 h 731520"/>
                <a:gd name="connsiteX95" fmla="*/ 400050 w 1017885"/>
                <a:gd name="connsiteY95" fmla="*/ 678180 h 731520"/>
                <a:gd name="connsiteX96" fmla="*/ 457200 w 1017885"/>
                <a:gd name="connsiteY96" fmla="*/ 685800 h 731520"/>
                <a:gd name="connsiteX97" fmla="*/ 468630 w 1017885"/>
                <a:gd name="connsiteY97" fmla="*/ 693420 h 731520"/>
                <a:gd name="connsiteX98" fmla="*/ 495300 w 1017885"/>
                <a:gd name="connsiteY98" fmla="*/ 704850 h 731520"/>
                <a:gd name="connsiteX99" fmla="*/ 506730 w 1017885"/>
                <a:gd name="connsiteY99" fmla="*/ 716280 h 731520"/>
                <a:gd name="connsiteX100" fmla="*/ 445770 w 1017885"/>
                <a:gd name="connsiteY100" fmla="*/ 723900 h 731520"/>
                <a:gd name="connsiteX101" fmla="*/ 434340 w 1017885"/>
                <a:gd name="connsiteY101" fmla="*/ 727710 h 731520"/>
                <a:gd name="connsiteX102" fmla="*/ 415290 w 1017885"/>
                <a:gd name="connsiteY102" fmla="*/ 731520 h 731520"/>
                <a:gd name="connsiteX103" fmla="*/ 373380 w 1017885"/>
                <a:gd name="connsiteY103" fmla="*/ 727710 h 731520"/>
                <a:gd name="connsiteX104" fmla="*/ 281940 w 1017885"/>
                <a:gd name="connsiteY104" fmla="*/ 704850 h 731520"/>
                <a:gd name="connsiteX105" fmla="*/ 205740 w 1017885"/>
                <a:gd name="connsiteY105" fmla="*/ 697230 h 731520"/>
                <a:gd name="connsiteX106" fmla="*/ 171450 w 1017885"/>
                <a:gd name="connsiteY106" fmla="*/ 685800 h 731520"/>
                <a:gd name="connsiteX107" fmla="*/ 148590 w 1017885"/>
                <a:gd name="connsiteY107" fmla="*/ 674370 h 731520"/>
                <a:gd name="connsiteX108" fmla="*/ 137160 w 1017885"/>
                <a:gd name="connsiteY108" fmla="*/ 662940 h 731520"/>
                <a:gd name="connsiteX109" fmla="*/ 125730 w 1017885"/>
                <a:gd name="connsiteY109" fmla="*/ 647700 h 731520"/>
                <a:gd name="connsiteX110" fmla="*/ 118110 w 1017885"/>
                <a:gd name="connsiteY110" fmla="*/ 636270 h 731520"/>
                <a:gd name="connsiteX111" fmla="*/ 99060 w 1017885"/>
                <a:gd name="connsiteY111" fmla="*/ 613410 h 731520"/>
                <a:gd name="connsiteX112" fmla="*/ 95250 w 1017885"/>
                <a:gd name="connsiteY112" fmla="*/ 598170 h 731520"/>
                <a:gd name="connsiteX113" fmla="*/ 83820 w 1017885"/>
                <a:gd name="connsiteY113" fmla="*/ 586740 h 731520"/>
                <a:gd name="connsiteX114" fmla="*/ 49530 w 1017885"/>
                <a:gd name="connsiteY114" fmla="*/ 560070 h 731520"/>
                <a:gd name="connsiteX115" fmla="*/ 30480 w 1017885"/>
                <a:gd name="connsiteY115" fmla="*/ 537210 h 731520"/>
                <a:gd name="connsiteX116" fmla="*/ 26670 w 1017885"/>
                <a:gd name="connsiteY116" fmla="*/ 525780 h 731520"/>
                <a:gd name="connsiteX117" fmla="*/ 19050 w 1017885"/>
                <a:gd name="connsiteY117" fmla="*/ 514350 h 731520"/>
                <a:gd name="connsiteX118" fmla="*/ 0 w 1017885"/>
                <a:gd name="connsiteY118" fmla="*/ 483870 h 731520"/>
                <a:gd name="connsiteX119" fmla="*/ 3810 w 1017885"/>
                <a:gd name="connsiteY119" fmla="*/ 468630 h 731520"/>
                <a:gd name="connsiteX120" fmla="*/ 15240 w 1017885"/>
                <a:gd name="connsiteY120" fmla="*/ 461010 h 731520"/>
                <a:gd name="connsiteX121" fmla="*/ 41910 w 1017885"/>
                <a:gd name="connsiteY121" fmla="*/ 434340 h 731520"/>
                <a:gd name="connsiteX122" fmla="*/ 60960 w 1017885"/>
                <a:gd name="connsiteY122" fmla="*/ 411480 h 731520"/>
                <a:gd name="connsiteX123" fmla="*/ 80010 w 1017885"/>
                <a:gd name="connsiteY123" fmla="*/ 384810 h 731520"/>
                <a:gd name="connsiteX124" fmla="*/ 99060 w 1017885"/>
                <a:gd name="connsiteY124" fmla="*/ 358140 h 731520"/>
                <a:gd name="connsiteX125" fmla="*/ 102870 w 1017885"/>
                <a:gd name="connsiteY125" fmla="*/ 346710 h 731520"/>
                <a:gd name="connsiteX126" fmla="*/ 121920 w 1017885"/>
                <a:gd name="connsiteY126" fmla="*/ 312420 h 731520"/>
                <a:gd name="connsiteX127" fmla="*/ 133350 w 1017885"/>
                <a:gd name="connsiteY127" fmla="*/ 300990 h 731520"/>
                <a:gd name="connsiteX128" fmla="*/ 156210 w 1017885"/>
                <a:gd name="connsiteY128" fmla="*/ 251460 h 73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1017885" h="731520">
                  <a:moveTo>
                    <a:pt x="156210" y="251460"/>
                  </a:moveTo>
                  <a:cubicBezTo>
                    <a:pt x="163195" y="241300"/>
                    <a:pt x="168518" y="243094"/>
                    <a:pt x="175260" y="240030"/>
                  </a:cubicBezTo>
                  <a:cubicBezTo>
                    <a:pt x="182572" y="236706"/>
                    <a:pt x="190500" y="234950"/>
                    <a:pt x="198120" y="232410"/>
                  </a:cubicBezTo>
                  <a:cubicBezTo>
                    <a:pt x="201930" y="231140"/>
                    <a:pt x="205589" y="229260"/>
                    <a:pt x="209550" y="228600"/>
                  </a:cubicBezTo>
                  <a:cubicBezTo>
                    <a:pt x="217170" y="227330"/>
                    <a:pt x="224869" y="226466"/>
                    <a:pt x="232410" y="224790"/>
                  </a:cubicBezTo>
                  <a:cubicBezTo>
                    <a:pt x="236330" y="223919"/>
                    <a:pt x="239879" y="221640"/>
                    <a:pt x="243840" y="220980"/>
                  </a:cubicBezTo>
                  <a:cubicBezTo>
                    <a:pt x="255184" y="219089"/>
                    <a:pt x="266745" y="218796"/>
                    <a:pt x="278130" y="217170"/>
                  </a:cubicBezTo>
                  <a:cubicBezTo>
                    <a:pt x="291339" y="215283"/>
                    <a:pt x="308050" y="211069"/>
                    <a:pt x="320040" y="205740"/>
                  </a:cubicBezTo>
                  <a:cubicBezTo>
                    <a:pt x="324224" y="203880"/>
                    <a:pt x="327660" y="200660"/>
                    <a:pt x="331470" y="198120"/>
                  </a:cubicBezTo>
                  <a:cubicBezTo>
                    <a:pt x="332740" y="194310"/>
                    <a:pt x="332440" y="189530"/>
                    <a:pt x="335280" y="186690"/>
                  </a:cubicBezTo>
                  <a:cubicBezTo>
                    <a:pt x="338120" y="183850"/>
                    <a:pt x="342741" y="183491"/>
                    <a:pt x="346710" y="182880"/>
                  </a:cubicBezTo>
                  <a:cubicBezTo>
                    <a:pt x="359325" y="180939"/>
                    <a:pt x="372110" y="180340"/>
                    <a:pt x="384810" y="179070"/>
                  </a:cubicBezTo>
                  <a:cubicBezTo>
                    <a:pt x="388620" y="176530"/>
                    <a:pt x="393379" y="175026"/>
                    <a:pt x="396240" y="171450"/>
                  </a:cubicBezTo>
                  <a:cubicBezTo>
                    <a:pt x="406183" y="159021"/>
                    <a:pt x="391366" y="158434"/>
                    <a:pt x="411480" y="152400"/>
                  </a:cubicBezTo>
                  <a:cubicBezTo>
                    <a:pt x="420082" y="149820"/>
                    <a:pt x="429315" y="150196"/>
                    <a:pt x="438150" y="148590"/>
                  </a:cubicBezTo>
                  <a:cubicBezTo>
                    <a:pt x="443302" y="147653"/>
                    <a:pt x="448238" y="145717"/>
                    <a:pt x="453390" y="144780"/>
                  </a:cubicBezTo>
                  <a:cubicBezTo>
                    <a:pt x="462225" y="143174"/>
                    <a:pt x="471170" y="142240"/>
                    <a:pt x="480060" y="140970"/>
                  </a:cubicBezTo>
                  <a:cubicBezTo>
                    <a:pt x="501061" y="119969"/>
                    <a:pt x="485848" y="131569"/>
                    <a:pt x="529590" y="118110"/>
                  </a:cubicBezTo>
                  <a:cubicBezTo>
                    <a:pt x="533428" y="116929"/>
                    <a:pt x="537428" y="116096"/>
                    <a:pt x="541020" y="114300"/>
                  </a:cubicBezTo>
                  <a:cubicBezTo>
                    <a:pt x="552357" y="108631"/>
                    <a:pt x="554331" y="102400"/>
                    <a:pt x="567690" y="99060"/>
                  </a:cubicBezTo>
                  <a:cubicBezTo>
                    <a:pt x="577623" y="96577"/>
                    <a:pt x="588010" y="96520"/>
                    <a:pt x="598170" y="95250"/>
                  </a:cubicBezTo>
                  <a:cubicBezTo>
                    <a:pt x="600710" y="91440"/>
                    <a:pt x="603128" y="87546"/>
                    <a:pt x="605790" y="83820"/>
                  </a:cubicBezTo>
                  <a:cubicBezTo>
                    <a:pt x="609481" y="78653"/>
                    <a:pt x="614070" y="74093"/>
                    <a:pt x="617220" y="68580"/>
                  </a:cubicBezTo>
                  <a:cubicBezTo>
                    <a:pt x="619213" y="65093"/>
                    <a:pt x="618802" y="60492"/>
                    <a:pt x="621030" y="57150"/>
                  </a:cubicBezTo>
                  <a:cubicBezTo>
                    <a:pt x="624019" y="52667"/>
                    <a:pt x="629011" y="49859"/>
                    <a:pt x="632460" y="45720"/>
                  </a:cubicBezTo>
                  <a:cubicBezTo>
                    <a:pt x="635391" y="42202"/>
                    <a:pt x="637540" y="38100"/>
                    <a:pt x="640080" y="34290"/>
                  </a:cubicBezTo>
                  <a:cubicBezTo>
                    <a:pt x="662046" y="48934"/>
                    <a:pt x="640856" y="36256"/>
                    <a:pt x="662940" y="45720"/>
                  </a:cubicBezTo>
                  <a:cubicBezTo>
                    <a:pt x="668160" y="47957"/>
                    <a:pt x="672792" y="51544"/>
                    <a:pt x="678180" y="53340"/>
                  </a:cubicBezTo>
                  <a:cubicBezTo>
                    <a:pt x="684323" y="55388"/>
                    <a:pt x="690880" y="55880"/>
                    <a:pt x="697230" y="57150"/>
                  </a:cubicBezTo>
                  <a:cubicBezTo>
                    <a:pt x="718820" y="55880"/>
                    <a:pt x="740554" y="56137"/>
                    <a:pt x="762000" y="53340"/>
                  </a:cubicBezTo>
                  <a:cubicBezTo>
                    <a:pt x="769965" y="52301"/>
                    <a:pt x="777068" y="47668"/>
                    <a:pt x="784860" y="45720"/>
                  </a:cubicBezTo>
                  <a:cubicBezTo>
                    <a:pt x="789940" y="44450"/>
                    <a:pt x="795065" y="43349"/>
                    <a:pt x="800100" y="41910"/>
                  </a:cubicBezTo>
                  <a:cubicBezTo>
                    <a:pt x="803962" y="40807"/>
                    <a:pt x="807655" y="39157"/>
                    <a:pt x="811530" y="38100"/>
                  </a:cubicBezTo>
                  <a:cubicBezTo>
                    <a:pt x="858797" y="25209"/>
                    <a:pt x="827131" y="35440"/>
                    <a:pt x="853440" y="26670"/>
                  </a:cubicBezTo>
                  <a:cubicBezTo>
                    <a:pt x="857250" y="22860"/>
                    <a:pt x="861421" y="19379"/>
                    <a:pt x="864870" y="15240"/>
                  </a:cubicBezTo>
                  <a:cubicBezTo>
                    <a:pt x="867801" y="11722"/>
                    <a:pt x="868914" y="6671"/>
                    <a:pt x="872490" y="3810"/>
                  </a:cubicBezTo>
                  <a:cubicBezTo>
                    <a:pt x="875626" y="1301"/>
                    <a:pt x="880110" y="1270"/>
                    <a:pt x="883920" y="0"/>
                  </a:cubicBezTo>
                  <a:cubicBezTo>
                    <a:pt x="893216" y="3099"/>
                    <a:pt x="899394" y="4044"/>
                    <a:pt x="906780" y="11430"/>
                  </a:cubicBezTo>
                  <a:cubicBezTo>
                    <a:pt x="910018" y="14668"/>
                    <a:pt x="910304" y="20812"/>
                    <a:pt x="914400" y="22860"/>
                  </a:cubicBezTo>
                  <a:cubicBezTo>
                    <a:pt x="921310" y="26315"/>
                    <a:pt x="929685" y="25155"/>
                    <a:pt x="937260" y="26670"/>
                  </a:cubicBezTo>
                  <a:cubicBezTo>
                    <a:pt x="983683" y="35955"/>
                    <a:pt x="901112" y="27054"/>
                    <a:pt x="1009650" y="34290"/>
                  </a:cubicBezTo>
                  <a:cubicBezTo>
                    <a:pt x="1020359" y="66417"/>
                    <a:pt x="1020899" y="63425"/>
                    <a:pt x="1009650" y="121920"/>
                  </a:cubicBezTo>
                  <a:cubicBezTo>
                    <a:pt x="1006431" y="138661"/>
                    <a:pt x="992055" y="144542"/>
                    <a:pt x="982980" y="156210"/>
                  </a:cubicBezTo>
                  <a:cubicBezTo>
                    <a:pt x="977357" y="163439"/>
                    <a:pt x="972820" y="171450"/>
                    <a:pt x="967740" y="179070"/>
                  </a:cubicBezTo>
                  <a:cubicBezTo>
                    <a:pt x="965200" y="182880"/>
                    <a:pt x="964464" y="189052"/>
                    <a:pt x="960120" y="190500"/>
                  </a:cubicBezTo>
                  <a:cubicBezTo>
                    <a:pt x="956310" y="191770"/>
                    <a:pt x="952450" y="192900"/>
                    <a:pt x="948690" y="194310"/>
                  </a:cubicBezTo>
                  <a:cubicBezTo>
                    <a:pt x="942286" y="196711"/>
                    <a:pt x="936128" y="199767"/>
                    <a:pt x="929640" y="201930"/>
                  </a:cubicBezTo>
                  <a:cubicBezTo>
                    <a:pt x="912698" y="207577"/>
                    <a:pt x="907562" y="205584"/>
                    <a:pt x="887730" y="209550"/>
                  </a:cubicBezTo>
                  <a:cubicBezTo>
                    <a:pt x="877461" y="211604"/>
                    <a:pt x="867410" y="214630"/>
                    <a:pt x="857250" y="217170"/>
                  </a:cubicBezTo>
                  <a:lnTo>
                    <a:pt x="842010" y="220980"/>
                  </a:lnTo>
                  <a:lnTo>
                    <a:pt x="826770" y="224790"/>
                  </a:lnTo>
                  <a:cubicBezTo>
                    <a:pt x="805990" y="210937"/>
                    <a:pt x="808633" y="209276"/>
                    <a:pt x="769620" y="220980"/>
                  </a:cubicBezTo>
                  <a:cubicBezTo>
                    <a:pt x="758144" y="224423"/>
                    <a:pt x="750888" y="237680"/>
                    <a:pt x="739140" y="240030"/>
                  </a:cubicBezTo>
                  <a:cubicBezTo>
                    <a:pt x="726136" y="242631"/>
                    <a:pt x="710229" y="246025"/>
                    <a:pt x="697230" y="247650"/>
                  </a:cubicBezTo>
                  <a:cubicBezTo>
                    <a:pt x="684565" y="249233"/>
                    <a:pt x="671830" y="250190"/>
                    <a:pt x="659130" y="251460"/>
                  </a:cubicBezTo>
                  <a:cubicBezTo>
                    <a:pt x="651510" y="255270"/>
                    <a:pt x="644055" y="259430"/>
                    <a:pt x="636270" y="262890"/>
                  </a:cubicBezTo>
                  <a:cubicBezTo>
                    <a:pt x="632600" y="264521"/>
                    <a:pt x="628856" y="266700"/>
                    <a:pt x="624840" y="266700"/>
                  </a:cubicBezTo>
                  <a:cubicBezTo>
                    <a:pt x="614601" y="266700"/>
                    <a:pt x="604520" y="264160"/>
                    <a:pt x="594360" y="262890"/>
                  </a:cubicBezTo>
                  <a:cubicBezTo>
                    <a:pt x="576580" y="264160"/>
                    <a:pt x="558736" y="264732"/>
                    <a:pt x="541020" y="266700"/>
                  </a:cubicBezTo>
                  <a:cubicBezTo>
                    <a:pt x="535816" y="267278"/>
                    <a:pt x="530326" y="267912"/>
                    <a:pt x="525780" y="270510"/>
                  </a:cubicBezTo>
                  <a:cubicBezTo>
                    <a:pt x="521102" y="273183"/>
                    <a:pt x="519684" y="281178"/>
                    <a:pt x="514350" y="281940"/>
                  </a:cubicBezTo>
                  <a:cubicBezTo>
                    <a:pt x="482894" y="286434"/>
                    <a:pt x="450850" y="284480"/>
                    <a:pt x="419100" y="285750"/>
                  </a:cubicBezTo>
                  <a:cubicBezTo>
                    <a:pt x="412750" y="288290"/>
                    <a:pt x="406300" y="290592"/>
                    <a:pt x="400050" y="293370"/>
                  </a:cubicBezTo>
                  <a:cubicBezTo>
                    <a:pt x="388402" y="298547"/>
                    <a:pt x="385118" y="302192"/>
                    <a:pt x="373380" y="304800"/>
                  </a:cubicBezTo>
                  <a:cubicBezTo>
                    <a:pt x="365839" y="306476"/>
                    <a:pt x="358061" y="306934"/>
                    <a:pt x="350520" y="308610"/>
                  </a:cubicBezTo>
                  <a:cubicBezTo>
                    <a:pt x="346600" y="309481"/>
                    <a:pt x="343010" y="311549"/>
                    <a:pt x="339090" y="312420"/>
                  </a:cubicBezTo>
                  <a:cubicBezTo>
                    <a:pt x="331549" y="314096"/>
                    <a:pt x="323850" y="314960"/>
                    <a:pt x="316230" y="316230"/>
                  </a:cubicBezTo>
                  <a:cubicBezTo>
                    <a:pt x="311150" y="318770"/>
                    <a:pt x="305955" y="321092"/>
                    <a:pt x="300990" y="323850"/>
                  </a:cubicBezTo>
                  <a:cubicBezTo>
                    <a:pt x="294517" y="327446"/>
                    <a:pt x="288707" y="332272"/>
                    <a:pt x="281940" y="335280"/>
                  </a:cubicBezTo>
                  <a:cubicBezTo>
                    <a:pt x="259967" y="345046"/>
                    <a:pt x="273843" y="333613"/>
                    <a:pt x="255270" y="342900"/>
                  </a:cubicBezTo>
                  <a:cubicBezTo>
                    <a:pt x="251174" y="344948"/>
                    <a:pt x="248024" y="348660"/>
                    <a:pt x="243840" y="350520"/>
                  </a:cubicBezTo>
                  <a:cubicBezTo>
                    <a:pt x="236500" y="353782"/>
                    <a:pt x="228339" y="354921"/>
                    <a:pt x="220980" y="358140"/>
                  </a:cubicBezTo>
                  <a:cubicBezTo>
                    <a:pt x="207971" y="363831"/>
                    <a:pt x="194694" y="369314"/>
                    <a:pt x="182880" y="377190"/>
                  </a:cubicBezTo>
                  <a:cubicBezTo>
                    <a:pt x="179070" y="379730"/>
                    <a:pt x="175546" y="382762"/>
                    <a:pt x="171450" y="384810"/>
                  </a:cubicBezTo>
                  <a:cubicBezTo>
                    <a:pt x="165984" y="387543"/>
                    <a:pt x="149663" y="391209"/>
                    <a:pt x="144780" y="392430"/>
                  </a:cubicBezTo>
                  <a:cubicBezTo>
                    <a:pt x="140970" y="394970"/>
                    <a:pt x="137076" y="397388"/>
                    <a:pt x="133350" y="400050"/>
                  </a:cubicBezTo>
                  <a:cubicBezTo>
                    <a:pt x="128183" y="403741"/>
                    <a:pt x="123623" y="408330"/>
                    <a:pt x="118110" y="411480"/>
                  </a:cubicBezTo>
                  <a:cubicBezTo>
                    <a:pt x="114623" y="413473"/>
                    <a:pt x="110490" y="414020"/>
                    <a:pt x="106680" y="415290"/>
                  </a:cubicBezTo>
                  <a:cubicBezTo>
                    <a:pt x="101600" y="419100"/>
                    <a:pt x="95930" y="422230"/>
                    <a:pt x="91440" y="426720"/>
                  </a:cubicBezTo>
                  <a:cubicBezTo>
                    <a:pt x="80531" y="437629"/>
                    <a:pt x="79020" y="454532"/>
                    <a:pt x="76200" y="468630"/>
                  </a:cubicBezTo>
                  <a:cubicBezTo>
                    <a:pt x="77470" y="483870"/>
                    <a:pt x="77011" y="499354"/>
                    <a:pt x="80010" y="514350"/>
                  </a:cubicBezTo>
                  <a:cubicBezTo>
                    <a:pt x="80908" y="518840"/>
                    <a:pt x="86283" y="521403"/>
                    <a:pt x="87630" y="525780"/>
                  </a:cubicBezTo>
                  <a:cubicBezTo>
                    <a:pt x="91439" y="538159"/>
                    <a:pt x="92109" y="551315"/>
                    <a:pt x="95250" y="563880"/>
                  </a:cubicBezTo>
                  <a:cubicBezTo>
                    <a:pt x="96520" y="568960"/>
                    <a:pt x="96718" y="574436"/>
                    <a:pt x="99060" y="579120"/>
                  </a:cubicBezTo>
                  <a:cubicBezTo>
                    <a:pt x="103156" y="587311"/>
                    <a:pt x="105612" y="599084"/>
                    <a:pt x="114300" y="601980"/>
                  </a:cubicBezTo>
                  <a:lnTo>
                    <a:pt x="125730" y="605790"/>
                  </a:lnTo>
                  <a:cubicBezTo>
                    <a:pt x="130810" y="609600"/>
                    <a:pt x="134946" y="615212"/>
                    <a:pt x="140970" y="617220"/>
                  </a:cubicBezTo>
                  <a:cubicBezTo>
                    <a:pt x="150684" y="620458"/>
                    <a:pt x="161262" y="620011"/>
                    <a:pt x="171450" y="621030"/>
                  </a:cubicBezTo>
                  <a:cubicBezTo>
                    <a:pt x="186667" y="622552"/>
                    <a:pt x="201930" y="623570"/>
                    <a:pt x="217170" y="624840"/>
                  </a:cubicBezTo>
                  <a:cubicBezTo>
                    <a:pt x="220980" y="626110"/>
                    <a:pt x="225008" y="626854"/>
                    <a:pt x="228600" y="628650"/>
                  </a:cubicBezTo>
                  <a:cubicBezTo>
                    <a:pt x="232696" y="630698"/>
                    <a:pt x="236304" y="633608"/>
                    <a:pt x="240030" y="636270"/>
                  </a:cubicBezTo>
                  <a:cubicBezTo>
                    <a:pt x="245197" y="639961"/>
                    <a:pt x="249590" y="644860"/>
                    <a:pt x="255270" y="647700"/>
                  </a:cubicBezTo>
                  <a:cubicBezTo>
                    <a:pt x="259954" y="650042"/>
                    <a:pt x="265285" y="651173"/>
                    <a:pt x="270510" y="651510"/>
                  </a:cubicBezTo>
                  <a:cubicBezTo>
                    <a:pt x="304752" y="653719"/>
                    <a:pt x="339090" y="654050"/>
                    <a:pt x="373380" y="655320"/>
                  </a:cubicBezTo>
                  <a:cubicBezTo>
                    <a:pt x="375920" y="660400"/>
                    <a:pt x="376688" y="666864"/>
                    <a:pt x="381000" y="670560"/>
                  </a:cubicBezTo>
                  <a:cubicBezTo>
                    <a:pt x="386193" y="675011"/>
                    <a:pt x="393646" y="675779"/>
                    <a:pt x="400050" y="678180"/>
                  </a:cubicBezTo>
                  <a:cubicBezTo>
                    <a:pt x="422283" y="686517"/>
                    <a:pt x="421588" y="682832"/>
                    <a:pt x="457200" y="685800"/>
                  </a:cubicBezTo>
                  <a:cubicBezTo>
                    <a:pt x="461010" y="688340"/>
                    <a:pt x="464534" y="691372"/>
                    <a:pt x="468630" y="693420"/>
                  </a:cubicBezTo>
                  <a:cubicBezTo>
                    <a:pt x="485213" y="701711"/>
                    <a:pt x="476801" y="691636"/>
                    <a:pt x="495300" y="704850"/>
                  </a:cubicBezTo>
                  <a:cubicBezTo>
                    <a:pt x="499685" y="707982"/>
                    <a:pt x="502920" y="712470"/>
                    <a:pt x="506730" y="716280"/>
                  </a:cubicBezTo>
                  <a:cubicBezTo>
                    <a:pt x="476595" y="726325"/>
                    <a:pt x="511658" y="715664"/>
                    <a:pt x="445770" y="723900"/>
                  </a:cubicBezTo>
                  <a:cubicBezTo>
                    <a:pt x="441785" y="724398"/>
                    <a:pt x="438236" y="726736"/>
                    <a:pt x="434340" y="727710"/>
                  </a:cubicBezTo>
                  <a:cubicBezTo>
                    <a:pt x="428058" y="729281"/>
                    <a:pt x="421640" y="730250"/>
                    <a:pt x="415290" y="731520"/>
                  </a:cubicBezTo>
                  <a:cubicBezTo>
                    <a:pt x="401320" y="730250"/>
                    <a:pt x="387135" y="730461"/>
                    <a:pt x="373380" y="727710"/>
                  </a:cubicBezTo>
                  <a:cubicBezTo>
                    <a:pt x="284349" y="709904"/>
                    <a:pt x="409453" y="719018"/>
                    <a:pt x="281940" y="704850"/>
                  </a:cubicBezTo>
                  <a:cubicBezTo>
                    <a:pt x="233708" y="699491"/>
                    <a:pt x="259103" y="702081"/>
                    <a:pt x="205740" y="697230"/>
                  </a:cubicBezTo>
                  <a:cubicBezTo>
                    <a:pt x="194310" y="693420"/>
                    <a:pt x="181475" y="692483"/>
                    <a:pt x="171450" y="685800"/>
                  </a:cubicBezTo>
                  <a:cubicBezTo>
                    <a:pt x="156678" y="675952"/>
                    <a:pt x="164364" y="679628"/>
                    <a:pt x="148590" y="674370"/>
                  </a:cubicBezTo>
                  <a:cubicBezTo>
                    <a:pt x="144780" y="670560"/>
                    <a:pt x="140667" y="667031"/>
                    <a:pt x="137160" y="662940"/>
                  </a:cubicBezTo>
                  <a:cubicBezTo>
                    <a:pt x="133027" y="658119"/>
                    <a:pt x="129421" y="652867"/>
                    <a:pt x="125730" y="647700"/>
                  </a:cubicBezTo>
                  <a:cubicBezTo>
                    <a:pt x="123068" y="643974"/>
                    <a:pt x="121041" y="639788"/>
                    <a:pt x="118110" y="636270"/>
                  </a:cubicBezTo>
                  <a:cubicBezTo>
                    <a:pt x="93664" y="606934"/>
                    <a:pt x="117979" y="641789"/>
                    <a:pt x="99060" y="613410"/>
                  </a:cubicBezTo>
                  <a:cubicBezTo>
                    <a:pt x="97790" y="608330"/>
                    <a:pt x="97848" y="602716"/>
                    <a:pt x="95250" y="598170"/>
                  </a:cubicBezTo>
                  <a:cubicBezTo>
                    <a:pt x="92577" y="593492"/>
                    <a:pt x="87959" y="590189"/>
                    <a:pt x="83820" y="586740"/>
                  </a:cubicBezTo>
                  <a:cubicBezTo>
                    <a:pt x="72696" y="577470"/>
                    <a:pt x="57562" y="572118"/>
                    <a:pt x="49530" y="560070"/>
                  </a:cubicBezTo>
                  <a:cubicBezTo>
                    <a:pt x="38921" y="544157"/>
                    <a:pt x="45148" y="551878"/>
                    <a:pt x="30480" y="537210"/>
                  </a:cubicBezTo>
                  <a:cubicBezTo>
                    <a:pt x="29210" y="533400"/>
                    <a:pt x="28466" y="529372"/>
                    <a:pt x="26670" y="525780"/>
                  </a:cubicBezTo>
                  <a:cubicBezTo>
                    <a:pt x="24622" y="521684"/>
                    <a:pt x="21477" y="518233"/>
                    <a:pt x="19050" y="514350"/>
                  </a:cubicBezTo>
                  <a:cubicBezTo>
                    <a:pt x="-3927" y="477588"/>
                    <a:pt x="17411" y="509986"/>
                    <a:pt x="0" y="483870"/>
                  </a:cubicBezTo>
                  <a:cubicBezTo>
                    <a:pt x="1270" y="478790"/>
                    <a:pt x="905" y="472987"/>
                    <a:pt x="3810" y="468630"/>
                  </a:cubicBezTo>
                  <a:cubicBezTo>
                    <a:pt x="6350" y="464820"/>
                    <a:pt x="11836" y="464073"/>
                    <a:pt x="15240" y="461010"/>
                  </a:cubicBezTo>
                  <a:cubicBezTo>
                    <a:pt x="24585" y="452600"/>
                    <a:pt x="34936" y="444801"/>
                    <a:pt x="41910" y="434340"/>
                  </a:cubicBezTo>
                  <a:cubicBezTo>
                    <a:pt x="58751" y="409078"/>
                    <a:pt x="38958" y="437149"/>
                    <a:pt x="60960" y="411480"/>
                  </a:cubicBezTo>
                  <a:cubicBezTo>
                    <a:pt x="71633" y="399028"/>
                    <a:pt x="71395" y="396871"/>
                    <a:pt x="80010" y="384810"/>
                  </a:cubicBezTo>
                  <a:cubicBezTo>
                    <a:pt x="82886" y="380783"/>
                    <a:pt x="96067" y="364126"/>
                    <a:pt x="99060" y="358140"/>
                  </a:cubicBezTo>
                  <a:cubicBezTo>
                    <a:pt x="100856" y="354548"/>
                    <a:pt x="101288" y="350401"/>
                    <a:pt x="102870" y="346710"/>
                  </a:cubicBezTo>
                  <a:cubicBezTo>
                    <a:pt x="106489" y="338267"/>
                    <a:pt x="117103" y="318843"/>
                    <a:pt x="121920" y="312420"/>
                  </a:cubicBezTo>
                  <a:cubicBezTo>
                    <a:pt x="125153" y="308109"/>
                    <a:pt x="129540" y="304800"/>
                    <a:pt x="133350" y="300990"/>
                  </a:cubicBezTo>
                  <a:cubicBezTo>
                    <a:pt x="138134" y="281854"/>
                    <a:pt x="149225" y="261620"/>
                    <a:pt x="156210" y="251460"/>
                  </a:cubicBezTo>
                  <a:close/>
                </a:path>
              </a:pathLst>
            </a:custGeom>
            <a:solidFill>
              <a:srgbClr val="FAF701">
                <a:alpha val="40000"/>
              </a:srgbClr>
            </a:solidFill>
            <a:ln>
              <a:solidFill>
                <a:srgbClr val="FAF7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CB3D09CC-3584-2677-6631-2DBA3C71E9C4}"/>
              </a:ext>
            </a:extLst>
          </p:cNvPr>
          <p:cNvSpPr>
            <a:spLocks noGrp="1" noChangeArrowheads="1"/>
          </p:cNvSpPr>
          <p:nvPr>
            <p:ph type="title"/>
          </p:nvPr>
        </p:nvSpPr>
        <p:spPr>
          <a:xfrm>
            <a:off x="0" y="49343"/>
            <a:ext cx="10058400" cy="1450757"/>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ctr" anchorCtr="0" compatLnSpc="1">
            <a:prstTxWarp prst="textNoShape">
              <a:avLst/>
            </a:prstTxWarp>
          </a:bodyPr>
          <a:lstStyle/>
          <a:p>
            <a:r>
              <a:rPr lang="en-US" altLang="en-US" dirty="0"/>
              <a:t>Prefrontal (PFC) cortex includes</a:t>
            </a:r>
          </a:p>
        </p:txBody>
      </p:sp>
      <p:sp>
        <p:nvSpPr>
          <p:cNvPr id="8" name="Straight Connector 7">
            <a:extLst>
              <a:ext uri="{FF2B5EF4-FFF2-40B4-BE49-F238E27FC236}">
                <a16:creationId xmlns:a16="http://schemas.microsoft.com/office/drawing/2014/main" id="{6EEFB733-0F74-4957-5246-860AC3F4354F}"/>
              </a:ext>
            </a:extLst>
          </p:cNvPr>
          <p:cNvSpPr/>
          <p:nvPr/>
        </p:nvSpPr>
        <p:spPr>
          <a:xfrm>
            <a:off x="304800" y="2274273"/>
            <a:ext cx="7543798" cy="0"/>
          </a:xfrm>
          <a:prstGeom prst="line">
            <a:avLst/>
          </a:prstGeom>
          <a:ln>
            <a:solidFill>
              <a:srgbClr val="092853"/>
            </a:solidFill>
          </a:ln>
        </p:spPr>
        <p:style>
          <a:lnRef idx="2">
            <a:schemeClr val="accent1">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txBody>
          <a:bodyPr/>
          <a:lstStyle/>
          <a:p>
            <a:endParaRPr lang="en-US" dirty="0">
              <a:latin typeface="Calibri" panose="020F0502020204030204" pitchFamily="34" charset="0"/>
            </a:endParaRPr>
          </a:p>
        </p:txBody>
      </p:sp>
      <p:sp>
        <p:nvSpPr>
          <p:cNvPr id="9" name="Freeform: Shape 8">
            <a:extLst>
              <a:ext uri="{FF2B5EF4-FFF2-40B4-BE49-F238E27FC236}">
                <a16:creationId xmlns:a16="http://schemas.microsoft.com/office/drawing/2014/main" id="{E607D55E-2AD8-DBA5-386B-C211876A393D}"/>
              </a:ext>
            </a:extLst>
          </p:cNvPr>
          <p:cNvSpPr/>
          <p:nvPr/>
        </p:nvSpPr>
        <p:spPr>
          <a:xfrm>
            <a:off x="3962400" y="1394494"/>
            <a:ext cx="3886198" cy="879779"/>
          </a:xfrm>
          <a:custGeom>
            <a:avLst/>
            <a:gdLst>
              <a:gd name="connsiteX0" fmla="*/ 0 w 5582410"/>
              <a:gd name="connsiteY0" fmla="*/ 0 h 579007"/>
              <a:gd name="connsiteX1" fmla="*/ 5582410 w 5582410"/>
              <a:gd name="connsiteY1" fmla="*/ 0 h 579007"/>
              <a:gd name="connsiteX2" fmla="*/ 5582410 w 5582410"/>
              <a:gd name="connsiteY2" fmla="*/ 579007 h 579007"/>
              <a:gd name="connsiteX3" fmla="*/ 0 w 5582410"/>
              <a:gd name="connsiteY3" fmla="*/ 579007 h 579007"/>
              <a:gd name="connsiteX4" fmla="*/ 0 w 5582410"/>
              <a:gd name="connsiteY4" fmla="*/ 0 h 579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2410" h="579007">
                <a:moveTo>
                  <a:pt x="0" y="0"/>
                </a:moveTo>
                <a:lnTo>
                  <a:pt x="5582410" y="0"/>
                </a:lnTo>
                <a:lnTo>
                  <a:pt x="5582410" y="579007"/>
                </a:lnTo>
                <a:lnTo>
                  <a:pt x="0" y="57900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2385" tIns="32385" rIns="32385" bIns="32385" numCol="1" spcCol="1270" anchor="b" anchorCtr="0">
            <a:noAutofit/>
          </a:bodyPr>
          <a:lstStyle/>
          <a:p>
            <a:pPr marL="0" lvl="0" indent="0" algn="l" defTabSz="755650">
              <a:lnSpc>
                <a:spcPct val="90000"/>
              </a:lnSpc>
              <a:spcBef>
                <a:spcPct val="0"/>
              </a:spcBef>
              <a:spcAft>
                <a:spcPct val="35000"/>
              </a:spcAft>
              <a:buNone/>
            </a:pPr>
            <a:r>
              <a:rPr lang="en-US" sz="3200" kern="1200" dirty="0">
                <a:latin typeface="Calibri" panose="020F0502020204030204" pitchFamily="34" charset="0"/>
              </a:rPr>
              <a:t>Dorsolateral PFC (DLPFC)</a:t>
            </a:r>
          </a:p>
        </p:txBody>
      </p:sp>
      <p:sp>
        <p:nvSpPr>
          <p:cNvPr id="10" name="Freeform: Shape 9">
            <a:extLst>
              <a:ext uri="{FF2B5EF4-FFF2-40B4-BE49-F238E27FC236}">
                <a16:creationId xmlns:a16="http://schemas.microsoft.com/office/drawing/2014/main" id="{CE8A998B-F361-F47F-26A7-FCB24DF8D838}"/>
              </a:ext>
            </a:extLst>
          </p:cNvPr>
          <p:cNvSpPr/>
          <p:nvPr/>
        </p:nvSpPr>
        <p:spPr>
          <a:xfrm>
            <a:off x="304800" y="1451313"/>
            <a:ext cx="3657600" cy="822960"/>
          </a:xfrm>
          <a:custGeom>
            <a:avLst/>
            <a:gdLst>
              <a:gd name="connsiteX0" fmla="*/ 96520 w 1961387"/>
              <a:gd name="connsiteY0" fmla="*/ 0 h 579007"/>
              <a:gd name="connsiteX1" fmla="*/ 1864867 w 1961387"/>
              <a:gd name="connsiteY1" fmla="*/ 0 h 579007"/>
              <a:gd name="connsiteX2" fmla="*/ 1961387 w 1961387"/>
              <a:gd name="connsiteY2" fmla="*/ 96520 h 579007"/>
              <a:gd name="connsiteX3" fmla="*/ 1961387 w 1961387"/>
              <a:gd name="connsiteY3" fmla="*/ 579007 h 579007"/>
              <a:gd name="connsiteX4" fmla="*/ 1961387 w 1961387"/>
              <a:gd name="connsiteY4" fmla="*/ 579007 h 579007"/>
              <a:gd name="connsiteX5" fmla="*/ 0 w 1961387"/>
              <a:gd name="connsiteY5" fmla="*/ 579007 h 579007"/>
              <a:gd name="connsiteX6" fmla="*/ 0 w 1961387"/>
              <a:gd name="connsiteY6" fmla="*/ 579007 h 579007"/>
              <a:gd name="connsiteX7" fmla="*/ 0 w 1961387"/>
              <a:gd name="connsiteY7" fmla="*/ 96520 h 579007"/>
              <a:gd name="connsiteX8" fmla="*/ 96520 w 1961387"/>
              <a:gd name="connsiteY8" fmla="*/ 0 h 579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1387" h="579007">
                <a:moveTo>
                  <a:pt x="96520" y="0"/>
                </a:moveTo>
                <a:lnTo>
                  <a:pt x="1864867" y="0"/>
                </a:lnTo>
                <a:cubicBezTo>
                  <a:pt x="1918174" y="0"/>
                  <a:pt x="1961387" y="43213"/>
                  <a:pt x="1961387" y="96520"/>
                </a:cubicBezTo>
                <a:lnTo>
                  <a:pt x="1961387" y="579007"/>
                </a:lnTo>
                <a:lnTo>
                  <a:pt x="1961387" y="579007"/>
                </a:lnTo>
                <a:lnTo>
                  <a:pt x="0" y="579007"/>
                </a:lnTo>
                <a:lnTo>
                  <a:pt x="0" y="579007"/>
                </a:lnTo>
                <a:lnTo>
                  <a:pt x="0" y="96520"/>
                </a:lnTo>
                <a:cubicBezTo>
                  <a:pt x="0" y="43213"/>
                  <a:pt x="43213" y="0"/>
                  <a:pt x="96520" y="0"/>
                </a:cubicBezTo>
                <a:close/>
              </a:path>
            </a:pathLst>
          </a:custGeom>
          <a:solidFill>
            <a:srgbClr val="092853"/>
          </a:solidFill>
          <a:ln>
            <a:solidFill>
              <a:srgbClr val="092853"/>
            </a:solid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0655" tIns="60655" rIns="60655" bIns="32385" numCol="1" spcCol="1270" anchor="ctr" anchorCtr="0">
            <a:noAutofit/>
          </a:bodyPr>
          <a:lstStyle/>
          <a:p>
            <a:pPr marL="0" lvl="0" indent="0" algn="ctr" defTabSz="755650">
              <a:lnSpc>
                <a:spcPct val="90000"/>
              </a:lnSpc>
              <a:spcBef>
                <a:spcPct val="0"/>
              </a:spcBef>
              <a:spcAft>
                <a:spcPct val="35000"/>
              </a:spcAft>
              <a:buNone/>
            </a:pPr>
            <a:r>
              <a:rPr lang="en-US" sz="3600" kern="1200" dirty="0">
                <a:latin typeface="Calibri" panose="020F0502020204030204" pitchFamily="34" charset="0"/>
              </a:rPr>
              <a:t>BA 9 &amp; 46</a:t>
            </a:r>
          </a:p>
        </p:txBody>
      </p:sp>
      <p:sp>
        <p:nvSpPr>
          <p:cNvPr id="7" name="Straight Connector 6">
            <a:extLst>
              <a:ext uri="{FF2B5EF4-FFF2-40B4-BE49-F238E27FC236}">
                <a16:creationId xmlns:a16="http://schemas.microsoft.com/office/drawing/2014/main" id="{41D014FE-F444-0E58-26E8-EEC2AD34436E}"/>
              </a:ext>
            </a:extLst>
          </p:cNvPr>
          <p:cNvSpPr/>
          <p:nvPr/>
        </p:nvSpPr>
        <p:spPr>
          <a:xfrm>
            <a:off x="304800" y="3397580"/>
            <a:ext cx="7543798" cy="0"/>
          </a:xfrm>
          <a:prstGeom prst="line">
            <a:avLst/>
          </a:prstGeom>
          <a:ln>
            <a:solidFill>
              <a:srgbClr val="02D087"/>
            </a:solidFill>
          </a:ln>
        </p:spPr>
        <p:style>
          <a:lnRef idx="2">
            <a:schemeClr val="accent1">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txBody>
          <a:bodyPr/>
          <a:lstStyle/>
          <a:p>
            <a:endParaRPr lang="en-US" dirty="0">
              <a:latin typeface="Calibri" panose="020F0502020204030204" pitchFamily="34" charset="0"/>
            </a:endParaRPr>
          </a:p>
        </p:txBody>
      </p:sp>
      <p:sp>
        <p:nvSpPr>
          <p:cNvPr id="11" name="Freeform: Shape 10">
            <a:extLst>
              <a:ext uri="{FF2B5EF4-FFF2-40B4-BE49-F238E27FC236}">
                <a16:creationId xmlns:a16="http://schemas.microsoft.com/office/drawing/2014/main" id="{617B1D77-1EBD-3AE9-543F-8DEB62428517}"/>
              </a:ext>
            </a:extLst>
          </p:cNvPr>
          <p:cNvSpPr/>
          <p:nvPr/>
        </p:nvSpPr>
        <p:spPr>
          <a:xfrm>
            <a:off x="3962400" y="2432533"/>
            <a:ext cx="3886198" cy="965047"/>
          </a:xfrm>
          <a:custGeom>
            <a:avLst/>
            <a:gdLst>
              <a:gd name="connsiteX0" fmla="*/ 0 w 5582410"/>
              <a:gd name="connsiteY0" fmla="*/ 0 h 579007"/>
              <a:gd name="connsiteX1" fmla="*/ 5582410 w 5582410"/>
              <a:gd name="connsiteY1" fmla="*/ 0 h 579007"/>
              <a:gd name="connsiteX2" fmla="*/ 5582410 w 5582410"/>
              <a:gd name="connsiteY2" fmla="*/ 579007 h 579007"/>
              <a:gd name="connsiteX3" fmla="*/ 0 w 5582410"/>
              <a:gd name="connsiteY3" fmla="*/ 579007 h 579007"/>
              <a:gd name="connsiteX4" fmla="*/ 0 w 5582410"/>
              <a:gd name="connsiteY4" fmla="*/ 0 h 579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2410" h="579007">
                <a:moveTo>
                  <a:pt x="0" y="0"/>
                </a:moveTo>
                <a:lnTo>
                  <a:pt x="5582410" y="0"/>
                </a:lnTo>
                <a:lnTo>
                  <a:pt x="5582410" y="579007"/>
                </a:lnTo>
                <a:lnTo>
                  <a:pt x="0" y="57900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2385" tIns="32385" rIns="32385" bIns="32385" numCol="1" spcCol="1270" anchor="b" anchorCtr="0">
            <a:noAutofit/>
          </a:bodyPr>
          <a:lstStyle/>
          <a:p>
            <a:pPr marL="0" lvl="0" indent="0" algn="l" defTabSz="755650">
              <a:lnSpc>
                <a:spcPct val="90000"/>
              </a:lnSpc>
              <a:spcBef>
                <a:spcPct val="0"/>
              </a:spcBef>
              <a:spcAft>
                <a:spcPct val="35000"/>
              </a:spcAft>
              <a:buNone/>
            </a:pPr>
            <a:r>
              <a:rPr lang="en-US" sz="3200" kern="1200" dirty="0">
                <a:latin typeface="Calibri" panose="020F0502020204030204" pitchFamily="34" charset="0"/>
              </a:rPr>
              <a:t>Ventrolateral PFC (VLPFC)</a:t>
            </a:r>
          </a:p>
        </p:txBody>
      </p:sp>
      <p:sp>
        <p:nvSpPr>
          <p:cNvPr id="12" name="Freeform: Shape 11">
            <a:extLst>
              <a:ext uri="{FF2B5EF4-FFF2-40B4-BE49-F238E27FC236}">
                <a16:creationId xmlns:a16="http://schemas.microsoft.com/office/drawing/2014/main" id="{3CD17439-1111-70A8-C38D-87D71B632803}"/>
              </a:ext>
            </a:extLst>
          </p:cNvPr>
          <p:cNvSpPr/>
          <p:nvPr/>
        </p:nvSpPr>
        <p:spPr>
          <a:xfrm>
            <a:off x="304800" y="2574620"/>
            <a:ext cx="3657600" cy="822960"/>
          </a:xfrm>
          <a:custGeom>
            <a:avLst/>
            <a:gdLst>
              <a:gd name="connsiteX0" fmla="*/ 96520 w 1961387"/>
              <a:gd name="connsiteY0" fmla="*/ 0 h 579007"/>
              <a:gd name="connsiteX1" fmla="*/ 1864867 w 1961387"/>
              <a:gd name="connsiteY1" fmla="*/ 0 h 579007"/>
              <a:gd name="connsiteX2" fmla="*/ 1961387 w 1961387"/>
              <a:gd name="connsiteY2" fmla="*/ 96520 h 579007"/>
              <a:gd name="connsiteX3" fmla="*/ 1961387 w 1961387"/>
              <a:gd name="connsiteY3" fmla="*/ 579007 h 579007"/>
              <a:gd name="connsiteX4" fmla="*/ 1961387 w 1961387"/>
              <a:gd name="connsiteY4" fmla="*/ 579007 h 579007"/>
              <a:gd name="connsiteX5" fmla="*/ 0 w 1961387"/>
              <a:gd name="connsiteY5" fmla="*/ 579007 h 579007"/>
              <a:gd name="connsiteX6" fmla="*/ 0 w 1961387"/>
              <a:gd name="connsiteY6" fmla="*/ 579007 h 579007"/>
              <a:gd name="connsiteX7" fmla="*/ 0 w 1961387"/>
              <a:gd name="connsiteY7" fmla="*/ 96520 h 579007"/>
              <a:gd name="connsiteX8" fmla="*/ 96520 w 1961387"/>
              <a:gd name="connsiteY8" fmla="*/ 0 h 579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1387" h="579007">
                <a:moveTo>
                  <a:pt x="96520" y="0"/>
                </a:moveTo>
                <a:lnTo>
                  <a:pt x="1864867" y="0"/>
                </a:lnTo>
                <a:cubicBezTo>
                  <a:pt x="1918174" y="0"/>
                  <a:pt x="1961387" y="43213"/>
                  <a:pt x="1961387" y="96520"/>
                </a:cubicBezTo>
                <a:lnTo>
                  <a:pt x="1961387" y="579007"/>
                </a:lnTo>
                <a:lnTo>
                  <a:pt x="1961387" y="579007"/>
                </a:lnTo>
                <a:lnTo>
                  <a:pt x="0" y="579007"/>
                </a:lnTo>
                <a:lnTo>
                  <a:pt x="0" y="579007"/>
                </a:lnTo>
                <a:lnTo>
                  <a:pt x="0" y="96520"/>
                </a:lnTo>
                <a:cubicBezTo>
                  <a:pt x="0" y="43213"/>
                  <a:pt x="43213" y="0"/>
                  <a:pt x="96520" y="0"/>
                </a:cubicBezTo>
                <a:close/>
              </a:path>
            </a:pathLst>
          </a:custGeom>
          <a:solidFill>
            <a:srgbClr val="02D087"/>
          </a:solidFill>
          <a:ln>
            <a:solidFill>
              <a:srgbClr val="02D087"/>
            </a:solidFill>
          </a:ln>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60655" tIns="60655" rIns="60655" bIns="32385" numCol="1" spcCol="1270" anchor="ctr" anchorCtr="0">
            <a:noAutofit/>
          </a:bodyPr>
          <a:lstStyle/>
          <a:p>
            <a:pPr marL="0" lvl="0" indent="0" algn="ctr" defTabSz="755650">
              <a:lnSpc>
                <a:spcPct val="90000"/>
              </a:lnSpc>
              <a:spcBef>
                <a:spcPct val="0"/>
              </a:spcBef>
              <a:spcAft>
                <a:spcPct val="35000"/>
              </a:spcAft>
              <a:buNone/>
            </a:pPr>
            <a:r>
              <a:rPr lang="en-US" sz="3600" kern="1200" dirty="0">
                <a:latin typeface="Calibri" panose="020F0502020204030204" pitchFamily="34" charset="0"/>
              </a:rPr>
              <a:t>BA 44, 45 &amp; 47/12</a:t>
            </a:r>
          </a:p>
        </p:txBody>
      </p:sp>
      <p:sp>
        <p:nvSpPr>
          <p:cNvPr id="5" name="Straight Connector 4">
            <a:extLst>
              <a:ext uri="{FF2B5EF4-FFF2-40B4-BE49-F238E27FC236}">
                <a16:creationId xmlns:a16="http://schemas.microsoft.com/office/drawing/2014/main" id="{3C53EFD3-5D42-3D1F-7363-D16BA4F4DE31}"/>
              </a:ext>
            </a:extLst>
          </p:cNvPr>
          <p:cNvSpPr/>
          <p:nvPr/>
        </p:nvSpPr>
        <p:spPr>
          <a:xfrm>
            <a:off x="304800" y="5718283"/>
            <a:ext cx="7543798" cy="0"/>
          </a:xfrm>
          <a:prstGeom prst="line">
            <a:avLst/>
          </a:prstGeom>
          <a:ln>
            <a:solidFill>
              <a:srgbClr val="FAF701"/>
            </a:solidFill>
          </a:ln>
        </p:spPr>
        <p:style>
          <a:lnRef idx="2">
            <a:schemeClr val="accent1">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txBody>
          <a:bodyPr/>
          <a:lstStyle/>
          <a:p>
            <a:endParaRPr lang="en-US" dirty="0">
              <a:solidFill>
                <a:schemeClr val="tx1"/>
              </a:solidFill>
              <a:latin typeface="Calibri" panose="020F0502020204030204" pitchFamily="34" charset="0"/>
            </a:endParaRPr>
          </a:p>
        </p:txBody>
      </p:sp>
      <p:sp>
        <p:nvSpPr>
          <p:cNvPr id="17" name="Freeform: Shape 16">
            <a:extLst>
              <a:ext uri="{FF2B5EF4-FFF2-40B4-BE49-F238E27FC236}">
                <a16:creationId xmlns:a16="http://schemas.microsoft.com/office/drawing/2014/main" id="{F0FDA590-5FD0-0C96-AC8E-57E6D9CD611E}"/>
              </a:ext>
            </a:extLst>
          </p:cNvPr>
          <p:cNvSpPr/>
          <p:nvPr/>
        </p:nvSpPr>
        <p:spPr>
          <a:xfrm>
            <a:off x="304800" y="4895323"/>
            <a:ext cx="3657600" cy="822960"/>
          </a:xfrm>
          <a:custGeom>
            <a:avLst/>
            <a:gdLst>
              <a:gd name="connsiteX0" fmla="*/ 96520 w 1961387"/>
              <a:gd name="connsiteY0" fmla="*/ 0 h 579007"/>
              <a:gd name="connsiteX1" fmla="*/ 1864867 w 1961387"/>
              <a:gd name="connsiteY1" fmla="*/ 0 h 579007"/>
              <a:gd name="connsiteX2" fmla="*/ 1961387 w 1961387"/>
              <a:gd name="connsiteY2" fmla="*/ 96520 h 579007"/>
              <a:gd name="connsiteX3" fmla="*/ 1961387 w 1961387"/>
              <a:gd name="connsiteY3" fmla="*/ 579007 h 579007"/>
              <a:gd name="connsiteX4" fmla="*/ 1961387 w 1961387"/>
              <a:gd name="connsiteY4" fmla="*/ 579007 h 579007"/>
              <a:gd name="connsiteX5" fmla="*/ 0 w 1961387"/>
              <a:gd name="connsiteY5" fmla="*/ 579007 h 579007"/>
              <a:gd name="connsiteX6" fmla="*/ 0 w 1961387"/>
              <a:gd name="connsiteY6" fmla="*/ 579007 h 579007"/>
              <a:gd name="connsiteX7" fmla="*/ 0 w 1961387"/>
              <a:gd name="connsiteY7" fmla="*/ 96520 h 579007"/>
              <a:gd name="connsiteX8" fmla="*/ 96520 w 1961387"/>
              <a:gd name="connsiteY8" fmla="*/ 0 h 579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1387" h="579007">
                <a:moveTo>
                  <a:pt x="96520" y="0"/>
                </a:moveTo>
                <a:lnTo>
                  <a:pt x="1864867" y="0"/>
                </a:lnTo>
                <a:cubicBezTo>
                  <a:pt x="1918174" y="0"/>
                  <a:pt x="1961387" y="43213"/>
                  <a:pt x="1961387" y="96520"/>
                </a:cubicBezTo>
                <a:lnTo>
                  <a:pt x="1961387" y="579007"/>
                </a:lnTo>
                <a:lnTo>
                  <a:pt x="1961387" y="579007"/>
                </a:lnTo>
                <a:lnTo>
                  <a:pt x="0" y="579007"/>
                </a:lnTo>
                <a:lnTo>
                  <a:pt x="0" y="579007"/>
                </a:lnTo>
                <a:lnTo>
                  <a:pt x="0" y="96520"/>
                </a:lnTo>
                <a:cubicBezTo>
                  <a:pt x="0" y="43213"/>
                  <a:pt x="43213" y="0"/>
                  <a:pt x="96520" y="0"/>
                </a:cubicBezTo>
                <a:close/>
              </a:path>
            </a:pathLst>
          </a:custGeom>
          <a:solidFill>
            <a:srgbClr val="FAF701"/>
          </a:solidFill>
          <a:ln>
            <a:solidFill>
              <a:srgbClr val="FAF701"/>
            </a:solidFill>
          </a:ln>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60655" tIns="60655" rIns="60655" bIns="32385" numCol="1" spcCol="1270" anchor="ctr" anchorCtr="0">
            <a:noAutofit/>
          </a:bodyPr>
          <a:lstStyle/>
          <a:p>
            <a:pPr marL="0" lvl="0" indent="0" algn="ctr" defTabSz="755650">
              <a:lnSpc>
                <a:spcPct val="90000"/>
              </a:lnSpc>
              <a:spcBef>
                <a:spcPct val="0"/>
              </a:spcBef>
              <a:spcAft>
                <a:spcPct val="35000"/>
              </a:spcAft>
              <a:buNone/>
            </a:pPr>
            <a:r>
              <a:rPr lang="en-US" sz="3600" kern="1200" dirty="0">
                <a:solidFill>
                  <a:schemeClr val="tx1"/>
                </a:solidFill>
                <a:latin typeface="Calibri" panose="020F0502020204030204" pitchFamily="34" charset="0"/>
              </a:rPr>
              <a:t>BA 24, 25 &amp; 32</a:t>
            </a:r>
          </a:p>
        </p:txBody>
      </p:sp>
      <p:sp>
        <p:nvSpPr>
          <p:cNvPr id="4" name="Straight Connector 3">
            <a:extLst>
              <a:ext uri="{FF2B5EF4-FFF2-40B4-BE49-F238E27FC236}">
                <a16:creationId xmlns:a16="http://schemas.microsoft.com/office/drawing/2014/main" id="{59DBFCBA-8D66-9493-22FD-3B681A0E36B2}"/>
              </a:ext>
            </a:extLst>
          </p:cNvPr>
          <p:cNvSpPr/>
          <p:nvPr/>
        </p:nvSpPr>
        <p:spPr>
          <a:xfrm>
            <a:off x="304801" y="6781800"/>
            <a:ext cx="7543798" cy="0"/>
          </a:xfrm>
          <a:prstGeom prst="line">
            <a:avLst/>
          </a:prstGeom>
          <a:ln>
            <a:solidFill>
              <a:schemeClr val="tx1"/>
            </a:solidFill>
          </a:ln>
        </p:spPr>
        <p:style>
          <a:lnRef idx="2">
            <a:schemeClr val="accent1">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txBody>
          <a:bodyPr/>
          <a:lstStyle/>
          <a:p>
            <a:endParaRPr lang="en-US" dirty="0">
              <a:solidFill>
                <a:schemeClr val="tx1"/>
              </a:solidFill>
              <a:latin typeface="Calibri" panose="020F0502020204030204" pitchFamily="34" charset="0"/>
            </a:endParaRPr>
          </a:p>
        </p:txBody>
      </p:sp>
      <p:sp>
        <p:nvSpPr>
          <p:cNvPr id="19" name="Freeform: Shape 18">
            <a:extLst>
              <a:ext uri="{FF2B5EF4-FFF2-40B4-BE49-F238E27FC236}">
                <a16:creationId xmlns:a16="http://schemas.microsoft.com/office/drawing/2014/main" id="{DD4C749E-85E4-7157-1871-DC1822A241FC}"/>
              </a:ext>
            </a:extLst>
          </p:cNvPr>
          <p:cNvSpPr/>
          <p:nvPr/>
        </p:nvSpPr>
        <p:spPr>
          <a:xfrm>
            <a:off x="3962400" y="5876544"/>
            <a:ext cx="3886198" cy="905256"/>
          </a:xfrm>
          <a:custGeom>
            <a:avLst/>
            <a:gdLst>
              <a:gd name="connsiteX0" fmla="*/ 0 w 5582410"/>
              <a:gd name="connsiteY0" fmla="*/ 0 h 579007"/>
              <a:gd name="connsiteX1" fmla="*/ 5582410 w 5582410"/>
              <a:gd name="connsiteY1" fmla="*/ 0 h 579007"/>
              <a:gd name="connsiteX2" fmla="*/ 5582410 w 5582410"/>
              <a:gd name="connsiteY2" fmla="*/ 579007 h 579007"/>
              <a:gd name="connsiteX3" fmla="*/ 0 w 5582410"/>
              <a:gd name="connsiteY3" fmla="*/ 579007 h 579007"/>
              <a:gd name="connsiteX4" fmla="*/ 0 w 5582410"/>
              <a:gd name="connsiteY4" fmla="*/ 0 h 579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2410" h="579007">
                <a:moveTo>
                  <a:pt x="0" y="0"/>
                </a:moveTo>
                <a:lnTo>
                  <a:pt x="5582410" y="0"/>
                </a:lnTo>
                <a:lnTo>
                  <a:pt x="5582410" y="579007"/>
                </a:lnTo>
                <a:lnTo>
                  <a:pt x="0" y="57900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2385" tIns="32385" rIns="32385" bIns="32385" numCol="1" spcCol="1270" anchor="b" anchorCtr="0">
            <a:noAutofit/>
          </a:bodyPr>
          <a:lstStyle/>
          <a:p>
            <a:pPr marL="0" lvl="0" indent="0" algn="l" defTabSz="755650">
              <a:lnSpc>
                <a:spcPct val="90000"/>
              </a:lnSpc>
              <a:spcBef>
                <a:spcPct val="0"/>
              </a:spcBef>
              <a:spcAft>
                <a:spcPct val="35000"/>
              </a:spcAft>
              <a:buNone/>
            </a:pPr>
            <a:r>
              <a:rPr lang="en-US" sz="3200" kern="1200" dirty="0">
                <a:latin typeface="Calibri" panose="020F0502020204030204" pitchFamily="34" charset="0"/>
              </a:rPr>
              <a:t>Posterior cingulate cortex (PCC)</a:t>
            </a:r>
          </a:p>
        </p:txBody>
      </p:sp>
      <p:sp>
        <p:nvSpPr>
          <p:cNvPr id="20" name="Freeform: Shape 19">
            <a:extLst>
              <a:ext uri="{FF2B5EF4-FFF2-40B4-BE49-F238E27FC236}">
                <a16:creationId xmlns:a16="http://schemas.microsoft.com/office/drawing/2014/main" id="{5CD45391-7213-FF04-9FE0-350D4286BBB8}"/>
              </a:ext>
            </a:extLst>
          </p:cNvPr>
          <p:cNvSpPr/>
          <p:nvPr/>
        </p:nvSpPr>
        <p:spPr>
          <a:xfrm>
            <a:off x="304800" y="5958840"/>
            <a:ext cx="3657600" cy="822960"/>
          </a:xfrm>
          <a:custGeom>
            <a:avLst/>
            <a:gdLst>
              <a:gd name="connsiteX0" fmla="*/ 96520 w 1961387"/>
              <a:gd name="connsiteY0" fmla="*/ 0 h 579007"/>
              <a:gd name="connsiteX1" fmla="*/ 1864867 w 1961387"/>
              <a:gd name="connsiteY1" fmla="*/ 0 h 579007"/>
              <a:gd name="connsiteX2" fmla="*/ 1961387 w 1961387"/>
              <a:gd name="connsiteY2" fmla="*/ 96520 h 579007"/>
              <a:gd name="connsiteX3" fmla="*/ 1961387 w 1961387"/>
              <a:gd name="connsiteY3" fmla="*/ 579007 h 579007"/>
              <a:gd name="connsiteX4" fmla="*/ 1961387 w 1961387"/>
              <a:gd name="connsiteY4" fmla="*/ 579007 h 579007"/>
              <a:gd name="connsiteX5" fmla="*/ 0 w 1961387"/>
              <a:gd name="connsiteY5" fmla="*/ 579007 h 579007"/>
              <a:gd name="connsiteX6" fmla="*/ 0 w 1961387"/>
              <a:gd name="connsiteY6" fmla="*/ 579007 h 579007"/>
              <a:gd name="connsiteX7" fmla="*/ 0 w 1961387"/>
              <a:gd name="connsiteY7" fmla="*/ 96520 h 579007"/>
              <a:gd name="connsiteX8" fmla="*/ 96520 w 1961387"/>
              <a:gd name="connsiteY8" fmla="*/ 0 h 579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1387" h="579007">
                <a:moveTo>
                  <a:pt x="96520" y="0"/>
                </a:moveTo>
                <a:lnTo>
                  <a:pt x="1864867" y="0"/>
                </a:lnTo>
                <a:cubicBezTo>
                  <a:pt x="1918174" y="0"/>
                  <a:pt x="1961387" y="43213"/>
                  <a:pt x="1961387" y="96520"/>
                </a:cubicBezTo>
                <a:lnTo>
                  <a:pt x="1961387" y="579007"/>
                </a:lnTo>
                <a:lnTo>
                  <a:pt x="1961387" y="579007"/>
                </a:lnTo>
                <a:lnTo>
                  <a:pt x="0" y="579007"/>
                </a:lnTo>
                <a:lnTo>
                  <a:pt x="0" y="579007"/>
                </a:lnTo>
                <a:lnTo>
                  <a:pt x="0" y="96520"/>
                </a:lnTo>
                <a:cubicBezTo>
                  <a:pt x="0" y="43213"/>
                  <a:pt x="43213" y="0"/>
                  <a:pt x="96520" y="0"/>
                </a:cubicBezTo>
                <a:close/>
              </a:path>
            </a:pathLst>
          </a:custGeom>
          <a:solidFill>
            <a:schemeClr val="bg1"/>
          </a:solidFill>
          <a:ln>
            <a:solidFill>
              <a:schemeClr val="tx1"/>
            </a:solidFill>
          </a:ln>
        </p:spPr>
        <p:style>
          <a:lnRef idx="2">
            <a:schemeClr val="accent6">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60655" tIns="60655" rIns="60655" bIns="32385" numCol="1" spcCol="1270" anchor="ctr" anchorCtr="0">
            <a:noAutofit/>
          </a:bodyPr>
          <a:lstStyle/>
          <a:p>
            <a:pPr marL="0" lvl="0" indent="0" algn="ctr" defTabSz="755650">
              <a:lnSpc>
                <a:spcPct val="90000"/>
              </a:lnSpc>
              <a:spcBef>
                <a:spcPct val="0"/>
              </a:spcBef>
              <a:spcAft>
                <a:spcPct val="35000"/>
              </a:spcAft>
              <a:buNone/>
            </a:pPr>
            <a:r>
              <a:rPr lang="en-US" sz="3600" kern="1200" dirty="0">
                <a:solidFill>
                  <a:schemeClr val="tx1"/>
                </a:solidFill>
                <a:latin typeface="Calibri" panose="020F0502020204030204" pitchFamily="34" charset="0"/>
              </a:rPr>
              <a:t>BA 31 &amp; 23</a:t>
            </a:r>
          </a:p>
        </p:txBody>
      </p:sp>
      <p:pic>
        <p:nvPicPr>
          <p:cNvPr id="58370" name="Picture 2">
            <a:extLst>
              <a:ext uri="{FF2B5EF4-FFF2-40B4-BE49-F238E27FC236}">
                <a16:creationId xmlns:a16="http://schemas.microsoft.com/office/drawing/2014/main" id="{45814483-91A6-7856-D920-FFE9EA3F70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8600" y="227807"/>
            <a:ext cx="3961417" cy="2925762"/>
          </a:xfrm>
          <a:prstGeom prst="rect">
            <a:avLst/>
          </a:prstGeom>
          <a:noFill/>
          <a:extLst>
            <a:ext uri="{909E8E84-426E-40DD-AFC4-6F175D3DCCD1}">
              <a14:hiddenFill xmlns:a14="http://schemas.microsoft.com/office/drawing/2010/main">
                <a:solidFill>
                  <a:srgbClr val="FFFFFF"/>
                </a:solidFill>
              </a14:hiddenFill>
            </a:ext>
          </a:extLst>
        </p:spPr>
      </p:pic>
      <p:sp>
        <p:nvSpPr>
          <p:cNvPr id="6" name="Straight Connector 5">
            <a:extLst>
              <a:ext uri="{FF2B5EF4-FFF2-40B4-BE49-F238E27FC236}">
                <a16:creationId xmlns:a16="http://schemas.microsoft.com/office/drawing/2014/main" id="{2AA32E43-BC02-D331-0A82-2D61C12D7074}"/>
              </a:ext>
            </a:extLst>
          </p:cNvPr>
          <p:cNvSpPr/>
          <p:nvPr/>
        </p:nvSpPr>
        <p:spPr>
          <a:xfrm>
            <a:off x="304800" y="4653120"/>
            <a:ext cx="7543798" cy="0"/>
          </a:xfrm>
          <a:prstGeom prst="line">
            <a:avLst/>
          </a:prstGeom>
          <a:ln>
            <a:solidFill>
              <a:srgbClr val="2277BC"/>
            </a:solidFill>
          </a:ln>
        </p:spPr>
        <p:style>
          <a:lnRef idx="2">
            <a:schemeClr val="accent1">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txBody>
          <a:bodyPr/>
          <a:lstStyle/>
          <a:p>
            <a:endParaRPr lang="en-US" dirty="0">
              <a:latin typeface="Calibri" panose="020F0502020204030204" pitchFamily="34" charset="0"/>
            </a:endParaRPr>
          </a:p>
        </p:txBody>
      </p:sp>
      <p:sp>
        <p:nvSpPr>
          <p:cNvPr id="14" name="Freeform: Shape 13">
            <a:extLst>
              <a:ext uri="{FF2B5EF4-FFF2-40B4-BE49-F238E27FC236}">
                <a16:creationId xmlns:a16="http://schemas.microsoft.com/office/drawing/2014/main" id="{B3FEC604-5A2E-0732-436F-8370435C01A2}"/>
              </a:ext>
            </a:extLst>
          </p:cNvPr>
          <p:cNvSpPr/>
          <p:nvPr/>
        </p:nvSpPr>
        <p:spPr>
          <a:xfrm>
            <a:off x="304800" y="3555840"/>
            <a:ext cx="3017520" cy="1097280"/>
          </a:xfrm>
          <a:custGeom>
            <a:avLst/>
            <a:gdLst>
              <a:gd name="connsiteX0" fmla="*/ 96520 w 1961387"/>
              <a:gd name="connsiteY0" fmla="*/ 0 h 579007"/>
              <a:gd name="connsiteX1" fmla="*/ 1864867 w 1961387"/>
              <a:gd name="connsiteY1" fmla="*/ 0 h 579007"/>
              <a:gd name="connsiteX2" fmla="*/ 1961387 w 1961387"/>
              <a:gd name="connsiteY2" fmla="*/ 96520 h 579007"/>
              <a:gd name="connsiteX3" fmla="*/ 1961387 w 1961387"/>
              <a:gd name="connsiteY3" fmla="*/ 579007 h 579007"/>
              <a:gd name="connsiteX4" fmla="*/ 1961387 w 1961387"/>
              <a:gd name="connsiteY4" fmla="*/ 579007 h 579007"/>
              <a:gd name="connsiteX5" fmla="*/ 0 w 1961387"/>
              <a:gd name="connsiteY5" fmla="*/ 579007 h 579007"/>
              <a:gd name="connsiteX6" fmla="*/ 0 w 1961387"/>
              <a:gd name="connsiteY6" fmla="*/ 579007 h 579007"/>
              <a:gd name="connsiteX7" fmla="*/ 0 w 1961387"/>
              <a:gd name="connsiteY7" fmla="*/ 96520 h 579007"/>
              <a:gd name="connsiteX8" fmla="*/ 96520 w 1961387"/>
              <a:gd name="connsiteY8" fmla="*/ 0 h 579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1387" h="579007">
                <a:moveTo>
                  <a:pt x="96520" y="0"/>
                </a:moveTo>
                <a:lnTo>
                  <a:pt x="1864867" y="0"/>
                </a:lnTo>
                <a:cubicBezTo>
                  <a:pt x="1918174" y="0"/>
                  <a:pt x="1961387" y="43213"/>
                  <a:pt x="1961387" y="96520"/>
                </a:cubicBezTo>
                <a:lnTo>
                  <a:pt x="1961387" y="579007"/>
                </a:lnTo>
                <a:lnTo>
                  <a:pt x="1961387" y="579007"/>
                </a:lnTo>
                <a:lnTo>
                  <a:pt x="0" y="579007"/>
                </a:lnTo>
                <a:lnTo>
                  <a:pt x="0" y="579007"/>
                </a:lnTo>
                <a:lnTo>
                  <a:pt x="0" y="96520"/>
                </a:lnTo>
                <a:cubicBezTo>
                  <a:pt x="0" y="43213"/>
                  <a:pt x="43213" y="0"/>
                  <a:pt x="96520" y="0"/>
                </a:cubicBezTo>
                <a:close/>
              </a:path>
            </a:pathLst>
          </a:custGeom>
          <a:solidFill>
            <a:srgbClr val="2277BC"/>
          </a:solidFill>
          <a:ln>
            <a:solidFill>
              <a:srgbClr val="2277BC"/>
            </a:solidFill>
          </a:ln>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60655" tIns="60655" rIns="60655" bIns="32385" numCol="1" spcCol="1270" anchor="ctr" anchorCtr="0">
            <a:noAutofit/>
          </a:bodyPr>
          <a:lstStyle/>
          <a:p>
            <a:pPr marL="0" lvl="0" indent="0" algn="ctr" defTabSz="755650">
              <a:lnSpc>
                <a:spcPct val="90000"/>
              </a:lnSpc>
              <a:spcBef>
                <a:spcPct val="0"/>
              </a:spcBef>
              <a:spcAft>
                <a:spcPct val="35000"/>
              </a:spcAft>
              <a:buNone/>
            </a:pPr>
            <a:r>
              <a:rPr lang="en-US" sz="3600" kern="1200" dirty="0">
                <a:latin typeface="Calibri" panose="020F0502020204030204" pitchFamily="34" charset="0"/>
              </a:rPr>
              <a:t>BA 10, 11, 47/12, 13 &amp; 14</a:t>
            </a:r>
          </a:p>
        </p:txBody>
      </p:sp>
      <p:grpSp>
        <p:nvGrpSpPr>
          <p:cNvPr id="23" name="Group 22">
            <a:extLst>
              <a:ext uri="{FF2B5EF4-FFF2-40B4-BE49-F238E27FC236}">
                <a16:creationId xmlns:a16="http://schemas.microsoft.com/office/drawing/2014/main" id="{056A7A3A-9230-00B6-BD97-356DAA3FCA30}"/>
              </a:ext>
            </a:extLst>
          </p:cNvPr>
          <p:cNvGrpSpPr/>
          <p:nvPr/>
        </p:nvGrpSpPr>
        <p:grpSpPr>
          <a:xfrm>
            <a:off x="8687782" y="3048000"/>
            <a:ext cx="3961418" cy="2743746"/>
            <a:chOff x="7848599" y="3756749"/>
            <a:chExt cx="3961418" cy="2743746"/>
          </a:xfrm>
        </p:grpSpPr>
        <p:pic>
          <p:nvPicPr>
            <p:cNvPr id="59394" name="Picture 2">
              <a:extLst>
                <a:ext uri="{FF2B5EF4-FFF2-40B4-BE49-F238E27FC236}">
                  <a16:creationId xmlns:a16="http://schemas.microsoft.com/office/drawing/2014/main" id="{558E3D3B-0CFE-EB5C-E628-8FF3A19878E0}"/>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48599" y="3756749"/>
              <a:ext cx="3961418" cy="2743746"/>
            </a:xfrm>
            <a:prstGeom prst="rect">
              <a:avLst/>
            </a:prstGeom>
            <a:noFill/>
            <a:extLst>
              <a:ext uri="{909E8E84-426E-40DD-AFC4-6F175D3DCCD1}">
                <a14:hiddenFill xmlns:a14="http://schemas.microsoft.com/office/drawing/2010/main">
                  <a:solidFill>
                    <a:srgbClr val="FFFFFF"/>
                  </a:solidFill>
                </a14:hiddenFill>
              </a:ext>
            </a:extLst>
          </p:spPr>
        </p:pic>
        <p:sp>
          <p:nvSpPr>
            <p:cNvPr id="22" name="Freeform: Shape 21">
              <a:extLst>
                <a:ext uri="{FF2B5EF4-FFF2-40B4-BE49-F238E27FC236}">
                  <a16:creationId xmlns:a16="http://schemas.microsoft.com/office/drawing/2014/main" id="{691D7780-6B3F-C00D-72BC-2CA40F1C57F3}"/>
                </a:ext>
              </a:extLst>
            </p:cNvPr>
            <p:cNvSpPr/>
            <p:nvPr/>
          </p:nvSpPr>
          <p:spPr>
            <a:xfrm>
              <a:off x="8705850" y="4347210"/>
              <a:ext cx="1017885" cy="731520"/>
            </a:xfrm>
            <a:custGeom>
              <a:avLst/>
              <a:gdLst>
                <a:gd name="connsiteX0" fmla="*/ 156210 w 1017885"/>
                <a:gd name="connsiteY0" fmla="*/ 251460 h 731520"/>
                <a:gd name="connsiteX1" fmla="*/ 175260 w 1017885"/>
                <a:gd name="connsiteY1" fmla="*/ 240030 h 731520"/>
                <a:gd name="connsiteX2" fmla="*/ 198120 w 1017885"/>
                <a:gd name="connsiteY2" fmla="*/ 232410 h 731520"/>
                <a:gd name="connsiteX3" fmla="*/ 209550 w 1017885"/>
                <a:gd name="connsiteY3" fmla="*/ 228600 h 731520"/>
                <a:gd name="connsiteX4" fmla="*/ 232410 w 1017885"/>
                <a:gd name="connsiteY4" fmla="*/ 224790 h 731520"/>
                <a:gd name="connsiteX5" fmla="*/ 243840 w 1017885"/>
                <a:gd name="connsiteY5" fmla="*/ 220980 h 731520"/>
                <a:gd name="connsiteX6" fmla="*/ 278130 w 1017885"/>
                <a:gd name="connsiteY6" fmla="*/ 217170 h 731520"/>
                <a:gd name="connsiteX7" fmla="*/ 320040 w 1017885"/>
                <a:gd name="connsiteY7" fmla="*/ 205740 h 731520"/>
                <a:gd name="connsiteX8" fmla="*/ 331470 w 1017885"/>
                <a:gd name="connsiteY8" fmla="*/ 198120 h 731520"/>
                <a:gd name="connsiteX9" fmla="*/ 335280 w 1017885"/>
                <a:gd name="connsiteY9" fmla="*/ 186690 h 731520"/>
                <a:gd name="connsiteX10" fmla="*/ 346710 w 1017885"/>
                <a:gd name="connsiteY10" fmla="*/ 182880 h 731520"/>
                <a:gd name="connsiteX11" fmla="*/ 384810 w 1017885"/>
                <a:gd name="connsiteY11" fmla="*/ 179070 h 731520"/>
                <a:gd name="connsiteX12" fmla="*/ 396240 w 1017885"/>
                <a:gd name="connsiteY12" fmla="*/ 171450 h 731520"/>
                <a:gd name="connsiteX13" fmla="*/ 411480 w 1017885"/>
                <a:gd name="connsiteY13" fmla="*/ 152400 h 731520"/>
                <a:gd name="connsiteX14" fmla="*/ 438150 w 1017885"/>
                <a:gd name="connsiteY14" fmla="*/ 148590 h 731520"/>
                <a:gd name="connsiteX15" fmla="*/ 453390 w 1017885"/>
                <a:gd name="connsiteY15" fmla="*/ 144780 h 731520"/>
                <a:gd name="connsiteX16" fmla="*/ 480060 w 1017885"/>
                <a:gd name="connsiteY16" fmla="*/ 140970 h 731520"/>
                <a:gd name="connsiteX17" fmla="*/ 529590 w 1017885"/>
                <a:gd name="connsiteY17" fmla="*/ 118110 h 731520"/>
                <a:gd name="connsiteX18" fmla="*/ 541020 w 1017885"/>
                <a:gd name="connsiteY18" fmla="*/ 114300 h 731520"/>
                <a:gd name="connsiteX19" fmla="*/ 567690 w 1017885"/>
                <a:gd name="connsiteY19" fmla="*/ 99060 h 731520"/>
                <a:gd name="connsiteX20" fmla="*/ 598170 w 1017885"/>
                <a:gd name="connsiteY20" fmla="*/ 95250 h 731520"/>
                <a:gd name="connsiteX21" fmla="*/ 605790 w 1017885"/>
                <a:gd name="connsiteY21" fmla="*/ 83820 h 731520"/>
                <a:gd name="connsiteX22" fmla="*/ 617220 w 1017885"/>
                <a:gd name="connsiteY22" fmla="*/ 68580 h 731520"/>
                <a:gd name="connsiteX23" fmla="*/ 621030 w 1017885"/>
                <a:gd name="connsiteY23" fmla="*/ 57150 h 731520"/>
                <a:gd name="connsiteX24" fmla="*/ 632460 w 1017885"/>
                <a:gd name="connsiteY24" fmla="*/ 45720 h 731520"/>
                <a:gd name="connsiteX25" fmla="*/ 640080 w 1017885"/>
                <a:gd name="connsiteY25" fmla="*/ 34290 h 731520"/>
                <a:gd name="connsiteX26" fmla="*/ 662940 w 1017885"/>
                <a:gd name="connsiteY26" fmla="*/ 45720 h 731520"/>
                <a:gd name="connsiteX27" fmla="*/ 678180 w 1017885"/>
                <a:gd name="connsiteY27" fmla="*/ 53340 h 731520"/>
                <a:gd name="connsiteX28" fmla="*/ 697230 w 1017885"/>
                <a:gd name="connsiteY28" fmla="*/ 57150 h 731520"/>
                <a:gd name="connsiteX29" fmla="*/ 762000 w 1017885"/>
                <a:gd name="connsiteY29" fmla="*/ 53340 h 731520"/>
                <a:gd name="connsiteX30" fmla="*/ 784860 w 1017885"/>
                <a:gd name="connsiteY30" fmla="*/ 45720 h 731520"/>
                <a:gd name="connsiteX31" fmla="*/ 800100 w 1017885"/>
                <a:gd name="connsiteY31" fmla="*/ 41910 h 731520"/>
                <a:gd name="connsiteX32" fmla="*/ 811530 w 1017885"/>
                <a:gd name="connsiteY32" fmla="*/ 38100 h 731520"/>
                <a:gd name="connsiteX33" fmla="*/ 853440 w 1017885"/>
                <a:gd name="connsiteY33" fmla="*/ 26670 h 731520"/>
                <a:gd name="connsiteX34" fmla="*/ 864870 w 1017885"/>
                <a:gd name="connsiteY34" fmla="*/ 15240 h 731520"/>
                <a:gd name="connsiteX35" fmla="*/ 872490 w 1017885"/>
                <a:gd name="connsiteY35" fmla="*/ 3810 h 731520"/>
                <a:gd name="connsiteX36" fmla="*/ 883920 w 1017885"/>
                <a:gd name="connsiteY36" fmla="*/ 0 h 731520"/>
                <a:gd name="connsiteX37" fmla="*/ 906780 w 1017885"/>
                <a:gd name="connsiteY37" fmla="*/ 11430 h 731520"/>
                <a:gd name="connsiteX38" fmla="*/ 914400 w 1017885"/>
                <a:gd name="connsiteY38" fmla="*/ 22860 h 731520"/>
                <a:gd name="connsiteX39" fmla="*/ 937260 w 1017885"/>
                <a:gd name="connsiteY39" fmla="*/ 26670 h 731520"/>
                <a:gd name="connsiteX40" fmla="*/ 1009650 w 1017885"/>
                <a:gd name="connsiteY40" fmla="*/ 34290 h 731520"/>
                <a:gd name="connsiteX41" fmla="*/ 1009650 w 1017885"/>
                <a:gd name="connsiteY41" fmla="*/ 121920 h 731520"/>
                <a:gd name="connsiteX42" fmla="*/ 982980 w 1017885"/>
                <a:gd name="connsiteY42" fmla="*/ 156210 h 731520"/>
                <a:gd name="connsiteX43" fmla="*/ 967740 w 1017885"/>
                <a:gd name="connsiteY43" fmla="*/ 179070 h 731520"/>
                <a:gd name="connsiteX44" fmla="*/ 960120 w 1017885"/>
                <a:gd name="connsiteY44" fmla="*/ 190500 h 731520"/>
                <a:gd name="connsiteX45" fmla="*/ 948690 w 1017885"/>
                <a:gd name="connsiteY45" fmla="*/ 194310 h 731520"/>
                <a:gd name="connsiteX46" fmla="*/ 929640 w 1017885"/>
                <a:gd name="connsiteY46" fmla="*/ 201930 h 731520"/>
                <a:gd name="connsiteX47" fmla="*/ 887730 w 1017885"/>
                <a:gd name="connsiteY47" fmla="*/ 209550 h 731520"/>
                <a:gd name="connsiteX48" fmla="*/ 857250 w 1017885"/>
                <a:gd name="connsiteY48" fmla="*/ 217170 h 731520"/>
                <a:gd name="connsiteX49" fmla="*/ 842010 w 1017885"/>
                <a:gd name="connsiteY49" fmla="*/ 220980 h 731520"/>
                <a:gd name="connsiteX50" fmla="*/ 826770 w 1017885"/>
                <a:gd name="connsiteY50" fmla="*/ 224790 h 731520"/>
                <a:gd name="connsiteX51" fmla="*/ 769620 w 1017885"/>
                <a:gd name="connsiteY51" fmla="*/ 220980 h 731520"/>
                <a:gd name="connsiteX52" fmla="*/ 739140 w 1017885"/>
                <a:gd name="connsiteY52" fmla="*/ 240030 h 731520"/>
                <a:gd name="connsiteX53" fmla="*/ 697230 w 1017885"/>
                <a:gd name="connsiteY53" fmla="*/ 247650 h 731520"/>
                <a:gd name="connsiteX54" fmla="*/ 659130 w 1017885"/>
                <a:gd name="connsiteY54" fmla="*/ 251460 h 731520"/>
                <a:gd name="connsiteX55" fmla="*/ 636270 w 1017885"/>
                <a:gd name="connsiteY55" fmla="*/ 262890 h 731520"/>
                <a:gd name="connsiteX56" fmla="*/ 624840 w 1017885"/>
                <a:gd name="connsiteY56" fmla="*/ 266700 h 731520"/>
                <a:gd name="connsiteX57" fmla="*/ 594360 w 1017885"/>
                <a:gd name="connsiteY57" fmla="*/ 262890 h 731520"/>
                <a:gd name="connsiteX58" fmla="*/ 541020 w 1017885"/>
                <a:gd name="connsiteY58" fmla="*/ 266700 h 731520"/>
                <a:gd name="connsiteX59" fmla="*/ 525780 w 1017885"/>
                <a:gd name="connsiteY59" fmla="*/ 270510 h 731520"/>
                <a:gd name="connsiteX60" fmla="*/ 514350 w 1017885"/>
                <a:gd name="connsiteY60" fmla="*/ 281940 h 731520"/>
                <a:gd name="connsiteX61" fmla="*/ 419100 w 1017885"/>
                <a:gd name="connsiteY61" fmla="*/ 285750 h 731520"/>
                <a:gd name="connsiteX62" fmla="*/ 400050 w 1017885"/>
                <a:gd name="connsiteY62" fmla="*/ 293370 h 731520"/>
                <a:gd name="connsiteX63" fmla="*/ 373380 w 1017885"/>
                <a:gd name="connsiteY63" fmla="*/ 304800 h 731520"/>
                <a:gd name="connsiteX64" fmla="*/ 350520 w 1017885"/>
                <a:gd name="connsiteY64" fmla="*/ 308610 h 731520"/>
                <a:gd name="connsiteX65" fmla="*/ 339090 w 1017885"/>
                <a:gd name="connsiteY65" fmla="*/ 312420 h 731520"/>
                <a:gd name="connsiteX66" fmla="*/ 316230 w 1017885"/>
                <a:gd name="connsiteY66" fmla="*/ 316230 h 731520"/>
                <a:gd name="connsiteX67" fmla="*/ 300990 w 1017885"/>
                <a:gd name="connsiteY67" fmla="*/ 323850 h 731520"/>
                <a:gd name="connsiteX68" fmla="*/ 281940 w 1017885"/>
                <a:gd name="connsiteY68" fmla="*/ 335280 h 731520"/>
                <a:gd name="connsiteX69" fmla="*/ 255270 w 1017885"/>
                <a:gd name="connsiteY69" fmla="*/ 342900 h 731520"/>
                <a:gd name="connsiteX70" fmla="*/ 243840 w 1017885"/>
                <a:gd name="connsiteY70" fmla="*/ 350520 h 731520"/>
                <a:gd name="connsiteX71" fmla="*/ 220980 w 1017885"/>
                <a:gd name="connsiteY71" fmla="*/ 358140 h 731520"/>
                <a:gd name="connsiteX72" fmla="*/ 182880 w 1017885"/>
                <a:gd name="connsiteY72" fmla="*/ 377190 h 731520"/>
                <a:gd name="connsiteX73" fmla="*/ 171450 w 1017885"/>
                <a:gd name="connsiteY73" fmla="*/ 384810 h 731520"/>
                <a:gd name="connsiteX74" fmla="*/ 144780 w 1017885"/>
                <a:gd name="connsiteY74" fmla="*/ 392430 h 731520"/>
                <a:gd name="connsiteX75" fmla="*/ 133350 w 1017885"/>
                <a:gd name="connsiteY75" fmla="*/ 400050 h 731520"/>
                <a:gd name="connsiteX76" fmla="*/ 118110 w 1017885"/>
                <a:gd name="connsiteY76" fmla="*/ 411480 h 731520"/>
                <a:gd name="connsiteX77" fmla="*/ 106680 w 1017885"/>
                <a:gd name="connsiteY77" fmla="*/ 415290 h 731520"/>
                <a:gd name="connsiteX78" fmla="*/ 91440 w 1017885"/>
                <a:gd name="connsiteY78" fmla="*/ 426720 h 731520"/>
                <a:gd name="connsiteX79" fmla="*/ 76200 w 1017885"/>
                <a:gd name="connsiteY79" fmla="*/ 468630 h 731520"/>
                <a:gd name="connsiteX80" fmla="*/ 80010 w 1017885"/>
                <a:gd name="connsiteY80" fmla="*/ 514350 h 731520"/>
                <a:gd name="connsiteX81" fmla="*/ 87630 w 1017885"/>
                <a:gd name="connsiteY81" fmla="*/ 525780 h 731520"/>
                <a:gd name="connsiteX82" fmla="*/ 95250 w 1017885"/>
                <a:gd name="connsiteY82" fmla="*/ 563880 h 731520"/>
                <a:gd name="connsiteX83" fmla="*/ 99060 w 1017885"/>
                <a:gd name="connsiteY83" fmla="*/ 579120 h 731520"/>
                <a:gd name="connsiteX84" fmla="*/ 114300 w 1017885"/>
                <a:gd name="connsiteY84" fmla="*/ 601980 h 731520"/>
                <a:gd name="connsiteX85" fmla="*/ 125730 w 1017885"/>
                <a:gd name="connsiteY85" fmla="*/ 605790 h 731520"/>
                <a:gd name="connsiteX86" fmla="*/ 140970 w 1017885"/>
                <a:gd name="connsiteY86" fmla="*/ 617220 h 731520"/>
                <a:gd name="connsiteX87" fmla="*/ 171450 w 1017885"/>
                <a:gd name="connsiteY87" fmla="*/ 621030 h 731520"/>
                <a:gd name="connsiteX88" fmla="*/ 217170 w 1017885"/>
                <a:gd name="connsiteY88" fmla="*/ 624840 h 731520"/>
                <a:gd name="connsiteX89" fmla="*/ 228600 w 1017885"/>
                <a:gd name="connsiteY89" fmla="*/ 628650 h 731520"/>
                <a:gd name="connsiteX90" fmla="*/ 240030 w 1017885"/>
                <a:gd name="connsiteY90" fmla="*/ 636270 h 731520"/>
                <a:gd name="connsiteX91" fmla="*/ 255270 w 1017885"/>
                <a:gd name="connsiteY91" fmla="*/ 647700 h 731520"/>
                <a:gd name="connsiteX92" fmla="*/ 270510 w 1017885"/>
                <a:gd name="connsiteY92" fmla="*/ 651510 h 731520"/>
                <a:gd name="connsiteX93" fmla="*/ 373380 w 1017885"/>
                <a:gd name="connsiteY93" fmla="*/ 655320 h 731520"/>
                <a:gd name="connsiteX94" fmla="*/ 381000 w 1017885"/>
                <a:gd name="connsiteY94" fmla="*/ 670560 h 731520"/>
                <a:gd name="connsiteX95" fmla="*/ 400050 w 1017885"/>
                <a:gd name="connsiteY95" fmla="*/ 678180 h 731520"/>
                <a:gd name="connsiteX96" fmla="*/ 457200 w 1017885"/>
                <a:gd name="connsiteY96" fmla="*/ 685800 h 731520"/>
                <a:gd name="connsiteX97" fmla="*/ 468630 w 1017885"/>
                <a:gd name="connsiteY97" fmla="*/ 693420 h 731520"/>
                <a:gd name="connsiteX98" fmla="*/ 495300 w 1017885"/>
                <a:gd name="connsiteY98" fmla="*/ 704850 h 731520"/>
                <a:gd name="connsiteX99" fmla="*/ 506730 w 1017885"/>
                <a:gd name="connsiteY99" fmla="*/ 716280 h 731520"/>
                <a:gd name="connsiteX100" fmla="*/ 445770 w 1017885"/>
                <a:gd name="connsiteY100" fmla="*/ 723900 h 731520"/>
                <a:gd name="connsiteX101" fmla="*/ 434340 w 1017885"/>
                <a:gd name="connsiteY101" fmla="*/ 727710 h 731520"/>
                <a:gd name="connsiteX102" fmla="*/ 415290 w 1017885"/>
                <a:gd name="connsiteY102" fmla="*/ 731520 h 731520"/>
                <a:gd name="connsiteX103" fmla="*/ 373380 w 1017885"/>
                <a:gd name="connsiteY103" fmla="*/ 727710 h 731520"/>
                <a:gd name="connsiteX104" fmla="*/ 281940 w 1017885"/>
                <a:gd name="connsiteY104" fmla="*/ 704850 h 731520"/>
                <a:gd name="connsiteX105" fmla="*/ 205740 w 1017885"/>
                <a:gd name="connsiteY105" fmla="*/ 697230 h 731520"/>
                <a:gd name="connsiteX106" fmla="*/ 171450 w 1017885"/>
                <a:gd name="connsiteY106" fmla="*/ 685800 h 731520"/>
                <a:gd name="connsiteX107" fmla="*/ 148590 w 1017885"/>
                <a:gd name="connsiteY107" fmla="*/ 674370 h 731520"/>
                <a:gd name="connsiteX108" fmla="*/ 137160 w 1017885"/>
                <a:gd name="connsiteY108" fmla="*/ 662940 h 731520"/>
                <a:gd name="connsiteX109" fmla="*/ 125730 w 1017885"/>
                <a:gd name="connsiteY109" fmla="*/ 647700 h 731520"/>
                <a:gd name="connsiteX110" fmla="*/ 118110 w 1017885"/>
                <a:gd name="connsiteY110" fmla="*/ 636270 h 731520"/>
                <a:gd name="connsiteX111" fmla="*/ 99060 w 1017885"/>
                <a:gd name="connsiteY111" fmla="*/ 613410 h 731520"/>
                <a:gd name="connsiteX112" fmla="*/ 95250 w 1017885"/>
                <a:gd name="connsiteY112" fmla="*/ 598170 h 731520"/>
                <a:gd name="connsiteX113" fmla="*/ 83820 w 1017885"/>
                <a:gd name="connsiteY113" fmla="*/ 586740 h 731520"/>
                <a:gd name="connsiteX114" fmla="*/ 49530 w 1017885"/>
                <a:gd name="connsiteY114" fmla="*/ 560070 h 731520"/>
                <a:gd name="connsiteX115" fmla="*/ 30480 w 1017885"/>
                <a:gd name="connsiteY115" fmla="*/ 537210 h 731520"/>
                <a:gd name="connsiteX116" fmla="*/ 26670 w 1017885"/>
                <a:gd name="connsiteY116" fmla="*/ 525780 h 731520"/>
                <a:gd name="connsiteX117" fmla="*/ 19050 w 1017885"/>
                <a:gd name="connsiteY117" fmla="*/ 514350 h 731520"/>
                <a:gd name="connsiteX118" fmla="*/ 0 w 1017885"/>
                <a:gd name="connsiteY118" fmla="*/ 483870 h 731520"/>
                <a:gd name="connsiteX119" fmla="*/ 3810 w 1017885"/>
                <a:gd name="connsiteY119" fmla="*/ 468630 h 731520"/>
                <a:gd name="connsiteX120" fmla="*/ 15240 w 1017885"/>
                <a:gd name="connsiteY120" fmla="*/ 461010 h 731520"/>
                <a:gd name="connsiteX121" fmla="*/ 41910 w 1017885"/>
                <a:gd name="connsiteY121" fmla="*/ 434340 h 731520"/>
                <a:gd name="connsiteX122" fmla="*/ 60960 w 1017885"/>
                <a:gd name="connsiteY122" fmla="*/ 411480 h 731520"/>
                <a:gd name="connsiteX123" fmla="*/ 80010 w 1017885"/>
                <a:gd name="connsiteY123" fmla="*/ 384810 h 731520"/>
                <a:gd name="connsiteX124" fmla="*/ 99060 w 1017885"/>
                <a:gd name="connsiteY124" fmla="*/ 358140 h 731520"/>
                <a:gd name="connsiteX125" fmla="*/ 102870 w 1017885"/>
                <a:gd name="connsiteY125" fmla="*/ 346710 h 731520"/>
                <a:gd name="connsiteX126" fmla="*/ 121920 w 1017885"/>
                <a:gd name="connsiteY126" fmla="*/ 312420 h 731520"/>
                <a:gd name="connsiteX127" fmla="*/ 133350 w 1017885"/>
                <a:gd name="connsiteY127" fmla="*/ 300990 h 731520"/>
                <a:gd name="connsiteX128" fmla="*/ 156210 w 1017885"/>
                <a:gd name="connsiteY128" fmla="*/ 251460 h 73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1017885" h="731520">
                  <a:moveTo>
                    <a:pt x="156210" y="251460"/>
                  </a:moveTo>
                  <a:cubicBezTo>
                    <a:pt x="163195" y="241300"/>
                    <a:pt x="168518" y="243094"/>
                    <a:pt x="175260" y="240030"/>
                  </a:cubicBezTo>
                  <a:cubicBezTo>
                    <a:pt x="182572" y="236706"/>
                    <a:pt x="190500" y="234950"/>
                    <a:pt x="198120" y="232410"/>
                  </a:cubicBezTo>
                  <a:cubicBezTo>
                    <a:pt x="201930" y="231140"/>
                    <a:pt x="205589" y="229260"/>
                    <a:pt x="209550" y="228600"/>
                  </a:cubicBezTo>
                  <a:cubicBezTo>
                    <a:pt x="217170" y="227330"/>
                    <a:pt x="224869" y="226466"/>
                    <a:pt x="232410" y="224790"/>
                  </a:cubicBezTo>
                  <a:cubicBezTo>
                    <a:pt x="236330" y="223919"/>
                    <a:pt x="239879" y="221640"/>
                    <a:pt x="243840" y="220980"/>
                  </a:cubicBezTo>
                  <a:cubicBezTo>
                    <a:pt x="255184" y="219089"/>
                    <a:pt x="266745" y="218796"/>
                    <a:pt x="278130" y="217170"/>
                  </a:cubicBezTo>
                  <a:cubicBezTo>
                    <a:pt x="291339" y="215283"/>
                    <a:pt x="308050" y="211069"/>
                    <a:pt x="320040" y="205740"/>
                  </a:cubicBezTo>
                  <a:cubicBezTo>
                    <a:pt x="324224" y="203880"/>
                    <a:pt x="327660" y="200660"/>
                    <a:pt x="331470" y="198120"/>
                  </a:cubicBezTo>
                  <a:cubicBezTo>
                    <a:pt x="332740" y="194310"/>
                    <a:pt x="332440" y="189530"/>
                    <a:pt x="335280" y="186690"/>
                  </a:cubicBezTo>
                  <a:cubicBezTo>
                    <a:pt x="338120" y="183850"/>
                    <a:pt x="342741" y="183491"/>
                    <a:pt x="346710" y="182880"/>
                  </a:cubicBezTo>
                  <a:cubicBezTo>
                    <a:pt x="359325" y="180939"/>
                    <a:pt x="372110" y="180340"/>
                    <a:pt x="384810" y="179070"/>
                  </a:cubicBezTo>
                  <a:cubicBezTo>
                    <a:pt x="388620" y="176530"/>
                    <a:pt x="393379" y="175026"/>
                    <a:pt x="396240" y="171450"/>
                  </a:cubicBezTo>
                  <a:cubicBezTo>
                    <a:pt x="406183" y="159021"/>
                    <a:pt x="391366" y="158434"/>
                    <a:pt x="411480" y="152400"/>
                  </a:cubicBezTo>
                  <a:cubicBezTo>
                    <a:pt x="420082" y="149820"/>
                    <a:pt x="429315" y="150196"/>
                    <a:pt x="438150" y="148590"/>
                  </a:cubicBezTo>
                  <a:cubicBezTo>
                    <a:pt x="443302" y="147653"/>
                    <a:pt x="448238" y="145717"/>
                    <a:pt x="453390" y="144780"/>
                  </a:cubicBezTo>
                  <a:cubicBezTo>
                    <a:pt x="462225" y="143174"/>
                    <a:pt x="471170" y="142240"/>
                    <a:pt x="480060" y="140970"/>
                  </a:cubicBezTo>
                  <a:cubicBezTo>
                    <a:pt x="501061" y="119969"/>
                    <a:pt x="485848" y="131569"/>
                    <a:pt x="529590" y="118110"/>
                  </a:cubicBezTo>
                  <a:cubicBezTo>
                    <a:pt x="533428" y="116929"/>
                    <a:pt x="537428" y="116096"/>
                    <a:pt x="541020" y="114300"/>
                  </a:cubicBezTo>
                  <a:cubicBezTo>
                    <a:pt x="552357" y="108631"/>
                    <a:pt x="554331" y="102400"/>
                    <a:pt x="567690" y="99060"/>
                  </a:cubicBezTo>
                  <a:cubicBezTo>
                    <a:pt x="577623" y="96577"/>
                    <a:pt x="588010" y="96520"/>
                    <a:pt x="598170" y="95250"/>
                  </a:cubicBezTo>
                  <a:cubicBezTo>
                    <a:pt x="600710" y="91440"/>
                    <a:pt x="603128" y="87546"/>
                    <a:pt x="605790" y="83820"/>
                  </a:cubicBezTo>
                  <a:cubicBezTo>
                    <a:pt x="609481" y="78653"/>
                    <a:pt x="614070" y="74093"/>
                    <a:pt x="617220" y="68580"/>
                  </a:cubicBezTo>
                  <a:cubicBezTo>
                    <a:pt x="619213" y="65093"/>
                    <a:pt x="618802" y="60492"/>
                    <a:pt x="621030" y="57150"/>
                  </a:cubicBezTo>
                  <a:cubicBezTo>
                    <a:pt x="624019" y="52667"/>
                    <a:pt x="629011" y="49859"/>
                    <a:pt x="632460" y="45720"/>
                  </a:cubicBezTo>
                  <a:cubicBezTo>
                    <a:pt x="635391" y="42202"/>
                    <a:pt x="637540" y="38100"/>
                    <a:pt x="640080" y="34290"/>
                  </a:cubicBezTo>
                  <a:cubicBezTo>
                    <a:pt x="662046" y="48934"/>
                    <a:pt x="640856" y="36256"/>
                    <a:pt x="662940" y="45720"/>
                  </a:cubicBezTo>
                  <a:cubicBezTo>
                    <a:pt x="668160" y="47957"/>
                    <a:pt x="672792" y="51544"/>
                    <a:pt x="678180" y="53340"/>
                  </a:cubicBezTo>
                  <a:cubicBezTo>
                    <a:pt x="684323" y="55388"/>
                    <a:pt x="690880" y="55880"/>
                    <a:pt x="697230" y="57150"/>
                  </a:cubicBezTo>
                  <a:cubicBezTo>
                    <a:pt x="718820" y="55880"/>
                    <a:pt x="740554" y="56137"/>
                    <a:pt x="762000" y="53340"/>
                  </a:cubicBezTo>
                  <a:cubicBezTo>
                    <a:pt x="769965" y="52301"/>
                    <a:pt x="777068" y="47668"/>
                    <a:pt x="784860" y="45720"/>
                  </a:cubicBezTo>
                  <a:cubicBezTo>
                    <a:pt x="789940" y="44450"/>
                    <a:pt x="795065" y="43349"/>
                    <a:pt x="800100" y="41910"/>
                  </a:cubicBezTo>
                  <a:cubicBezTo>
                    <a:pt x="803962" y="40807"/>
                    <a:pt x="807655" y="39157"/>
                    <a:pt x="811530" y="38100"/>
                  </a:cubicBezTo>
                  <a:cubicBezTo>
                    <a:pt x="858797" y="25209"/>
                    <a:pt x="827131" y="35440"/>
                    <a:pt x="853440" y="26670"/>
                  </a:cubicBezTo>
                  <a:cubicBezTo>
                    <a:pt x="857250" y="22860"/>
                    <a:pt x="861421" y="19379"/>
                    <a:pt x="864870" y="15240"/>
                  </a:cubicBezTo>
                  <a:cubicBezTo>
                    <a:pt x="867801" y="11722"/>
                    <a:pt x="868914" y="6671"/>
                    <a:pt x="872490" y="3810"/>
                  </a:cubicBezTo>
                  <a:cubicBezTo>
                    <a:pt x="875626" y="1301"/>
                    <a:pt x="880110" y="1270"/>
                    <a:pt x="883920" y="0"/>
                  </a:cubicBezTo>
                  <a:cubicBezTo>
                    <a:pt x="893216" y="3099"/>
                    <a:pt x="899394" y="4044"/>
                    <a:pt x="906780" y="11430"/>
                  </a:cubicBezTo>
                  <a:cubicBezTo>
                    <a:pt x="910018" y="14668"/>
                    <a:pt x="910304" y="20812"/>
                    <a:pt x="914400" y="22860"/>
                  </a:cubicBezTo>
                  <a:cubicBezTo>
                    <a:pt x="921310" y="26315"/>
                    <a:pt x="929685" y="25155"/>
                    <a:pt x="937260" y="26670"/>
                  </a:cubicBezTo>
                  <a:cubicBezTo>
                    <a:pt x="983683" y="35955"/>
                    <a:pt x="901112" y="27054"/>
                    <a:pt x="1009650" y="34290"/>
                  </a:cubicBezTo>
                  <a:cubicBezTo>
                    <a:pt x="1020359" y="66417"/>
                    <a:pt x="1020899" y="63425"/>
                    <a:pt x="1009650" y="121920"/>
                  </a:cubicBezTo>
                  <a:cubicBezTo>
                    <a:pt x="1006431" y="138661"/>
                    <a:pt x="992055" y="144542"/>
                    <a:pt x="982980" y="156210"/>
                  </a:cubicBezTo>
                  <a:cubicBezTo>
                    <a:pt x="977357" y="163439"/>
                    <a:pt x="972820" y="171450"/>
                    <a:pt x="967740" y="179070"/>
                  </a:cubicBezTo>
                  <a:cubicBezTo>
                    <a:pt x="965200" y="182880"/>
                    <a:pt x="964464" y="189052"/>
                    <a:pt x="960120" y="190500"/>
                  </a:cubicBezTo>
                  <a:cubicBezTo>
                    <a:pt x="956310" y="191770"/>
                    <a:pt x="952450" y="192900"/>
                    <a:pt x="948690" y="194310"/>
                  </a:cubicBezTo>
                  <a:cubicBezTo>
                    <a:pt x="942286" y="196711"/>
                    <a:pt x="936128" y="199767"/>
                    <a:pt x="929640" y="201930"/>
                  </a:cubicBezTo>
                  <a:cubicBezTo>
                    <a:pt x="912698" y="207577"/>
                    <a:pt x="907562" y="205584"/>
                    <a:pt x="887730" y="209550"/>
                  </a:cubicBezTo>
                  <a:cubicBezTo>
                    <a:pt x="877461" y="211604"/>
                    <a:pt x="867410" y="214630"/>
                    <a:pt x="857250" y="217170"/>
                  </a:cubicBezTo>
                  <a:lnTo>
                    <a:pt x="842010" y="220980"/>
                  </a:lnTo>
                  <a:lnTo>
                    <a:pt x="826770" y="224790"/>
                  </a:lnTo>
                  <a:cubicBezTo>
                    <a:pt x="805990" y="210937"/>
                    <a:pt x="808633" y="209276"/>
                    <a:pt x="769620" y="220980"/>
                  </a:cubicBezTo>
                  <a:cubicBezTo>
                    <a:pt x="758144" y="224423"/>
                    <a:pt x="750888" y="237680"/>
                    <a:pt x="739140" y="240030"/>
                  </a:cubicBezTo>
                  <a:cubicBezTo>
                    <a:pt x="726136" y="242631"/>
                    <a:pt x="710229" y="246025"/>
                    <a:pt x="697230" y="247650"/>
                  </a:cubicBezTo>
                  <a:cubicBezTo>
                    <a:pt x="684565" y="249233"/>
                    <a:pt x="671830" y="250190"/>
                    <a:pt x="659130" y="251460"/>
                  </a:cubicBezTo>
                  <a:cubicBezTo>
                    <a:pt x="651510" y="255270"/>
                    <a:pt x="644055" y="259430"/>
                    <a:pt x="636270" y="262890"/>
                  </a:cubicBezTo>
                  <a:cubicBezTo>
                    <a:pt x="632600" y="264521"/>
                    <a:pt x="628856" y="266700"/>
                    <a:pt x="624840" y="266700"/>
                  </a:cubicBezTo>
                  <a:cubicBezTo>
                    <a:pt x="614601" y="266700"/>
                    <a:pt x="604520" y="264160"/>
                    <a:pt x="594360" y="262890"/>
                  </a:cubicBezTo>
                  <a:cubicBezTo>
                    <a:pt x="576580" y="264160"/>
                    <a:pt x="558736" y="264732"/>
                    <a:pt x="541020" y="266700"/>
                  </a:cubicBezTo>
                  <a:cubicBezTo>
                    <a:pt x="535816" y="267278"/>
                    <a:pt x="530326" y="267912"/>
                    <a:pt x="525780" y="270510"/>
                  </a:cubicBezTo>
                  <a:cubicBezTo>
                    <a:pt x="521102" y="273183"/>
                    <a:pt x="519684" y="281178"/>
                    <a:pt x="514350" y="281940"/>
                  </a:cubicBezTo>
                  <a:cubicBezTo>
                    <a:pt x="482894" y="286434"/>
                    <a:pt x="450850" y="284480"/>
                    <a:pt x="419100" y="285750"/>
                  </a:cubicBezTo>
                  <a:cubicBezTo>
                    <a:pt x="412750" y="288290"/>
                    <a:pt x="406300" y="290592"/>
                    <a:pt x="400050" y="293370"/>
                  </a:cubicBezTo>
                  <a:cubicBezTo>
                    <a:pt x="388402" y="298547"/>
                    <a:pt x="385118" y="302192"/>
                    <a:pt x="373380" y="304800"/>
                  </a:cubicBezTo>
                  <a:cubicBezTo>
                    <a:pt x="365839" y="306476"/>
                    <a:pt x="358061" y="306934"/>
                    <a:pt x="350520" y="308610"/>
                  </a:cubicBezTo>
                  <a:cubicBezTo>
                    <a:pt x="346600" y="309481"/>
                    <a:pt x="343010" y="311549"/>
                    <a:pt x="339090" y="312420"/>
                  </a:cubicBezTo>
                  <a:cubicBezTo>
                    <a:pt x="331549" y="314096"/>
                    <a:pt x="323850" y="314960"/>
                    <a:pt x="316230" y="316230"/>
                  </a:cubicBezTo>
                  <a:cubicBezTo>
                    <a:pt x="311150" y="318770"/>
                    <a:pt x="305955" y="321092"/>
                    <a:pt x="300990" y="323850"/>
                  </a:cubicBezTo>
                  <a:cubicBezTo>
                    <a:pt x="294517" y="327446"/>
                    <a:pt x="288707" y="332272"/>
                    <a:pt x="281940" y="335280"/>
                  </a:cubicBezTo>
                  <a:cubicBezTo>
                    <a:pt x="259967" y="345046"/>
                    <a:pt x="273843" y="333613"/>
                    <a:pt x="255270" y="342900"/>
                  </a:cubicBezTo>
                  <a:cubicBezTo>
                    <a:pt x="251174" y="344948"/>
                    <a:pt x="248024" y="348660"/>
                    <a:pt x="243840" y="350520"/>
                  </a:cubicBezTo>
                  <a:cubicBezTo>
                    <a:pt x="236500" y="353782"/>
                    <a:pt x="228339" y="354921"/>
                    <a:pt x="220980" y="358140"/>
                  </a:cubicBezTo>
                  <a:cubicBezTo>
                    <a:pt x="207971" y="363831"/>
                    <a:pt x="194694" y="369314"/>
                    <a:pt x="182880" y="377190"/>
                  </a:cubicBezTo>
                  <a:cubicBezTo>
                    <a:pt x="179070" y="379730"/>
                    <a:pt x="175546" y="382762"/>
                    <a:pt x="171450" y="384810"/>
                  </a:cubicBezTo>
                  <a:cubicBezTo>
                    <a:pt x="165984" y="387543"/>
                    <a:pt x="149663" y="391209"/>
                    <a:pt x="144780" y="392430"/>
                  </a:cubicBezTo>
                  <a:cubicBezTo>
                    <a:pt x="140970" y="394970"/>
                    <a:pt x="137076" y="397388"/>
                    <a:pt x="133350" y="400050"/>
                  </a:cubicBezTo>
                  <a:cubicBezTo>
                    <a:pt x="128183" y="403741"/>
                    <a:pt x="123623" y="408330"/>
                    <a:pt x="118110" y="411480"/>
                  </a:cubicBezTo>
                  <a:cubicBezTo>
                    <a:pt x="114623" y="413473"/>
                    <a:pt x="110490" y="414020"/>
                    <a:pt x="106680" y="415290"/>
                  </a:cubicBezTo>
                  <a:cubicBezTo>
                    <a:pt x="101600" y="419100"/>
                    <a:pt x="95930" y="422230"/>
                    <a:pt x="91440" y="426720"/>
                  </a:cubicBezTo>
                  <a:cubicBezTo>
                    <a:pt x="80531" y="437629"/>
                    <a:pt x="79020" y="454532"/>
                    <a:pt x="76200" y="468630"/>
                  </a:cubicBezTo>
                  <a:cubicBezTo>
                    <a:pt x="77470" y="483870"/>
                    <a:pt x="77011" y="499354"/>
                    <a:pt x="80010" y="514350"/>
                  </a:cubicBezTo>
                  <a:cubicBezTo>
                    <a:pt x="80908" y="518840"/>
                    <a:pt x="86283" y="521403"/>
                    <a:pt x="87630" y="525780"/>
                  </a:cubicBezTo>
                  <a:cubicBezTo>
                    <a:pt x="91439" y="538159"/>
                    <a:pt x="92109" y="551315"/>
                    <a:pt x="95250" y="563880"/>
                  </a:cubicBezTo>
                  <a:cubicBezTo>
                    <a:pt x="96520" y="568960"/>
                    <a:pt x="96718" y="574436"/>
                    <a:pt x="99060" y="579120"/>
                  </a:cubicBezTo>
                  <a:cubicBezTo>
                    <a:pt x="103156" y="587311"/>
                    <a:pt x="105612" y="599084"/>
                    <a:pt x="114300" y="601980"/>
                  </a:cubicBezTo>
                  <a:lnTo>
                    <a:pt x="125730" y="605790"/>
                  </a:lnTo>
                  <a:cubicBezTo>
                    <a:pt x="130810" y="609600"/>
                    <a:pt x="134946" y="615212"/>
                    <a:pt x="140970" y="617220"/>
                  </a:cubicBezTo>
                  <a:cubicBezTo>
                    <a:pt x="150684" y="620458"/>
                    <a:pt x="161262" y="620011"/>
                    <a:pt x="171450" y="621030"/>
                  </a:cubicBezTo>
                  <a:cubicBezTo>
                    <a:pt x="186667" y="622552"/>
                    <a:pt x="201930" y="623570"/>
                    <a:pt x="217170" y="624840"/>
                  </a:cubicBezTo>
                  <a:cubicBezTo>
                    <a:pt x="220980" y="626110"/>
                    <a:pt x="225008" y="626854"/>
                    <a:pt x="228600" y="628650"/>
                  </a:cubicBezTo>
                  <a:cubicBezTo>
                    <a:pt x="232696" y="630698"/>
                    <a:pt x="236304" y="633608"/>
                    <a:pt x="240030" y="636270"/>
                  </a:cubicBezTo>
                  <a:cubicBezTo>
                    <a:pt x="245197" y="639961"/>
                    <a:pt x="249590" y="644860"/>
                    <a:pt x="255270" y="647700"/>
                  </a:cubicBezTo>
                  <a:cubicBezTo>
                    <a:pt x="259954" y="650042"/>
                    <a:pt x="265285" y="651173"/>
                    <a:pt x="270510" y="651510"/>
                  </a:cubicBezTo>
                  <a:cubicBezTo>
                    <a:pt x="304752" y="653719"/>
                    <a:pt x="339090" y="654050"/>
                    <a:pt x="373380" y="655320"/>
                  </a:cubicBezTo>
                  <a:cubicBezTo>
                    <a:pt x="375920" y="660400"/>
                    <a:pt x="376688" y="666864"/>
                    <a:pt x="381000" y="670560"/>
                  </a:cubicBezTo>
                  <a:cubicBezTo>
                    <a:pt x="386193" y="675011"/>
                    <a:pt x="393646" y="675779"/>
                    <a:pt x="400050" y="678180"/>
                  </a:cubicBezTo>
                  <a:cubicBezTo>
                    <a:pt x="422283" y="686517"/>
                    <a:pt x="421588" y="682832"/>
                    <a:pt x="457200" y="685800"/>
                  </a:cubicBezTo>
                  <a:cubicBezTo>
                    <a:pt x="461010" y="688340"/>
                    <a:pt x="464534" y="691372"/>
                    <a:pt x="468630" y="693420"/>
                  </a:cubicBezTo>
                  <a:cubicBezTo>
                    <a:pt x="485213" y="701711"/>
                    <a:pt x="476801" y="691636"/>
                    <a:pt x="495300" y="704850"/>
                  </a:cubicBezTo>
                  <a:cubicBezTo>
                    <a:pt x="499685" y="707982"/>
                    <a:pt x="502920" y="712470"/>
                    <a:pt x="506730" y="716280"/>
                  </a:cubicBezTo>
                  <a:cubicBezTo>
                    <a:pt x="476595" y="726325"/>
                    <a:pt x="511658" y="715664"/>
                    <a:pt x="445770" y="723900"/>
                  </a:cubicBezTo>
                  <a:cubicBezTo>
                    <a:pt x="441785" y="724398"/>
                    <a:pt x="438236" y="726736"/>
                    <a:pt x="434340" y="727710"/>
                  </a:cubicBezTo>
                  <a:cubicBezTo>
                    <a:pt x="428058" y="729281"/>
                    <a:pt x="421640" y="730250"/>
                    <a:pt x="415290" y="731520"/>
                  </a:cubicBezTo>
                  <a:cubicBezTo>
                    <a:pt x="401320" y="730250"/>
                    <a:pt x="387135" y="730461"/>
                    <a:pt x="373380" y="727710"/>
                  </a:cubicBezTo>
                  <a:cubicBezTo>
                    <a:pt x="284349" y="709904"/>
                    <a:pt x="409453" y="719018"/>
                    <a:pt x="281940" y="704850"/>
                  </a:cubicBezTo>
                  <a:cubicBezTo>
                    <a:pt x="233708" y="699491"/>
                    <a:pt x="259103" y="702081"/>
                    <a:pt x="205740" y="697230"/>
                  </a:cubicBezTo>
                  <a:cubicBezTo>
                    <a:pt x="194310" y="693420"/>
                    <a:pt x="181475" y="692483"/>
                    <a:pt x="171450" y="685800"/>
                  </a:cubicBezTo>
                  <a:cubicBezTo>
                    <a:pt x="156678" y="675952"/>
                    <a:pt x="164364" y="679628"/>
                    <a:pt x="148590" y="674370"/>
                  </a:cubicBezTo>
                  <a:cubicBezTo>
                    <a:pt x="144780" y="670560"/>
                    <a:pt x="140667" y="667031"/>
                    <a:pt x="137160" y="662940"/>
                  </a:cubicBezTo>
                  <a:cubicBezTo>
                    <a:pt x="133027" y="658119"/>
                    <a:pt x="129421" y="652867"/>
                    <a:pt x="125730" y="647700"/>
                  </a:cubicBezTo>
                  <a:cubicBezTo>
                    <a:pt x="123068" y="643974"/>
                    <a:pt x="121041" y="639788"/>
                    <a:pt x="118110" y="636270"/>
                  </a:cubicBezTo>
                  <a:cubicBezTo>
                    <a:pt x="93664" y="606934"/>
                    <a:pt x="117979" y="641789"/>
                    <a:pt x="99060" y="613410"/>
                  </a:cubicBezTo>
                  <a:cubicBezTo>
                    <a:pt x="97790" y="608330"/>
                    <a:pt x="97848" y="602716"/>
                    <a:pt x="95250" y="598170"/>
                  </a:cubicBezTo>
                  <a:cubicBezTo>
                    <a:pt x="92577" y="593492"/>
                    <a:pt x="87959" y="590189"/>
                    <a:pt x="83820" y="586740"/>
                  </a:cubicBezTo>
                  <a:cubicBezTo>
                    <a:pt x="72696" y="577470"/>
                    <a:pt x="57562" y="572118"/>
                    <a:pt x="49530" y="560070"/>
                  </a:cubicBezTo>
                  <a:cubicBezTo>
                    <a:pt x="38921" y="544157"/>
                    <a:pt x="45148" y="551878"/>
                    <a:pt x="30480" y="537210"/>
                  </a:cubicBezTo>
                  <a:cubicBezTo>
                    <a:pt x="29210" y="533400"/>
                    <a:pt x="28466" y="529372"/>
                    <a:pt x="26670" y="525780"/>
                  </a:cubicBezTo>
                  <a:cubicBezTo>
                    <a:pt x="24622" y="521684"/>
                    <a:pt x="21477" y="518233"/>
                    <a:pt x="19050" y="514350"/>
                  </a:cubicBezTo>
                  <a:cubicBezTo>
                    <a:pt x="-3927" y="477588"/>
                    <a:pt x="17411" y="509986"/>
                    <a:pt x="0" y="483870"/>
                  </a:cubicBezTo>
                  <a:cubicBezTo>
                    <a:pt x="1270" y="478790"/>
                    <a:pt x="905" y="472987"/>
                    <a:pt x="3810" y="468630"/>
                  </a:cubicBezTo>
                  <a:cubicBezTo>
                    <a:pt x="6350" y="464820"/>
                    <a:pt x="11836" y="464073"/>
                    <a:pt x="15240" y="461010"/>
                  </a:cubicBezTo>
                  <a:cubicBezTo>
                    <a:pt x="24585" y="452600"/>
                    <a:pt x="34936" y="444801"/>
                    <a:pt x="41910" y="434340"/>
                  </a:cubicBezTo>
                  <a:cubicBezTo>
                    <a:pt x="58751" y="409078"/>
                    <a:pt x="38958" y="437149"/>
                    <a:pt x="60960" y="411480"/>
                  </a:cubicBezTo>
                  <a:cubicBezTo>
                    <a:pt x="71633" y="399028"/>
                    <a:pt x="71395" y="396871"/>
                    <a:pt x="80010" y="384810"/>
                  </a:cubicBezTo>
                  <a:cubicBezTo>
                    <a:pt x="82886" y="380783"/>
                    <a:pt x="96067" y="364126"/>
                    <a:pt x="99060" y="358140"/>
                  </a:cubicBezTo>
                  <a:cubicBezTo>
                    <a:pt x="100856" y="354548"/>
                    <a:pt x="101288" y="350401"/>
                    <a:pt x="102870" y="346710"/>
                  </a:cubicBezTo>
                  <a:cubicBezTo>
                    <a:pt x="106489" y="338267"/>
                    <a:pt x="117103" y="318843"/>
                    <a:pt x="121920" y="312420"/>
                  </a:cubicBezTo>
                  <a:cubicBezTo>
                    <a:pt x="125153" y="308109"/>
                    <a:pt x="129540" y="304800"/>
                    <a:pt x="133350" y="300990"/>
                  </a:cubicBezTo>
                  <a:cubicBezTo>
                    <a:pt x="138134" y="281854"/>
                    <a:pt x="149225" y="261620"/>
                    <a:pt x="156210" y="251460"/>
                  </a:cubicBezTo>
                  <a:close/>
                </a:path>
              </a:pathLst>
            </a:custGeom>
            <a:solidFill>
              <a:srgbClr val="FAF701">
                <a:alpha val="40000"/>
              </a:srgbClr>
            </a:solidFill>
            <a:ln>
              <a:solidFill>
                <a:srgbClr val="FAF7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grpSp>
      <p:sp>
        <p:nvSpPr>
          <p:cNvPr id="16" name="Freeform: Shape 15">
            <a:extLst>
              <a:ext uri="{FF2B5EF4-FFF2-40B4-BE49-F238E27FC236}">
                <a16:creationId xmlns:a16="http://schemas.microsoft.com/office/drawing/2014/main" id="{34CA6877-C72E-E6E9-0062-397D45D1C7E4}"/>
              </a:ext>
            </a:extLst>
          </p:cNvPr>
          <p:cNvSpPr/>
          <p:nvPr/>
        </p:nvSpPr>
        <p:spPr>
          <a:xfrm>
            <a:off x="3962400" y="4811380"/>
            <a:ext cx="5677389" cy="906903"/>
          </a:xfrm>
          <a:custGeom>
            <a:avLst/>
            <a:gdLst>
              <a:gd name="connsiteX0" fmla="*/ 0 w 5582410"/>
              <a:gd name="connsiteY0" fmla="*/ 0 h 579007"/>
              <a:gd name="connsiteX1" fmla="*/ 5582410 w 5582410"/>
              <a:gd name="connsiteY1" fmla="*/ 0 h 579007"/>
              <a:gd name="connsiteX2" fmla="*/ 5582410 w 5582410"/>
              <a:gd name="connsiteY2" fmla="*/ 579007 h 579007"/>
              <a:gd name="connsiteX3" fmla="*/ 0 w 5582410"/>
              <a:gd name="connsiteY3" fmla="*/ 579007 h 579007"/>
              <a:gd name="connsiteX4" fmla="*/ 0 w 5582410"/>
              <a:gd name="connsiteY4" fmla="*/ 0 h 579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2410" h="579007">
                <a:moveTo>
                  <a:pt x="0" y="0"/>
                </a:moveTo>
                <a:lnTo>
                  <a:pt x="5582410" y="0"/>
                </a:lnTo>
                <a:lnTo>
                  <a:pt x="5582410" y="579007"/>
                </a:lnTo>
                <a:lnTo>
                  <a:pt x="0" y="57900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2385" tIns="32385" rIns="32385" bIns="32385" numCol="1" spcCol="1270" anchor="b" anchorCtr="0">
            <a:noAutofit/>
          </a:bodyPr>
          <a:lstStyle/>
          <a:p>
            <a:pPr marL="0" lvl="0" indent="0" algn="l" defTabSz="755650">
              <a:lnSpc>
                <a:spcPct val="90000"/>
              </a:lnSpc>
              <a:spcBef>
                <a:spcPct val="0"/>
              </a:spcBef>
              <a:buNone/>
            </a:pPr>
            <a:r>
              <a:rPr lang="en-US" sz="3200" kern="1200" dirty="0">
                <a:latin typeface="Calibri" panose="020F0502020204030204" pitchFamily="34" charset="0"/>
              </a:rPr>
              <a:t>Anterior cingulate cortex (ACC)</a:t>
            </a:r>
          </a:p>
          <a:p>
            <a:pPr marL="0" lvl="0" indent="0" algn="l" defTabSz="755650">
              <a:lnSpc>
                <a:spcPct val="90000"/>
              </a:lnSpc>
              <a:spcBef>
                <a:spcPct val="0"/>
              </a:spcBef>
              <a:spcAft>
                <a:spcPct val="35000"/>
              </a:spcAft>
              <a:buNone/>
            </a:pPr>
            <a:r>
              <a:rPr lang="en-US" sz="3200" kern="1200" dirty="0">
                <a:latin typeface="Calibri" panose="020F0502020204030204" pitchFamily="34" charset="0"/>
              </a:rPr>
              <a:t>Dorsomedial PFC (DMPFC)</a:t>
            </a:r>
          </a:p>
        </p:txBody>
      </p:sp>
      <p:sp>
        <p:nvSpPr>
          <p:cNvPr id="13" name="Freeform: Shape 12">
            <a:extLst>
              <a:ext uri="{FF2B5EF4-FFF2-40B4-BE49-F238E27FC236}">
                <a16:creationId xmlns:a16="http://schemas.microsoft.com/office/drawing/2014/main" id="{28C0D665-A58D-1FF1-061E-632EF1421C8E}"/>
              </a:ext>
            </a:extLst>
          </p:cNvPr>
          <p:cNvSpPr/>
          <p:nvPr/>
        </p:nvSpPr>
        <p:spPr>
          <a:xfrm>
            <a:off x="3322320" y="3555840"/>
            <a:ext cx="6019800" cy="1097280"/>
          </a:xfrm>
          <a:custGeom>
            <a:avLst/>
            <a:gdLst>
              <a:gd name="connsiteX0" fmla="*/ 0 w 5582410"/>
              <a:gd name="connsiteY0" fmla="*/ 0 h 579007"/>
              <a:gd name="connsiteX1" fmla="*/ 5582410 w 5582410"/>
              <a:gd name="connsiteY1" fmla="*/ 0 h 579007"/>
              <a:gd name="connsiteX2" fmla="*/ 5582410 w 5582410"/>
              <a:gd name="connsiteY2" fmla="*/ 579007 h 579007"/>
              <a:gd name="connsiteX3" fmla="*/ 0 w 5582410"/>
              <a:gd name="connsiteY3" fmla="*/ 579007 h 579007"/>
              <a:gd name="connsiteX4" fmla="*/ 0 w 5582410"/>
              <a:gd name="connsiteY4" fmla="*/ 0 h 579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2410" h="579007">
                <a:moveTo>
                  <a:pt x="0" y="0"/>
                </a:moveTo>
                <a:lnTo>
                  <a:pt x="5582410" y="0"/>
                </a:lnTo>
                <a:lnTo>
                  <a:pt x="5582410" y="579007"/>
                </a:lnTo>
                <a:lnTo>
                  <a:pt x="0" y="57900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2385" tIns="32385" rIns="32385" bIns="32385" numCol="1" spcCol="1270" anchor="b" anchorCtr="0">
            <a:noAutofit/>
          </a:bodyPr>
          <a:lstStyle/>
          <a:p>
            <a:pPr marL="0" lvl="0" indent="0" algn="l" defTabSz="755650">
              <a:lnSpc>
                <a:spcPct val="90000"/>
              </a:lnSpc>
              <a:spcBef>
                <a:spcPct val="0"/>
              </a:spcBef>
              <a:buNone/>
            </a:pPr>
            <a:r>
              <a:rPr lang="en-US" sz="3200" kern="1200" dirty="0">
                <a:solidFill>
                  <a:schemeClr val="tx1"/>
                </a:solidFill>
                <a:latin typeface="Calibri" panose="020F0502020204030204" pitchFamily="34" charset="0"/>
              </a:rPr>
              <a:t>Orbital frontal cortex (OFC)</a:t>
            </a:r>
          </a:p>
          <a:p>
            <a:pPr defTabSz="755650">
              <a:lnSpc>
                <a:spcPct val="90000"/>
              </a:lnSpc>
              <a:spcBef>
                <a:spcPct val="0"/>
              </a:spcBef>
              <a:spcAft>
                <a:spcPct val="35000"/>
              </a:spcAft>
            </a:pPr>
            <a:r>
              <a:rPr lang="en-US" sz="3200" kern="1200" dirty="0">
                <a:solidFill>
                  <a:schemeClr val="tx1"/>
                </a:solidFill>
                <a:latin typeface="Calibri" panose="020F0502020204030204" pitchFamily="34" charset="0"/>
              </a:rPr>
              <a:t>Ventromedial prefrontal (VMPFC)</a:t>
            </a:r>
          </a:p>
        </p:txBody>
      </p:sp>
    </p:spTree>
    <p:extLst>
      <p:ext uri="{BB962C8B-B14F-4D97-AF65-F5344CB8AC3E}">
        <p14:creationId xmlns:p14="http://schemas.microsoft.com/office/powerpoint/2010/main" val="312039805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DB30A-9593-4617-B550-8128987931C8}"/>
              </a:ext>
            </a:extLst>
          </p:cNvPr>
          <p:cNvSpPr>
            <a:spLocks noGrp="1"/>
          </p:cNvSpPr>
          <p:nvPr>
            <p:ph type="title"/>
          </p:nvPr>
        </p:nvSpPr>
        <p:spPr>
          <a:xfrm>
            <a:off x="1141412" y="165760"/>
            <a:ext cx="9905998" cy="1478570"/>
          </a:xfrm>
        </p:spPr>
        <p:txBody>
          <a:bodyPr/>
          <a:lstStyle/>
          <a:p>
            <a:pPr algn="ctr"/>
            <a:r>
              <a:rPr lang="en-US" dirty="0">
                <a:solidFill>
                  <a:schemeClr val="tx1"/>
                </a:solidFill>
              </a:rPr>
              <a:t>Executive Functions</a:t>
            </a:r>
          </a:p>
        </p:txBody>
      </p:sp>
      <p:sp>
        <p:nvSpPr>
          <p:cNvPr id="3" name="Content Placeholder 2">
            <a:extLst>
              <a:ext uri="{FF2B5EF4-FFF2-40B4-BE49-F238E27FC236}">
                <a16:creationId xmlns:a16="http://schemas.microsoft.com/office/drawing/2014/main" id="{8F332ACF-30A1-4236-929F-D0E61D0EEC08}"/>
              </a:ext>
            </a:extLst>
          </p:cNvPr>
          <p:cNvSpPr>
            <a:spLocks noGrp="1"/>
          </p:cNvSpPr>
          <p:nvPr>
            <p:ph idx="1"/>
          </p:nvPr>
        </p:nvSpPr>
        <p:spPr>
          <a:xfrm>
            <a:off x="1141412" y="1904999"/>
            <a:ext cx="8829902" cy="4733399"/>
          </a:xfrm>
        </p:spPr>
        <p:txBody>
          <a:bodyPr>
            <a:normAutofit/>
          </a:bodyPr>
          <a:lstStyle/>
          <a:p>
            <a:r>
              <a:rPr lang="en-US" altLang="en-US" sz="2800" dirty="0">
                <a:solidFill>
                  <a:schemeClr val="tx1"/>
                </a:solidFill>
              </a:rPr>
              <a:t>High-level cognitive processes that control and organize lower-level cognitive functions in line with our thoughts and feelings.</a:t>
            </a:r>
          </a:p>
          <a:p>
            <a:r>
              <a:rPr lang="en-US" altLang="en-US" sz="2800" dirty="0">
                <a:solidFill>
                  <a:schemeClr val="tx1"/>
                </a:solidFill>
              </a:rPr>
              <a:t>Relies on 3 essential processes:</a:t>
            </a:r>
          </a:p>
          <a:p>
            <a:pPr lvl="1"/>
            <a:r>
              <a:rPr lang="en-US" sz="2800" b="1" dirty="0">
                <a:solidFill>
                  <a:schemeClr val="tx1"/>
                </a:solidFill>
              </a:rPr>
              <a:t>Shifting:</a:t>
            </a:r>
            <a:r>
              <a:rPr lang="en-US" sz="2800" dirty="0">
                <a:solidFill>
                  <a:schemeClr val="tx1"/>
                </a:solidFill>
              </a:rPr>
              <a:t> switching from one mode of thinking to another</a:t>
            </a:r>
          </a:p>
          <a:p>
            <a:pPr lvl="1"/>
            <a:r>
              <a:rPr lang="en-US" sz="2800" b="1" dirty="0">
                <a:solidFill>
                  <a:schemeClr val="tx1"/>
                </a:solidFill>
              </a:rPr>
              <a:t>Updating:</a:t>
            </a:r>
            <a:r>
              <a:rPr lang="en-US" sz="2800" dirty="0">
                <a:solidFill>
                  <a:schemeClr val="tx1"/>
                </a:solidFill>
              </a:rPr>
              <a:t> revising a cognitive plan based on new information and contents of working memory</a:t>
            </a:r>
          </a:p>
          <a:p>
            <a:pPr lvl="1"/>
            <a:r>
              <a:rPr lang="en-US" sz="2800" b="1" dirty="0">
                <a:solidFill>
                  <a:schemeClr val="tx1"/>
                </a:solidFill>
              </a:rPr>
              <a:t>Inhibition:</a:t>
            </a:r>
            <a:r>
              <a:rPr lang="en-US" sz="2800" dirty="0">
                <a:solidFill>
                  <a:schemeClr val="tx1"/>
                </a:solidFill>
              </a:rPr>
              <a:t> inhibiting responses that would compromise or interfere with the plan</a:t>
            </a:r>
          </a:p>
        </p:txBody>
      </p:sp>
      <p:pic>
        <p:nvPicPr>
          <p:cNvPr id="4" name="Picture 3">
            <a:extLst>
              <a:ext uri="{FF2B5EF4-FFF2-40B4-BE49-F238E27FC236}">
                <a16:creationId xmlns:a16="http://schemas.microsoft.com/office/drawing/2014/main" id="{5B495F3E-9E66-18DA-9D63-F1A2FA8374DA}"/>
              </a:ext>
            </a:extLst>
          </p:cNvPr>
          <p:cNvPicPr>
            <a:picLocks noChangeAspect="1"/>
          </p:cNvPicPr>
          <p:nvPr/>
        </p:nvPicPr>
        <p:blipFill>
          <a:blip r:embed="rId3"/>
          <a:stretch>
            <a:fillRect/>
          </a:stretch>
        </p:blipFill>
        <p:spPr>
          <a:xfrm>
            <a:off x="10026241" y="1644330"/>
            <a:ext cx="2042337" cy="3200677"/>
          </a:xfrm>
          <a:prstGeom prst="rect">
            <a:avLst/>
          </a:prstGeom>
        </p:spPr>
      </p:pic>
    </p:spTree>
    <p:extLst>
      <p:ext uri="{BB962C8B-B14F-4D97-AF65-F5344CB8AC3E}">
        <p14:creationId xmlns:p14="http://schemas.microsoft.com/office/powerpoint/2010/main" val="1053172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F8415-398B-47E6-BC6F-7A06F942C80D}"/>
              </a:ext>
            </a:extLst>
          </p:cNvPr>
          <p:cNvSpPr>
            <a:spLocks noGrp="1"/>
          </p:cNvSpPr>
          <p:nvPr>
            <p:ph type="title"/>
          </p:nvPr>
        </p:nvSpPr>
        <p:spPr>
          <a:xfrm>
            <a:off x="1141413" y="226633"/>
            <a:ext cx="9905998" cy="1478570"/>
          </a:xfrm>
        </p:spPr>
        <p:txBody>
          <a:bodyPr/>
          <a:lstStyle/>
          <a:p>
            <a:pPr algn="ctr"/>
            <a:br>
              <a:rPr lang="en-US" dirty="0">
                <a:solidFill>
                  <a:schemeClr val="tx1"/>
                </a:solidFill>
              </a:rPr>
            </a:br>
            <a:r>
              <a:rPr lang="en-US" dirty="0">
                <a:solidFill>
                  <a:schemeClr val="tx1"/>
                </a:solidFill>
              </a:rPr>
              <a:t>The Wisconsin Card sorting task</a:t>
            </a:r>
          </a:p>
        </p:txBody>
      </p:sp>
      <p:sp>
        <p:nvSpPr>
          <p:cNvPr id="3" name="Content Placeholder 2">
            <a:extLst>
              <a:ext uri="{FF2B5EF4-FFF2-40B4-BE49-F238E27FC236}">
                <a16:creationId xmlns:a16="http://schemas.microsoft.com/office/drawing/2014/main" id="{9037A4BA-7492-4E72-8A40-ED6334B6B861}"/>
              </a:ext>
            </a:extLst>
          </p:cNvPr>
          <p:cNvSpPr>
            <a:spLocks noGrp="1"/>
          </p:cNvSpPr>
          <p:nvPr>
            <p:ph idx="1"/>
          </p:nvPr>
        </p:nvSpPr>
        <p:spPr>
          <a:xfrm>
            <a:off x="1141413" y="2249486"/>
            <a:ext cx="6093412" cy="4608513"/>
          </a:xfrm>
        </p:spPr>
        <p:txBody>
          <a:bodyPr>
            <a:normAutofit/>
          </a:bodyPr>
          <a:lstStyle/>
          <a:p>
            <a:pPr>
              <a:buFont typeface="Arial" panose="020B0604020202020204" pitchFamily="34" charset="0"/>
              <a:buChar char="•"/>
            </a:pPr>
            <a:r>
              <a:rPr lang="en-US" sz="2800" dirty="0">
                <a:solidFill>
                  <a:schemeClr val="tx1"/>
                </a:solidFill>
              </a:rPr>
              <a:t>Participants sort cards based on similar features.</a:t>
            </a:r>
          </a:p>
          <a:p>
            <a:pPr>
              <a:buFont typeface="Arial" panose="020B0604020202020204" pitchFamily="34" charset="0"/>
              <a:buChar char="•"/>
            </a:pPr>
            <a:r>
              <a:rPr lang="en-US" sz="2800" dirty="0">
                <a:solidFill>
                  <a:schemeClr val="tx1"/>
                </a:solidFill>
              </a:rPr>
              <a:t>The rule for which feature to sort by changes at random.</a:t>
            </a:r>
          </a:p>
          <a:p>
            <a:pPr>
              <a:buFont typeface="Arial" panose="020B0604020202020204" pitchFamily="34" charset="0"/>
              <a:buChar char="•"/>
            </a:pPr>
            <a:r>
              <a:rPr lang="en-US" sz="2800" dirty="0">
                <a:solidFill>
                  <a:schemeClr val="tx1"/>
                </a:solidFill>
              </a:rPr>
              <a:t>Tests shifting, updating, and inhibition</a:t>
            </a:r>
            <a:r>
              <a:rPr lang="en-US" sz="2800" dirty="0">
                <a:solidFill>
                  <a:schemeClr val="bg1"/>
                </a:solidFill>
              </a:rPr>
              <a:t>.</a:t>
            </a:r>
          </a:p>
        </p:txBody>
      </p:sp>
      <p:pic>
        <p:nvPicPr>
          <p:cNvPr id="4" name="Picture 3">
            <a:extLst>
              <a:ext uri="{FF2B5EF4-FFF2-40B4-BE49-F238E27FC236}">
                <a16:creationId xmlns:a16="http://schemas.microsoft.com/office/drawing/2014/main" id="{06413BCF-119A-47CB-B759-D8D02477EE79}"/>
              </a:ext>
            </a:extLst>
          </p:cNvPr>
          <p:cNvPicPr>
            <a:picLocks noChangeAspect="1"/>
          </p:cNvPicPr>
          <p:nvPr/>
        </p:nvPicPr>
        <p:blipFill>
          <a:blip r:embed="rId3"/>
          <a:stretch>
            <a:fillRect/>
          </a:stretch>
        </p:blipFill>
        <p:spPr>
          <a:xfrm>
            <a:off x="7234825" y="2087002"/>
            <a:ext cx="3812586" cy="4770998"/>
          </a:xfrm>
          <a:prstGeom prst="rect">
            <a:avLst/>
          </a:prstGeom>
        </p:spPr>
      </p:pic>
    </p:spTree>
    <p:extLst>
      <p:ext uri="{BB962C8B-B14F-4D97-AF65-F5344CB8AC3E}">
        <p14:creationId xmlns:p14="http://schemas.microsoft.com/office/powerpoint/2010/main" val="2692063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57C20-E6E1-4792-8E31-001F7DF74E4B}"/>
              </a:ext>
            </a:extLst>
          </p:cNvPr>
          <p:cNvSpPr>
            <a:spLocks noGrp="1"/>
          </p:cNvSpPr>
          <p:nvPr>
            <p:ph type="title"/>
          </p:nvPr>
        </p:nvSpPr>
        <p:spPr>
          <a:xfrm>
            <a:off x="1143001" y="125032"/>
            <a:ext cx="9905998" cy="1313052"/>
          </a:xfrm>
        </p:spPr>
        <p:txBody>
          <a:bodyPr/>
          <a:lstStyle/>
          <a:p>
            <a:pPr algn="ctr"/>
            <a:r>
              <a:rPr lang="en-US" dirty="0">
                <a:solidFill>
                  <a:schemeClr val="tx1"/>
                </a:solidFill>
              </a:rPr>
              <a:t>Wisconsin Card sorting test (WCST)</a:t>
            </a:r>
          </a:p>
        </p:txBody>
      </p:sp>
      <p:pic>
        <p:nvPicPr>
          <p:cNvPr id="4" name="Online Media 3" title="IMG 4311">
            <a:hlinkClick r:id="" action="ppaction://media"/>
            <a:extLst>
              <a:ext uri="{FF2B5EF4-FFF2-40B4-BE49-F238E27FC236}">
                <a16:creationId xmlns:a16="http://schemas.microsoft.com/office/drawing/2014/main" id="{F5B359CA-7322-470E-91C3-BB6684CE6F80}"/>
              </a:ext>
            </a:extLst>
          </p:cNvPr>
          <p:cNvPicPr>
            <a:picLocks noRot="1" noChangeAspect="1"/>
          </p:cNvPicPr>
          <p:nvPr>
            <a:videoFile r:link="rId1"/>
          </p:nvPr>
        </p:nvPicPr>
        <p:blipFill>
          <a:blip r:embed="rId3"/>
          <a:stretch>
            <a:fillRect/>
          </a:stretch>
        </p:blipFill>
        <p:spPr>
          <a:xfrm>
            <a:off x="1799771" y="1473491"/>
            <a:ext cx="8592457" cy="4854738"/>
          </a:xfrm>
          <a:prstGeom prst="rect">
            <a:avLst/>
          </a:prstGeom>
        </p:spPr>
      </p:pic>
      <p:sp>
        <p:nvSpPr>
          <p:cNvPr id="6" name="TextBox 5">
            <a:extLst>
              <a:ext uri="{FF2B5EF4-FFF2-40B4-BE49-F238E27FC236}">
                <a16:creationId xmlns:a16="http://schemas.microsoft.com/office/drawing/2014/main" id="{6EF2D210-6627-4B4F-BBA0-390E7FB98A35}"/>
              </a:ext>
            </a:extLst>
          </p:cNvPr>
          <p:cNvSpPr txBox="1"/>
          <p:nvPr/>
        </p:nvSpPr>
        <p:spPr>
          <a:xfrm>
            <a:off x="3044371" y="6363636"/>
            <a:ext cx="6103256" cy="369332"/>
          </a:xfrm>
          <a:prstGeom prst="rect">
            <a:avLst/>
          </a:prstGeom>
          <a:noFill/>
        </p:spPr>
        <p:txBody>
          <a:bodyPr wrap="square">
            <a:spAutoFit/>
          </a:bodyPr>
          <a:lstStyle/>
          <a:p>
            <a:r>
              <a:rPr lang="en-US" dirty="0">
                <a:solidFill>
                  <a:schemeClr val="bg1"/>
                </a:solidFill>
              </a:rPr>
              <a:t>https://www.youtube.com/watch?v=xFVq0xbjXv4</a:t>
            </a:r>
          </a:p>
        </p:txBody>
      </p:sp>
    </p:spTree>
    <p:extLst>
      <p:ext uri="{BB962C8B-B14F-4D97-AF65-F5344CB8AC3E}">
        <p14:creationId xmlns:p14="http://schemas.microsoft.com/office/powerpoint/2010/main" val="1659924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24E5-092E-48B4-A6CA-AF7864D9D536}"/>
              </a:ext>
            </a:extLst>
          </p:cNvPr>
          <p:cNvSpPr>
            <a:spLocks noGrp="1"/>
          </p:cNvSpPr>
          <p:nvPr>
            <p:ph type="title"/>
          </p:nvPr>
        </p:nvSpPr>
        <p:spPr>
          <a:xfrm>
            <a:off x="1141413" y="0"/>
            <a:ext cx="8084230" cy="1478570"/>
          </a:xfrm>
        </p:spPr>
        <p:txBody>
          <a:bodyPr/>
          <a:lstStyle/>
          <a:p>
            <a:pPr algn="ctr"/>
            <a:r>
              <a:rPr lang="en-US" dirty="0">
                <a:solidFill>
                  <a:schemeClr val="tx1"/>
                </a:solidFill>
              </a:rPr>
              <a:t>Prefrontal Cortex and executive function</a:t>
            </a:r>
          </a:p>
        </p:txBody>
      </p:sp>
      <p:sp>
        <p:nvSpPr>
          <p:cNvPr id="3" name="Content Placeholder 2">
            <a:extLst>
              <a:ext uri="{FF2B5EF4-FFF2-40B4-BE49-F238E27FC236}">
                <a16:creationId xmlns:a16="http://schemas.microsoft.com/office/drawing/2014/main" id="{4902F140-D2E3-4125-B330-7330283AB4EC}"/>
              </a:ext>
            </a:extLst>
          </p:cNvPr>
          <p:cNvSpPr>
            <a:spLocks noGrp="1"/>
          </p:cNvSpPr>
          <p:nvPr>
            <p:ph idx="1"/>
          </p:nvPr>
        </p:nvSpPr>
        <p:spPr>
          <a:xfrm>
            <a:off x="1153433" y="1905000"/>
            <a:ext cx="8072210" cy="4953000"/>
          </a:xfrm>
        </p:spPr>
        <p:txBody>
          <a:bodyPr>
            <a:normAutofit/>
          </a:bodyPr>
          <a:lstStyle/>
          <a:p>
            <a:pPr>
              <a:buFont typeface="Arial" panose="020B0604020202020204" pitchFamily="34" charset="0"/>
              <a:buChar char="•"/>
            </a:pPr>
            <a:r>
              <a:rPr lang="en-US" sz="2800" dirty="0">
                <a:solidFill>
                  <a:schemeClr val="tx1"/>
                </a:solidFill>
              </a:rPr>
              <a:t>Identifies information that is goal/task-relevant and determines a task set.</a:t>
            </a:r>
          </a:p>
          <a:p>
            <a:pPr>
              <a:buFont typeface="Arial" panose="020B0604020202020204" pitchFamily="34" charset="0"/>
              <a:buChar char="•"/>
            </a:pPr>
            <a:r>
              <a:rPr lang="en-US" sz="2800" dirty="0">
                <a:solidFill>
                  <a:schemeClr val="tx1"/>
                </a:solidFill>
              </a:rPr>
              <a:t>Functional subdivisions:</a:t>
            </a:r>
          </a:p>
          <a:p>
            <a:pPr lvl="1">
              <a:buFont typeface="Arial" panose="020B0604020202020204" pitchFamily="34" charset="0"/>
              <a:buChar char="•"/>
            </a:pPr>
            <a:r>
              <a:rPr lang="en-US" sz="2800" b="1" dirty="0">
                <a:solidFill>
                  <a:schemeClr val="tx1"/>
                </a:solidFill>
              </a:rPr>
              <a:t>Dorsolateral prefrontal cortex (</a:t>
            </a:r>
            <a:r>
              <a:rPr lang="en-US" sz="2800" b="1" dirty="0" err="1">
                <a:solidFill>
                  <a:schemeClr val="tx1"/>
                </a:solidFill>
              </a:rPr>
              <a:t>dlPFC</a:t>
            </a:r>
            <a:r>
              <a:rPr lang="en-US" sz="2800" b="1" dirty="0">
                <a:solidFill>
                  <a:schemeClr val="tx1"/>
                </a:solidFill>
              </a:rPr>
              <a:t>): </a:t>
            </a:r>
            <a:r>
              <a:rPr lang="en-US" sz="2800" dirty="0">
                <a:solidFill>
                  <a:schemeClr val="tx1"/>
                </a:solidFill>
              </a:rPr>
              <a:t>updating and shifting</a:t>
            </a:r>
          </a:p>
          <a:p>
            <a:pPr lvl="1">
              <a:buFont typeface="Arial" panose="020B0604020202020204" pitchFamily="34" charset="0"/>
              <a:buChar char="•"/>
            </a:pPr>
            <a:r>
              <a:rPr lang="en-US" sz="2800" b="1" dirty="0">
                <a:solidFill>
                  <a:schemeClr val="tx1"/>
                </a:solidFill>
              </a:rPr>
              <a:t>Medial prefrontal cortex (</a:t>
            </a:r>
            <a:r>
              <a:rPr lang="en-US" sz="2800" b="1" dirty="0" err="1">
                <a:solidFill>
                  <a:schemeClr val="tx1"/>
                </a:solidFill>
              </a:rPr>
              <a:t>mPFC</a:t>
            </a:r>
            <a:r>
              <a:rPr lang="en-US" sz="2800" b="1" dirty="0">
                <a:solidFill>
                  <a:schemeClr val="tx1"/>
                </a:solidFill>
              </a:rPr>
              <a:t>):</a:t>
            </a:r>
            <a:r>
              <a:rPr lang="en-US" sz="2800" dirty="0">
                <a:solidFill>
                  <a:schemeClr val="tx1"/>
                </a:solidFill>
              </a:rPr>
              <a:t> using memories in a goal driven manner</a:t>
            </a:r>
          </a:p>
          <a:p>
            <a:pPr lvl="1">
              <a:buFont typeface="Arial" panose="020B0604020202020204" pitchFamily="34" charset="0"/>
              <a:buChar char="•"/>
            </a:pPr>
            <a:r>
              <a:rPr lang="en-US" sz="2800" b="1" dirty="0">
                <a:solidFill>
                  <a:schemeClr val="tx1"/>
                </a:solidFill>
              </a:rPr>
              <a:t>Orbitofrontal cortex (OFC): </a:t>
            </a:r>
            <a:r>
              <a:rPr lang="en-US" sz="2800" dirty="0">
                <a:solidFill>
                  <a:schemeClr val="tx1"/>
                </a:solidFill>
              </a:rPr>
              <a:t>value-based decision making and inhibition</a:t>
            </a:r>
          </a:p>
        </p:txBody>
      </p:sp>
      <p:pic>
        <p:nvPicPr>
          <p:cNvPr id="4" name="Picture 3">
            <a:extLst>
              <a:ext uri="{FF2B5EF4-FFF2-40B4-BE49-F238E27FC236}">
                <a16:creationId xmlns:a16="http://schemas.microsoft.com/office/drawing/2014/main" id="{A2155BFB-EEEF-4D7B-A739-69044B8BEA05}"/>
              </a:ext>
            </a:extLst>
          </p:cNvPr>
          <p:cNvPicPr>
            <a:picLocks noChangeAspect="1"/>
          </p:cNvPicPr>
          <p:nvPr/>
        </p:nvPicPr>
        <p:blipFill>
          <a:blip r:embed="rId3"/>
          <a:stretch>
            <a:fillRect/>
          </a:stretch>
        </p:blipFill>
        <p:spPr>
          <a:xfrm>
            <a:off x="9225643" y="-13053"/>
            <a:ext cx="2966357" cy="6871052"/>
          </a:xfrm>
          <a:prstGeom prst="rect">
            <a:avLst/>
          </a:prstGeom>
        </p:spPr>
      </p:pic>
    </p:spTree>
    <p:extLst>
      <p:ext uri="{BB962C8B-B14F-4D97-AF65-F5344CB8AC3E}">
        <p14:creationId xmlns:p14="http://schemas.microsoft.com/office/powerpoint/2010/main" val="1498771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348B4-ED7E-40AD-8C97-35983FB59555}"/>
              </a:ext>
            </a:extLst>
          </p:cNvPr>
          <p:cNvSpPr>
            <a:spLocks noGrp="1"/>
          </p:cNvSpPr>
          <p:nvPr>
            <p:ph type="title"/>
          </p:nvPr>
        </p:nvSpPr>
        <p:spPr>
          <a:xfrm>
            <a:off x="1143001" y="0"/>
            <a:ext cx="9905998" cy="1478570"/>
          </a:xfrm>
        </p:spPr>
        <p:txBody>
          <a:bodyPr/>
          <a:lstStyle/>
          <a:p>
            <a:pPr algn="ctr"/>
            <a:r>
              <a:rPr lang="en-US" dirty="0">
                <a:solidFill>
                  <a:schemeClr val="tx1"/>
                </a:solidFill>
              </a:rPr>
              <a:t>A Neural basis for decision making</a:t>
            </a:r>
          </a:p>
        </p:txBody>
      </p:sp>
      <p:sp>
        <p:nvSpPr>
          <p:cNvPr id="3" name="Content Placeholder 2">
            <a:extLst>
              <a:ext uri="{FF2B5EF4-FFF2-40B4-BE49-F238E27FC236}">
                <a16:creationId xmlns:a16="http://schemas.microsoft.com/office/drawing/2014/main" id="{1CC8C8DF-CADF-4540-8CE3-0D7D4270F8B3}"/>
              </a:ext>
            </a:extLst>
          </p:cNvPr>
          <p:cNvSpPr>
            <a:spLocks noGrp="1"/>
          </p:cNvSpPr>
          <p:nvPr>
            <p:ph idx="1"/>
          </p:nvPr>
        </p:nvSpPr>
        <p:spPr>
          <a:xfrm>
            <a:off x="1141413" y="1905000"/>
            <a:ext cx="5585959" cy="4953000"/>
          </a:xfrm>
        </p:spPr>
        <p:txBody>
          <a:bodyPr/>
          <a:lstStyle/>
          <a:p>
            <a:pPr>
              <a:spcBef>
                <a:spcPts val="1500"/>
              </a:spcBef>
            </a:pPr>
            <a:r>
              <a:rPr lang="en-US" altLang="en-US" sz="2400" dirty="0">
                <a:solidFill>
                  <a:schemeClr val="tx1"/>
                </a:solidFill>
              </a:rPr>
              <a:t>Two main underlying systems:</a:t>
            </a:r>
          </a:p>
          <a:p>
            <a:pPr lvl="1"/>
            <a:r>
              <a:rPr lang="en-US" altLang="en-US" sz="2400" dirty="0">
                <a:solidFill>
                  <a:schemeClr val="tx1"/>
                </a:solidFill>
              </a:rPr>
              <a:t>A </a:t>
            </a:r>
            <a:r>
              <a:rPr lang="en-US" altLang="en-US" sz="2400" i="1" dirty="0">
                <a:solidFill>
                  <a:schemeClr val="tx1"/>
                </a:solidFill>
              </a:rPr>
              <a:t>valuation system</a:t>
            </a:r>
            <a:r>
              <a:rPr lang="en-US" altLang="en-US" sz="2400" dirty="0">
                <a:solidFill>
                  <a:schemeClr val="tx1"/>
                </a:solidFill>
              </a:rPr>
              <a:t> to rank choices: ventromedial prefrontal cortex, orbitofrontal cortex, and the dopamine-based reward system.</a:t>
            </a:r>
          </a:p>
          <a:p>
            <a:pPr marL="457200" lvl="1" indent="0">
              <a:buNone/>
            </a:pPr>
            <a:endParaRPr lang="en-US" altLang="en-US" sz="2400" dirty="0">
              <a:solidFill>
                <a:schemeClr val="tx1"/>
              </a:solidFill>
            </a:endParaRPr>
          </a:p>
          <a:p>
            <a:pPr lvl="1"/>
            <a:r>
              <a:rPr lang="en-US" altLang="en-US" sz="2400" dirty="0">
                <a:solidFill>
                  <a:schemeClr val="tx1"/>
                </a:solidFill>
              </a:rPr>
              <a:t>A </a:t>
            </a:r>
            <a:r>
              <a:rPr lang="en-US" altLang="en-US" sz="2400" i="1" dirty="0">
                <a:solidFill>
                  <a:schemeClr val="tx1"/>
                </a:solidFill>
              </a:rPr>
              <a:t>choice system</a:t>
            </a:r>
            <a:r>
              <a:rPr lang="en-US" altLang="en-US" sz="2400" dirty="0">
                <a:solidFill>
                  <a:schemeClr val="tx1"/>
                </a:solidFill>
              </a:rPr>
              <a:t> to consider alternatives and make the decision: dorsolateral prefrontal cortex, dorsal anterior cingulate cortex, and parietal regions.</a:t>
            </a:r>
          </a:p>
          <a:p>
            <a:pPr lvl="1"/>
            <a:endParaRPr lang="en-US" dirty="0"/>
          </a:p>
        </p:txBody>
      </p:sp>
      <p:pic>
        <p:nvPicPr>
          <p:cNvPr id="4" name="Picture 3">
            <a:extLst>
              <a:ext uri="{FF2B5EF4-FFF2-40B4-BE49-F238E27FC236}">
                <a16:creationId xmlns:a16="http://schemas.microsoft.com/office/drawing/2014/main" id="{45CAA2E0-2A12-4A9E-9C18-31379973ECAE}"/>
              </a:ext>
            </a:extLst>
          </p:cNvPr>
          <p:cNvPicPr>
            <a:picLocks noChangeAspect="1"/>
          </p:cNvPicPr>
          <p:nvPr/>
        </p:nvPicPr>
        <p:blipFill>
          <a:blip r:embed="rId3"/>
          <a:stretch>
            <a:fillRect/>
          </a:stretch>
        </p:blipFill>
        <p:spPr>
          <a:xfrm>
            <a:off x="6727372" y="1478570"/>
            <a:ext cx="4932091" cy="4188315"/>
          </a:xfrm>
          <a:prstGeom prst="rect">
            <a:avLst/>
          </a:prstGeom>
        </p:spPr>
      </p:pic>
    </p:spTree>
    <p:extLst>
      <p:ext uri="{BB962C8B-B14F-4D97-AF65-F5344CB8AC3E}">
        <p14:creationId xmlns:p14="http://schemas.microsoft.com/office/powerpoint/2010/main" val="4192465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F9CAA-B5CB-4C37-8315-85A4564502AD}"/>
              </a:ext>
            </a:extLst>
          </p:cNvPr>
          <p:cNvSpPr>
            <a:spLocks noGrp="1"/>
          </p:cNvSpPr>
          <p:nvPr>
            <p:ph type="title"/>
          </p:nvPr>
        </p:nvSpPr>
        <p:spPr>
          <a:xfrm>
            <a:off x="1141412" y="327514"/>
            <a:ext cx="9905998" cy="1478570"/>
          </a:xfrm>
        </p:spPr>
        <p:txBody>
          <a:bodyPr/>
          <a:lstStyle/>
          <a:p>
            <a:pPr algn="ctr"/>
            <a:r>
              <a:rPr lang="en-US" dirty="0">
                <a:solidFill>
                  <a:schemeClr val="tx1"/>
                </a:solidFill>
              </a:rPr>
              <a:t>Cingulate cortex</a:t>
            </a:r>
          </a:p>
        </p:txBody>
      </p:sp>
      <p:sp>
        <p:nvSpPr>
          <p:cNvPr id="3" name="Content Placeholder 2">
            <a:extLst>
              <a:ext uri="{FF2B5EF4-FFF2-40B4-BE49-F238E27FC236}">
                <a16:creationId xmlns:a16="http://schemas.microsoft.com/office/drawing/2014/main" id="{13D69CB2-CAA4-4478-9B72-59EEF11A47EF}"/>
              </a:ext>
            </a:extLst>
          </p:cNvPr>
          <p:cNvSpPr>
            <a:spLocks noGrp="1"/>
          </p:cNvSpPr>
          <p:nvPr>
            <p:ph idx="1"/>
          </p:nvPr>
        </p:nvSpPr>
        <p:spPr>
          <a:xfrm>
            <a:off x="1141412" y="1806084"/>
            <a:ext cx="4954588" cy="5051916"/>
          </a:xfrm>
        </p:spPr>
        <p:txBody>
          <a:bodyPr>
            <a:normAutofit/>
          </a:bodyPr>
          <a:lstStyle/>
          <a:p>
            <a:pPr>
              <a:buFont typeface="Arial"/>
              <a:buChar char="•"/>
            </a:pPr>
            <a:r>
              <a:rPr lang="en-US" sz="2400" dirty="0">
                <a:solidFill>
                  <a:schemeClr val="tx1"/>
                </a:solidFill>
              </a:rPr>
              <a:t>The cingulate cortex, is crucial in:</a:t>
            </a:r>
          </a:p>
          <a:p>
            <a:pPr lvl="1">
              <a:buFont typeface="Arial"/>
              <a:buChar char="•"/>
            </a:pPr>
            <a:r>
              <a:rPr lang="en-US" sz="2400" dirty="0">
                <a:solidFill>
                  <a:schemeClr val="tx1"/>
                </a:solidFill>
              </a:rPr>
              <a:t>evaluating the utility of actions that have emotional significance </a:t>
            </a:r>
          </a:p>
          <a:p>
            <a:pPr lvl="1">
              <a:buFont typeface="Arial"/>
              <a:buChar char="•"/>
            </a:pPr>
            <a:r>
              <a:rPr lang="en-US" sz="2400" dirty="0">
                <a:solidFill>
                  <a:schemeClr val="tx1"/>
                </a:solidFill>
              </a:rPr>
              <a:t>integrating </a:t>
            </a:r>
            <a:r>
              <a:rPr lang="en-GB" sz="2400" dirty="0">
                <a:solidFill>
                  <a:schemeClr val="tx1"/>
                </a:solidFill>
              </a:rPr>
              <a:t>motivational aspects of </a:t>
            </a:r>
            <a:r>
              <a:rPr lang="en-GB" sz="2400" dirty="0" err="1">
                <a:solidFill>
                  <a:schemeClr val="tx1"/>
                </a:solidFill>
              </a:rPr>
              <a:t>behavior</a:t>
            </a:r>
            <a:endParaRPr lang="en-GB" sz="2400" dirty="0">
              <a:solidFill>
                <a:schemeClr val="tx1"/>
              </a:solidFill>
            </a:endParaRPr>
          </a:p>
          <a:p>
            <a:pPr marL="201168" lvl="1" indent="0">
              <a:buNone/>
            </a:pPr>
            <a:endParaRPr lang="en-GB" sz="2400" dirty="0">
              <a:solidFill>
                <a:schemeClr val="tx1"/>
              </a:solidFill>
            </a:endParaRPr>
          </a:p>
          <a:p>
            <a:r>
              <a:rPr lang="en-US" sz="2400" dirty="0">
                <a:solidFill>
                  <a:schemeClr val="tx1"/>
                </a:solidFill>
              </a:rPr>
              <a:t>Subdivisions: </a:t>
            </a:r>
          </a:p>
          <a:p>
            <a:pPr lvl="1"/>
            <a:r>
              <a:rPr lang="en-US" sz="2400" dirty="0">
                <a:solidFill>
                  <a:schemeClr val="tx1"/>
                </a:solidFill>
              </a:rPr>
              <a:t>Posterior (blue): motor functions</a:t>
            </a:r>
          </a:p>
          <a:p>
            <a:pPr lvl="1"/>
            <a:r>
              <a:rPr lang="en-US" sz="2400" dirty="0">
                <a:solidFill>
                  <a:schemeClr val="tx1"/>
                </a:solidFill>
              </a:rPr>
              <a:t>Middle (red): cognitive control</a:t>
            </a:r>
          </a:p>
          <a:p>
            <a:pPr lvl="1"/>
            <a:r>
              <a:rPr lang="en-US" sz="2400" dirty="0">
                <a:solidFill>
                  <a:schemeClr val="tx1"/>
                </a:solidFill>
              </a:rPr>
              <a:t>Anterior (green): emotion</a:t>
            </a:r>
          </a:p>
          <a:p>
            <a:pPr>
              <a:buFont typeface="Arial"/>
              <a:buChar char="•"/>
            </a:pPr>
            <a:endParaRPr lang="en-GB" sz="2800" dirty="0">
              <a:solidFill>
                <a:schemeClr val="tx1"/>
              </a:solidFill>
            </a:endParaRPr>
          </a:p>
          <a:p>
            <a:endParaRPr lang="en-US" dirty="0"/>
          </a:p>
        </p:txBody>
      </p:sp>
      <p:pic>
        <p:nvPicPr>
          <p:cNvPr id="4" name="Picture 3">
            <a:extLst>
              <a:ext uri="{FF2B5EF4-FFF2-40B4-BE49-F238E27FC236}">
                <a16:creationId xmlns:a16="http://schemas.microsoft.com/office/drawing/2014/main" id="{D66A864D-35FD-4662-A8D9-A3398E7E7A50}"/>
              </a:ext>
            </a:extLst>
          </p:cNvPr>
          <p:cNvPicPr>
            <a:picLocks noChangeAspect="1"/>
          </p:cNvPicPr>
          <p:nvPr/>
        </p:nvPicPr>
        <p:blipFill>
          <a:blip r:embed="rId3"/>
          <a:stretch>
            <a:fillRect/>
          </a:stretch>
        </p:blipFill>
        <p:spPr>
          <a:xfrm>
            <a:off x="6185428" y="1806084"/>
            <a:ext cx="5145181" cy="4396271"/>
          </a:xfrm>
          <a:prstGeom prst="rect">
            <a:avLst/>
          </a:prstGeom>
        </p:spPr>
      </p:pic>
    </p:spTree>
    <p:extLst>
      <p:ext uri="{BB962C8B-B14F-4D97-AF65-F5344CB8AC3E}">
        <p14:creationId xmlns:p14="http://schemas.microsoft.com/office/powerpoint/2010/main" val="3067642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3647</TotalTime>
  <Pages>12</Pages>
  <Words>558</Words>
  <Application>Microsoft Office PowerPoint</Application>
  <PresentationFormat>Widescreen</PresentationFormat>
  <Paragraphs>95</Paragraphs>
  <Slides>17</Slides>
  <Notes>14</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Retrospect</vt:lpstr>
      <vt:lpstr>Parietal Cortex</vt:lpstr>
      <vt:lpstr>Parietal cortex includes</vt:lpstr>
      <vt:lpstr>Parietal Cortex and Sensory Information</vt:lpstr>
      <vt:lpstr>Neural Activity in Parietal Cortex Associated with Attention</vt:lpstr>
      <vt:lpstr>Attention Orientation and Parietal Cortex</vt:lpstr>
      <vt:lpstr>Damage to Parietal Lobe: Contralateral  Neglect</vt:lpstr>
      <vt:lpstr>Functional asymmetry in parietal cortex is thought to contribute to left neglect</vt:lpstr>
      <vt:lpstr>Balint’s syndrome</vt:lpstr>
      <vt:lpstr>Frontal Cortex</vt:lpstr>
      <vt:lpstr>Frontal cortex includes</vt:lpstr>
      <vt:lpstr>Prefrontal (PFC) cortex includes</vt:lpstr>
      <vt:lpstr>Executive Functions</vt:lpstr>
      <vt:lpstr> The Wisconsin Card sorting task</vt:lpstr>
      <vt:lpstr>Wisconsin Card sorting test (WCST)</vt:lpstr>
      <vt:lpstr>Prefrontal Cortex and executive function</vt:lpstr>
      <vt:lpstr>A Neural basis for decision making</vt:lpstr>
      <vt:lpstr>Cingulate cortex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Parietal Cortex</dc:title>
  <dc:subject/>
  <dc:creator>Keele, Brad</dc:creator>
  <cp:keywords/>
  <dc:description/>
  <cp:lastModifiedBy>Phillips, Nicole</cp:lastModifiedBy>
  <cp:revision>129</cp:revision>
  <cp:lastPrinted>2024-11-14T14:40:41Z</cp:lastPrinted>
  <dcterms:created xsi:type="dcterms:W3CDTF">1998-10-22T12:39:31Z</dcterms:created>
  <dcterms:modified xsi:type="dcterms:W3CDTF">2025-11-19T02:29:37Z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2</vt:i4>
  </property>
  <property fmtid="{D5CDD505-2E9C-101B-9397-08002B2CF9AE}" pid="4" name="Compression">
    <vt:i4>100</vt:i4>
  </property>
  <property fmtid="{D5CDD505-2E9C-101B-9397-08002B2CF9AE}" pid="5" name="ScreenSize">
    <vt:i4>2</vt:i4>
  </property>
  <property fmtid="{D5CDD505-2E9C-101B-9397-08002B2CF9AE}" pid="6" name="ScreenUsage">
    <vt:i4>2</vt:i4>
  </property>
  <property fmtid="{D5CDD505-2E9C-101B-9397-08002B2CF9AE}" pid="7" name="MailAddress">
    <vt:lpwstr>NB_Keele@Baylor.edu</vt:lpwstr>
  </property>
  <property fmtid="{D5CDD505-2E9C-101B-9397-08002B2CF9AE}" pid="8" name="HomePage">
    <vt:lpwstr>http://www.baylor.edu/~NB_Keele/</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2</vt:i4>
  </property>
  <property fmtid="{D5CDD505-2E9C-101B-9397-08002B2CF9AE}" pid="19" name="ShowNotes">
    <vt:bool>false</vt:bool>
  </property>
  <property fmtid="{D5CDD505-2E9C-101B-9397-08002B2CF9AE}" pid="20" name="NavBtnPos">
    <vt:i4>1</vt:i4>
  </property>
  <property fmtid="{D5CDD505-2E9C-101B-9397-08002B2CF9AE}" pid="21" name="OutputDir">
    <vt:lpwstr>E:\DESKTOP\Class Stuff\Fall 1999\3319 Stuff\Lectures\WWW</vt:lpwstr>
  </property>
</Properties>
</file>