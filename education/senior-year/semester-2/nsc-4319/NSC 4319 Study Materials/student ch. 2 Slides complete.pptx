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2"/>
  </p:sldMasterIdLst>
  <p:notesMasterIdLst>
    <p:notesMasterId r:id="rId25"/>
  </p:notesMasterIdLst>
  <p:sldIdLst>
    <p:sldId id="369" r:id="rId3"/>
    <p:sldId id="370" r:id="rId4"/>
    <p:sldId id="641" r:id="rId5"/>
    <p:sldId id="355" r:id="rId6"/>
    <p:sldId id="358" r:id="rId7"/>
    <p:sldId id="372" r:id="rId8"/>
    <p:sldId id="643" r:id="rId9"/>
    <p:sldId id="264" r:id="rId10"/>
    <p:sldId id="371" r:id="rId11"/>
    <p:sldId id="401" r:id="rId12"/>
    <p:sldId id="373" r:id="rId13"/>
    <p:sldId id="374" r:id="rId14"/>
    <p:sldId id="375" r:id="rId15"/>
    <p:sldId id="377" r:id="rId16"/>
    <p:sldId id="378" r:id="rId17"/>
    <p:sldId id="379" r:id="rId18"/>
    <p:sldId id="644" r:id="rId19"/>
    <p:sldId id="318" r:id="rId20"/>
    <p:sldId id="380" r:id="rId21"/>
    <p:sldId id="381" r:id="rId22"/>
    <p:sldId id="382" r:id="rId23"/>
    <p:sldId id="3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lora, Kristin" initials="FK" lastIdx="2" clrIdx="0">
    <p:extLst>
      <p:ext uri="{19B8F6BF-5375-455C-9EA6-DF929625EA0E}">
        <p15:presenceInfo xmlns:p15="http://schemas.microsoft.com/office/powerpoint/2012/main" userId="S-1-5-21-2114926708-1884511829-1243820751-37399" providerId="AD"/>
      </p:ext>
    </p:extLst>
  </p:cmAuthor>
  <p:cmAuthor id="2" name="Bridget Leahy" initials="BL" lastIdx="2" clrIdx="1"/>
  <p:cmAuthor id="3" name="Deborah Licht" initials="DL" lastIdx="3" clrIdx="2">
    <p:extLst>
      <p:ext uri="{19B8F6BF-5375-455C-9EA6-DF929625EA0E}">
        <p15:presenceInfo xmlns:p15="http://schemas.microsoft.com/office/powerpoint/2012/main" userId="053266d661a4cdd3" providerId="Windows Live"/>
      </p:ext>
    </p:extLst>
  </p:cmAuthor>
  <p:cmAuthor id="4" name="Kimberly Welsh" initials="KW" lastIdx="5" clrIdx="3">
    <p:extLst>
      <p:ext uri="{19B8F6BF-5375-455C-9EA6-DF929625EA0E}">
        <p15:presenceInfo xmlns:p15="http://schemas.microsoft.com/office/powerpoint/2012/main" userId="425587efef6a84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7A6"/>
    <a:srgbClr val="7A00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56957" autoAdjust="0"/>
  </p:normalViewPr>
  <p:slideViewPr>
    <p:cSldViewPr snapToGrid="0">
      <p:cViewPr varScale="1">
        <p:scale>
          <a:sx n="36" d="100"/>
          <a:sy n="36" d="100"/>
        </p:scale>
        <p:origin x="1832" y="36"/>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F49AF-1DB5-45F8-B433-D26172C6A7F4}"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E3CD2-4973-470A-BC59-11DBA87FC2DE}" type="slidenum">
              <a:rPr lang="en-US" smtClean="0"/>
              <a:t>‹#›</a:t>
            </a:fld>
            <a:endParaRPr lang="en-US"/>
          </a:p>
        </p:txBody>
      </p:sp>
    </p:spTree>
    <p:extLst>
      <p:ext uri="{BB962C8B-B14F-4D97-AF65-F5344CB8AC3E}">
        <p14:creationId xmlns:p14="http://schemas.microsoft.com/office/powerpoint/2010/main" val="888965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1</a:t>
            </a:fld>
            <a:endParaRPr lang="en-US"/>
          </a:p>
        </p:txBody>
      </p:sp>
    </p:spTree>
    <p:extLst>
      <p:ext uri="{BB962C8B-B14F-4D97-AF65-F5344CB8AC3E}">
        <p14:creationId xmlns:p14="http://schemas.microsoft.com/office/powerpoint/2010/main" val="4103100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2</a:t>
            </a:fld>
            <a:endParaRPr lang="en-US"/>
          </a:p>
        </p:txBody>
      </p:sp>
    </p:spTree>
    <p:extLst>
      <p:ext uri="{BB962C8B-B14F-4D97-AF65-F5344CB8AC3E}">
        <p14:creationId xmlns:p14="http://schemas.microsoft.com/office/powerpoint/2010/main" val="4754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D3C99-9FB8-AB46-24AC-F007ABC72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CB835-2100-225E-A3B2-4902EF87F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4D610-57DA-6570-3761-4DDDB2DBA2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A56372-A2AF-61EC-7645-CBE0E54982AC}"/>
              </a:ext>
            </a:extLst>
          </p:cNvPr>
          <p:cNvSpPr>
            <a:spLocks noGrp="1"/>
          </p:cNvSpPr>
          <p:nvPr>
            <p:ph type="sldNum" sz="quarter" idx="5"/>
          </p:nvPr>
        </p:nvSpPr>
        <p:spPr/>
        <p:txBody>
          <a:bodyPr/>
          <a:lstStyle/>
          <a:p>
            <a:fld id="{21AE3CD2-4973-470A-BC59-11DBA87FC2DE}" type="slidenum">
              <a:rPr lang="en-US" smtClean="0"/>
              <a:t>3</a:t>
            </a:fld>
            <a:endParaRPr lang="en-US"/>
          </a:p>
        </p:txBody>
      </p:sp>
    </p:spTree>
    <p:extLst>
      <p:ext uri="{BB962C8B-B14F-4D97-AF65-F5344CB8AC3E}">
        <p14:creationId xmlns:p14="http://schemas.microsoft.com/office/powerpoint/2010/main" val="553107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4</a:t>
            </a:fld>
            <a:endParaRPr lang="en-US"/>
          </a:p>
        </p:txBody>
      </p:sp>
    </p:spTree>
    <p:extLst>
      <p:ext uri="{BB962C8B-B14F-4D97-AF65-F5344CB8AC3E}">
        <p14:creationId xmlns:p14="http://schemas.microsoft.com/office/powerpoint/2010/main" val="1585497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5</a:t>
            </a:fld>
            <a:endParaRPr lang="en-US"/>
          </a:p>
        </p:txBody>
      </p:sp>
    </p:spTree>
    <p:extLst>
      <p:ext uri="{BB962C8B-B14F-4D97-AF65-F5344CB8AC3E}">
        <p14:creationId xmlns:p14="http://schemas.microsoft.com/office/powerpoint/2010/main" val="682033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6</a:t>
            </a:fld>
            <a:endParaRPr lang="en-US"/>
          </a:p>
        </p:txBody>
      </p:sp>
    </p:spTree>
    <p:extLst>
      <p:ext uri="{BB962C8B-B14F-4D97-AF65-F5344CB8AC3E}">
        <p14:creationId xmlns:p14="http://schemas.microsoft.com/office/powerpoint/2010/main" val="72238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0421C-896F-9156-9E4E-BDC5B44F4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C39E2-CA42-563D-184D-AA3D52812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D87F1-BB40-5811-6A04-22F0551F1B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46171F-B811-8190-8C7D-FAFFA66BB68A}"/>
              </a:ext>
            </a:extLst>
          </p:cNvPr>
          <p:cNvSpPr>
            <a:spLocks noGrp="1"/>
          </p:cNvSpPr>
          <p:nvPr>
            <p:ph type="sldNum" sz="quarter" idx="5"/>
          </p:nvPr>
        </p:nvSpPr>
        <p:spPr/>
        <p:txBody>
          <a:bodyPr/>
          <a:lstStyle/>
          <a:p>
            <a:fld id="{21AE3CD2-4973-470A-BC59-11DBA87FC2DE}" type="slidenum">
              <a:rPr lang="en-US" smtClean="0"/>
              <a:t>7</a:t>
            </a:fld>
            <a:endParaRPr lang="en-US"/>
          </a:p>
        </p:txBody>
      </p:sp>
    </p:spTree>
    <p:extLst>
      <p:ext uri="{BB962C8B-B14F-4D97-AF65-F5344CB8AC3E}">
        <p14:creationId xmlns:p14="http://schemas.microsoft.com/office/powerpoint/2010/main" val="899788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8</a:t>
            </a:fld>
            <a:endParaRPr lang="en-US"/>
          </a:p>
        </p:txBody>
      </p:sp>
    </p:spTree>
    <p:extLst>
      <p:ext uri="{BB962C8B-B14F-4D97-AF65-F5344CB8AC3E}">
        <p14:creationId xmlns:p14="http://schemas.microsoft.com/office/powerpoint/2010/main" val="3332596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9</a:t>
            </a:fld>
            <a:endParaRPr lang="en-US"/>
          </a:p>
        </p:txBody>
      </p:sp>
    </p:spTree>
    <p:extLst>
      <p:ext uri="{BB962C8B-B14F-4D97-AF65-F5344CB8AC3E}">
        <p14:creationId xmlns:p14="http://schemas.microsoft.com/office/powerpoint/2010/main" val="4075087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10</a:t>
            </a:fld>
            <a:endParaRPr lang="en-US"/>
          </a:p>
        </p:txBody>
      </p:sp>
    </p:spTree>
    <p:extLst>
      <p:ext uri="{BB962C8B-B14F-4D97-AF65-F5344CB8AC3E}">
        <p14:creationId xmlns:p14="http://schemas.microsoft.com/office/powerpoint/2010/main" val="1200370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11</a:t>
            </a:fld>
            <a:endParaRPr lang="en-US"/>
          </a:p>
        </p:txBody>
      </p:sp>
    </p:spTree>
    <p:extLst>
      <p:ext uri="{BB962C8B-B14F-4D97-AF65-F5344CB8AC3E}">
        <p14:creationId xmlns:p14="http://schemas.microsoft.com/office/powerpoint/2010/main" val="2028031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12</a:t>
            </a:fld>
            <a:endParaRPr lang="en-US"/>
          </a:p>
        </p:txBody>
      </p:sp>
    </p:spTree>
    <p:extLst>
      <p:ext uri="{BB962C8B-B14F-4D97-AF65-F5344CB8AC3E}">
        <p14:creationId xmlns:p14="http://schemas.microsoft.com/office/powerpoint/2010/main" val="1163851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13</a:t>
            </a:fld>
            <a:endParaRPr lang="en-US"/>
          </a:p>
        </p:txBody>
      </p:sp>
    </p:spTree>
    <p:extLst>
      <p:ext uri="{BB962C8B-B14F-4D97-AF65-F5344CB8AC3E}">
        <p14:creationId xmlns:p14="http://schemas.microsoft.com/office/powerpoint/2010/main" val="1260205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14</a:t>
            </a:fld>
            <a:endParaRPr lang="en-US"/>
          </a:p>
        </p:txBody>
      </p:sp>
    </p:spTree>
    <p:extLst>
      <p:ext uri="{BB962C8B-B14F-4D97-AF65-F5344CB8AC3E}">
        <p14:creationId xmlns:p14="http://schemas.microsoft.com/office/powerpoint/2010/main" val="3019397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15</a:t>
            </a:fld>
            <a:endParaRPr lang="en-US"/>
          </a:p>
        </p:txBody>
      </p:sp>
    </p:spTree>
    <p:extLst>
      <p:ext uri="{BB962C8B-B14F-4D97-AF65-F5344CB8AC3E}">
        <p14:creationId xmlns:p14="http://schemas.microsoft.com/office/powerpoint/2010/main" val="3440755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21AE3CD2-4973-470A-BC59-11DBA87FC2DE}" type="slidenum">
              <a:rPr lang="en-US" smtClean="0"/>
              <a:t>16</a:t>
            </a:fld>
            <a:endParaRPr lang="en-US"/>
          </a:p>
        </p:txBody>
      </p:sp>
    </p:spTree>
    <p:extLst>
      <p:ext uri="{BB962C8B-B14F-4D97-AF65-F5344CB8AC3E}">
        <p14:creationId xmlns:p14="http://schemas.microsoft.com/office/powerpoint/2010/main" val="1140380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A6BB5-C798-503C-8B5D-D50D780F7F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D080B-40EE-DBD0-2D09-76EAC7269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AE87D-851D-9B80-BB91-677BF287D2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D241FF-721F-357F-ADE1-EDB68C0F1A0E}"/>
              </a:ext>
            </a:extLst>
          </p:cNvPr>
          <p:cNvSpPr>
            <a:spLocks noGrp="1"/>
          </p:cNvSpPr>
          <p:nvPr>
            <p:ph type="sldNum" sz="quarter" idx="5"/>
          </p:nvPr>
        </p:nvSpPr>
        <p:spPr/>
        <p:txBody>
          <a:bodyPr/>
          <a:lstStyle/>
          <a:p>
            <a:fld id="{21AE3CD2-4973-470A-BC59-11DBA87FC2DE}" type="slidenum">
              <a:rPr lang="en-US" smtClean="0"/>
              <a:t>17</a:t>
            </a:fld>
            <a:endParaRPr lang="en-US"/>
          </a:p>
        </p:txBody>
      </p:sp>
    </p:spTree>
    <p:extLst>
      <p:ext uri="{BB962C8B-B14F-4D97-AF65-F5344CB8AC3E}">
        <p14:creationId xmlns:p14="http://schemas.microsoft.com/office/powerpoint/2010/main" val="28596384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21AE3CD2-4973-470A-BC59-11DBA87FC2DE}" type="slidenum">
              <a:rPr lang="en-US" smtClean="0"/>
              <a:t>18</a:t>
            </a:fld>
            <a:endParaRPr lang="en-US"/>
          </a:p>
        </p:txBody>
      </p:sp>
    </p:spTree>
    <p:extLst>
      <p:ext uri="{BB962C8B-B14F-4D97-AF65-F5344CB8AC3E}">
        <p14:creationId xmlns:p14="http://schemas.microsoft.com/office/powerpoint/2010/main" val="2672653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19</a:t>
            </a:fld>
            <a:endParaRPr lang="en-US"/>
          </a:p>
        </p:txBody>
      </p:sp>
    </p:spTree>
    <p:extLst>
      <p:ext uri="{BB962C8B-B14F-4D97-AF65-F5344CB8AC3E}">
        <p14:creationId xmlns:p14="http://schemas.microsoft.com/office/powerpoint/2010/main" val="2142753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20</a:t>
            </a:fld>
            <a:endParaRPr lang="en-US"/>
          </a:p>
        </p:txBody>
      </p:sp>
    </p:spTree>
    <p:extLst>
      <p:ext uri="{BB962C8B-B14F-4D97-AF65-F5344CB8AC3E}">
        <p14:creationId xmlns:p14="http://schemas.microsoft.com/office/powerpoint/2010/main" val="2100758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21</a:t>
            </a:fld>
            <a:endParaRPr lang="en-US"/>
          </a:p>
        </p:txBody>
      </p:sp>
    </p:spTree>
    <p:extLst>
      <p:ext uri="{BB962C8B-B14F-4D97-AF65-F5344CB8AC3E}">
        <p14:creationId xmlns:p14="http://schemas.microsoft.com/office/powerpoint/2010/main" val="40563843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22</a:t>
            </a:fld>
            <a:endParaRPr lang="en-US"/>
          </a:p>
        </p:txBody>
      </p:sp>
    </p:spTree>
    <p:extLst>
      <p:ext uri="{BB962C8B-B14F-4D97-AF65-F5344CB8AC3E}">
        <p14:creationId xmlns:p14="http://schemas.microsoft.com/office/powerpoint/2010/main" val="24591080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61BEF0D-F0BB-DE4B-95CE-6DB70DBA9567}" type="datetimeFigureOut">
              <a:rPr lang="en-US" smtClean="0"/>
              <a:pPr/>
              <a:t>11/6/2025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12150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8508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7840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4867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86262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1329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8026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9798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81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4074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00161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82209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03317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38583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7515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8790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27691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17" name="Title 1"/>
          <p:cNvSpPr>
            <a:spLocks noGrp="1"/>
          </p:cNvSpPr>
          <p:nvPr>
            <p:ph type="title"/>
          </p:nvPr>
        </p:nvSpPr>
        <p:spPr bwMode="auto">
          <a:xfrm>
            <a:off x="641025" y="177112"/>
            <a:ext cx="8259135" cy="85900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rIns="457200" anchor="ctr">
            <a:normAutofit/>
          </a:bodyPr>
          <a:lstStyle>
            <a:lvl1pPr marL="0" algn="l">
              <a:defRPr sz="3600">
                <a:solidFill>
                  <a:srgbClr val="027AA2"/>
                </a:solidFill>
                <a:latin typeface="+mn-lt"/>
              </a:defRPr>
            </a:lvl1pPr>
          </a:lstStyle>
          <a:p>
            <a:r>
              <a:rPr lang="en-US"/>
              <a:t>Click to edit Master title style</a:t>
            </a:r>
            <a:endParaRPr lang="en-US" dirty="0"/>
          </a:p>
        </p:txBody>
      </p:sp>
      <p:sp>
        <p:nvSpPr>
          <p:cNvPr id="34" name="Text Placeholder 6"/>
          <p:cNvSpPr>
            <a:spLocks noGrp="1"/>
          </p:cNvSpPr>
          <p:nvPr>
            <p:ph type="body" sz="quarter" idx="10"/>
          </p:nvPr>
        </p:nvSpPr>
        <p:spPr>
          <a:xfrm>
            <a:off x="637815" y="1219686"/>
            <a:ext cx="11101341" cy="5358824"/>
          </a:xfrm>
          <a:noFill/>
          <a:ln>
            <a:noFill/>
          </a:ln>
          <a:effectLst>
            <a:outerShdw blurRad="63500" sx="102000" sy="102000" algn="ctr" rotWithShape="0">
              <a:prstClr val="black">
                <a:alpha val="40000"/>
              </a:prstClr>
            </a:outerShdw>
          </a:effectLst>
        </p:spPr>
        <p:txBody>
          <a:bodyPr vert="horz" lIns="91440" tIns="45720" rIns="91440" bIns="45720" rtlCol="0">
            <a:normAutofit/>
          </a:bodyPr>
          <a:lstStyle>
            <a:lvl1pPr>
              <a:buClr>
                <a:srgbClr val="0057A6"/>
              </a:buClr>
              <a:defRPr lang="en-US" sz="2400" dirty="0"/>
            </a:lvl1pPr>
            <a:lvl2pPr>
              <a:buClr>
                <a:srgbClr val="0057A6"/>
              </a:buClr>
              <a:defRPr lang="en-US" dirty="0"/>
            </a:lvl2pPr>
            <a:lvl3pPr>
              <a:buClr>
                <a:srgbClr val="0057A6"/>
              </a:buClr>
              <a:defRPr lang="en-US" sz="2400" dirty="0"/>
            </a:lvl3pPr>
            <a:lvl4pPr>
              <a:buClr>
                <a:srgbClr val="0057A6"/>
              </a:buClr>
              <a:defRPr lang="en-US" sz="2400" dirty="0"/>
            </a:lvl4pPr>
          </a:lstStyle>
          <a:p>
            <a:pPr lvl="0">
              <a:lnSpc>
                <a:spcPts val="2880"/>
              </a:lnSpc>
              <a:spcBef>
                <a:spcPts val="0"/>
              </a:spcBef>
              <a:spcAft>
                <a:spcPts val="1200"/>
              </a:spcAft>
              <a:buClr>
                <a:srgbClr val="593F9A"/>
              </a:buClr>
            </a:pPr>
            <a:r>
              <a:rPr lang="en-US"/>
              <a:t>Edit Master text styles</a:t>
            </a:r>
          </a:p>
          <a:p>
            <a:pPr lvl="1">
              <a:lnSpc>
                <a:spcPts val="2880"/>
              </a:lnSpc>
              <a:spcBef>
                <a:spcPts val="0"/>
              </a:spcBef>
              <a:spcAft>
                <a:spcPts val="1200"/>
              </a:spcAft>
              <a:buClr>
                <a:srgbClr val="593F9A"/>
              </a:buClr>
            </a:pPr>
            <a:r>
              <a:rPr lang="en-US"/>
              <a:t>Second level</a:t>
            </a:r>
          </a:p>
          <a:p>
            <a:pPr lvl="2">
              <a:lnSpc>
                <a:spcPts val="2880"/>
              </a:lnSpc>
              <a:spcBef>
                <a:spcPts val="0"/>
              </a:spcBef>
              <a:spcAft>
                <a:spcPts val="1200"/>
              </a:spcAft>
              <a:buClr>
                <a:srgbClr val="593F9A"/>
              </a:buClr>
            </a:pPr>
            <a:r>
              <a:rPr lang="en-US"/>
              <a:t>Third level</a:t>
            </a:r>
          </a:p>
          <a:p>
            <a:pPr lvl="3">
              <a:lnSpc>
                <a:spcPts val="2880"/>
              </a:lnSpc>
              <a:spcBef>
                <a:spcPts val="0"/>
              </a:spcBef>
              <a:spcAft>
                <a:spcPts val="1200"/>
              </a:spcAft>
              <a:buClr>
                <a:srgbClr val="593F9A"/>
              </a:buClr>
            </a:pPr>
            <a:r>
              <a:rPr lang="en-US"/>
              <a:t>Fourth level</a:t>
            </a:r>
          </a:p>
        </p:txBody>
      </p:sp>
    </p:spTree>
    <p:extLst>
      <p:ext uri="{BB962C8B-B14F-4D97-AF65-F5344CB8AC3E}">
        <p14:creationId xmlns:p14="http://schemas.microsoft.com/office/powerpoint/2010/main" val="931148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40000"/>
            <a:lumOff val="60000"/>
          </a:schemeClr>
        </a:soli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61BEF0D-F0BB-DE4B-95CE-6DB70DBA9567}" type="datetimeFigureOut">
              <a:rPr lang="en-US" smtClean="0"/>
              <a:pPr/>
              <a:t>11/6/2025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61365794"/>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8" r:id="rId18"/>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266C-A248-48E0-8253-EA48BA7FA14C}"/>
              </a:ext>
            </a:extLst>
          </p:cNvPr>
          <p:cNvSpPr>
            <a:spLocks noGrp="1"/>
          </p:cNvSpPr>
          <p:nvPr>
            <p:ph type="ctrTitle"/>
          </p:nvPr>
        </p:nvSpPr>
        <p:spPr>
          <a:xfrm>
            <a:off x="2175341" y="1041400"/>
            <a:ext cx="7841317" cy="2387600"/>
          </a:xfrm>
        </p:spPr>
        <p:txBody>
          <a:bodyPr/>
          <a:lstStyle/>
          <a:p>
            <a:pPr algn="ctr"/>
            <a:r>
              <a:rPr lang="en-US" dirty="0">
                <a:solidFill>
                  <a:schemeClr val="bg1"/>
                </a:solidFill>
              </a:rPr>
              <a:t>Electrical signals of nerve cells</a:t>
            </a:r>
          </a:p>
        </p:txBody>
      </p:sp>
      <p:sp>
        <p:nvSpPr>
          <p:cNvPr id="3" name="Subtitle 2">
            <a:extLst>
              <a:ext uri="{FF2B5EF4-FFF2-40B4-BE49-F238E27FC236}">
                <a16:creationId xmlns:a16="http://schemas.microsoft.com/office/drawing/2014/main" id="{74B09EE7-AEFA-4F0D-9E16-ECB27CA6AA27}"/>
              </a:ext>
            </a:extLst>
          </p:cNvPr>
          <p:cNvSpPr>
            <a:spLocks noGrp="1"/>
          </p:cNvSpPr>
          <p:nvPr>
            <p:ph type="subTitle" idx="1"/>
          </p:nvPr>
        </p:nvSpPr>
        <p:spPr>
          <a:xfrm>
            <a:off x="1700211" y="3619967"/>
            <a:ext cx="8791575" cy="1655762"/>
          </a:xfrm>
        </p:spPr>
        <p:txBody>
          <a:bodyPr/>
          <a:lstStyle/>
          <a:p>
            <a:pPr algn="ctr"/>
            <a:r>
              <a:rPr lang="en-US" dirty="0">
                <a:solidFill>
                  <a:schemeClr val="bg1"/>
                </a:solidFill>
              </a:rPr>
              <a:t>By: Nicole Phillips</a:t>
            </a:r>
          </a:p>
        </p:txBody>
      </p:sp>
    </p:spTree>
    <p:extLst>
      <p:ext uri="{BB962C8B-B14F-4D97-AF65-F5344CB8AC3E}">
        <p14:creationId xmlns:p14="http://schemas.microsoft.com/office/powerpoint/2010/main" val="1886514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00B38-5A3F-4E81-A080-E18A63F4B07E}"/>
              </a:ext>
            </a:extLst>
          </p:cNvPr>
          <p:cNvSpPr>
            <a:spLocks noGrp="1"/>
          </p:cNvSpPr>
          <p:nvPr>
            <p:ph type="title"/>
          </p:nvPr>
        </p:nvSpPr>
        <p:spPr>
          <a:xfrm>
            <a:off x="1141413" y="327514"/>
            <a:ext cx="9905998" cy="1478570"/>
          </a:xfrm>
        </p:spPr>
        <p:txBody>
          <a:bodyPr/>
          <a:lstStyle/>
          <a:p>
            <a:pPr algn="ctr"/>
            <a:r>
              <a:rPr lang="en-US" dirty="0">
                <a:solidFill>
                  <a:schemeClr val="bg1"/>
                </a:solidFill>
              </a:rPr>
              <a:t>Learning Objectives</a:t>
            </a:r>
          </a:p>
        </p:txBody>
      </p:sp>
      <p:sp>
        <p:nvSpPr>
          <p:cNvPr id="3" name="Content Placeholder 2">
            <a:extLst>
              <a:ext uri="{FF2B5EF4-FFF2-40B4-BE49-F238E27FC236}">
                <a16:creationId xmlns:a16="http://schemas.microsoft.com/office/drawing/2014/main" id="{E9E22B84-69BF-44BF-B1F1-996A93C60CEA}"/>
              </a:ext>
            </a:extLst>
          </p:cNvPr>
          <p:cNvSpPr>
            <a:spLocks noGrp="1"/>
          </p:cNvSpPr>
          <p:nvPr>
            <p:ph idx="1"/>
          </p:nvPr>
        </p:nvSpPr>
        <p:spPr>
          <a:xfrm>
            <a:off x="1141412" y="1806084"/>
            <a:ext cx="9905999" cy="4724402"/>
          </a:xfrm>
        </p:spPr>
        <p:txBody>
          <a:bodyPr>
            <a:normAutofit/>
          </a:bodyPr>
          <a:lstStyle/>
          <a:p>
            <a:pPr marL="514350" indent="-514350">
              <a:buFont typeface="+mj-lt"/>
              <a:buAutoNum type="arabicPeriod"/>
            </a:pPr>
            <a:r>
              <a:rPr lang="en-US" sz="2800" dirty="0">
                <a:solidFill>
                  <a:schemeClr val="bg1"/>
                </a:solidFill>
              </a:rPr>
              <a:t>Describe the makeup of the cellular membrane</a:t>
            </a:r>
          </a:p>
          <a:p>
            <a:pPr marL="514350" indent="-514350">
              <a:buFont typeface="+mj-lt"/>
              <a:buAutoNum type="arabicPeriod"/>
            </a:pPr>
            <a:r>
              <a:rPr lang="en-US" sz="2800" dirty="0">
                <a:solidFill>
                  <a:schemeClr val="bg1"/>
                </a:solidFill>
              </a:rPr>
              <a:t>Identify important ions and their role in neural communication</a:t>
            </a:r>
          </a:p>
          <a:p>
            <a:pPr marL="514350" indent="-514350">
              <a:buFont typeface="+mj-lt"/>
              <a:buAutoNum type="arabicPeriod"/>
            </a:pPr>
            <a:r>
              <a:rPr lang="en-US" sz="2800" dirty="0">
                <a:solidFill>
                  <a:schemeClr val="bg1"/>
                </a:solidFill>
              </a:rPr>
              <a:t>List and sequence the steps of generating an action potential including the movement of ions across the cell membrane and the forces that drive their movement</a:t>
            </a:r>
          </a:p>
        </p:txBody>
      </p:sp>
    </p:spTree>
    <p:extLst>
      <p:ext uri="{BB962C8B-B14F-4D97-AF65-F5344CB8AC3E}">
        <p14:creationId xmlns:p14="http://schemas.microsoft.com/office/powerpoint/2010/main" val="94503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9C1DE-CBFA-807E-52CD-99CA342F20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4078E6-76B8-DF9F-2D17-7335794E822B}"/>
              </a:ext>
            </a:extLst>
          </p:cNvPr>
          <p:cNvSpPr>
            <a:spLocks noGrp="1"/>
          </p:cNvSpPr>
          <p:nvPr>
            <p:ph type="ctrTitle"/>
          </p:nvPr>
        </p:nvSpPr>
        <p:spPr>
          <a:xfrm>
            <a:off x="1320753" y="2623670"/>
            <a:ext cx="9550494" cy="1610659"/>
          </a:xfrm>
        </p:spPr>
        <p:txBody>
          <a:bodyPr/>
          <a:lstStyle/>
          <a:p>
            <a:pPr algn="ctr"/>
            <a:r>
              <a:rPr lang="en-US" dirty="0">
                <a:solidFill>
                  <a:schemeClr val="bg1"/>
                </a:solidFill>
              </a:rPr>
              <a:t>Part 1:</a:t>
            </a:r>
            <a:br>
              <a:rPr lang="en-US" dirty="0">
                <a:solidFill>
                  <a:schemeClr val="bg1"/>
                </a:solidFill>
              </a:rPr>
            </a:br>
            <a:r>
              <a:rPr lang="en-US" dirty="0">
                <a:solidFill>
                  <a:schemeClr val="bg1"/>
                </a:solidFill>
              </a:rPr>
              <a:t>The resting membrane potential</a:t>
            </a:r>
          </a:p>
        </p:txBody>
      </p:sp>
    </p:spTree>
    <p:extLst>
      <p:ext uri="{BB962C8B-B14F-4D97-AF65-F5344CB8AC3E}">
        <p14:creationId xmlns:p14="http://schemas.microsoft.com/office/powerpoint/2010/main" val="1401416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kolb5e_fig02_13.jpg">
            <a:extLst>
              <a:ext uri="{FF2B5EF4-FFF2-40B4-BE49-F238E27FC236}">
                <a16:creationId xmlns:a16="http://schemas.microsoft.com/office/drawing/2014/main" id="{BC9DA991-7E48-489C-AA34-212E5CB85902}"/>
              </a:ext>
            </a:extLst>
          </p:cNvPr>
          <p:cNvPicPr>
            <a:picLocks noChangeAspect="1"/>
          </p:cNvPicPr>
          <p:nvPr/>
        </p:nvPicPr>
        <p:blipFill rotWithShape="1">
          <a:blip r:embed="rId3">
            <a:extLst>
              <a:ext uri="{28A0092B-C50C-407E-A947-70E740481C1C}">
                <a14:useLocalDpi xmlns:a14="http://schemas.microsoft.com/office/drawing/2010/main" val="0"/>
              </a:ext>
            </a:extLst>
          </a:blip>
          <a:srcRect b="59801"/>
          <a:stretch/>
        </p:blipFill>
        <p:spPr bwMode="auto">
          <a:xfrm>
            <a:off x="0" y="712155"/>
            <a:ext cx="12192326" cy="5472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 descr="kolb5e_fig02_13.jpg">
            <a:extLst>
              <a:ext uri="{FF2B5EF4-FFF2-40B4-BE49-F238E27FC236}">
                <a16:creationId xmlns:a16="http://schemas.microsoft.com/office/drawing/2014/main" id="{EFA89FC0-08FC-40BD-8400-4ACDBE0EF5BD}"/>
              </a:ext>
            </a:extLst>
          </p:cNvPr>
          <p:cNvPicPr>
            <a:picLocks noChangeAspect="1"/>
          </p:cNvPicPr>
          <p:nvPr/>
        </p:nvPicPr>
        <p:blipFill rotWithShape="1">
          <a:blip r:embed="rId3">
            <a:extLst>
              <a:ext uri="{28A0092B-C50C-407E-A947-70E740481C1C}">
                <a14:useLocalDpi xmlns:a14="http://schemas.microsoft.com/office/drawing/2010/main" val="0"/>
              </a:ext>
            </a:extLst>
          </a:blip>
          <a:srcRect t="94106"/>
          <a:stretch/>
        </p:blipFill>
        <p:spPr bwMode="auto">
          <a:xfrm>
            <a:off x="0" y="6152826"/>
            <a:ext cx="6142038" cy="404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ircle: Hollow 3">
            <a:extLst>
              <a:ext uri="{FF2B5EF4-FFF2-40B4-BE49-F238E27FC236}">
                <a16:creationId xmlns:a16="http://schemas.microsoft.com/office/drawing/2014/main" id="{B65614FB-04D0-48A2-AC7B-CE5ACAFCA983}"/>
              </a:ext>
            </a:extLst>
          </p:cNvPr>
          <p:cNvSpPr/>
          <p:nvPr/>
        </p:nvSpPr>
        <p:spPr>
          <a:xfrm>
            <a:off x="746545" y="2617647"/>
            <a:ext cx="1971107" cy="1494389"/>
          </a:xfrm>
          <a:prstGeom prst="donut">
            <a:avLst>
              <a:gd name="adj" fmla="val 3016"/>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Circle: Hollow 4">
            <a:extLst>
              <a:ext uri="{FF2B5EF4-FFF2-40B4-BE49-F238E27FC236}">
                <a16:creationId xmlns:a16="http://schemas.microsoft.com/office/drawing/2014/main" id="{C601E476-DCA8-4487-9E33-5102495D61CF}"/>
              </a:ext>
            </a:extLst>
          </p:cNvPr>
          <p:cNvSpPr/>
          <p:nvPr/>
        </p:nvSpPr>
        <p:spPr>
          <a:xfrm>
            <a:off x="438363" y="4042852"/>
            <a:ext cx="2626821" cy="966805"/>
          </a:xfrm>
          <a:prstGeom prst="donut">
            <a:avLst>
              <a:gd name="adj" fmla="val 53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5">
            <a:extLst>
              <a:ext uri="{FF2B5EF4-FFF2-40B4-BE49-F238E27FC236}">
                <a16:creationId xmlns:a16="http://schemas.microsoft.com/office/drawing/2014/main" id="{51EAA0D9-25FF-46DF-9C1D-207EC532DCF4}"/>
              </a:ext>
            </a:extLst>
          </p:cNvPr>
          <p:cNvSpPr/>
          <p:nvPr/>
        </p:nvSpPr>
        <p:spPr>
          <a:xfrm>
            <a:off x="399011" y="1211824"/>
            <a:ext cx="2626822" cy="1494389"/>
          </a:xfrm>
          <a:prstGeom prst="donut">
            <a:avLst>
              <a:gd name="adj" fmla="val 1928"/>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6">
            <a:extLst>
              <a:ext uri="{FF2B5EF4-FFF2-40B4-BE49-F238E27FC236}">
                <a16:creationId xmlns:a16="http://schemas.microsoft.com/office/drawing/2014/main" id="{99752C88-E959-4F31-92F6-FA830B5BB9AE}"/>
              </a:ext>
            </a:extLst>
          </p:cNvPr>
          <p:cNvSpPr/>
          <p:nvPr/>
        </p:nvSpPr>
        <p:spPr>
          <a:xfrm>
            <a:off x="14593" y="2231957"/>
            <a:ext cx="731951" cy="1617424"/>
          </a:xfrm>
          <a:prstGeom prst="donut">
            <a:avLst>
              <a:gd name="adj" fmla="val 53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ircle: Hollow 7">
            <a:extLst>
              <a:ext uri="{FF2B5EF4-FFF2-40B4-BE49-F238E27FC236}">
                <a16:creationId xmlns:a16="http://schemas.microsoft.com/office/drawing/2014/main" id="{AB9946BA-69C9-4897-8B73-1C07FF183E71}"/>
              </a:ext>
            </a:extLst>
          </p:cNvPr>
          <p:cNvSpPr/>
          <p:nvPr/>
        </p:nvSpPr>
        <p:spPr>
          <a:xfrm rot="206581">
            <a:off x="2708625" y="3533249"/>
            <a:ext cx="3984992" cy="420381"/>
          </a:xfrm>
          <a:prstGeom prst="donut">
            <a:avLst>
              <a:gd name="adj" fmla="val 53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ircle: Hollow 8">
            <a:extLst>
              <a:ext uri="{FF2B5EF4-FFF2-40B4-BE49-F238E27FC236}">
                <a16:creationId xmlns:a16="http://schemas.microsoft.com/office/drawing/2014/main" id="{4F78E327-85FB-43BA-8E11-34D71577661B}"/>
              </a:ext>
            </a:extLst>
          </p:cNvPr>
          <p:cNvSpPr/>
          <p:nvPr/>
        </p:nvSpPr>
        <p:spPr>
          <a:xfrm rot="773301">
            <a:off x="7341587" y="3187932"/>
            <a:ext cx="425356" cy="2478004"/>
          </a:xfrm>
          <a:prstGeom prst="donut">
            <a:avLst>
              <a:gd name="adj" fmla="val 53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F6149C2B-10AA-440A-AC9E-D6CCA9F5280B}"/>
              </a:ext>
            </a:extLst>
          </p:cNvPr>
          <p:cNvSpPr/>
          <p:nvPr/>
        </p:nvSpPr>
        <p:spPr>
          <a:xfrm>
            <a:off x="3938200" y="5506845"/>
            <a:ext cx="2157799" cy="4694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CD8A2BD-E600-4A2F-A900-2458C489C67F}"/>
              </a:ext>
            </a:extLst>
          </p:cNvPr>
          <p:cNvSpPr/>
          <p:nvPr/>
        </p:nvSpPr>
        <p:spPr>
          <a:xfrm>
            <a:off x="4148710" y="2624672"/>
            <a:ext cx="1409596" cy="4694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4BAD62B-EEB4-4A37-AE0A-CBD7B266E098}"/>
              </a:ext>
            </a:extLst>
          </p:cNvPr>
          <p:cNvSpPr/>
          <p:nvPr/>
        </p:nvSpPr>
        <p:spPr>
          <a:xfrm>
            <a:off x="4909511" y="4779708"/>
            <a:ext cx="1409596" cy="4694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02A5A18-A4B8-4847-80E2-D3ABEA4DCE92}"/>
              </a:ext>
            </a:extLst>
          </p:cNvPr>
          <p:cNvSpPr/>
          <p:nvPr/>
        </p:nvSpPr>
        <p:spPr>
          <a:xfrm>
            <a:off x="58610" y="5555629"/>
            <a:ext cx="2468459" cy="59021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073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6"/>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1220B901-4C31-4B53-9A83-E8F42EE65F94}"/>
              </a:ext>
            </a:extLst>
          </p:cNvPr>
          <p:cNvSpPr/>
          <p:nvPr/>
        </p:nvSpPr>
        <p:spPr>
          <a:xfrm>
            <a:off x="280658" y="1417320"/>
            <a:ext cx="5303520" cy="1097280"/>
          </a:xfrm>
          <a:custGeom>
            <a:avLst/>
            <a:gdLst>
              <a:gd name="connsiteX0" fmla="*/ 0 w 5529339"/>
              <a:gd name="connsiteY0" fmla="*/ 100549 h 1005489"/>
              <a:gd name="connsiteX1" fmla="*/ 100549 w 5529339"/>
              <a:gd name="connsiteY1" fmla="*/ 0 h 1005489"/>
              <a:gd name="connsiteX2" fmla="*/ 5428790 w 5529339"/>
              <a:gd name="connsiteY2" fmla="*/ 0 h 1005489"/>
              <a:gd name="connsiteX3" fmla="*/ 5529339 w 5529339"/>
              <a:gd name="connsiteY3" fmla="*/ 100549 h 1005489"/>
              <a:gd name="connsiteX4" fmla="*/ 5529339 w 5529339"/>
              <a:gd name="connsiteY4" fmla="*/ 904940 h 1005489"/>
              <a:gd name="connsiteX5" fmla="*/ 5428790 w 5529339"/>
              <a:gd name="connsiteY5" fmla="*/ 1005489 h 1005489"/>
              <a:gd name="connsiteX6" fmla="*/ 100549 w 5529339"/>
              <a:gd name="connsiteY6" fmla="*/ 1005489 h 1005489"/>
              <a:gd name="connsiteX7" fmla="*/ 0 w 5529339"/>
              <a:gd name="connsiteY7" fmla="*/ 904940 h 1005489"/>
              <a:gd name="connsiteX8" fmla="*/ 0 w 5529339"/>
              <a:gd name="connsiteY8" fmla="*/ 100549 h 100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9339" h="1005489">
                <a:moveTo>
                  <a:pt x="0" y="100549"/>
                </a:moveTo>
                <a:cubicBezTo>
                  <a:pt x="0" y="45017"/>
                  <a:pt x="45017" y="0"/>
                  <a:pt x="100549" y="0"/>
                </a:cubicBezTo>
                <a:lnTo>
                  <a:pt x="5428790" y="0"/>
                </a:lnTo>
                <a:cubicBezTo>
                  <a:pt x="5484322" y="0"/>
                  <a:pt x="5529339" y="45017"/>
                  <a:pt x="5529339" y="100549"/>
                </a:cubicBezTo>
                <a:lnTo>
                  <a:pt x="5529339" y="904940"/>
                </a:lnTo>
                <a:cubicBezTo>
                  <a:pt x="5529339" y="960472"/>
                  <a:pt x="5484322" y="1005489"/>
                  <a:pt x="5428790" y="1005489"/>
                </a:cubicBezTo>
                <a:lnTo>
                  <a:pt x="100549" y="1005489"/>
                </a:lnTo>
                <a:cubicBezTo>
                  <a:pt x="45017" y="1005489"/>
                  <a:pt x="0" y="960472"/>
                  <a:pt x="0" y="904940"/>
                </a:cubicBezTo>
                <a:lnTo>
                  <a:pt x="0" y="100549"/>
                </a:lnTo>
                <a:close/>
              </a:path>
            </a:pathLst>
          </a:custGeom>
          <a:solidFill>
            <a:schemeClr val="accent3">
              <a:alpha val="70000"/>
            </a:schemeClr>
          </a:solidFill>
        </p:spPr>
        <p:style>
          <a:lnRef idx="0">
            <a:schemeClr val="lt1">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txBody>
          <a:bodyPr spcFirstLastPara="0" vert="horz" wrap="square" lIns="90410" tIns="70090" rIns="90410" bIns="7009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1"/>
                </a:solidFill>
              </a:rPr>
              <a:t>Cell Membrane Properties</a:t>
            </a:r>
          </a:p>
        </p:txBody>
      </p:sp>
      <p:sp>
        <p:nvSpPr>
          <p:cNvPr id="5" name="Freeform: Shape 4">
            <a:extLst>
              <a:ext uri="{FF2B5EF4-FFF2-40B4-BE49-F238E27FC236}">
                <a16:creationId xmlns:a16="http://schemas.microsoft.com/office/drawing/2014/main" id="{AC909155-C458-49B9-8714-430BDEFB7D0B}"/>
              </a:ext>
            </a:extLst>
          </p:cNvPr>
          <p:cNvSpPr/>
          <p:nvPr/>
        </p:nvSpPr>
        <p:spPr>
          <a:xfrm>
            <a:off x="833592" y="2514366"/>
            <a:ext cx="552933" cy="728279"/>
          </a:xfrm>
          <a:custGeom>
            <a:avLst/>
            <a:gdLst/>
            <a:ahLst/>
            <a:cxnLst/>
            <a:rect l="0" t="0" r="0" b="0"/>
            <a:pathLst>
              <a:path>
                <a:moveTo>
                  <a:pt x="0" y="0"/>
                </a:moveTo>
                <a:lnTo>
                  <a:pt x="0" y="728279"/>
                </a:lnTo>
                <a:lnTo>
                  <a:pt x="552933" y="728279"/>
                </a:lnTo>
              </a:path>
            </a:pathLst>
          </a:custGeom>
          <a:noFill/>
        </p:spPr>
        <p:style>
          <a:lnRef idx="1">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6" name="Freeform: Shape 5">
            <a:extLst>
              <a:ext uri="{FF2B5EF4-FFF2-40B4-BE49-F238E27FC236}">
                <a16:creationId xmlns:a16="http://schemas.microsoft.com/office/drawing/2014/main" id="{D28D4F35-B625-4A47-B91A-CCA64146C92B}"/>
              </a:ext>
            </a:extLst>
          </p:cNvPr>
          <p:cNvSpPr/>
          <p:nvPr/>
        </p:nvSpPr>
        <p:spPr>
          <a:xfrm>
            <a:off x="1386526" y="2694007"/>
            <a:ext cx="3200400" cy="1097278"/>
          </a:xfrm>
          <a:custGeom>
            <a:avLst/>
            <a:gdLst>
              <a:gd name="connsiteX0" fmla="*/ 0 w 4147015"/>
              <a:gd name="connsiteY0" fmla="*/ 109728 h 1097278"/>
              <a:gd name="connsiteX1" fmla="*/ 109728 w 4147015"/>
              <a:gd name="connsiteY1" fmla="*/ 0 h 1097278"/>
              <a:gd name="connsiteX2" fmla="*/ 4037287 w 4147015"/>
              <a:gd name="connsiteY2" fmla="*/ 0 h 1097278"/>
              <a:gd name="connsiteX3" fmla="*/ 4147015 w 4147015"/>
              <a:gd name="connsiteY3" fmla="*/ 109728 h 1097278"/>
              <a:gd name="connsiteX4" fmla="*/ 4147015 w 4147015"/>
              <a:gd name="connsiteY4" fmla="*/ 987550 h 1097278"/>
              <a:gd name="connsiteX5" fmla="*/ 4037287 w 4147015"/>
              <a:gd name="connsiteY5" fmla="*/ 1097278 h 1097278"/>
              <a:gd name="connsiteX6" fmla="*/ 109728 w 4147015"/>
              <a:gd name="connsiteY6" fmla="*/ 1097278 h 1097278"/>
              <a:gd name="connsiteX7" fmla="*/ 0 w 4147015"/>
              <a:gd name="connsiteY7" fmla="*/ 987550 h 1097278"/>
              <a:gd name="connsiteX8" fmla="*/ 0 w 4147015"/>
              <a:gd name="connsiteY8" fmla="*/ 109728 h 1097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7015" h="1097278">
                <a:moveTo>
                  <a:pt x="0" y="109728"/>
                </a:moveTo>
                <a:cubicBezTo>
                  <a:pt x="0" y="49127"/>
                  <a:pt x="49127" y="0"/>
                  <a:pt x="109728" y="0"/>
                </a:cubicBezTo>
                <a:lnTo>
                  <a:pt x="4037287" y="0"/>
                </a:lnTo>
                <a:cubicBezTo>
                  <a:pt x="4097888" y="0"/>
                  <a:pt x="4147015" y="49127"/>
                  <a:pt x="4147015" y="109728"/>
                </a:cubicBezTo>
                <a:lnTo>
                  <a:pt x="4147015" y="987550"/>
                </a:lnTo>
                <a:cubicBezTo>
                  <a:pt x="4147015" y="1048151"/>
                  <a:pt x="4097888" y="1097278"/>
                  <a:pt x="4037287" y="1097278"/>
                </a:cubicBezTo>
                <a:lnTo>
                  <a:pt x="109728" y="1097278"/>
                </a:lnTo>
                <a:cubicBezTo>
                  <a:pt x="49127" y="1097278"/>
                  <a:pt x="0" y="1048151"/>
                  <a:pt x="0" y="987550"/>
                </a:cubicBezTo>
                <a:lnTo>
                  <a:pt x="0" y="109728"/>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3098" tIns="72778" rIns="93098" bIns="72778" numCol="1" spcCol="1270" anchor="ctr" anchorCtr="0">
            <a:noAutofit/>
          </a:bodyPr>
          <a:lstStyle/>
          <a:p>
            <a:pPr marL="0" lvl="0" indent="0" algn="ctr" defTabSz="1422400">
              <a:lnSpc>
                <a:spcPct val="90000"/>
              </a:lnSpc>
              <a:spcBef>
                <a:spcPct val="0"/>
              </a:spcBef>
              <a:spcAft>
                <a:spcPts val="0"/>
              </a:spcAft>
              <a:buNone/>
            </a:pPr>
            <a:r>
              <a:rPr lang="en-US" sz="3200" kern="1200" dirty="0"/>
              <a:t>Structure</a:t>
            </a:r>
          </a:p>
          <a:p>
            <a:pPr marL="0" lvl="0" indent="0" algn="ctr" defTabSz="1422400">
              <a:lnSpc>
                <a:spcPct val="90000"/>
              </a:lnSpc>
              <a:spcBef>
                <a:spcPct val="0"/>
              </a:spcBef>
              <a:spcAft>
                <a:spcPct val="35000"/>
              </a:spcAft>
              <a:buNone/>
            </a:pPr>
            <a:r>
              <a:rPr lang="en-US" sz="3200" kern="1200" dirty="0"/>
              <a:t>(lipid bilayer)</a:t>
            </a:r>
          </a:p>
        </p:txBody>
      </p:sp>
      <p:sp>
        <p:nvSpPr>
          <p:cNvPr id="7" name="Freeform: Shape 6">
            <a:extLst>
              <a:ext uri="{FF2B5EF4-FFF2-40B4-BE49-F238E27FC236}">
                <a16:creationId xmlns:a16="http://schemas.microsoft.com/office/drawing/2014/main" id="{F39437CD-477C-4DBE-AACA-DF30792A3E44}"/>
              </a:ext>
            </a:extLst>
          </p:cNvPr>
          <p:cNvSpPr/>
          <p:nvPr/>
        </p:nvSpPr>
        <p:spPr>
          <a:xfrm>
            <a:off x="833592" y="2514366"/>
            <a:ext cx="552933" cy="2005197"/>
          </a:xfrm>
          <a:custGeom>
            <a:avLst/>
            <a:gdLst/>
            <a:ahLst/>
            <a:cxnLst/>
            <a:rect l="0" t="0" r="0" b="0"/>
            <a:pathLst>
              <a:path>
                <a:moveTo>
                  <a:pt x="0" y="0"/>
                </a:moveTo>
                <a:lnTo>
                  <a:pt x="0" y="2005197"/>
                </a:lnTo>
                <a:lnTo>
                  <a:pt x="552933" y="2005197"/>
                </a:lnTo>
              </a:path>
            </a:pathLst>
          </a:custGeom>
          <a:noFill/>
        </p:spPr>
        <p:style>
          <a:lnRef idx="1">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8" name="Freeform: Shape 7">
            <a:extLst>
              <a:ext uri="{FF2B5EF4-FFF2-40B4-BE49-F238E27FC236}">
                <a16:creationId xmlns:a16="http://schemas.microsoft.com/office/drawing/2014/main" id="{91BC1295-74FE-4A04-8867-7B6DFAD55C9E}"/>
              </a:ext>
            </a:extLst>
          </p:cNvPr>
          <p:cNvSpPr/>
          <p:nvPr/>
        </p:nvSpPr>
        <p:spPr>
          <a:xfrm>
            <a:off x="1386526" y="3970925"/>
            <a:ext cx="3200400" cy="1097278"/>
          </a:xfrm>
          <a:custGeom>
            <a:avLst/>
            <a:gdLst>
              <a:gd name="connsiteX0" fmla="*/ 0 w 4147015"/>
              <a:gd name="connsiteY0" fmla="*/ 109728 h 1097278"/>
              <a:gd name="connsiteX1" fmla="*/ 109728 w 4147015"/>
              <a:gd name="connsiteY1" fmla="*/ 0 h 1097278"/>
              <a:gd name="connsiteX2" fmla="*/ 4037287 w 4147015"/>
              <a:gd name="connsiteY2" fmla="*/ 0 h 1097278"/>
              <a:gd name="connsiteX3" fmla="*/ 4147015 w 4147015"/>
              <a:gd name="connsiteY3" fmla="*/ 109728 h 1097278"/>
              <a:gd name="connsiteX4" fmla="*/ 4147015 w 4147015"/>
              <a:gd name="connsiteY4" fmla="*/ 987550 h 1097278"/>
              <a:gd name="connsiteX5" fmla="*/ 4037287 w 4147015"/>
              <a:gd name="connsiteY5" fmla="*/ 1097278 h 1097278"/>
              <a:gd name="connsiteX6" fmla="*/ 109728 w 4147015"/>
              <a:gd name="connsiteY6" fmla="*/ 1097278 h 1097278"/>
              <a:gd name="connsiteX7" fmla="*/ 0 w 4147015"/>
              <a:gd name="connsiteY7" fmla="*/ 987550 h 1097278"/>
              <a:gd name="connsiteX8" fmla="*/ 0 w 4147015"/>
              <a:gd name="connsiteY8" fmla="*/ 109728 h 1097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7015" h="1097278">
                <a:moveTo>
                  <a:pt x="0" y="109728"/>
                </a:moveTo>
                <a:cubicBezTo>
                  <a:pt x="0" y="49127"/>
                  <a:pt x="49127" y="0"/>
                  <a:pt x="109728" y="0"/>
                </a:cubicBezTo>
                <a:lnTo>
                  <a:pt x="4037287" y="0"/>
                </a:lnTo>
                <a:cubicBezTo>
                  <a:pt x="4097888" y="0"/>
                  <a:pt x="4147015" y="49127"/>
                  <a:pt x="4147015" y="109728"/>
                </a:cubicBezTo>
                <a:lnTo>
                  <a:pt x="4147015" y="987550"/>
                </a:lnTo>
                <a:cubicBezTo>
                  <a:pt x="4147015" y="1048151"/>
                  <a:pt x="4097888" y="1097278"/>
                  <a:pt x="4037287" y="1097278"/>
                </a:cubicBezTo>
                <a:lnTo>
                  <a:pt x="109728" y="1097278"/>
                </a:lnTo>
                <a:cubicBezTo>
                  <a:pt x="49127" y="1097278"/>
                  <a:pt x="0" y="1048151"/>
                  <a:pt x="0" y="987550"/>
                </a:cubicBezTo>
                <a:lnTo>
                  <a:pt x="0" y="109728"/>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3098" tIns="72778" rIns="93098" bIns="72778" numCol="1" spcCol="1270" anchor="ctr" anchorCtr="0">
            <a:noAutofit/>
          </a:bodyPr>
          <a:lstStyle/>
          <a:p>
            <a:pPr marL="0" lvl="0" indent="0" algn="ctr" defTabSz="1422400">
              <a:lnSpc>
                <a:spcPct val="90000"/>
              </a:lnSpc>
              <a:spcBef>
                <a:spcPct val="0"/>
              </a:spcBef>
              <a:spcAft>
                <a:spcPts val="0"/>
              </a:spcAft>
              <a:buNone/>
            </a:pPr>
            <a:r>
              <a:rPr lang="en-US" sz="3200" kern="1200" dirty="0"/>
              <a:t>Permeability </a:t>
            </a:r>
          </a:p>
          <a:p>
            <a:pPr marL="0" lvl="0" indent="0" algn="ctr" defTabSz="1422400">
              <a:lnSpc>
                <a:spcPct val="90000"/>
              </a:lnSpc>
              <a:spcBef>
                <a:spcPct val="0"/>
              </a:spcBef>
              <a:spcAft>
                <a:spcPct val="35000"/>
              </a:spcAft>
              <a:buNone/>
            </a:pPr>
            <a:r>
              <a:rPr lang="en-US" sz="3200" kern="1200" dirty="0"/>
              <a:t>(ion channels)</a:t>
            </a:r>
          </a:p>
        </p:txBody>
      </p:sp>
      <p:sp>
        <p:nvSpPr>
          <p:cNvPr id="9" name="Freeform: Shape 8">
            <a:extLst>
              <a:ext uri="{FF2B5EF4-FFF2-40B4-BE49-F238E27FC236}">
                <a16:creationId xmlns:a16="http://schemas.microsoft.com/office/drawing/2014/main" id="{5A0C28EC-9CC5-4A4B-ADC6-7A717A632648}"/>
              </a:ext>
            </a:extLst>
          </p:cNvPr>
          <p:cNvSpPr/>
          <p:nvPr/>
        </p:nvSpPr>
        <p:spPr>
          <a:xfrm>
            <a:off x="5791200" y="1417320"/>
            <a:ext cx="5303520" cy="1097280"/>
          </a:xfrm>
          <a:custGeom>
            <a:avLst/>
            <a:gdLst>
              <a:gd name="connsiteX0" fmla="*/ 0 w 5529339"/>
              <a:gd name="connsiteY0" fmla="*/ 100549 h 1005489"/>
              <a:gd name="connsiteX1" fmla="*/ 100549 w 5529339"/>
              <a:gd name="connsiteY1" fmla="*/ 0 h 1005489"/>
              <a:gd name="connsiteX2" fmla="*/ 5428790 w 5529339"/>
              <a:gd name="connsiteY2" fmla="*/ 0 h 1005489"/>
              <a:gd name="connsiteX3" fmla="*/ 5529339 w 5529339"/>
              <a:gd name="connsiteY3" fmla="*/ 100549 h 1005489"/>
              <a:gd name="connsiteX4" fmla="*/ 5529339 w 5529339"/>
              <a:gd name="connsiteY4" fmla="*/ 904940 h 1005489"/>
              <a:gd name="connsiteX5" fmla="*/ 5428790 w 5529339"/>
              <a:gd name="connsiteY5" fmla="*/ 1005489 h 1005489"/>
              <a:gd name="connsiteX6" fmla="*/ 100549 w 5529339"/>
              <a:gd name="connsiteY6" fmla="*/ 1005489 h 1005489"/>
              <a:gd name="connsiteX7" fmla="*/ 0 w 5529339"/>
              <a:gd name="connsiteY7" fmla="*/ 904940 h 1005489"/>
              <a:gd name="connsiteX8" fmla="*/ 0 w 5529339"/>
              <a:gd name="connsiteY8" fmla="*/ 100549 h 100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29339" h="1005489">
                <a:moveTo>
                  <a:pt x="0" y="100549"/>
                </a:moveTo>
                <a:cubicBezTo>
                  <a:pt x="0" y="45017"/>
                  <a:pt x="45017" y="0"/>
                  <a:pt x="100549" y="0"/>
                </a:cubicBezTo>
                <a:lnTo>
                  <a:pt x="5428790" y="0"/>
                </a:lnTo>
                <a:cubicBezTo>
                  <a:pt x="5484322" y="0"/>
                  <a:pt x="5529339" y="45017"/>
                  <a:pt x="5529339" y="100549"/>
                </a:cubicBezTo>
                <a:lnTo>
                  <a:pt x="5529339" y="904940"/>
                </a:lnTo>
                <a:cubicBezTo>
                  <a:pt x="5529339" y="960472"/>
                  <a:pt x="5484322" y="1005489"/>
                  <a:pt x="5428790" y="1005489"/>
                </a:cubicBezTo>
                <a:lnTo>
                  <a:pt x="100549" y="1005489"/>
                </a:lnTo>
                <a:cubicBezTo>
                  <a:pt x="45017" y="1005489"/>
                  <a:pt x="0" y="960472"/>
                  <a:pt x="0" y="904940"/>
                </a:cubicBezTo>
                <a:lnTo>
                  <a:pt x="0" y="100549"/>
                </a:lnTo>
                <a:close/>
              </a:path>
            </a:pathLst>
          </a:custGeom>
          <a:solidFill>
            <a:schemeClr val="accent3">
              <a:alpha val="70000"/>
            </a:schemeClr>
          </a:solidFill>
        </p:spPr>
        <p:style>
          <a:lnRef idx="0">
            <a:schemeClr val="lt1">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txBody>
          <a:bodyPr spcFirstLastPara="0" vert="horz" wrap="square" lIns="90410" tIns="70090" rIns="90410" bIns="70090" numCol="1" spcCol="1270" anchor="ctr" anchorCtr="0">
            <a:noAutofit/>
          </a:bodyPr>
          <a:lstStyle/>
          <a:p>
            <a:pPr marL="0" lvl="0" indent="0" algn="ctr" defTabSz="1422400">
              <a:lnSpc>
                <a:spcPct val="90000"/>
              </a:lnSpc>
              <a:spcBef>
                <a:spcPct val="0"/>
              </a:spcBef>
              <a:spcAft>
                <a:spcPct val="35000"/>
              </a:spcAft>
              <a:buNone/>
            </a:pPr>
            <a:r>
              <a:rPr lang="en-US" sz="3200" kern="1200" dirty="0">
                <a:solidFill>
                  <a:schemeClr val="tx1"/>
                </a:solidFill>
              </a:rPr>
              <a:t>Ion distribution</a:t>
            </a:r>
          </a:p>
        </p:txBody>
      </p:sp>
      <p:sp>
        <p:nvSpPr>
          <p:cNvPr id="10" name="Freeform: Shape 9">
            <a:extLst>
              <a:ext uri="{FF2B5EF4-FFF2-40B4-BE49-F238E27FC236}">
                <a16:creationId xmlns:a16="http://schemas.microsoft.com/office/drawing/2014/main" id="{D896055B-898F-4F2B-B8CF-D0A4402C1D7D}"/>
              </a:ext>
            </a:extLst>
          </p:cNvPr>
          <p:cNvSpPr/>
          <p:nvPr/>
        </p:nvSpPr>
        <p:spPr>
          <a:xfrm>
            <a:off x="6344134" y="2514366"/>
            <a:ext cx="552933" cy="545398"/>
          </a:xfrm>
          <a:custGeom>
            <a:avLst/>
            <a:gdLst/>
            <a:ahLst/>
            <a:cxnLst/>
            <a:rect l="0" t="0" r="0" b="0"/>
            <a:pathLst>
              <a:path>
                <a:moveTo>
                  <a:pt x="0" y="0"/>
                </a:moveTo>
                <a:lnTo>
                  <a:pt x="0" y="545398"/>
                </a:lnTo>
                <a:lnTo>
                  <a:pt x="552933" y="545398"/>
                </a:lnTo>
              </a:path>
            </a:pathLst>
          </a:custGeom>
          <a:noFill/>
        </p:spPr>
        <p:style>
          <a:lnRef idx="1">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1" name="Freeform: Shape 10">
            <a:extLst>
              <a:ext uri="{FF2B5EF4-FFF2-40B4-BE49-F238E27FC236}">
                <a16:creationId xmlns:a16="http://schemas.microsoft.com/office/drawing/2014/main" id="{F8928ED3-0BDC-419B-8419-2034FC6BECBB}"/>
              </a:ext>
            </a:extLst>
          </p:cNvPr>
          <p:cNvSpPr/>
          <p:nvPr/>
        </p:nvSpPr>
        <p:spPr>
          <a:xfrm>
            <a:off x="6897068" y="2694007"/>
            <a:ext cx="5120640" cy="731516"/>
          </a:xfrm>
          <a:custGeom>
            <a:avLst/>
            <a:gdLst>
              <a:gd name="connsiteX0" fmla="*/ 0 w 4147015"/>
              <a:gd name="connsiteY0" fmla="*/ 73152 h 731516"/>
              <a:gd name="connsiteX1" fmla="*/ 73152 w 4147015"/>
              <a:gd name="connsiteY1" fmla="*/ 0 h 731516"/>
              <a:gd name="connsiteX2" fmla="*/ 4073863 w 4147015"/>
              <a:gd name="connsiteY2" fmla="*/ 0 h 731516"/>
              <a:gd name="connsiteX3" fmla="*/ 4147015 w 4147015"/>
              <a:gd name="connsiteY3" fmla="*/ 73152 h 731516"/>
              <a:gd name="connsiteX4" fmla="*/ 4147015 w 4147015"/>
              <a:gd name="connsiteY4" fmla="*/ 658364 h 731516"/>
              <a:gd name="connsiteX5" fmla="*/ 4073863 w 4147015"/>
              <a:gd name="connsiteY5" fmla="*/ 731516 h 731516"/>
              <a:gd name="connsiteX6" fmla="*/ 73152 w 4147015"/>
              <a:gd name="connsiteY6" fmla="*/ 731516 h 731516"/>
              <a:gd name="connsiteX7" fmla="*/ 0 w 4147015"/>
              <a:gd name="connsiteY7" fmla="*/ 658364 h 731516"/>
              <a:gd name="connsiteX8" fmla="*/ 0 w 4147015"/>
              <a:gd name="connsiteY8" fmla="*/ 73152 h 73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7015" h="731516">
                <a:moveTo>
                  <a:pt x="0" y="73152"/>
                </a:moveTo>
                <a:cubicBezTo>
                  <a:pt x="0" y="32751"/>
                  <a:pt x="32751" y="0"/>
                  <a:pt x="73152" y="0"/>
                </a:cubicBezTo>
                <a:lnTo>
                  <a:pt x="4073863" y="0"/>
                </a:lnTo>
                <a:cubicBezTo>
                  <a:pt x="4114264" y="0"/>
                  <a:pt x="4147015" y="32751"/>
                  <a:pt x="4147015" y="73152"/>
                </a:cubicBezTo>
                <a:lnTo>
                  <a:pt x="4147015" y="658364"/>
                </a:lnTo>
                <a:cubicBezTo>
                  <a:pt x="4147015" y="698765"/>
                  <a:pt x="4114264" y="731516"/>
                  <a:pt x="4073863" y="731516"/>
                </a:cubicBezTo>
                <a:lnTo>
                  <a:pt x="73152" y="731516"/>
                </a:lnTo>
                <a:cubicBezTo>
                  <a:pt x="32751" y="731516"/>
                  <a:pt x="0" y="698765"/>
                  <a:pt x="0" y="658364"/>
                </a:cubicBezTo>
                <a:lnTo>
                  <a:pt x="0" y="73152"/>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2385" tIns="62065" rIns="82385" bIns="62065" numCol="1" spcCol="1270" anchor="ctr" anchorCtr="0">
            <a:noAutofit/>
          </a:bodyPr>
          <a:lstStyle/>
          <a:p>
            <a:pPr marL="0" lvl="0" indent="0" algn="ctr" defTabSz="1422400">
              <a:lnSpc>
                <a:spcPct val="90000"/>
              </a:lnSpc>
              <a:spcBef>
                <a:spcPct val="0"/>
              </a:spcBef>
              <a:spcAft>
                <a:spcPct val="35000"/>
              </a:spcAft>
              <a:buNone/>
            </a:pPr>
            <a:r>
              <a:rPr lang="en-US" sz="3200" kern="1200" dirty="0"/>
              <a:t>Na</a:t>
            </a:r>
            <a:r>
              <a:rPr lang="en-US" sz="3200" kern="1200" baseline="30000" dirty="0"/>
              <a:t>+</a:t>
            </a:r>
            <a:r>
              <a:rPr lang="en-US" sz="3200" kern="1200" dirty="0"/>
              <a:t>, K</a:t>
            </a:r>
            <a:r>
              <a:rPr lang="en-US" sz="3200" kern="1200" baseline="30000" dirty="0"/>
              <a:t>+</a:t>
            </a:r>
            <a:r>
              <a:rPr lang="en-US" sz="3200" kern="1200" dirty="0"/>
              <a:t>, Cl</a:t>
            </a:r>
            <a:r>
              <a:rPr lang="en-US" sz="3200" kern="1200" baseline="30000" dirty="0"/>
              <a:t>-</a:t>
            </a:r>
            <a:r>
              <a:rPr lang="en-US" sz="3200" kern="1200" dirty="0"/>
              <a:t>, Ca</a:t>
            </a:r>
            <a:r>
              <a:rPr lang="en-US" sz="3200" kern="1200" baseline="30000" dirty="0"/>
              <a:t>2+</a:t>
            </a:r>
            <a:endParaRPr lang="en-US" sz="3200" kern="1200" dirty="0"/>
          </a:p>
        </p:txBody>
      </p:sp>
      <p:sp>
        <p:nvSpPr>
          <p:cNvPr id="12" name="Freeform: Shape 11">
            <a:extLst>
              <a:ext uri="{FF2B5EF4-FFF2-40B4-BE49-F238E27FC236}">
                <a16:creationId xmlns:a16="http://schemas.microsoft.com/office/drawing/2014/main" id="{B780FEF2-3982-4AE5-94A5-8EE5CAA300B3}"/>
              </a:ext>
            </a:extLst>
          </p:cNvPr>
          <p:cNvSpPr/>
          <p:nvPr/>
        </p:nvSpPr>
        <p:spPr>
          <a:xfrm>
            <a:off x="6344134" y="2514366"/>
            <a:ext cx="552933" cy="1639435"/>
          </a:xfrm>
          <a:custGeom>
            <a:avLst/>
            <a:gdLst/>
            <a:ahLst/>
            <a:cxnLst/>
            <a:rect l="0" t="0" r="0" b="0"/>
            <a:pathLst>
              <a:path>
                <a:moveTo>
                  <a:pt x="0" y="0"/>
                </a:moveTo>
                <a:lnTo>
                  <a:pt x="0" y="1639435"/>
                </a:lnTo>
                <a:lnTo>
                  <a:pt x="552933" y="1639435"/>
                </a:lnTo>
              </a:path>
            </a:pathLst>
          </a:custGeom>
          <a:noFill/>
        </p:spPr>
        <p:style>
          <a:lnRef idx="1">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3" name="Freeform: Shape 12">
            <a:extLst>
              <a:ext uri="{FF2B5EF4-FFF2-40B4-BE49-F238E27FC236}">
                <a16:creationId xmlns:a16="http://schemas.microsoft.com/office/drawing/2014/main" id="{DB02339B-BCDC-4311-A655-B77F8E2030F3}"/>
              </a:ext>
            </a:extLst>
          </p:cNvPr>
          <p:cNvSpPr/>
          <p:nvPr/>
        </p:nvSpPr>
        <p:spPr>
          <a:xfrm>
            <a:off x="6897068" y="3605163"/>
            <a:ext cx="5120640" cy="1097278"/>
          </a:xfrm>
          <a:custGeom>
            <a:avLst/>
            <a:gdLst>
              <a:gd name="connsiteX0" fmla="*/ 0 w 4147015"/>
              <a:gd name="connsiteY0" fmla="*/ 109728 h 1097278"/>
              <a:gd name="connsiteX1" fmla="*/ 109728 w 4147015"/>
              <a:gd name="connsiteY1" fmla="*/ 0 h 1097278"/>
              <a:gd name="connsiteX2" fmla="*/ 4037287 w 4147015"/>
              <a:gd name="connsiteY2" fmla="*/ 0 h 1097278"/>
              <a:gd name="connsiteX3" fmla="*/ 4147015 w 4147015"/>
              <a:gd name="connsiteY3" fmla="*/ 109728 h 1097278"/>
              <a:gd name="connsiteX4" fmla="*/ 4147015 w 4147015"/>
              <a:gd name="connsiteY4" fmla="*/ 987550 h 1097278"/>
              <a:gd name="connsiteX5" fmla="*/ 4037287 w 4147015"/>
              <a:gd name="connsiteY5" fmla="*/ 1097278 h 1097278"/>
              <a:gd name="connsiteX6" fmla="*/ 109728 w 4147015"/>
              <a:gd name="connsiteY6" fmla="*/ 1097278 h 1097278"/>
              <a:gd name="connsiteX7" fmla="*/ 0 w 4147015"/>
              <a:gd name="connsiteY7" fmla="*/ 987550 h 1097278"/>
              <a:gd name="connsiteX8" fmla="*/ 0 w 4147015"/>
              <a:gd name="connsiteY8" fmla="*/ 109728 h 1097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7015" h="1097278">
                <a:moveTo>
                  <a:pt x="0" y="109728"/>
                </a:moveTo>
                <a:cubicBezTo>
                  <a:pt x="0" y="49127"/>
                  <a:pt x="49127" y="0"/>
                  <a:pt x="109728" y="0"/>
                </a:cubicBezTo>
                <a:lnTo>
                  <a:pt x="4037287" y="0"/>
                </a:lnTo>
                <a:cubicBezTo>
                  <a:pt x="4097888" y="0"/>
                  <a:pt x="4147015" y="49127"/>
                  <a:pt x="4147015" y="109728"/>
                </a:cubicBezTo>
                <a:lnTo>
                  <a:pt x="4147015" y="987550"/>
                </a:lnTo>
                <a:cubicBezTo>
                  <a:pt x="4147015" y="1048151"/>
                  <a:pt x="4097888" y="1097278"/>
                  <a:pt x="4037287" y="1097278"/>
                </a:cubicBezTo>
                <a:lnTo>
                  <a:pt x="109728" y="1097278"/>
                </a:lnTo>
                <a:cubicBezTo>
                  <a:pt x="49127" y="1097278"/>
                  <a:pt x="0" y="1048151"/>
                  <a:pt x="0" y="987550"/>
                </a:cubicBezTo>
                <a:lnTo>
                  <a:pt x="0" y="109728"/>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3098" tIns="72778" rIns="93098" bIns="72778" numCol="1" spcCol="1270" anchor="ctr" anchorCtr="0">
            <a:noAutofit/>
          </a:bodyPr>
          <a:lstStyle/>
          <a:p>
            <a:pPr marL="0" lvl="0" indent="0" algn="ctr" defTabSz="1422400">
              <a:lnSpc>
                <a:spcPct val="90000"/>
              </a:lnSpc>
              <a:spcBef>
                <a:spcPct val="0"/>
              </a:spcBef>
              <a:spcAft>
                <a:spcPct val="35000"/>
              </a:spcAft>
              <a:buNone/>
            </a:pPr>
            <a:r>
              <a:rPr lang="en-US" sz="3200" kern="1200" dirty="0"/>
              <a:t>Forces that move ions (gradients)</a:t>
            </a:r>
          </a:p>
        </p:txBody>
      </p:sp>
      <p:sp>
        <p:nvSpPr>
          <p:cNvPr id="14" name="Freeform: Shape 13">
            <a:extLst>
              <a:ext uri="{FF2B5EF4-FFF2-40B4-BE49-F238E27FC236}">
                <a16:creationId xmlns:a16="http://schemas.microsoft.com/office/drawing/2014/main" id="{C4D7108B-6822-427D-BDC1-96D3189FC025}"/>
              </a:ext>
            </a:extLst>
          </p:cNvPr>
          <p:cNvSpPr/>
          <p:nvPr/>
        </p:nvSpPr>
        <p:spPr>
          <a:xfrm>
            <a:off x="6344134" y="2514366"/>
            <a:ext cx="552933" cy="2916354"/>
          </a:xfrm>
          <a:custGeom>
            <a:avLst/>
            <a:gdLst/>
            <a:ahLst/>
            <a:cxnLst/>
            <a:rect l="0" t="0" r="0" b="0"/>
            <a:pathLst>
              <a:path>
                <a:moveTo>
                  <a:pt x="0" y="0"/>
                </a:moveTo>
                <a:lnTo>
                  <a:pt x="0" y="2916354"/>
                </a:lnTo>
                <a:lnTo>
                  <a:pt x="552933" y="2916354"/>
                </a:lnTo>
              </a:path>
            </a:pathLst>
          </a:custGeom>
          <a:noFill/>
        </p:spPr>
        <p:style>
          <a:lnRef idx="1">
            <a:schemeClr val="accent3">
              <a:shade val="60000"/>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15" name="Freeform: Shape 14">
            <a:extLst>
              <a:ext uri="{FF2B5EF4-FFF2-40B4-BE49-F238E27FC236}">
                <a16:creationId xmlns:a16="http://schemas.microsoft.com/office/drawing/2014/main" id="{85A8AB16-50ED-4C3E-9D11-44447E27953B}"/>
              </a:ext>
            </a:extLst>
          </p:cNvPr>
          <p:cNvSpPr/>
          <p:nvPr/>
        </p:nvSpPr>
        <p:spPr>
          <a:xfrm>
            <a:off x="6897068" y="4882082"/>
            <a:ext cx="5120640" cy="1097278"/>
          </a:xfrm>
          <a:custGeom>
            <a:avLst/>
            <a:gdLst>
              <a:gd name="connsiteX0" fmla="*/ 0 w 4147015"/>
              <a:gd name="connsiteY0" fmla="*/ 109728 h 1097278"/>
              <a:gd name="connsiteX1" fmla="*/ 109728 w 4147015"/>
              <a:gd name="connsiteY1" fmla="*/ 0 h 1097278"/>
              <a:gd name="connsiteX2" fmla="*/ 4037287 w 4147015"/>
              <a:gd name="connsiteY2" fmla="*/ 0 h 1097278"/>
              <a:gd name="connsiteX3" fmla="*/ 4147015 w 4147015"/>
              <a:gd name="connsiteY3" fmla="*/ 109728 h 1097278"/>
              <a:gd name="connsiteX4" fmla="*/ 4147015 w 4147015"/>
              <a:gd name="connsiteY4" fmla="*/ 987550 h 1097278"/>
              <a:gd name="connsiteX5" fmla="*/ 4037287 w 4147015"/>
              <a:gd name="connsiteY5" fmla="*/ 1097278 h 1097278"/>
              <a:gd name="connsiteX6" fmla="*/ 109728 w 4147015"/>
              <a:gd name="connsiteY6" fmla="*/ 1097278 h 1097278"/>
              <a:gd name="connsiteX7" fmla="*/ 0 w 4147015"/>
              <a:gd name="connsiteY7" fmla="*/ 987550 h 1097278"/>
              <a:gd name="connsiteX8" fmla="*/ 0 w 4147015"/>
              <a:gd name="connsiteY8" fmla="*/ 109728 h 1097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7015" h="1097278">
                <a:moveTo>
                  <a:pt x="0" y="109728"/>
                </a:moveTo>
                <a:cubicBezTo>
                  <a:pt x="0" y="49127"/>
                  <a:pt x="49127" y="0"/>
                  <a:pt x="109728" y="0"/>
                </a:cubicBezTo>
                <a:lnTo>
                  <a:pt x="4037287" y="0"/>
                </a:lnTo>
                <a:cubicBezTo>
                  <a:pt x="4097888" y="0"/>
                  <a:pt x="4147015" y="49127"/>
                  <a:pt x="4147015" y="109728"/>
                </a:cubicBezTo>
                <a:lnTo>
                  <a:pt x="4147015" y="987550"/>
                </a:lnTo>
                <a:cubicBezTo>
                  <a:pt x="4147015" y="1048151"/>
                  <a:pt x="4097888" y="1097278"/>
                  <a:pt x="4037287" y="1097278"/>
                </a:cubicBezTo>
                <a:lnTo>
                  <a:pt x="109728" y="1097278"/>
                </a:lnTo>
                <a:cubicBezTo>
                  <a:pt x="49127" y="1097278"/>
                  <a:pt x="0" y="1048151"/>
                  <a:pt x="0" y="987550"/>
                </a:cubicBezTo>
                <a:lnTo>
                  <a:pt x="0" y="109728"/>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3098" tIns="72778" rIns="93098" bIns="72778" numCol="1" spcCol="1270" anchor="ctr" anchorCtr="0">
            <a:noAutofit/>
          </a:bodyPr>
          <a:lstStyle/>
          <a:p>
            <a:pPr marL="0" lvl="0" indent="0" algn="ctr" defTabSz="1422400">
              <a:lnSpc>
                <a:spcPct val="90000"/>
              </a:lnSpc>
              <a:spcBef>
                <a:spcPct val="0"/>
              </a:spcBef>
              <a:spcAft>
                <a:spcPct val="35000"/>
              </a:spcAft>
              <a:buNone/>
            </a:pPr>
            <a:r>
              <a:rPr lang="en-US" sz="3200" kern="1200" dirty="0"/>
              <a:t>Membrane potential</a:t>
            </a:r>
            <a:endParaRPr lang="en-US" sz="3200" kern="1200" baseline="0" dirty="0"/>
          </a:p>
        </p:txBody>
      </p:sp>
      <p:sp>
        <p:nvSpPr>
          <p:cNvPr id="71682" name="Rectangle 2"/>
          <p:cNvSpPr>
            <a:spLocks noGrp="1" noChangeArrowheads="1"/>
          </p:cNvSpPr>
          <p:nvPr>
            <p:ph type="title"/>
          </p:nvPr>
        </p:nvSpPr>
        <p:spPr>
          <a:xfrm>
            <a:off x="1150485" y="0"/>
            <a:ext cx="9905998" cy="1478570"/>
          </a:xfrm>
        </p:spPr>
        <p:txBody>
          <a:bodyPr/>
          <a:lstStyle/>
          <a:p>
            <a:pPr algn="ctr"/>
            <a:r>
              <a:rPr lang="en-US" dirty="0">
                <a:solidFill>
                  <a:schemeClr val="bg1"/>
                </a:solidFill>
              </a:rPr>
              <a:t>How do neurons work?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06123-1347-49E6-B5E2-B27505008F2D}"/>
              </a:ext>
            </a:extLst>
          </p:cNvPr>
          <p:cNvSpPr>
            <a:spLocks noGrp="1"/>
          </p:cNvSpPr>
          <p:nvPr>
            <p:ph type="title"/>
          </p:nvPr>
        </p:nvSpPr>
        <p:spPr>
          <a:xfrm>
            <a:off x="1141413" y="482313"/>
            <a:ext cx="9905998" cy="1478570"/>
          </a:xfrm>
        </p:spPr>
        <p:txBody>
          <a:bodyPr/>
          <a:lstStyle/>
          <a:p>
            <a:pPr algn="ctr"/>
            <a:r>
              <a:rPr lang="en-US" dirty="0">
                <a:solidFill>
                  <a:schemeClr val="bg1"/>
                </a:solidFill>
              </a:rPr>
              <a:t>the cell membrane</a:t>
            </a:r>
          </a:p>
        </p:txBody>
      </p:sp>
      <p:sp>
        <p:nvSpPr>
          <p:cNvPr id="3" name="Content Placeholder 2">
            <a:extLst>
              <a:ext uri="{FF2B5EF4-FFF2-40B4-BE49-F238E27FC236}">
                <a16:creationId xmlns:a16="http://schemas.microsoft.com/office/drawing/2014/main" id="{5D94F851-94AB-4376-A014-8C1913AB3E41}"/>
              </a:ext>
            </a:extLst>
          </p:cNvPr>
          <p:cNvSpPr>
            <a:spLocks noGrp="1"/>
          </p:cNvSpPr>
          <p:nvPr>
            <p:ph idx="1"/>
          </p:nvPr>
        </p:nvSpPr>
        <p:spPr>
          <a:xfrm>
            <a:off x="1141412" y="1784796"/>
            <a:ext cx="9905999" cy="3541714"/>
          </a:xfrm>
        </p:spPr>
        <p:txBody>
          <a:bodyPr>
            <a:normAutofit/>
          </a:bodyPr>
          <a:lstStyle/>
          <a:p>
            <a:r>
              <a:rPr lang="en-US" sz="2800" dirty="0">
                <a:solidFill>
                  <a:schemeClr val="bg1"/>
                </a:solidFill>
              </a:rPr>
              <a:t>The cellular membrane is a lipid bilayer</a:t>
            </a:r>
          </a:p>
          <a:p>
            <a:r>
              <a:rPr lang="en-US" sz="2800" dirty="0">
                <a:solidFill>
                  <a:schemeClr val="bg1"/>
                </a:solidFill>
              </a:rPr>
              <a:t>Ion channels are proteins embedded in the cell membrane that allow certain ions to pass through the membrane</a:t>
            </a:r>
          </a:p>
        </p:txBody>
      </p:sp>
      <p:pic>
        <p:nvPicPr>
          <p:cNvPr id="5" name="Picture 4">
            <a:extLst>
              <a:ext uri="{FF2B5EF4-FFF2-40B4-BE49-F238E27FC236}">
                <a16:creationId xmlns:a16="http://schemas.microsoft.com/office/drawing/2014/main" id="{D10C050F-3E85-454B-A273-0699C64BB5A2}"/>
              </a:ext>
            </a:extLst>
          </p:cNvPr>
          <p:cNvPicPr>
            <a:picLocks noChangeAspect="1"/>
          </p:cNvPicPr>
          <p:nvPr/>
        </p:nvPicPr>
        <p:blipFill rotWithShape="1">
          <a:blip r:embed="rId3"/>
          <a:srcRect l="1701" t="31947" r="1476" b="44122"/>
          <a:stretch/>
        </p:blipFill>
        <p:spPr>
          <a:xfrm>
            <a:off x="46964" y="3555653"/>
            <a:ext cx="12094893" cy="2410520"/>
          </a:xfrm>
          <a:prstGeom prst="rect">
            <a:avLst/>
          </a:prstGeom>
        </p:spPr>
      </p:pic>
    </p:spTree>
    <p:extLst>
      <p:ext uri="{BB962C8B-B14F-4D97-AF65-F5344CB8AC3E}">
        <p14:creationId xmlns:p14="http://schemas.microsoft.com/office/powerpoint/2010/main" val="1734192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29CDE-416F-523E-6385-6A691FF117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A748E-F1F9-722F-8D9D-42C74D10BFFD}"/>
              </a:ext>
            </a:extLst>
          </p:cNvPr>
          <p:cNvSpPr>
            <a:spLocks noGrp="1"/>
          </p:cNvSpPr>
          <p:nvPr>
            <p:ph type="title"/>
          </p:nvPr>
        </p:nvSpPr>
        <p:spPr>
          <a:xfrm>
            <a:off x="1785519" y="0"/>
            <a:ext cx="8620962" cy="1510508"/>
          </a:xfrm>
          <a:noFill/>
          <a:ln>
            <a:noFill/>
          </a:ln>
        </p:spPr>
        <p:txBody>
          <a:bodyPr vert="horz" lIns="91440" tIns="45720" rIns="457200" bIns="45720" rtlCol="0" anchor="ctr">
            <a:noAutofit/>
          </a:bodyPr>
          <a:lstStyle/>
          <a:p>
            <a:pPr algn="ctr"/>
            <a:r>
              <a:rPr lang="en-US" sz="4000" dirty="0">
                <a:solidFill>
                  <a:schemeClr val="bg1"/>
                </a:solidFill>
              </a:rPr>
              <a:t>The cell membrane forms two compartments </a:t>
            </a:r>
          </a:p>
        </p:txBody>
      </p:sp>
      <p:sp>
        <p:nvSpPr>
          <p:cNvPr id="6" name="Title 1">
            <a:extLst>
              <a:ext uri="{FF2B5EF4-FFF2-40B4-BE49-F238E27FC236}">
                <a16:creationId xmlns:a16="http://schemas.microsoft.com/office/drawing/2014/main" id="{FC95CE63-7BCD-31CD-AF1D-5E7F526075B0}"/>
              </a:ext>
            </a:extLst>
          </p:cNvPr>
          <p:cNvSpPr txBox="1">
            <a:spLocks/>
          </p:cNvSpPr>
          <p:nvPr/>
        </p:nvSpPr>
        <p:spPr bwMode="auto">
          <a:xfrm>
            <a:off x="613216" y="1545881"/>
            <a:ext cx="2795569" cy="214059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457200" bIns="45720" rtlCol="0" anchor="ctr">
            <a:noAutofit/>
          </a:bodyPr>
          <a:lstStyle>
            <a:lvl1pPr marL="0" algn="l" defTabSz="914400" rtl="0" eaLnBrk="1" latinLnBrk="0" hangingPunct="1">
              <a:lnSpc>
                <a:spcPct val="90000"/>
              </a:lnSpc>
              <a:spcBef>
                <a:spcPct val="0"/>
              </a:spcBef>
              <a:buNone/>
              <a:defRPr sz="3600" kern="1200" cap="all" baseline="0">
                <a:solidFill>
                  <a:srgbClr val="027AA2"/>
                </a:solidFill>
                <a:latin typeface="+mn-lt"/>
                <a:ea typeface="+mj-ea"/>
                <a:cs typeface="+mj-cs"/>
              </a:defRPr>
            </a:lvl1pPr>
          </a:lstStyle>
          <a:p>
            <a:pPr>
              <a:lnSpc>
                <a:spcPct val="100000"/>
              </a:lnSpc>
            </a:pPr>
            <a:r>
              <a:rPr lang="en-US" sz="2400" dirty="0">
                <a:solidFill>
                  <a:schemeClr val="bg1"/>
                </a:solidFill>
              </a:rPr>
              <a:t>Outside the Cell:</a:t>
            </a:r>
          </a:p>
          <a:p>
            <a:pPr>
              <a:lnSpc>
                <a:spcPct val="100000"/>
              </a:lnSpc>
            </a:pPr>
            <a:r>
              <a:rPr lang="en-US" sz="2400" dirty="0">
                <a:solidFill>
                  <a:schemeClr val="bg1"/>
                </a:solidFill>
              </a:rPr>
              <a:t>Extracellular Fluid</a:t>
            </a:r>
          </a:p>
        </p:txBody>
      </p:sp>
      <p:sp>
        <p:nvSpPr>
          <p:cNvPr id="7" name="Title 1">
            <a:extLst>
              <a:ext uri="{FF2B5EF4-FFF2-40B4-BE49-F238E27FC236}">
                <a16:creationId xmlns:a16="http://schemas.microsoft.com/office/drawing/2014/main" id="{DFE6B945-9A56-09AE-72E6-62B1617BBB74}"/>
              </a:ext>
            </a:extLst>
          </p:cNvPr>
          <p:cNvSpPr txBox="1">
            <a:spLocks/>
          </p:cNvSpPr>
          <p:nvPr/>
        </p:nvSpPr>
        <p:spPr bwMode="auto">
          <a:xfrm>
            <a:off x="613216" y="3686475"/>
            <a:ext cx="2795569" cy="4973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457200" bIns="45720" rtlCol="0" anchor="ctr">
            <a:noAutofit/>
          </a:bodyPr>
          <a:lstStyle>
            <a:lvl1pPr marL="0" algn="l" defTabSz="914400" rtl="0" eaLnBrk="1" latinLnBrk="0" hangingPunct="1">
              <a:lnSpc>
                <a:spcPct val="90000"/>
              </a:lnSpc>
              <a:spcBef>
                <a:spcPct val="0"/>
              </a:spcBef>
              <a:buNone/>
              <a:defRPr sz="3600" kern="1200" cap="all" baseline="0">
                <a:solidFill>
                  <a:srgbClr val="027AA2"/>
                </a:solidFill>
                <a:latin typeface="+mn-lt"/>
                <a:ea typeface="+mj-ea"/>
                <a:cs typeface="+mj-cs"/>
              </a:defRPr>
            </a:lvl1pPr>
          </a:lstStyle>
          <a:p>
            <a:pPr>
              <a:lnSpc>
                <a:spcPts val="4000"/>
              </a:lnSpc>
            </a:pPr>
            <a:r>
              <a:rPr lang="en-US" sz="2400" b="1" dirty="0">
                <a:solidFill>
                  <a:schemeClr val="bg1"/>
                </a:solidFill>
              </a:rPr>
              <a:t>Cell membrane</a:t>
            </a:r>
          </a:p>
        </p:txBody>
      </p:sp>
      <p:sp>
        <p:nvSpPr>
          <p:cNvPr id="8" name="Title 1">
            <a:extLst>
              <a:ext uri="{FF2B5EF4-FFF2-40B4-BE49-F238E27FC236}">
                <a16:creationId xmlns:a16="http://schemas.microsoft.com/office/drawing/2014/main" id="{37418822-1B03-74DE-7FB0-847B00FE1078}"/>
              </a:ext>
            </a:extLst>
          </p:cNvPr>
          <p:cNvSpPr txBox="1">
            <a:spLocks/>
          </p:cNvSpPr>
          <p:nvPr/>
        </p:nvSpPr>
        <p:spPr bwMode="auto">
          <a:xfrm>
            <a:off x="500475" y="4615935"/>
            <a:ext cx="3021052" cy="214059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vert="horz" lIns="91440" tIns="45720" rIns="457200" bIns="45720" rtlCol="0" anchor="ctr">
            <a:noAutofit/>
          </a:bodyPr>
          <a:lstStyle>
            <a:lvl1pPr marL="0" algn="l" defTabSz="914400" rtl="0" eaLnBrk="1" latinLnBrk="0" hangingPunct="1">
              <a:lnSpc>
                <a:spcPct val="90000"/>
              </a:lnSpc>
              <a:spcBef>
                <a:spcPct val="0"/>
              </a:spcBef>
              <a:buNone/>
              <a:defRPr sz="3600" kern="1200" cap="all" baseline="0">
                <a:solidFill>
                  <a:srgbClr val="027AA2"/>
                </a:solidFill>
                <a:latin typeface="+mn-lt"/>
                <a:ea typeface="+mj-ea"/>
                <a:cs typeface="+mj-cs"/>
              </a:defRPr>
            </a:lvl1pPr>
          </a:lstStyle>
          <a:p>
            <a:pPr>
              <a:lnSpc>
                <a:spcPct val="100000"/>
              </a:lnSpc>
            </a:pPr>
            <a:r>
              <a:rPr lang="en-US" sz="2400" dirty="0">
                <a:solidFill>
                  <a:schemeClr val="bg1"/>
                </a:solidFill>
              </a:rPr>
              <a:t>Inside the cell:</a:t>
            </a:r>
          </a:p>
          <a:p>
            <a:pPr>
              <a:lnSpc>
                <a:spcPct val="100000"/>
              </a:lnSpc>
            </a:pPr>
            <a:r>
              <a:rPr lang="en-US" sz="2400" dirty="0">
                <a:solidFill>
                  <a:schemeClr val="bg1"/>
                </a:solidFill>
              </a:rPr>
              <a:t>Intracellular Fluid</a:t>
            </a:r>
          </a:p>
        </p:txBody>
      </p:sp>
      <p:pic>
        <p:nvPicPr>
          <p:cNvPr id="4" name="Picture 3">
            <a:extLst>
              <a:ext uri="{FF2B5EF4-FFF2-40B4-BE49-F238E27FC236}">
                <a16:creationId xmlns:a16="http://schemas.microsoft.com/office/drawing/2014/main" id="{ADCA87C2-1AD9-C7A4-572A-E9F0F675BB53}"/>
              </a:ext>
            </a:extLst>
          </p:cNvPr>
          <p:cNvPicPr>
            <a:picLocks noChangeAspect="1"/>
          </p:cNvPicPr>
          <p:nvPr/>
        </p:nvPicPr>
        <p:blipFill rotWithShape="1">
          <a:blip r:embed="rId3"/>
          <a:srcRect t="23393"/>
          <a:stretch/>
        </p:blipFill>
        <p:spPr>
          <a:xfrm>
            <a:off x="2895600" y="1702808"/>
            <a:ext cx="6400800" cy="5155192"/>
          </a:xfrm>
          <a:prstGeom prst="rect">
            <a:avLst/>
          </a:prstGeom>
        </p:spPr>
      </p:pic>
      <p:sp>
        <p:nvSpPr>
          <p:cNvPr id="11" name="TextBox 10">
            <a:extLst>
              <a:ext uri="{FF2B5EF4-FFF2-40B4-BE49-F238E27FC236}">
                <a16:creationId xmlns:a16="http://schemas.microsoft.com/office/drawing/2014/main" id="{F8E21C18-A01B-5211-97D2-E82B3E1336D8}"/>
              </a:ext>
            </a:extLst>
          </p:cNvPr>
          <p:cNvSpPr txBox="1"/>
          <p:nvPr/>
        </p:nvSpPr>
        <p:spPr>
          <a:xfrm>
            <a:off x="9542930" y="2616178"/>
            <a:ext cx="2362199" cy="523220"/>
          </a:xfrm>
          <a:prstGeom prst="rect">
            <a:avLst/>
          </a:prstGeom>
          <a:noFill/>
        </p:spPr>
        <p:txBody>
          <a:bodyPr wrap="square">
            <a:spAutoFit/>
          </a:bodyPr>
          <a:lstStyle/>
          <a:p>
            <a:pPr>
              <a:lnSpc>
                <a:spcPct val="100000"/>
              </a:lnSpc>
            </a:pPr>
            <a:r>
              <a:rPr lang="en-US" sz="2800" dirty="0">
                <a:solidFill>
                  <a:schemeClr val="bg1"/>
                </a:solidFill>
              </a:rPr>
              <a:t>(</a:t>
            </a:r>
            <a:r>
              <a:rPr lang="en-US" sz="2800" dirty="0">
                <a:solidFill>
                  <a:srgbClr val="FFFF00"/>
                </a:solidFill>
              </a:rPr>
              <a:t>More Positive</a:t>
            </a:r>
            <a:r>
              <a:rPr lang="en-US" sz="2800" dirty="0">
                <a:solidFill>
                  <a:schemeClr val="bg1"/>
                </a:solidFill>
              </a:rPr>
              <a:t>)</a:t>
            </a:r>
          </a:p>
        </p:txBody>
      </p:sp>
      <p:sp>
        <p:nvSpPr>
          <p:cNvPr id="13" name="TextBox 12">
            <a:extLst>
              <a:ext uri="{FF2B5EF4-FFF2-40B4-BE49-F238E27FC236}">
                <a16:creationId xmlns:a16="http://schemas.microsoft.com/office/drawing/2014/main" id="{FE7A1D02-C563-E953-A483-055833046A13}"/>
              </a:ext>
            </a:extLst>
          </p:cNvPr>
          <p:cNvSpPr txBox="1"/>
          <p:nvPr/>
        </p:nvSpPr>
        <p:spPr>
          <a:xfrm>
            <a:off x="9542930" y="5163012"/>
            <a:ext cx="2649070" cy="523220"/>
          </a:xfrm>
          <a:prstGeom prst="rect">
            <a:avLst/>
          </a:prstGeom>
          <a:noFill/>
        </p:spPr>
        <p:txBody>
          <a:bodyPr wrap="square">
            <a:spAutoFit/>
          </a:bodyPr>
          <a:lstStyle/>
          <a:p>
            <a:pPr>
              <a:lnSpc>
                <a:spcPct val="100000"/>
              </a:lnSpc>
            </a:pPr>
            <a:r>
              <a:rPr lang="en-US" sz="1800" dirty="0">
                <a:solidFill>
                  <a:schemeClr val="bg1"/>
                </a:solidFill>
              </a:rPr>
              <a:t>(</a:t>
            </a:r>
            <a:r>
              <a:rPr lang="en-US" sz="2800" dirty="0">
                <a:solidFill>
                  <a:srgbClr val="FF0000"/>
                </a:solidFill>
              </a:rPr>
              <a:t>More Negative</a:t>
            </a:r>
            <a:r>
              <a:rPr lang="en-US" sz="2800" dirty="0">
                <a:solidFill>
                  <a:schemeClr val="bg1"/>
                </a:solidFill>
              </a:rPr>
              <a:t>)</a:t>
            </a:r>
          </a:p>
        </p:txBody>
      </p:sp>
    </p:spTree>
    <p:extLst>
      <p:ext uri="{BB962C8B-B14F-4D97-AF65-F5344CB8AC3E}">
        <p14:creationId xmlns:p14="http://schemas.microsoft.com/office/powerpoint/2010/main" val="4110834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5519" y="419078"/>
            <a:ext cx="8620962" cy="1091430"/>
          </a:xfrm>
          <a:noFill/>
          <a:ln>
            <a:noFill/>
          </a:ln>
        </p:spPr>
        <p:txBody>
          <a:bodyPr vert="horz" lIns="91440" tIns="45720" rIns="457200" bIns="45720" rtlCol="0" anchor="ctr">
            <a:noAutofit/>
          </a:bodyPr>
          <a:lstStyle/>
          <a:p>
            <a:pPr algn="ctr"/>
            <a:r>
              <a:rPr lang="en-US" sz="4000" dirty="0">
                <a:solidFill>
                  <a:schemeClr val="bg1"/>
                </a:solidFill>
              </a:rPr>
              <a:t>The Resting Membrane Potential</a:t>
            </a:r>
          </a:p>
        </p:txBody>
      </p:sp>
      <p:sp>
        <p:nvSpPr>
          <p:cNvPr id="3" name="Content Placeholder 2"/>
          <p:cNvSpPr>
            <a:spLocks noGrp="1"/>
          </p:cNvSpPr>
          <p:nvPr>
            <p:ph type="body" sz="quarter" idx="10"/>
          </p:nvPr>
        </p:nvSpPr>
        <p:spPr>
          <a:xfrm>
            <a:off x="874407" y="1900987"/>
            <a:ext cx="3713587" cy="4524444"/>
          </a:xfrm>
          <a:noFill/>
          <a:ln>
            <a:noFill/>
          </a:ln>
          <a:effectLst>
            <a:outerShdw blurRad="63500" sx="102000" sy="102000" algn="ctr" rotWithShape="0">
              <a:prstClr val="black">
                <a:alpha val="40000"/>
              </a:prstClr>
            </a:outerShdw>
          </a:effectLst>
        </p:spPr>
        <p:txBody>
          <a:bodyPr vert="horz" lIns="91440" tIns="45720" rIns="91440" bIns="45720" rtlCol="0">
            <a:normAutofit/>
          </a:bodyPr>
          <a:lstStyle/>
          <a:p>
            <a:r>
              <a:rPr lang="en-US" sz="2800" dirty="0">
                <a:solidFill>
                  <a:schemeClr val="bg1"/>
                </a:solidFill>
              </a:rPr>
              <a:t>Neurons “at rest” have an electrical potential across the membrane</a:t>
            </a:r>
          </a:p>
          <a:p>
            <a:endParaRPr lang="en-US" sz="2800" dirty="0">
              <a:solidFill>
                <a:schemeClr val="bg1"/>
              </a:solidFill>
            </a:endParaRPr>
          </a:p>
          <a:p>
            <a:r>
              <a:rPr lang="en-US" sz="2800" dirty="0">
                <a:solidFill>
                  <a:schemeClr val="bg1"/>
                </a:solidFill>
              </a:rPr>
              <a:t>At </a:t>
            </a:r>
            <a:r>
              <a:rPr lang="en-US" sz="2800" i="1" dirty="0">
                <a:solidFill>
                  <a:schemeClr val="bg1"/>
                </a:solidFill>
              </a:rPr>
              <a:t>about</a:t>
            </a:r>
            <a:r>
              <a:rPr lang="en-US" sz="2800" dirty="0">
                <a:solidFill>
                  <a:schemeClr val="bg1"/>
                </a:solidFill>
              </a:rPr>
              <a:t> –65 mV the neuron is at its resting potential</a:t>
            </a:r>
          </a:p>
          <a:p>
            <a:pPr lvl="1"/>
            <a:endParaRPr lang="en-US" dirty="0"/>
          </a:p>
        </p:txBody>
      </p:sp>
      <p:pic>
        <p:nvPicPr>
          <p:cNvPr id="4" name="Picture 3">
            <a:extLst>
              <a:ext uri="{FF2B5EF4-FFF2-40B4-BE49-F238E27FC236}">
                <a16:creationId xmlns:a16="http://schemas.microsoft.com/office/drawing/2014/main" id="{BC2E36A7-8574-44A8-8855-27B8AE6360BE}"/>
              </a:ext>
            </a:extLst>
          </p:cNvPr>
          <p:cNvPicPr>
            <a:picLocks noChangeAspect="1"/>
          </p:cNvPicPr>
          <p:nvPr/>
        </p:nvPicPr>
        <p:blipFill rotWithShape="1">
          <a:blip r:embed="rId3"/>
          <a:srcRect t="23393"/>
          <a:stretch/>
        </p:blipFill>
        <p:spPr>
          <a:xfrm>
            <a:off x="4683711" y="1515084"/>
            <a:ext cx="6633882" cy="5342916"/>
          </a:xfrm>
          <a:prstGeom prst="rect">
            <a:avLst/>
          </a:prstGeom>
        </p:spPr>
      </p:pic>
    </p:spTree>
    <p:extLst>
      <p:ext uri="{BB962C8B-B14F-4D97-AF65-F5344CB8AC3E}">
        <p14:creationId xmlns:p14="http://schemas.microsoft.com/office/powerpoint/2010/main" val="391241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DFFF9-D750-4F27-803B-CD918E62EEBB}"/>
              </a:ext>
            </a:extLst>
          </p:cNvPr>
          <p:cNvSpPr>
            <a:spLocks noGrp="1"/>
          </p:cNvSpPr>
          <p:nvPr>
            <p:ph type="title"/>
          </p:nvPr>
        </p:nvSpPr>
        <p:spPr>
          <a:xfrm>
            <a:off x="803160" y="363034"/>
            <a:ext cx="10582501" cy="1027402"/>
          </a:xfrm>
        </p:spPr>
        <p:txBody>
          <a:bodyPr>
            <a:normAutofit/>
          </a:bodyPr>
          <a:lstStyle/>
          <a:p>
            <a:pPr algn="ctr"/>
            <a:r>
              <a:rPr lang="en-US" dirty="0">
                <a:solidFill>
                  <a:schemeClr val="bg1"/>
                </a:solidFill>
              </a:rPr>
              <a:t>Major Ion players In neural Communication</a:t>
            </a:r>
          </a:p>
        </p:txBody>
      </p:sp>
      <p:sp>
        <p:nvSpPr>
          <p:cNvPr id="3" name="Content Placeholder 2">
            <a:extLst>
              <a:ext uri="{FF2B5EF4-FFF2-40B4-BE49-F238E27FC236}">
                <a16:creationId xmlns:a16="http://schemas.microsoft.com/office/drawing/2014/main" id="{1B919F34-24BC-492A-9939-23BDDA60415B}"/>
              </a:ext>
            </a:extLst>
          </p:cNvPr>
          <p:cNvSpPr>
            <a:spLocks noGrp="1"/>
          </p:cNvSpPr>
          <p:nvPr>
            <p:ph idx="1"/>
          </p:nvPr>
        </p:nvSpPr>
        <p:spPr>
          <a:xfrm>
            <a:off x="1169473" y="1299255"/>
            <a:ext cx="4648494" cy="879917"/>
          </a:xfrm>
        </p:spPr>
        <p:txBody>
          <a:bodyPr>
            <a:noAutofit/>
          </a:bodyPr>
          <a:lstStyle/>
          <a:p>
            <a:pPr marL="0" indent="0">
              <a:buNone/>
            </a:pPr>
            <a:r>
              <a:rPr lang="en-US" sz="3600" b="1" dirty="0">
                <a:solidFill>
                  <a:schemeClr val="bg1"/>
                </a:solidFill>
              </a:rPr>
              <a:t>Positively Charged (+)</a:t>
            </a:r>
          </a:p>
        </p:txBody>
      </p:sp>
      <p:sp>
        <p:nvSpPr>
          <p:cNvPr id="5" name="Content Placeholder 2">
            <a:extLst>
              <a:ext uri="{FF2B5EF4-FFF2-40B4-BE49-F238E27FC236}">
                <a16:creationId xmlns:a16="http://schemas.microsoft.com/office/drawing/2014/main" id="{F2268F39-9E1C-4895-83CE-DFEB338E77E5}"/>
              </a:ext>
            </a:extLst>
          </p:cNvPr>
          <p:cNvSpPr txBox="1">
            <a:spLocks/>
          </p:cNvSpPr>
          <p:nvPr/>
        </p:nvSpPr>
        <p:spPr>
          <a:xfrm>
            <a:off x="553744" y="4117550"/>
            <a:ext cx="1824542" cy="59346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3200" dirty="0">
                <a:solidFill>
                  <a:schemeClr val="bg1"/>
                </a:solidFill>
              </a:rPr>
              <a:t>Potassium</a:t>
            </a:r>
          </a:p>
        </p:txBody>
      </p:sp>
      <p:sp>
        <p:nvSpPr>
          <p:cNvPr id="7" name="Content Placeholder 2">
            <a:extLst>
              <a:ext uri="{FF2B5EF4-FFF2-40B4-BE49-F238E27FC236}">
                <a16:creationId xmlns:a16="http://schemas.microsoft.com/office/drawing/2014/main" id="{3359F29C-30F2-49D4-8780-A7C52106E24C}"/>
              </a:ext>
            </a:extLst>
          </p:cNvPr>
          <p:cNvSpPr txBox="1">
            <a:spLocks/>
          </p:cNvSpPr>
          <p:nvPr/>
        </p:nvSpPr>
        <p:spPr>
          <a:xfrm>
            <a:off x="746006" y="5723179"/>
            <a:ext cx="1601789" cy="59346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3200" dirty="0">
                <a:solidFill>
                  <a:schemeClr val="bg1"/>
                </a:solidFill>
              </a:rPr>
              <a:t>Calcium</a:t>
            </a:r>
          </a:p>
        </p:txBody>
      </p:sp>
      <p:pic>
        <p:nvPicPr>
          <p:cNvPr id="14" name="Picture 13">
            <a:extLst>
              <a:ext uri="{FF2B5EF4-FFF2-40B4-BE49-F238E27FC236}">
                <a16:creationId xmlns:a16="http://schemas.microsoft.com/office/drawing/2014/main" id="{4607E53A-DA1A-4420-816B-9529FC6D45FE}"/>
              </a:ext>
            </a:extLst>
          </p:cNvPr>
          <p:cNvPicPr>
            <a:picLocks noChangeAspect="1"/>
          </p:cNvPicPr>
          <p:nvPr/>
        </p:nvPicPr>
        <p:blipFill rotWithShape="1">
          <a:blip r:embed="rId3"/>
          <a:srcRect l="40895" t="18881" r="40568" b="9439"/>
          <a:stretch/>
        </p:blipFill>
        <p:spPr>
          <a:xfrm>
            <a:off x="2347795" y="3743316"/>
            <a:ext cx="2670536" cy="1547447"/>
          </a:xfrm>
          <a:prstGeom prst="rect">
            <a:avLst/>
          </a:prstGeom>
        </p:spPr>
      </p:pic>
      <p:pic>
        <p:nvPicPr>
          <p:cNvPr id="15" name="Picture 14">
            <a:extLst>
              <a:ext uri="{FF2B5EF4-FFF2-40B4-BE49-F238E27FC236}">
                <a16:creationId xmlns:a16="http://schemas.microsoft.com/office/drawing/2014/main" id="{A4B9AF83-8A5E-42E7-85C8-8F11E9A69BF0}"/>
              </a:ext>
            </a:extLst>
          </p:cNvPr>
          <p:cNvPicPr>
            <a:picLocks noChangeAspect="1"/>
          </p:cNvPicPr>
          <p:nvPr/>
        </p:nvPicPr>
        <p:blipFill rotWithShape="1">
          <a:blip r:embed="rId3"/>
          <a:srcRect l="73972" t="16719" r="5095" b="10715"/>
          <a:stretch/>
        </p:blipFill>
        <p:spPr>
          <a:xfrm>
            <a:off x="7390697" y="3497780"/>
            <a:ext cx="2978888" cy="1547447"/>
          </a:xfrm>
          <a:prstGeom prst="rect">
            <a:avLst/>
          </a:prstGeom>
        </p:spPr>
      </p:pic>
      <p:pic>
        <p:nvPicPr>
          <p:cNvPr id="9" name="Picture 8">
            <a:extLst>
              <a:ext uri="{FF2B5EF4-FFF2-40B4-BE49-F238E27FC236}">
                <a16:creationId xmlns:a16="http://schemas.microsoft.com/office/drawing/2014/main" id="{F0480132-F768-4264-ADD0-CE575B7AC8C5}"/>
              </a:ext>
            </a:extLst>
          </p:cNvPr>
          <p:cNvPicPr>
            <a:picLocks noChangeAspect="1"/>
          </p:cNvPicPr>
          <p:nvPr/>
        </p:nvPicPr>
        <p:blipFill rotWithShape="1">
          <a:blip r:embed="rId4"/>
          <a:srcRect l="67713" t="7889" r="21428" b="74570"/>
          <a:stretch/>
        </p:blipFill>
        <p:spPr>
          <a:xfrm>
            <a:off x="2347795" y="5310553"/>
            <a:ext cx="3813989" cy="1547447"/>
          </a:xfrm>
          <a:prstGeom prst="rect">
            <a:avLst/>
          </a:prstGeom>
        </p:spPr>
      </p:pic>
      <p:sp>
        <p:nvSpPr>
          <p:cNvPr id="10" name="Content Placeholder 2">
            <a:extLst>
              <a:ext uri="{FF2B5EF4-FFF2-40B4-BE49-F238E27FC236}">
                <a16:creationId xmlns:a16="http://schemas.microsoft.com/office/drawing/2014/main" id="{8A020B2D-17D6-472F-B4DE-A5F2E0B3F456}"/>
              </a:ext>
            </a:extLst>
          </p:cNvPr>
          <p:cNvSpPr txBox="1">
            <a:spLocks/>
          </p:cNvSpPr>
          <p:nvPr/>
        </p:nvSpPr>
        <p:spPr>
          <a:xfrm>
            <a:off x="8082810" y="2757028"/>
            <a:ext cx="1594663" cy="59346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3200" dirty="0">
                <a:solidFill>
                  <a:schemeClr val="bg1"/>
                </a:solidFill>
              </a:rPr>
              <a:t>Chloride</a:t>
            </a:r>
          </a:p>
        </p:txBody>
      </p:sp>
      <p:pic>
        <p:nvPicPr>
          <p:cNvPr id="13" name="Picture 12">
            <a:extLst>
              <a:ext uri="{FF2B5EF4-FFF2-40B4-BE49-F238E27FC236}">
                <a16:creationId xmlns:a16="http://schemas.microsoft.com/office/drawing/2014/main" id="{69F6EF4B-CFF6-4F83-B576-D6455D5B2B2C}"/>
              </a:ext>
            </a:extLst>
          </p:cNvPr>
          <p:cNvPicPr>
            <a:picLocks noChangeAspect="1"/>
          </p:cNvPicPr>
          <p:nvPr/>
        </p:nvPicPr>
        <p:blipFill rotWithShape="1">
          <a:blip r:embed="rId5"/>
          <a:srcRect l="29162" t="1709" r="61027" b="93983"/>
          <a:stretch/>
        </p:blipFill>
        <p:spPr>
          <a:xfrm>
            <a:off x="2347795" y="2163703"/>
            <a:ext cx="3351055" cy="1547447"/>
          </a:xfrm>
          <a:prstGeom prst="rect">
            <a:avLst/>
          </a:prstGeom>
        </p:spPr>
      </p:pic>
      <p:sp>
        <p:nvSpPr>
          <p:cNvPr id="4" name="Content Placeholder 2">
            <a:extLst>
              <a:ext uri="{FF2B5EF4-FFF2-40B4-BE49-F238E27FC236}">
                <a16:creationId xmlns:a16="http://schemas.microsoft.com/office/drawing/2014/main" id="{61D760BA-1CB2-B67E-39AB-FB6259686CE9}"/>
              </a:ext>
            </a:extLst>
          </p:cNvPr>
          <p:cNvSpPr txBox="1">
            <a:spLocks/>
          </p:cNvSpPr>
          <p:nvPr/>
        </p:nvSpPr>
        <p:spPr>
          <a:xfrm>
            <a:off x="776497" y="2589975"/>
            <a:ext cx="1601789" cy="593466"/>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3200" dirty="0">
                <a:solidFill>
                  <a:schemeClr val="bg1"/>
                </a:solidFill>
              </a:rPr>
              <a:t>Sodium</a:t>
            </a:r>
          </a:p>
        </p:txBody>
      </p:sp>
      <p:sp>
        <p:nvSpPr>
          <p:cNvPr id="6" name="Content Placeholder 2">
            <a:extLst>
              <a:ext uri="{FF2B5EF4-FFF2-40B4-BE49-F238E27FC236}">
                <a16:creationId xmlns:a16="http://schemas.microsoft.com/office/drawing/2014/main" id="{37F99406-4452-F498-2FEF-B9154E5932E1}"/>
              </a:ext>
            </a:extLst>
          </p:cNvPr>
          <p:cNvSpPr txBox="1">
            <a:spLocks/>
          </p:cNvSpPr>
          <p:nvPr/>
        </p:nvSpPr>
        <p:spPr>
          <a:xfrm>
            <a:off x="6674271" y="1299255"/>
            <a:ext cx="4750339" cy="879917"/>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3600" b="1" dirty="0">
                <a:solidFill>
                  <a:schemeClr val="bg1"/>
                </a:solidFill>
              </a:rPr>
              <a:t>Negatively Charged (-)</a:t>
            </a:r>
          </a:p>
        </p:txBody>
      </p:sp>
      <p:sp>
        <p:nvSpPr>
          <p:cNvPr id="17" name="Rectangle 16">
            <a:extLst>
              <a:ext uri="{FF2B5EF4-FFF2-40B4-BE49-F238E27FC236}">
                <a16:creationId xmlns:a16="http://schemas.microsoft.com/office/drawing/2014/main" id="{1B80BAE5-E039-6A6B-8C48-D51E0C59F9AE}"/>
              </a:ext>
            </a:extLst>
          </p:cNvPr>
          <p:cNvSpPr/>
          <p:nvPr/>
        </p:nvSpPr>
        <p:spPr>
          <a:xfrm>
            <a:off x="6096000" y="1390436"/>
            <a:ext cx="65784" cy="546756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8E8AD48-E357-C56C-D22F-2863D9839051}"/>
              </a:ext>
            </a:extLst>
          </p:cNvPr>
          <p:cNvSpPr/>
          <p:nvPr/>
        </p:nvSpPr>
        <p:spPr>
          <a:xfrm rot="5400000">
            <a:off x="6201887" y="-3107761"/>
            <a:ext cx="85574" cy="1015040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661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0"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32230-EDCD-4B75-8BEB-AF9D5617CA63}"/>
              </a:ext>
            </a:extLst>
          </p:cNvPr>
          <p:cNvSpPr>
            <a:spLocks noGrp="1"/>
          </p:cNvSpPr>
          <p:nvPr>
            <p:ph type="title"/>
          </p:nvPr>
        </p:nvSpPr>
        <p:spPr>
          <a:xfrm>
            <a:off x="1143001" y="511295"/>
            <a:ext cx="9905998" cy="1478570"/>
          </a:xfrm>
        </p:spPr>
        <p:txBody>
          <a:bodyPr/>
          <a:lstStyle/>
          <a:p>
            <a:pPr algn="ctr"/>
            <a:r>
              <a:rPr lang="en-US" dirty="0">
                <a:solidFill>
                  <a:schemeClr val="bg1"/>
                </a:solidFill>
              </a:rPr>
              <a:t>Ion concentrations contribute to the net charge inside and outside the cell at rest</a:t>
            </a:r>
          </a:p>
        </p:txBody>
      </p:sp>
      <p:sp>
        <p:nvSpPr>
          <p:cNvPr id="3" name="Content Placeholder 2">
            <a:extLst>
              <a:ext uri="{FF2B5EF4-FFF2-40B4-BE49-F238E27FC236}">
                <a16:creationId xmlns:a16="http://schemas.microsoft.com/office/drawing/2014/main" id="{23CB0B71-5D59-4AE7-9C2D-76E11ED1C2F7}"/>
              </a:ext>
            </a:extLst>
          </p:cNvPr>
          <p:cNvSpPr>
            <a:spLocks noGrp="1"/>
          </p:cNvSpPr>
          <p:nvPr>
            <p:ph idx="1"/>
          </p:nvPr>
        </p:nvSpPr>
        <p:spPr>
          <a:xfrm>
            <a:off x="1141413" y="2249486"/>
            <a:ext cx="4694391" cy="4608513"/>
          </a:xfrm>
        </p:spPr>
        <p:txBody>
          <a:bodyPr>
            <a:normAutofit/>
          </a:bodyPr>
          <a:lstStyle/>
          <a:p>
            <a:r>
              <a:rPr lang="en-US" sz="2800" dirty="0">
                <a:solidFill>
                  <a:schemeClr val="bg1"/>
                </a:solidFill>
              </a:rPr>
              <a:t>Sodium is mostly outside the cell</a:t>
            </a:r>
          </a:p>
          <a:p>
            <a:r>
              <a:rPr lang="en-US" sz="2800" dirty="0">
                <a:solidFill>
                  <a:schemeClr val="bg1"/>
                </a:solidFill>
              </a:rPr>
              <a:t>Negatively charged proteins are inside the cell</a:t>
            </a:r>
          </a:p>
          <a:p>
            <a:r>
              <a:rPr lang="en-US" sz="2800" dirty="0">
                <a:solidFill>
                  <a:schemeClr val="bg1"/>
                </a:solidFill>
              </a:rPr>
              <a:t>Potassium is mostly inside the cell, but can move outside through leak channels.</a:t>
            </a:r>
          </a:p>
        </p:txBody>
      </p:sp>
      <p:pic>
        <p:nvPicPr>
          <p:cNvPr id="4" name="Picture 3">
            <a:extLst>
              <a:ext uri="{FF2B5EF4-FFF2-40B4-BE49-F238E27FC236}">
                <a16:creationId xmlns:a16="http://schemas.microsoft.com/office/drawing/2014/main" id="{BC792942-E661-4606-803A-B9E1E791184F}"/>
              </a:ext>
            </a:extLst>
          </p:cNvPr>
          <p:cNvPicPr>
            <a:picLocks noChangeAspect="1"/>
          </p:cNvPicPr>
          <p:nvPr/>
        </p:nvPicPr>
        <p:blipFill>
          <a:blip r:embed="rId3"/>
          <a:stretch>
            <a:fillRect/>
          </a:stretch>
        </p:blipFill>
        <p:spPr>
          <a:xfrm>
            <a:off x="5853169" y="2249486"/>
            <a:ext cx="5699494" cy="4595719"/>
          </a:xfrm>
          <a:prstGeom prst="rect">
            <a:avLst/>
          </a:prstGeom>
        </p:spPr>
      </p:pic>
      <p:sp>
        <p:nvSpPr>
          <p:cNvPr id="5" name="Frame 4">
            <a:extLst>
              <a:ext uri="{FF2B5EF4-FFF2-40B4-BE49-F238E27FC236}">
                <a16:creationId xmlns:a16="http://schemas.microsoft.com/office/drawing/2014/main" id="{AFF7B86F-87E1-454E-BF36-E31D23BB81E9}"/>
              </a:ext>
            </a:extLst>
          </p:cNvPr>
          <p:cNvSpPr/>
          <p:nvPr/>
        </p:nvSpPr>
        <p:spPr>
          <a:xfrm>
            <a:off x="8184995" y="2765502"/>
            <a:ext cx="1018477" cy="2128241"/>
          </a:xfrm>
          <a:prstGeom prst="frame">
            <a:avLst>
              <a:gd name="adj1" fmla="val 509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Frame 5">
            <a:extLst>
              <a:ext uri="{FF2B5EF4-FFF2-40B4-BE49-F238E27FC236}">
                <a16:creationId xmlns:a16="http://schemas.microsoft.com/office/drawing/2014/main" id="{13C4C288-AC96-4A26-AA62-2C471F8B95A2}"/>
              </a:ext>
            </a:extLst>
          </p:cNvPr>
          <p:cNvSpPr/>
          <p:nvPr/>
        </p:nvSpPr>
        <p:spPr>
          <a:xfrm>
            <a:off x="7114479" y="2765502"/>
            <a:ext cx="1070516" cy="2564781"/>
          </a:xfrm>
          <a:prstGeom prst="frame">
            <a:avLst>
              <a:gd name="adj1" fmla="val 322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65777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20AD7-22C2-446F-95A4-5B17BD8DBBE4}"/>
              </a:ext>
            </a:extLst>
          </p:cNvPr>
          <p:cNvSpPr>
            <a:spLocks noGrp="1"/>
          </p:cNvSpPr>
          <p:nvPr>
            <p:ph type="title"/>
          </p:nvPr>
        </p:nvSpPr>
        <p:spPr>
          <a:xfrm>
            <a:off x="1141413" y="292487"/>
            <a:ext cx="9905998" cy="1478570"/>
          </a:xfrm>
        </p:spPr>
        <p:txBody>
          <a:bodyPr/>
          <a:lstStyle/>
          <a:p>
            <a:pPr algn="ctr"/>
            <a:r>
              <a:rPr lang="en-US" dirty="0">
                <a:solidFill>
                  <a:schemeClr val="bg1"/>
                </a:solidFill>
              </a:rPr>
              <a:t>forces that influence ion movement: Electrostatic pressure</a:t>
            </a:r>
          </a:p>
        </p:txBody>
      </p:sp>
      <p:sp>
        <p:nvSpPr>
          <p:cNvPr id="3" name="Content Placeholder 2">
            <a:extLst>
              <a:ext uri="{FF2B5EF4-FFF2-40B4-BE49-F238E27FC236}">
                <a16:creationId xmlns:a16="http://schemas.microsoft.com/office/drawing/2014/main" id="{A6CA65FC-58B6-49BB-A3DA-3EE743883CB1}"/>
              </a:ext>
            </a:extLst>
          </p:cNvPr>
          <p:cNvSpPr>
            <a:spLocks noGrp="1"/>
          </p:cNvSpPr>
          <p:nvPr>
            <p:ph idx="1"/>
          </p:nvPr>
        </p:nvSpPr>
        <p:spPr>
          <a:xfrm>
            <a:off x="1141413" y="1787250"/>
            <a:ext cx="9905999" cy="643342"/>
          </a:xfrm>
        </p:spPr>
        <p:txBody>
          <a:bodyPr>
            <a:normAutofit/>
          </a:bodyPr>
          <a:lstStyle/>
          <a:p>
            <a:r>
              <a:rPr lang="en-US" sz="2800" dirty="0">
                <a:solidFill>
                  <a:schemeClr val="bg1"/>
                </a:solidFill>
              </a:rPr>
              <a:t>Opposite charges attract, while like charges repel</a:t>
            </a:r>
          </a:p>
        </p:txBody>
      </p:sp>
      <p:pic>
        <p:nvPicPr>
          <p:cNvPr id="4" name="Picture 3">
            <a:extLst>
              <a:ext uri="{FF2B5EF4-FFF2-40B4-BE49-F238E27FC236}">
                <a16:creationId xmlns:a16="http://schemas.microsoft.com/office/drawing/2014/main" id="{1504D0A4-3FF4-413E-A9C6-A19B72ACB237}"/>
              </a:ext>
            </a:extLst>
          </p:cNvPr>
          <p:cNvPicPr>
            <a:picLocks noChangeAspect="1"/>
          </p:cNvPicPr>
          <p:nvPr/>
        </p:nvPicPr>
        <p:blipFill rotWithShape="1">
          <a:blip r:embed="rId3"/>
          <a:srcRect r="15870" b="80791"/>
          <a:stretch/>
        </p:blipFill>
        <p:spPr>
          <a:xfrm>
            <a:off x="343390" y="2700515"/>
            <a:ext cx="6096000" cy="2398765"/>
          </a:xfrm>
          <a:prstGeom prst="rect">
            <a:avLst/>
          </a:prstGeom>
        </p:spPr>
      </p:pic>
      <p:pic>
        <p:nvPicPr>
          <p:cNvPr id="5" name="Picture 4">
            <a:extLst>
              <a:ext uri="{FF2B5EF4-FFF2-40B4-BE49-F238E27FC236}">
                <a16:creationId xmlns:a16="http://schemas.microsoft.com/office/drawing/2014/main" id="{5B016762-7062-4952-8EA2-2CAEA79A5D35}"/>
              </a:ext>
            </a:extLst>
          </p:cNvPr>
          <p:cNvPicPr>
            <a:picLocks noChangeAspect="1"/>
          </p:cNvPicPr>
          <p:nvPr/>
        </p:nvPicPr>
        <p:blipFill rotWithShape="1">
          <a:blip r:embed="rId3"/>
          <a:srcRect t="95426" r="51230" b="-1513"/>
          <a:stretch/>
        </p:blipFill>
        <p:spPr>
          <a:xfrm>
            <a:off x="343390" y="5099280"/>
            <a:ext cx="2953449" cy="635196"/>
          </a:xfrm>
          <a:prstGeom prst="rect">
            <a:avLst/>
          </a:prstGeom>
        </p:spPr>
      </p:pic>
      <p:pic>
        <p:nvPicPr>
          <p:cNvPr id="7" name="Picture 6">
            <a:extLst>
              <a:ext uri="{FF2B5EF4-FFF2-40B4-BE49-F238E27FC236}">
                <a16:creationId xmlns:a16="http://schemas.microsoft.com/office/drawing/2014/main" id="{F8D0DA4F-56B5-40B4-A9F9-AFB0A70ED00B}"/>
              </a:ext>
            </a:extLst>
          </p:cNvPr>
          <p:cNvPicPr>
            <a:picLocks noChangeAspect="1"/>
          </p:cNvPicPr>
          <p:nvPr/>
        </p:nvPicPr>
        <p:blipFill>
          <a:blip r:embed="rId4"/>
          <a:stretch>
            <a:fillRect/>
          </a:stretch>
        </p:blipFill>
        <p:spPr>
          <a:xfrm>
            <a:off x="6654368" y="2666755"/>
            <a:ext cx="5194242" cy="4188315"/>
          </a:xfrm>
          <a:prstGeom prst="rect">
            <a:avLst/>
          </a:prstGeom>
        </p:spPr>
      </p:pic>
    </p:spTree>
    <p:extLst>
      <p:ext uri="{BB962C8B-B14F-4D97-AF65-F5344CB8AC3E}">
        <p14:creationId xmlns:p14="http://schemas.microsoft.com/office/powerpoint/2010/main" val="2545531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2C714-747E-4D25-BE3F-A111DEB20071}"/>
              </a:ext>
            </a:extLst>
          </p:cNvPr>
          <p:cNvSpPr>
            <a:spLocks noGrp="1"/>
          </p:cNvSpPr>
          <p:nvPr>
            <p:ph type="title"/>
          </p:nvPr>
        </p:nvSpPr>
        <p:spPr>
          <a:xfrm>
            <a:off x="1141412" y="216245"/>
            <a:ext cx="9905998" cy="1478570"/>
          </a:xfrm>
        </p:spPr>
        <p:txBody>
          <a:bodyPr/>
          <a:lstStyle/>
          <a:p>
            <a:pPr algn="ctr"/>
            <a:r>
              <a:rPr lang="en-US" dirty="0">
                <a:solidFill>
                  <a:schemeClr val="bg1"/>
                </a:solidFill>
              </a:rPr>
              <a:t>forces That influence ion movement: Diffusion</a:t>
            </a:r>
          </a:p>
        </p:txBody>
      </p:sp>
      <p:sp>
        <p:nvSpPr>
          <p:cNvPr id="3" name="Content Placeholder 2">
            <a:extLst>
              <a:ext uri="{FF2B5EF4-FFF2-40B4-BE49-F238E27FC236}">
                <a16:creationId xmlns:a16="http://schemas.microsoft.com/office/drawing/2014/main" id="{CC5DE0CB-1043-4879-AEEC-38733767513B}"/>
              </a:ext>
            </a:extLst>
          </p:cNvPr>
          <p:cNvSpPr>
            <a:spLocks noGrp="1"/>
          </p:cNvSpPr>
          <p:nvPr>
            <p:ph idx="1"/>
          </p:nvPr>
        </p:nvSpPr>
        <p:spPr>
          <a:xfrm>
            <a:off x="1141411" y="1622314"/>
            <a:ext cx="5350627" cy="1956753"/>
          </a:xfrm>
        </p:spPr>
        <p:txBody>
          <a:bodyPr>
            <a:normAutofit fontScale="92500"/>
          </a:bodyPr>
          <a:lstStyle/>
          <a:p>
            <a:r>
              <a:rPr lang="en-US" altLang="en-US" sz="3000" dirty="0">
                <a:solidFill>
                  <a:schemeClr val="bg1"/>
                </a:solidFill>
              </a:rPr>
              <a:t>Like ions flow from areas of higher to lower concentration, along the concentration gradient.</a:t>
            </a:r>
          </a:p>
          <a:p>
            <a:endParaRPr lang="en-US" dirty="0"/>
          </a:p>
        </p:txBody>
      </p:sp>
      <p:pic>
        <p:nvPicPr>
          <p:cNvPr id="4" name="Picture 3">
            <a:extLst>
              <a:ext uri="{FF2B5EF4-FFF2-40B4-BE49-F238E27FC236}">
                <a16:creationId xmlns:a16="http://schemas.microsoft.com/office/drawing/2014/main" id="{C5044106-8D15-4737-92BB-7728042B8282}"/>
              </a:ext>
            </a:extLst>
          </p:cNvPr>
          <p:cNvPicPr>
            <a:picLocks noChangeAspect="1"/>
          </p:cNvPicPr>
          <p:nvPr/>
        </p:nvPicPr>
        <p:blipFill rotWithShape="1">
          <a:blip r:embed="rId3"/>
          <a:srcRect l="1" t="18919" r="45725" b="56028"/>
          <a:stretch/>
        </p:blipFill>
        <p:spPr>
          <a:xfrm>
            <a:off x="6492038" y="2323439"/>
            <a:ext cx="5699962" cy="4534561"/>
          </a:xfrm>
          <a:prstGeom prst="rect">
            <a:avLst/>
          </a:prstGeom>
        </p:spPr>
      </p:pic>
      <p:pic>
        <p:nvPicPr>
          <p:cNvPr id="7" name="Picture 6">
            <a:extLst>
              <a:ext uri="{FF2B5EF4-FFF2-40B4-BE49-F238E27FC236}">
                <a16:creationId xmlns:a16="http://schemas.microsoft.com/office/drawing/2014/main" id="{A89F7BBE-A218-40A0-B3BE-80E5D1990A59}"/>
              </a:ext>
            </a:extLst>
          </p:cNvPr>
          <p:cNvPicPr>
            <a:picLocks noChangeAspect="1"/>
          </p:cNvPicPr>
          <p:nvPr/>
        </p:nvPicPr>
        <p:blipFill>
          <a:blip r:embed="rId4"/>
          <a:stretch>
            <a:fillRect/>
          </a:stretch>
        </p:blipFill>
        <p:spPr>
          <a:xfrm>
            <a:off x="1141410" y="3559969"/>
            <a:ext cx="4156364" cy="3351434"/>
          </a:xfrm>
          <a:prstGeom prst="rect">
            <a:avLst/>
          </a:prstGeom>
        </p:spPr>
      </p:pic>
    </p:spTree>
    <p:extLst>
      <p:ext uri="{BB962C8B-B14F-4D97-AF65-F5344CB8AC3E}">
        <p14:creationId xmlns:p14="http://schemas.microsoft.com/office/powerpoint/2010/main" val="2330715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F2409-9540-4178-919C-8E21A31D2A10}"/>
              </a:ext>
            </a:extLst>
          </p:cNvPr>
          <p:cNvSpPr>
            <a:spLocks noGrp="1"/>
          </p:cNvSpPr>
          <p:nvPr>
            <p:ph type="title"/>
          </p:nvPr>
        </p:nvSpPr>
        <p:spPr/>
        <p:txBody>
          <a:bodyPr/>
          <a:lstStyle/>
          <a:p>
            <a:pPr algn="ctr"/>
            <a:r>
              <a:rPr lang="en-US" dirty="0">
                <a:solidFill>
                  <a:schemeClr val="bg1"/>
                </a:solidFill>
              </a:rPr>
              <a:t>Equilibrium balances electrostatic and diffusion forces.</a:t>
            </a:r>
          </a:p>
        </p:txBody>
      </p:sp>
      <p:sp>
        <p:nvSpPr>
          <p:cNvPr id="3" name="Content Placeholder 2">
            <a:extLst>
              <a:ext uri="{FF2B5EF4-FFF2-40B4-BE49-F238E27FC236}">
                <a16:creationId xmlns:a16="http://schemas.microsoft.com/office/drawing/2014/main" id="{06B5E8C2-DD71-4497-A59A-A1458CD1F31C}"/>
              </a:ext>
            </a:extLst>
          </p:cNvPr>
          <p:cNvSpPr>
            <a:spLocks noGrp="1"/>
          </p:cNvSpPr>
          <p:nvPr>
            <p:ph idx="1"/>
          </p:nvPr>
        </p:nvSpPr>
        <p:spPr>
          <a:xfrm>
            <a:off x="1141412" y="2045751"/>
            <a:ext cx="9905999" cy="1009102"/>
          </a:xfrm>
        </p:spPr>
        <p:txBody>
          <a:bodyPr>
            <a:noAutofit/>
          </a:bodyPr>
          <a:lstStyle/>
          <a:p>
            <a:r>
              <a:rPr lang="en-US" sz="2800" b="1" dirty="0">
                <a:solidFill>
                  <a:schemeClr val="bg1"/>
                </a:solidFill>
              </a:rPr>
              <a:t>Equilibrium:</a:t>
            </a:r>
            <a:r>
              <a:rPr lang="en-US" sz="2800" dirty="0">
                <a:solidFill>
                  <a:schemeClr val="bg1"/>
                </a:solidFill>
              </a:rPr>
              <a:t> the point at which electrostatic pressure and diffusion driving ion movement are equal.</a:t>
            </a:r>
          </a:p>
        </p:txBody>
      </p:sp>
      <p:pic>
        <p:nvPicPr>
          <p:cNvPr id="4" name="Picture 3">
            <a:extLst>
              <a:ext uri="{FF2B5EF4-FFF2-40B4-BE49-F238E27FC236}">
                <a16:creationId xmlns:a16="http://schemas.microsoft.com/office/drawing/2014/main" id="{B6BD91F9-CFBF-4067-85CA-A89FFFE54704}"/>
              </a:ext>
            </a:extLst>
          </p:cNvPr>
          <p:cNvPicPr>
            <a:picLocks noChangeAspect="1"/>
          </p:cNvPicPr>
          <p:nvPr/>
        </p:nvPicPr>
        <p:blipFill rotWithShape="1">
          <a:blip r:embed="rId3"/>
          <a:srcRect t="60071"/>
          <a:stretch/>
        </p:blipFill>
        <p:spPr>
          <a:xfrm>
            <a:off x="3550498" y="3168950"/>
            <a:ext cx="5360745" cy="3689050"/>
          </a:xfrm>
          <a:prstGeom prst="rect">
            <a:avLst/>
          </a:prstGeom>
        </p:spPr>
      </p:pic>
    </p:spTree>
    <p:extLst>
      <p:ext uri="{BB962C8B-B14F-4D97-AF65-F5344CB8AC3E}">
        <p14:creationId xmlns:p14="http://schemas.microsoft.com/office/powerpoint/2010/main" val="2203999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2F939-EBEB-4AB9-A837-3C16C67A24BE}"/>
              </a:ext>
            </a:extLst>
          </p:cNvPr>
          <p:cNvSpPr>
            <a:spLocks noGrp="1"/>
          </p:cNvSpPr>
          <p:nvPr>
            <p:ph type="title"/>
          </p:nvPr>
        </p:nvSpPr>
        <p:spPr>
          <a:xfrm>
            <a:off x="1143001" y="667504"/>
            <a:ext cx="9905998" cy="1478570"/>
          </a:xfrm>
        </p:spPr>
        <p:txBody>
          <a:bodyPr>
            <a:normAutofit fontScale="90000"/>
          </a:bodyPr>
          <a:lstStyle/>
          <a:p>
            <a:pPr algn="ctr"/>
            <a:r>
              <a:rPr lang="en-US" dirty="0">
                <a:solidFill>
                  <a:schemeClr val="bg1"/>
                </a:solidFill>
              </a:rPr>
              <a:t>The Nernst equation allows us to calculate the equilibrium potential for a specific ion</a:t>
            </a:r>
          </a:p>
        </p:txBody>
      </p:sp>
      <p:pic>
        <p:nvPicPr>
          <p:cNvPr id="4" name="Picture 3">
            <a:extLst>
              <a:ext uri="{FF2B5EF4-FFF2-40B4-BE49-F238E27FC236}">
                <a16:creationId xmlns:a16="http://schemas.microsoft.com/office/drawing/2014/main" id="{8FAFC46A-C74D-453E-AE7F-1B98467E3F48}"/>
              </a:ext>
            </a:extLst>
          </p:cNvPr>
          <p:cNvPicPr>
            <a:picLocks noChangeAspect="1"/>
          </p:cNvPicPr>
          <p:nvPr/>
        </p:nvPicPr>
        <p:blipFill rotWithShape="1">
          <a:blip r:embed="rId3"/>
          <a:srcRect l="9362" t="39510" r="19409" b="42057"/>
          <a:stretch/>
        </p:blipFill>
        <p:spPr>
          <a:xfrm>
            <a:off x="1" y="2793076"/>
            <a:ext cx="12192000" cy="1773907"/>
          </a:xfrm>
          <a:prstGeom prst="rect">
            <a:avLst/>
          </a:prstGeom>
        </p:spPr>
      </p:pic>
    </p:spTree>
    <p:extLst>
      <p:ext uri="{BB962C8B-B14F-4D97-AF65-F5344CB8AC3E}">
        <p14:creationId xmlns:p14="http://schemas.microsoft.com/office/powerpoint/2010/main" val="70812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C048E-0CD9-4329-82CC-92B9118A83AC}"/>
              </a:ext>
            </a:extLst>
          </p:cNvPr>
          <p:cNvSpPr>
            <a:spLocks noGrp="1"/>
          </p:cNvSpPr>
          <p:nvPr>
            <p:ph type="title"/>
          </p:nvPr>
        </p:nvSpPr>
        <p:spPr>
          <a:xfrm>
            <a:off x="1143001" y="634846"/>
            <a:ext cx="9905998" cy="1478570"/>
          </a:xfrm>
        </p:spPr>
        <p:txBody>
          <a:bodyPr>
            <a:normAutofit fontScale="90000"/>
          </a:bodyPr>
          <a:lstStyle/>
          <a:p>
            <a:pPr algn="ctr"/>
            <a:r>
              <a:rPr lang="en-US" dirty="0">
                <a:solidFill>
                  <a:schemeClr val="bg1"/>
                </a:solidFill>
              </a:rPr>
              <a:t>The Goldman equation allows us to calculate Equilibrium potential with multiple ions </a:t>
            </a:r>
          </a:p>
        </p:txBody>
      </p:sp>
      <p:pic>
        <p:nvPicPr>
          <p:cNvPr id="4" name="Picture 3">
            <a:extLst>
              <a:ext uri="{FF2B5EF4-FFF2-40B4-BE49-F238E27FC236}">
                <a16:creationId xmlns:a16="http://schemas.microsoft.com/office/drawing/2014/main" id="{FAF9DE3B-15AE-43D5-B935-633AC01E07EF}"/>
              </a:ext>
            </a:extLst>
          </p:cNvPr>
          <p:cNvPicPr>
            <a:picLocks noChangeAspect="1"/>
          </p:cNvPicPr>
          <p:nvPr/>
        </p:nvPicPr>
        <p:blipFill rotWithShape="1">
          <a:blip r:embed="rId3"/>
          <a:srcRect l="46499" t="6525" r="12592" b="85141"/>
          <a:stretch/>
        </p:blipFill>
        <p:spPr>
          <a:xfrm>
            <a:off x="119743" y="2744461"/>
            <a:ext cx="11952514" cy="1369078"/>
          </a:xfrm>
          <a:prstGeom prst="rect">
            <a:avLst/>
          </a:prstGeom>
        </p:spPr>
      </p:pic>
    </p:spTree>
    <p:extLst>
      <p:ext uri="{BB962C8B-B14F-4D97-AF65-F5344CB8AC3E}">
        <p14:creationId xmlns:p14="http://schemas.microsoft.com/office/powerpoint/2010/main" val="1330854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A737F-44C0-4460-BF2F-501DDD36299C}"/>
              </a:ext>
            </a:extLst>
          </p:cNvPr>
          <p:cNvSpPr>
            <a:spLocks noGrp="1"/>
          </p:cNvSpPr>
          <p:nvPr>
            <p:ph type="title"/>
          </p:nvPr>
        </p:nvSpPr>
        <p:spPr>
          <a:xfrm>
            <a:off x="1141413" y="618518"/>
            <a:ext cx="9905998" cy="744769"/>
          </a:xfrm>
        </p:spPr>
        <p:txBody>
          <a:bodyPr/>
          <a:lstStyle/>
          <a:p>
            <a:pPr algn="ctr"/>
            <a:r>
              <a:rPr lang="en-US" dirty="0">
                <a:solidFill>
                  <a:schemeClr val="bg1"/>
                </a:solidFill>
              </a:rPr>
              <a:t>Typical Concentrations of Ions at rest</a:t>
            </a:r>
          </a:p>
        </p:txBody>
      </p:sp>
      <p:pic>
        <p:nvPicPr>
          <p:cNvPr id="7" name="Picture 6">
            <a:extLst>
              <a:ext uri="{FF2B5EF4-FFF2-40B4-BE49-F238E27FC236}">
                <a16:creationId xmlns:a16="http://schemas.microsoft.com/office/drawing/2014/main" id="{D6EB3D3C-9456-4806-8F77-07FE5F88A651}"/>
              </a:ext>
            </a:extLst>
          </p:cNvPr>
          <p:cNvPicPr>
            <a:picLocks noChangeAspect="1"/>
          </p:cNvPicPr>
          <p:nvPr/>
        </p:nvPicPr>
        <p:blipFill>
          <a:blip r:embed="rId3"/>
          <a:stretch>
            <a:fillRect/>
          </a:stretch>
        </p:blipFill>
        <p:spPr>
          <a:xfrm>
            <a:off x="22668" y="2358394"/>
            <a:ext cx="12169332" cy="3056288"/>
          </a:xfrm>
          <a:prstGeom prst="rect">
            <a:avLst/>
          </a:prstGeom>
        </p:spPr>
      </p:pic>
    </p:spTree>
    <p:extLst>
      <p:ext uri="{BB962C8B-B14F-4D97-AF65-F5344CB8AC3E}">
        <p14:creationId xmlns:p14="http://schemas.microsoft.com/office/powerpoint/2010/main" val="2862290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CAF65-B97D-65A4-0CB8-2493F2CC9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B4B7F5-8076-5249-2DBF-5266226563D4}"/>
              </a:ext>
            </a:extLst>
          </p:cNvPr>
          <p:cNvSpPr>
            <a:spLocks noGrp="1"/>
          </p:cNvSpPr>
          <p:nvPr>
            <p:ph type="ctrTitle"/>
          </p:nvPr>
        </p:nvSpPr>
        <p:spPr>
          <a:xfrm>
            <a:off x="1320753" y="2623670"/>
            <a:ext cx="9550494" cy="1610659"/>
          </a:xfrm>
        </p:spPr>
        <p:txBody>
          <a:bodyPr/>
          <a:lstStyle/>
          <a:p>
            <a:pPr algn="ctr"/>
            <a:r>
              <a:rPr lang="en-US" dirty="0">
                <a:solidFill>
                  <a:schemeClr val="bg1"/>
                </a:solidFill>
              </a:rPr>
              <a:t>Part 2:</a:t>
            </a:r>
            <a:br>
              <a:rPr lang="en-US" dirty="0">
                <a:solidFill>
                  <a:schemeClr val="bg1"/>
                </a:solidFill>
              </a:rPr>
            </a:br>
            <a:r>
              <a:rPr lang="en-US" dirty="0">
                <a:solidFill>
                  <a:schemeClr val="bg1"/>
                </a:solidFill>
              </a:rPr>
              <a:t>The action potential</a:t>
            </a:r>
          </a:p>
        </p:txBody>
      </p:sp>
    </p:spTree>
    <p:extLst>
      <p:ext uri="{BB962C8B-B14F-4D97-AF65-F5344CB8AC3E}">
        <p14:creationId xmlns:p14="http://schemas.microsoft.com/office/powerpoint/2010/main" val="2809706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A5170-C14A-425B-A0A3-C0543451D1A1}"/>
              </a:ext>
            </a:extLst>
          </p:cNvPr>
          <p:cNvSpPr>
            <a:spLocks noGrp="1"/>
          </p:cNvSpPr>
          <p:nvPr>
            <p:ph type="title"/>
          </p:nvPr>
        </p:nvSpPr>
        <p:spPr>
          <a:xfrm>
            <a:off x="1143001" y="568960"/>
            <a:ext cx="9905998" cy="825271"/>
          </a:xfrm>
        </p:spPr>
        <p:txBody>
          <a:bodyPr/>
          <a:lstStyle/>
          <a:p>
            <a:pPr algn="ctr"/>
            <a:r>
              <a:rPr lang="en-US" dirty="0">
                <a:solidFill>
                  <a:schemeClr val="bg1"/>
                </a:solidFill>
              </a:rPr>
              <a:t>The action potential</a:t>
            </a:r>
          </a:p>
        </p:txBody>
      </p:sp>
      <p:sp>
        <p:nvSpPr>
          <p:cNvPr id="3" name="Content Placeholder 2">
            <a:extLst>
              <a:ext uri="{FF2B5EF4-FFF2-40B4-BE49-F238E27FC236}">
                <a16:creationId xmlns:a16="http://schemas.microsoft.com/office/drawing/2014/main" id="{FB5E8986-E32C-4E63-86E7-A5445A29225B}"/>
              </a:ext>
            </a:extLst>
          </p:cNvPr>
          <p:cNvSpPr>
            <a:spLocks noGrp="1"/>
          </p:cNvSpPr>
          <p:nvPr>
            <p:ph idx="1"/>
          </p:nvPr>
        </p:nvSpPr>
        <p:spPr>
          <a:xfrm>
            <a:off x="787728" y="1926985"/>
            <a:ext cx="3751616" cy="4697507"/>
          </a:xfrm>
        </p:spPr>
        <p:txBody>
          <a:bodyPr>
            <a:normAutofit/>
          </a:bodyPr>
          <a:lstStyle/>
          <a:p>
            <a:r>
              <a:rPr lang="en-US" sz="2800" dirty="0">
                <a:solidFill>
                  <a:schemeClr val="bg1"/>
                </a:solidFill>
              </a:rPr>
              <a:t>The spike in voltage that passes through the axon of a neuron to convey information</a:t>
            </a:r>
          </a:p>
          <a:p>
            <a:pPr marL="0" indent="0">
              <a:buNone/>
            </a:pPr>
            <a:endParaRPr lang="en-US" dirty="0"/>
          </a:p>
        </p:txBody>
      </p:sp>
      <p:pic>
        <p:nvPicPr>
          <p:cNvPr id="4" name="Picture 2" descr="Part of an infographic titled, Communication Within Neurons. &#10;This is an illustration of The Action Potential. A graph shows the characteristic electrical trace of the action potential of the neuron, plotting a bell curve. Three split sections of the neuron are shown below the graph. When the neuron is stimulated, positive ions enter the cell, making the axon less negative (A). When the charge reaches threshold, an action potential is triggered. Positive ions flood the cell, quickly reversing the charge from negative to positive (B). Afterward, the cell is restored to resting potential (C).&#10;">
            <a:extLst>
              <a:ext uri="{FF2B5EF4-FFF2-40B4-BE49-F238E27FC236}">
                <a16:creationId xmlns:a16="http://schemas.microsoft.com/office/drawing/2014/main" id="{156BA685-CBCE-4043-B7D7-4FDB249FF20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4443" t="25200" r="8624" b="62724"/>
          <a:stretch/>
        </p:blipFill>
        <p:spPr bwMode="auto">
          <a:xfrm>
            <a:off x="4539344" y="1926985"/>
            <a:ext cx="6898973" cy="4130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330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16E45-838D-4ADE-85C0-3D263AA50B85}"/>
              </a:ext>
            </a:extLst>
          </p:cNvPr>
          <p:cNvSpPr>
            <a:spLocks noGrp="1"/>
          </p:cNvSpPr>
          <p:nvPr>
            <p:ph type="title"/>
          </p:nvPr>
        </p:nvSpPr>
        <p:spPr>
          <a:xfrm>
            <a:off x="1143001" y="233508"/>
            <a:ext cx="9905998" cy="1478570"/>
          </a:xfrm>
        </p:spPr>
        <p:txBody>
          <a:bodyPr>
            <a:normAutofit/>
          </a:bodyPr>
          <a:lstStyle/>
          <a:p>
            <a:pPr algn="ctr"/>
            <a:r>
              <a:rPr lang="en-US" dirty="0">
                <a:solidFill>
                  <a:schemeClr val="bg1"/>
                </a:solidFill>
              </a:rPr>
              <a:t>Depolarization to the threshold of activation Triggers an action potential!</a:t>
            </a:r>
          </a:p>
        </p:txBody>
      </p:sp>
      <p:sp>
        <p:nvSpPr>
          <p:cNvPr id="5" name="Content Placeholder 2">
            <a:extLst>
              <a:ext uri="{FF2B5EF4-FFF2-40B4-BE49-F238E27FC236}">
                <a16:creationId xmlns:a16="http://schemas.microsoft.com/office/drawing/2014/main" id="{76746A58-DBE4-4D0D-83A8-7827088594C1}"/>
              </a:ext>
            </a:extLst>
          </p:cNvPr>
          <p:cNvSpPr>
            <a:spLocks noGrp="1"/>
          </p:cNvSpPr>
          <p:nvPr>
            <p:ph idx="1"/>
          </p:nvPr>
        </p:nvSpPr>
        <p:spPr>
          <a:xfrm>
            <a:off x="787728" y="1926985"/>
            <a:ext cx="5106886" cy="4931015"/>
          </a:xfrm>
        </p:spPr>
        <p:txBody>
          <a:bodyPr>
            <a:normAutofit/>
          </a:bodyPr>
          <a:lstStyle/>
          <a:p>
            <a:r>
              <a:rPr lang="en-US" b="1" dirty="0">
                <a:solidFill>
                  <a:schemeClr val="bg1"/>
                </a:solidFill>
              </a:rPr>
              <a:t>Depolarization:</a:t>
            </a:r>
            <a:r>
              <a:rPr lang="en-US" dirty="0">
                <a:solidFill>
                  <a:schemeClr val="bg1"/>
                </a:solidFill>
              </a:rPr>
              <a:t> when the interior part of a neuron becomes less negative.</a:t>
            </a:r>
          </a:p>
          <a:p>
            <a:r>
              <a:rPr lang="en-US" b="1" dirty="0">
                <a:solidFill>
                  <a:schemeClr val="bg1"/>
                </a:solidFill>
              </a:rPr>
              <a:t>Threshold of activation </a:t>
            </a:r>
            <a:r>
              <a:rPr lang="en-US" dirty="0">
                <a:solidFill>
                  <a:schemeClr val="bg1"/>
                </a:solidFill>
              </a:rPr>
              <a:t>varies, but is around -40 mV</a:t>
            </a:r>
          </a:p>
          <a:p>
            <a:r>
              <a:rPr lang="en-US" dirty="0">
                <a:solidFill>
                  <a:schemeClr val="bg1"/>
                </a:solidFill>
              </a:rPr>
              <a:t>When the threshold of activation is reached, </a:t>
            </a:r>
            <a:r>
              <a:rPr lang="en-US" b="1" dirty="0">
                <a:solidFill>
                  <a:schemeClr val="bg1"/>
                </a:solidFill>
              </a:rPr>
              <a:t>voltage gated sodium channels</a:t>
            </a:r>
            <a:r>
              <a:rPr lang="en-US" dirty="0">
                <a:solidFill>
                  <a:schemeClr val="bg1"/>
                </a:solidFill>
              </a:rPr>
              <a:t> open and sodium rushes inside the cell.</a:t>
            </a:r>
          </a:p>
          <a:p>
            <a:r>
              <a:rPr lang="en-US" dirty="0">
                <a:solidFill>
                  <a:schemeClr val="bg1"/>
                </a:solidFill>
              </a:rPr>
              <a:t>When an action potential is triggered, it is all or none.</a:t>
            </a:r>
          </a:p>
          <a:p>
            <a:endParaRPr lang="en-US" sz="2800" dirty="0">
              <a:solidFill>
                <a:schemeClr val="bg1"/>
              </a:solidFill>
            </a:endParaRPr>
          </a:p>
          <a:p>
            <a:pPr marL="0" indent="0">
              <a:buNone/>
            </a:pPr>
            <a:endParaRPr lang="en-US" dirty="0"/>
          </a:p>
        </p:txBody>
      </p:sp>
      <p:pic>
        <p:nvPicPr>
          <p:cNvPr id="9" name="Picture 8">
            <a:extLst>
              <a:ext uri="{FF2B5EF4-FFF2-40B4-BE49-F238E27FC236}">
                <a16:creationId xmlns:a16="http://schemas.microsoft.com/office/drawing/2014/main" id="{81BBE398-0F04-48EE-B546-6263EF894F31}"/>
              </a:ext>
            </a:extLst>
          </p:cNvPr>
          <p:cNvPicPr>
            <a:picLocks noChangeAspect="1"/>
          </p:cNvPicPr>
          <p:nvPr/>
        </p:nvPicPr>
        <p:blipFill>
          <a:blip r:embed="rId3"/>
          <a:stretch>
            <a:fillRect/>
          </a:stretch>
        </p:blipFill>
        <p:spPr>
          <a:xfrm>
            <a:off x="6127540" y="1971577"/>
            <a:ext cx="6064460" cy="4049272"/>
          </a:xfrm>
          <a:prstGeom prst="rect">
            <a:avLst/>
          </a:prstGeom>
        </p:spPr>
      </p:pic>
      <p:sp>
        <p:nvSpPr>
          <p:cNvPr id="8" name="Frame 7">
            <a:extLst>
              <a:ext uri="{FF2B5EF4-FFF2-40B4-BE49-F238E27FC236}">
                <a16:creationId xmlns:a16="http://schemas.microsoft.com/office/drawing/2014/main" id="{F7CB4152-2B3F-4A63-BBE6-51F8B3110B87}"/>
              </a:ext>
            </a:extLst>
          </p:cNvPr>
          <p:cNvSpPr/>
          <p:nvPr/>
        </p:nvSpPr>
        <p:spPr>
          <a:xfrm>
            <a:off x="6127540" y="1971577"/>
            <a:ext cx="2623793" cy="4049272"/>
          </a:xfrm>
          <a:prstGeom prst="frame">
            <a:avLst>
              <a:gd name="adj1" fmla="val 176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AFDF3B8D-D20D-DE3E-2CDD-38A5C9664A83}"/>
              </a:ext>
            </a:extLst>
          </p:cNvPr>
          <p:cNvSpPr txBox="1"/>
          <p:nvPr/>
        </p:nvSpPr>
        <p:spPr>
          <a:xfrm>
            <a:off x="8685237" y="6162827"/>
            <a:ext cx="1257300" cy="461665"/>
          </a:xfrm>
          <a:prstGeom prst="rect">
            <a:avLst/>
          </a:prstGeom>
          <a:noFill/>
        </p:spPr>
        <p:txBody>
          <a:bodyPr wrap="square" rtlCol="0">
            <a:spAutoFit/>
          </a:bodyPr>
          <a:lstStyle/>
          <a:p>
            <a:pPr algn="ctr"/>
            <a:r>
              <a:rPr lang="en-US" sz="2400" b="1" dirty="0">
                <a:solidFill>
                  <a:schemeClr val="bg1"/>
                </a:solidFill>
              </a:rPr>
              <a:t>Time</a:t>
            </a:r>
          </a:p>
        </p:txBody>
      </p:sp>
    </p:spTree>
    <p:extLst>
      <p:ext uri="{BB962C8B-B14F-4D97-AF65-F5344CB8AC3E}">
        <p14:creationId xmlns:p14="http://schemas.microsoft.com/office/powerpoint/2010/main" val="44126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F7147-B9E2-4B30-9982-5ACB15F77A39}"/>
              </a:ext>
            </a:extLst>
          </p:cNvPr>
          <p:cNvSpPr>
            <a:spLocks noGrp="1"/>
          </p:cNvSpPr>
          <p:nvPr>
            <p:ph type="title"/>
          </p:nvPr>
        </p:nvSpPr>
        <p:spPr>
          <a:xfrm>
            <a:off x="1141412" y="516295"/>
            <a:ext cx="9905998" cy="1478570"/>
          </a:xfrm>
        </p:spPr>
        <p:txBody>
          <a:bodyPr/>
          <a:lstStyle/>
          <a:p>
            <a:pPr algn="ctr"/>
            <a:r>
              <a:rPr lang="en-US" dirty="0">
                <a:solidFill>
                  <a:schemeClr val="bg1"/>
                </a:solidFill>
              </a:rPr>
              <a:t>Potassium moving outside the cell brings the membrane potential back down</a:t>
            </a:r>
          </a:p>
        </p:txBody>
      </p:sp>
      <p:sp>
        <p:nvSpPr>
          <p:cNvPr id="3" name="Content Placeholder 2">
            <a:extLst>
              <a:ext uri="{FF2B5EF4-FFF2-40B4-BE49-F238E27FC236}">
                <a16:creationId xmlns:a16="http://schemas.microsoft.com/office/drawing/2014/main" id="{D50A2786-1285-4C10-B09F-710038FE93A3}"/>
              </a:ext>
            </a:extLst>
          </p:cNvPr>
          <p:cNvSpPr>
            <a:spLocks noGrp="1"/>
          </p:cNvSpPr>
          <p:nvPr>
            <p:ph idx="1"/>
          </p:nvPr>
        </p:nvSpPr>
        <p:spPr>
          <a:xfrm>
            <a:off x="1141412" y="2249486"/>
            <a:ext cx="6128308" cy="4608513"/>
          </a:xfrm>
        </p:spPr>
        <p:txBody>
          <a:bodyPr>
            <a:normAutofit/>
          </a:bodyPr>
          <a:lstStyle/>
          <a:p>
            <a:r>
              <a:rPr lang="en-US" sz="2800" b="1" dirty="0">
                <a:solidFill>
                  <a:schemeClr val="bg1"/>
                </a:solidFill>
              </a:rPr>
              <a:t>Hyperpolarization: </a:t>
            </a:r>
            <a:r>
              <a:rPr lang="en-US" sz="2800" dirty="0">
                <a:solidFill>
                  <a:schemeClr val="bg1"/>
                </a:solidFill>
              </a:rPr>
              <a:t>interior of the neuron becomes more negative.</a:t>
            </a:r>
          </a:p>
          <a:p>
            <a:r>
              <a:rPr lang="en-US" sz="2800" b="1" dirty="0">
                <a:solidFill>
                  <a:schemeClr val="bg1"/>
                </a:solidFill>
              </a:rPr>
              <a:t>Voltage gated potassium channels</a:t>
            </a:r>
            <a:r>
              <a:rPr lang="en-US" sz="2800" dirty="0">
                <a:solidFill>
                  <a:schemeClr val="bg1"/>
                </a:solidFill>
              </a:rPr>
              <a:t> open allowing potassium to move outside the cell.</a:t>
            </a:r>
          </a:p>
          <a:p>
            <a:r>
              <a:rPr lang="en-US" sz="2800" b="1" dirty="0">
                <a:solidFill>
                  <a:schemeClr val="bg1"/>
                </a:solidFill>
              </a:rPr>
              <a:t>Refractory periods </a:t>
            </a:r>
            <a:r>
              <a:rPr lang="en-US" sz="2800" dirty="0">
                <a:solidFill>
                  <a:schemeClr val="bg1"/>
                </a:solidFill>
              </a:rPr>
              <a:t>keep the segment of axon from firing another action potential</a:t>
            </a:r>
          </a:p>
        </p:txBody>
      </p:sp>
      <p:pic>
        <p:nvPicPr>
          <p:cNvPr id="10" name="Picture 3" descr="biopsych4e-fig-03-06-0">
            <a:extLst>
              <a:ext uri="{FF2B5EF4-FFF2-40B4-BE49-F238E27FC236}">
                <a16:creationId xmlns:a16="http://schemas.microsoft.com/office/drawing/2014/main" id="{2286B5A1-EB7C-4E39-AED8-626DA84002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580" t="5848" r="22198" b="46725"/>
          <a:stretch/>
        </p:blipFill>
        <p:spPr>
          <a:xfrm>
            <a:off x="7269720" y="2325685"/>
            <a:ext cx="3777690" cy="2524787"/>
          </a:xfrm>
          <a:prstGeom prst="rect">
            <a:avLst/>
          </a:prstGeom>
          <a:noFill/>
        </p:spPr>
      </p:pic>
      <p:sp>
        <p:nvSpPr>
          <p:cNvPr id="9" name="Frame 8">
            <a:extLst>
              <a:ext uri="{FF2B5EF4-FFF2-40B4-BE49-F238E27FC236}">
                <a16:creationId xmlns:a16="http://schemas.microsoft.com/office/drawing/2014/main" id="{33958E47-4956-482E-ABDC-3E9DDEA535B1}"/>
              </a:ext>
            </a:extLst>
          </p:cNvPr>
          <p:cNvSpPr/>
          <p:nvPr/>
        </p:nvSpPr>
        <p:spPr>
          <a:xfrm>
            <a:off x="8784770" y="2325685"/>
            <a:ext cx="489859" cy="2537451"/>
          </a:xfrm>
          <a:prstGeom prst="frame">
            <a:avLst>
              <a:gd name="adj1" fmla="val 382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5" name="Group 14">
            <a:extLst>
              <a:ext uri="{FF2B5EF4-FFF2-40B4-BE49-F238E27FC236}">
                <a16:creationId xmlns:a16="http://schemas.microsoft.com/office/drawing/2014/main" id="{33DEFD9E-B7A8-428B-A8F1-6EB683EFDD11}"/>
              </a:ext>
            </a:extLst>
          </p:cNvPr>
          <p:cNvGrpSpPr/>
          <p:nvPr/>
        </p:nvGrpSpPr>
        <p:grpSpPr>
          <a:xfrm>
            <a:off x="7984671" y="5045169"/>
            <a:ext cx="2154861" cy="1478570"/>
            <a:chOff x="4704569" y="4757374"/>
            <a:chExt cx="2644720" cy="2100625"/>
          </a:xfrm>
        </p:grpSpPr>
        <p:pic>
          <p:nvPicPr>
            <p:cNvPr id="13" name="Picture 12">
              <a:extLst>
                <a:ext uri="{FF2B5EF4-FFF2-40B4-BE49-F238E27FC236}">
                  <a16:creationId xmlns:a16="http://schemas.microsoft.com/office/drawing/2014/main" id="{3E724E9F-F145-4D3E-88CB-A0B4F51D342E}"/>
                </a:ext>
              </a:extLst>
            </p:cNvPr>
            <p:cNvPicPr>
              <a:picLocks noChangeAspect="1"/>
            </p:cNvPicPr>
            <p:nvPr/>
          </p:nvPicPr>
          <p:blipFill rotWithShape="1">
            <a:blip r:embed="rId4"/>
            <a:srcRect l="77222" t="18997" r="5556" b="57555"/>
            <a:stretch/>
          </p:blipFill>
          <p:spPr>
            <a:xfrm>
              <a:off x="4704569" y="4833574"/>
              <a:ext cx="2644720" cy="2024425"/>
            </a:xfrm>
            <a:prstGeom prst="rect">
              <a:avLst/>
            </a:prstGeom>
          </p:spPr>
        </p:pic>
        <p:sp>
          <p:nvSpPr>
            <p:cNvPr id="14" name="Content Placeholder 2">
              <a:extLst>
                <a:ext uri="{FF2B5EF4-FFF2-40B4-BE49-F238E27FC236}">
                  <a16:creationId xmlns:a16="http://schemas.microsoft.com/office/drawing/2014/main" id="{C00BC4D3-3E9A-44C8-AAFF-8C81247C73F3}"/>
                </a:ext>
              </a:extLst>
            </p:cNvPr>
            <p:cNvSpPr txBox="1">
              <a:spLocks/>
            </p:cNvSpPr>
            <p:nvPr/>
          </p:nvSpPr>
          <p:spPr>
            <a:xfrm>
              <a:off x="4848523" y="4757374"/>
              <a:ext cx="2356812" cy="73810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lnSpc>
                  <a:spcPct val="100000"/>
                </a:lnSpc>
                <a:buNone/>
              </a:pPr>
              <a:r>
                <a:rPr lang="en-US" sz="1800" b="1" dirty="0"/>
                <a:t>Potassium when sodium shows up</a:t>
              </a:r>
              <a:endParaRPr lang="en-US" sz="1800" dirty="0"/>
            </a:p>
          </p:txBody>
        </p:sp>
      </p:grpSp>
    </p:spTree>
    <p:extLst>
      <p:ext uri="{BB962C8B-B14F-4D97-AF65-F5344CB8AC3E}">
        <p14:creationId xmlns:p14="http://schemas.microsoft.com/office/powerpoint/2010/main" val="307980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D8BD2-BF4D-4CE8-B7DA-068F10519AB3}"/>
              </a:ext>
            </a:extLst>
          </p:cNvPr>
          <p:cNvSpPr>
            <a:spLocks noGrp="1"/>
          </p:cNvSpPr>
          <p:nvPr>
            <p:ph type="title"/>
          </p:nvPr>
        </p:nvSpPr>
        <p:spPr>
          <a:xfrm>
            <a:off x="1141412" y="22823"/>
            <a:ext cx="9905998" cy="1478570"/>
          </a:xfrm>
        </p:spPr>
        <p:txBody>
          <a:bodyPr/>
          <a:lstStyle/>
          <a:p>
            <a:pPr algn="ctr"/>
            <a:r>
              <a:rPr lang="en-US" dirty="0">
                <a:solidFill>
                  <a:schemeClr val="bg1"/>
                </a:solidFill>
              </a:rPr>
              <a:t>The sodium potassium pump helps reestablish the resting membrane potential</a:t>
            </a:r>
          </a:p>
        </p:txBody>
      </p:sp>
      <p:sp>
        <p:nvSpPr>
          <p:cNvPr id="3" name="Content Placeholder 2">
            <a:extLst>
              <a:ext uri="{FF2B5EF4-FFF2-40B4-BE49-F238E27FC236}">
                <a16:creationId xmlns:a16="http://schemas.microsoft.com/office/drawing/2014/main" id="{35EA1129-5046-478F-AB1D-4B56A6F65241}"/>
              </a:ext>
            </a:extLst>
          </p:cNvPr>
          <p:cNvSpPr>
            <a:spLocks noGrp="1"/>
          </p:cNvSpPr>
          <p:nvPr>
            <p:ph idx="1"/>
          </p:nvPr>
        </p:nvSpPr>
        <p:spPr>
          <a:xfrm>
            <a:off x="1141412" y="1501392"/>
            <a:ext cx="9905999" cy="1655785"/>
          </a:xfrm>
        </p:spPr>
        <p:txBody>
          <a:bodyPr>
            <a:noAutofit/>
          </a:bodyPr>
          <a:lstStyle/>
          <a:p>
            <a:r>
              <a:rPr lang="en-US" sz="2800" b="1" dirty="0">
                <a:solidFill>
                  <a:schemeClr val="bg1"/>
                </a:solidFill>
              </a:rPr>
              <a:t>Sodium potassium pump: </a:t>
            </a:r>
            <a:r>
              <a:rPr lang="en-US" sz="2800" dirty="0">
                <a:solidFill>
                  <a:schemeClr val="bg1"/>
                </a:solidFill>
              </a:rPr>
              <a:t>a membrane bound protein that exchanges 2 extracellular potassium ions for 3 intracellular sodium ions.</a:t>
            </a:r>
          </a:p>
        </p:txBody>
      </p:sp>
      <p:pic>
        <p:nvPicPr>
          <p:cNvPr id="4" name="Picture 3">
            <a:extLst>
              <a:ext uri="{FF2B5EF4-FFF2-40B4-BE49-F238E27FC236}">
                <a16:creationId xmlns:a16="http://schemas.microsoft.com/office/drawing/2014/main" id="{BEAA305C-1C4F-4E76-98DF-434C308DF99C}"/>
              </a:ext>
            </a:extLst>
          </p:cNvPr>
          <p:cNvPicPr>
            <a:picLocks noChangeAspect="1"/>
          </p:cNvPicPr>
          <p:nvPr/>
        </p:nvPicPr>
        <p:blipFill>
          <a:blip r:embed="rId3"/>
          <a:stretch>
            <a:fillRect/>
          </a:stretch>
        </p:blipFill>
        <p:spPr>
          <a:xfrm>
            <a:off x="1141412" y="3275215"/>
            <a:ext cx="4009275" cy="3139338"/>
          </a:xfrm>
          <a:prstGeom prst="rect">
            <a:avLst/>
          </a:prstGeom>
        </p:spPr>
      </p:pic>
      <p:pic>
        <p:nvPicPr>
          <p:cNvPr id="5" name="Picture 4">
            <a:extLst>
              <a:ext uri="{FF2B5EF4-FFF2-40B4-BE49-F238E27FC236}">
                <a16:creationId xmlns:a16="http://schemas.microsoft.com/office/drawing/2014/main" id="{3CF78076-BA75-4BDA-961F-90E6B4C7DEBC}"/>
              </a:ext>
            </a:extLst>
          </p:cNvPr>
          <p:cNvPicPr>
            <a:picLocks noChangeAspect="1"/>
          </p:cNvPicPr>
          <p:nvPr/>
        </p:nvPicPr>
        <p:blipFill>
          <a:blip r:embed="rId4"/>
          <a:stretch>
            <a:fillRect/>
          </a:stretch>
        </p:blipFill>
        <p:spPr>
          <a:xfrm>
            <a:off x="1141412" y="6414553"/>
            <a:ext cx="1847248" cy="377985"/>
          </a:xfrm>
          <a:prstGeom prst="rect">
            <a:avLst/>
          </a:prstGeom>
        </p:spPr>
      </p:pic>
      <p:pic>
        <p:nvPicPr>
          <p:cNvPr id="6" name="Picture 5">
            <a:extLst>
              <a:ext uri="{FF2B5EF4-FFF2-40B4-BE49-F238E27FC236}">
                <a16:creationId xmlns:a16="http://schemas.microsoft.com/office/drawing/2014/main" id="{1226AF42-A462-4EA6-9BD8-9320564E956E}"/>
              </a:ext>
            </a:extLst>
          </p:cNvPr>
          <p:cNvPicPr>
            <a:picLocks noChangeAspect="1"/>
          </p:cNvPicPr>
          <p:nvPr/>
        </p:nvPicPr>
        <p:blipFill>
          <a:blip r:embed="rId5"/>
          <a:stretch>
            <a:fillRect/>
          </a:stretch>
        </p:blipFill>
        <p:spPr>
          <a:xfrm>
            <a:off x="5520610" y="3275215"/>
            <a:ext cx="5008118" cy="3343946"/>
          </a:xfrm>
          <a:prstGeom prst="rect">
            <a:avLst/>
          </a:prstGeom>
        </p:spPr>
      </p:pic>
      <p:sp>
        <p:nvSpPr>
          <p:cNvPr id="7" name="Frame 6">
            <a:extLst>
              <a:ext uri="{FF2B5EF4-FFF2-40B4-BE49-F238E27FC236}">
                <a16:creationId xmlns:a16="http://schemas.microsoft.com/office/drawing/2014/main" id="{82B0F5C6-5DD0-4BD0-8D1E-BE3D68A82E36}"/>
              </a:ext>
            </a:extLst>
          </p:cNvPr>
          <p:cNvSpPr/>
          <p:nvPr/>
        </p:nvSpPr>
        <p:spPr>
          <a:xfrm>
            <a:off x="8345978" y="3427613"/>
            <a:ext cx="1257667" cy="3073511"/>
          </a:xfrm>
          <a:prstGeom prst="frame">
            <a:avLst>
              <a:gd name="adj1" fmla="val 250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70418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1FD1320-5F65-44B5-9BB3-9F1889DB7A0B}"/>
              </a:ext>
            </a:extLst>
          </p:cNvPr>
          <p:cNvPicPr>
            <a:picLocks noChangeAspect="1"/>
          </p:cNvPicPr>
          <p:nvPr/>
        </p:nvPicPr>
        <p:blipFill>
          <a:blip r:embed="rId3"/>
          <a:stretch>
            <a:fillRect/>
          </a:stretch>
        </p:blipFill>
        <p:spPr>
          <a:xfrm>
            <a:off x="1596157" y="17366"/>
            <a:ext cx="8999686" cy="6840634"/>
          </a:xfrm>
          <a:prstGeom prst="rect">
            <a:avLst/>
          </a:prstGeom>
        </p:spPr>
      </p:pic>
    </p:spTree>
    <p:extLst>
      <p:ext uri="{BB962C8B-B14F-4D97-AF65-F5344CB8AC3E}">
        <p14:creationId xmlns:p14="http://schemas.microsoft.com/office/powerpoint/2010/main" val="27498529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w:document xmlns:w="http://schemas.openxmlformats.org/wordprocessingml/2006/main">
  <RequestId>cc78fb66-0e7f-43f8-9e2f-c06c4707cc61</RequestId>
  <RequestDate>7/26/2019 1:53:10 PM</RequestDate>
</w:document>
</file>

<file path=customXml/itemProps1.xml><?xml version="1.0" encoding="utf-8"?>
<ds:datastoreItem xmlns:ds="http://schemas.openxmlformats.org/officeDocument/2006/customXml" ds:itemID="{88828C38-7951-446B-9C20-6F7FA1998869}">
  <ds:schemaRefs>
    <ds:schemaRef ds:uri="http://schemas.openxmlformats.org/wordprocessingml/2006/main"/>
  </ds:schemaRefs>
</ds:datastoreItem>
</file>

<file path=docProps/app.xml><?xml version="1.0" encoding="utf-8"?>
<Properties xmlns="http://schemas.openxmlformats.org/officeDocument/2006/extended-properties" xmlns:vt="http://schemas.openxmlformats.org/officeDocument/2006/docPropsVTypes">
  <Template>Circuit</Template>
  <TotalTime>12196</TotalTime>
  <Words>531</Words>
  <Application>Microsoft Office PowerPoint</Application>
  <PresentationFormat>Widescreen</PresentationFormat>
  <Paragraphs>90</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Tw Cen MT</vt:lpstr>
      <vt:lpstr>Circuit</vt:lpstr>
      <vt:lpstr>Electrical signals of nerve cells</vt:lpstr>
      <vt:lpstr>Learning Objectives</vt:lpstr>
      <vt:lpstr>Part 1: The resting membrane potential</vt:lpstr>
      <vt:lpstr>PowerPoint Presentation</vt:lpstr>
      <vt:lpstr>How do neurons work?</vt:lpstr>
      <vt:lpstr>the cell membrane</vt:lpstr>
      <vt:lpstr>The cell membrane forms two compartments </vt:lpstr>
      <vt:lpstr>The Resting Membrane Potential</vt:lpstr>
      <vt:lpstr>Major Ion players In neural Communication</vt:lpstr>
      <vt:lpstr>Ion concentrations contribute to the net charge inside and outside the cell at rest</vt:lpstr>
      <vt:lpstr>forces that influence ion movement: Electrostatic pressure</vt:lpstr>
      <vt:lpstr>forces That influence ion movement: Diffusion</vt:lpstr>
      <vt:lpstr>Equilibrium balances electrostatic and diffusion forces.</vt:lpstr>
      <vt:lpstr>The Nernst equation allows us to calculate the equilibrium potential for a specific ion</vt:lpstr>
      <vt:lpstr>The Goldman equation allows us to calculate Equilibrium potential with multiple ions </vt:lpstr>
      <vt:lpstr>Typical Concentrations of Ions at rest</vt:lpstr>
      <vt:lpstr>Part 2: The action potential</vt:lpstr>
      <vt:lpstr>The action potential</vt:lpstr>
      <vt:lpstr>Depolarization to the threshold of activation Triggers an action potential!</vt:lpstr>
      <vt:lpstr>Potassium moving outside the cell brings the membrane potential back down</vt:lpstr>
      <vt:lpstr>The sodium potassium pump helps reestablish the resting membrane potential</vt:lpstr>
      <vt:lpstr>PowerPoint Presentation</vt:lpstr>
    </vt:vector>
  </TitlesOfParts>
  <Company>Franklin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and behavior</dc:title>
  <dc:creator>Flora, Kristin</dc:creator>
  <cp:lastModifiedBy>Phillips, Nicole</cp:lastModifiedBy>
  <cp:revision>431</cp:revision>
  <dcterms:created xsi:type="dcterms:W3CDTF">2018-11-08T16:26:32Z</dcterms:created>
  <dcterms:modified xsi:type="dcterms:W3CDTF">2025-11-07T03:26:39Z</dcterms:modified>
</cp:coreProperties>
</file>