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2"/>
  </p:sldMasterIdLst>
  <p:notesMasterIdLst>
    <p:notesMasterId r:id="rId20"/>
  </p:notesMasterIdLst>
  <p:sldIdLst>
    <p:sldId id="369" r:id="rId3"/>
    <p:sldId id="370" r:id="rId4"/>
    <p:sldId id="641" r:id="rId5"/>
    <p:sldId id="652" r:id="rId6"/>
    <p:sldId id="643" r:id="rId7"/>
    <p:sldId id="432" r:id="rId8"/>
    <p:sldId id="642" r:id="rId9"/>
    <p:sldId id="385" r:id="rId10"/>
    <p:sldId id="386" r:id="rId11"/>
    <p:sldId id="604" r:id="rId12"/>
    <p:sldId id="603" r:id="rId13"/>
    <p:sldId id="389" r:id="rId14"/>
    <p:sldId id="637" r:id="rId15"/>
    <p:sldId id="390" r:id="rId16"/>
    <p:sldId id="547" r:id="rId17"/>
    <p:sldId id="548" r:id="rId18"/>
    <p:sldId id="65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a, Kristin" initials="FK" lastIdx="2" clrIdx="0">
    <p:extLst>
      <p:ext uri="{19B8F6BF-5375-455C-9EA6-DF929625EA0E}">
        <p15:presenceInfo xmlns:p15="http://schemas.microsoft.com/office/powerpoint/2012/main" userId="S-1-5-21-2114926708-1884511829-1243820751-37399" providerId="AD"/>
      </p:ext>
    </p:extLst>
  </p:cmAuthor>
  <p:cmAuthor id="2" name="Bridget Leahy" initials="BL" lastIdx="2" clrIdx="1"/>
  <p:cmAuthor id="3" name="Deborah Licht" initials="DL" lastIdx="3" clrIdx="2">
    <p:extLst>
      <p:ext uri="{19B8F6BF-5375-455C-9EA6-DF929625EA0E}">
        <p15:presenceInfo xmlns:p15="http://schemas.microsoft.com/office/powerpoint/2012/main" userId="053266d661a4cdd3" providerId="Windows Live"/>
      </p:ext>
    </p:extLst>
  </p:cmAuthor>
  <p:cmAuthor id="4" name="Kimberly Welsh" initials="KW" lastIdx="5" clrIdx="3">
    <p:extLst>
      <p:ext uri="{19B8F6BF-5375-455C-9EA6-DF929625EA0E}">
        <p15:presenceInfo xmlns:p15="http://schemas.microsoft.com/office/powerpoint/2012/main" userId="425587efef6a84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A6"/>
    <a:srgbClr val="7A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74644" autoAdjust="0"/>
  </p:normalViewPr>
  <p:slideViewPr>
    <p:cSldViewPr snapToGrid="0">
      <p:cViewPr varScale="1">
        <p:scale>
          <a:sx n="47" d="100"/>
          <a:sy n="47" d="100"/>
        </p:scale>
        <p:origin x="1052" y="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3E1CCA-356F-4832-ACE6-4F0D6530EEBF}" type="doc">
      <dgm:prSet loTypeId="urn:microsoft.com/office/officeart/2005/8/layout/cycle2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FC12A0C2-7FCE-44A1-A694-F2EA3B40B3FF}">
      <dgm:prSet phldrT="[Text]"/>
      <dgm:spPr/>
      <dgm:t>
        <a:bodyPr/>
        <a:lstStyle/>
        <a:p>
          <a:r>
            <a:rPr lang="el-GR" dirty="0"/>
            <a:t>Δ</a:t>
          </a:r>
          <a:r>
            <a:rPr lang="en-US" dirty="0"/>
            <a:t> </a:t>
          </a:r>
          <a:r>
            <a:rPr lang="en-US" dirty="0" err="1"/>
            <a:t>V</a:t>
          </a:r>
          <a:r>
            <a:rPr lang="en-US" baseline="-25000" dirty="0" err="1"/>
            <a:t>m</a:t>
          </a:r>
          <a:endParaRPr lang="en-US" baseline="-25000" dirty="0"/>
        </a:p>
        <a:p>
          <a:r>
            <a:rPr lang="en-US" dirty="0"/>
            <a:t>depolarize</a:t>
          </a:r>
        </a:p>
      </dgm:t>
    </dgm:pt>
    <dgm:pt modelId="{2C20C361-2DE5-4334-9E15-EBCD6B93A144}" type="parTrans" cxnId="{2E562466-5F27-4757-8467-539602A2551C}">
      <dgm:prSet/>
      <dgm:spPr/>
      <dgm:t>
        <a:bodyPr/>
        <a:lstStyle/>
        <a:p>
          <a:endParaRPr lang="en-US"/>
        </a:p>
      </dgm:t>
    </dgm:pt>
    <dgm:pt modelId="{E68FB35C-E6B8-4A90-A4C2-80B372DBECB5}" type="sibTrans" cxnId="{2E562466-5F27-4757-8467-539602A2551C}">
      <dgm:prSet/>
      <dgm:spPr/>
      <dgm:t>
        <a:bodyPr/>
        <a:lstStyle/>
        <a:p>
          <a:endParaRPr lang="en-US"/>
        </a:p>
      </dgm:t>
    </dgm:pt>
    <dgm:pt modelId="{00ADDFFE-2EE1-4CA4-BFD1-0B50714A36B6}">
      <dgm:prSet phldrT="[Text]"/>
      <dgm:spPr/>
      <dgm:t>
        <a:bodyPr/>
        <a:lstStyle/>
        <a:p>
          <a:r>
            <a:rPr lang="el-GR" dirty="0"/>
            <a:t>Δ</a:t>
          </a:r>
          <a:r>
            <a:rPr lang="en-US" dirty="0"/>
            <a:t> P</a:t>
          </a:r>
          <a:r>
            <a:rPr lang="en-US" baseline="-25000" dirty="0"/>
            <a:t>m</a:t>
          </a:r>
          <a:r>
            <a:rPr lang="en-US" dirty="0"/>
            <a:t> (g</a:t>
          </a:r>
          <a:r>
            <a:rPr lang="en-US" baseline="-25000" dirty="0"/>
            <a:t>m</a:t>
          </a:r>
          <a:r>
            <a:rPr lang="en-US" dirty="0"/>
            <a:t>)</a:t>
          </a:r>
        </a:p>
        <a:p>
          <a:r>
            <a:rPr lang="en-US" dirty="0"/>
            <a:t>open channels</a:t>
          </a:r>
        </a:p>
      </dgm:t>
    </dgm:pt>
    <dgm:pt modelId="{82DDFB2C-C4D4-4C2B-8009-0BF11B07990B}" type="parTrans" cxnId="{E02D504E-5333-432B-8D8C-0FC1DEB2F763}">
      <dgm:prSet/>
      <dgm:spPr/>
      <dgm:t>
        <a:bodyPr/>
        <a:lstStyle/>
        <a:p>
          <a:endParaRPr lang="en-US"/>
        </a:p>
      </dgm:t>
    </dgm:pt>
    <dgm:pt modelId="{379FBFBF-310B-4C69-8ECC-BCCCEDD10720}" type="sibTrans" cxnId="{E02D504E-5333-432B-8D8C-0FC1DEB2F763}">
      <dgm:prSet/>
      <dgm:spPr/>
      <dgm:t>
        <a:bodyPr/>
        <a:lstStyle/>
        <a:p>
          <a:endParaRPr lang="en-US"/>
        </a:p>
      </dgm:t>
    </dgm:pt>
    <dgm:pt modelId="{10290DA0-CBC6-4805-9E49-B318103CE047}">
      <dgm:prSet phldrT="[Text]"/>
      <dgm:spPr/>
      <dgm:t>
        <a:bodyPr/>
        <a:lstStyle/>
        <a:p>
          <a:r>
            <a:rPr lang="el-GR" dirty="0"/>
            <a:t>Δ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baseline="-25000" dirty="0" err="1"/>
            <a:t>m</a:t>
          </a:r>
          <a:endParaRPr lang="en-US" baseline="0" dirty="0"/>
        </a:p>
        <a:p>
          <a:r>
            <a:rPr lang="en-US" baseline="0" dirty="0"/>
            <a:t>ions flow</a:t>
          </a:r>
          <a:endParaRPr lang="en-US" dirty="0"/>
        </a:p>
      </dgm:t>
    </dgm:pt>
    <dgm:pt modelId="{2A99FDEE-E82D-4680-904B-297F891ADB6E}" type="parTrans" cxnId="{1D56B2F8-3D36-4A81-8BC5-9DDB4076FBA9}">
      <dgm:prSet/>
      <dgm:spPr/>
      <dgm:t>
        <a:bodyPr/>
        <a:lstStyle/>
        <a:p>
          <a:endParaRPr lang="en-US"/>
        </a:p>
      </dgm:t>
    </dgm:pt>
    <dgm:pt modelId="{A3FD53DE-68E7-458B-835F-FB4A72A6FD8E}" type="sibTrans" cxnId="{1D56B2F8-3D36-4A81-8BC5-9DDB4076FBA9}">
      <dgm:prSet/>
      <dgm:spPr/>
      <dgm:t>
        <a:bodyPr/>
        <a:lstStyle/>
        <a:p>
          <a:endParaRPr lang="en-US"/>
        </a:p>
      </dgm:t>
    </dgm:pt>
    <dgm:pt modelId="{7419ABA5-7949-45B6-926B-B2AF4D07B86F}" type="pres">
      <dgm:prSet presAssocID="{613E1CCA-356F-4832-ACE6-4F0D6530EEBF}" presName="cycle" presStyleCnt="0">
        <dgm:presLayoutVars>
          <dgm:dir/>
          <dgm:resizeHandles val="exact"/>
        </dgm:presLayoutVars>
      </dgm:prSet>
      <dgm:spPr/>
    </dgm:pt>
    <dgm:pt modelId="{42A81DC5-7106-44C5-82AA-AC1772C8C9D7}" type="pres">
      <dgm:prSet presAssocID="{FC12A0C2-7FCE-44A1-A694-F2EA3B40B3FF}" presName="node" presStyleLbl="node1" presStyleIdx="0" presStyleCnt="3">
        <dgm:presLayoutVars>
          <dgm:bulletEnabled val="1"/>
        </dgm:presLayoutVars>
      </dgm:prSet>
      <dgm:spPr/>
    </dgm:pt>
    <dgm:pt modelId="{65917AA8-15ED-40BA-BB58-02E2A924D336}" type="pres">
      <dgm:prSet presAssocID="{E68FB35C-E6B8-4A90-A4C2-80B372DBECB5}" presName="sibTrans" presStyleLbl="sibTrans2D1" presStyleIdx="0" presStyleCnt="3"/>
      <dgm:spPr/>
    </dgm:pt>
    <dgm:pt modelId="{84F6ECD3-9DCC-4C09-B1E0-51CA5E6BA121}" type="pres">
      <dgm:prSet presAssocID="{E68FB35C-E6B8-4A90-A4C2-80B372DBECB5}" presName="connectorText" presStyleLbl="sibTrans2D1" presStyleIdx="0" presStyleCnt="3"/>
      <dgm:spPr/>
    </dgm:pt>
    <dgm:pt modelId="{1636EFC0-33C4-44A0-8DA5-4E4CAFA021A7}" type="pres">
      <dgm:prSet presAssocID="{00ADDFFE-2EE1-4CA4-BFD1-0B50714A36B6}" presName="node" presStyleLbl="node1" presStyleIdx="1" presStyleCnt="3">
        <dgm:presLayoutVars>
          <dgm:bulletEnabled val="1"/>
        </dgm:presLayoutVars>
      </dgm:prSet>
      <dgm:spPr/>
    </dgm:pt>
    <dgm:pt modelId="{81263035-F041-41BB-8824-EB77CDA81D68}" type="pres">
      <dgm:prSet presAssocID="{379FBFBF-310B-4C69-8ECC-BCCCEDD10720}" presName="sibTrans" presStyleLbl="sibTrans2D1" presStyleIdx="1" presStyleCnt="3"/>
      <dgm:spPr/>
    </dgm:pt>
    <dgm:pt modelId="{8D80761F-2F2C-4ECD-96B8-2F6D113F8EE0}" type="pres">
      <dgm:prSet presAssocID="{379FBFBF-310B-4C69-8ECC-BCCCEDD10720}" presName="connectorText" presStyleLbl="sibTrans2D1" presStyleIdx="1" presStyleCnt="3"/>
      <dgm:spPr/>
    </dgm:pt>
    <dgm:pt modelId="{C597B1CC-60A8-4C37-A895-1F8C9AC1D271}" type="pres">
      <dgm:prSet presAssocID="{10290DA0-CBC6-4805-9E49-B318103CE047}" presName="node" presStyleLbl="node1" presStyleIdx="2" presStyleCnt="3">
        <dgm:presLayoutVars>
          <dgm:bulletEnabled val="1"/>
        </dgm:presLayoutVars>
      </dgm:prSet>
      <dgm:spPr/>
    </dgm:pt>
    <dgm:pt modelId="{7A959040-1510-4316-A060-8F6B365DED4C}" type="pres">
      <dgm:prSet presAssocID="{A3FD53DE-68E7-458B-835F-FB4A72A6FD8E}" presName="sibTrans" presStyleLbl="sibTrans2D1" presStyleIdx="2" presStyleCnt="3"/>
      <dgm:spPr/>
    </dgm:pt>
    <dgm:pt modelId="{A0F7740F-8C66-4486-848F-014970E3EF10}" type="pres">
      <dgm:prSet presAssocID="{A3FD53DE-68E7-458B-835F-FB4A72A6FD8E}" presName="connectorText" presStyleLbl="sibTrans2D1" presStyleIdx="2" presStyleCnt="3"/>
      <dgm:spPr/>
    </dgm:pt>
  </dgm:ptLst>
  <dgm:cxnLst>
    <dgm:cxn modelId="{6FB01315-6CFD-420D-AE8B-A87D8607D219}" type="presOf" srcId="{379FBFBF-310B-4C69-8ECC-BCCCEDD10720}" destId="{8D80761F-2F2C-4ECD-96B8-2F6D113F8EE0}" srcOrd="1" destOrd="0" presId="urn:microsoft.com/office/officeart/2005/8/layout/cycle2"/>
    <dgm:cxn modelId="{E4C42065-4F9B-4F08-8595-841FFBB5B850}" type="presOf" srcId="{FC12A0C2-7FCE-44A1-A694-F2EA3B40B3FF}" destId="{42A81DC5-7106-44C5-82AA-AC1772C8C9D7}" srcOrd="0" destOrd="0" presId="urn:microsoft.com/office/officeart/2005/8/layout/cycle2"/>
    <dgm:cxn modelId="{2E562466-5F27-4757-8467-539602A2551C}" srcId="{613E1CCA-356F-4832-ACE6-4F0D6530EEBF}" destId="{FC12A0C2-7FCE-44A1-A694-F2EA3B40B3FF}" srcOrd="0" destOrd="0" parTransId="{2C20C361-2DE5-4334-9E15-EBCD6B93A144}" sibTransId="{E68FB35C-E6B8-4A90-A4C2-80B372DBECB5}"/>
    <dgm:cxn modelId="{E02D504E-5333-432B-8D8C-0FC1DEB2F763}" srcId="{613E1CCA-356F-4832-ACE6-4F0D6530EEBF}" destId="{00ADDFFE-2EE1-4CA4-BFD1-0B50714A36B6}" srcOrd="1" destOrd="0" parTransId="{82DDFB2C-C4D4-4C2B-8009-0BF11B07990B}" sibTransId="{379FBFBF-310B-4C69-8ECC-BCCCEDD10720}"/>
    <dgm:cxn modelId="{602D8081-C133-4923-BFBA-35A6F8FE7203}" type="presOf" srcId="{E68FB35C-E6B8-4A90-A4C2-80B372DBECB5}" destId="{84F6ECD3-9DCC-4C09-B1E0-51CA5E6BA121}" srcOrd="1" destOrd="0" presId="urn:microsoft.com/office/officeart/2005/8/layout/cycle2"/>
    <dgm:cxn modelId="{49117799-6895-4186-8057-E03305589EC6}" type="presOf" srcId="{10290DA0-CBC6-4805-9E49-B318103CE047}" destId="{C597B1CC-60A8-4C37-A895-1F8C9AC1D271}" srcOrd="0" destOrd="0" presId="urn:microsoft.com/office/officeart/2005/8/layout/cycle2"/>
    <dgm:cxn modelId="{975330A3-9BA2-4A0A-BD05-8E8970E1D19E}" type="presOf" srcId="{A3FD53DE-68E7-458B-835F-FB4A72A6FD8E}" destId="{A0F7740F-8C66-4486-848F-014970E3EF10}" srcOrd="1" destOrd="0" presId="urn:microsoft.com/office/officeart/2005/8/layout/cycle2"/>
    <dgm:cxn modelId="{41C45AAC-1758-4D35-9282-4DD7E1AC5F77}" type="presOf" srcId="{00ADDFFE-2EE1-4CA4-BFD1-0B50714A36B6}" destId="{1636EFC0-33C4-44A0-8DA5-4E4CAFA021A7}" srcOrd="0" destOrd="0" presId="urn:microsoft.com/office/officeart/2005/8/layout/cycle2"/>
    <dgm:cxn modelId="{BE26BCB9-C151-4AF3-947F-C01DDA215C24}" type="presOf" srcId="{E68FB35C-E6B8-4A90-A4C2-80B372DBECB5}" destId="{65917AA8-15ED-40BA-BB58-02E2A924D336}" srcOrd="0" destOrd="0" presId="urn:microsoft.com/office/officeart/2005/8/layout/cycle2"/>
    <dgm:cxn modelId="{D55719C9-707A-4035-B500-7A0645D908C6}" type="presOf" srcId="{379FBFBF-310B-4C69-8ECC-BCCCEDD10720}" destId="{81263035-F041-41BB-8824-EB77CDA81D68}" srcOrd="0" destOrd="0" presId="urn:microsoft.com/office/officeart/2005/8/layout/cycle2"/>
    <dgm:cxn modelId="{0C6B49CC-058D-49A5-B750-3787A1A7CFB7}" type="presOf" srcId="{A3FD53DE-68E7-458B-835F-FB4A72A6FD8E}" destId="{7A959040-1510-4316-A060-8F6B365DED4C}" srcOrd="0" destOrd="0" presId="urn:microsoft.com/office/officeart/2005/8/layout/cycle2"/>
    <dgm:cxn modelId="{029524E4-EC20-4A2B-BB1A-3C9135507B33}" type="presOf" srcId="{613E1CCA-356F-4832-ACE6-4F0D6530EEBF}" destId="{7419ABA5-7949-45B6-926B-B2AF4D07B86F}" srcOrd="0" destOrd="0" presId="urn:microsoft.com/office/officeart/2005/8/layout/cycle2"/>
    <dgm:cxn modelId="{1D56B2F8-3D36-4A81-8BC5-9DDB4076FBA9}" srcId="{613E1CCA-356F-4832-ACE6-4F0D6530EEBF}" destId="{10290DA0-CBC6-4805-9E49-B318103CE047}" srcOrd="2" destOrd="0" parTransId="{2A99FDEE-E82D-4680-904B-297F891ADB6E}" sibTransId="{A3FD53DE-68E7-458B-835F-FB4A72A6FD8E}"/>
    <dgm:cxn modelId="{CE85DFD4-E536-4694-A231-B0988564075D}" type="presParOf" srcId="{7419ABA5-7949-45B6-926B-B2AF4D07B86F}" destId="{42A81DC5-7106-44C5-82AA-AC1772C8C9D7}" srcOrd="0" destOrd="0" presId="urn:microsoft.com/office/officeart/2005/8/layout/cycle2"/>
    <dgm:cxn modelId="{0FC7DEF8-9D2B-4E06-971E-73C1DC6F5D09}" type="presParOf" srcId="{7419ABA5-7949-45B6-926B-B2AF4D07B86F}" destId="{65917AA8-15ED-40BA-BB58-02E2A924D336}" srcOrd="1" destOrd="0" presId="urn:microsoft.com/office/officeart/2005/8/layout/cycle2"/>
    <dgm:cxn modelId="{919B2F0A-F7A8-475A-BB19-4787853EAC7E}" type="presParOf" srcId="{65917AA8-15ED-40BA-BB58-02E2A924D336}" destId="{84F6ECD3-9DCC-4C09-B1E0-51CA5E6BA121}" srcOrd="0" destOrd="0" presId="urn:microsoft.com/office/officeart/2005/8/layout/cycle2"/>
    <dgm:cxn modelId="{2614C2A0-3146-4542-8147-8F6B00A68458}" type="presParOf" srcId="{7419ABA5-7949-45B6-926B-B2AF4D07B86F}" destId="{1636EFC0-33C4-44A0-8DA5-4E4CAFA021A7}" srcOrd="2" destOrd="0" presId="urn:microsoft.com/office/officeart/2005/8/layout/cycle2"/>
    <dgm:cxn modelId="{31CDA425-57B6-4FF6-8A2D-A34F4A6F0E70}" type="presParOf" srcId="{7419ABA5-7949-45B6-926B-B2AF4D07B86F}" destId="{81263035-F041-41BB-8824-EB77CDA81D68}" srcOrd="3" destOrd="0" presId="urn:microsoft.com/office/officeart/2005/8/layout/cycle2"/>
    <dgm:cxn modelId="{F414E2DB-1D18-4923-85B3-09D1F7685E69}" type="presParOf" srcId="{81263035-F041-41BB-8824-EB77CDA81D68}" destId="{8D80761F-2F2C-4ECD-96B8-2F6D113F8EE0}" srcOrd="0" destOrd="0" presId="urn:microsoft.com/office/officeart/2005/8/layout/cycle2"/>
    <dgm:cxn modelId="{CC70DEDA-D5DF-48A6-9234-D4B1DFB29225}" type="presParOf" srcId="{7419ABA5-7949-45B6-926B-B2AF4D07B86F}" destId="{C597B1CC-60A8-4C37-A895-1F8C9AC1D271}" srcOrd="4" destOrd="0" presId="urn:microsoft.com/office/officeart/2005/8/layout/cycle2"/>
    <dgm:cxn modelId="{7B134D1A-FE61-4FB0-B665-642D8CDCC13F}" type="presParOf" srcId="{7419ABA5-7949-45B6-926B-B2AF4D07B86F}" destId="{7A959040-1510-4316-A060-8F6B365DED4C}" srcOrd="5" destOrd="0" presId="urn:microsoft.com/office/officeart/2005/8/layout/cycle2"/>
    <dgm:cxn modelId="{C3D78C14-E83F-476B-AD80-6B8AF24C7D06}" type="presParOf" srcId="{7A959040-1510-4316-A060-8F6B365DED4C}" destId="{A0F7740F-8C66-4486-848F-014970E3EF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81DC5-7106-44C5-82AA-AC1772C8C9D7}">
      <dsp:nvSpPr>
        <dsp:cNvPr id="0" name=""/>
        <dsp:cNvSpPr/>
      </dsp:nvSpPr>
      <dsp:spPr>
        <a:xfrm>
          <a:off x="2250845" y="82"/>
          <a:ext cx="2179078" cy="21790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600" kern="1200" dirty="0"/>
            <a:t>Δ</a:t>
          </a:r>
          <a:r>
            <a:rPr lang="en-US" sz="2600" kern="1200" dirty="0"/>
            <a:t> </a:t>
          </a:r>
          <a:r>
            <a:rPr lang="en-US" sz="2600" kern="1200" dirty="0" err="1"/>
            <a:t>V</a:t>
          </a:r>
          <a:r>
            <a:rPr lang="en-US" sz="2600" kern="1200" baseline="-25000" dirty="0" err="1"/>
            <a:t>m</a:t>
          </a:r>
          <a:endParaRPr lang="en-US" sz="2600" kern="1200" baseline="-25000" dirty="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depolarize</a:t>
          </a:r>
        </a:p>
      </dsp:txBody>
      <dsp:txXfrm>
        <a:off x="2569964" y="319201"/>
        <a:ext cx="1540840" cy="1540840"/>
      </dsp:txXfrm>
    </dsp:sp>
    <dsp:sp modelId="{65917AA8-15ED-40BA-BB58-02E2A924D336}">
      <dsp:nvSpPr>
        <dsp:cNvPr id="0" name=""/>
        <dsp:cNvSpPr/>
      </dsp:nvSpPr>
      <dsp:spPr>
        <a:xfrm rot="3600000">
          <a:off x="3860417" y="2127253"/>
          <a:ext cx="582695" cy="735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904119" y="2198647"/>
        <a:ext cx="407887" cy="441263"/>
      </dsp:txXfrm>
    </dsp:sp>
    <dsp:sp modelId="{1636EFC0-33C4-44A0-8DA5-4E4CAFA021A7}">
      <dsp:nvSpPr>
        <dsp:cNvPr id="0" name=""/>
        <dsp:cNvSpPr/>
      </dsp:nvSpPr>
      <dsp:spPr>
        <a:xfrm>
          <a:off x="3890096" y="2839349"/>
          <a:ext cx="2179078" cy="21790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600" kern="1200" dirty="0"/>
            <a:t>Δ</a:t>
          </a:r>
          <a:r>
            <a:rPr lang="en-US" sz="2600" kern="1200" dirty="0"/>
            <a:t> P</a:t>
          </a:r>
          <a:r>
            <a:rPr lang="en-US" sz="2600" kern="1200" baseline="-25000" dirty="0"/>
            <a:t>m</a:t>
          </a:r>
          <a:r>
            <a:rPr lang="en-US" sz="2600" kern="1200" dirty="0"/>
            <a:t> (g</a:t>
          </a:r>
          <a:r>
            <a:rPr lang="en-US" sz="2600" kern="1200" baseline="-25000" dirty="0"/>
            <a:t>m</a:t>
          </a:r>
          <a:r>
            <a:rPr lang="en-US" sz="2600" kern="1200" dirty="0"/>
            <a:t>)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open channels</a:t>
          </a:r>
        </a:p>
      </dsp:txBody>
      <dsp:txXfrm>
        <a:off x="4209215" y="3158468"/>
        <a:ext cx="1540840" cy="1540840"/>
      </dsp:txXfrm>
    </dsp:sp>
    <dsp:sp modelId="{81263035-F041-41BB-8824-EB77CDA81D68}">
      <dsp:nvSpPr>
        <dsp:cNvPr id="0" name=""/>
        <dsp:cNvSpPr/>
      </dsp:nvSpPr>
      <dsp:spPr>
        <a:xfrm rot="10800000">
          <a:off x="3065528" y="3561169"/>
          <a:ext cx="582695" cy="735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3240336" y="3708257"/>
        <a:ext cx="407887" cy="441263"/>
      </dsp:txXfrm>
    </dsp:sp>
    <dsp:sp modelId="{C597B1CC-60A8-4C37-A895-1F8C9AC1D271}">
      <dsp:nvSpPr>
        <dsp:cNvPr id="0" name=""/>
        <dsp:cNvSpPr/>
      </dsp:nvSpPr>
      <dsp:spPr>
        <a:xfrm>
          <a:off x="611593" y="2839349"/>
          <a:ext cx="2179078" cy="21790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600" kern="1200" dirty="0"/>
            <a:t>Δ</a:t>
          </a:r>
          <a:r>
            <a:rPr lang="en-US" sz="2600" kern="1200" dirty="0"/>
            <a:t> </a:t>
          </a:r>
          <a:r>
            <a:rPr lang="en-US" sz="2600" kern="1200" dirty="0" err="1"/>
            <a:t>I</a:t>
          </a:r>
          <a:r>
            <a:rPr lang="en-US" sz="2600" kern="1200" baseline="-25000" dirty="0" err="1"/>
            <a:t>m</a:t>
          </a:r>
          <a:endParaRPr lang="en-US" sz="2600" kern="1200" baseline="0" dirty="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ions flow</a:t>
          </a:r>
          <a:endParaRPr lang="en-US" sz="2600" kern="1200" dirty="0"/>
        </a:p>
      </dsp:txBody>
      <dsp:txXfrm>
        <a:off x="930712" y="3158468"/>
        <a:ext cx="1540840" cy="1540840"/>
      </dsp:txXfrm>
    </dsp:sp>
    <dsp:sp modelId="{7A959040-1510-4316-A060-8F6B365DED4C}">
      <dsp:nvSpPr>
        <dsp:cNvPr id="0" name=""/>
        <dsp:cNvSpPr/>
      </dsp:nvSpPr>
      <dsp:spPr>
        <a:xfrm rot="18000000">
          <a:off x="2221165" y="2155817"/>
          <a:ext cx="582695" cy="735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64867" y="2378599"/>
        <a:ext cx="407887" cy="4412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F49AF-1DB5-45F8-B433-D26172C6A7F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3CD2-4973-470A-BC59-11DBA87FC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3C99-9FB8-AB46-24AC-F007ABC7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CB835-2100-225E-A3B2-4902EF87F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4D610-57DA-6570-3761-4DDDB2DBA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56372-A2AF-61EC-7645-CBE0E5498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0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87A9-C484-19BF-A8C1-0D48270A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F07B6-EAD4-4516-6FBA-815EBB2B5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65F7E-8675-CF9E-0AB9-04E78D3E2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79B1B-FD91-46A5-6574-0E32A6F7D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0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65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7929-BC91-48B0-AE2D-0F0DAD6F20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41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25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38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84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05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1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86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61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72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8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8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5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2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8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7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20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7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8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1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90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6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65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48jXzFGMc8?feature=oembed" TargetMode="Externa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266C-A248-48E0-8253-EA48BA7F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5341" y="1041400"/>
            <a:ext cx="7841317" cy="2387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Voltage-dependent membrane permeability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09EE7-AEFA-4F0D-9E16-ECB27CA6A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1" y="3619967"/>
            <a:ext cx="8791575" cy="16557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188651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B38-5A3F-4E81-A080-E18A63F4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2B84-69BF-44BF-B1F1-996A93C60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8570"/>
            <a:ext cx="9905999" cy="50519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Explain the function and utility of the voltage clamp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Explain the voltage- and time-dependent properties of conductance changes during an action potential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Describe how the action potential travels along the axon and how myelin influences propagation.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Identify symptoms of Multiple Sclerosis and make connections with demyelination and axonal damage.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03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9C1DE-CBFA-807E-52CD-99CA342F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78E6-76B8-DF9F-2D17-7335794E8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753" y="2623670"/>
            <a:ext cx="9550494" cy="161065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Part 1: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Voltage clamp studies</a:t>
            </a:r>
          </a:p>
        </p:txBody>
      </p:sp>
    </p:spTree>
    <p:extLst>
      <p:ext uri="{BB962C8B-B14F-4D97-AF65-F5344CB8AC3E}">
        <p14:creationId xmlns:p14="http://schemas.microsoft.com/office/powerpoint/2010/main" val="14014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B09F-BE3C-3EEF-5132-794A80B4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42BA-BBD8-98DC-72A1-22C7AF30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action potential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458407-EE36-73AA-2F91-7569280F5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78570"/>
            <a:ext cx="4954588" cy="5379430"/>
          </a:xfrm>
        </p:spPr>
        <p:txBody>
          <a:bodyPr>
            <a:norm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Definition: </a:t>
            </a:r>
            <a:r>
              <a:rPr lang="en-US" sz="2800" dirty="0">
                <a:solidFill>
                  <a:schemeClr val="bg1"/>
                </a:solidFill>
              </a:rPr>
              <a:t>a rapid, brief reversal in membrane potential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intracellular compartment becomes (+) relative to extracellular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Results from several </a:t>
            </a:r>
            <a:r>
              <a:rPr lang="en-US" sz="2800" i="1" u="sng" dirty="0">
                <a:solidFill>
                  <a:schemeClr val="bg1"/>
                </a:solidFill>
              </a:rPr>
              <a:t>voltage-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i="1" u="sng" dirty="0">
                <a:solidFill>
                  <a:schemeClr val="bg1"/>
                </a:solidFill>
              </a:rPr>
              <a:t>time-dependent</a:t>
            </a:r>
            <a:r>
              <a:rPr lang="en-US" sz="2800" dirty="0">
                <a:solidFill>
                  <a:schemeClr val="bg1"/>
                </a:solidFill>
              </a:rPr>
              <a:t> changes in membrane permeability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Changes in ion conductance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23A41-23BD-1711-58DC-D6BF016A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644" y="1958271"/>
            <a:ext cx="4906767" cy="294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56B5-D715-2548-7133-7E35259B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804E-7BC6-19CF-F322-A53C646A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Squid giant axon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D9720-F6C3-4865-3DEC-027FFBFEE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271" y="1478570"/>
            <a:ext cx="5822140" cy="53794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A1BC9E-46AC-3802-A87C-BF175EA71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3895283" cy="35417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Can be seen with the naked eye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Up to 1mm in diameter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Likely evolved to promote survival</a:t>
            </a:r>
          </a:p>
        </p:txBody>
      </p:sp>
    </p:spTree>
    <p:extLst>
      <p:ext uri="{BB962C8B-B14F-4D97-AF65-F5344CB8AC3E}">
        <p14:creationId xmlns:p14="http://schemas.microsoft.com/office/powerpoint/2010/main" val="94833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uid giant axon - Wikipedia">
            <a:extLst>
              <a:ext uri="{FF2B5EF4-FFF2-40B4-BE49-F238E27FC236}">
                <a16:creationId xmlns:a16="http://schemas.microsoft.com/office/drawing/2014/main" id="{F7CA71B8-1640-D71A-2522-5D6BC6E069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4" r="-1" b="14008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42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8B00-150A-C43E-C025-6B341BD9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5496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voltage clamp technique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68B14-00C0-89EE-EB60-12F71AEF9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4961"/>
            <a:ext cx="12192000" cy="58030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598CC1-60B0-837A-B052-68389985B5C7}"/>
              </a:ext>
            </a:extLst>
          </p:cNvPr>
          <p:cNvSpPr/>
          <p:nvPr/>
        </p:nvSpPr>
        <p:spPr>
          <a:xfrm>
            <a:off x="8265226" y="1054961"/>
            <a:ext cx="3926774" cy="18188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7A406-27F5-7EC7-B81E-2162B77CEEC5}"/>
              </a:ext>
            </a:extLst>
          </p:cNvPr>
          <p:cNvSpPr/>
          <p:nvPr/>
        </p:nvSpPr>
        <p:spPr>
          <a:xfrm>
            <a:off x="9904020" y="3665553"/>
            <a:ext cx="2287979" cy="15952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1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1" y="87125"/>
            <a:ext cx="9905998" cy="176896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Depolarization elicits 2 ionic currents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45476-D356-AD8D-CD8C-C10F85E2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7309"/>
            <a:ext cx="12192000" cy="3953565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DF63F705-13C4-2239-D8CE-52DB371A560C}"/>
              </a:ext>
            </a:extLst>
          </p:cNvPr>
          <p:cNvSpPr/>
          <p:nvPr/>
        </p:nvSpPr>
        <p:spPr>
          <a:xfrm>
            <a:off x="0" y="2817309"/>
            <a:ext cx="12192000" cy="1673120"/>
          </a:xfrm>
          <a:prstGeom prst="frame">
            <a:avLst>
              <a:gd name="adj1" fmla="val 28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9D2F6063-9798-6C7A-A332-763ADC16E730}"/>
              </a:ext>
            </a:extLst>
          </p:cNvPr>
          <p:cNvSpPr/>
          <p:nvPr/>
        </p:nvSpPr>
        <p:spPr>
          <a:xfrm>
            <a:off x="0" y="4490428"/>
            <a:ext cx="12192000" cy="2280445"/>
          </a:xfrm>
          <a:prstGeom prst="frame">
            <a:avLst>
              <a:gd name="adj1" fmla="val 28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6E6AB-A64A-138D-42CD-B91DD519B9DF}"/>
              </a:ext>
            </a:extLst>
          </p:cNvPr>
          <p:cNvSpPr txBox="1">
            <a:spLocks noChangeArrowheads="1"/>
          </p:cNvSpPr>
          <p:nvPr/>
        </p:nvSpPr>
        <p:spPr>
          <a:xfrm>
            <a:off x="1349992" y="1856095"/>
            <a:ext cx="4914330" cy="736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Hyperpolarization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04282C9-D8EE-700C-9880-0EB4BEDFCF77}"/>
              </a:ext>
            </a:extLst>
          </p:cNvPr>
          <p:cNvSpPr txBox="1">
            <a:spLocks noChangeArrowheads="1"/>
          </p:cNvSpPr>
          <p:nvPr/>
        </p:nvSpPr>
        <p:spPr>
          <a:xfrm>
            <a:off x="7985079" y="1856094"/>
            <a:ext cx="3751996" cy="736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depolarization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eurscience5e-Fig-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69"/>
          <a:stretch/>
        </p:blipFill>
        <p:spPr bwMode="auto">
          <a:xfrm>
            <a:off x="2229134" y="3916941"/>
            <a:ext cx="7733731" cy="297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1499" y="98916"/>
            <a:ext cx="11048999" cy="739285"/>
          </a:xfrm>
        </p:spPr>
        <p:txBody>
          <a:bodyPr>
            <a:normAutofit/>
          </a:bodyPr>
          <a:lstStyle/>
          <a:p>
            <a:pPr algn="ctr"/>
            <a:r>
              <a:rPr lang="en-US" b="0" dirty="0">
                <a:solidFill>
                  <a:schemeClr val="bg1"/>
                </a:solidFill>
              </a:rPr>
              <a:t>The Early Inward and Late Outward Currents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983D49-2841-4546-90C8-699C495AA340}"/>
              </a:ext>
            </a:extLst>
          </p:cNvPr>
          <p:cNvSpPr/>
          <p:nvPr/>
        </p:nvSpPr>
        <p:spPr>
          <a:xfrm>
            <a:off x="2229134" y="838201"/>
            <a:ext cx="7733731" cy="2139168"/>
          </a:xfrm>
          <a:custGeom>
            <a:avLst/>
            <a:gdLst>
              <a:gd name="connsiteX0" fmla="*/ 274407 w 1646408"/>
              <a:gd name="connsiteY0" fmla="*/ 0 h 8769667"/>
              <a:gd name="connsiteX1" fmla="*/ 1372001 w 1646408"/>
              <a:gd name="connsiteY1" fmla="*/ 0 h 8769667"/>
              <a:gd name="connsiteX2" fmla="*/ 1646408 w 1646408"/>
              <a:gd name="connsiteY2" fmla="*/ 274407 h 8769667"/>
              <a:gd name="connsiteX3" fmla="*/ 1646408 w 1646408"/>
              <a:gd name="connsiteY3" fmla="*/ 8769667 h 8769667"/>
              <a:gd name="connsiteX4" fmla="*/ 1646408 w 1646408"/>
              <a:gd name="connsiteY4" fmla="*/ 8769667 h 8769667"/>
              <a:gd name="connsiteX5" fmla="*/ 0 w 1646408"/>
              <a:gd name="connsiteY5" fmla="*/ 8769667 h 8769667"/>
              <a:gd name="connsiteX6" fmla="*/ 0 w 1646408"/>
              <a:gd name="connsiteY6" fmla="*/ 8769667 h 8769667"/>
              <a:gd name="connsiteX7" fmla="*/ 0 w 1646408"/>
              <a:gd name="connsiteY7" fmla="*/ 274407 h 8769667"/>
              <a:gd name="connsiteX8" fmla="*/ 274407 w 1646408"/>
              <a:gd name="connsiteY8" fmla="*/ 0 h 876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6408" h="8769667">
                <a:moveTo>
                  <a:pt x="1646408" y="1461643"/>
                </a:moveTo>
                <a:lnTo>
                  <a:pt x="1646408" y="7308024"/>
                </a:lnTo>
                <a:cubicBezTo>
                  <a:pt x="1646408" y="8115267"/>
                  <a:pt x="1623343" y="8769664"/>
                  <a:pt x="1594891" y="8769664"/>
                </a:cubicBezTo>
                <a:lnTo>
                  <a:pt x="0" y="8769664"/>
                </a:lnTo>
                <a:lnTo>
                  <a:pt x="0" y="8769664"/>
                </a:lnTo>
                <a:lnTo>
                  <a:pt x="0" y="3"/>
                </a:lnTo>
                <a:lnTo>
                  <a:pt x="0" y="3"/>
                </a:lnTo>
                <a:lnTo>
                  <a:pt x="1594891" y="3"/>
                </a:lnTo>
                <a:cubicBezTo>
                  <a:pt x="1623343" y="3"/>
                  <a:pt x="1646408" y="654400"/>
                  <a:pt x="1646408" y="14616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204196" rIns="328021" bIns="204197" numCol="1" spcCol="1270" anchor="ctr" anchorCtr="0">
            <a:noAutofit/>
          </a:bodyPr>
          <a:lstStyle/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kern="1200" dirty="0"/>
              <a:t>Inward</a:t>
            </a:r>
          </a:p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kern="1200" dirty="0"/>
              <a:t>initially gets larger, then decreases with further depolarization</a:t>
            </a:r>
          </a:p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kern="1200" dirty="0">
                <a:solidFill>
                  <a:schemeClr val="bg1"/>
                </a:solidFill>
              </a:rPr>
              <a:t>with enough depolarization, the early current becomes </a:t>
            </a:r>
            <a:r>
              <a:rPr lang="en-US" sz="2800" i="1" u="sng" kern="1200" dirty="0">
                <a:solidFill>
                  <a:schemeClr val="bg1"/>
                </a:solidFill>
              </a:rPr>
              <a:t>outward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EF2FEB-BF74-40C3-A9D7-E3701372367E}"/>
              </a:ext>
            </a:extLst>
          </p:cNvPr>
          <p:cNvSpPr/>
          <p:nvPr/>
        </p:nvSpPr>
        <p:spPr>
          <a:xfrm>
            <a:off x="609600" y="1084582"/>
            <a:ext cx="1342030" cy="1646406"/>
          </a:xfrm>
          <a:custGeom>
            <a:avLst/>
            <a:gdLst>
              <a:gd name="connsiteX0" fmla="*/ 0 w 2070610"/>
              <a:gd name="connsiteY0" fmla="*/ 210059 h 1260326"/>
              <a:gd name="connsiteX1" fmla="*/ 210059 w 2070610"/>
              <a:gd name="connsiteY1" fmla="*/ 0 h 1260326"/>
              <a:gd name="connsiteX2" fmla="*/ 1860551 w 2070610"/>
              <a:gd name="connsiteY2" fmla="*/ 0 h 1260326"/>
              <a:gd name="connsiteX3" fmla="*/ 2070610 w 2070610"/>
              <a:gd name="connsiteY3" fmla="*/ 210059 h 1260326"/>
              <a:gd name="connsiteX4" fmla="*/ 2070610 w 2070610"/>
              <a:gd name="connsiteY4" fmla="*/ 1050267 h 1260326"/>
              <a:gd name="connsiteX5" fmla="*/ 1860551 w 2070610"/>
              <a:gd name="connsiteY5" fmla="*/ 1260326 h 1260326"/>
              <a:gd name="connsiteX6" fmla="*/ 210059 w 2070610"/>
              <a:gd name="connsiteY6" fmla="*/ 1260326 h 1260326"/>
              <a:gd name="connsiteX7" fmla="*/ 0 w 2070610"/>
              <a:gd name="connsiteY7" fmla="*/ 1050267 h 1260326"/>
              <a:gd name="connsiteX8" fmla="*/ 0 w 2070610"/>
              <a:gd name="connsiteY8" fmla="*/ 210059 h 126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70610" h="1260326">
                <a:moveTo>
                  <a:pt x="0" y="210059"/>
                </a:moveTo>
                <a:cubicBezTo>
                  <a:pt x="0" y="94047"/>
                  <a:pt x="94047" y="0"/>
                  <a:pt x="210059" y="0"/>
                </a:cubicBezTo>
                <a:lnTo>
                  <a:pt x="1860551" y="0"/>
                </a:lnTo>
                <a:cubicBezTo>
                  <a:pt x="1976563" y="0"/>
                  <a:pt x="2070610" y="94047"/>
                  <a:pt x="2070610" y="210059"/>
                </a:cubicBezTo>
                <a:lnTo>
                  <a:pt x="2070610" y="1050267"/>
                </a:lnTo>
                <a:cubicBezTo>
                  <a:pt x="2070610" y="1166279"/>
                  <a:pt x="1976563" y="1260326"/>
                  <a:pt x="1860551" y="1260326"/>
                </a:cubicBezTo>
                <a:lnTo>
                  <a:pt x="210059" y="1260326"/>
                </a:lnTo>
                <a:cubicBezTo>
                  <a:pt x="94047" y="1260326"/>
                  <a:pt x="0" y="1166279"/>
                  <a:pt x="0" y="1050267"/>
                </a:cubicBezTo>
                <a:lnTo>
                  <a:pt x="0" y="21005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98684" tIns="130104" rIns="198684" bIns="130104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i="1" u="sng" kern="1200" dirty="0">
                <a:solidFill>
                  <a:schemeClr val="bg1"/>
                </a:solidFill>
              </a:rPr>
              <a:t>Early</a:t>
            </a:r>
            <a:endParaRPr lang="en-US" sz="3600" kern="1200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2BD0BB-C29D-44C5-93D2-3C9EF3D26136}"/>
              </a:ext>
            </a:extLst>
          </p:cNvPr>
          <p:cNvSpPr/>
          <p:nvPr/>
        </p:nvSpPr>
        <p:spPr>
          <a:xfrm>
            <a:off x="2229135" y="3013678"/>
            <a:ext cx="7733730" cy="866954"/>
          </a:xfrm>
          <a:custGeom>
            <a:avLst/>
            <a:gdLst>
              <a:gd name="connsiteX0" fmla="*/ 63559 w 381345"/>
              <a:gd name="connsiteY0" fmla="*/ 0 h 8769667"/>
              <a:gd name="connsiteX1" fmla="*/ 317786 w 381345"/>
              <a:gd name="connsiteY1" fmla="*/ 0 h 8769667"/>
              <a:gd name="connsiteX2" fmla="*/ 381345 w 381345"/>
              <a:gd name="connsiteY2" fmla="*/ 63559 h 8769667"/>
              <a:gd name="connsiteX3" fmla="*/ 381345 w 381345"/>
              <a:gd name="connsiteY3" fmla="*/ 8769667 h 8769667"/>
              <a:gd name="connsiteX4" fmla="*/ 381345 w 381345"/>
              <a:gd name="connsiteY4" fmla="*/ 8769667 h 8769667"/>
              <a:gd name="connsiteX5" fmla="*/ 0 w 381345"/>
              <a:gd name="connsiteY5" fmla="*/ 8769667 h 8769667"/>
              <a:gd name="connsiteX6" fmla="*/ 0 w 381345"/>
              <a:gd name="connsiteY6" fmla="*/ 8769667 h 8769667"/>
              <a:gd name="connsiteX7" fmla="*/ 0 w 381345"/>
              <a:gd name="connsiteY7" fmla="*/ 63559 h 8769667"/>
              <a:gd name="connsiteX8" fmla="*/ 63559 w 381345"/>
              <a:gd name="connsiteY8" fmla="*/ 0 h 876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345" h="8769667">
                <a:moveTo>
                  <a:pt x="381345" y="1461653"/>
                </a:moveTo>
                <a:lnTo>
                  <a:pt x="381345" y="7308014"/>
                </a:lnTo>
                <a:cubicBezTo>
                  <a:pt x="381345" y="8115264"/>
                  <a:pt x="380108" y="8769656"/>
                  <a:pt x="378581" y="8769656"/>
                </a:cubicBezTo>
                <a:lnTo>
                  <a:pt x="0" y="8769656"/>
                </a:lnTo>
                <a:lnTo>
                  <a:pt x="0" y="8769656"/>
                </a:lnTo>
                <a:lnTo>
                  <a:pt x="0" y="11"/>
                </a:lnTo>
                <a:lnTo>
                  <a:pt x="0" y="11"/>
                </a:lnTo>
                <a:lnTo>
                  <a:pt x="378581" y="11"/>
                </a:lnTo>
                <a:cubicBezTo>
                  <a:pt x="380108" y="11"/>
                  <a:pt x="381345" y="654403"/>
                  <a:pt x="381345" y="146165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90000"/>
            </a:schemeClr>
          </a:solidFill>
          <a:ln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tint val="40000"/>
              <a:alpha val="90000"/>
              <a:hueOff val="-10009599"/>
              <a:satOff val="26"/>
              <a:lumOff val="1178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42441" rIns="266266" bIns="142441" numCol="1" spcCol="1270" anchor="ctr" anchorCtr="0">
            <a:noAutofit/>
          </a:bodyPr>
          <a:lstStyle/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kern="1200" dirty="0"/>
              <a:t>Outward</a:t>
            </a:r>
          </a:p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kern="1200" dirty="0"/>
              <a:t>increases monotonically with depolarization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5D509B-FE88-42E6-AA13-3725AD14D986}"/>
              </a:ext>
            </a:extLst>
          </p:cNvPr>
          <p:cNvSpPr/>
          <p:nvPr/>
        </p:nvSpPr>
        <p:spPr>
          <a:xfrm>
            <a:off x="609600" y="2996542"/>
            <a:ext cx="1342030" cy="696268"/>
          </a:xfrm>
          <a:custGeom>
            <a:avLst/>
            <a:gdLst>
              <a:gd name="connsiteX0" fmla="*/ 0 w 2070610"/>
              <a:gd name="connsiteY0" fmla="*/ 116047 h 696268"/>
              <a:gd name="connsiteX1" fmla="*/ 116047 w 2070610"/>
              <a:gd name="connsiteY1" fmla="*/ 0 h 696268"/>
              <a:gd name="connsiteX2" fmla="*/ 1954563 w 2070610"/>
              <a:gd name="connsiteY2" fmla="*/ 0 h 696268"/>
              <a:gd name="connsiteX3" fmla="*/ 2070610 w 2070610"/>
              <a:gd name="connsiteY3" fmla="*/ 116047 h 696268"/>
              <a:gd name="connsiteX4" fmla="*/ 2070610 w 2070610"/>
              <a:gd name="connsiteY4" fmla="*/ 580221 h 696268"/>
              <a:gd name="connsiteX5" fmla="*/ 1954563 w 2070610"/>
              <a:gd name="connsiteY5" fmla="*/ 696268 h 696268"/>
              <a:gd name="connsiteX6" fmla="*/ 116047 w 2070610"/>
              <a:gd name="connsiteY6" fmla="*/ 696268 h 696268"/>
              <a:gd name="connsiteX7" fmla="*/ 0 w 2070610"/>
              <a:gd name="connsiteY7" fmla="*/ 580221 h 696268"/>
              <a:gd name="connsiteX8" fmla="*/ 0 w 2070610"/>
              <a:gd name="connsiteY8" fmla="*/ 116047 h 69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70610" h="696268">
                <a:moveTo>
                  <a:pt x="0" y="116047"/>
                </a:moveTo>
                <a:cubicBezTo>
                  <a:pt x="0" y="51956"/>
                  <a:pt x="51956" y="0"/>
                  <a:pt x="116047" y="0"/>
                </a:cubicBezTo>
                <a:lnTo>
                  <a:pt x="1954563" y="0"/>
                </a:lnTo>
                <a:cubicBezTo>
                  <a:pt x="2018654" y="0"/>
                  <a:pt x="2070610" y="51956"/>
                  <a:pt x="2070610" y="116047"/>
                </a:cubicBezTo>
                <a:lnTo>
                  <a:pt x="2070610" y="580221"/>
                </a:lnTo>
                <a:cubicBezTo>
                  <a:pt x="2070610" y="644312"/>
                  <a:pt x="2018654" y="696268"/>
                  <a:pt x="1954563" y="696268"/>
                </a:cubicBezTo>
                <a:lnTo>
                  <a:pt x="116047" y="696268"/>
                </a:lnTo>
                <a:cubicBezTo>
                  <a:pt x="51956" y="696268"/>
                  <a:pt x="0" y="644312"/>
                  <a:pt x="0" y="580221"/>
                </a:cubicBezTo>
                <a:lnTo>
                  <a:pt x="0" y="11604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71149" tIns="102569" rIns="171149" bIns="102569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i="1" u="sng" kern="1200" dirty="0">
                <a:solidFill>
                  <a:schemeClr val="bg1"/>
                </a:solidFill>
              </a:rPr>
              <a:t>Late</a:t>
            </a:r>
            <a:endParaRPr lang="en-US" sz="3600" kern="12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 rot="16200000">
            <a:off x="5468241" y="57085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Early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6508980" y="53659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eurscience5e-Fig-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01" b="34390"/>
          <a:stretch>
            <a:fillRect/>
          </a:stretch>
        </p:blipFill>
        <p:spPr bwMode="auto">
          <a:xfrm>
            <a:off x="9620355" y="1517207"/>
            <a:ext cx="2209800" cy="331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E711700-21A8-46E8-8664-B03E1B3D688A}"/>
              </a:ext>
            </a:extLst>
          </p:cNvPr>
          <p:cNvSpPr/>
          <p:nvPr/>
        </p:nvSpPr>
        <p:spPr>
          <a:xfrm>
            <a:off x="10066425" y="3572139"/>
            <a:ext cx="440621" cy="422627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30BDF25A-D020-D17E-613B-309D10AA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57" y="38637"/>
            <a:ext cx="9911686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Sodium Conductance Drives the Early Inward current</a:t>
            </a:r>
            <a:endParaRPr lang="en-US" b="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43E540-BB31-5C10-48D2-A5AE1CC91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510" y="4832313"/>
            <a:ext cx="2205934" cy="15957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63FD69-87D5-9E30-B2C9-796816EC4783}"/>
              </a:ext>
            </a:extLst>
          </p:cNvPr>
          <p:cNvSpPr/>
          <p:nvPr/>
        </p:nvSpPr>
        <p:spPr>
          <a:xfrm>
            <a:off x="9818248" y="4583886"/>
            <a:ext cx="2011907" cy="2484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08B02DA-2454-5DA0-F291-48E8F3A7BA6F}"/>
              </a:ext>
            </a:extLst>
          </p:cNvPr>
          <p:cNvSpPr txBox="1">
            <a:spLocks/>
          </p:cNvSpPr>
          <p:nvPr/>
        </p:nvSpPr>
        <p:spPr>
          <a:xfrm>
            <a:off x="1140157" y="1517207"/>
            <a:ext cx="8480198" cy="502561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3200" dirty="0">
                <a:solidFill>
                  <a:schemeClr val="bg1"/>
                </a:solidFill>
              </a:rPr>
              <a:t>In normal saline, inward current is followed by outward current.</a:t>
            </a:r>
          </a:p>
          <a:p>
            <a:r>
              <a:rPr lang="en-US" sz="3200" dirty="0">
                <a:solidFill>
                  <a:schemeClr val="bg1"/>
                </a:solidFill>
              </a:rPr>
              <a:t>In sodium-free water, the inward current disappears, but the outward current persists.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Small early outward current, why?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 chemical TTX blocks voltage gated Na</a:t>
            </a:r>
            <a:r>
              <a:rPr lang="en-US" sz="3200" baseline="30000" dirty="0">
                <a:solidFill>
                  <a:schemeClr val="bg1"/>
                </a:solidFill>
              </a:rPr>
              <a:t>+</a:t>
            </a:r>
            <a:r>
              <a:rPr lang="en-US" sz="3200" dirty="0">
                <a:solidFill>
                  <a:schemeClr val="bg1"/>
                </a:solidFill>
              </a:rPr>
              <a:t> channels and consequently the early inward current.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Neurscience5e-Fig-0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50" t="50000" b="5526"/>
          <a:stretch/>
        </p:blipFill>
        <p:spPr bwMode="auto">
          <a:xfrm>
            <a:off x="7069978" y="3598324"/>
            <a:ext cx="3868645" cy="3259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 descr="Neurscience5e-Fig-0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91" r="51030" b="25319"/>
          <a:stretch/>
        </p:blipFill>
        <p:spPr bwMode="auto">
          <a:xfrm>
            <a:off x="7069978" y="1177736"/>
            <a:ext cx="3868645" cy="242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8">
            <a:extLst>
              <a:ext uri="{FF2B5EF4-FFF2-40B4-BE49-F238E27FC236}">
                <a16:creationId xmlns:a16="http://schemas.microsoft.com/office/drawing/2014/main" id="{B0203AEC-2E4D-ECA7-1D2E-193ADE440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4697"/>
            <a:ext cx="9905998" cy="1106265"/>
          </a:xfrm>
        </p:spPr>
        <p:txBody>
          <a:bodyPr/>
          <a:lstStyle/>
          <a:p>
            <a:pPr algn="ctr"/>
            <a:r>
              <a:rPr lang="en-US" b="0" dirty="0">
                <a:solidFill>
                  <a:schemeClr val="bg1"/>
                </a:solidFill>
              </a:rPr>
              <a:t>Potassium Conductance Drives the Late outward current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4234AC-0BED-6ED6-768E-5AAA862E74C7}"/>
              </a:ext>
            </a:extLst>
          </p:cNvPr>
          <p:cNvSpPr txBox="1">
            <a:spLocks/>
          </p:cNvSpPr>
          <p:nvPr/>
        </p:nvSpPr>
        <p:spPr>
          <a:xfrm>
            <a:off x="1085858" y="3598324"/>
            <a:ext cx="5873744" cy="19127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Tetraethyl-ammonium (TEA) selectively blocks voltage-gated K</a:t>
            </a:r>
            <a:r>
              <a:rPr lang="en-US" sz="2800" baseline="30000" dirty="0">
                <a:solidFill>
                  <a:schemeClr val="bg1"/>
                </a:solidFill>
              </a:rPr>
              <a:t>+</a:t>
            </a:r>
            <a:r>
              <a:rPr lang="en-US" sz="2800" dirty="0">
                <a:solidFill>
                  <a:schemeClr val="bg1"/>
                </a:solidFill>
              </a:rPr>
              <a:t> channels and consequently the late outward current.</a:t>
            </a:r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1" y="45430"/>
            <a:ext cx="9905998" cy="1551358"/>
          </a:xfrm>
        </p:spPr>
        <p:txBody>
          <a:bodyPr/>
          <a:lstStyle/>
          <a:p>
            <a:pPr algn="ctr"/>
            <a:r>
              <a:rPr lang="en-US" b="0" dirty="0">
                <a:solidFill>
                  <a:schemeClr val="bg1"/>
                </a:solidFill>
              </a:rPr>
              <a:t>Two ionic currents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855950-F0B6-715F-3ECB-F5C675F87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157853"/>
              </p:ext>
            </p:extLst>
          </p:nvPr>
        </p:nvGraphicFramePr>
        <p:xfrm>
          <a:off x="1143001" y="1737360"/>
          <a:ext cx="9905997" cy="33832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301999">
                  <a:extLst>
                    <a:ext uri="{9D8B030D-6E8A-4147-A177-3AD203B41FA5}">
                      <a16:colId xmlns:a16="http://schemas.microsoft.com/office/drawing/2014/main" val="2207047700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79920478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1374295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Early Inward Current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Late outward current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707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Charge Carrier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Sodium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Potassium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20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In pure water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absent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present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145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Response to TTX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absent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present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40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Response to TEA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present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absent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9538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4"/>
          <p:cNvSpPr>
            <a:spLocks noGrp="1" noChangeArrowheads="1"/>
          </p:cNvSpPr>
          <p:nvPr>
            <p:ph type="title"/>
          </p:nvPr>
        </p:nvSpPr>
        <p:spPr>
          <a:xfrm>
            <a:off x="826258" y="94788"/>
            <a:ext cx="10539483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Depolarization of the Membrane Opens ion channels which allows ions to move across the membrane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8EC0B28-98F0-370A-9CEF-91015FF81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7823275"/>
              </p:ext>
            </p:extLst>
          </p:nvPr>
        </p:nvGraphicFramePr>
        <p:xfrm>
          <a:off x="2755615" y="1573358"/>
          <a:ext cx="6680769" cy="5018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5518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Conductance (g</a:t>
            </a:r>
            <a:r>
              <a:rPr lang="en-US" i="1" baseline="-25000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) is dependent on Membrane potential and time</a:t>
            </a:r>
          </a:p>
        </p:txBody>
      </p:sp>
      <p:pic>
        <p:nvPicPr>
          <p:cNvPr id="4" name="!!Pic2" descr="Neurscience5e-Fig-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59"/>
          <a:stretch/>
        </p:blipFill>
        <p:spPr bwMode="auto">
          <a:xfrm>
            <a:off x="4238625" y="1366941"/>
            <a:ext cx="7953375" cy="549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70615F-1714-F3C5-3917-C81CC415ADF3}"/>
              </a:ext>
            </a:extLst>
          </p:cNvPr>
          <p:cNvSpPr txBox="1">
            <a:spLocks/>
          </p:cNvSpPr>
          <p:nvPr/>
        </p:nvSpPr>
        <p:spPr>
          <a:xfrm>
            <a:off x="894790" y="1299099"/>
            <a:ext cx="3343835" cy="54910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</a:rPr>
              <a:t>Membrane must be depolarized.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Ion channels are voltage gated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</a:rPr>
              <a:t>Voltage gated sodium channels activate and then inactive quickly.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</a:rPr>
              <a:t>Voltage gated potassium channels take longer to open, but stay open for a long time.</a:t>
            </a:r>
            <a:endParaRPr lang="en-US" sz="2600" dirty="0"/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Neurscience5e-Fig-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33"/>
          <a:stretch/>
        </p:blipFill>
        <p:spPr bwMode="auto">
          <a:xfrm>
            <a:off x="61657" y="2033337"/>
            <a:ext cx="12068685" cy="482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355" name="Rectangle 6"/>
          <p:cNvSpPr>
            <a:spLocks noGrp="1" noChangeArrowheads="1"/>
          </p:cNvSpPr>
          <p:nvPr>
            <p:ph type="title"/>
          </p:nvPr>
        </p:nvSpPr>
        <p:spPr>
          <a:xfrm>
            <a:off x="1141413" y="0"/>
            <a:ext cx="9905998" cy="1904998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Voltage-dependence means the conductance increases with depolarization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Neurscience5e-Fig-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9"/>
          <a:stretch/>
        </p:blipFill>
        <p:spPr bwMode="auto">
          <a:xfrm>
            <a:off x="3495054" y="4977"/>
            <a:ext cx="5201891" cy="685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Action Potentials from Squid feat. Alan Hodgkin">
            <a:hlinkClick r:id="" action="ppaction://media"/>
            <a:extLst>
              <a:ext uri="{FF2B5EF4-FFF2-40B4-BE49-F238E27FC236}">
                <a16:creationId xmlns:a16="http://schemas.microsoft.com/office/drawing/2014/main" id="{37A1C76E-DEC3-03CA-8E52-B8833246B6D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4000" y="0"/>
            <a:ext cx="8732108" cy="6549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75293-9AD7-ACAF-E61C-19D01A9641D4}"/>
              </a:ext>
            </a:extLst>
          </p:cNvPr>
          <p:cNvSpPr txBox="1"/>
          <p:nvPr/>
        </p:nvSpPr>
        <p:spPr>
          <a:xfrm>
            <a:off x="2837935" y="6488668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https://www.youtube.com/watch?v=k48jXzFGMc8</a:t>
            </a:r>
          </a:p>
        </p:txBody>
      </p:sp>
    </p:spTree>
    <p:extLst>
      <p:ext uri="{BB962C8B-B14F-4D97-AF65-F5344CB8AC3E}">
        <p14:creationId xmlns:p14="http://schemas.microsoft.com/office/powerpoint/2010/main" val="157204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w:document xmlns:w="http://schemas.openxmlformats.org/wordprocessingml/2006/main">
  <RequestId>cc78fb66-0e7f-43f8-9e2f-c06c4707cc61</RequestId>
  <RequestDate>7/26/2019 1:53:10 PM</RequestDate>
</w:document>
</file>

<file path=customXml/itemProps1.xml><?xml version="1.0" encoding="utf-8"?>
<ds:datastoreItem xmlns:ds="http://schemas.openxmlformats.org/officeDocument/2006/customXml" ds:itemID="{88828C38-7951-446B-9C20-6F7FA1998869}">
  <ds:schemaRefs>
    <ds:schemaRef ds:uri="http://schemas.openxmlformats.org/wordprocessingml/2006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12749</TotalTime>
  <Words>392</Words>
  <Application>Microsoft Office PowerPoint</Application>
  <PresentationFormat>Widescreen</PresentationFormat>
  <Paragraphs>84</Paragraphs>
  <Slides>17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Tw Cen MT</vt:lpstr>
      <vt:lpstr>Circuit</vt:lpstr>
      <vt:lpstr>Voltage-dependent membrane permeability</vt:lpstr>
      <vt:lpstr>Learning Objectives</vt:lpstr>
      <vt:lpstr>Part 1: Voltage clamp studies</vt:lpstr>
      <vt:lpstr>The action potential</vt:lpstr>
      <vt:lpstr>The Squid giant axon</vt:lpstr>
      <vt:lpstr>PowerPoint Presentation</vt:lpstr>
      <vt:lpstr>The voltage clamp technique</vt:lpstr>
      <vt:lpstr>Depolarization elicits 2 ionic currents</vt:lpstr>
      <vt:lpstr>The Early Inward and Late Outward Currents</vt:lpstr>
      <vt:lpstr>Sodium Conductance Drives the Early Inward current</vt:lpstr>
      <vt:lpstr>Potassium Conductance Drives the Late outward current </vt:lpstr>
      <vt:lpstr>Two ionic currents Summary</vt:lpstr>
      <vt:lpstr>Depolarization of the Membrane Opens ion channels which allows ions to move across the membrane</vt:lpstr>
      <vt:lpstr>Conductance (gm) is dependent on Membrane potential and time</vt:lpstr>
      <vt:lpstr>Voltage-dependence means the conductance increases with depolarization</vt:lpstr>
      <vt:lpstr>PowerPoint Presentation</vt:lpstr>
      <vt:lpstr>PowerPoint Presentation</vt:lpstr>
    </vt:vector>
  </TitlesOfParts>
  <Company>Franklin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and behavior</dc:title>
  <dc:creator>Flora, Kristin</dc:creator>
  <cp:lastModifiedBy>Phillips, Nicole</cp:lastModifiedBy>
  <cp:revision>500</cp:revision>
  <dcterms:created xsi:type="dcterms:W3CDTF">2018-11-08T16:26:32Z</dcterms:created>
  <dcterms:modified xsi:type="dcterms:W3CDTF">2026-02-02T03:07:51Z</dcterms:modified>
</cp:coreProperties>
</file>