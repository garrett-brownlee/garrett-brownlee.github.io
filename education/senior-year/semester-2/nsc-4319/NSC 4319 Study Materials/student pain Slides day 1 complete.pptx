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6" r:id="rId3"/>
    <p:sldId id="347" r:id="rId4"/>
    <p:sldId id="348" r:id="rId5"/>
    <p:sldId id="449" r:id="rId6"/>
    <p:sldId id="460" r:id="rId7"/>
    <p:sldId id="450" r:id="rId8"/>
    <p:sldId id="452" r:id="rId9"/>
    <p:sldId id="385" r:id="rId10"/>
    <p:sldId id="45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74929" autoAdjust="0"/>
  </p:normalViewPr>
  <p:slideViewPr>
    <p:cSldViewPr snapToGrid="0">
      <p:cViewPr varScale="1">
        <p:scale>
          <a:sx n="119" d="100"/>
          <a:sy n="119" d="100"/>
        </p:scale>
        <p:origin x="16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29:05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2319 159 24575,'-20'1'0,"0"1"0,0 2 0,1 0 0,0 1 0,0 0 0,0 2 0,-20 10 0,12-6 0,1-1 0,-38 8 0,40-14 0,0-1 0,0-1 0,0-1 0,-42-4 0,-92-22 0,59 7 0,-2 9 0,63 6 0,-46-7 0,-246-45 0,285 48 0,0-3 0,-56-19 0,-77-15 0,149 38 0,-32-6 0,0 2 0,0 3 0,0 3 0,-101 5 0,152 0 0,1 1 0,-1 0 0,1 0 0,-1 1 0,1 0 0,0 1 0,0 0 0,0 0 0,1 1 0,0 0 0,0 0 0,0 1 0,0 0 0,1 0 0,0 1 0,-10 11 0,8-5 0,0 0 0,0 0 0,1 1 0,1 0 0,0 1 0,1-1 0,0 1 0,2 0 0,-5 21 0,7-27 0,-5 24 0,2 0 0,-2 48 0,7-71 0,0 0 0,1 0 0,0 0 0,0 0 0,1 0 0,1 0 0,0-1 0,0 1 0,0-1 0,2 0 0,-1 0 0,10 15 0,-6-14 0,-1 0 0,1 0 0,17 15 0,-21-21 0,2 0 0,-1-1 0,0 0 0,1 0 0,-1-1 0,1 1 0,0-1 0,0-1 0,12 3 0,27 5 0,183 27 0,-192-32 0,-1 0 0,0 3 0,0 0 0,42 17 0,78 54 0,-137-70 0,-1 1 0,24 18 0,32 15 0,-30-25 0,52 25 0,-86-37 0,-1 1 0,1 0 0,-1 0 0,0 0 0,0 1 0,-1 1 0,0-1 0,6 9 0,6 8 0,40 39 0,-45-50 0,1 2 0,-2 0 0,0 0 0,-1 1 0,0 1 0,14 28 0,-9-3 0,13 50 0,-19-53 0,31 72 0,-39-105 0,0 1 0,0 0 0,-1-1 0,0 1 0,0 0 0,-1 1 0,0-1 0,0 0 0,0 0 0,-1 0 0,0 1 0,-1-1 0,1 0 0,-2 0 0,1 0 0,-1 0 0,0 0 0,0 0 0,-6 11 0,3-9 0,-1 1 0,0-2 0,0 1 0,-1-1 0,0 0 0,0 0 0,-1-1 0,0 0 0,-1 0 0,1-1 0,-1 0 0,-19 9 0,-116 54 0,38-25 0,83-37 0,0 2 0,0 1 0,1 0 0,1 2 0,-37 25 0,-109 80 0,-22 10 0,181-122 0,1 1 0,0-1 0,1 1 0,-1 0 0,1 1 0,0 0 0,0 0 0,1 0 0,0 1 0,1-1 0,-1 1 0,1 0 0,1 1 0,0-1 0,0 1 0,0-1 0,1 1 0,1 0 0,-1 0 0,1 0 0,1 0 0,1 17 0,-2 1 0,1-14 0,0 0 0,0-1 0,5 26 0,-4-35 0,0 0 0,0 0 0,0 0 0,0 0 0,0 0 0,1-1 0,-1 1 0,1 0 0,0-1 0,0 1 0,0-1 0,0 1 0,0-1 0,0 0 0,1 0 0,-1 0 0,1 0 0,-1 0 0,1-1 0,5 3 0,16 6 0,0-2 0,0 0 0,34 5 0,-46-12 0,0 1 0,0-2 0,1 0 0,-1 0 0,0-1 0,1-1 0,-1 0 0,22-6 0,90-40 0,-84 31 0,2 1 0,0 2 0,53-10 0,-82 23 0,0-2 0,0 1 0,0-2 0,0 0 0,-1 0 0,0-1 0,1-1 0,-2 0 0,1 0 0,-1-1 0,0-1 0,15-13 0,18-28 0,-35 38 0,0 1 0,0-1 0,1 2 0,13-11 0,70-58 0,-52 50 0,81-42 0,-77 46 0,68-47 0,-111 69 0,14-9 0,0 0 0,-1-2 0,-1 0 0,0-1 0,-1 0 0,13-19 0,13-23 0,64-89 0,-85 121 0,-2-1 0,0-1 0,12-29 0,26-42 0,19-43 0,-59 114 0,20-48 0,-2 1 0,-10 32 0,-3-2 0,-1 0 0,-2-1 0,-3 0 0,-1-1 0,10-77 0,-1-12 0,-13 74 0,-3 37 0,-2 0 0,-1 1 0,-1-1 0,0 0 0,-2 0 0,-1 0 0,-7-34 0,6 42-97,0 1-1,-2 0 1,0 0-1,0 0 1,-2 1-1,1 0 1,-2 0-1,0 0 1,0 1-1,-1 1 1,0-1-1,-1 1 0,-14-11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2B88F-780F-478B-BCB1-9EEE6F75E93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6773D-0560-4D5A-A480-BC64BA8E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6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21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14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2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5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3893-885C-778E-A718-B5DCC68A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04F12-11E5-8D68-28DD-A25342905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AAA63-4FA1-F485-EF84-E8A19C710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D7B33-50D1-AC0C-9982-F908BB392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02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sz="1200" i="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36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F562-9DAF-3232-E97A-9738D783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4E3ED-A697-957F-F667-48C705F4B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BE23B-C1B9-3FCF-93A2-A120B5AB4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0FDA1-EA22-EAED-ABAB-2A983CDB9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81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17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6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0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0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3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7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8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1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60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5423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76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79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42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22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0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731A2-3C6B-4801-98CD-7F4FBF32C4E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71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sp-pain.org/Education/Content.aspx?ItemNumber=169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77B0-B466-48F0-B1A5-A580DEA50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B477E-2387-4F85-A824-A0F813C63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390956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0D65F-F961-63F8-B1D4-60C2756D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1F47B-837C-F050-DD8C-8003E65D1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539" y="2097088"/>
            <a:ext cx="10729746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Differentiate somatosensory receptors and their functional importance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Describe the anatomical pathways that convey sensory input from the body and face to the brain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Predict the location of damage from presentation of clinical symptoms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13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2A39-2EAB-4613-8845-3E184B2B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6742"/>
            <a:ext cx="10058400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Pain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69C57-74EA-4E81-BA4F-869A38415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609" y="1587474"/>
            <a:ext cx="5039053" cy="5270526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Textbook: unpleasant sensory and emotional experience associated with stimuli that cause tissue damage.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International Association for the Study of Pain (IASP): An unpleasant sensory and emotional experience associated with, </a:t>
            </a:r>
            <a:r>
              <a:rPr lang="en-US" sz="2400" b="1" i="1" dirty="0">
                <a:solidFill>
                  <a:schemeClr val="bg1"/>
                </a:solidFill>
              </a:rPr>
              <a:t>or resembling that associated with</a:t>
            </a:r>
            <a:r>
              <a:rPr lang="en-US" sz="2400" dirty="0">
                <a:solidFill>
                  <a:schemeClr val="bg1"/>
                </a:solidFill>
              </a:rPr>
              <a:t>,  </a:t>
            </a:r>
            <a:r>
              <a:rPr lang="en-US" sz="2400" b="1" i="1" dirty="0">
                <a:solidFill>
                  <a:schemeClr val="bg1"/>
                </a:solidFill>
              </a:rPr>
              <a:t>actual or potential </a:t>
            </a:r>
            <a:r>
              <a:rPr lang="en-US" sz="2400" dirty="0">
                <a:solidFill>
                  <a:schemeClr val="bg1"/>
                </a:solidFill>
              </a:rPr>
              <a:t>tissue damage, or described in terms of such damage.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4B15A-EDAF-4BBF-A2E3-0678F71BCC2F}"/>
              </a:ext>
            </a:extLst>
          </p:cNvPr>
          <p:cNvSpPr/>
          <p:nvPr/>
        </p:nvSpPr>
        <p:spPr>
          <a:xfrm>
            <a:off x="0" y="6642126"/>
            <a:ext cx="633885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https://www.iasp-pain.org/Education/Content.aspx?ItemNumber=1698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9E2DF7-A92D-05D4-5CD7-8AE72DC371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67"/>
          <a:stretch>
            <a:fillRect/>
          </a:stretch>
        </p:blipFill>
        <p:spPr>
          <a:xfrm>
            <a:off x="6096000" y="1587474"/>
            <a:ext cx="5136210" cy="350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3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2933-F632-43E6-A028-DB01529C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7294"/>
            <a:ext cx="10058400" cy="137636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Nociception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64CD2-E469-4530-A270-2D7D7DAED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87" y="1513658"/>
            <a:ext cx="6625389" cy="5344342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Nociception:</a:t>
            </a:r>
            <a:r>
              <a:rPr lang="en-US" dirty="0">
                <a:solidFill>
                  <a:schemeClr val="bg1"/>
                </a:solidFill>
              </a:rPr>
              <a:t> the processing of noxious sensations by the nervous system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Noxious stimulus: </a:t>
            </a:r>
            <a:r>
              <a:rPr lang="en-US" sz="2400" dirty="0">
                <a:solidFill>
                  <a:schemeClr val="bg1"/>
                </a:solidFill>
              </a:rPr>
              <a:t>a stimulus that is damaging or threatens to damage normal tissue.</a:t>
            </a:r>
          </a:p>
          <a:p>
            <a:r>
              <a:rPr lang="en-US" b="1" dirty="0">
                <a:solidFill>
                  <a:schemeClr val="bg1"/>
                </a:solidFill>
              </a:rPr>
              <a:t>Nociceptors:</a:t>
            </a:r>
            <a:r>
              <a:rPr lang="en-US" dirty="0">
                <a:solidFill>
                  <a:schemeClr val="bg1"/>
                </a:solidFill>
              </a:rPr>
              <a:t> receptors specialized for the detection of noxious stimuli.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free nerve endings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located in the skin, muscles, and internal organs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activated by mechanical stimulation, chemicals, and temperature change</a:t>
            </a:r>
          </a:p>
        </p:txBody>
      </p:sp>
      <p:pic>
        <p:nvPicPr>
          <p:cNvPr id="7" name="Content Placeholder 3" descr="Neuroscience6e-Fig-09-05-0.jpg">
            <a:extLst>
              <a:ext uri="{FF2B5EF4-FFF2-40B4-BE49-F238E27FC236}">
                <a16:creationId xmlns:a16="http://schemas.microsoft.com/office/drawing/2014/main" id="{25BF6A67-84C2-5C9E-FD89-F455682EFF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46" b="11049"/>
          <a:stretch>
            <a:fillRect/>
          </a:stretch>
        </p:blipFill>
        <p:spPr>
          <a:xfrm>
            <a:off x="7165076" y="1513658"/>
            <a:ext cx="4616670" cy="5344342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6B6AF17F-ED98-0B68-7B4A-617E074D5675}"/>
              </a:ext>
            </a:extLst>
          </p:cNvPr>
          <p:cNvSpPr/>
          <p:nvPr/>
        </p:nvSpPr>
        <p:spPr>
          <a:xfrm>
            <a:off x="7165076" y="2171995"/>
            <a:ext cx="3821372" cy="859220"/>
          </a:xfrm>
          <a:prstGeom prst="frame">
            <a:avLst>
              <a:gd name="adj1" fmla="val 439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50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6D6F-2170-9586-A3B0-BD97AF5BF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Types of Nociceptors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34141-87BA-7588-8D3B-B1205D3E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823" y="1478569"/>
            <a:ext cx="5533931" cy="5284837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l-GR" dirty="0">
                <a:solidFill>
                  <a:schemeClr val="bg1"/>
                </a:solidFill>
              </a:rPr>
              <a:t>δ</a:t>
            </a:r>
            <a:r>
              <a:rPr lang="en-US" dirty="0">
                <a:solidFill>
                  <a:schemeClr val="bg1"/>
                </a:solidFill>
              </a:rPr>
              <a:t> nociceptor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Larger diameter, myelinated axons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First/fast pain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Sharp stinging pain that draws attention to where the pain signal is coming from</a:t>
            </a:r>
          </a:p>
          <a:p>
            <a:r>
              <a:rPr lang="en-US" dirty="0">
                <a:solidFill>
                  <a:schemeClr val="bg1"/>
                </a:solidFill>
              </a:rPr>
              <a:t>C nociceptor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Smaller diameter, unmyelinated axons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Second/slow pain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Dull longer lasting pain that encourages recovery.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C4AA61-28C0-1D67-2CB5-B0A2F8C5F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754" y="1478570"/>
            <a:ext cx="4915454" cy="537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3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56DEE-75C3-9EAE-5707-99CBDB3F4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F209-AF14-E2C4-966C-4917B230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7295"/>
            <a:ext cx="9905998" cy="20849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pain pathways: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Anterolateral system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1C928C-C088-ACF6-549C-2E791865F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1" y="2112284"/>
            <a:ext cx="6086819" cy="46511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Nociceptive afferents enter the spinal cord through dorsal roots.</a:t>
            </a:r>
          </a:p>
          <a:p>
            <a:r>
              <a:rPr lang="en-US" dirty="0">
                <a:solidFill>
                  <a:schemeClr val="bg1"/>
                </a:solidFill>
              </a:rPr>
              <a:t>C fibers primarily terminate in layers I &amp; II of the dorsal horn</a:t>
            </a:r>
          </a:p>
          <a:p>
            <a:r>
              <a:rPr lang="en-US" altLang="en-US" dirty="0">
                <a:solidFill>
                  <a:schemeClr val="bg1"/>
                </a:solidFill>
              </a:rPr>
              <a:t>Aδ fibers primarily terminate in layers I and V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449486-B86F-DAC9-9976-4D58D14684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42" r="2126"/>
          <a:stretch>
            <a:fillRect/>
          </a:stretch>
        </p:blipFill>
        <p:spPr>
          <a:xfrm>
            <a:off x="6858000" y="2112285"/>
            <a:ext cx="5324373" cy="4044702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3394F485-342E-618B-F00A-5D4700072367}"/>
              </a:ext>
            </a:extLst>
          </p:cNvPr>
          <p:cNvSpPr/>
          <p:nvPr/>
        </p:nvSpPr>
        <p:spPr>
          <a:xfrm>
            <a:off x="8426563" y="2908975"/>
            <a:ext cx="1920596" cy="596226"/>
          </a:xfrm>
          <a:prstGeom prst="frame">
            <a:avLst>
              <a:gd name="adj1" fmla="val 26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8F8B2A42-697A-8091-C41E-D19FE0D9537B}"/>
              </a:ext>
            </a:extLst>
          </p:cNvPr>
          <p:cNvSpPr/>
          <p:nvPr/>
        </p:nvSpPr>
        <p:spPr>
          <a:xfrm>
            <a:off x="8314268" y="3037312"/>
            <a:ext cx="1158595" cy="1398330"/>
          </a:xfrm>
          <a:prstGeom prst="frame">
            <a:avLst>
              <a:gd name="adj1" fmla="val 26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40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455B-6D45-8BEB-FB56-C539150C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627"/>
            <a:ext cx="9905998" cy="126169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pain pathways: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Anterolateral system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F8E984-8EA8-8D59-4462-D17496572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1" y="2264686"/>
            <a:ext cx="8092082" cy="44987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Nociceptive afferents synapse with 2</a:t>
            </a:r>
            <a:r>
              <a:rPr lang="en-US" baseline="30000" dirty="0">
                <a:solidFill>
                  <a:schemeClr val="bg1"/>
                </a:solidFill>
              </a:rPr>
              <a:t>nd</a:t>
            </a:r>
            <a:r>
              <a:rPr lang="en-US" dirty="0">
                <a:solidFill>
                  <a:schemeClr val="bg1"/>
                </a:solidFill>
              </a:rPr>
              <a:t> order neurons in the dorsal horn.</a:t>
            </a:r>
          </a:p>
          <a:p>
            <a:r>
              <a:rPr lang="en-US" dirty="0">
                <a:solidFill>
                  <a:schemeClr val="bg1"/>
                </a:solidFill>
              </a:rPr>
              <a:t>Axons cross the midline </a:t>
            </a:r>
            <a:r>
              <a:rPr lang="en-US" i="1" dirty="0">
                <a:solidFill>
                  <a:schemeClr val="bg1"/>
                </a:solidFill>
              </a:rPr>
              <a:t>in the spinal cord </a:t>
            </a:r>
            <a:r>
              <a:rPr lang="en-US" dirty="0">
                <a:solidFill>
                  <a:schemeClr val="bg1"/>
                </a:solidFill>
              </a:rPr>
              <a:t>and then ascend through the spinothalamic tract.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Fast pain fibers synapse with neurons in the VPL (3</a:t>
            </a:r>
            <a:r>
              <a:rPr lang="en-US" sz="2400" baseline="30000" dirty="0">
                <a:solidFill>
                  <a:schemeClr val="bg1"/>
                </a:solidFill>
              </a:rPr>
              <a:t>rd</a:t>
            </a:r>
            <a:r>
              <a:rPr lang="en-US" sz="2400" dirty="0">
                <a:solidFill>
                  <a:schemeClr val="bg1"/>
                </a:solidFill>
              </a:rPr>
              <a:t> order projecting to somatosensory cortex).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Slow pain fibers have more widespread targets in the brain.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6CA577-F61D-D23F-A5D8-52E94E5E6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16496"/>
            <a:ext cx="5815263" cy="53415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BC025AC-9D76-E80F-74EF-A44E0864515A}"/>
                  </a:ext>
                </a:extLst>
              </p14:cNvPr>
              <p14:cNvContentPartPr/>
              <p14:nvPr/>
            </p14:nvContentPartPr>
            <p14:xfrm>
              <a:off x="9833425" y="3183562"/>
              <a:ext cx="906120" cy="938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BC025AC-9D76-E80F-74EF-A44E086451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5785" y="3165922"/>
                <a:ext cx="941760" cy="9738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06A64BB-AD33-8A22-BA79-4C931B1B81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2919"/>
          <a:stretch>
            <a:fillRect/>
          </a:stretch>
        </p:blipFill>
        <p:spPr>
          <a:xfrm>
            <a:off x="8987037" y="0"/>
            <a:ext cx="320496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19BF36-B968-F129-3593-BC39077EC730}"/>
              </a:ext>
            </a:extLst>
          </p:cNvPr>
          <p:cNvSpPr txBox="1"/>
          <p:nvPr/>
        </p:nvSpPr>
        <p:spPr>
          <a:xfrm>
            <a:off x="771181" y="1350507"/>
            <a:ext cx="6616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Follows a similar path as DC/ML, but through different parts of white matter in the spinal cord.</a:t>
            </a:r>
          </a:p>
        </p:txBody>
      </p:sp>
    </p:spTree>
    <p:extLst>
      <p:ext uri="{BB962C8B-B14F-4D97-AF65-F5344CB8AC3E}">
        <p14:creationId xmlns:p14="http://schemas.microsoft.com/office/powerpoint/2010/main" val="50583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6138-6058-B62B-EC4F-EEF889DD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DC29AE-CEE2-F2C0-4E1E-8A491D3BB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182" y="1478570"/>
            <a:ext cx="5520817" cy="5379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A35E9-06A5-6214-447F-FEED8EAA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9421"/>
            <a:ext cx="9905998" cy="131448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pain pathways: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Pain matrix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5011B1-C634-44A1-1EC3-D9A1BF14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1" y="1505866"/>
            <a:ext cx="4756999" cy="525754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Sensory discriminative:             </a:t>
            </a:r>
            <a:r>
              <a:rPr lang="en-US" altLang="en-US" dirty="0">
                <a:solidFill>
                  <a:schemeClr val="bg1"/>
                </a:solidFill>
              </a:rPr>
              <a:t>the location, intensity, and quality of the pain.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Often described as shooting, stinging, throbbing, </a:t>
            </a:r>
            <a:r>
              <a:rPr lang="en-US" altLang="en-US" sz="2400" dirty="0" err="1">
                <a:solidFill>
                  <a:schemeClr val="bg1"/>
                </a:solidFill>
              </a:rPr>
              <a:t>etc</a:t>
            </a:r>
            <a:r>
              <a:rPr lang="en-US" altLang="en-US" sz="2400" dirty="0">
                <a:solidFill>
                  <a:schemeClr val="bg1"/>
                </a:solidFill>
              </a:rPr>
              <a:t>…</a:t>
            </a:r>
          </a:p>
          <a:p>
            <a:pPr marL="457200" lvl="1" indent="0">
              <a:buNone/>
            </a:pP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US" altLang="en-US" b="1" dirty="0">
                <a:solidFill>
                  <a:schemeClr val="bg1"/>
                </a:solidFill>
              </a:rPr>
              <a:t>Affective-motivational:     </a:t>
            </a:r>
            <a:r>
              <a:rPr lang="en-US" altLang="en-US" dirty="0">
                <a:solidFill>
                  <a:schemeClr val="bg1"/>
                </a:solidFill>
              </a:rPr>
              <a:t>emotional aspects of pain.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Often described as tiring, sickening, fearful, </a:t>
            </a:r>
            <a:r>
              <a:rPr lang="en-US" altLang="en-US" sz="2400" dirty="0" err="1">
                <a:solidFill>
                  <a:schemeClr val="bg1"/>
                </a:solidFill>
              </a:rPr>
              <a:t>etc</a:t>
            </a:r>
            <a:r>
              <a:rPr lang="en-US" altLang="en-US" sz="2400" dirty="0">
                <a:solidFill>
                  <a:schemeClr val="bg1"/>
                </a:solidFill>
              </a:rPr>
              <a:t>…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7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D13F8-094D-49D6-818D-6B4E7DA9F7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1" t="24255"/>
          <a:stretch/>
        </p:blipFill>
        <p:spPr>
          <a:xfrm>
            <a:off x="7904717" y="1091820"/>
            <a:ext cx="3823260" cy="2728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0A25C6-D922-4D4D-8889-641451F964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4" r="2895" b="73001"/>
          <a:stretch/>
        </p:blipFill>
        <p:spPr>
          <a:xfrm>
            <a:off x="7904717" y="3820414"/>
            <a:ext cx="3823260" cy="11360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645052-F334-406C-A86A-D27AEC5EFAB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89" r="2908"/>
          <a:stretch/>
        </p:blipFill>
        <p:spPr>
          <a:xfrm>
            <a:off x="7904717" y="4956498"/>
            <a:ext cx="3823260" cy="13463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03B4BC-BCAE-7E1F-9F7E-2C59180D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9182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Clinical applications: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Chronic pain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05B52-E5C7-81E8-E307-FE554CF7C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610" y="1091820"/>
            <a:ext cx="7401130" cy="576617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Long standing pain that persists beyond the usual recovery period or occurs along with a chronic health condition (e.g. arthritis)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Typically pain must last at least 3 months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Causes significant dysfunction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Can be continuous or relapsing</a:t>
            </a:r>
          </a:p>
          <a:p>
            <a:r>
              <a:rPr lang="en-US" dirty="0">
                <a:solidFill>
                  <a:schemeClr val="bg1"/>
                </a:solidFill>
              </a:rPr>
              <a:t>Three broad types: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Neuropathic pain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Inflammatory pain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Deafferentation pain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2564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9EE3-EF73-B589-91F6-E6B13D1C5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84484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Brain Structural and Functional Changes associated with chronic pain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93E64-861E-6EE1-8BB8-58CA7C1F1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909" y="1844842"/>
            <a:ext cx="10547005" cy="48335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Chronic pain is associated with reduced gray matter in prefrontal cortex and the Thalamus (Apkarian et al, 2004)</a:t>
            </a:r>
          </a:p>
          <a:p>
            <a:r>
              <a:rPr lang="en-US" dirty="0">
                <a:solidFill>
                  <a:schemeClr val="bg1"/>
                </a:solidFill>
              </a:rPr>
              <a:t>As pain shifts from acute to chronic, brain activity shifts from sensory regions to more limbic regions (Yang &amp; Chang, 2019).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Amygdala may be hypersensitive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Hippocampus may form persistent pain memories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Nucleus </a:t>
            </a:r>
            <a:r>
              <a:rPr lang="en-US" sz="2400" dirty="0" err="1">
                <a:solidFill>
                  <a:schemeClr val="bg1"/>
                </a:solidFill>
              </a:rPr>
              <a:t>Accumbens</a:t>
            </a:r>
            <a:r>
              <a:rPr lang="en-US" sz="2400" dirty="0">
                <a:solidFill>
                  <a:schemeClr val="bg1"/>
                </a:solidFill>
              </a:rPr>
              <a:t> (technically BG) functional connectivity with medial prefrontal cortex is a significant predictor of chronic pain.</a:t>
            </a:r>
          </a:p>
        </p:txBody>
      </p:sp>
    </p:spTree>
    <p:extLst>
      <p:ext uri="{BB962C8B-B14F-4D97-AF65-F5344CB8AC3E}">
        <p14:creationId xmlns:p14="http://schemas.microsoft.com/office/powerpoint/2010/main" val="27254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1691</TotalTime>
  <Words>547</Words>
  <Application>Microsoft Office PowerPoint</Application>
  <PresentationFormat>Widescreen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Circuit</vt:lpstr>
      <vt:lpstr>Pain</vt:lpstr>
      <vt:lpstr>Learning Objectives</vt:lpstr>
      <vt:lpstr>Pain </vt:lpstr>
      <vt:lpstr>Nociception</vt:lpstr>
      <vt:lpstr>Types of Nociceptors</vt:lpstr>
      <vt:lpstr>pain pathways: the Anterolateral system</vt:lpstr>
      <vt:lpstr>pain pathways: the Anterolateral system</vt:lpstr>
      <vt:lpstr>pain pathways: the Pain matrix</vt:lpstr>
      <vt:lpstr>Clinical applications: Chronic pain</vt:lpstr>
      <vt:lpstr>Brain Structural and Functional Changes associated with chronic pain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sensory processing: Touch and pain</dc:title>
  <dc:creator>Nicole Forner</dc:creator>
  <cp:lastModifiedBy>Phillips, Nicole</cp:lastModifiedBy>
  <cp:revision>168</cp:revision>
  <dcterms:created xsi:type="dcterms:W3CDTF">2020-09-22T01:09:55Z</dcterms:created>
  <dcterms:modified xsi:type="dcterms:W3CDTF">2026-03-05T20:19:30Z</dcterms:modified>
</cp:coreProperties>
</file>