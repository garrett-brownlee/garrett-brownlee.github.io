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444" r:id="rId3"/>
    <p:sldId id="479" r:id="rId4"/>
    <p:sldId id="315" r:id="rId5"/>
    <p:sldId id="481" r:id="rId6"/>
    <p:sldId id="316" r:id="rId7"/>
    <p:sldId id="336" r:id="rId8"/>
    <p:sldId id="338" r:id="rId9"/>
    <p:sldId id="482" r:id="rId10"/>
    <p:sldId id="380" r:id="rId11"/>
    <p:sldId id="480" r:id="rId12"/>
    <p:sldId id="321" r:id="rId13"/>
    <p:sldId id="48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FC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79035" autoAdjust="0"/>
  </p:normalViewPr>
  <p:slideViewPr>
    <p:cSldViewPr snapToGrid="0">
      <p:cViewPr varScale="1">
        <p:scale>
          <a:sx n="125" d="100"/>
          <a:sy n="125" d="100"/>
        </p:scale>
        <p:origin x="15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08T21:49:05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1586 3710 24575,'22'2'0,"0"0"0,1 2 0,34 10 0,-13-3 0,149 37 0,219 87 0,-371-116 0,-1 1 0,-1 2 0,45 34 0,-62-41 0,1 0 0,-1 1 0,-1 1 0,23 22 0,-38-33 0,0 1 0,0 0 0,-1 0 0,0 1 0,-1-1 0,1 1 0,-2 0 0,1 0 0,-1 1 0,0-1 0,0 0 0,-1 1 0,1 14 0,-2 167 0,-3-111 0,2-69 0,-1 0 0,0-1 0,-1 1 0,0-1 0,0 1 0,-1-1 0,0 0 0,-1 0 0,0 0 0,0 0 0,-1-1 0,0 1 0,0-1 0,-1 0 0,0-1 0,-1 0 0,0 0 0,-12 10 0,7-8 0,1-1 0,-1-1 0,0 0 0,-1-1 0,1-1 0,-1 0 0,-1 0 0,1-1 0,0-1 0,-1 0 0,0-1 0,-22 1 0,-159-6 0,-60 3 0,145 16 0,70-8 0,-41 2 0,40-7 0,0-2 0,0-1 0,0-3 0,0-1 0,0-2 0,-74-20 0,26-4 0,-150-73 0,102 24 0,75 42 0,-2 2 0,-91-36 0,131 62 0,1 0 0,-40-23 0,53 26 0,0-1 0,0-1 0,0 0 0,1 0 0,1-1 0,0 0 0,0-1 0,-7-10 0,-90-153 0,91 145 0,2 0 0,0-1 0,2 0 0,-10-50 0,18 69 0,-34-158 0,28 137 0,-2 0 0,-2 0 0,-18-37 0,20 52 0,0 0 0,-18-20 0,18 24 0,0 0 0,1-1 0,1-1 0,-9-17 0,-3-14 0,-38-62 0,52 96 0,1 0 0,0 0 0,0 0 0,1-1 0,1 0 0,0 0 0,0 0 0,-1-20 0,2-10 0,4-50 0,0 38 0,2-48 0,4 0 0,29-132 0,-24 155 0,-10 57 0,0 1 0,1-1 0,1 1 0,0 0 0,2 1 0,1 0 0,14-29 0,17-24 0,-28 49 0,1 1 0,16-22 0,-5 7 0,-1 0 0,-1-2 0,25-73 0,25-50 0,-54 134 0,2 1 0,0 1 0,2 0 0,33-33 0,107-85 0,-7 6 0,-125 111 0,79-83 0,144-111 0,-229 205 0,1 2 0,0 1 0,1 1 0,0 1 0,1 1 0,1 1 0,51-12 0,9 6 0,104-5 0,-7 0 0,311-61 0,-473 77 0,0-2 0,-1 0 0,0-2 0,0 0 0,25-15 0,-16 7 0,44-16 0,140-35 0,61-24 0,-226 73 0,-1-3 0,-1-2 0,65-43 0,-51 15 0,-51 42 0,0 0 0,0 1 0,1 1 0,0 0 0,0 0 0,1 1 0,0 1 0,0 0 0,20-7 0,3 6 0,0 2 0,70-2 0,-12 2 0,77-13 0,331-22 0,275 38 0,-372 4 0,300-2 0,-664-1 0,0 3 0,0 0 0,0 3 0,0 1 0,-1 2 0,0 2 0,51 20 0,-58-15 0,1-2 0,0-2 0,1 0 0,0-3 0,66 9 0,-76-15 0,-5-2 0,1 2 0,-1 0 0,0 1 0,-1 1 0,1 1 0,22 9 0,42 28 0,118 80 0,-161-96 0,19 16 0,93 87 0,-52-41 0,-65-61 0,45 25 0,-55-37 0,0 1 0,-1 1 0,-1 1 0,0 1 0,20 23 0,-25-20 0,1-1 0,1-1 0,0-1 0,1-1 0,29 18 0,-13-13 0,-1 2 0,-1 1 0,-2 1 0,0 2 0,-2 2 0,46 57 0,-65-69 0,-1 1 0,-1 1 0,-1 0 0,8 27 0,8 16 0,17 40 0,61 129 0,-88-204 0,-2-7 0,-1 1 0,-1 0 0,-2 0 0,0 1 0,-1 1 0,6 37 0,-3 4 0,3 0 0,29 85 0,8 30 0,-44-146 0,-1 0 0,-2 0 0,0 50 0,-8 489 0,1-545 0,-1 1 0,-1-1 0,-1 0 0,-2-1 0,-1 0 0,-16 35 0,21-51 0,-25 55 0,-42 69 0,23-47 0,30-54 0,-2 0 0,-2-1 0,-1-2 0,-48 54 0,55-69 0,-2-1 0,0-1 0,0 0 0,-2-2 0,1 0 0,-2-1 0,1-1 0,-2-1 0,-33 11 0,2-6 0,-1-3 0,0-2 0,-73 4 0,-168-14 0,265-2 0,1-1 0,-1-2 0,1 0 0,-34-13 0,48 13 0,0 0 0,0-1 0,1-1 0,0-1 0,0 0 0,0-1 0,1 0 0,1-1 0,-16-16 0,23 21 0,0-1 0,1 0 0,0 0 0,0 0 0,1 0 0,0-1 0,0 1 0,0-1 0,-3-12 0,3 0 0,0 0 0,0-24 0,2 26 0,0 0 0,-1 0 0,-8-32 0,-9 4 0,-1 0 0,-2 2 0,-2 0 0,-38-50 0,21 31 0,36 55 0,-14-21 0,0-2 0,2 0 0,1-1 0,1-1 0,-14-47 0,-5-100 0,21 93 0,1 36 0,-32-90 0,17 63 0,15 44 0,-3 1 0,0 0 0,-2 2 0,-1 0 0,-2 1 0,0 0 0,-2 2 0,-49-47 0,36 45 0,-1 1 0,-62-36 0,75 50 0,-36-19 0,-68-28 0,-2 0 0,-63-42 0,155 85 0,-1 2 0,-1 1 0,-43-10 0,-16-6 0,52 14 0,-18-8 0,-2 4 0,-95-19 0,27 21 0,-147-1 0,191 13 0,0-3 0,-101-26 0,109 17 0,-1 5 0,-160-8 0,-299 27 0,467-1 0,1 4 0,-1 3 0,-87 24 0,32-6 0,-126 18 0,-175 39 0,368-73 0,45-10 0,0 0 0,0 1 0,1 1 0,0 1 0,0 0 0,0 2 0,-23 13 0,23-10 0,-84 63 0,-35 23 0,91-63 0,-60 34 0,-35 26 0,124-81 0,1 1 0,0 0 0,0 1 0,1 1 0,1 0 0,-12 20 0,9-10 0,-80 119 0,62-102 0,-45 75 0,70-102 0,1 1 0,0 0 0,1 1 0,1-1 0,1 1 0,0 1 0,1-1 0,-2 27 0,5 285 0,4-154 0,-4-126 0,0-23 0,0 0 0,2 0 0,9 51 0,-8-70 0,0-1 0,0 0 0,0 0 0,1 0 0,1 0 0,-1 0 0,1-1 0,0 1 0,0-1 0,1 0 0,0 0 0,0 0 0,0-1 0,1 0 0,0 0 0,0 0 0,0-1 0,11 6 0,-8-6-227,0 0-1,0-1 1,1 0-1,-1 0 1,13 1-1,8 0-6598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D10A8-DF34-43C2-9D19-55D08F46E456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FADD6-F779-4508-B80A-02C04899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85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97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8347B-8D74-48BA-8804-122372A080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7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954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341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16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49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05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25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860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28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343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FADD6-F779-4508-B80A-02C04899084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92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09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23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94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9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79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8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4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6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15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31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6209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26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069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081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16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F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81A8D-F5D8-4707-98ED-85C704576B6E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BF6510-02A3-413E-8110-951AEDD37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05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flickr.com/photos/atoach/809473710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DBBA-CD1B-4CFC-9CAA-0F08439639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emotion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A8544D-848D-41CA-B67B-711DF2176D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By: Nicole Phillips</a:t>
            </a:r>
          </a:p>
        </p:txBody>
      </p:sp>
    </p:spTree>
    <p:extLst>
      <p:ext uri="{BB962C8B-B14F-4D97-AF65-F5344CB8AC3E}">
        <p14:creationId xmlns:p14="http://schemas.microsoft.com/office/powerpoint/2010/main" val="388157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71B8-9727-4C5D-AF7F-82EC127C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95155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A4168-32C2-47F6-9FDD-F52E455EF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73725"/>
            <a:ext cx="9905999" cy="431335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Identify and describe the roles of parts of the brain involved in the experience of emotion and emotion regulation.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Identify symptoms of mood disorders and relate symptoms to biological abnormalities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Describe ways in which treatments for mood disorders can target biological abnormalities associated with specific symptoms.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2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A858F-54E6-4E19-AAB5-9909261C0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113" y="214658"/>
            <a:ext cx="2432367" cy="147857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Emotions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59F33-3A52-42A3-A0C5-569579D8E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1282" cy="46672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i="1" dirty="0">
                <a:solidFill>
                  <a:schemeClr val="bg1"/>
                </a:solidFill>
              </a:rPr>
              <a:t>subjective</a:t>
            </a:r>
            <a:r>
              <a:rPr lang="en-US" dirty="0">
                <a:solidFill>
                  <a:schemeClr val="bg1"/>
                </a:solidFill>
              </a:rPr>
              <a:t> mental state that is usually accompanied by distinctive </a:t>
            </a:r>
            <a:r>
              <a:rPr lang="en-US" b="1" dirty="0">
                <a:solidFill>
                  <a:schemeClr val="bg1"/>
                </a:solidFill>
              </a:rPr>
              <a:t>behaviors, feelings, and involuntary physiological changes.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352DB0-69B0-491F-93C2-A02EC101B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208" y="1362259"/>
            <a:ext cx="4560203" cy="48772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BDD57F-509F-44BF-8E0D-F5C7A7FE2429}"/>
              </a:ext>
            </a:extLst>
          </p:cNvPr>
          <p:cNvSpPr txBox="1"/>
          <p:nvPr/>
        </p:nvSpPr>
        <p:spPr>
          <a:xfrm>
            <a:off x="6694306" y="115178"/>
            <a:ext cx="18469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Freezing</a:t>
            </a:r>
          </a:p>
          <a:p>
            <a:r>
              <a:rPr lang="en-US" b="1" dirty="0">
                <a:solidFill>
                  <a:schemeClr val="bg1"/>
                </a:solidFill>
              </a:rPr>
              <a:t>Running</a:t>
            </a:r>
          </a:p>
          <a:p>
            <a:r>
              <a:rPr lang="en-US" b="1" dirty="0">
                <a:solidFill>
                  <a:schemeClr val="bg1"/>
                </a:solidFill>
              </a:rPr>
              <a:t>Stance</a:t>
            </a:r>
          </a:p>
          <a:p>
            <a:r>
              <a:rPr lang="en-US" b="1" dirty="0">
                <a:solidFill>
                  <a:schemeClr val="bg1"/>
                </a:solidFill>
              </a:rPr>
              <a:t>Facial expression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CCE9A-F140-421D-8E5D-5014AC5190FB}"/>
              </a:ext>
            </a:extLst>
          </p:cNvPr>
          <p:cNvSpPr txBox="1"/>
          <p:nvPr/>
        </p:nvSpPr>
        <p:spPr>
          <a:xfrm>
            <a:off x="9096236" y="115178"/>
            <a:ext cx="1753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Heart rate</a:t>
            </a:r>
          </a:p>
          <a:p>
            <a:r>
              <a:rPr lang="en-US" b="1" dirty="0">
                <a:solidFill>
                  <a:schemeClr val="bg1"/>
                </a:solidFill>
              </a:rPr>
              <a:t>Breathing</a:t>
            </a:r>
          </a:p>
          <a:p>
            <a:r>
              <a:rPr lang="en-US" b="1" dirty="0">
                <a:solidFill>
                  <a:schemeClr val="bg1"/>
                </a:solidFill>
              </a:rPr>
              <a:t>Blood pressure</a:t>
            </a:r>
          </a:p>
          <a:p>
            <a:r>
              <a:rPr lang="en-US" b="1" dirty="0">
                <a:solidFill>
                  <a:schemeClr val="bg1"/>
                </a:solidFill>
              </a:rPr>
              <a:t>Stress hormones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CEEA62-3A7B-43E6-80C3-E15616289248}"/>
              </a:ext>
            </a:extLst>
          </p:cNvPr>
          <p:cNvSpPr txBox="1"/>
          <p:nvPr/>
        </p:nvSpPr>
        <p:spPr>
          <a:xfrm>
            <a:off x="7477661" y="6308209"/>
            <a:ext cx="2637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Subjective feeling/context</a:t>
            </a:r>
          </a:p>
        </p:txBody>
      </p:sp>
    </p:spTree>
    <p:extLst>
      <p:ext uri="{BB962C8B-B14F-4D97-AF65-F5344CB8AC3E}">
        <p14:creationId xmlns:p14="http://schemas.microsoft.com/office/powerpoint/2010/main" val="210104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F47D8-7C16-411C-83CB-1D098C5B8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58318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Damage to the brain reveals a role For the limbic system in emotion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D3225-AE13-426B-9C65-7CE65463D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36888"/>
            <a:ext cx="6241521" cy="5221112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Papez consolidated research on emotion and brain damage and identified: 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the mammillary bodies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Anterior thalamus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Cingulate cortex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Hippocampus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Fornix </a:t>
            </a:r>
          </a:p>
          <a:p>
            <a:r>
              <a:rPr lang="en-US" altLang="en-US" dirty="0">
                <a:solidFill>
                  <a:schemeClr val="bg1"/>
                </a:solidFill>
              </a:rPr>
              <a:t>MacLean later added the amygdala and basal forebrain nucleus and renamed the structures collectively as the limbic system!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45B33-2E71-41FD-8558-E919D01B9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933" y="1636888"/>
            <a:ext cx="4809067" cy="5221112"/>
          </a:xfrm>
          <a:prstGeom prst="rect">
            <a:avLst/>
          </a:prstGeom>
        </p:spPr>
      </p:pic>
      <p:sp>
        <p:nvSpPr>
          <p:cNvPr id="5" name="Circle: Hollow 4">
            <a:extLst>
              <a:ext uri="{FF2B5EF4-FFF2-40B4-BE49-F238E27FC236}">
                <a16:creationId xmlns:a16="http://schemas.microsoft.com/office/drawing/2014/main" id="{8BE100A1-5522-4D39-54D8-A55B3CC74E62}"/>
              </a:ext>
            </a:extLst>
          </p:cNvPr>
          <p:cNvSpPr/>
          <p:nvPr/>
        </p:nvSpPr>
        <p:spPr>
          <a:xfrm rot="20350668">
            <a:off x="10252132" y="4895486"/>
            <a:ext cx="342236" cy="273739"/>
          </a:xfrm>
          <a:prstGeom prst="donut">
            <a:avLst>
              <a:gd name="adj" fmla="val 250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ircle: Hollow 5">
            <a:extLst>
              <a:ext uri="{FF2B5EF4-FFF2-40B4-BE49-F238E27FC236}">
                <a16:creationId xmlns:a16="http://schemas.microsoft.com/office/drawing/2014/main" id="{D16FB68C-8104-73E9-6F10-781614BA0F5E}"/>
              </a:ext>
            </a:extLst>
          </p:cNvPr>
          <p:cNvSpPr/>
          <p:nvPr/>
        </p:nvSpPr>
        <p:spPr>
          <a:xfrm rot="20350668">
            <a:off x="10088914" y="4422366"/>
            <a:ext cx="461645" cy="256501"/>
          </a:xfrm>
          <a:prstGeom prst="donut">
            <a:avLst>
              <a:gd name="adj" fmla="val 250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CB46758-9C96-C63C-F9BF-A222D49EF411}"/>
                  </a:ext>
                </a:extLst>
              </p14:cNvPr>
              <p14:cNvContentPartPr/>
              <p14:nvPr/>
            </p14:nvContentPartPr>
            <p14:xfrm>
              <a:off x="8894325" y="3273032"/>
              <a:ext cx="3266280" cy="1733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CB46758-9C96-C63C-F9BF-A222D49EF4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85325" y="3264392"/>
                <a:ext cx="3283920" cy="175068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Circle: Hollow 9">
            <a:extLst>
              <a:ext uri="{FF2B5EF4-FFF2-40B4-BE49-F238E27FC236}">
                <a16:creationId xmlns:a16="http://schemas.microsoft.com/office/drawing/2014/main" id="{01AB1FEA-A380-2668-6098-CC07D8DAD967}"/>
              </a:ext>
            </a:extLst>
          </p:cNvPr>
          <p:cNvSpPr/>
          <p:nvPr/>
        </p:nvSpPr>
        <p:spPr>
          <a:xfrm rot="20350668">
            <a:off x="10345696" y="4930285"/>
            <a:ext cx="1329325" cy="395183"/>
          </a:xfrm>
          <a:prstGeom prst="donut">
            <a:avLst>
              <a:gd name="adj" fmla="val 250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CD70C080-C8F3-516F-80A7-A238929562FF}"/>
              </a:ext>
            </a:extLst>
          </p:cNvPr>
          <p:cNvSpPr/>
          <p:nvPr/>
        </p:nvSpPr>
        <p:spPr>
          <a:xfrm rot="20350668">
            <a:off x="10118897" y="4671416"/>
            <a:ext cx="159954" cy="254542"/>
          </a:xfrm>
          <a:prstGeom prst="donut">
            <a:avLst>
              <a:gd name="adj" fmla="val 250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Circle: Hollow 11">
            <a:extLst>
              <a:ext uri="{FF2B5EF4-FFF2-40B4-BE49-F238E27FC236}">
                <a16:creationId xmlns:a16="http://schemas.microsoft.com/office/drawing/2014/main" id="{96A114BD-BE80-7F17-BD23-6261DDB01447}"/>
              </a:ext>
            </a:extLst>
          </p:cNvPr>
          <p:cNvSpPr/>
          <p:nvPr/>
        </p:nvSpPr>
        <p:spPr>
          <a:xfrm rot="20350668">
            <a:off x="10043538" y="5107035"/>
            <a:ext cx="342236" cy="273739"/>
          </a:xfrm>
          <a:prstGeom prst="donut">
            <a:avLst>
              <a:gd name="adj" fmla="val 250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ircle: Hollow 12">
            <a:extLst>
              <a:ext uri="{FF2B5EF4-FFF2-40B4-BE49-F238E27FC236}">
                <a16:creationId xmlns:a16="http://schemas.microsoft.com/office/drawing/2014/main" id="{B9956F84-9C51-9E54-E512-20C974406394}"/>
              </a:ext>
            </a:extLst>
          </p:cNvPr>
          <p:cNvSpPr/>
          <p:nvPr/>
        </p:nvSpPr>
        <p:spPr>
          <a:xfrm rot="20350668">
            <a:off x="9678539" y="4850574"/>
            <a:ext cx="342236" cy="273739"/>
          </a:xfrm>
          <a:prstGeom prst="donut">
            <a:avLst>
              <a:gd name="adj" fmla="val 250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20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B201-B9C0-3E3B-BB38-627AEE868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Anatomy of the Amygdala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5D6C7-CD3A-0EC3-7B36-DAE645D45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478570"/>
            <a:ext cx="4954589" cy="537943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Groups: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Central:</a:t>
            </a:r>
            <a:r>
              <a:rPr lang="en-US" sz="2400" dirty="0">
                <a:solidFill>
                  <a:schemeClr val="bg1"/>
                </a:solidFill>
              </a:rPr>
              <a:t> connected to hypothalamus and brainstem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Medial:</a:t>
            </a:r>
            <a:r>
              <a:rPr lang="en-US" sz="2400" dirty="0">
                <a:solidFill>
                  <a:schemeClr val="bg1"/>
                </a:solidFill>
              </a:rPr>
              <a:t> connected to olfactory areas</a:t>
            </a:r>
          </a:p>
          <a:p>
            <a:pPr lvl="1"/>
            <a:r>
              <a:rPr lang="en-US" sz="2400" b="1" dirty="0">
                <a:solidFill>
                  <a:schemeClr val="bg1"/>
                </a:solidFill>
              </a:rPr>
              <a:t>Basolateral:</a:t>
            </a:r>
            <a:r>
              <a:rPr lang="en-US" sz="2400" dirty="0">
                <a:solidFill>
                  <a:schemeClr val="bg1"/>
                </a:solidFill>
              </a:rPr>
              <a:t> connected to cortical areas</a:t>
            </a:r>
          </a:p>
          <a:p>
            <a:r>
              <a:rPr lang="en-US" dirty="0">
                <a:solidFill>
                  <a:schemeClr val="bg1"/>
                </a:solidFill>
              </a:rPr>
              <a:t>The amygdala is important in determining the emotional significance of sensory stimuli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0DB8CE-CF2C-CF8B-4B0E-0014B65519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17" t="71222" r="13217"/>
          <a:stretch>
            <a:fillRect/>
          </a:stretch>
        </p:blipFill>
        <p:spPr>
          <a:xfrm>
            <a:off x="6362700" y="4884420"/>
            <a:ext cx="4954589" cy="1973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348F60-9FBC-2A1B-700E-E0B7B8111E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b="51000"/>
          <a:stretch>
            <a:fillRect/>
          </a:stretch>
        </p:blipFill>
        <p:spPr>
          <a:xfrm>
            <a:off x="7162799" y="1477890"/>
            <a:ext cx="3354389" cy="3406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3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A2979-BB24-4F2B-AAB3-C22A3E2A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742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Pathways to the Amygdala and Fear/aggression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637E-0543-4740-8B8F-C20193D77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68162"/>
            <a:ext cx="3729943" cy="5189838"/>
          </a:xfrm>
        </p:spPr>
        <p:txBody>
          <a:bodyPr>
            <a:normAutofit fontScale="92500"/>
          </a:bodyPr>
          <a:lstStyle/>
          <a:p>
            <a:r>
              <a:rPr lang="en-US" altLang="en-US" b="1" dirty="0">
                <a:solidFill>
                  <a:schemeClr val="bg1"/>
                </a:solidFill>
              </a:rPr>
              <a:t>Direct pathway (Low road): </a:t>
            </a:r>
            <a:r>
              <a:rPr lang="en-US" altLang="en-US" dirty="0">
                <a:solidFill>
                  <a:schemeClr val="bg1"/>
                </a:solidFill>
              </a:rPr>
              <a:t>sensory information from the thalamus that goes directly to the amygdala. 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Immediate emotional reactions.</a:t>
            </a:r>
          </a:p>
          <a:p>
            <a:r>
              <a:rPr lang="en-US" altLang="en-US" b="1" dirty="0">
                <a:solidFill>
                  <a:schemeClr val="bg1"/>
                </a:solidFill>
              </a:rPr>
              <a:t>Indirect pathway (High road): </a:t>
            </a:r>
            <a:r>
              <a:rPr lang="en-US" altLang="en-US" dirty="0">
                <a:solidFill>
                  <a:schemeClr val="bg1"/>
                </a:solidFill>
              </a:rPr>
              <a:t>information is routed through cortex before being sent to the amygdala.</a:t>
            </a:r>
          </a:p>
          <a:p>
            <a:pPr lvl="1"/>
            <a:r>
              <a:rPr lang="en-US" altLang="en-US" sz="2400" dirty="0">
                <a:solidFill>
                  <a:schemeClr val="bg1"/>
                </a:solidFill>
              </a:rPr>
              <a:t>Cognitive evaluation of emotion in context.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27072-4183-4D9B-D930-23EE914FBEE8}"/>
              </a:ext>
            </a:extLst>
          </p:cNvPr>
          <p:cNvSpPr/>
          <p:nvPr/>
        </p:nvSpPr>
        <p:spPr>
          <a:xfrm>
            <a:off x="5333715" y="3135085"/>
            <a:ext cx="1789611" cy="80989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211A80-A39B-F305-F157-0EBA07D59095}"/>
              </a:ext>
            </a:extLst>
          </p:cNvPr>
          <p:cNvSpPr/>
          <p:nvPr/>
        </p:nvSpPr>
        <p:spPr>
          <a:xfrm>
            <a:off x="5552376" y="1852771"/>
            <a:ext cx="2849502" cy="6916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424CB-036F-4077-2839-D8D85B732B7D}"/>
              </a:ext>
            </a:extLst>
          </p:cNvPr>
          <p:cNvSpPr/>
          <p:nvPr/>
        </p:nvSpPr>
        <p:spPr>
          <a:xfrm>
            <a:off x="8531678" y="1852772"/>
            <a:ext cx="2321852" cy="69164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59EF70-8C99-B311-3BF7-8B9C86E5B35B}"/>
              </a:ext>
            </a:extLst>
          </p:cNvPr>
          <p:cNvSpPr/>
          <p:nvPr/>
        </p:nvSpPr>
        <p:spPr>
          <a:xfrm>
            <a:off x="10111409" y="2571565"/>
            <a:ext cx="1636926" cy="112579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939B86-2D1B-6763-4504-9B9E2650D5B4}"/>
              </a:ext>
            </a:extLst>
          </p:cNvPr>
          <p:cNvSpPr/>
          <p:nvPr/>
        </p:nvSpPr>
        <p:spPr>
          <a:xfrm>
            <a:off x="10035066" y="3891311"/>
            <a:ext cx="1789611" cy="296668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A4FF6C-8B1C-EBA9-F89E-964CBD98EE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367" b="24184"/>
          <a:stretch/>
        </p:blipFill>
        <p:spPr>
          <a:xfrm>
            <a:off x="4871356" y="1825625"/>
            <a:ext cx="7320644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4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86" name="Text Box 14"/>
          <p:cNvSpPr txBox="1">
            <a:spLocks noChangeArrowheads="1"/>
          </p:cNvSpPr>
          <p:nvPr/>
        </p:nvSpPr>
        <p:spPr bwMode="auto">
          <a:xfrm>
            <a:off x="4689413" y="1923451"/>
            <a:ext cx="26312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Amygdala    Hippocampus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77" y="186162"/>
            <a:ext cx="9905998" cy="1478570"/>
          </a:xfrm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amygdala and social behavior: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Patient S.M.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156" y="2296213"/>
            <a:ext cx="4418073" cy="41924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45580" y="6488668"/>
            <a:ext cx="2613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from </a:t>
            </a:r>
            <a:r>
              <a:rPr lang="en-US" dirty="0" err="1">
                <a:solidFill>
                  <a:schemeClr val="bg1"/>
                </a:solidFill>
              </a:rPr>
              <a:t>Bechara</a:t>
            </a:r>
            <a:r>
              <a:rPr lang="en-US" dirty="0">
                <a:solidFill>
                  <a:schemeClr val="bg1"/>
                </a:solidFill>
              </a:rPr>
              <a:t> et al. 1995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229" y="1023583"/>
            <a:ext cx="3371771" cy="546508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CF1822-81E4-C1BD-832F-6746C3CA4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68162"/>
            <a:ext cx="3260743" cy="5189838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Patient S.M. had Urbach-</a:t>
            </a:r>
            <a:r>
              <a:rPr lang="en-US" sz="2200" dirty="0" err="1">
                <a:solidFill>
                  <a:schemeClr val="bg1"/>
                </a:solidFill>
              </a:rPr>
              <a:t>Wiethe</a:t>
            </a:r>
            <a:r>
              <a:rPr lang="en-US" sz="2200" dirty="0">
                <a:solidFill>
                  <a:schemeClr val="bg1"/>
                </a:solidFill>
              </a:rPr>
              <a:t> disease, which damages both amygdalae.</a:t>
            </a:r>
          </a:p>
          <a:p>
            <a:r>
              <a:rPr lang="en-US" sz="2200" dirty="0">
                <a:solidFill>
                  <a:schemeClr val="bg1"/>
                </a:solidFill>
              </a:rPr>
              <a:t>Patient S.M. experienced: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Impaired fear conditioning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History of poor life choices</a:t>
            </a:r>
          </a:p>
          <a:p>
            <a:pPr lvl="1"/>
            <a:r>
              <a:rPr lang="en-US" sz="2200" dirty="0">
                <a:solidFill>
                  <a:schemeClr val="bg1"/>
                </a:solidFill>
              </a:rPr>
              <a:t>Difficulty recognizing facial expression of fear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73A90B7-89BA-4BA8-853C-93FA908E3CF1}"/>
              </a:ext>
            </a:extLst>
          </p:cNvPr>
          <p:cNvSpPr/>
          <p:nvPr/>
        </p:nvSpPr>
        <p:spPr>
          <a:xfrm>
            <a:off x="6735872" y="1066800"/>
            <a:ext cx="4242816" cy="5791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BF2631-6AB1-460F-A8BC-6718BF8C6B8C}"/>
              </a:ext>
            </a:extLst>
          </p:cNvPr>
          <p:cNvSpPr/>
          <p:nvPr/>
        </p:nvSpPr>
        <p:spPr>
          <a:xfrm>
            <a:off x="914400" y="1506435"/>
            <a:ext cx="4242816" cy="4539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41559" r="59333"/>
          <a:stretch/>
        </p:blipFill>
        <p:spPr>
          <a:xfrm>
            <a:off x="7127117" y="1409700"/>
            <a:ext cx="3460327" cy="51054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42AF9DE-E012-4801-A061-F64A2A89D259}"/>
              </a:ext>
            </a:extLst>
          </p:cNvPr>
          <p:cNvGrpSpPr/>
          <p:nvPr/>
        </p:nvGrpSpPr>
        <p:grpSpPr>
          <a:xfrm>
            <a:off x="1213311" y="1960842"/>
            <a:ext cx="3644995" cy="3630507"/>
            <a:chOff x="1796535" y="1498824"/>
            <a:chExt cx="3644995" cy="363050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3"/>
            <a:srcRect r="59333" b="58442"/>
            <a:stretch/>
          </p:blipFill>
          <p:spPr>
            <a:xfrm>
              <a:off x="1981203" y="1498824"/>
              <a:ext cx="3460327" cy="3630507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 rot="16200000">
              <a:off x="1611453" y="2367510"/>
              <a:ext cx="739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Anger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 rot="16200000">
              <a:off x="1519375" y="4120635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Sadness</a:t>
              </a:r>
            </a:p>
          </p:txBody>
        </p:sp>
      </p:grpSp>
      <p:sp>
        <p:nvSpPr>
          <p:cNvPr id="8" name="Explosion 2 7"/>
          <p:cNvSpPr/>
          <p:nvPr/>
        </p:nvSpPr>
        <p:spPr bwMode="auto">
          <a:xfrm>
            <a:off x="5793617" y="1066040"/>
            <a:ext cx="2667000" cy="1219200"/>
          </a:xfrm>
          <a:prstGeom prst="irregularSeal2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solidFill>
                  <a:srgbClr val="FF0000"/>
                </a:solidFill>
                <a:latin typeface="Tahoma" charset="0"/>
              </a:rPr>
              <a:t>Fear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7563" y="6488668"/>
            <a:ext cx="2510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from </a:t>
            </a:r>
            <a:r>
              <a:rPr lang="en-US" dirty="0" err="1">
                <a:solidFill>
                  <a:schemeClr val="bg1"/>
                </a:solidFill>
              </a:rPr>
              <a:t>Adolphs</a:t>
            </a:r>
            <a:r>
              <a:rPr lang="en-US" dirty="0">
                <a:solidFill>
                  <a:schemeClr val="bg1"/>
                </a:solidFill>
              </a:rPr>
              <a:t> et al. 2005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6F6255-0220-04DD-CB35-C7DDE5B4A3AC}"/>
              </a:ext>
            </a:extLst>
          </p:cNvPr>
          <p:cNvSpPr txBox="1"/>
          <p:nvPr/>
        </p:nvSpPr>
        <p:spPr>
          <a:xfrm>
            <a:off x="7686831" y="1053584"/>
            <a:ext cx="790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control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B3012D-22F9-0337-03DC-B5393DE4B162}"/>
              </a:ext>
            </a:extLst>
          </p:cNvPr>
          <p:cNvSpPr txBox="1"/>
          <p:nvPr/>
        </p:nvSpPr>
        <p:spPr>
          <a:xfrm>
            <a:off x="9537915" y="1053584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8" grpId="0" animBg="1"/>
      <p:bldP spid="11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E1742-A3D2-87ED-6327-08C827B13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S.M.’s Drawings of facial expressions of emotion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6C502-F21C-2AED-32BA-96306CA5A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164" y="1478570"/>
            <a:ext cx="3877672" cy="537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25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4552" cy="127783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amygdala has extensive reciprocal connections with the PFC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191D870-C21E-6823-2726-2AEF6E6748C6}"/>
              </a:ext>
            </a:extLst>
          </p:cNvPr>
          <p:cNvSpPr/>
          <p:nvPr/>
        </p:nvSpPr>
        <p:spPr>
          <a:xfrm>
            <a:off x="1014484" y="2210936"/>
            <a:ext cx="6625677" cy="4647063"/>
          </a:xfrm>
          <a:custGeom>
            <a:avLst/>
            <a:gdLst>
              <a:gd name="connsiteX0" fmla="*/ 0 w 11274552"/>
              <a:gd name="connsiteY0" fmla="*/ 0 h 1547324"/>
              <a:gd name="connsiteX1" fmla="*/ 11274552 w 11274552"/>
              <a:gd name="connsiteY1" fmla="*/ 0 h 1547324"/>
              <a:gd name="connsiteX2" fmla="*/ 11274552 w 11274552"/>
              <a:gd name="connsiteY2" fmla="*/ 1547324 h 1547324"/>
              <a:gd name="connsiteX3" fmla="*/ 0 w 11274552"/>
              <a:gd name="connsiteY3" fmla="*/ 1547324 h 1547324"/>
              <a:gd name="connsiteX4" fmla="*/ 0 w 11274552"/>
              <a:gd name="connsiteY4" fmla="*/ 0 h 1547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74552" h="1547324">
                <a:moveTo>
                  <a:pt x="0" y="0"/>
                </a:moveTo>
                <a:lnTo>
                  <a:pt x="11274552" y="0"/>
                </a:lnTo>
                <a:lnTo>
                  <a:pt x="11274552" y="1547324"/>
                </a:lnTo>
                <a:lnTo>
                  <a:pt x="0" y="154732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57967" tIns="45720" rIns="256032" bIns="45720" numCol="1" spcCol="1270" anchor="t" anchorCtr="0">
            <a:noAutofit/>
          </a:bodyPr>
          <a:lstStyle/>
          <a:p>
            <a:pPr marL="285750" lvl="1" indent="-285750" defTabSz="1600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Tx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Multimodal (including emotional) inputs are evaluated and integrated by the PFC</a:t>
            </a:r>
            <a:endParaRPr lang="en-US" sz="2800" kern="1200" baseline="0" dirty="0">
              <a:solidFill>
                <a:schemeClr val="bg1"/>
              </a:solidFill>
            </a:endParaRPr>
          </a:p>
          <a:p>
            <a:pPr marL="742950" lvl="2" indent="-285750" defTabSz="1600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800" kern="1200" baseline="0" dirty="0">
                <a:solidFill>
                  <a:schemeClr val="bg1"/>
                </a:solidFill>
              </a:rPr>
              <a:t>Internal, subjective experience (“feeling”)</a:t>
            </a:r>
            <a:endParaRPr lang="en-US" sz="2800" kern="1200" dirty="0">
              <a:solidFill>
                <a:schemeClr val="bg1"/>
              </a:solidFill>
            </a:endParaRPr>
          </a:p>
          <a:p>
            <a:pPr marL="742950" lvl="2" indent="-285750" defTabSz="1600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800" i="1" u="sng" kern="1200" baseline="0" dirty="0">
                <a:solidFill>
                  <a:schemeClr val="bg1"/>
                </a:solidFill>
              </a:rPr>
              <a:t>Top-down</a:t>
            </a:r>
            <a:r>
              <a:rPr lang="en-US" sz="2800" kern="1200" baseline="0" dirty="0">
                <a:solidFill>
                  <a:schemeClr val="bg1"/>
                </a:solidFill>
              </a:rPr>
              <a:t> (descending) control to terminate amygdala output</a:t>
            </a:r>
          </a:p>
          <a:p>
            <a:pPr marL="1200150" lvl="3" indent="-285750" defTabSz="1600200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Extinction of conditioned fear</a:t>
            </a:r>
            <a:endParaRPr lang="en-US" sz="2800" kern="12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0EA75C-7281-0310-7EFC-ED1426E10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161" y="1335526"/>
            <a:ext cx="3537355" cy="28832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126FBF-BC86-2E15-C23A-33C98177C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161" y="4218771"/>
            <a:ext cx="3537355" cy="263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1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590" y="1188116"/>
            <a:ext cx="7511704" cy="44506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B2FF28A-E206-484D-B095-069D5484F4F7}"/>
              </a:ext>
            </a:extLst>
          </p:cNvPr>
          <p:cNvSpPr/>
          <p:nvPr/>
        </p:nvSpPr>
        <p:spPr bwMode="auto">
          <a:xfrm>
            <a:off x="4013579" y="1748414"/>
            <a:ext cx="449262" cy="304800"/>
          </a:xfrm>
          <a:prstGeom prst="rect">
            <a:avLst/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/>
              </a:solidFill>
              <a:latin typeface="Tahoma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F6B67A-CE42-4119-A9D6-30A46F539D79}"/>
              </a:ext>
            </a:extLst>
          </p:cNvPr>
          <p:cNvSpPr txBox="1"/>
          <p:nvPr/>
        </p:nvSpPr>
        <p:spPr>
          <a:xfrm>
            <a:off x="457198" y="240910"/>
            <a:ext cx="112745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PFC and the corticolimbic circuit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AFE672-8F63-406E-A4AC-2B839E5DCBD9}"/>
              </a:ext>
            </a:extLst>
          </p:cNvPr>
          <p:cNvSpPr/>
          <p:nvPr/>
        </p:nvSpPr>
        <p:spPr>
          <a:xfrm>
            <a:off x="3397162" y="4957186"/>
            <a:ext cx="2566910" cy="643545"/>
          </a:xfrm>
          <a:prstGeom prst="roundRect">
            <a:avLst>
              <a:gd name="adj" fmla="val 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DF1999-6BFB-472F-B415-02AB50723FE5}"/>
              </a:ext>
            </a:extLst>
          </p:cNvPr>
          <p:cNvSpPr/>
          <p:nvPr/>
        </p:nvSpPr>
        <p:spPr>
          <a:xfrm>
            <a:off x="9689984" y="4966285"/>
            <a:ext cx="1007587" cy="643545"/>
          </a:xfrm>
          <a:prstGeom prst="roundRect">
            <a:avLst>
              <a:gd name="adj" fmla="val 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27A21B-1BF7-49D2-8911-515A59FD1286}"/>
              </a:ext>
            </a:extLst>
          </p:cNvPr>
          <p:cNvSpPr txBox="1"/>
          <p:nvPr/>
        </p:nvSpPr>
        <p:spPr>
          <a:xfrm>
            <a:off x="554402" y="1219200"/>
            <a:ext cx="293086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ea typeface="Times New Roman" panose="02020603050405020304" pitchFamily="18" charset="0"/>
              </a:rPr>
              <a:t>T</a:t>
            </a:r>
            <a:r>
              <a:rPr lang="en-US" sz="280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he PFC is necessary for restoring the normal “resting” state when danger has passed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effectLst/>
              <a:ea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Often dysfunctional in mood related disorders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BE2954-D209-40AA-815D-4D20A55FD5F9}"/>
              </a:ext>
            </a:extLst>
          </p:cNvPr>
          <p:cNvSpPr/>
          <p:nvPr/>
        </p:nvSpPr>
        <p:spPr>
          <a:xfrm>
            <a:off x="7999217" y="2301272"/>
            <a:ext cx="2194560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Top-down inhibition</a:t>
            </a:r>
          </a:p>
        </p:txBody>
      </p:sp>
    </p:spTree>
    <p:extLst>
      <p:ext uri="{BB962C8B-B14F-4D97-AF65-F5344CB8AC3E}">
        <p14:creationId xmlns:p14="http://schemas.microsoft.com/office/powerpoint/2010/main" val="418352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6C79-B15F-40F8-B9AB-9B1C865E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2" y="-24714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HPA Axis responds to 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54EA4-7B6E-434C-B7D4-C79135287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2" y="1383957"/>
            <a:ext cx="5562122" cy="5474043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bg1"/>
                </a:solidFill>
              </a:rPr>
              <a:t>Stress</a:t>
            </a:r>
            <a:r>
              <a:rPr lang="en-US" altLang="en-US" dirty="0">
                <a:solidFill>
                  <a:schemeClr val="bg1"/>
                </a:solidFill>
              </a:rPr>
              <a:t> is any circumstance that upsets homeostatic balance.</a:t>
            </a:r>
          </a:p>
          <a:p>
            <a:pPr marL="457200" indent="-457200">
              <a:buFont typeface="+mj-lt"/>
              <a:buAutoNum type="arabicPeriod"/>
            </a:pPr>
            <a:r>
              <a:rPr lang="en-US" u="sng" dirty="0">
                <a:solidFill>
                  <a:schemeClr val="bg1"/>
                </a:solidFill>
              </a:rPr>
              <a:t>H</a:t>
            </a:r>
            <a:r>
              <a:rPr lang="en-US" dirty="0">
                <a:solidFill>
                  <a:schemeClr val="bg1"/>
                </a:solidFill>
              </a:rPr>
              <a:t>ypothalamus releases hormones to the anterior pituitary.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The anterior </a:t>
            </a:r>
            <a:r>
              <a:rPr lang="en-US" u="sng" dirty="0">
                <a:solidFill>
                  <a:schemeClr val="bg1"/>
                </a:solidFill>
              </a:rPr>
              <a:t>p</a:t>
            </a:r>
            <a:r>
              <a:rPr lang="en-US" dirty="0">
                <a:solidFill>
                  <a:schemeClr val="bg1"/>
                </a:solidFill>
              </a:rPr>
              <a:t>ituitary releases hormones to the adrenal gland.</a:t>
            </a:r>
          </a:p>
          <a:p>
            <a:pPr marL="457200" indent="-457200">
              <a:buFont typeface="+mj-lt"/>
              <a:buAutoNum type="arabicPeriod"/>
            </a:pPr>
            <a:r>
              <a:rPr lang="en-US" u="sng" dirty="0">
                <a:solidFill>
                  <a:schemeClr val="bg1"/>
                </a:solidFill>
              </a:rPr>
              <a:t>A</a:t>
            </a:r>
            <a:r>
              <a:rPr lang="en-US" dirty="0">
                <a:solidFill>
                  <a:schemeClr val="bg1"/>
                </a:solidFill>
              </a:rPr>
              <a:t>drenal medulla releases epinephrine and norepinephrine.</a:t>
            </a:r>
          </a:p>
          <a:p>
            <a:pPr marL="457200" indent="-457200">
              <a:buFont typeface="+mj-lt"/>
              <a:buAutoNum type="arabicPeriod"/>
            </a:pPr>
            <a:r>
              <a:rPr lang="en-US" u="sng" dirty="0">
                <a:solidFill>
                  <a:schemeClr val="bg1"/>
                </a:solidFill>
              </a:rPr>
              <a:t>A</a:t>
            </a:r>
            <a:r>
              <a:rPr lang="en-US" dirty="0">
                <a:solidFill>
                  <a:schemeClr val="bg1"/>
                </a:solidFill>
              </a:rPr>
              <a:t>drenal cortex releases steroid hormones (e.g. cortisol).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375F6-445B-4804-901A-169DA4A55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654" y="1383957"/>
            <a:ext cx="5320345" cy="547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86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262A-3A70-0DA1-8E3F-09D75221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77498"/>
            <a:ext cx="9905998" cy="1385542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Lateralization of Emotion in cortex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272DD-F05A-3FAA-1822-34177C133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63040"/>
            <a:ext cx="5538566" cy="451866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Right hemisphere: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Overall perception and expression of emotion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Emotional aspects of language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Negative emotions</a:t>
            </a:r>
          </a:p>
          <a:p>
            <a:r>
              <a:rPr lang="en-US" sz="2800" dirty="0">
                <a:solidFill>
                  <a:schemeClr val="bg1"/>
                </a:solidFill>
              </a:rPr>
              <a:t>Left hemisphere: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Positive emotions</a:t>
            </a:r>
          </a:p>
        </p:txBody>
      </p:sp>
      <p:pic>
        <p:nvPicPr>
          <p:cNvPr id="5" name="Picture 4" descr="A pair of gold masks on a pole&#10;&#10;AI-generated content may be incorrect.">
            <a:extLst>
              <a:ext uri="{FF2B5EF4-FFF2-40B4-BE49-F238E27FC236}">
                <a16:creationId xmlns:a16="http://schemas.microsoft.com/office/drawing/2014/main" id="{291726D2-9151-D1FF-3700-FDD81371C1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679979" y="1463040"/>
            <a:ext cx="4367432" cy="35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9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ustom 1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76CDEE"/>
      </a:accent2>
      <a:accent3>
        <a:srgbClr val="27CED7"/>
      </a:accent3>
      <a:accent4>
        <a:srgbClr val="42BA97"/>
      </a:accent4>
      <a:accent5>
        <a:srgbClr val="3E8853"/>
      </a:accent5>
      <a:accent6>
        <a:srgbClr val="76CDEE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2295</TotalTime>
  <Words>474</Words>
  <Application>Microsoft Office PowerPoint</Application>
  <PresentationFormat>Widescreen</PresentationFormat>
  <Paragraphs>86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Tahoma</vt:lpstr>
      <vt:lpstr>Times New Roman</vt:lpstr>
      <vt:lpstr>Tw Cen MT</vt:lpstr>
      <vt:lpstr>Circuit</vt:lpstr>
      <vt:lpstr>emotion</vt:lpstr>
      <vt:lpstr>Learning objectives</vt:lpstr>
      <vt:lpstr>Emotions</vt:lpstr>
      <vt:lpstr>Damage to the brain reveals a role For the limbic system in emotion</vt:lpstr>
      <vt:lpstr>Anatomy of the Amygdala</vt:lpstr>
      <vt:lpstr>Pathways to the Amygdala and Fear/aggression</vt:lpstr>
      <vt:lpstr>The amygdala and social behavior:  Patient S.M.</vt:lpstr>
      <vt:lpstr>PowerPoint Presentation</vt:lpstr>
      <vt:lpstr>S.M.’s Drawings of facial expressions of emotion</vt:lpstr>
      <vt:lpstr>The amygdala has extensive reciprocal connections with the PFC</vt:lpstr>
      <vt:lpstr>PowerPoint Presentation</vt:lpstr>
      <vt:lpstr>THE HPA Axis responds to stress</vt:lpstr>
      <vt:lpstr>Lateralization of Emotion in cortex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Emotions, Aggression, and Stress</dc:title>
  <dc:creator>Nicole Forner</dc:creator>
  <cp:lastModifiedBy>Phillips, Nicole</cp:lastModifiedBy>
  <cp:revision>180</cp:revision>
  <dcterms:created xsi:type="dcterms:W3CDTF">2020-10-25T19:03:04Z</dcterms:created>
  <dcterms:modified xsi:type="dcterms:W3CDTF">2025-12-04T20:15:15Z</dcterms:modified>
</cp:coreProperties>
</file>