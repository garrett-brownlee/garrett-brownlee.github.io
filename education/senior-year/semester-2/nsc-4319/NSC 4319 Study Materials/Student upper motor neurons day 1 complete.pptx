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eg"/>
  <Override PartName="/ppt/notesSlides/notesSlide3.xml" ContentType="application/vnd.openxmlformats-officedocument.presentationml.notesSlide+xml"/>
  <Override PartName="/ppt/media/image3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56" r:id="rId2"/>
    <p:sldId id="257" r:id="rId3"/>
    <p:sldId id="348" r:id="rId4"/>
    <p:sldId id="381" r:id="rId5"/>
    <p:sldId id="262" r:id="rId6"/>
    <p:sldId id="444" r:id="rId7"/>
    <p:sldId id="458" r:id="rId8"/>
    <p:sldId id="433" r:id="rId9"/>
    <p:sldId id="356" r:id="rId10"/>
    <p:sldId id="455" r:id="rId11"/>
    <p:sldId id="453" r:id="rId12"/>
    <p:sldId id="452" r:id="rId13"/>
    <p:sldId id="457" r:id="rId14"/>
    <p:sldId id="4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952"/>
    <a:srgbClr val="F67A7A"/>
    <a:srgbClr val="F46262"/>
    <a:srgbClr val="F99787"/>
    <a:srgbClr val="FBB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76728" autoAdjust="0"/>
  </p:normalViewPr>
  <p:slideViewPr>
    <p:cSldViewPr snapToGrid="0">
      <p:cViewPr varScale="1">
        <p:scale>
          <a:sx n="48" d="100"/>
          <a:sy n="48" d="100"/>
        </p:scale>
        <p:origin x="13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663C5-59D1-45AC-AC35-991A022452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EC05B-ACE8-4620-ADE1-C92D63531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54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39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10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22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40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24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0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29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39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5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39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EC05B-ACE8-4620-ADE1-C92D635311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6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2043-251F-B094-E66E-78C003852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2ECAF-69A0-FDFA-BEAC-2F30EFAB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8076A-481B-E4F6-1F80-8AE6D45DC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2B899-18D5-221A-90BB-D433DC05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A00F1-6993-EFBC-3610-EA1AF649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9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DE8A-4A4B-4B0C-B554-8D5B3956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E9E7-F370-4DA9-362E-9612FA9D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42A3A-0EA0-2C59-6DE6-49EC2DD1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5BA93-FDCE-EAAE-7CDC-63EFC7FB8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495F-1E2F-B135-667D-848A9507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4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69F-7AD8-F999-6ADD-C8C78F988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E26E-1130-F9E4-29B7-AB462A63B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F71E-2A72-84D5-D2AB-641B2F4C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32EC2-2B3F-CAC2-5D45-6FAEEFBD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FCAE-5A7B-F3B8-4BD3-266D2093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1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30-F879-D158-831E-8A009DBA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D805C-8980-2094-024D-7FF6D610B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1A39E-E8F4-ADA9-DFF8-3F7B81A5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CFD-59B6-CACE-C998-FDCB49A5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8826-8C17-9528-7E65-99B4F843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903C6-E801-A63D-E280-04413734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D687-0564-D611-F856-B37FBF59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694-9977-49AA-BF94-9FE0BB634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E218F-0966-279D-1154-F3B3BF92B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66B44-3C1A-972B-A930-2B6594821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BD72B3-EDE5-9D6E-F0A5-39E3F3607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9E44E-9603-A57A-C4F1-548AACBB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D45C4-35B9-18A0-62D5-D8F50F7DE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DB466-8203-A9DB-F786-5D460519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08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9DBD-9274-E5A3-9717-95459D10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9DDE0-C42C-6D48-EA99-DC2576EE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5367A-D13D-5699-55E3-67BAE57C5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8496-78A0-51DA-5C6F-FF36E322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6F61E-511F-838F-1211-0DD4FA5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2945C-842C-19ED-64FF-DA4F6C2A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7E83-4207-0858-40F4-2541C9A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7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03B2A-4523-FE19-8CCE-C875C0BF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0D74-EBDD-9D11-21A1-44E75B07F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ABA93-88D1-7808-9020-C3E57F12F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B6E7C-EA94-1853-D232-25FEAD70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7AFEB-7050-3E90-20E6-E86B3C0A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582C-0469-D552-5D4C-BC012A9C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53D9-84DA-81F4-8475-D7B72E02A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86B5A-331E-7CED-091E-AE0BF5173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6164-40AB-D69B-A39B-17442A66C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E1067-39E7-BC90-914F-2288F1B4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38F90-1503-304F-AA32-24B43EE8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CE7B5-6665-EC0F-C044-ABC5889A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0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5CC16-424E-9272-0C5C-4DE616E4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9AD6C-088E-FE47-3EB5-2A704ED7D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0EE8-C46C-F218-1487-998916C3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BCA69-BE6E-21D2-227E-872272BE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C3F6-8B68-54A8-9CB3-A5DE66DE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FEF8C-01A6-2878-6C1C-5E793621D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69D01-1A75-726E-BAD6-736049D0D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DD67B-A848-EC87-EF28-FF5751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8D383-2714-8B78-92ED-12919F28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00D86-CA06-2EEA-4AF6-A9CAD27C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5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BBDB7"/>
            </a:gs>
            <a:gs pos="74000">
              <a:srgbClr val="F99787"/>
            </a:gs>
            <a:gs pos="83000">
              <a:srgbClr val="F67A7A"/>
            </a:gs>
            <a:gs pos="100000">
              <a:srgbClr val="F0695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FD30D-E3BA-1B02-9753-44834E9E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DE1A3-A97F-47FC-ADBB-C133A44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AFC58-E11F-FDD5-AC26-E2FC58B65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58B08-D63B-4AF0-BEC4-15CBC22939B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9BCAC-77DC-1180-4873-1E5F750D0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DB340-DD46-B64E-E040-8221E4EB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31F062-405D-4E08-8E38-192869E57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4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E32-4C7E-7E75-42CA-AB0724AB3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726738" cy="2971801"/>
          </a:xfrm>
        </p:spPr>
        <p:txBody>
          <a:bodyPr/>
          <a:lstStyle/>
          <a:p>
            <a:pPr algn="ctr"/>
            <a:r>
              <a:rPr lang="en-US"/>
              <a:t>Upper </a:t>
            </a:r>
            <a:r>
              <a:rPr lang="en-US" dirty="0"/>
              <a:t>motor neuron control of the brainstem and spinal cord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65983-34A2-7F47-5652-29946CC20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962" y="3818467"/>
            <a:ext cx="6400800" cy="1947333"/>
          </a:xfrm>
        </p:spPr>
        <p:txBody>
          <a:bodyPr/>
          <a:lstStyle/>
          <a:p>
            <a:pPr algn="ctr"/>
            <a:r>
              <a:rPr lang="en-US" dirty="0"/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263161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E0AD-910D-FEDD-B954-61A4AF7A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1507067"/>
          </a:xfrm>
        </p:spPr>
        <p:txBody>
          <a:bodyPr/>
          <a:lstStyle/>
          <a:p>
            <a:pPr algn="ctr"/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A9DBB-5D88-25A7-02DA-6BA1BBB1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661" y="1507067"/>
            <a:ext cx="10414123" cy="4839025"/>
          </a:xfrm>
        </p:spPr>
        <p:txBody>
          <a:bodyPr>
            <a:normAutofit/>
          </a:bodyPr>
          <a:lstStyle/>
          <a:p>
            <a:r>
              <a:rPr lang="en-US" dirty="0"/>
              <a:t>Describe the general organization and functional properties of the motor system.</a:t>
            </a:r>
          </a:p>
          <a:p>
            <a:r>
              <a:rPr lang="en-US" dirty="0"/>
              <a:t>Describe how different pathways influence LMNs and movement.</a:t>
            </a:r>
          </a:p>
          <a:p>
            <a:r>
              <a:rPr lang="en-US" dirty="0"/>
              <a:t>Identify the signs of UMN damage and the anatomical basis of these signs.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0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58B1-3D2A-4EF9-9EB0-A4EA3410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417" y="52172"/>
            <a:ext cx="10515600" cy="1679899"/>
          </a:xfrm>
        </p:spPr>
        <p:txBody>
          <a:bodyPr/>
          <a:lstStyle/>
          <a:p>
            <a:pPr algn="ctr"/>
            <a:r>
              <a:rPr lang="en-US" dirty="0"/>
              <a:t>Four Neural Centers for Movement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5D05D05-363F-4D4E-AD54-AACFA210FDB0}"/>
              </a:ext>
            </a:extLst>
          </p:cNvPr>
          <p:cNvSpPr/>
          <p:nvPr/>
        </p:nvSpPr>
        <p:spPr>
          <a:xfrm>
            <a:off x="3250829" y="1732071"/>
            <a:ext cx="5328745" cy="5125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A0908-C8FC-4D7D-BFDE-B853A7E7E964}"/>
              </a:ext>
            </a:extLst>
          </p:cNvPr>
          <p:cNvSpPr txBox="1"/>
          <p:nvPr/>
        </p:nvSpPr>
        <p:spPr>
          <a:xfrm>
            <a:off x="2710859" y="4824125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7D04C-FE0E-4029-8236-FA1DCBB7BC7F}"/>
              </a:ext>
            </a:extLst>
          </p:cNvPr>
          <p:cNvSpPr txBox="1"/>
          <p:nvPr/>
        </p:nvSpPr>
        <p:spPr>
          <a:xfrm>
            <a:off x="240233" y="5193457"/>
            <a:ext cx="28279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Lower motor neurons (LMNs)</a:t>
            </a:r>
          </a:p>
          <a:p>
            <a:pPr algn="ctr"/>
            <a:r>
              <a:rPr lang="en-US" dirty="0"/>
              <a:t>“Final common path” for initiating movement</a:t>
            </a:r>
          </a:p>
          <a:p>
            <a:pPr algn="ctr"/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D088C-C851-480C-991E-C24576F658C6}"/>
              </a:ext>
            </a:extLst>
          </p:cNvPr>
          <p:cNvSpPr txBox="1"/>
          <p:nvPr/>
        </p:nvSpPr>
        <p:spPr>
          <a:xfrm>
            <a:off x="2710859" y="2330533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0A8A57-EE55-4B4E-BAAA-96671EB97695}"/>
              </a:ext>
            </a:extLst>
          </p:cNvPr>
          <p:cNvSpPr txBox="1"/>
          <p:nvPr/>
        </p:nvSpPr>
        <p:spPr>
          <a:xfrm>
            <a:off x="8307620" y="309297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E3EFD-3E1E-4BD3-A11D-3817D9C4FD10}"/>
              </a:ext>
            </a:extLst>
          </p:cNvPr>
          <p:cNvSpPr txBox="1"/>
          <p:nvPr/>
        </p:nvSpPr>
        <p:spPr>
          <a:xfrm>
            <a:off x="8307619" y="2156221"/>
            <a:ext cx="71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48241-7CEE-4506-BB1D-677F7DA9FA75}"/>
              </a:ext>
            </a:extLst>
          </p:cNvPr>
          <p:cNvSpPr txBox="1"/>
          <p:nvPr/>
        </p:nvSpPr>
        <p:spPr>
          <a:xfrm>
            <a:off x="8762192" y="2624596"/>
            <a:ext cx="307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Modulation of motor plans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49C0C-D734-41CB-929F-92261BCEF3DB}"/>
              </a:ext>
            </a:extLst>
          </p:cNvPr>
          <p:cNvSpPr txBox="1"/>
          <p:nvPr/>
        </p:nvSpPr>
        <p:spPr>
          <a:xfrm>
            <a:off x="562708" y="2330533"/>
            <a:ext cx="2505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Upper Motor Neurons (UMNs)</a:t>
            </a:r>
            <a:endParaRPr lang="en-US" dirty="0"/>
          </a:p>
          <a:p>
            <a:pPr algn="ctr"/>
            <a:r>
              <a:rPr lang="en-US" dirty="0"/>
              <a:t>Top-down control of movement</a:t>
            </a: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F0323D78-281A-828C-4871-397A7804570E}"/>
              </a:ext>
            </a:extLst>
          </p:cNvPr>
          <p:cNvSpPr/>
          <p:nvPr/>
        </p:nvSpPr>
        <p:spPr>
          <a:xfrm>
            <a:off x="446386" y="1537252"/>
            <a:ext cx="5782136" cy="2676939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25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8B1F-922C-488F-B165-9678F0BF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74" y="75773"/>
            <a:ext cx="10557451" cy="13971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Upper motor neurons coordinate activity of lower motor neurons</a:t>
            </a:r>
          </a:p>
        </p:txBody>
      </p:sp>
      <p:pic>
        <p:nvPicPr>
          <p:cNvPr id="5" name="Picture 4" descr="Neuroscience6e-Fig-17-01-2R.jpg">
            <a:extLst>
              <a:ext uri="{FF2B5EF4-FFF2-40B4-BE49-F238E27FC236}">
                <a16:creationId xmlns:a16="http://schemas.microsoft.com/office/drawing/2014/main" id="{BE4DE401-6F8A-4CB0-A2B8-114F1CB800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9" b="6571"/>
          <a:stretch/>
        </p:blipFill>
        <p:spPr>
          <a:xfrm>
            <a:off x="2388692" y="1525234"/>
            <a:ext cx="7414616" cy="5332766"/>
          </a:xfrm>
          <a:prstGeom prst="rect">
            <a:avLst/>
          </a:prstGeom>
        </p:spPr>
      </p:pic>
      <p:sp>
        <p:nvSpPr>
          <p:cNvPr id="3" name="Frame 2">
            <a:extLst>
              <a:ext uri="{FF2B5EF4-FFF2-40B4-BE49-F238E27FC236}">
                <a16:creationId xmlns:a16="http://schemas.microsoft.com/office/drawing/2014/main" id="{F2A85BD3-8468-00F9-08FC-D86A72851CC9}"/>
              </a:ext>
            </a:extLst>
          </p:cNvPr>
          <p:cNvSpPr/>
          <p:nvPr/>
        </p:nvSpPr>
        <p:spPr>
          <a:xfrm>
            <a:off x="2388692" y="1472894"/>
            <a:ext cx="2435099" cy="1058272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4242F276-E5F2-94BC-FF23-5BCFC1371299}"/>
              </a:ext>
            </a:extLst>
          </p:cNvPr>
          <p:cNvSpPr/>
          <p:nvPr/>
        </p:nvSpPr>
        <p:spPr>
          <a:xfrm>
            <a:off x="2388692" y="2438400"/>
            <a:ext cx="1586960" cy="1126435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6DD8216A-CCB1-A29B-6172-9A364E9C2165}"/>
              </a:ext>
            </a:extLst>
          </p:cNvPr>
          <p:cNvSpPr/>
          <p:nvPr/>
        </p:nvSpPr>
        <p:spPr>
          <a:xfrm>
            <a:off x="2501335" y="4478001"/>
            <a:ext cx="1586960" cy="1126435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AB193DB9-BC76-612D-3872-6A02C50A5DE0}"/>
              </a:ext>
            </a:extLst>
          </p:cNvPr>
          <p:cNvSpPr/>
          <p:nvPr/>
        </p:nvSpPr>
        <p:spPr>
          <a:xfrm>
            <a:off x="5456570" y="4546164"/>
            <a:ext cx="3157343" cy="1058272"/>
          </a:xfrm>
          <a:prstGeom prst="frame">
            <a:avLst>
              <a:gd name="adj1" fmla="val 323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01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uroscience6e-Fig-17-01-1R.jpg">
            <a:extLst>
              <a:ext uri="{FF2B5EF4-FFF2-40B4-BE49-F238E27FC236}">
                <a16:creationId xmlns:a16="http://schemas.microsoft.com/office/drawing/2014/main" id="{A9E50D17-68FF-4867-92CF-100FE78FC0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"/>
          <a:stretch/>
        </p:blipFill>
        <p:spPr>
          <a:xfrm>
            <a:off x="6095999" y="1568234"/>
            <a:ext cx="5879602" cy="392272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459" y="280559"/>
            <a:ext cx="1034907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spc="-90" dirty="0"/>
              <a:t>The </a:t>
            </a:r>
            <a:r>
              <a:rPr lang="en-US" sz="4400" b="1" spc="-90" dirty="0"/>
              <a:t>Medial</a:t>
            </a:r>
            <a:r>
              <a:rPr lang="en-US" sz="4400" i="1" spc="-90" dirty="0"/>
              <a:t> </a:t>
            </a:r>
            <a:r>
              <a:rPr lang="en-US" sz="4400" spc="-90" dirty="0"/>
              <a:t>division</a:t>
            </a:r>
            <a:r>
              <a:rPr sz="4400" spc="-5" dirty="0"/>
              <a:t> </a:t>
            </a:r>
            <a:r>
              <a:rPr sz="4400" dirty="0"/>
              <a:t>of </a:t>
            </a:r>
            <a:r>
              <a:rPr sz="4400" spc="-5" dirty="0"/>
              <a:t>descending </a:t>
            </a:r>
            <a:r>
              <a:rPr sz="4400" spc="-10" dirty="0"/>
              <a:t>motor</a:t>
            </a:r>
            <a:r>
              <a:rPr sz="4400" spc="65" dirty="0"/>
              <a:t> </a:t>
            </a:r>
            <a:r>
              <a:rPr sz="4400" spc="-20" dirty="0"/>
              <a:t>tracts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675181" y="1568234"/>
            <a:ext cx="5420818" cy="486543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127635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dirty="0">
                <a:latin typeface="Calibri"/>
                <a:cs typeface="Calibri"/>
              </a:rPr>
              <a:t>Axons from the </a:t>
            </a:r>
            <a:r>
              <a:rPr lang="en-US" sz="2800" b="1" dirty="0">
                <a:latin typeface="Calibri"/>
                <a:cs typeface="Calibri"/>
              </a:rPr>
              <a:t>brainstem</a:t>
            </a:r>
          </a:p>
          <a:p>
            <a:pPr marL="698500" marR="127635" lvl="1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C</a:t>
            </a:r>
            <a:r>
              <a:rPr sz="2800" spc="-15" dirty="0">
                <a:latin typeface="Calibri"/>
                <a:cs typeface="Calibri"/>
              </a:rPr>
              <a:t>ontrols</a:t>
            </a:r>
            <a:r>
              <a:rPr lang="en-US" sz="2800" spc="-15" dirty="0">
                <a:latin typeface="Calibri"/>
                <a:cs typeface="Calibri"/>
              </a:rPr>
              <a:t> axial (trunk) muscles</a:t>
            </a:r>
          </a:p>
          <a:p>
            <a:pPr marL="698500" marR="127635" lvl="1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P</a:t>
            </a:r>
            <a:r>
              <a:rPr sz="2800" spc="-5" dirty="0">
                <a:latin typeface="Calibri"/>
                <a:cs typeface="Calibri"/>
              </a:rPr>
              <a:t>rimarily</a:t>
            </a:r>
            <a:r>
              <a:rPr lang="en-US" sz="2800" spc="-5" dirty="0">
                <a:latin typeface="Calibri"/>
                <a:cs typeface="Calibri"/>
              </a:rPr>
              <a:t> related 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posture, </a:t>
            </a:r>
            <a:r>
              <a:rPr sz="2800" dirty="0">
                <a:latin typeface="Calibri"/>
                <a:cs typeface="Calibri"/>
              </a:rPr>
              <a:t>balance and </a:t>
            </a:r>
            <a:r>
              <a:rPr lang="en-US" sz="2800" spc="-5" dirty="0">
                <a:latin typeface="Calibri"/>
                <a:cs typeface="Calibri"/>
              </a:rPr>
              <a:t>locomotion</a:t>
            </a:r>
          </a:p>
          <a:p>
            <a:pPr marL="698500" marR="127635" lvl="1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endParaRPr lang="en-US" sz="2800" spc="-5" dirty="0">
              <a:latin typeface="Calibri"/>
              <a:cs typeface="Calibri"/>
            </a:endParaRPr>
          </a:p>
          <a:p>
            <a:pPr marL="241300" marR="127635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latin typeface="Calibri"/>
                <a:cs typeface="Calibri"/>
              </a:rPr>
              <a:t>Main sections: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lang="en-US" sz="2800" spc="-5" dirty="0">
                <a:latin typeface="Calibri"/>
                <a:cs typeface="Calibri"/>
              </a:rPr>
              <a:t>Colliculospinal</a:t>
            </a: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r>
              <a:rPr lang="en-US" sz="2800" spc="-5" dirty="0">
                <a:latin typeface="Calibri"/>
                <a:cs typeface="Calibri"/>
              </a:rPr>
              <a:t>Rubrospinal</a:t>
            </a:r>
            <a:endParaRPr lang="en-US" sz="2800" spc="-15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15" dirty="0">
                <a:latin typeface="Calibri"/>
                <a:cs typeface="Calibri"/>
              </a:rPr>
              <a:t>Vestibulospinal</a:t>
            </a:r>
            <a:r>
              <a:rPr lang="en-US" sz="2800" spc="-15" dirty="0">
                <a:latin typeface="Calibri"/>
                <a:cs typeface="Calibri"/>
              </a:rPr>
              <a:t> </a:t>
            </a:r>
          </a:p>
          <a:p>
            <a:pPr marL="698500" lvl="1" indent="-228600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698500" algn="l"/>
              </a:tabLst>
            </a:pPr>
            <a:r>
              <a:rPr sz="2800" spc="-5" dirty="0">
                <a:latin typeface="Calibri"/>
                <a:cs typeface="Calibri"/>
              </a:rPr>
              <a:t>Reticulospinal</a:t>
            </a:r>
            <a:endParaRPr sz="2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69850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94D386D9-72C6-A9EB-4E89-6060CDB8CA84}"/>
              </a:ext>
            </a:extLst>
          </p:cNvPr>
          <p:cNvSpPr/>
          <p:nvPr/>
        </p:nvSpPr>
        <p:spPr>
          <a:xfrm>
            <a:off x="7512235" y="3545169"/>
            <a:ext cx="3047130" cy="2047248"/>
          </a:xfrm>
          <a:prstGeom prst="frame">
            <a:avLst>
              <a:gd name="adj1" fmla="val 324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8724ACB-CEE4-4EB9-BA7E-397E9D738AE9}"/>
              </a:ext>
            </a:extLst>
          </p:cNvPr>
          <p:cNvSpPr/>
          <p:nvPr/>
        </p:nvSpPr>
        <p:spPr>
          <a:xfrm>
            <a:off x="3180944" y="330124"/>
            <a:ext cx="9011056" cy="6130845"/>
          </a:xfrm>
          <a:prstGeom prst="rect">
            <a:avLst/>
          </a:prstGeom>
          <a:blipFill>
            <a:blip r:embed="rId3" cstate="print"/>
            <a:stretch>
              <a:fillRect t="-1" b="-7147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497BAC1-817E-4328-A432-0AE84819C1CC}"/>
              </a:ext>
            </a:extLst>
          </p:cNvPr>
          <p:cNvSpPr/>
          <p:nvPr/>
        </p:nvSpPr>
        <p:spPr>
          <a:xfrm>
            <a:off x="413987" y="2508114"/>
            <a:ext cx="3535442" cy="3338209"/>
          </a:xfrm>
          <a:prstGeom prst="rect">
            <a:avLst/>
          </a:prstGeom>
          <a:blipFill>
            <a:blip r:embed="rId3" cstate="print"/>
            <a:stretch>
              <a:fillRect t="-156682" r="-10234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A560608-35D6-4ABC-83B3-A98F10F34A31}"/>
              </a:ext>
            </a:extLst>
          </p:cNvPr>
          <p:cNvSpPr/>
          <p:nvPr/>
        </p:nvSpPr>
        <p:spPr>
          <a:xfrm>
            <a:off x="2237362" y="3876471"/>
            <a:ext cx="2480553" cy="16537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1FF6D56-0DF2-472B-93E3-D9A43374478E}"/>
              </a:ext>
            </a:extLst>
          </p:cNvPr>
          <p:cNvSpPr/>
          <p:nvPr/>
        </p:nvSpPr>
        <p:spPr>
          <a:xfrm rot="21329582">
            <a:off x="2331384" y="3955844"/>
            <a:ext cx="3668598" cy="18831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4FF8162-9458-4ABF-9BCA-023F4A78556F}"/>
              </a:ext>
            </a:extLst>
          </p:cNvPr>
          <p:cNvSpPr/>
          <p:nvPr/>
        </p:nvSpPr>
        <p:spPr>
          <a:xfrm rot="1204217" flipV="1">
            <a:off x="2290481" y="5041327"/>
            <a:ext cx="4348906" cy="19289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79C681A-2219-445F-91A4-18426D52B4AC}"/>
              </a:ext>
            </a:extLst>
          </p:cNvPr>
          <p:cNvSpPr/>
          <p:nvPr/>
        </p:nvSpPr>
        <p:spPr>
          <a:xfrm rot="591957">
            <a:off x="3752618" y="4326558"/>
            <a:ext cx="3461190" cy="1703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E295DD-67EA-77AE-7639-126B93756478}"/>
              </a:ext>
            </a:extLst>
          </p:cNvPr>
          <p:cNvCxnSpPr/>
          <p:nvPr/>
        </p:nvCxnSpPr>
        <p:spPr>
          <a:xfrm>
            <a:off x="566057" y="4615543"/>
            <a:ext cx="167130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7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1" grpId="0" animBg="1"/>
      <p:bldP spid="1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B59D-EBD5-0FEE-99C7-64DB4859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7223414" cy="1325563"/>
          </a:xfrm>
        </p:spPr>
        <p:txBody>
          <a:bodyPr/>
          <a:lstStyle/>
          <a:p>
            <a:pPr algn="ctr"/>
            <a:r>
              <a:rPr lang="en-US" dirty="0"/>
              <a:t>Rubrospinal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1A4C-D276-292B-F4BB-97F28ECBC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48" y="3437819"/>
            <a:ext cx="7223414" cy="2201311"/>
          </a:xfrm>
        </p:spPr>
        <p:txBody>
          <a:bodyPr>
            <a:normAutofit/>
          </a:bodyPr>
          <a:lstStyle/>
          <a:p>
            <a:r>
              <a:rPr lang="en-US" dirty="0"/>
              <a:t>UMNs in the red nucleus</a:t>
            </a:r>
          </a:p>
          <a:p>
            <a:r>
              <a:rPr lang="en-US" dirty="0"/>
              <a:t>Control forearms in non-human mammals, but unclear in humans</a:t>
            </a:r>
          </a:p>
        </p:txBody>
      </p:sp>
      <p:pic>
        <p:nvPicPr>
          <p:cNvPr id="5" name="!!RuSTfig" descr="Neuro3e-Fig-16-02-1">
            <a:extLst>
              <a:ext uri="{FF2B5EF4-FFF2-40B4-BE49-F238E27FC236}">
                <a16:creationId xmlns:a16="http://schemas.microsoft.com/office/drawing/2014/main" id="{0342ABDC-6A2A-C436-9343-527CAF733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58392" t="6000" r="771" b="3572"/>
          <a:stretch>
            <a:fillRect/>
          </a:stretch>
        </p:blipFill>
        <p:spPr bwMode="auto">
          <a:xfrm>
            <a:off x="8061614" y="0"/>
            <a:ext cx="413038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1539BE-C3C7-6BED-AE3B-9FF5B52701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5793"/>
          <a:stretch>
            <a:fillRect/>
          </a:stretch>
        </p:blipFill>
        <p:spPr>
          <a:xfrm>
            <a:off x="2171309" y="1325563"/>
            <a:ext cx="5877053" cy="188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5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083" name="Picture 3" descr="neuro4e-fig-17-02-2r"/>
          <p:cNvPicPr>
            <a:picLocks noChangeAspect="1" noChangeArrowheads="1"/>
          </p:cNvPicPr>
          <p:nvPr/>
        </p:nvPicPr>
        <p:blipFill>
          <a:blip r:embed="rId3" cstate="print"/>
          <a:srcRect l="26785" t="5133" r="24965" b="6844"/>
          <a:stretch>
            <a:fillRect/>
          </a:stretch>
        </p:blipFill>
        <p:spPr bwMode="auto">
          <a:xfrm>
            <a:off x="6454150" y="301625"/>
            <a:ext cx="4781550" cy="655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09DEEAA-F03A-42BA-A276-85124DD2CF2E}"/>
              </a:ext>
            </a:extLst>
          </p:cNvPr>
          <p:cNvSpPr/>
          <p:nvPr/>
        </p:nvSpPr>
        <p:spPr>
          <a:xfrm>
            <a:off x="8975035" y="1597025"/>
            <a:ext cx="304800" cy="38100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F2CB5-E933-4ACE-A41D-EB608CFED80A}"/>
              </a:ext>
            </a:extLst>
          </p:cNvPr>
          <p:cNvSpPr txBox="1"/>
          <p:nvPr/>
        </p:nvSpPr>
        <p:spPr>
          <a:xfrm>
            <a:off x="9921927" y="2197931"/>
            <a:ext cx="1421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Superior colliculus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955215-794C-47C9-9935-451BE26D453E}"/>
              </a:ext>
            </a:extLst>
          </p:cNvPr>
          <p:cNvCxnSpPr>
            <a:cxnSpLocks/>
          </p:cNvCxnSpPr>
          <p:nvPr/>
        </p:nvCxnSpPr>
        <p:spPr>
          <a:xfrm>
            <a:off x="9279835" y="1901825"/>
            <a:ext cx="642092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5AEBEB8F-897B-4A3A-8D7B-7F52008AD55D}"/>
              </a:ext>
            </a:extLst>
          </p:cNvPr>
          <p:cNvCxnSpPr>
            <a:cxnSpLocks/>
          </p:cNvCxnSpPr>
          <p:nvPr/>
        </p:nvCxnSpPr>
        <p:spPr>
          <a:xfrm rot="5400000">
            <a:off x="6727135" y="4073525"/>
            <a:ext cx="4495800" cy="304800"/>
          </a:xfrm>
          <a:prstGeom prst="bentConnector3">
            <a:avLst>
              <a:gd name="adj1" fmla="val 515"/>
            </a:avLst>
          </a:prstGeom>
          <a:ln w="38100">
            <a:solidFill>
              <a:schemeClr val="accent6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5FD1886C-A0FF-40FA-9134-423C89AE19CF}"/>
              </a:ext>
            </a:extLst>
          </p:cNvPr>
          <p:cNvSpPr/>
          <p:nvPr/>
        </p:nvSpPr>
        <p:spPr>
          <a:xfrm>
            <a:off x="8435350" y="1597025"/>
            <a:ext cx="304800" cy="381000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DEAC865-2B96-401E-80F5-E39BC3AD23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35653" y="2266954"/>
            <a:ext cx="918330" cy="332616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FFA6F64-A6A2-495B-A99B-2B923069A7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04157" y="2381882"/>
            <a:ext cx="918331" cy="10275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AC9EF58-E932-D359-3A63-278F49E400CF}"/>
              </a:ext>
            </a:extLst>
          </p:cNvPr>
          <p:cNvSpPr/>
          <p:nvPr/>
        </p:nvSpPr>
        <p:spPr>
          <a:xfrm>
            <a:off x="9806609" y="3962400"/>
            <a:ext cx="1325217" cy="13411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2EC3C0-20F8-558C-BBE2-75775DB0A3D4}"/>
              </a:ext>
            </a:extLst>
          </p:cNvPr>
          <p:cNvSpPr txBox="1">
            <a:spLocks/>
          </p:cNvSpPr>
          <p:nvPr/>
        </p:nvSpPr>
        <p:spPr>
          <a:xfrm>
            <a:off x="0" y="301625"/>
            <a:ext cx="64541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Colliculospinal Pathway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00C298-CCB0-DC3E-1F51-D0444A7EE2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257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UMNs in the superior colliculus</a:t>
            </a:r>
          </a:p>
          <a:p>
            <a:r>
              <a:rPr lang="en-US" dirty="0"/>
              <a:t>involved in orienting movements of the head, eyes,  and neck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1251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979B-0886-48EB-ADC5-71D09403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056"/>
            <a:ext cx="5221355" cy="1833856"/>
          </a:xfrm>
        </p:spPr>
        <p:txBody>
          <a:bodyPr/>
          <a:lstStyle/>
          <a:p>
            <a:pPr algn="ctr"/>
            <a:r>
              <a:rPr lang="en-US" dirty="0"/>
              <a:t>Reticulospinal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65BD0-326A-4B7E-A1B0-3621D1152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8800"/>
            <a:ext cx="5221355" cy="5029200"/>
          </a:xfrm>
        </p:spPr>
        <p:txBody>
          <a:bodyPr>
            <a:normAutofit/>
          </a:bodyPr>
          <a:lstStyle/>
          <a:p>
            <a:r>
              <a:rPr lang="en-US" spc="-5" dirty="0">
                <a:cs typeface="Calibri"/>
              </a:rPr>
              <a:t>UMNs in the reticular formation</a:t>
            </a:r>
          </a:p>
          <a:p>
            <a:r>
              <a:rPr lang="en-US" dirty="0"/>
              <a:t>Body posture &amp; position</a:t>
            </a:r>
          </a:p>
          <a:p>
            <a:pPr lvl="1"/>
            <a:r>
              <a:rPr lang="en-US" sz="2800" spc="-5" dirty="0">
                <a:cs typeface="Calibri"/>
              </a:rPr>
              <a:t>Coordinate axial (trunk) and proximal limb movement</a:t>
            </a:r>
            <a:endParaRPr lang="en-US" sz="2800" dirty="0"/>
          </a:p>
          <a:p>
            <a:r>
              <a:rPr lang="en-US" dirty="0"/>
              <a:t>Autonomic (e.g. heart and lungs) and stereotypic behaviors (e.g., stepping)</a:t>
            </a:r>
            <a:endParaRPr lang="en-US" spc="-5" dirty="0">
              <a:cs typeface="Calibri"/>
            </a:endParaRPr>
          </a:p>
          <a:p>
            <a:pPr marL="457200" lvl="1" indent="0">
              <a:buNone/>
            </a:pPr>
            <a:endParaRPr lang="en-US" spc="-5" dirty="0">
              <a:cs typeface="Calibri"/>
            </a:endParaRP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D2ED73-90F2-5E61-2D2C-0657097685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476"/>
          <a:stretch>
            <a:fillRect/>
          </a:stretch>
        </p:blipFill>
        <p:spPr>
          <a:xfrm>
            <a:off x="5221357" y="0"/>
            <a:ext cx="6970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2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5EC6-77E5-1794-3A7B-6E6C1564D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7606683" cy="1325563"/>
          </a:xfrm>
        </p:spPr>
        <p:txBody>
          <a:bodyPr/>
          <a:lstStyle/>
          <a:p>
            <a:pPr algn="ctr"/>
            <a:r>
              <a:rPr lang="en-US" dirty="0"/>
              <a:t>Vestibulospinal Pathways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7555-A7E5-7F4E-83FD-343DFB8AC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4721"/>
            <a:ext cx="7606683" cy="5050630"/>
          </a:xfrm>
        </p:spPr>
        <p:txBody>
          <a:bodyPr>
            <a:normAutofit/>
          </a:bodyPr>
          <a:lstStyle/>
          <a:p>
            <a:r>
              <a:rPr lang="en-US" spc="-15" dirty="0">
                <a:cs typeface="Calibri"/>
              </a:rPr>
              <a:t>UMNs in the vestibular nuclear complex</a:t>
            </a:r>
          </a:p>
          <a:p>
            <a:pPr lvl="1"/>
            <a:r>
              <a:rPr lang="en-US" sz="2800" b="1" spc="-15" dirty="0">
                <a:cs typeface="Calibri"/>
              </a:rPr>
              <a:t>Medial</a:t>
            </a:r>
            <a:r>
              <a:rPr lang="en-US" sz="2800" spc="-15" dirty="0">
                <a:cs typeface="Calibri"/>
              </a:rPr>
              <a:t>: terminate bilaterally in the medial ventral part of cervical spinal cord</a:t>
            </a:r>
          </a:p>
          <a:p>
            <a:pPr lvl="2"/>
            <a:r>
              <a:rPr lang="en-US" sz="2800" spc="-15" dirty="0">
                <a:cs typeface="Calibri"/>
              </a:rPr>
              <a:t>regulate head position and protect via the dorsiflexion reflex.</a:t>
            </a:r>
          </a:p>
          <a:p>
            <a:pPr lvl="1"/>
            <a:r>
              <a:rPr lang="en-US" sz="2800" b="1" spc="-15" dirty="0">
                <a:cs typeface="Calibri"/>
              </a:rPr>
              <a:t>Lateral</a:t>
            </a:r>
            <a:r>
              <a:rPr lang="en-US" sz="2800" spc="-15" dirty="0">
                <a:cs typeface="Calibri"/>
              </a:rPr>
              <a:t>: terminate ipsilaterally in the </a:t>
            </a:r>
            <a:r>
              <a:rPr lang="en-US" sz="2800" i="1" spc="-15" dirty="0">
                <a:cs typeface="Calibri"/>
              </a:rPr>
              <a:t>medial</a:t>
            </a:r>
            <a:r>
              <a:rPr lang="en-US" sz="2800" spc="-15" dirty="0">
                <a:cs typeface="Calibri"/>
              </a:rPr>
              <a:t> anterior white matter</a:t>
            </a:r>
          </a:p>
          <a:p>
            <a:pPr lvl="2"/>
            <a:r>
              <a:rPr lang="en-US" sz="2800" spc="-15" dirty="0">
                <a:cs typeface="Calibri"/>
              </a:rPr>
              <a:t>governs proximal upper limb muscles and mediates reflexes that activate extensor (anti-gravity) muscles.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134EC-3C78-7342-9F0D-96D947943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731"/>
          <a:stretch>
            <a:fillRect/>
          </a:stretch>
        </p:blipFill>
        <p:spPr>
          <a:xfrm>
            <a:off x="8444883" y="18255"/>
            <a:ext cx="3747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8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F42B-E3D2-5E93-6E4F-91557346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uroscience6e-Fig-17-01-1R.jpg">
            <a:extLst>
              <a:ext uri="{FF2B5EF4-FFF2-40B4-BE49-F238E27FC236}">
                <a16:creationId xmlns:a16="http://schemas.microsoft.com/office/drawing/2014/main" id="{B1065C6B-B26F-2127-8435-88F10998F6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5"/>
          <a:stretch/>
        </p:blipFill>
        <p:spPr>
          <a:xfrm>
            <a:off x="6095999" y="1568234"/>
            <a:ext cx="5879602" cy="3922725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1ABE4D8-F0F3-0E13-E3A6-7F8D4C32A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007" y="404507"/>
            <a:ext cx="1046398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400" spc="-90" dirty="0"/>
              <a:t>The </a:t>
            </a:r>
            <a:r>
              <a:rPr lang="en-US" sz="4400" b="1" spc="-90" dirty="0"/>
              <a:t>Lateral </a:t>
            </a:r>
            <a:r>
              <a:rPr lang="en-US" sz="4400" spc="-90" dirty="0"/>
              <a:t>division</a:t>
            </a:r>
            <a:r>
              <a:rPr sz="4400" spc="-5" dirty="0"/>
              <a:t> </a:t>
            </a:r>
            <a:r>
              <a:rPr sz="4400" dirty="0"/>
              <a:t>of </a:t>
            </a:r>
            <a:r>
              <a:rPr sz="4400" spc="-5" dirty="0"/>
              <a:t>descending </a:t>
            </a:r>
            <a:r>
              <a:rPr sz="4400" spc="-10" dirty="0"/>
              <a:t>motor</a:t>
            </a:r>
            <a:r>
              <a:rPr sz="4400" spc="65" dirty="0"/>
              <a:t> </a:t>
            </a:r>
            <a:r>
              <a:rPr sz="4400" spc="-20" dirty="0"/>
              <a:t>tracts</a:t>
            </a:r>
            <a:endParaRPr sz="44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E6FBB5-C0D4-B551-15E2-ED01B8674C04}"/>
              </a:ext>
            </a:extLst>
          </p:cNvPr>
          <p:cNvSpPr txBox="1"/>
          <p:nvPr/>
        </p:nvSpPr>
        <p:spPr>
          <a:xfrm>
            <a:off x="675181" y="1568234"/>
            <a:ext cx="5420818" cy="403700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127635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dirty="0">
                <a:cs typeface="Calibri"/>
              </a:rPr>
              <a:t>Axons from the </a:t>
            </a:r>
            <a:r>
              <a:rPr lang="en-US" sz="2800" b="1" dirty="0">
                <a:cs typeface="Calibri"/>
              </a:rPr>
              <a:t>cortical areas</a:t>
            </a:r>
          </a:p>
          <a:p>
            <a:pPr marL="698500" marR="127635" lvl="1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cs typeface="Calibri"/>
              </a:rPr>
              <a:t>Controls distal muscles</a:t>
            </a:r>
          </a:p>
          <a:p>
            <a:pPr marL="698500" marR="127635" lvl="1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cs typeface="Calibri"/>
              </a:rPr>
              <a:t>Primarily related to planning, initiating, and directing voluntary movements</a:t>
            </a:r>
          </a:p>
          <a:p>
            <a:pPr marL="698500" marR="127635" lvl="1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endParaRPr lang="en-US" sz="2800" spc="-5" dirty="0">
              <a:cs typeface="Calibri"/>
            </a:endParaRPr>
          </a:p>
          <a:p>
            <a:pPr marL="241300" marR="127635" indent="-228600">
              <a:lnSpc>
                <a:spcPts val="3100"/>
              </a:lnSpc>
              <a:spcBef>
                <a:spcPts val="42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cs typeface="Calibri"/>
              </a:rPr>
              <a:t>Main sections:</a:t>
            </a:r>
            <a:endParaRPr sz="2800" dirty="0">
              <a:cs typeface="Calibri"/>
            </a:endParaRPr>
          </a:p>
          <a:p>
            <a:pPr marL="698500" marR="5080" lvl="1" indent="-228600">
              <a:lnSpc>
                <a:spcPts val="320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5" dirty="0">
                <a:cs typeface="Calibri"/>
              </a:rPr>
              <a:t>Corticospinal</a:t>
            </a:r>
            <a:endParaRPr lang="en-US" sz="2800" dirty="0"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698500" algn="l"/>
              </a:tabLst>
            </a:pPr>
            <a:r>
              <a:rPr lang="en-US" sz="2800" spc="-5" dirty="0">
                <a:cs typeface="Calibri"/>
              </a:rPr>
              <a:t>Corticobulbar </a:t>
            </a: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A0C0A010-E490-59A0-A28E-C95888854950}"/>
              </a:ext>
            </a:extLst>
          </p:cNvPr>
          <p:cNvSpPr/>
          <p:nvPr/>
        </p:nvSpPr>
        <p:spPr>
          <a:xfrm>
            <a:off x="5963478" y="1482348"/>
            <a:ext cx="6012123" cy="2047248"/>
          </a:xfrm>
          <a:prstGeom prst="frame">
            <a:avLst>
              <a:gd name="adj1" fmla="val 324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361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8724ACB-CEE4-4EB9-BA7E-397E9D738AE9}"/>
              </a:ext>
            </a:extLst>
          </p:cNvPr>
          <p:cNvSpPr/>
          <p:nvPr/>
        </p:nvSpPr>
        <p:spPr>
          <a:xfrm>
            <a:off x="3128692" y="280890"/>
            <a:ext cx="8959230" cy="6130845"/>
          </a:xfrm>
          <a:prstGeom prst="rect">
            <a:avLst/>
          </a:prstGeom>
          <a:blipFill>
            <a:blip r:embed="rId3" cstate="print"/>
            <a:stretch>
              <a:fillRect t="-1" b="-71472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497BAC1-817E-4328-A432-0AE84819C1CC}"/>
              </a:ext>
            </a:extLst>
          </p:cNvPr>
          <p:cNvSpPr/>
          <p:nvPr/>
        </p:nvSpPr>
        <p:spPr>
          <a:xfrm>
            <a:off x="413987" y="2508114"/>
            <a:ext cx="3535442" cy="3338209"/>
          </a:xfrm>
          <a:prstGeom prst="rect">
            <a:avLst/>
          </a:prstGeom>
          <a:blipFill>
            <a:blip r:embed="rId3" cstate="print"/>
            <a:stretch>
              <a:fillRect t="-156682" r="-102340"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A560608-35D6-4ABC-83B3-A98F10F34A31}"/>
              </a:ext>
            </a:extLst>
          </p:cNvPr>
          <p:cNvSpPr/>
          <p:nvPr/>
        </p:nvSpPr>
        <p:spPr>
          <a:xfrm>
            <a:off x="2821587" y="3263628"/>
            <a:ext cx="1869684" cy="16537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1FF6D56-0DF2-472B-93E3-D9A43374478E}"/>
              </a:ext>
            </a:extLst>
          </p:cNvPr>
          <p:cNvSpPr/>
          <p:nvPr/>
        </p:nvSpPr>
        <p:spPr>
          <a:xfrm rot="1481115">
            <a:off x="2646002" y="4512595"/>
            <a:ext cx="4659732" cy="17876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86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CC54-31EC-1B61-0177-1B45A41C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CEF5-B9A9-20FC-1FEF-4E980006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49" y="39757"/>
            <a:ext cx="7903266" cy="139176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Corticobulbar pathway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DC423-D933-31ED-CEAE-251E7C45A992}"/>
              </a:ext>
            </a:extLst>
          </p:cNvPr>
          <p:cNvSpPr txBox="1"/>
          <p:nvPr/>
        </p:nvSpPr>
        <p:spPr>
          <a:xfrm>
            <a:off x="915449" y="1405311"/>
            <a:ext cx="790326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Pathway carrying motor information from motor cortex to </a:t>
            </a:r>
            <a:r>
              <a:rPr lang="en-US" sz="2800" b="1" dirty="0"/>
              <a:t>brainstem nuclei.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There is also a massive projection that terminates among nuclei in the base of the pons that project in turn to the cerebellum (the </a:t>
            </a:r>
            <a:r>
              <a:rPr lang="en-US" sz="2800" b="1" dirty="0"/>
              <a:t>corticopontine tract</a:t>
            </a:r>
            <a:r>
              <a:rPr lang="en-US" sz="2800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CA50F3-9EBA-7BA2-F027-CCE95141B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715" y="0"/>
            <a:ext cx="3373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32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9D6D-32ED-AA88-5FA5-BC854DB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8820912" cy="139147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Corticospinal pathway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69FF8D-BD43-CC0C-AA8D-2274F892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912" y="0"/>
            <a:ext cx="3371088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4C0B72-FC59-1BD2-FBF1-4A3BEC884B9B}"/>
              </a:ext>
            </a:extLst>
          </p:cNvPr>
          <p:cNvSpPr txBox="1"/>
          <p:nvPr/>
        </p:nvSpPr>
        <p:spPr>
          <a:xfrm>
            <a:off x="715617" y="1391478"/>
            <a:ext cx="810529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Pathway carrying motor information from motor cortex to the </a:t>
            </a:r>
            <a:r>
              <a:rPr lang="en-US" sz="2800" b="1" dirty="0"/>
              <a:t>spinal cord.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/>
              <a:t>Lateral: </a:t>
            </a:r>
            <a:r>
              <a:rPr lang="en-US" sz="2800" dirty="0"/>
              <a:t>cross midline in the caudal medulla.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800" dirty="0"/>
              <a:t>skilled movements of the extremities (especially hands)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b="1" dirty="0"/>
              <a:t>Ventral (anterior): </a:t>
            </a:r>
            <a:r>
              <a:rPr lang="en-US" sz="2800" dirty="0"/>
              <a:t>remain ipsilateral.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800" b="1" dirty="0"/>
              <a:t> </a:t>
            </a:r>
            <a:r>
              <a:rPr lang="en-US" sz="2800" dirty="0"/>
              <a:t>postural control</a:t>
            </a:r>
          </a:p>
        </p:txBody>
      </p:sp>
    </p:spTree>
    <p:extLst>
      <p:ext uri="{BB962C8B-B14F-4D97-AF65-F5344CB8AC3E}">
        <p14:creationId xmlns:p14="http://schemas.microsoft.com/office/powerpoint/2010/main" val="167125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</TotalTime>
  <Words>392</Words>
  <Application>Microsoft Office PowerPoint</Application>
  <PresentationFormat>Widescreen</PresentationFormat>
  <Paragraphs>75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Upper motor neuron control of the brainstem and spinal cord</vt:lpstr>
      <vt:lpstr>Learning objectives</vt:lpstr>
      <vt:lpstr>Four Neural Centers for Movement</vt:lpstr>
      <vt:lpstr>Upper motor neurons coordinate activity of lower motor neurons</vt:lpstr>
      <vt:lpstr>The Medial division of descending motor tracts</vt:lpstr>
      <vt:lpstr>PowerPoint Presentation</vt:lpstr>
      <vt:lpstr>Rubrospinal Pathway</vt:lpstr>
      <vt:lpstr>PowerPoint Presentation</vt:lpstr>
      <vt:lpstr>Reticulospinal Pathway</vt:lpstr>
      <vt:lpstr>Vestibulospinal Pathways</vt:lpstr>
      <vt:lpstr>The Lateral division of descending motor tracts</vt:lpstr>
      <vt:lpstr>PowerPoint Presentation</vt:lpstr>
      <vt:lpstr>Corticobulbar pathway</vt:lpstr>
      <vt:lpstr>Corticospinal pathway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Nicole</dc:creator>
  <cp:lastModifiedBy>Phillips, Nicole</cp:lastModifiedBy>
  <cp:revision>139</cp:revision>
  <dcterms:created xsi:type="dcterms:W3CDTF">2025-10-21T15:15:45Z</dcterms:created>
  <dcterms:modified xsi:type="dcterms:W3CDTF">2026-03-26T18:39:18Z</dcterms:modified>
</cp:coreProperties>
</file>