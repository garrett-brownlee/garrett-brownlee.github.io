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71A77A-733E-468C-9C87-C2EB7BF68F0A}" v="8" dt="2026-04-20T03:30:05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6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DE25-033E-1CDB-9415-5AC3A2FA6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FC844-B2E8-5187-B57A-9DEEF70A9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5A7E4-3ACF-5C13-E1D8-D1DEA4D1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7DF64-BB2E-C6F0-66C0-6958CA2B4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A093B-EC80-9FAF-59B9-4F5886B9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1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4804-1432-E763-3878-D962097E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16DF1-059D-E020-737F-319557834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22873-1852-D60A-B89A-0B44E9168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15233-2901-44CC-D1E1-6D332BFE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5002C-F007-8B4E-F9E0-565BCD8F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8A53-7360-ECEF-FA59-B8668BDD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1F30A-7720-289B-0E6B-C8ADAD1D6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B6F87-7C58-238C-DF2A-F39F19C9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7AC62-A8D1-43F0-5954-062A8A2F8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9D2F8-0A46-9BA0-B114-F6FDF77EC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4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599D-145A-0682-476D-7C19228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E8274-D986-8122-2031-61196B39A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270AC-C7E8-14BD-4B73-E1E1EFBF5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B03BC-2B37-1885-C3B1-1D7F154D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AE929-FCC1-9A4A-9F20-66F6BCBB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D42FE-219C-656E-4DA0-04C3E1B1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1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F8A27-92A4-AFB7-2E5D-04DB3D6EF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BA626-1E5C-B059-4D50-38AED1442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111F8-CC12-D26C-0D45-8DA278505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6427D-853F-C516-4DB0-AC3BC84A51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ECA8A-040C-FA16-F8B7-3E0F802FC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9090AE-7E64-DFBB-CBFF-981773EF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66079-948E-C59B-2FCF-DDE708A9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95A54-D462-EF43-864D-EF39C398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8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6C87-7CB2-06BE-C380-A1B047C2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84DE0-FE99-C552-4E01-720B3F51A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0560A-F132-1454-A728-670390E5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00CE1-5C54-7801-2CBD-BE4325C0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2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B0A51-205D-4AEA-C3B7-91A9B8DF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FC6F04-B350-ECB4-B27E-483317F1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920EA-D6B2-4659-A03B-910FE4B4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6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1514-5AC3-ACD4-527C-FA6B02D86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F4C55-37DB-076F-FB87-107E3E80D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27C58-9B5A-645E-0FD2-C4A7B491C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ABBA-D2A8-9B42-5C00-5D3320AA4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B4771-0C2E-9481-1B75-B9A70CBE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BE95B-56C6-6A23-DE21-4AF9FB736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5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46C9-2617-321B-9CB1-8A73845D9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0C5AEE-FEFF-FC7F-6983-9ACE58D3A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88F9E-6307-3A18-1F66-81E731AB4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4C20-F34E-89DB-572E-63C5243B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548B5-6888-6649-2FBD-469A046B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3A23D-E05B-93A4-1875-EDE52E13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7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D743-0426-BE37-7AB9-A1A733E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BAE74-84F3-35E1-8A3A-05C7642A5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5FB0D-8023-E565-BAD0-0D52E800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2DE75-21C0-FEBB-B746-350FB779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37329-3AAE-E9EF-62E8-94C56F03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3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F1D2A-A2AD-1521-FB4B-11E9A97D1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16931-387E-0DBE-3F34-8808FE138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93711-9BE7-605D-EC60-3B019B54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C9D48-1031-3A13-D0C6-D43B9F18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73576-6B4D-EB8C-B8CF-7DBEA588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5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DAFC2D-8B23-7A13-2E64-114999AB6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46430-114B-EFF4-48CF-8E478BB1E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2C2DD-BA30-D3DA-788E-7300DEDED1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36824-FA4D-40D8-9BEF-32D417BEABE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45B72-0383-4468-3D65-01ABB6A80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F906-4575-33B7-425D-61987B91F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6AD38-A30B-4224-A7D7-C57612294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6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AACF56-A5C5-D55E-B4F8-098AB50A5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291" y="535828"/>
            <a:ext cx="4554855" cy="63221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84368F-401F-D82E-2D63-1964672BD042}"/>
              </a:ext>
            </a:extLst>
          </p:cNvPr>
          <p:cNvSpPr txBox="1"/>
          <p:nvPr/>
        </p:nvSpPr>
        <p:spPr>
          <a:xfrm>
            <a:off x="9188652" y="69890"/>
            <a:ext cx="11962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HPA axis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50D36-77EC-4828-54CD-515C13221CE1}"/>
              </a:ext>
            </a:extLst>
          </p:cNvPr>
          <p:cNvSpPr txBox="1"/>
          <p:nvPr/>
        </p:nvSpPr>
        <p:spPr>
          <a:xfrm>
            <a:off x="424001" y="130734"/>
            <a:ext cx="7565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Generalized Anxiety Disorder (GAD)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3C7951-CAD1-44E2-A1E4-31079CE5102F}"/>
              </a:ext>
            </a:extLst>
          </p:cNvPr>
          <p:cNvSpPr txBox="1"/>
          <p:nvPr/>
        </p:nvSpPr>
        <p:spPr>
          <a:xfrm>
            <a:off x="272469" y="1109247"/>
            <a:ext cx="168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Description: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74954D-A5C5-B925-6632-F272038D8FA2}"/>
              </a:ext>
            </a:extLst>
          </p:cNvPr>
          <p:cNvSpPr txBox="1"/>
          <p:nvPr/>
        </p:nvSpPr>
        <p:spPr>
          <a:xfrm>
            <a:off x="3395608" y="3256208"/>
            <a:ext cx="3815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-Restlessness (feeling “on edge”)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A0211-F30E-C8AF-A629-2E906DAD56D4}"/>
              </a:ext>
            </a:extLst>
          </p:cNvPr>
          <p:cNvSpPr txBox="1"/>
          <p:nvPr/>
        </p:nvSpPr>
        <p:spPr>
          <a:xfrm>
            <a:off x="272469" y="2780737"/>
            <a:ext cx="26514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Common</a:t>
            </a:r>
            <a:r>
              <a:rPr lang="en-US" sz="2000" dirty="0"/>
              <a:t> </a:t>
            </a:r>
            <a:r>
              <a:rPr lang="en-US" sz="2000" b="1" dirty="0"/>
              <a:t>Symptoms: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40FE77-1F6C-DE8C-816D-20FB90D39FFE}"/>
              </a:ext>
            </a:extLst>
          </p:cNvPr>
          <p:cNvSpPr txBox="1"/>
          <p:nvPr/>
        </p:nvSpPr>
        <p:spPr>
          <a:xfrm>
            <a:off x="3598079" y="3796016"/>
            <a:ext cx="1869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-Easily fatigued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71876-2EA1-77FF-FBE3-C0E5FBC25939}"/>
              </a:ext>
            </a:extLst>
          </p:cNvPr>
          <p:cNvSpPr txBox="1"/>
          <p:nvPr/>
        </p:nvSpPr>
        <p:spPr>
          <a:xfrm>
            <a:off x="542609" y="3769849"/>
            <a:ext cx="28534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-Difficulty concentrating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59159-F646-5BDE-3A0C-7578E4ABA5D0}"/>
              </a:ext>
            </a:extLst>
          </p:cNvPr>
          <p:cNvSpPr txBox="1"/>
          <p:nvPr/>
        </p:nvSpPr>
        <p:spPr>
          <a:xfrm>
            <a:off x="958798" y="3256208"/>
            <a:ext cx="2190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-Muscle tension**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F0FD5-9963-D43B-C8A5-1E269F057392}"/>
              </a:ext>
            </a:extLst>
          </p:cNvPr>
          <p:cNvSpPr txBox="1"/>
          <p:nvPr/>
        </p:nvSpPr>
        <p:spPr>
          <a:xfrm>
            <a:off x="272469" y="4992492"/>
            <a:ext cx="4709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Cause: Dysfunction in Nervous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FC46C-EA9C-FE34-1F71-CB19645AD7C5}"/>
              </a:ext>
            </a:extLst>
          </p:cNvPr>
          <p:cNvSpPr txBox="1"/>
          <p:nvPr/>
        </p:nvSpPr>
        <p:spPr>
          <a:xfrm>
            <a:off x="0" y="1548238"/>
            <a:ext cx="77702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Chronic condition characterized by excessive, pervasive, and uncontrollable apprehensive expectation (worry) across multiple domains of life, occurring more days than not for 6 months or longer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8D45EB-246C-27A7-DFF6-D9CF99BC8C56}"/>
              </a:ext>
            </a:extLst>
          </p:cNvPr>
          <p:cNvSpPr txBox="1"/>
          <p:nvPr/>
        </p:nvSpPr>
        <p:spPr>
          <a:xfrm>
            <a:off x="1279144" y="4320682"/>
            <a:ext cx="2408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-Sleep disturbances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62990-DDF8-2594-9966-307B1EA2DE2D}"/>
              </a:ext>
            </a:extLst>
          </p:cNvPr>
          <p:cNvSpPr txBox="1"/>
          <p:nvPr/>
        </p:nvSpPr>
        <p:spPr>
          <a:xfrm>
            <a:off x="5796859" y="3796016"/>
            <a:ext cx="1323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-Irritability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6D9537-BF63-9811-9238-C55DC0F87EF0}"/>
              </a:ext>
            </a:extLst>
          </p:cNvPr>
          <p:cNvSpPr txBox="1"/>
          <p:nvPr/>
        </p:nvSpPr>
        <p:spPr>
          <a:xfrm>
            <a:off x="4206832" y="4335824"/>
            <a:ext cx="2346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-Excessive worrying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EF036E-EDCA-1191-5C0B-A37F0D517B12}"/>
              </a:ext>
            </a:extLst>
          </p:cNvPr>
          <p:cNvSpPr txBox="1"/>
          <p:nvPr/>
        </p:nvSpPr>
        <p:spPr>
          <a:xfrm>
            <a:off x="1184370" y="6064412"/>
            <a:ext cx="5635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2. HPA-Axis dysregulation (the dual-phase model)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6F914-40F8-32A6-D5B3-83810BBEE76B}"/>
              </a:ext>
            </a:extLst>
          </p:cNvPr>
          <p:cNvSpPr txBox="1"/>
          <p:nvPr/>
        </p:nvSpPr>
        <p:spPr>
          <a:xfrm>
            <a:off x="1361285" y="5527853"/>
            <a:ext cx="5175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1. Failure of top-down PFC-Amygdala control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F81502-B616-7111-29EA-9675C016EBBE}"/>
              </a:ext>
            </a:extLst>
          </p:cNvPr>
          <p:cNvSpPr txBox="1"/>
          <p:nvPr/>
        </p:nvSpPr>
        <p:spPr>
          <a:xfrm>
            <a:off x="2843605" y="712860"/>
            <a:ext cx="2573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By Garrett Brownlee</a:t>
            </a:r>
          </a:p>
        </p:txBody>
      </p:sp>
    </p:spTree>
    <p:extLst>
      <p:ext uri="{BB962C8B-B14F-4D97-AF65-F5344CB8AC3E}">
        <p14:creationId xmlns:p14="http://schemas.microsoft.com/office/powerpoint/2010/main" val="81397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024E-0187-C434-2A16-4F3094E17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027" y="278836"/>
            <a:ext cx="2787945" cy="102593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359A8-EDAC-CA24-2733-2397631E0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846" y="1343970"/>
            <a:ext cx="11694306" cy="5237058"/>
          </a:xfrm>
        </p:spPr>
        <p:txBody>
          <a:bodyPr>
            <a:normAutofit fontScale="77500" lnSpcReduction="20000"/>
          </a:bodyPr>
          <a:lstStyle/>
          <a:p>
            <a:pPr marL="0" indent="-457200">
              <a:buNone/>
            </a:pPr>
            <a:r>
              <a:rPr lang="en-US" dirty="0" err="1"/>
              <a:t>Elnazer</a:t>
            </a:r>
            <a:r>
              <a:rPr lang="en-US" dirty="0"/>
              <a:t>, H. Y. (2026). A dual-stage model of hypothalamic-pituitary-adrenal (HPA) axis 	dysregulation in anxiety disorders: A systematic review. </a:t>
            </a:r>
            <a:r>
              <a:rPr lang="en-US" dirty="0" err="1"/>
              <a:t>Psikiyatride</a:t>
            </a:r>
            <a:r>
              <a:rPr lang="en-US" dirty="0"/>
              <a:t> </a:t>
            </a:r>
            <a:r>
              <a:rPr lang="en-US" dirty="0" err="1"/>
              <a:t>Güncel</a:t>
            </a:r>
            <a:r>
              <a:rPr lang="en-US" dirty="0"/>
              <a:t> </a:t>
            </a:r>
            <a:r>
              <a:rPr lang="en-US" dirty="0" err="1"/>
              <a:t>Yaklaşımlar</a:t>
            </a:r>
            <a:r>
              <a:rPr lang="en-US" dirty="0"/>
              <a:t>-	Current Approaches in Psychiatry, 18(4), 1421-1438.</a:t>
            </a:r>
          </a:p>
          <a:p>
            <a:pPr marL="0" indent="-457200">
              <a:buNone/>
            </a:pPr>
            <a:endParaRPr lang="en-US" sz="900" dirty="0"/>
          </a:p>
          <a:p>
            <a:pPr marL="0" indent="-457200">
              <a:buNone/>
            </a:pPr>
            <a:r>
              <a:rPr lang="en-US" dirty="0" err="1"/>
              <a:t>Gkintoni</a:t>
            </a:r>
            <a:r>
              <a:rPr lang="en-US" dirty="0"/>
              <a:t>, E., &amp; Suárez Ortiz, P. (2023). Neuropsychology of generalized anxiety disorder in 	clinical setting: A systematic evaluation. Preprints.org.</a:t>
            </a:r>
          </a:p>
          <a:p>
            <a:pPr marL="0" indent="-457200">
              <a:buNone/>
            </a:pPr>
            <a:endParaRPr lang="en-US" sz="900" dirty="0"/>
          </a:p>
          <a:p>
            <a:pPr marL="0" indent="-457200">
              <a:buNone/>
            </a:pPr>
            <a:r>
              <a:rPr lang="en-US" dirty="0"/>
              <a:t>Liu, X., </a:t>
            </a:r>
            <a:r>
              <a:rPr lang="en-US" dirty="0" err="1"/>
              <a:t>Klugah</a:t>
            </a:r>
            <a:r>
              <a:rPr lang="en-US" dirty="0"/>
              <a:t>-Brown, B., Zhang, R., Chen, H., Zhang, J., &amp; Becker, B. (2022). Pathological fear, 	anxiety and negative affect exhibit distinct neurostructural signatures: Evidence from 	psychiatric neuroimaging meta-analysis. Translational Psychiatry, 12, 405.</a:t>
            </a:r>
          </a:p>
          <a:p>
            <a:pPr marL="0" indent="-457200">
              <a:buNone/>
            </a:pPr>
            <a:endParaRPr lang="en-US" sz="900" dirty="0"/>
          </a:p>
          <a:p>
            <a:pPr marL="0" indent="-457200">
              <a:buNone/>
            </a:pPr>
            <a:r>
              <a:rPr lang="en-US" dirty="0" err="1"/>
              <a:t>Makovac</a:t>
            </a:r>
            <a:r>
              <a:rPr lang="en-US" dirty="0"/>
              <a:t>, E., Meeten, F., Watson, D. R., Herman, A., Garfinkel, S. N., Critchley, H. D., &amp; Ottaviani, 	C. (2016). Alterations in amygdala-prefrontal functional connectivity account for 	excessive worry and autonomic dysregulation in generalized anxiety disorder. Biological 	Psychiatry, 80(10), 786-795.</a:t>
            </a:r>
          </a:p>
          <a:p>
            <a:pPr marL="0" indent="-457200">
              <a:buNone/>
            </a:pPr>
            <a:endParaRPr lang="en-US" sz="1000" dirty="0"/>
          </a:p>
          <a:p>
            <a:pPr marL="0" indent="-457200">
              <a:buNone/>
            </a:pPr>
            <a:r>
              <a:rPr lang="en-US" dirty="0"/>
              <a:t>Patriquin, M. A., &amp; Mathew, S. J. (2017). The neurobiological mechanisms of generalized anxiety 	disorder and chronic stress. Chronic Stress, 1, 2470547017703993.</a:t>
            </a:r>
          </a:p>
        </p:txBody>
      </p:sp>
    </p:spTree>
    <p:extLst>
      <p:ext uri="{BB962C8B-B14F-4D97-AF65-F5344CB8AC3E}">
        <p14:creationId xmlns:p14="http://schemas.microsoft.com/office/powerpoint/2010/main" val="1501100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20145273EC624EAD137B099DFC439F" ma:contentTypeVersion="15" ma:contentTypeDescription="Create a new document." ma:contentTypeScope="" ma:versionID="8db135019d507071a6aec5ce8e75eda0">
  <xsd:schema xmlns:xsd="http://www.w3.org/2001/XMLSchema" xmlns:xs="http://www.w3.org/2001/XMLSchema" xmlns:p="http://schemas.microsoft.com/office/2006/metadata/properties" xmlns:ns3="5510326e-f6dc-42a6-89a1-10cb65343a35" xmlns:ns4="fe38bd11-dbd8-44a4-9dca-baa0dbd94e8f" targetNamespace="http://schemas.microsoft.com/office/2006/metadata/properties" ma:root="true" ma:fieldsID="063baf5a3d280c4c1499ab4373f3efc0" ns3:_="" ns4:_="">
    <xsd:import namespace="5510326e-f6dc-42a6-89a1-10cb65343a35"/>
    <xsd:import namespace="fe38bd11-dbd8-44a4-9dca-baa0dbd94e8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10326e-f6dc-42a6-89a1-10cb65343a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38bd11-dbd8-44a4-9dca-baa0dbd94e8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510326e-f6dc-42a6-89a1-10cb65343a35" xsi:nil="true"/>
  </documentManagement>
</p:properties>
</file>

<file path=customXml/itemProps1.xml><?xml version="1.0" encoding="utf-8"?>
<ds:datastoreItem xmlns:ds="http://schemas.openxmlformats.org/officeDocument/2006/customXml" ds:itemID="{19FDA26C-49A2-4748-898E-2156DE5C23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10326e-f6dc-42a6-89a1-10cb65343a35"/>
    <ds:schemaRef ds:uri="fe38bd11-dbd8-44a4-9dca-baa0dbd94e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1843CEB-5315-4FFD-B2DB-FDC947E08C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39ED40-31AC-4E4C-9A74-58506739157F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5510326e-f6dc-42a6-89a1-10cb65343a35"/>
    <ds:schemaRef ds:uri="http://purl.org/dc/elements/1.1/"/>
    <ds:schemaRef ds:uri="http://schemas.microsoft.com/office/infopath/2007/PartnerControls"/>
    <ds:schemaRef ds:uri="fe38bd11-dbd8-44a4-9dca-baa0dbd94e8f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323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Brownlee, Garrett</dc:creator>
  <cp:lastModifiedBy>Brownlee, Garrett</cp:lastModifiedBy>
  <cp:revision>2</cp:revision>
  <dcterms:created xsi:type="dcterms:W3CDTF">2026-04-20T02:21:52Z</dcterms:created>
  <dcterms:modified xsi:type="dcterms:W3CDTF">2026-04-20T03:57:18Z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0x0101004620145273EC624EAD137B099DFC439F</vt:lpwstr>
  </property>
</Properties>
</file>