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50" r:id="rId4"/>
    <p:sldMasterId id="2147483680" r:id="rId5"/>
  </p:sldMasterIdLst>
  <p:notesMasterIdLst>
    <p:notesMasterId r:id="rId72"/>
  </p:notesMasterIdLst>
  <p:handoutMasterIdLst>
    <p:handoutMasterId r:id="rId73"/>
  </p:handoutMasterIdLst>
  <p:sldIdLst>
    <p:sldId id="261" r:id="rId6"/>
    <p:sldId id="270" r:id="rId7"/>
    <p:sldId id="274" r:id="rId8"/>
    <p:sldId id="288" r:id="rId9"/>
    <p:sldId id="289" r:id="rId10"/>
    <p:sldId id="271" r:id="rId11"/>
    <p:sldId id="284" r:id="rId12"/>
    <p:sldId id="290" r:id="rId13"/>
    <p:sldId id="291" r:id="rId14"/>
    <p:sldId id="292" r:id="rId15"/>
    <p:sldId id="293" r:id="rId16"/>
    <p:sldId id="294" r:id="rId17"/>
    <p:sldId id="356" r:id="rId18"/>
    <p:sldId id="295" r:id="rId19"/>
    <p:sldId id="296" r:id="rId20"/>
    <p:sldId id="357" r:id="rId21"/>
    <p:sldId id="297" r:id="rId22"/>
    <p:sldId id="358" r:id="rId23"/>
    <p:sldId id="299" r:id="rId24"/>
    <p:sldId id="359" r:id="rId25"/>
    <p:sldId id="308" r:id="rId26"/>
    <p:sldId id="311" r:id="rId27"/>
    <p:sldId id="312" r:id="rId28"/>
    <p:sldId id="360" r:id="rId29"/>
    <p:sldId id="315" r:id="rId30"/>
    <p:sldId id="361" r:id="rId31"/>
    <p:sldId id="316" r:id="rId32"/>
    <p:sldId id="286" r:id="rId33"/>
    <p:sldId id="362" r:id="rId34"/>
    <p:sldId id="285" r:id="rId35"/>
    <p:sldId id="320" r:id="rId36"/>
    <p:sldId id="321" r:id="rId37"/>
    <p:sldId id="363" r:id="rId38"/>
    <p:sldId id="317" r:id="rId39"/>
    <p:sldId id="323" r:id="rId40"/>
    <p:sldId id="367" r:id="rId41"/>
    <p:sldId id="325" r:id="rId42"/>
    <p:sldId id="326" r:id="rId43"/>
    <p:sldId id="327" r:id="rId44"/>
    <p:sldId id="328" r:id="rId45"/>
    <p:sldId id="368" r:id="rId46"/>
    <p:sldId id="329" r:id="rId47"/>
    <p:sldId id="369" r:id="rId48"/>
    <p:sldId id="331" r:id="rId49"/>
    <p:sldId id="370" r:id="rId50"/>
    <p:sldId id="332" r:id="rId51"/>
    <p:sldId id="372" r:id="rId52"/>
    <p:sldId id="333" r:id="rId53"/>
    <p:sldId id="335" r:id="rId54"/>
    <p:sldId id="374" r:id="rId55"/>
    <p:sldId id="346" r:id="rId56"/>
    <p:sldId id="375" r:id="rId57"/>
    <p:sldId id="337" r:id="rId58"/>
    <p:sldId id="376" r:id="rId59"/>
    <p:sldId id="338" r:id="rId60"/>
    <p:sldId id="341" r:id="rId61"/>
    <p:sldId id="378" r:id="rId62"/>
    <p:sldId id="379" r:id="rId63"/>
    <p:sldId id="380" r:id="rId64"/>
    <p:sldId id="339" r:id="rId65"/>
    <p:sldId id="381" r:id="rId66"/>
    <p:sldId id="354" r:id="rId67"/>
    <p:sldId id="355" r:id="rId68"/>
    <p:sldId id="344" r:id="rId69"/>
    <p:sldId id="342" r:id="rId70"/>
    <p:sldId id="343"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61" autoAdjust="0"/>
    <p:restoredTop sz="83333" autoAdjust="0"/>
  </p:normalViewPr>
  <p:slideViewPr>
    <p:cSldViewPr snapToGrid="0" snapToObjects="1">
      <p:cViewPr varScale="1">
        <p:scale>
          <a:sx n="91" d="100"/>
          <a:sy n="91" d="100"/>
        </p:scale>
        <p:origin x="96" y="7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228314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Example of a correlational relationship: </a:t>
            </a:r>
            <a:r>
              <a:rPr lang="en-US" altLang="en-US" dirty="0"/>
              <a:t>Data collected on alcohol consumption during pregnancy and occurrence of fetal alcohol syndrome (FAS) suggest a relationship but do not show that alcohol causes FAS.</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909388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1386752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4218065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b="0" u="none" dirty="0"/>
              <a:t>Limitations of animal tests: </a:t>
            </a:r>
          </a:p>
          <a:p>
            <a:pPr algn="l"/>
            <a:r>
              <a:rPr lang="en-US" sz="1800" b="0" i="0" u="none" strike="noStrike" baseline="0" dirty="0">
                <a:latin typeface="PalatinoLTStd-Roman"/>
              </a:rPr>
              <a:t>Many diagnostic symptoms, such as thoughts of suicide or feelings of guilt, can’t be easily translated to animal behavior; </a:t>
            </a:r>
          </a:p>
          <a:p>
            <a:pPr algn="l"/>
            <a:r>
              <a:rPr lang="en-US" sz="1800" b="0" i="0" u="none" strike="noStrike" baseline="0" dirty="0">
                <a:latin typeface="PalatinoLTStd-Roman"/>
              </a:rPr>
              <a:t>Most psychiatric disorders are highly complex in symptomatology but, most animal testing is forced to evaluate only one or a few behavioral symptoms;</a:t>
            </a:r>
          </a:p>
          <a:p>
            <a:pPr algn="l"/>
            <a:r>
              <a:rPr lang="en-US" sz="1800" b="0" i="0" u="none" strike="noStrike" baseline="0" dirty="0">
                <a:latin typeface="PalatinoLTStd-Roman"/>
              </a:rPr>
              <a:t>There are multiple animal models for the same disorder with little in common;</a:t>
            </a:r>
          </a:p>
          <a:p>
            <a:pPr algn="l"/>
            <a:r>
              <a:rPr lang="en-US" sz="1800" b="0" i="0" u="none" strike="noStrike" baseline="0" dirty="0">
                <a:latin typeface="PalatinoLTStd-Roman"/>
              </a:rPr>
              <a:t>There is insufficient information on the genetic or molecular basis of most disorders of the CNS</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1607814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pPr algn="l"/>
            <a:r>
              <a:rPr lang="en-US" sz="1800" b="0" i="0" u="none" strike="noStrike" baseline="0" dirty="0">
                <a:latin typeface="PalatinoLTStd-Roman"/>
              </a:rPr>
              <a:t>Operant conditioning experiments are typically carried out in an operant chamber (Skinner box).</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907498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Rat in an operant chamber 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rat can be trained to press the lever (response) to activate a food delivery mechanism (reinforcement). An animal can also learn to press the lever to terminate or postpone shocks that can be delivered through the grid floor.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739087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3945887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60854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tail-flick test of analgesia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response of the animal to a thermal stimulus is measured with this test. The quantitative measure made is the time between onset of the light beam, which provides heat, and movement of the tail. The </a:t>
            </a:r>
            <a:r>
              <a:rPr lang="en-US" sz="1200" kern="1200" dirty="0" err="1">
                <a:solidFill>
                  <a:schemeClr val="tx1"/>
                </a:solidFill>
                <a:effectLst/>
                <a:latin typeface="+mn-lt"/>
                <a:ea typeface="+mn-ea"/>
                <a:cs typeface="+mn-cs"/>
              </a:rPr>
              <a:t>clockfaces</a:t>
            </a:r>
            <a:r>
              <a:rPr lang="en-US" sz="1200" kern="1200" dirty="0">
                <a:solidFill>
                  <a:schemeClr val="tx1"/>
                </a:solidFill>
                <a:effectLst/>
                <a:latin typeface="+mn-lt"/>
                <a:ea typeface="+mn-ea"/>
                <a:cs typeface="+mn-cs"/>
              </a:rPr>
              <a:t> show that the response to the noxious stimulus is delayed after treatment with an analgesic that is known to reduce pain in humans. (After L. W. Hamilton and C. R. Timmons. 1990. </a:t>
            </a:r>
            <a:r>
              <a:rPr lang="en-US" sz="1200" i="1" kern="1200" dirty="0">
                <a:solidFill>
                  <a:schemeClr val="tx1"/>
                </a:solidFill>
                <a:effectLst/>
                <a:latin typeface="+mn-lt"/>
                <a:ea typeface="+mn-ea"/>
                <a:cs typeface="+mn-cs"/>
              </a:rPr>
              <a:t>Principles of Behavioral Pharmacology: A Biopsychological Perspective</a:t>
            </a:r>
            <a:r>
              <a:rPr lang="en-US" sz="1200" kern="1200" dirty="0">
                <a:solidFill>
                  <a:schemeClr val="tx1"/>
                </a:solidFill>
                <a:effectLst/>
                <a:latin typeface="+mn-lt"/>
                <a:ea typeface="+mn-ea"/>
                <a:cs typeface="+mn-cs"/>
              </a:rPr>
              <a:t>. Prentice Hall: Englewood Cliffs, NJ.)</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1483529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Mazes: </a:t>
            </a:r>
            <a:r>
              <a:rPr lang="en-US" b="1" u="none" dirty="0"/>
              <a:t>T-maze</a:t>
            </a:r>
            <a:r>
              <a:rPr lang="en-US" u="none" dirty="0"/>
              <a:t>, </a:t>
            </a:r>
            <a:r>
              <a:rPr lang="en-US" b="1" u="none" dirty="0"/>
              <a:t>multiple T-maze</a:t>
            </a:r>
            <a:r>
              <a:rPr lang="en-US" u="none" dirty="0"/>
              <a:t>, </a:t>
            </a:r>
            <a:r>
              <a:rPr lang="en-US" b="1" u="none" dirty="0"/>
              <a:t>radial arm maze</a:t>
            </a:r>
            <a:r>
              <a:rPr lang="en-US" u="none" dirty="0"/>
              <a:t>, </a:t>
            </a:r>
            <a:r>
              <a:rPr lang="en-US" b="1" u="none" dirty="0"/>
              <a:t>Morris water maze</a:t>
            </a:r>
          </a:p>
          <a:p>
            <a:r>
              <a:rPr lang="en-US" altLang="en-US" dirty="0"/>
              <a:t>Drugs may alter the animal’</a:t>
            </a:r>
            <a:r>
              <a:rPr lang="en-US" altLang="ja-JP" dirty="0"/>
              <a:t>s memory or behavior but can also make it more or less hungry, sedated, disoriented, </a:t>
            </a:r>
            <a:r>
              <a:rPr lang="en-US" altLang="ja-JP" dirty="0" err="1"/>
              <a:t>etc</a:t>
            </a:r>
            <a:endParaRPr lang="en-US" b="1"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2544611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Morris water maze 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circular pool is filled with opaque water. The escape platform is approximately 1 cm below the water level. The rat’s task is to locate the submerged, hidden platform by using visuospatial cues available in the room. A video camera is mounted above the pool and is connected to the video recorder and the computer link to trace the individual swim path. (After B. Kolb and I. Q. </a:t>
            </a:r>
            <a:r>
              <a:rPr lang="en-US" sz="1200" kern="1200" dirty="0" err="1">
                <a:solidFill>
                  <a:schemeClr val="tx1"/>
                </a:solidFill>
                <a:effectLst/>
                <a:latin typeface="+mn-lt"/>
                <a:ea typeface="+mn-ea"/>
                <a:cs typeface="+mn-cs"/>
              </a:rPr>
              <a:t>Whishaw</a:t>
            </a:r>
            <a:r>
              <a:rPr lang="en-US" sz="1200" kern="1200" dirty="0">
                <a:solidFill>
                  <a:schemeClr val="tx1"/>
                </a:solidFill>
                <a:effectLst/>
                <a:latin typeface="+mn-lt"/>
                <a:ea typeface="+mn-ea"/>
                <a:cs typeface="+mn-cs"/>
              </a:rPr>
              <a:t>. 1989. </a:t>
            </a:r>
            <a:r>
              <a:rPr lang="en-US" sz="1200" i="1" kern="1200" dirty="0">
                <a:solidFill>
                  <a:schemeClr val="tx1"/>
                </a:solidFill>
                <a:effectLst/>
                <a:latin typeface="+mn-lt"/>
                <a:ea typeface="+mn-ea"/>
                <a:cs typeface="+mn-cs"/>
              </a:rPr>
              <a:t>Prog </a:t>
            </a:r>
            <a:r>
              <a:rPr lang="en-US" sz="1200" i="1" kern="1200" dirty="0" err="1">
                <a:solidFill>
                  <a:schemeClr val="tx1"/>
                </a:solidFill>
                <a:effectLst/>
                <a:latin typeface="+mn-lt"/>
                <a:ea typeface="+mn-ea"/>
                <a:cs typeface="+mn-cs"/>
              </a:rPr>
              <a:t>Neurobiol</a:t>
            </a:r>
            <a:r>
              <a:rPr lang="en-US" sz="1200" kern="1200" dirty="0">
                <a:solidFill>
                  <a:schemeClr val="tx1"/>
                </a:solidFill>
                <a:effectLst/>
                <a:latin typeface="+mn-lt"/>
                <a:ea typeface="+mn-ea"/>
                <a:cs typeface="+mn-cs"/>
              </a:rPr>
              <a:t> 32: 242. © 1989.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864572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u="none" dirty="0"/>
              <a:t>Zero maze</a:t>
            </a:r>
            <a:r>
              <a:rPr lang="en-US" u="none" dirty="0"/>
              <a:t>: </a:t>
            </a:r>
            <a:r>
              <a:rPr lang="en-US" sz="1200" b="0" i="0" u="none" strike="noStrike" baseline="0" dirty="0">
                <a:latin typeface="PalatinoLTStd-Roman"/>
              </a:rPr>
              <a:t>donut-shaped elevated platform. The circular construction lacks the ambiguous central square area in the plus-maze that sometimes makes scoring difficult.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sng"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PalatinoLTStd-Roman"/>
              </a:rPr>
              <a:t>In very young animals, anxiety-like behavior can be evaluated by recording and quantifying the </a:t>
            </a:r>
            <a:r>
              <a:rPr lang="en-US" sz="1200" b="1" i="0" u="none" strike="noStrike" baseline="0" dirty="0">
                <a:latin typeface="DINPro-Bold"/>
              </a:rPr>
              <a:t>ultrasonic vocalizations </a:t>
            </a:r>
            <a:r>
              <a:rPr lang="en-US" sz="1200" b="0" i="0" u="none" strike="noStrike" baseline="0" dirty="0">
                <a:latin typeface="PalatinoLTStd-Roman"/>
              </a:rPr>
              <a:t>of rat pups when separated from their mothers. These vocalizations are very sensitive to a variety of antianxiety drugs.</a:t>
            </a:r>
            <a:endParaRPr lang="en-US" u="sng" dirty="0"/>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591600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elevated plus-maze 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maze is used to test anxiety and is based on rodents’ natural aversion to heights and open space and their predisposition for enclosed places.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1651166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Example of fear-potentiated startle: </a:t>
            </a:r>
            <a:r>
              <a:rPr lang="en-US" altLang="en-US" dirty="0"/>
              <a:t>If a light has been paired with a foot shock, presentation of the light increases the magnitude of the startle response to a novel stimulus, such as a loud clap. </a:t>
            </a:r>
          </a:p>
          <a:p>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u="none" dirty="0"/>
              <a:t>Forced swim test and tail suspension text both </a:t>
            </a:r>
            <a:r>
              <a:rPr lang="en-US" altLang="en-US" dirty="0"/>
              <a:t>assume that immobility reflects a lowered mood; the animals are resigned to their fate and have given up hope.</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643938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268443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b="0" i="0" u="none" strike="noStrike" baseline="0" dirty="0">
                <a:latin typeface="DINPro-Bold"/>
              </a:rPr>
              <a:t>Electrical self-stimulation</a:t>
            </a:r>
            <a:r>
              <a:rPr lang="en-US" sz="1800" b="1" i="0" u="none" strike="noStrike" baseline="0" dirty="0">
                <a:latin typeface="DINPro-Bold"/>
              </a:rPr>
              <a:t>: </a:t>
            </a:r>
            <a:r>
              <a:rPr lang="en-US" sz="1800" b="0" i="0" u="none" strike="noStrike" baseline="0" dirty="0">
                <a:latin typeface="DINPro-Bold"/>
              </a:rPr>
              <a:t>a</a:t>
            </a:r>
            <a:r>
              <a:rPr lang="en-US" sz="1800" b="0" i="0" u="none" strike="noStrike" baseline="0" dirty="0">
                <a:latin typeface="PalatinoLTStd-Roman"/>
              </a:rPr>
              <a:t>nimal self-administers a weak electrical current to discrete brain areas via an indwelling electrode. Release of neurotransmitters mediate a reinforcing effect.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baseline="0" dirty="0">
              <a:latin typeface="PalatinoLTStd-Roman"/>
            </a:endParaRPr>
          </a:p>
          <a:p>
            <a:pPr algn="l"/>
            <a:r>
              <a:rPr lang="en-US" sz="1800" b="0" i="0" u="none" strike="noStrike" baseline="0" dirty="0">
                <a:latin typeface="PalatinoLTStd-Roman"/>
              </a:rPr>
              <a:t>Breakpoint: point at which the effort required to get the drug exceeds the reinforcing value</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305149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Drug discrimination testing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 rat is injected with a drug before being placed in an operant chamber. If it presses the right lever (“drug”), it receives a food reward. If it presses the left (saline) lever, no reinforcement occurs. (B) On days that the rat receives a saline injection before it is placed in the operant chamber, it receives food reinforcement if it presses the saline lever, and no reinforcement if it presses the drug lever. Discrimination of internal drug cues determines the animal’s response.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81834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507085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Automated analysis of behavior with computer vision 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example video frame capture showing a mouse engaged in locomotor behavior. The polygons are generated by highly specialized software and represent the relative position and orientation of the mouse at various earlier time points, while the red circles and yellow diamonds depict the snout position of the mouse at both earlier and future time points, respectively. By encoding the position, orientation, and posture of the mouse over time, on a frame-by-frame basis, complex algorithms can be applied to detect behavioral patterns that reflect both phenotype and subtle drug treatment effects. </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36813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2699506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4.1  </a:t>
            </a:r>
            <a:r>
              <a:rPr lang="en-US" sz="1200" b="1" kern="1200" dirty="0">
                <a:solidFill>
                  <a:schemeClr val="tx1"/>
                </a:solidFill>
                <a:effectLst/>
                <a:latin typeface="+mn-lt"/>
                <a:ea typeface="+mn-ea"/>
                <a:cs typeface="+mn-cs"/>
              </a:rPr>
              <a:t>Clinical Applications: </a:t>
            </a:r>
            <a:r>
              <a:rPr lang="en-GB" sz="1200" b="1" kern="1200" dirty="0">
                <a:solidFill>
                  <a:schemeClr val="tx1"/>
                </a:solidFill>
                <a:effectLst/>
                <a:latin typeface="+mn-lt"/>
                <a:ea typeface="+mn-ea"/>
                <a:cs typeface="+mn-cs"/>
              </a:rPr>
              <a:t>Drug Testing for FDA Approval</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413894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22869345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Stereotaxic surgery 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A stereotaxic device used for precise placement of electrodes during brain surgery on animals. The base holds the anesthetized animal’s head and neck in a stationary position. The carrier portion places the electrode or the cannula in a precise location based on the coordinates of the target area identified with the brain atlas (B). The precise target within the brain is defined by the intersection of three planes. The measurement (A 6670μ) in the upper left corner indicates the anterior–posterior position of the brain slice. The lateral and dorsal–ventral dimensions can be read directly from the axes provided. (C) A similar apparatus is used for human brain surgery. The location of the procedure is determined by CT or MRI.</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575717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Cannula: </a:t>
            </a:r>
            <a:r>
              <a:rPr lang="en-US" sz="1800" b="0" i="0" u="none" strike="noStrike" baseline="0" dirty="0">
                <a:latin typeface="PalatinoLTStd-Roman"/>
              </a:rPr>
              <a:t>a hollow tube inserted like an electrode</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818086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The CSF is collected for analysis by high-performance liquid chromatography (HPLC) or other method. HPLC separates the sample into component parts depending on molecular size or ionic charge.  The concentration of the molecules of interest can be determined</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34479754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Sampling of extracellular fluid with </a:t>
            </a:r>
            <a:r>
              <a:rPr lang="en-US" sz="1200" b="1" kern="1200" dirty="0" err="1">
                <a:solidFill>
                  <a:schemeClr val="tx1"/>
                </a:solidFill>
                <a:effectLst/>
                <a:latin typeface="+mn-lt"/>
                <a:ea typeface="+mn-ea"/>
                <a:cs typeface="+mn-cs"/>
              </a:rPr>
              <a:t>microdialysis</a:t>
            </a:r>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allows the collection of samples from deep within the brain in </a:t>
            </a:r>
            <a:r>
              <a:rPr lang="en-US" sz="1200" kern="1200" dirty="0" err="1">
                <a:solidFill>
                  <a:schemeClr val="tx1"/>
                </a:solidFill>
                <a:effectLst/>
                <a:latin typeface="+mn-lt"/>
                <a:ea typeface="+mn-ea"/>
                <a:cs typeface="+mn-cs"/>
              </a:rPr>
              <a:t>unanesthetized</a:t>
            </a:r>
            <a:r>
              <a:rPr lang="en-US" sz="1200" kern="1200" dirty="0">
                <a:solidFill>
                  <a:schemeClr val="tx1"/>
                </a:solidFill>
                <a:effectLst/>
                <a:latin typeface="+mn-lt"/>
                <a:ea typeface="+mn-ea"/>
                <a:cs typeface="+mn-cs"/>
              </a:rPr>
              <a:t> and freely moving animals under relatively normal conditions. The collected samples are identified and are measured by one of several analytic techniques, such as high-performance liquid chromatography (HPLC; not shown). (B) Typical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probe, which uses flexible tubing that is sealed except at the tip, where it is semipermeable. It is held in place by dental plastic on the animal’s skull. CSF, cerebrospinal fluid. (After L. </a:t>
            </a:r>
            <a:r>
              <a:rPr lang="en-US" sz="1200" kern="1200" dirty="0" err="1">
                <a:solidFill>
                  <a:schemeClr val="tx1"/>
                </a:solidFill>
                <a:effectLst/>
                <a:latin typeface="+mn-lt"/>
                <a:ea typeface="+mn-ea"/>
                <a:cs typeface="+mn-cs"/>
              </a:rPr>
              <a:t>Penicaud</a:t>
            </a:r>
            <a:r>
              <a:rPr lang="en-US" sz="1200" kern="1200" dirty="0">
                <a:solidFill>
                  <a:schemeClr val="tx1"/>
                </a:solidFill>
                <a:effectLst/>
                <a:latin typeface="+mn-lt"/>
                <a:ea typeface="+mn-ea"/>
                <a:cs typeface="+mn-cs"/>
              </a:rPr>
              <a:t> et al. 2013. In </a:t>
            </a:r>
            <a:r>
              <a:rPr lang="en-US" sz="1200" i="1" kern="1200" dirty="0">
                <a:solidFill>
                  <a:schemeClr val="tx1"/>
                </a:solidFill>
                <a:effectLst/>
                <a:latin typeface="+mn-lt"/>
                <a:ea typeface="+mn-ea"/>
                <a:cs typeface="+mn-cs"/>
              </a:rPr>
              <a:t>Animal Models for the Study of Human Disease</a:t>
            </a:r>
            <a:r>
              <a:rPr lang="en-US" sz="1200" kern="1200" dirty="0">
                <a:solidFill>
                  <a:schemeClr val="tx1"/>
                </a:solidFill>
                <a:effectLst/>
                <a:latin typeface="+mn-lt"/>
                <a:ea typeface="+mn-ea"/>
                <a:cs typeface="+mn-cs"/>
              </a:rPr>
              <a:t>, P. M. Conn [Ed.], pp. 569–593. Academic Press: San Diego. © 2013.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987935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336142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u="none" dirty="0"/>
              <a:t>Patch clamp electrophysiology involves </a:t>
            </a:r>
            <a:r>
              <a:rPr lang="en-US" sz="1800" b="0" i="0" u="none" strike="noStrike" baseline="0" dirty="0">
                <a:latin typeface="PalatinoLTStd-Roman"/>
              </a:rPr>
              <a:t>attaching a recording micropipette to a piece of cell membrane by suction; records channel opening and closing, and flow of ions.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40961061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1848632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Specificity - </a:t>
            </a:r>
            <a:r>
              <a:rPr lang="en-US" sz="1800" b="0" i="0" u="none" strike="noStrike" baseline="0" dirty="0">
                <a:latin typeface="PalatinoLTStd-Roman"/>
              </a:rPr>
              <a:t>very high concentrations of a nonradioactive competing ligand are added to some tubes to show that most of the radioactive binding is displaced. That which remains is</a:t>
            </a:r>
          </a:p>
          <a:p>
            <a:pPr algn="l"/>
            <a:r>
              <a:rPr lang="en-US" sz="1800" b="0" i="0" u="none" strike="noStrike" baseline="0" dirty="0">
                <a:latin typeface="PalatinoLTStd-Roman"/>
              </a:rPr>
              <a:t>likely to be nonspecifically bound to other sites.</a:t>
            </a:r>
          </a:p>
          <a:p>
            <a:pPr algn="l"/>
            <a:r>
              <a:rPr lang="en-US" sz="1800" b="0" i="0" u="none" strike="noStrike" baseline="0" dirty="0">
                <a:latin typeface="PalatinoLTStd-Roman"/>
              </a:rPr>
              <a:t>Saturability – increasing amounts of radioligand is added; where binding curve plateaus represents maximum binding</a:t>
            </a:r>
          </a:p>
          <a:p>
            <a:pPr algn="l"/>
            <a:r>
              <a:rPr lang="en-US" sz="1800" b="0" i="0" u="none" strike="noStrike" baseline="0" dirty="0">
                <a:latin typeface="PalatinoLTStd-Roman"/>
              </a:rPr>
              <a:t>Reversibility - the radioactive ligand can be displaced by the same drug that is not radiolabeled.</a:t>
            </a:r>
          </a:p>
          <a:p>
            <a:pPr algn="l"/>
            <a:r>
              <a:rPr lang="en-US" sz="1800" b="0" i="0" u="none" strike="noStrike" baseline="0" dirty="0">
                <a:latin typeface="PalatinoLTStd-Roman"/>
              </a:rPr>
              <a:t>Affinity - compare the rate of dissociation with the rate of binding to estimate receptor affinity (dissociation constant, or </a:t>
            </a:r>
            <a:r>
              <a:rPr lang="en-US" sz="1800" b="0" i="1" u="none" strike="noStrike" baseline="0" dirty="0" err="1">
                <a:latin typeface="PalatinoLTStd-Italic"/>
              </a:rPr>
              <a:t>K</a:t>
            </a:r>
            <a:r>
              <a:rPr lang="en-US" sz="1800" b="0" i="0" u="none" strike="noStrike" baseline="0" dirty="0" err="1">
                <a:latin typeface="PalatinoLTStd-Roman"/>
              </a:rPr>
              <a:t>d</a:t>
            </a:r>
            <a:r>
              <a:rPr lang="en-US" sz="1800" b="0" i="0" u="none" strike="noStrike" baseline="0" dirty="0">
                <a:latin typeface="PalatinoLTStd-Roman"/>
              </a:rPr>
              <a:t>).</a:t>
            </a:r>
          </a:p>
          <a:p>
            <a:pPr algn="l"/>
            <a:r>
              <a:rPr lang="en-US" sz="1800" b="0" i="0" u="none" strike="noStrike" baseline="0" dirty="0">
                <a:latin typeface="PalatinoLTStd-Roman"/>
              </a:rPr>
              <a:t>Binding of chemically similar drugs should correlate with some measurable biochemical or behavioral effect to show the biological relevance of the receptor.</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588567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Radioligand binding to receptors 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A hypothetical saturation curve shows that as radioligand concentration increases, specific binding to the receptor also increases until all sites are filled (</a:t>
            </a:r>
            <a:r>
              <a:rPr lang="en-US" sz="1200" i="1" kern="1200" dirty="0" err="1">
                <a:solidFill>
                  <a:schemeClr val="tx1"/>
                </a:solidFill>
                <a:effectLst/>
                <a:latin typeface="+mn-lt"/>
                <a:ea typeface="+mn-ea"/>
                <a:cs typeface="+mn-cs"/>
              </a:rPr>
              <a:t>B</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The </a:t>
            </a:r>
            <a:r>
              <a:rPr lang="en-US" sz="1200" i="1" kern="1200" dirty="0" err="1">
                <a:solidFill>
                  <a:schemeClr val="tx1"/>
                </a:solidFill>
                <a:effectLst/>
                <a:latin typeface="+mn-lt"/>
                <a:ea typeface="+mn-ea"/>
                <a:cs typeface="+mn-cs"/>
              </a:rPr>
              <a:t>K</a:t>
            </a:r>
            <a:r>
              <a:rPr lang="en-US" sz="1200" kern="1200" baseline="-25000" dirty="0" err="1">
                <a:solidFill>
                  <a:schemeClr val="tx1"/>
                </a:solidFill>
                <a:effectLst/>
                <a:latin typeface="+mn-lt"/>
                <a:ea typeface="+mn-ea"/>
                <a:cs typeface="+mn-cs"/>
              </a:rPr>
              <a:t>d</a:t>
            </a:r>
            <a:r>
              <a:rPr lang="en-US" sz="1200" kern="1200" dirty="0">
                <a:solidFill>
                  <a:schemeClr val="tx1"/>
                </a:solidFill>
                <a:effectLst/>
                <a:latin typeface="+mn-lt"/>
                <a:ea typeface="+mn-ea"/>
                <a:cs typeface="+mn-cs"/>
              </a:rPr>
              <a:t> is defined as the ligand concentration at which 50% of the receptors are occupied; it is an indication of receptor affinity and is called the dissociation constant. (B) Hypothetical association and dissociation curves. The dotted red line represents the association of a radioligand with its receptors over time. The rate of association (</a:t>
            </a:r>
            <a:r>
              <a:rPr lang="en-US" sz="1200" i="1" kern="1200" dirty="0">
                <a:solidFill>
                  <a:schemeClr val="tx1"/>
                </a:solidFill>
                <a:effectLst/>
                <a:latin typeface="+mn-lt"/>
                <a:ea typeface="+mn-ea"/>
                <a:cs typeface="+mn-cs"/>
              </a:rPr>
              <a:t>k</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is estimated by calculating the slope of the straight line that best fits the curvilinear data. After maximum binding has occurred (association and dissociation are in equilibrium), excess unlabeled ligand is added. The solid blue line represents the dissociation of the radioligand from its receptors in the presence of large amounts of unlabeled ligand. The slope of the straight line that best fits that portion of the curve provides an estimate of the rate of dissociation (</a:t>
            </a:r>
            <a:r>
              <a:rPr lang="en-US" sz="1200" i="1" kern="1200" dirty="0">
                <a:solidFill>
                  <a:schemeClr val="tx1"/>
                </a:solidFill>
                <a:effectLst/>
                <a:latin typeface="+mn-lt"/>
                <a:ea typeface="+mn-ea"/>
                <a:cs typeface="+mn-cs"/>
              </a:rPr>
              <a:t>k</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13546332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3590702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4.19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Autoradiogram of the distribution of cocaine binding in monkey brain 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highest levels of cocaine binding are in areas colored yellow and orange.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213356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36087504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4.20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Immunocytochemistry (ICC) uses tagged antibodies to locate molecules within cells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Steps in ICC localization. (B) Immu­nocytochemical identification of cells containing the neuropeptide hypo­cretin in the human lateral hypothalamus. (A after M. F. Bear et al. 2001. </a:t>
            </a:r>
            <a:r>
              <a:rPr lang="en-US" sz="1200" i="1" kern="1200" dirty="0">
                <a:solidFill>
                  <a:schemeClr val="tx1"/>
                </a:solidFill>
                <a:effectLst/>
                <a:latin typeface="+mn-lt"/>
                <a:ea typeface="+mn-ea"/>
                <a:cs typeface="+mn-cs"/>
              </a:rPr>
              <a:t>Neuroscience: Exploring the Brain</a:t>
            </a:r>
            <a:r>
              <a:rPr lang="en-US" sz="1200" kern="1200" dirty="0">
                <a:solidFill>
                  <a:schemeClr val="tx1"/>
                </a:solidFill>
                <a:effectLst/>
                <a:latin typeface="+mn-lt"/>
                <a:ea typeface="+mn-ea"/>
                <a:cs typeface="+mn-cs"/>
              </a:rPr>
              <a:t>, 2nd ed., Lippincott, Williams &amp; Wilkins: Philadelphia. © 2001 Lippincott Williams &amp; Wilkins.)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20415901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8510329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4.23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 situ hybridization (ISH) 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Localization of enkephalin mRNA in a slice from rat brain. (B) Structure of a DNA molecule. The nucleotide bases always bind in a complementary fashion: thymine to adenine, and guanine to cytosine. (C) A strand of mRNA has copied the code from a partially unraveled DNA molecule in the nucleus and will carry the genetic code to ribosomes in the cytoplasm, where the protein will be created. (D) In ISH, a labeled probe has been created with the correct sequence of complementary bases. When the strand of mRNA in the cell and the labeled probe hybridize, or bond to one another, the product will label the cell that contains the genetic code for the protein of interest.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9056933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b="0" dirty="0"/>
              <a:t>2-deoxyglucose autoradiography: uptake of a labeled, modified form of glucose shows active brain areas.</a:t>
            </a:r>
          </a:p>
          <a:p>
            <a:r>
              <a:rPr lang="en-US" b="0" u="sng" dirty="0"/>
              <a:t> </a:t>
            </a:r>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257689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20140781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4.25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three-dimensional image formed with MRI 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Computer technology provides the opportunity to create three-dimensional representations of the brain from sequential slices.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18915233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8494493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4.27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Electroencephalography (EEG) 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In humans, changes in electrical activity of the brain are detected by recording electrodes that are attached to the surface of the individual’s scalp. The electrodes record the activity of thousands of cells simultaneously. (B) The standardized international 10–20 system for electrode placement, with the view of the skull from above, nose indicating frontal, ears to each side. The electrodes are marked as the ground (G), frontal pole (</a:t>
            </a:r>
            <a:r>
              <a:rPr lang="en-US" sz="1200" kern="1200" dirty="0" err="1">
                <a:solidFill>
                  <a:schemeClr val="tx1"/>
                </a:solidFill>
                <a:effectLst/>
                <a:latin typeface="+mn-lt"/>
                <a:ea typeface="+mn-ea"/>
                <a:cs typeface="+mn-cs"/>
              </a:rPr>
              <a:t>Fp</a:t>
            </a:r>
            <a:r>
              <a:rPr lang="en-US" sz="1200" kern="1200" dirty="0">
                <a:solidFill>
                  <a:schemeClr val="tx1"/>
                </a:solidFill>
                <a:effectLst/>
                <a:latin typeface="+mn-lt"/>
                <a:ea typeface="+mn-ea"/>
                <a:cs typeface="+mn-cs"/>
              </a:rPr>
              <a:t>), frontal (F), central (C), parietal (P), occipital (O), and temporal (T). The midline electrodes are marked as FZ, CZ, and PZ, with the Z standing for zero. Odd numbers are used for points over the left hemisphere, and even numbers over the right. The ear lobes are indicated with (A). (C) Event-related potential (ERP) patterns of voltage change in response to a visual stimulus in a discrimination task. On the left is a model of a human head with the placement of a subset of electrodes from the 10–20 system. The right side of the figure shows how the ERPs are extracted from the raw EEG record while the subject performs the visual discrimination task. The lower ERP (blue) shows the wave forms at occipitotemporal lobe electrode sites during the visual task. The upper ERP (purple) shows the wave forms while the finger response occurs. Processes associated with voltage fluctuations of the ERP are labeled: C1, primary visual cortex; P1 and N1, information moves through the visual system; P2, not well understood; N2, categorizing the stimulus; P3 (often called P300 because it occurs 300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after the stimulus onset), working memory encoding; LRP, preparation for the motor response; ERN, evaluation of performance after the response. (C after G. F. Woodman. 2010. </a:t>
            </a:r>
            <a:r>
              <a:rPr lang="en-US" sz="1200" i="1" kern="1200" dirty="0">
                <a:solidFill>
                  <a:schemeClr val="tx1"/>
                </a:solidFill>
                <a:effectLst/>
                <a:latin typeface="+mn-lt"/>
                <a:ea typeface="+mn-ea"/>
                <a:cs typeface="+mn-cs"/>
              </a:rPr>
              <a:t>Atten Percept </a:t>
            </a:r>
            <a:r>
              <a:rPr lang="en-US" sz="1200" i="1" kern="1200" dirty="0" err="1">
                <a:solidFill>
                  <a:schemeClr val="tx1"/>
                </a:solidFill>
                <a:effectLst/>
                <a:latin typeface="+mn-lt"/>
                <a:ea typeface="+mn-ea"/>
                <a:cs typeface="+mn-cs"/>
              </a:rPr>
              <a:t>Psycho­phys</a:t>
            </a:r>
            <a:r>
              <a:rPr lang="en-US" sz="1200" kern="1200" dirty="0">
                <a:solidFill>
                  <a:schemeClr val="tx1"/>
                </a:solidFill>
                <a:effectLst/>
                <a:latin typeface="+mn-lt"/>
                <a:ea typeface="+mn-ea"/>
                <a:cs typeface="+mn-cs"/>
              </a:rPr>
              <a:t> 72: 2031–2046.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/10.3758/BF03196680)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5601261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PalatinoLTStd-Roman"/>
              </a:rPr>
              <a:t>Genetic material can be inserted into cells in cell culture that don’t normally have a particular protein (e.g., receptor). The normal cell division process produces large numbers of identically altered cells, called </a:t>
            </a:r>
            <a:r>
              <a:rPr lang="en-US" sz="1200" b="1" i="0" u="none" strike="noStrike" baseline="0" dirty="0">
                <a:latin typeface="PalatinoLTStd-Roman"/>
              </a:rPr>
              <a:t>cloning</a:t>
            </a:r>
            <a:r>
              <a:rPr lang="en-US" sz="1200" b="0" i="0" u="none" strike="noStrike" baseline="0" dirty="0">
                <a:latin typeface="PalatinoLTStd-Roman"/>
              </a:rPr>
              <a:t>.</a:t>
            </a:r>
            <a:endParaRPr lang="en-US" u="sng" dirty="0"/>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31368592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4.28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Illustration of genetic engineering 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Genetic material is extracted from cells, injected into fertilized eggs, and implanted in the uterus of a surrogate mother. Offspring that are chimeric are mated with wild-type mice. Any of their offspring that are heterozygous for the genetic trait of interest are subsequently mated to produce some homozygous mice of interest.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2165666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1890776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DINPro-Light"/>
              </a:rPr>
              <a:t>The acoustic startle response is normally reduced when the intense stimulus is preceded by a small </a:t>
            </a:r>
            <a:r>
              <a:rPr lang="en-US" sz="1800" b="0" i="0" u="none" strike="noStrike" baseline="0" dirty="0" err="1">
                <a:latin typeface="DINPro-Light"/>
              </a:rPr>
              <a:t>prepulse</a:t>
            </a:r>
            <a:r>
              <a:rPr lang="en-US" sz="1800" b="0" i="0" u="none" strike="noStrike" baseline="0" dirty="0">
                <a:latin typeface="DINPro-Light"/>
              </a:rPr>
              <a:t> stimulus. Patients with HD characteristically show a deficit in that </a:t>
            </a:r>
            <a:r>
              <a:rPr lang="en-US" sz="1800" b="1" i="0" u="none" strike="noStrike" baseline="0" dirty="0" err="1">
                <a:latin typeface="DINPro-Bold"/>
              </a:rPr>
              <a:t>prepulse</a:t>
            </a:r>
            <a:endParaRPr lang="en-US" sz="1800" b="1" i="0" u="none" strike="noStrike" baseline="0" dirty="0">
              <a:latin typeface="DINPro-Bold"/>
            </a:endParaRPr>
          </a:p>
          <a:p>
            <a:pPr algn="l"/>
            <a:r>
              <a:rPr lang="en-US" sz="1800" b="1" i="0" u="none" strike="noStrike" baseline="0" dirty="0">
                <a:latin typeface="DINPro-Bold"/>
              </a:rPr>
              <a:t>inhibition of startle</a:t>
            </a:r>
            <a:r>
              <a:rPr lang="en-US" sz="1800" b="0" i="0" u="none" strike="noStrike" baseline="0" dirty="0">
                <a:latin typeface="DINPro-Light"/>
              </a:rPr>
              <a:t>.</a:t>
            </a:r>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19754435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4.3  </a:t>
            </a:r>
            <a:r>
              <a:rPr lang="en-US" sz="1200" b="1" kern="1200" dirty="0">
                <a:solidFill>
                  <a:schemeClr val="tx1"/>
                </a:solidFill>
                <a:effectLst/>
                <a:latin typeface="+mn-lt"/>
                <a:ea typeface="+mn-ea"/>
                <a:cs typeface="+mn-cs"/>
              </a:rPr>
              <a:t>Pharmacology in Action: </a:t>
            </a:r>
            <a:r>
              <a:rPr lang="en-GB" sz="1200" b="1" kern="1200" dirty="0">
                <a:solidFill>
                  <a:schemeClr val="tx1"/>
                </a:solidFill>
                <a:effectLst/>
                <a:latin typeface="+mn-lt"/>
                <a:ea typeface="+mn-ea"/>
                <a:cs typeface="+mn-cs"/>
              </a:rPr>
              <a:t>Transgenic Model of Huntington’s Disease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Beam walking 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Mice were taught to walk across square or round elevated beams to reach an enclosed safety platform. The time to cross and the number of foot slips were recorded. Each data point represents the mean time to cross. (After R. J. Carter et al. 1999.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19: 3248–3257. © 1999 Society for Neuroscience.)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5119636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4.3  </a:t>
            </a:r>
            <a:r>
              <a:rPr lang="en-US" sz="1200" b="1" kern="1200" dirty="0">
                <a:solidFill>
                  <a:schemeClr val="tx1"/>
                </a:solidFill>
                <a:effectLst/>
                <a:latin typeface="+mn-lt"/>
                <a:ea typeface="+mn-ea"/>
                <a:cs typeface="+mn-cs"/>
              </a:rPr>
              <a:t>Pharmacology in Action: </a:t>
            </a:r>
            <a:r>
              <a:rPr lang="en-GB" sz="1200" b="1" kern="1200" dirty="0">
                <a:solidFill>
                  <a:schemeClr val="tx1"/>
                </a:solidFill>
                <a:effectLst/>
                <a:latin typeface="+mn-lt"/>
                <a:ea typeface="+mn-ea"/>
                <a:cs typeface="+mn-cs"/>
              </a:rPr>
              <a:t>Transgenic Model of Huntington’s Disease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FIGURES B,C  Rotarod performance 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 points represent the mean latency to fall from the rotarod (maximum trial length = 60 seconds) at various speeds of rotation. rpm, revolutions per minute. (After R. J. Carter et al. 1999.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19: 3248–3257. © 1999 Society for Neuroscience.)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33515956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4.3  </a:t>
            </a:r>
            <a:r>
              <a:rPr lang="en-US" sz="1200" b="1" kern="1200" dirty="0">
                <a:solidFill>
                  <a:schemeClr val="tx1"/>
                </a:solidFill>
                <a:effectLst/>
                <a:latin typeface="+mn-lt"/>
                <a:ea typeface="+mn-ea"/>
                <a:cs typeface="+mn-cs"/>
              </a:rPr>
              <a:t>Pharmacology in Action: </a:t>
            </a:r>
            <a:r>
              <a:rPr lang="en-GB" sz="1200" b="1" kern="1200" dirty="0">
                <a:solidFill>
                  <a:schemeClr val="tx1"/>
                </a:solidFill>
                <a:effectLst/>
                <a:latin typeface="+mn-lt"/>
                <a:ea typeface="+mn-ea"/>
                <a:cs typeface="+mn-cs"/>
              </a:rPr>
              <a:t>Transgenic Model of Huntington’s Disease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FIGURES B,C  Rotarod performance 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 points represent the mean latency to fall from the rotarod (maximum trial length = 60 seconds) at various speeds of rotation. rpm, revolutions per minute. (After R. J. Carter et al. 1999.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19: 3248–3257. © 1999 Society for Neuroscience.)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2573231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28395685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4.31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Behavioral control using optogenetics 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The steps required for an in vivo ChR2 optogenetic study include packaging the ChR2 gene along with an additional cell-targeting DNA sequence into a viral vector, growing many copies of the engineered virus, implanting the virus into a selected brain area, and stimulating the target neurons that have incorporated the ChR2 gene with a blue light. (B) Mouse implanted with a fiber-optic probe connected to a laser chosen to deliver light of the appropriate wavelength. (A from K. </a:t>
            </a:r>
            <a:r>
              <a:rPr lang="en-US" sz="1200" kern="1200" dirty="0" err="1">
                <a:solidFill>
                  <a:schemeClr val="tx1"/>
                </a:solidFill>
                <a:effectLst/>
                <a:latin typeface="+mn-lt"/>
                <a:ea typeface="+mn-ea"/>
                <a:cs typeface="+mn-cs"/>
              </a:rPr>
              <a:t>Deisseroth</a:t>
            </a:r>
            <a:r>
              <a:rPr lang="en-US" sz="1200" kern="1200" dirty="0">
                <a:solidFill>
                  <a:schemeClr val="tx1"/>
                </a:solidFill>
                <a:effectLst/>
                <a:latin typeface="+mn-lt"/>
                <a:ea typeface="+mn-ea"/>
                <a:cs typeface="+mn-cs"/>
              </a:rPr>
              <a:t>. 2015. </a:t>
            </a:r>
            <a:r>
              <a:rPr lang="en-US" sz="1200" i="1" kern="1200" dirty="0">
                <a:solidFill>
                  <a:schemeClr val="tx1"/>
                </a:solidFill>
                <a:effectLst/>
                <a:latin typeface="+mn-lt"/>
                <a:ea typeface="+mn-ea"/>
                <a:cs typeface="+mn-cs"/>
              </a:rPr>
              <a:t>Nat </a:t>
            </a:r>
            <a:r>
              <a:rPr lang="en-US" sz="1200" i="1" kern="1200" dirty="0" err="1">
                <a:solidFill>
                  <a:schemeClr val="tx1"/>
                </a:solidFill>
                <a:effectLst/>
                <a:latin typeface="+mn-lt"/>
                <a:ea typeface="+mn-ea"/>
                <a:cs typeface="+mn-cs"/>
              </a:rPr>
              <a:t>Neurosci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18: 1213–1225.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/10.1038/nn.4091)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4146498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a:t>Instructor Notes:  </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62</a:t>
            </a:fld>
            <a:endParaRPr lang="en-US"/>
          </a:p>
        </p:txBody>
      </p:sp>
    </p:spTree>
    <p:extLst>
      <p:ext uri="{BB962C8B-B14F-4D97-AF65-F5344CB8AC3E}">
        <p14:creationId xmlns:p14="http://schemas.microsoft.com/office/powerpoint/2010/main" val="40151784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a:t>Instructor Notes:  </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63</a:t>
            </a:fld>
            <a:endParaRPr lang="en-US"/>
          </a:p>
        </p:txBody>
      </p:sp>
    </p:spTree>
    <p:extLst>
      <p:ext uri="{BB962C8B-B14F-4D97-AF65-F5344CB8AC3E}">
        <p14:creationId xmlns:p14="http://schemas.microsoft.com/office/powerpoint/2010/main" val="25057221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64</a:t>
            </a:fld>
            <a:endParaRPr lang="en-US"/>
          </a:p>
        </p:txBody>
      </p:sp>
    </p:spTree>
    <p:extLst>
      <p:ext uri="{BB962C8B-B14F-4D97-AF65-F5344CB8AC3E}">
        <p14:creationId xmlns:p14="http://schemas.microsoft.com/office/powerpoint/2010/main" val="17479430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65</a:t>
            </a:fld>
            <a:endParaRPr lang="en-US"/>
          </a:p>
        </p:txBody>
      </p:sp>
    </p:spTree>
    <p:extLst>
      <p:ext uri="{BB962C8B-B14F-4D97-AF65-F5344CB8AC3E}">
        <p14:creationId xmlns:p14="http://schemas.microsoft.com/office/powerpoint/2010/main" val="30688773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dirty="0"/>
              <a:t>by Meyer, Farrar, </a:t>
            </a:r>
            <a:r>
              <a:rPr lang="en-US" dirty="0" err="1"/>
              <a:t>Biezonski</a:t>
            </a:r>
            <a:r>
              <a:rPr lang="en-US" dirty="0"/>
              <a:t>, Yates</a:t>
            </a:r>
          </a:p>
        </p:txBody>
      </p:sp>
      <p:pic>
        <p:nvPicPr>
          <p:cNvPr id="7" name="Picture Placeholder 7" descr="Cover image for Psychopharmacology, Fourth Edition.">
            <a:extLst>
              <a:ext uri="{FF2B5EF4-FFF2-40B4-BE49-F238E27FC236}">
                <a16:creationId xmlns:a16="http://schemas.microsoft.com/office/drawing/2014/main" id="{83D8A4BE-04BB-412A-B122-5E71145177F4}"/>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20496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4</a:t>
            </a:r>
            <a:br>
              <a:rPr lang="en-US" dirty="0"/>
            </a:br>
            <a:r>
              <a:rPr lang="en-US" i="1" dirty="0"/>
              <a:t>Methods of Research in Psychopharmacology</a:t>
            </a:r>
          </a:p>
        </p:txBody>
      </p:sp>
      <p:sp>
        <p:nvSpPr>
          <p:cNvPr id="3" name="Text Placeholder 2"/>
          <p:cNvSpPr>
            <a:spLocks noGrp="1"/>
          </p:cNvSpPr>
          <p:nvPr>
            <p:ph idx="1"/>
          </p:nvPr>
        </p:nvSpPr>
        <p:spPr/>
        <p:txBody>
          <a:bodyPr/>
          <a:lstStyle/>
          <a:p>
            <a:pPr marL="914400" indent="-914400">
              <a:spcBef>
                <a:spcPts val="2400"/>
              </a:spcBef>
              <a:buNone/>
            </a:pPr>
            <a:r>
              <a:rPr lang="en-US" dirty="0"/>
              <a:t>4.1  Techniques in Behavioral Pharmacology</a:t>
            </a:r>
          </a:p>
          <a:p>
            <a:pPr marL="914400" indent="-914400">
              <a:spcBef>
                <a:spcPts val="2400"/>
              </a:spcBef>
              <a:buNone/>
            </a:pPr>
            <a:r>
              <a:rPr lang="en-US" dirty="0"/>
              <a:t>4.2  Techniques in Neuropharmacology</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4</a:t>
            </a:r>
            <a:br>
              <a:rPr lang="en-US" dirty="0"/>
            </a:br>
            <a:r>
              <a:rPr lang="en-US" sz="4000" dirty="0"/>
              <a:t>Learning Objectives </a:t>
            </a:r>
            <a:r>
              <a:rPr lang="en-US" sz="1200" dirty="0"/>
              <a:t>(1 of 3)</a:t>
            </a:r>
            <a:r>
              <a:rPr lang="en-US" sz="4000" dirty="0"/>
              <a:t> </a:t>
            </a:r>
            <a:endParaRPr lang="en-US" dirty="0"/>
          </a:p>
        </p:txBody>
      </p:sp>
      <p:sp>
        <p:nvSpPr>
          <p:cNvPr id="3" name="Text Placeholder 2"/>
          <p:cNvSpPr>
            <a:spLocks noGrp="1"/>
          </p:cNvSpPr>
          <p:nvPr>
            <p:ph idx="1"/>
          </p:nvPr>
        </p:nvSpPr>
        <p:spPr/>
        <p:txBody>
          <a:bodyPr>
            <a:normAutofit fontScale="85000" lnSpcReduction="20000"/>
          </a:bodyPr>
          <a:lstStyle/>
          <a:p>
            <a:pPr marL="914400" indent="-914400">
              <a:spcBef>
                <a:spcPts val="1800"/>
              </a:spcBef>
              <a:buNone/>
            </a:pPr>
            <a:r>
              <a:rPr lang="en-US" dirty="0"/>
              <a:t>4.1.1  Describe the advantages of using animal subjects over human participants in neurobiological research.</a:t>
            </a:r>
          </a:p>
          <a:p>
            <a:pPr marL="914400" indent="-914400">
              <a:spcBef>
                <a:spcPts val="1800"/>
              </a:spcBef>
              <a:buNone/>
            </a:pPr>
            <a:r>
              <a:rPr lang="en-US" dirty="0"/>
              <a:t>4.1.2  Describe how researchers evaluate and optimize behavioral tests in non-human animals with respect to face, predictive, and construct validity. </a:t>
            </a:r>
          </a:p>
          <a:p>
            <a:pPr marL="914400" indent="-914400">
              <a:spcBef>
                <a:spcPts val="1800"/>
              </a:spcBef>
              <a:buNone/>
            </a:pPr>
            <a:r>
              <a:rPr lang="en-US" dirty="0"/>
              <a:t>4.1.3  Identify and describe animal behavior tests commonly used to evaluate learning and memory; analgesia; anxiety- and depression-like behavior; and the abuse liability of drugs.</a:t>
            </a:r>
          </a:p>
          <a:p>
            <a:pPr marL="914400" indent="-914400">
              <a:spcBef>
                <a:spcPts val="1800"/>
              </a:spcBef>
              <a:buNone/>
            </a:pPr>
            <a:r>
              <a:rPr lang="en-US" dirty="0"/>
              <a:t>4.1.4  Describe how technological advances in bioinformatics, such as computer vision, can be utilized to describe behavioral signatures of drug effects. </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4</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77500" lnSpcReduction="20000"/>
          </a:bodyPr>
          <a:lstStyle/>
          <a:p>
            <a:pPr marL="914400" indent="-914400">
              <a:spcBef>
                <a:spcPts val="1800"/>
              </a:spcBef>
              <a:buNone/>
            </a:pPr>
            <a:r>
              <a:rPr lang="en-US" dirty="0"/>
              <a:t>4.2.1  Describe how stereotaxic surgery can be used in combination with a brain atlas to accurately target brain structures using a three-dimensional coordinate system.</a:t>
            </a:r>
          </a:p>
          <a:p>
            <a:pPr marL="914400" indent="-914400">
              <a:spcBef>
                <a:spcPts val="1800"/>
              </a:spcBef>
              <a:buNone/>
            </a:pPr>
            <a:r>
              <a:rPr lang="en-US" dirty="0"/>
              <a:t>4.2.2  Explain how neural activity can be monitored in awake, behaving animals. Compare and contrast neurochemical techniques, such as </a:t>
            </a:r>
            <a:r>
              <a:rPr lang="en-US" dirty="0" err="1"/>
              <a:t>microdialysis</a:t>
            </a:r>
            <a:r>
              <a:rPr lang="en-US" dirty="0"/>
              <a:t> and in vivo voltammetry with electrophysiological techniques. </a:t>
            </a:r>
          </a:p>
          <a:p>
            <a:pPr marL="914400" indent="-914400">
              <a:spcBef>
                <a:spcPts val="1800"/>
              </a:spcBef>
              <a:buNone/>
            </a:pPr>
            <a:r>
              <a:rPr lang="en-US" dirty="0"/>
              <a:t>4.2.3  Describe the similarities and differences between radiolabeling assays and techniques that use immunocytochemistry (ICC).Provide examples of how these techniques are typically used in neuropharmacology research. </a:t>
            </a:r>
          </a:p>
          <a:p>
            <a:pPr marL="914400" indent="-914400">
              <a:spcBef>
                <a:spcPts val="1800"/>
              </a:spcBef>
              <a:buNone/>
            </a:pPr>
            <a:r>
              <a:rPr lang="en-US" dirty="0"/>
              <a:t>4.2.4  Identify and describe various tools used for detecting gene expression and transcription levels, including in situ hybridization (ISH), DNA microarrays, and RNA sequencing (RNA-seq). </a:t>
            </a:r>
          </a:p>
        </p:txBody>
      </p:sp>
    </p:spTree>
    <p:extLst>
      <p:ext uri="{BB962C8B-B14F-4D97-AF65-F5344CB8AC3E}">
        <p14:creationId xmlns:p14="http://schemas.microsoft.com/office/powerpoint/2010/main" val="39625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4</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r>
              <a:rPr kumimoji="0" lang="en-US" sz="4000" b="0" i="0" u="none" strike="noStrike" kern="1200" cap="none" spc="0" normalizeH="0" baseline="0" noProof="0" dirty="0">
                <a:ln>
                  <a:noFill/>
                </a:ln>
                <a:solidFill>
                  <a:srgbClr val="1F497D"/>
                </a:solidFill>
                <a:effectLst/>
                <a:uLnTx/>
                <a:uFillTx/>
                <a:latin typeface="Calibri"/>
                <a:ea typeface="+mj-ea"/>
                <a:cs typeface="+mj-cs"/>
              </a:rPr>
              <a:t> </a:t>
            </a:r>
            <a:endParaRPr lang="en-US" dirty="0"/>
          </a:p>
        </p:txBody>
      </p:sp>
      <p:sp>
        <p:nvSpPr>
          <p:cNvPr id="3" name="Text Placeholder 2"/>
          <p:cNvSpPr>
            <a:spLocks noGrp="1"/>
          </p:cNvSpPr>
          <p:nvPr>
            <p:ph idx="1"/>
          </p:nvPr>
        </p:nvSpPr>
        <p:spPr/>
        <p:txBody>
          <a:bodyPr>
            <a:normAutofit fontScale="85000" lnSpcReduction="10000"/>
          </a:bodyPr>
          <a:lstStyle/>
          <a:p>
            <a:pPr marL="914400" indent="-914400">
              <a:spcBef>
                <a:spcPts val="1800"/>
              </a:spcBef>
              <a:buNone/>
            </a:pPr>
            <a:r>
              <a:rPr lang="en-US" dirty="0"/>
              <a:t>4.2.5  Describe the different brain imaging technologies, with particular emphasis on the relative advantages and disadvantages of each, with respect to their utility in neuropharmacology. Identify the advantages and disadvantages of electroencephalogram (EEG) technology relative to these imaging techniques.</a:t>
            </a:r>
          </a:p>
          <a:p>
            <a:pPr marL="914400" indent="-914400">
              <a:spcBef>
                <a:spcPts val="1800"/>
              </a:spcBef>
              <a:buNone/>
            </a:pPr>
            <a:r>
              <a:rPr lang="en-US" dirty="0"/>
              <a:t>4.2.6  Identify different genetic engineering technologies, including transgenic, knockout and </a:t>
            </a:r>
            <a:r>
              <a:rPr lang="en-US" dirty="0" err="1"/>
              <a:t>knockin</a:t>
            </a:r>
            <a:r>
              <a:rPr lang="en-US" dirty="0"/>
              <a:t> techniques, as well as optogenetic and DREADD technology and describe how they are useful for psychopharmacology research. Furthermore, explain how CRISPR technology has improved upon existing gene-editing techniques, and identify ethical issues associated with its potential use in humans.</a:t>
            </a:r>
          </a:p>
        </p:txBody>
      </p:sp>
    </p:spTree>
    <p:extLst>
      <p:ext uri="{BB962C8B-B14F-4D97-AF65-F5344CB8AC3E}">
        <p14:creationId xmlns:p14="http://schemas.microsoft.com/office/powerpoint/2010/main" val="90918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Behavioral Pharmacology </a:t>
            </a:r>
            <a:r>
              <a:rPr lang="en-US" sz="1200" dirty="0"/>
              <a:t>(1 of 18)</a:t>
            </a:r>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Evaluating animal behavior</a:t>
            </a:r>
          </a:p>
          <a:p>
            <a:pPr marL="571500">
              <a:lnSpc>
                <a:spcPct val="110000"/>
              </a:lnSpc>
              <a:spcBef>
                <a:spcPts val="1800"/>
              </a:spcBef>
            </a:pPr>
            <a:r>
              <a:rPr lang="en-US" altLang="en-US" sz="2800" dirty="0"/>
              <a:t>Behavioral pharmacology measures are crucial for:</a:t>
            </a:r>
          </a:p>
          <a:p>
            <a:pPr marL="1263650" indent="-349250">
              <a:lnSpc>
                <a:spcPct val="110000"/>
              </a:lnSpc>
              <a:spcBef>
                <a:spcPts val="1800"/>
              </a:spcBef>
              <a:buFont typeface="Courier New" panose="02070309020205020404" pitchFamily="49" charset="0"/>
              <a:buChar char="o"/>
            </a:pPr>
            <a:r>
              <a:rPr lang="en-US" altLang="en-US" sz="2800" dirty="0"/>
              <a:t>Understanding the neurochemical basis of behavior and drug-induced changes in that behavior</a:t>
            </a:r>
          </a:p>
          <a:p>
            <a:pPr marL="1263650" indent="-349250">
              <a:lnSpc>
                <a:spcPct val="110000"/>
              </a:lnSpc>
              <a:spcBef>
                <a:spcPts val="1800"/>
              </a:spcBef>
              <a:buFont typeface="Courier New" panose="02070309020205020404" pitchFamily="49" charset="0"/>
              <a:buChar char="o"/>
            </a:pPr>
            <a:r>
              <a:rPr lang="en-US" altLang="en-US" sz="2800" dirty="0"/>
              <a:t>Developing animal models of psychiatric disorders</a:t>
            </a:r>
          </a:p>
          <a:p>
            <a:pPr marL="1263650" indent="-349250">
              <a:lnSpc>
                <a:spcPct val="110000"/>
              </a:lnSpc>
              <a:spcBef>
                <a:spcPts val="1800"/>
              </a:spcBef>
              <a:buFont typeface="Courier New" panose="02070309020205020404" pitchFamily="49" charset="0"/>
              <a:buChar char="o"/>
            </a:pPr>
            <a:r>
              <a:rPr lang="en-US" altLang="en-US" sz="2800" dirty="0"/>
              <a:t>Screening newly designed drugs in preclinical pharmaceutical settings</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(2 of 18)</a:t>
            </a:r>
          </a:p>
        </p:txBody>
      </p:sp>
      <p:sp>
        <p:nvSpPr>
          <p:cNvPr id="3" name="Text Placeholder 2"/>
          <p:cNvSpPr>
            <a:spLocks noGrp="1"/>
          </p:cNvSpPr>
          <p:nvPr>
            <p:ph idx="1"/>
          </p:nvPr>
        </p:nvSpPr>
        <p:spPr/>
        <p:txBody>
          <a:bodyPr>
            <a:normAutofit fontScale="85000" lnSpcReduction="10000"/>
          </a:bodyPr>
          <a:lstStyle/>
          <a:p>
            <a:pPr marL="457200" indent="-457200">
              <a:spcBef>
                <a:spcPts val="1200"/>
              </a:spcBef>
              <a:buNone/>
            </a:pPr>
            <a:r>
              <a:rPr lang="en-US" sz="3800" dirty="0"/>
              <a:t>Animal testing needs to be valid and reliable to produce useful information</a:t>
            </a:r>
          </a:p>
          <a:p>
            <a:pPr marL="571500">
              <a:lnSpc>
                <a:spcPct val="110000"/>
              </a:lnSpc>
              <a:spcBef>
                <a:spcPts val="1800"/>
              </a:spcBef>
            </a:pPr>
            <a:r>
              <a:rPr lang="en-US" altLang="en-US" sz="3300" dirty="0"/>
              <a:t>Studies using animals have several advantages:</a:t>
            </a:r>
          </a:p>
          <a:p>
            <a:pPr marL="1263650" indent="-349250">
              <a:lnSpc>
                <a:spcPct val="110000"/>
              </a:lnSpc>
              <a:spcBef>
                <a:spcPts val="1800"/>
              </a:spcBef>
              <a:buFont typeface="Courier New" panose="02070309020205020404" pitchFamily="49" charset="0"/>
              <a:buChar char="o"/>
            </a:pPr>
            <a:r>
              <a:rPr lang="en-US" altLang="en-US" sz="3000" dirty="0"/>
              <a:t>Rigorous control of living conditions, food, etc., is possible.</a:t>
            </a:r>
          </a:p>
          <a:p>
            <a:pPr marL="1263650" indent="-349250">
              <a:lnSpc>
                <a:spcPct val="110000"/>
              </a:lnSpc>
              <a:spcBef>
                <a:spcPts val="1800"/>
              </a:spcBef>
              <a:buFont typeface="Courier New" panose="02070309020205020404" pitchFamily="49" charset="0"/>
              <a:buChar char="o"/>
            </a:pPr>
            <a:r>
              <a:rPr lang="en-US" altLang="en-US" sz="3000" dirty="0"/>
              <a:t>Histories and genetic backgrounds are well known.</a:t>
            </a:r>
          </a:p>
          <a:p>
            <a:pPr marL="1263650" indent="-349250">
              <a:lnSpc>
                <a:spcPct val="110000"/>
              </a:lnSpc>
              <a:spcBef>
                <a:spcPts val="1800"/>
              </a:spcBef>
              <a:buFont typeface="Courier New" panose="02070309020205020404" pitchFamily="49" charset="0"/>
              <a:buChar char="o"/>
            </a:pPr>
            <a:r>
              <a:rPr lang="en-US" altLang="en-US" sz="3000" dirty="0"/>
              <a:t>With human subjects, many research methods would be unethical.</a:t>
            </a:r>
          </a:p>
          <a:p>
            <a:pPr marL="1263650" indent="-349250">
              <a:lnSpc>
                <a:spcPct val="110000"/>
              </a:lnSpc>
              <a:spcBef>
                <a:spcPts val="1800"/>
              </a:spcBef>
              <a:buFont typeface="Courier New" panose="02070309020205020404" pitchFamily="49" charset="0"/>
              <a:buChar char="o"/>
            </a:pPr>
            <a:r>
              <a:rPr lang="en-US" altLang="en-US" sz="3000" dirty="0"/>
              <a:t>Brains and behaviors of humans and nonhuman mammals are similar enough to allow generalization across species.</a:t>
            </a:r>
            <a:endParaRPr lang="en-US" sz="3000" dirty="0"/>
          </a:p>
        </p:txBody>
      </p:sp>
    </p:spTree>
    <p:extLst>
      <p:ext uri="{BB962C8B-B14F-4D97-AF65-F5344CB8AC3E}">
        <p14:creationId xmlns:p14="http://schemas.microsoft.com/office/powerpoint/2010/main" val="313976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(3 of 18)</a:t>
            </a:r>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Animal testing needs to be valid and reliable to produce useful information</a:t>
            </a:r>
          </a:p>
          <a:p>
            <a:pPr marL="571500">
              <a:lnSpc>
                <a:spcPct val="90000"/>
              </a:lnSpc>
              <a:spcBef>
                <a:spcPts val="1800"/>
              </a:spcBef>
            </a:pPr>
            <a:r>
              <a:rPr lang="en-US" altLang="en-US" sz="2800" dirty="0"/>
              <a:t>Results from controlled animal studies can validate </a:t>
            </a:r>
            <a:r>
              <a:rPr lang="en-US" altLang="en-US" sz="2800" b="1" dirty="0"/>
              <a:t>correlational relationships</a:t>
            </a:r>
            <a:r>
              <a:rPr lang="en-US" altLang="en-US" sz="2800" dirty="0"/>
              <a:t>.</a:t>
            </a:r>
          </a:p>
          <a:p>
            <a:pPr marL="571500">
              <a:lnSpc>
                <a:spcPct val="90000"/>
              </a:lnSpc>
              <a:spcBef>
                <a:spcPts val="1800"/>
              </a:spcBef>
            </a:pPr>
            <a:r>
              <a:rPr lang="en-US" altLang="en-US" sz="2800" dirty="0"/>
              <a:t>Animal testing is an important part of drug development and evaluation.</a:t>
            </a:r>
          </a:p>
          <a:p>
            <a:pPr marL="571500">
              <a:lnSpc>
                <a:spcPct val="90000"/>
              </a:lnSpc>
              <a:spcBef>
                <a:spcPts val="1800"/>
              </a:spcBef>
            </a:pPr>
            <a:r>
              <a:rPr lang="en-US" altLang="en-US" sz="2800" dirty="0"/>
              <a:t>Strict animal care guidelines have been developed to ensure proper treatment of subjects.</a:t>
            </a:r>
          </a:p>
        </p:txBody>
      </p:sp>
    </p:spTree>
    <p:extLst>
      <p:ext uri="{BB962C8B-B14F-4D97-AF65-F5344CB8AC3E}">
        <p14:creationId xmlns:p14="http://schemas.microsoft.com/office/powerpoint/2010/main" val="763209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(4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Animal testing needs to be valid and reliable to produce useful information</a:t>
            </a:r>
          </a:p>
          <a:p>
            <a:pPr marL="571500">
              <a:lnSpc>
                <a:spcPct val="90000"/>
              </a:lnSpc>
              <a:spcBef>
                <a:spcPts val="1800"/>
              </a:spcBef>
            </a:pPr>
            <a:r>
              <a:rPr lang="en-US" altLang="en-US" sz="2800" dirty="0"/>
              <a:t>Animal tests with high </a:t>
            </a:r>
            <a:r>
              <a:rPr lang="en-US" altLang="en-US" sz="2800" b="1" dirty="0"/>
              <a:t>face validity</a:t>
            </a:r>
            <a:r>
              <a:rPr lang="en-US" altLang="en-US" sz="2800" dirty="0"/>
              <a:t>: tests closely resemble those used on humans (e.g., blood pressure).</a:t>
            </a:r>
          </a:p>
          <a:p>
            <a:pPr marL="571500">
              <a:lnSpc>
                <a:spcPct val="90000"/>
              </a:lnSpc>
              <a:spcBef>
                <a:spcPts val="1800"/>
              </a:spcBef>
            </a:pPr>
            <a:r>
              <a:rPr lang="en-US" altLang="en-US" sz="2800" b="1" dirty="0"/>
              <a:t>Predictive validity</a:t>
            </a:r>
            <a:r>
              <a:rPr lang="en-US" altLang="en-US" sz="2800" dirty="0"/>
              <a:t>: drug effects observed in laboratory tests closely parallel or predict the clinical effect.</a:t>
            </a:r>
          </a:p>
          <a:p>
            <a:pPr marL="571500">
              <a:lnSpc>
                <a:spcPct val="90000"/>
              </a:lnSpc>
              <a:spcBef>
                <a:spcPts val="1800"/>
              </a:spcBef>
            </a:pPr>
            <a:r>
              <a:rPr lang="en-US" altLang="en-US" sz="2800" b="1" dirty="0"/>
              <a:t>Construct validity</a:t>
            </a:r>
            <a:r>
              <a:rPr lang="en-US" altLang="en-US" sz="2800" dirty="0"/>
              <a:t>: extent to which the animal measurement tool actually measures the characteristic being investigated.</a:t>
            </a:r>
          </a:p>
        </p:txBody>
      </p:sp>
    </p:spTree>
    <p:extLst>
      <p:ext uri="{BB962C8B-B14F-4D97-AF65-F5344CB8AC3E}">
        <p14:creationId xmlns:p14="http://schemas.microsoft.com/office/powerpoint/2010/main" val="2425435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(5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Animal testing needs to be valid and reliable to produce useful information</a:t>
            </a:r>
          </a:p>
          <a:p>
            <a:pPr marL="571500">
              <a:lnSpc>
                <a:spcPct val="90000"/>
              </a:lnSpc>
              <a:spcBef>
                <a:spcPts val="1800"/>
              </a:spcBef>
            </a:pPr>
            <a:r>
              <a:rPr lang="en-US" sz="2800" dirty="0"/>
              <a:t>In animal experiments, the placebo is often injection of solution the drug is dissolved in (</a:t>
            </a:r>
            <a:r>
              <a:rPr lang="en-US" sz="2800" b="1" dirty="0"/>
              <a:t>vehicle solution </a:t>
            </a:r>
            <a:r>
              <a:rPr lang="en-US" sz="2800" dirty="0"/>
              <a:t>or </a:t>
            </a:r>
            <a:r>
              <a:rPr lang="en-US" sz="2800" b="1" dirty="0"/>
              <a:t>negative control</a:t>
            </a:r>
            <a:r>
              <a:rPr lang="en-US" sz="2800" dirty="0"/>
              <a:t>).</a:t>
            </a:r>
          </a:p>
          <a:p>
            <a:pPr marL="571500">
              <a:lnSpc>
                <a:spcPct val="90000"/>
              </a:lnSpc>
              <a:spcBef>
                <a:spcPts val="1800"/>
              </a:spcBef>
            </a:pPr>
            <a:r>
              <a:rPr lang="en-US" sz="2800" b="1" dirty="0"/>
              <a:t>Positive control</a:t>
            </a:r>
            <a:r>
              <a:rPr lang="en-US" sz="2800" dirty="0"/>
              <a:t>: a drug that produces well-characterized effects on a behavioral test is tested in addition to the compound of interest. </a:t>
            </a:r>
          </a:p>
        </p:txBody>
      </p:sp>
    </p:spTree>
    <p:extLst>
      <p:ext uri="{BB962C8B-B14F-4D97-AF65-F5344CB8AC3E}">
        <p14:creationId xmlns:p14="http://schemas.microsoft.com/office/powerpoint/2010/main" val="4124502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(6 of 18)</a:t>
            </a:r>
            <a:endParaRPr lang="en-US" dirty="0"/>
          </a:p>
        </p:txBody>
      </p:sp>
      <p:sp>
        <p:nvSpPr>
          <p:cNvPr id="3" name="Text Placeholder 2"/>
          <p:cNvSpPr>
            <a:spLocks noGrp="1"/>
          </p:cNvSpPr>
          <p:nvPr>
            <p:ph idx="1"/>
          </p:nvPr>
        </p:nvSpPr>
        <p:spPr/>
        <p:txBody>
          <a:bodyPr>
            <a:normAutofit fontScale="70000" lnSpcReduction="20000"/>
          </a:bodyPr>
          <a:lstStyle/>
          <a:p>
            <a:pPr marL="457200" indent="-457200">
              <a:spcBef>
                <a:spcPts val="1200"/>
              </a:spcBef>
              <a:buNone/>
            </a:pPr>
            <a:r>
              <a:rPr lang="en-US" sz="4600" dirty="0"/>
              <a:t>Animal testing needs to be valid and reliable to produce useful information</a:t>
            </a:r>
          </a:p>
          <a:p>
            <a:pPr marL="571500">
              <a:lnSpc>
                <a:spcPct val="110000"/>
              </a:lnSpc>
              <a:spcBef>
                <a:spcPts val="1800"/>
              </a:spcBef>
            </a:pPr>
            <a:r>
              <a:rPr lang="en-US" altLang="en-US" sz="3400" dirty="0"/>
              <a:t>An optimal animal behavioral test should: </a:t>
            </a:r>
          </a:p>
          <a:p>
            <a:pPr marL="1263650" lvl="1" indent="-349250">
              <a:lnSpc>
                <a:spcPct val="130000"/>
              </a:lnSpc>
              <a:spcBef>
                <a:spcPts val="1200"/>
              </a:spcBef>
              <a:buFont typeface="Courier New" panose="02070309020205020404" pitchFamily="49" charset="0"/>
              <a:buChar char="o"/>
            </a:pPr>
            <a:r>
              <a:rPr lang="en-US" altLang="en-US" sz="2900" dirty="0"/>
              <a:t>Have predictive validity</a:t>
            </a:r>
          </a:p>
          <a:p>
            <a:pPr marL="1263650" lvl="1" indent="-349250">
              <a:lnSpc>
                <a:spcPct val="130000"/>
              </a:lnSpc>
              <a:spcBef>
                <a:spcPts val="1200"/>
              </a:spcBef>
              <a:buFont typeface="Courier New" panose="02070309020205020404" pitchFamily="49" charset="0"/>
              <a:buChar char="o"/>
            </a:pPr>
            <a:r>
              <a:rPr lang="en-US" altLang="en-US" sz="2900" dirty="0"/>
              <a:t>Be specific for the class of drug being screened</a:t>
            </a:r>
          </a:p>
          <a:p>
            <a:pPr marL="1263650" lvl="1" indent="-349250">
              <a:lnSpc>
                <a:spcPct val="130000"/>
              </a:lnSpc>
              <a:spcBef>
                <a:spcPts val="1200"/>
              </a:spcBef>
              <a:buFont typeface="Courier New" panose="02070309020205020404" pitchFamily="49" charset="0"/>
              <a:buChar char="o"/>
            </a:pPr>
            <a:r>
              <a:rPr lang="en-US" altLang="en-US" sz="2900" dirty="0"/>
              <a:t>Be sensitive to a normal therapeutic range of dose and show a dose–response relationship</a:t>
            </a:r>
          </a:p>
          <a:p>
            <a:pPr marL="1263650" lvl="1" indent="-349250">
              <a:lnSpc>
                <a:spcPct val="130000"/>
              </a:lnSpc>
              <a:spcBef>
                <a:spcPts val="1200"/>
              </a:spcBef>
              <a:buFont typeface="Courier New" panose="02070309020205020404" pitchFamily="49" charset="0"/>
              <a:buChar char="o"/>
            </a:pPr>
            <a:r>
              <a:rPr lang="en-US" altLang="en-US" sz="2900" dirty="0"/>
              <a:t>Demonstrate the same rank order of potency in animal tests as the order of potency of the therapeutic action of the drug</a:t>
            </a:r>
          </a:p>
          <a:p>
            <a:pPr marL="1263650" lvl="1" indent="-349250">
              <a:lnSpc>
                <a:spcPct val="130000"/>
              </a:lnSpc>
              <a:spcBef>
                <a:spcPts val="1200"/>
              </a:spcBef>
              <a:buFont typeface="Courier New" panose="02070309020205020404" pitchFamily="49" charset="0"/>
              <a:buChar char="o"/>
            </a:pPr>
            <a:r>
              <a:rPr lang="en-US" altLang="en-US" sz="2900" dirty="0"/>
              <a:t>Have high </a:t>
            </a:r>
            <a:r>
              <a:rPr lang="en-US" altLang="en-US" sz="2900" b="1" dirty="0"/>
              <a:t>reliability </a:t>
            </a:r>
            <a:r>
              <a:rPr lang="en-US" altLang="en-US" sz="2900" dirty="0"/>
              <a:t>(the same results will be recorded each time the test is used)</a:t>
            </a:r>
          </a:p>
        </p:txBody>
      </p:sp>
    </p:spTree>
    <p:extLst>
      <p:ext uri="{BB962C8B-B14F-4D97-AF65-F5344CB8AC3E}">
        <p14:creationId xmlns:p14="http://schemas.microsoft.com/office/powerpoint/2010/main" val="250621340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Techniques in Behavioral Pharmacology </a:t>
            </a:r>
            <a:r>
              <a:rPr lang="en-US" sz="1200" dirty="0"/>
              <a:t>(7 of 18)</a:t>
            </a:r>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80000"/>
              </a:lnSpc>
              <a:spcBef>
                <a:spcPts val="1200"/>
              </a:spcBef>
              <a:buNone/>
            </a:pPr>
            <a:r>
              <a:rPr lang="en-US" dirty="0"/>
              <a:t>A wide variety of behaviors are evaluated by </a:t>
            </a:r>
            <a:r>
              <a:rPr lang="en-US" dirty="0" err="1"/>
              <a:t>psychopharmacologists</a:t>
            </a:r>
            <a:endParaRPr lang="en-US" dirty="0"/>
          </a:p>
          <a:p>
            <a:pPr marL="571500">
              <a:lnSpc>
                <a:spcPct val="90000"/>
              </a:lnSpc>
              <a:spcBef>
                <a:spcPts val="1800"/>
              </a:spcBef>
            </a:pPr>
            <a:r>
              <a:rPr lang="en-US" altLang="en-US" sz="2800" dirty="0"/>
              <a:t>Simple observation of behaviors such as tremors, ptosis, salivation, catalepsy</a:t>
            </a:r>
          </a:p>
          <a:p>
            <a:pPr marL="571500">
              <a:lnSpc>
                <a:spcPct val="90000"/>
              </a:lnSpc>
              <a:spcBef>
                <a:spcPts val="1800"/>
              </a:spcBef>
            </a:pPr>
            <a:r>
              <a:rPr lang="en-US" altLang="en-US" sz="2800" dirty="0"/>
              <a:t>Measures of motor activity: identify drugs that produce sleep or sedation, or stimulate activity</a:t>
            </a:r>
          </a:p>
          <a:p>
            <a:pPr marL="571500">
              <a:lnSpc>
                <a:spcPct val="90000"/>
              </a:lnSpc>
              <a:spcBef>
                <a:spcPts val="1800"/>
              </a:spcBef>
            </a:pPr>
            <a:r>
              <a:rPr lang="en-US" altLang="en-US" sz="2800" dirty="0"/>
              <a:t>Operant conditioning: animal learns a response to obtain rewards.</a:t>
            </a:r>
          </a:p>
        </p:txBody>
      </p:sp>
    </p:spTree>
    <p:extLst>
      <p:ext uri="{BB962C8B-B14F-4D97-AF65-F5344CB8AC3E}">
        <p14:creationId xmlns:p14="http://schemas.microsoft.com/office/powerpoint/2010/main" val="2811969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56034-DD35-C240-B042-AF4996BA47F6}"/>
              </a:ext>
            </a:extLst>
          </p:cNvPr>
          <p:cNvSpPr>
            <a:spLocks noGrp="1"/>
          </p:cNvSpPr>
          <p:nvPr>
            <p:ph type="title"/>
          </p:nvPr>
        </p:nvSpPr>
        <p:spPr/>
        <p:txBody>
          <a:bodyPr/>
          <a:lstStyle/>
          <a:p>
            <a:r>
              <a:rPr lang="en-US" cap="all" dirty="0"/>
              <a:t>FIGURE 4.2</a:t>
            </a:r>
            <a:r>
              <a:rPr lang="en-US" dirty="0"/>
              <a:t>  Rat in an operant chamber </a:t>
            </a:r>
          </a:p>
        </p:txBody>
      </p:sp>
      <p:pic>
        <p:nvPicPr>
          <p:cNvPr id="6" name="Content Placeholder 5" descr="A photo of a rat in an operant chamber pressing a lever at righ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768953" y="479425"/>
            <a:ext cx="8654094" cy="6300788"/>
          </a:xfrm>
        </p:spPr>
      </p:pic>
    </p:spTree>
    <p:extLst>
      <p:ext uri="{BB962C8B-B14F-4D97-AF65-F5344CB8AC3E}">
        <p14:creationId xmlns:p14="http://schemas.microsoft.com/office/powerpoint/2010/main" val="1581998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Techniques in Behavioral Pharmacology </a:t>
            </a:r>
            <a:r>
              <a:rPr lang="en-US" sz="1200"/>
              <a:t>(8 of 18)</a:t>
            </a:r>
            <a:endParaRPr lang="en-US" dirty="0"/>
          </a:p>
        </p:txBody>
      </p:sp>
      <p:sp>
        <p:nvSpPr>
          <p:cNvPr id="3" name="Text Placeholder 2"/>
          <p:cNvSpPr>
            <a:spLocks noGrp="1"/>
          </p:cNvSpPr>
          <p:nvPr>
            <p:ph idx="1"/>
          </p:nvPr>
        </p:nvSpPr>
        <p:spPr>
          <a:xfrm>
            <a:off x="609600" y="1600201"/>
            <a:ext cx="11092543" cy="4783544"/>
          </a:xfrm>
        </p:spPr>
        <p:txBody>
          <a:bodyPr>
            <a:normAutofit lnSpcReduction="10000"/>
          </a:bodyPr>
          <a:lstStyle/>
          <a:p>
            <a:pPr marL="457200" indent="-457200">
              <a:lnSpc>
                <a:spcPct val="80000"/>
              </a:lnSpc>
              <a:spcBef>
                <a:spcPts val="1200"/>
              </a:spcBef>
              <a:buNone/>
            </a:pPr>
            <a:r>
              <a:rPr lang="en-US" sz="3500" dirty="0"/>
              <a:t>A wide variety of behaviors are evaluated by </a:t>
            </a:r>
            <a:r>
              <a:rPr lang="en-US" sz="3500" dirty="0" err="1"/>
              <a:t>psychopharmacologists</a:t>
            </a:r>
            <a:endParaRPr lang="en-US" sz="3500" dirty="0"/>
          </a:p>
          <a:p>
            <a:pPr marL="571500">
              <a:spcBef>
                <a:spcPts val="1800"/>
              </a:spcBef>
            </a:pPr>
            <a:r>
              <a:rPr lang="en-US" altLang="en-US" sz="2800" dirty="0"/>
              <a:t>In operant conditioning, the animal learns a response (e.g., pressing a lever) to receive a food reinforcer.</a:t>
            </a:r>
          </a:p>
          <a:p>
            <a:pPr marL="571500">
              <a:spcBef>
                <a:spcPts val="1800"/>
              </a:spcBef>
            </a:pPr>
            <a:r>
              <a:rPr lang="en-US" altLang="en-US" sz="2800" dirty="0"/>
              <a:t>Once the behavior is learned, requirements for reinforcement can be altered according to a </a:t>
            </a:r>
            <a:r>
              <a:rPr lang="en-US" altLang="en-US" sz="2800" b="1" dirty="0"/>
              <a:t>schedule of reinforcement</a:t>
            </a:r>
            <a:r>
              <a:rPr lang="en-US" altLang="en-US" sz="2800" dirty="0"/>
              <a:t>.</a:t>
            </a:r>
          </a:p>
          <a:p>
            <a:pPr marL="1263650" lvl="1" indent="-349250">
              <a:lnSpc>
                <a:spcPct val="110000"/>
              </a:lnSpc>
              <a:spcBef>
                <a:spcPts val="1200"/>
              </a:spcBef>
              <a:buFont typeface="Courier New" panose="02070309020205020404" pitchFamily="49" charset="0"/>
              <a:buChar char="o"/>
            </a:pPr>
            <a:r>
              <a:rPr lang="en-US" altLang="en-US" sz="2600" dirty="0"/>
              <a:t>Fixed-ratio (FR) schedule: reinforcement is delivered after a fixed number of responses (e.g., FR-3 schedule—animal must press the lever three times)</a:t>
            </a:r>
          </a:p>
          <a:p>
            <a:pPr marL="1263650" lvl="1" indent="-349250">
              <a:lnSpc>
                <a:spcPct val="110000"/>
              </a:lnSpc>
              <a:spcBef>
                <a:spcPts val="1200"/>
              </a:spcBef>
              <a:buFont typeface="Courier New" panose="02070309020205020404" pitchFamily="49" charset="0"/>
              <a:buChar char="o"/>
            </a:pPr>
            <a:r>
              <a:rPr lang="en-US" altLang="en-US" sz="2600" dirty="0"/>
              <a:t>Fixed-interval (FI) schedule: reinforcement after a fixed amount of time</a:t>
            </a:r>
          </a:p>
        </p:txBody>
      </p:sp>
    </p:spTree>
    <p:extLst>
      <p:ext uri="{BB962C8B-B14F-4D97-AF65-F5344CB8AC3E}">
        <p14:creationId xmlns:p14="http://schemas.microsoft.com/office/powerpoint/2010/main" val="529098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(9 of 18)</a:t>
            </a:r>
            <a:endParaRPr lang="en-US" dirty="0"/>
          </a:p>
        </p:txBody>
      </p:sp>
      <p:sp>
        <p:nvSpPr>
          <p:cNvPr id="3" name="Text Placeholder 2"/>
          <p:cNvSpPr>
            <a:spLocks noGrp="1"/>
          </p:cNvSpPr>
          <p:nvPr>
            <p:ph idx="1"/>
          </p:nvPr>
        </p:nvSpPr>
        <p:spPr>
          <a:xfrm>
            <a:off x="609600" y="1654629"/>
            <a:ext cx="10972800" cy="4729115"/>
          </a:xfrm>
        </p:spPr>
        <p:txBody>
          <a:bodyPr>
            <a:normAutofit lnSpcReduction="10000"/>
          </a:bodyPr>
          <a:lstStyle/>
          <a:p>
            <a:pPr marL="457200" indent="-457200">
              <a:lnSpc>
                <a:spcPct val="80000"/>
              </a:lnSpc>
              <a:spcBef>
                <a:spcPts val="1200"/>
              </a:spcBef>
              <a:buNone/>
            </a:pPr>
            <a:r>
              <a:rPr lang="en-US" dirty="0"/>
              <a:t>A wide variety of behaviors are evaluated by </a:t>
            </a:r>
            <a:r>
              <a:rPr lang="en-US" dirty="0" err="1"/>
              <a:t>psychopharmacologists</a:t>
            </a:r>
            <a:endParaRPr lang="en-US" dirty="0"/>
          </a:p>
          <a:p>
            <a:pPr marL="571500">
              <a:spcBef>
                <a:spcPts val="1800"/>
              </a:spcBef>
            </a:pPr>
            <a:r>
              <a:rPr lang="en-US" sz="2800" b="1" dirty="0"/>
              <a:t>Measures of analgesia </a:t>
            </a:r>
            <a:r>
              <a:rPr lang="en-US" sz="2800" dirty="0"/>
              <a:t>(reduction of perceived pain without loss of consciousness):</a:t>
            </a:r>
          </a:p>
          <a:p>
            <a:pPr marL="1263650" lvl="1" indent="-349250">
              <a:spcBef>
                <a:spcPts val="1800"/>
              </a:spcBef>
              <a:buFont typeface="Courier New" panose="02070309020205020404" pitchFamily="49" charset="0"/>
              <a:buChar char="o"/>
            </a:pPr>
            <a:r>
              <a:rPr lang="en-US" b="1" dirty="0"/>
              <a:t>Tail-flick test</a:t>
            </a:r>
            <a:r>
              <a:rPr lang="en-US" dirty="0"/>
              <a:t>:</a:t>
            </a:r>
            <a:r>
              <a:rPr lang="en-US" b="1" dirty="0"/>
              <a:t> </a:t>
            </a:r>
            <a:r>
              <a:rPr lang="en-US" dirty="0"/>
              <a:t>measures response of the animal to heat applied to the tail</a:t>
            </a:r>
          </a:p>
          <a:p>
            <a:pPr marL="1263650" lvl="1" indent="-349250">
              <a:spcBef>
                <a:spcPts val="1800"/>
              </a:spcBef>
              <a:buFont typeface="Courier New" panose="02070309020205020404" pitchFamily="49" charset="0"/>
              <a:buChar char="o"/>
            </a:pPr>
            <a:r>
              <a:rPr lang="en-US" altLang="en-US" b="1" dirty="0"/>
              <a:t>Hot plate test</a:t>
            </a:r>
            <a:r>
              <a:rPr lang="en-US" altLang="en-US" dirty="0"/>
              <a:t>: animal is placed in a cylinder on a hot plate, and temperature is increased</a:t>
            </a:r>
          </a:p>
          <a:p>
            <a:pPr marL="1263650" lvl="1" indent="-349250">
              <a:spcBef>
                <a:spcPts val="1800"/>
              </a:spcBef>
              <a:buFont typeface="Courier New" panose="02070309020205020404" pitchFamily="49" charset="0"/>
              <a:buChar char="o"/>
            </a:pPr>
            <a:r>
              <a:rPr lang="en-US" altLang="en-US" b="1" dirty="0"/>
              <a:t>Operant analgesia testing</a:t>
            </a:r>
            <a:r>
              <a:rPr lang="en-US" altLang="en-US" dirty="0"/>
              <a:t>:</a:t>
            </a:r>
            <a:r>
              <a:rPr lang="en-US" altLang="en-US" b="1" dirty="0"/>
              <a:t> </a:t>
            </a:r>
            <a:r>
              <a:rPr lang="en-US" altLang="en-US" dirty="0"/>
              <a:t>uses negative reinforcement</a:t>
            </a:r>
          </a:p>
        </p:txBody>
      </p:sp>
    </p:spTree>
    <p:extLst>
      <p:ext uri="{BB962C8B-B14F-4D97-AF65-F5344CB8AC3E}">
        <p14:creationId xmlns:p14="http://schemas.microsoft.com/office/powerpoint/2010/main" val="2158727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945AA-041B-4F41-9A8B-6959E93204F0}"/>
              </a:ext>
            </a:extLst>
          </p:cNvPr>
          <p:cNvSpPr>
            <a:spLocks noGrp="1"/>
          </p:cNvSpPr>
          <p:nvPr>
            <p:ph type="title"/>
          </p:nvPr>
        </p:nvSpPr>
        <p:spPr/>
        <p:txBody>
          <a:bodyPr/>
          <a:lstStyle/>
          <a:p>
            <a:r>
              <a:rPr lang="en-US" cap="all" dirty="0"/>
              <a:t>FIGURE 4.3</a:t>
            </a:r>
            <a:r>
              <a:rPr lang="en-US" dirty="0"/>
              <a:t>  The tail-flick test of analgesia  </a:t>
            </a:r>
          </a:p>
        </p:txBody>
      </p:sp>
      <p:pic>
        <p:nvPicPr>
          <p:cNvPr id="6" name="Content Placeholder 5" descr="An illustration depicts the tail-flick test o analgesia. A rheostat at the top left is connected to a light source at the right. A rat is placed on top of a thin platform atop the light bulb and there is a space just above the light bulb in the platform. Two clocks below measure the latency. The one at left is titled, normal latency in seconds and the second hand is at 10. The clock at right is titled, latency after analgesic in seconds, and the second hand is at 2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32954" y="479425"/>
            <a:ext cx="6326092" cy="6300788"/>
          </a:xfrm>
        </p:spPr>
      </p:pic>
    </p:spTree>
    <p:extLst>
      <p:ext uri="{BB962C8B-B14F-4D97-AF65-F5344CB8AC3E}">
        <p14:creationId xmlns:p14="http://schemas.microsoft.com/office/powerpoint/2010/main" val="558053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(10 of 18)</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A wide variety of behaviors are evaluated by psychopharmacologists</a:t>
            </a:r>
          </a:p>
          <a:p>
            <a:pPr marL="571500">
              <a:spcBef>
                <a:spcPts val="1800"/>
              </a:spcBef>
            </a:pPr>
            <a:r>
              <a:rPr lang="en-US" sz="2800" dirty="0"/>
              <a:t>Tests of learning and memory: tests depend on presentation of information (training) and after a delay, the performance (test)</a:t>
            </a:r>
          </a:p>
          <a:p>
            <a:pPr marL="571500">
              <a:spcBef>
                <a:spcPts val="1800"/>
              </a:spcBef>
            </a:pPr>
            <a:r>
              <a:rPr lang="en-US" sz="2800" dirty="0"/>
              <a:t>Mazes: learning is evaluated based on number of errors at choice points and/or time taken to reach the goal box</a:t>
            </a:r>
          </a:p>
          <a:p>
            <a:pPr marL="571500">
              <a:spcBef>
                <a:spcPts val="1800"/>
              </a:spcBef>
            </a:pPr>
            <a:r>
              <a:rPr lang="en-US" altLang="en-US" sz="2800" dirty="0"/>
              <a:t>Delayed-response test: similar to the Wechsler Memory Scale used to evaluate working memory deficits in humans</a:t>
            </a:r>
            <a:endParaRPr lang="en-US" sz="2800" dirty="0"/>
          </a:p>
        </p:txBody>
      </p:sp>
    </p:spTree>
    <p:extLst>
      <p:ext uri="{BB962C8B-B14F-4D97-AF65-F5344CB8AC3E}">
        <p14:creationId xmlns:p14="http://schemas.microsoft.com/office/powerpoint/2010/main" val="1207396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B88E-25B6-0548-B2A5-9D242A8359D2}"/>
              </a:ext>
            </a:extLst>
          </p:cNvPr>
          <p:cNvSpPr>
            <a:spLocks noGrp="1"/>
          </p:cNvSpPr>
          <p:nvPr>
            <p:ph type="title"/>
          </p:nvPr>
        </p:nvSpPr>
        <p:spPr/>
        <p:txBody>
          <a:bodyPr/>
          <a:lstStyle/>
          <a:p>
            <a:r>
              <a:rPr lang="en-US" cap="all" dirty="0"/>
              <a:t>FIGURE 4.5</a:t>
            </a:r>
            <a:r>
              <a:rPr lang="en-US" dirty="0"/>
              <a:t>  The Morris water maze </a:t>
            </a:r>
          </a:p>
        </p:txBody>
      </p:sp>
      <p:pic>
        <p:nvPicPr>
          <p:cNvPr id="6" name="Content Placeholder 5" descr="An illustration of the Morris water maze has a circular pool at the middle with a wire connected to a bulb placed in it. The pool is filled with opaque water. An arrow points to the bottom and reads, Submerged escape platform. A table nearby has a desktop computer and text reads, Computer for image analysis. A video camera is at the top monitoring the poo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034172" y="479425"/>
            <a:ext cx="6123657" cy="6300788"/>
          </a:xfrm>
        </p:spPr>
      </p:pic>
    </p:spTree>
    <p:extLst>
      <p:ext uri="{BB962C8B-B14F-4D97-AF65-F5344CB8AC3E}">
        <p14:creationId xmlns:p14="http://schemas.microsoft.com/office/powerpoint/2010/main" val="3436541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(11 of 18)</a:t>
            </a:r>
            <a:endParaRPr lang="en-US" dirty="0"/>
          </a:p>
        </p:txBody>
      </p:sp>
      <p:sp>
        <p:nvSpPr>
          <p:cNvPr id="3" name="Text Placeholder 2"/>
          <p:cNvSpPr>
            <a:spLocks noGrp="1"/>
          </p:cNvSpPr>
          <p:nvPr>
            <p:ph idx="1"/>
          </p:nvPr>
        </p:nvSpPr>
        <p:spPr/>
        <p:txBody>
          <a:bodyPr>
            <a:noAutofit/>
          </a:bodyPr>
          <a:lstStyle/>
          <a:p>
            <a:pPr marL="457200" indent="-457200">
              <a:lnSpc>
                <a:spcPct val="90000"/>
              </a:lnSpc>
              <a:spcBef>
                <a:spcPts val="1200"/>
              </a:spcBef>
              <a:buNone/>
            </a:pPr>
            <a:r>
              <a:rPr lang="en-US" dirty="0"/>
              <a:t>A wide variety of behaviors are evaluated by psychopharmacologists</a:t>
            </a:r>
          </a:p>
          <a:p>
            <a:pPr marL="571500">
              <a:spcBef>
                <a:spcPts val="1800"/>
              </a:spcBef>
            </a:pPr>
            <a:r>
              <a:rPr lang="en-US" sz="2800" dirty="0"/>
              <a:t>Measures of anxiety-like behaviors: most use induced fearfulness as an analogy to human anxiety (e.g., </a:t>
            </a:r>
            <a:r>
              <a:rPr lang="en-US" altLang="en-US" sz="2800" b="1" dirty="0"/>
              <a:t>light–dark crossing task</a:t>
            </a:r>
            <a:r>
              <a:rPr lang="en-US" altLang="en-US" sz="2800" dirty="0"/>
              <a:t>;</a:t>
            </a:r>
            <a:r>
              <a:rPr lang="en-US" altLang="en-US" sz="2800" b="1" dirty="0"/>
              <a:t> open field test</a:t>
            </a:r>
            <a:r>
              <a:rPr lang="en-US" altLang="en-US" sz="2800" dirty="0"/>
              <a:t>;</a:t>
            </a:r>
            <a:r>
              <a:rPr lang="en-US" altLang="en-US" sz="2800" b="1" dirty="0"/>
              <a:t> elevated plus-maze</a:t>
            </a:r>
            <a:r>
              <a:rPr lang="en-US" altLang="en-US" sz="2800" dirty="0"/>
              <a:t>;</a:t>
            </a:r>
            <a:r>
              <a:rPr lang="en-US" altLang="en-US" sz="2800" b="1" dirty="0"/>
              <a:t> one-chamber social interaction test</a:t>
            </a:r>
            <a:r>
              <a:rPr lang="en-US" altLang="en-US" sz="2800" dirty="0"/>
              <a:t>;</a:t>
            </a:r>
            <a:r>
              <a:rPr lang="en-US" altLang="en-US" sz="2800" b="1" dirty="0"/>
              <a:t> novelty suppressed feeding paradigm</a:t>
            </a:r>
            <a:r>
              <a:rPr lang="en-US" altLang="en-US" sz="2800" dirty="0"/>
              <a:t>; </a:t>
            </a:r>
            <a:r>
              <a:rPr lang="en-US" sz="2800" b="1" dirty="0"/>
              <a:t>water-lick suppression test (Vogel test) </a:t>
            </a:r>
            <a:r>
              <a:rPr lang="en-US" sz="2800" dirty="0"/>
              <a:t>– a conflict procedure;</a:t>
            </a:r>
            <a:r>
              <a:rPr lang="en-US" sz="2800" b="1" dirty="0"/>
              <a:t> defensive burying </a:t>
            </a:r>
            <a:r>
              <a:rPr lang="en-US" sz="2800" dirty="0"/>
              <a:t>and</a:t>
            </a:r>
            <a:r>
              <a:rPr lang="en-US" sz="2800" b="1" dirty="0"/>
              <a:t> marble burying tasks</a:t>
            </a:r>
            <a:r>
              <a:rPr lang="en-US" sz="2800" dirty="0"/>
              <a:t>)</a:t>
            </a:r>
            <a:endParaRPr lang="en-US" altLang="en-US" sz="2800" b="1" dirty="0"/>
          </a:p>
        </p:txBody>
      </p:sp>
    </p:spTree>
    <p:extLst>
      <p:ext uri="{BB962C8B-B14F-4D97-AF65-F5344CB8AC3E}">
        <p14:creationId xmlns:p14="http://schemas.microsoft.com/office/powerpoint/2010/main" val="2461271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27E92-F5A9-DE4A-AE75-D8EE201EFB61}"/>
              </a:ext>
            </a:extLst>
          </p:cNvPr>
          <p:cNvSpPr>
            <a:spLocks noGrp="1"/>
          </p:cNvSpPr>
          <p:nvPr>
            <p:ph type="title"/>
          </p:nvPr>
        </p:nvSpPr>
        <p:spPr/>
        <p:txBody>
          <a:bodyPr/>
          <a:lstStyle/>
          <a:p>
            <a:r>
              <a:rPr lang="en-US" cap="all" dirty="0"/>
              <a:t>FIGURE 4.7</a:t>
            </a:r>
            <a:r>
              <a:rPr lang="en-US" dirty="0"/>
              <a:t>  The elevated plus-maze </a:t>
            </a:r>
          </a:p>
        </p:txBody>
      </p:sp>
      <p:pic>
        <p:nvPicPr>
          <p:cNvPr id="6" name="Content Placeholder 5" descr="A photo of an elevated plus-shaped maze has a rat at one en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07650" y="479425"/>
            <a:ext cx="6376701" cy="6300788"/>
          </a:xfrm>
        </p:spPr>
      </p:pic>
    </p:spTree>
    <p:extLst>
      <p:ext uri="{BB962C8B-B14F-4D97-AF65-F5344CB8AC3E}">
        <p14:creationId xmlns:p14="http://schemas.microsoft.com/office/powerpoint/2010/main" val="885824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(12 of 18)</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A wide variety of behaviors are evaluated by psychopharmacologists</a:t>
            </a:r>
          </a:p>
          <a:p>
            <a:pPr marL="571500">
              <a:spcBef>
                <a:spcPts val="1800"/>
              </a:spcBef>
            </a:pPr>
            <a:r>
              <a:rPr lang="en-US" sz="2800" dirty="0"/>
              <a:t>Measures of fear (e.g., </a:t>
            </a:r>
            <a:r>
              <a:rPr lang="en-US" sz="2800" b="1" dirty="0"/>
              <a:t>c</a:t>
            </a:r>
            <a:r>
              <a:rPr lang="en-US" altLang="en-US" sz="2800" b="1" dirty="0"/>
              <a:t>onditioned emotional response</a:t>
            </a:r>
            <a:r>
              <a:rPr lang="en-US" altLang="en-US" sz="2800" dirty="0"/>
              <a:t>, </a:t>
            </a:r>
            <a:r>
              <a:rPr lang="en-US" altLang="en-US" sz="2800" b="1" dirty="0"/>
              <a:t>fear-potentiated startle</a:t>
            </a:r>
            <a:r>
              <a:rPr lang="en-US" altLang="en-US" sz="2800" dirty="0"/>
              <a:t>)</a:t>
            </a:r>
          </a:p>
          <a:p>
            <a:pPr marL="571500">
              <a:spcBef>
                <a:spcPts val="1800"/>
              </a:spcBef>
            </a:pPr>
            <a:r>
              <a:rPr lang="en-US" sz="2800" dirty="0"/>
              <a:t>Measures of depressive-like behavior (e.g., </a:t>
            </a:r>
            <a:r>
              <a:rPr lang="en-US" sz="2800" b="1" dirty="0"/>
              <a:t>b</a:t>
            </a:r>
            <a:r>
              <a:rPr lang="en-US" altLang="en-US" sz="2800" b="1" dirty="0"/>
              <a:t>ehavioral despair </a:t>
            </a:r>
            <a:r>
              <a:rPr lang="en-US" altLang="en-US" sz="2800" dirty="0"/>
              <a:t>or </a:t>
            </a:r>
            <a:r>
              <a:rPr lang="en-US" altLang="en-US" sz="2800" b="1" dirty="0"/>
              <a:t>forced swim test</a:t>
            </a:r>
            <a:r>
              <a:rPr lang="en-US" altLang="en-US" sz="2800" dirty="0"/>
              <a:t>, </a:t>
            </a:r>
            <a:r>
              <a:rPr lang="en-US" altLang="en-US" sz="2800" b="1" dirty="0"/>
              <a:t>tail suspension test</a:t>
            </a:r>
            <a:r>
              <a:rPr lang="en-US" altLang="en-US" sz="2800" dirty="0"/>
              <a:t>, </a:t>
            </a:r>
            <a:r>
              <a:rPr lang="en-US" altLang="en-US" sz="2800" b="1" dirty="0"/>
              <a:t>l</a:t>
            </a:r>
            <a:r>
              <a:rPr lang="en-US" sz="2800" b="1" dirty="0"/>
              <a:t>earned helplessness</a:t>
            </a:r>
            <a:r>
              <a:rPr lang="en-US" sz="2800" dirty="0"/>
              <a:t>)</a:t>
            </a:r>
          </a:p>
        </p:txBody>
      </p:sp>
    </p:spTree>
    <p:extLst>
      <p:ext uri="{BB962C8B-B14F-4D97-AF65-F5344CB8AC3E}">
        <p14:creationId xmlns:p14="http://schemas.microsoft.com/office/powerpoint/2010/main" val="3860606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Techniques in Behavioral Pharmacology </a:t>
            </a:r>
            <a:r>
              <a:rPr lang="en-US" sz="1200" dirty="0"/>
              <a:t>(13 of 18)</a:t>
            </a:r>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A wide variety of behaviors are evaluated by psychopharmacologists</a:t>
            </a:r>
          </a:p>
          <a:p>
            <a:r>
              <a:rPr lang="en-US" sz="2800" dirty="0"/>
              <a:t>Tests of chronic stress:</a:t>
            </a:r>
          </a:p>
          <a:p>
            <a:pPr marL="1263650" lvl="1" indent="-349250">
              <a:spcBef>
                <a:spcPts val="1800"/>
              </a:spcBef>
              <a:buFont typeface="Courier New" panose="02070309020205020404" pitchFamily="49" charset="0"/>
              <a:buChar char="o"/>
            </a:pPr>
            <a:r>
              <a:rPr lang="en-US" sz="2600" b="1" dirty="0"/>
              <a:t>Chronic mild unpredictable stress </a:t>
            </a:r>
          </a:p>
          <a:p>
            <a:pPr marL="1263650" lvl="1" indent="-349250">
              <a:spcBef>
                <a:spcPts val="1800"/>
              </a:spcBef>
              <a:buFont typeface="Courier New" panose="02070309020205020404" pitchFamily="49" charset="0"/>
              <a:buChar char="o"/>
            </a:pPr>
            <a:r>
              <a:rPr lang="en-US" sz="2600" b="1" dirty="0"/>
              <a:t>Chronic social defeat stress</a:t>
            </a:r>
          </a:p>
          <a:p>
            <a:pPr marL="1263650" lvl="1" indent="-349250">
              <a:spcBef>
                <a:spcPts val="1800"/>
              </a:spcBef>
              <a:buFont typeface="Courier New" panose="02070309020205020404" pitchFamily="49" charset="0"/>
              <a:buChar char="o"/>
            </a:pPr>
            <a:r>
              <a:rPr lang="en-US" sz="2600" b="1" dirty="0"/>
              <a:t>Maternal separation</a:t>
            </a:r>
          </a:p>
          <a:p>
            <a:pPr marL="1263650" lvl="1" indent="-349250">
              <a:spcBef>
                <a:spcPts val="1800"/>
              </a:spcBef>
              <a:buFont typeface="Courier New" panose="02070309020205020404" pitchFamily="49" charset="0"/>
              <a:buChar char="o"/>
            </a:pPr>
            <a:r>
              <a:rPr lang="en-US" sz="2600" b="1" dirty="0"/>
              <a:t>Sucrose preference test</a:t>
            </a:r>
            <a:r>
              <a:rPr lang="en-US" sz="2600" dirty="0"/>
              <a:t> – measures anhedonia</a:t>
            </a:r>
          </a:p>
        </p:txBody>
      </p:sp>
    </p:spTree>
    <p:extLst>
      <p:ext uri="{BB962C8B-B14F-4D97-AF65-F5344CB8AC3E}">
        <p14:creationId xmlns:p14="http://schemas.microsoft.com/office/powerpoint/2010/main" val="3269441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(14 of 18)</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90000"/>
              </a:lnSpc>
              <a:spcBef>
                <a:spcPts val="1200"/>
              </a:spcBef>
              <a:buNone/>
            </a:pPr>
            <a:r>
              <a:rPr lang="en-US" sz="3500" dirty="0"/>
              <a:t>A wide variety of behaviors are evaluated by psychopharmacologists</a:t>
            </a:r>
          </a:p>
          <a:p>
            <a:pPr marL="571500">
              <a:spcBef>
                <a:spcPts val="1800"/>
              </a:spcBef>
            </a:pPr>
            <a:r>
              <a:rPr lang="en-US" sz="2800" dirty="0"/>
              <a:t>Methods of assessing drug reward and reinforcement:</a:t>
            </a:r>
          </a:p>
          <a:p>
            <a:pPr marL="1263650" lvl="1" indent="-349250">
              <a:spcBef>
                <a:spcPts val="1800"/>
              </a:spcBef>
              <a:buFont typeface="Courier New" panose="02070309020205020404" pitchFamily="49" charset="0"/>
              <a:buChar char="o"/>
            </a:pPr>
            <a:r>
              <a:rPr lang="en-US" b="1" dirty="0"/>
              <a:t>Drug self-administration method</a:t>
            </a:r>
          </a:p>
          <a:p>
            <a:pPr marL="1263650" lvl="1" indent="-349250">
              <a:spcBef>
                <a:spcPts val="1800"/>
              </a:spcBef>
              <a:buFont typeface="Courier New" panose="02070309020205020404" pitchFamily="49" charset="0"/>
              <a:buChar char="o"/>
            </a:pPr>
            <a:r>
              <a:rPr lang="en-US" b="1" dirty="0"/>
              <a:t>Electrical self-stimulation</a:t>
            </a:r>
          </a:p>
          <a:p>
            <a:pPr marL="1263650" lvl="1" indent="-349250">
              <a:spcBef>
                <a:spcPts val="1800"/>
              </a:spcBef>
              <a:buFont typeface="Courier New" panose="02070309020205020404" pitchFamily="49" charset="0"/>
              <a:buChar char="o"/>
            </a:pPr>
            <a:r>
              <a:rPr lang="en-US" b="1" dirty="0"/>
              <a:t>Breakpoint</a:t>
            </a:r>
          </a:p>
          <a:p>
            <a:pPr marL="1263650" lvl="1" indent="-349250">
              <a:spcBef>
                <a:spcPts val="1800"/>
              </a:spcBef>
              <a:buFont typeface="Courier New" panose="02070309020205020404" pitchFamily="49" charset="0"/>
              <a:buChar char="o"/>
            </a:pPr>
            <a:r>
              <a:rPr lang="en-US" b="1" dirty="0"/>
              <a:t>Conditioned place preference</a:t>
            </a:r>
          </a:p>
          <a:p>
            <a:pPr marL="1263650" lvl="1" indent="-349250">
              <a:spcBef>
                <a:spcPts val="1800"/>
              </a:spcBef>
              <a:buFont typeface="Courier New" panose="02070309020205020404" pitchFamily="49" charset="0"/>
              <a:buChar char="o"/>
            </a:pPr>
            <a:r>
              <a:rPr lang="en-US" dirty="0"/>
              <a:t>Drugs as discriminative stimuli</a:t>
            </a:r>
          </a:p>
        </p:txBody>
      </p:sp>
    </p:spTree>
    <p:extLst>
      <p:ext uri="{BB962C8B-B14F-4D97-AF65-F5344CB8AC3E}">
        <p14:creationId xmlns:p14="http://schemas.microsoft.com/office/powerpoint/2010/main" val="142775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27A01-F449-3640-94A6-F9C3FC350BEC}"/>
              </a:ext>
            </a:extLst>
          </p:cNvPr>
          <p:cNvSpPr>
            <a:spLocks noGrp="1"/>
          </p:cNvSpPr>
          <p:nvPr>
            <p:ph type="title"/>
          </p:nvPr>
        </p:nvSpPr>
        <p:spPr/>
        <p:txBody>
          <a:bodyPr/>
          <a:lstStyle/>
          <a:p>
            <a:r>
              <a:rPr lang="en-US" cap="all" dirty="0"/>
              <a:t>FIGURE 4.11</a:t>
            </a:r>
            <a:r>
              <a:rPr lang="en-US" dirty="0"/>
              <a:t>  Drug discrimination testing </a:t>
            </a:r>
          </a:p>
        </p:txBody>
      </p:sp>
      <p:pic>
        <p:nvPicPr>
          <p:cNvPr id="6" name="Content Placeholder 5" descr="An illustration depicts drug discrimination testing in a rat. The left side depicts a drug injection being given to a rat. The post-injection interval is t minutes. The second part depicts a drug lever response of the rat choosing the drug over saline. The final part depicts the rat getting food from the food lever as a reward.&#10;&#10;An illustration depicts drug discrimination testing in a rat. The left side depicts a saline injection being given to a rat. The post-injection interval is t minutes. The second part depicts a saline lever response of the rat choosing the saline over the drug. The final part depicts the rat getting food from the food lever as a rewar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09822" y="479425"/>
            <a:ext cx="10172356" cy="6300788"/>
          </a:xfrm>
        </p:spPr>
      </p:pic>
    </p:spTree>
    <p:extLst>
      <p:ext uri="{BB962C8B-B14F-4D97-AF65-F5344CB8AC3E}">
        <p14:creationId xmlns:p14="http://schemas.microsoft.com/office/powerpoint/2010/main" val="704608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(15 of 18)</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A wide variety of behaviors are evaluated by psychopharmacologists</a:t>
            </a:r>
          </a:p>
          <a:p>
            <a:pPr marL="571500">
              <a:spcBef>
                <a:spcPts val="1800"/>
              </a:spcBef>
            </a:pPr>
            <a:r>
              <a:rPr lang="en-US" sz="2800" dirty="0"/>
              <a:t>New technologies such as </a:t>
            </a:r>
            <a:r>
              <a:rPr lang="en-US" sz="2800" b="1" dirty="0"/>
              <a:t>computer vision </a:t>
            </a:r>
            <a:r>
              <a:rPr lang="en-US" sz="2800" dirty="0"/>
              <a:t>are used to quantify behavior.</a:t>
            </a:r>
          </a:p>
          <a:p>
            <a:pPr marL="571500">
              <a:spcBef>
                <a:spcPts val="1800"/>
              </a:spcBef>
            </a:pPr>
            <a:r>
              <a:rPr lang="en-US" sz="2800" dirty="0"/>
              <a:t>Artificial intelligence algorithms are used to analyze video recordings of animals in habitat-based test environments.</a:t>
            </a:r>
          </a:p>
          <a:p>
            <a:pPr marL="571500">
              <a:spcBef>
                <a:spcPts val="1800"/>
              </a:spcBef>
            </a:pPr>
            <a:r>
              <a:rPr lang="en-US" sz="2800" dirty="0"/>
              <a:t>Behavioral data is also collected from humans, using commonly available wearable sensor technology.</a:t>
            </a:r>
          </a:p>
        </p:txBody>
      </p:sp>
    </p:spTree>
    <p:extLst>
      <p:ext uri="{BB962C8B-B14F-4D97-AF65-F5344CB8AC3E}">
        <p14:creationId xmlns:p14="http://schemas.microsoft.com/office/powerpoint/2010/main" val="1247100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73F2-954D-4441-B746-2425CD4D2096}"/>
              </a:ext>
            </a:extLst>
          </p:cNvPr>
          <p:cNvSpPr>
            <a:spLocks noGrp="1"/>
          </p:cNvSpPr>
          <p:nvPr>
            <p:ph type="title"/>
          </p:nvPr>
        </p:nvSpPr>
        <p:spPr/>
        <p:txBody>
          <a:bodyPr/>
          <a:lstStyle/>
          <a:p>
            <a:r>
              <a:rPr lang="en-US" cap="all" dirty="0"/>
              <a:t>FIGURE 4.12</a:t>
            </a:r>
            <a:r>
              <a:rPr lang="en-US" dirty="0"/>
              <a:t>  Automated analysis of behavior with computer vision </a:t>
            </a:r>
            <a:r>
              <a:rPr lang="en-US" sz="1100" dirty="0"/>
              <a:t>(1)</a:t>
            </a:r>
          </a:p>
        </p:txBody>
      </p:sp>
      <p:pic>
        <p:nvPicPr>
          <p:cNvPr id="6" name="Content Placeholder 5" descr="A photo of a rat has computer analytics points marked. The photo is in the background and automated analysis of behavior patterns is marked. The past points are marked from bottom right to top left and future trajectory is marked to end at top left. Text at bottom right points to various rhombi drawn and reads, rhombi indicate body postures of the snout, ears, and tail base at various time point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561286"/>
            <a:ext cx="11376025" cy="6137066"/>
          </a:xfrm>
        </p:spPr>
      </p:pic>
    </p:spTree>
    <p:extLst>
      <p:ext uri="{BB962C8B-B14F-4D97-AF65-F5344CB8AC3E}">
        <p14:creationId xmlns:p14="http://schemas.microsoft.com/office/powerpoint/2010/main" val="2771085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(16 of 18)</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A wide variety of behaviors are evaluated by psychopharmacologists</a:t>
            </a:r>
          </a:p>
          <a:p>
            <a:pPr marL="571500">
              <a:spcBef>
                <a:spcPts val="1800"/>
              </a:spcBef>
            </a:pPr>
            <a:r>
              <a:rPr lang="en-US" altLang="en-US" sz="2800" dirty="0"/>
              <a:t>Translational research: transforming discoveries from basic neuroscience research into clinical applications</a:t>
            </a:r>
          </a:p>
          <a:p>
            <a:pPr marL="571500">
              <a:spcBef>
                <a:spcPts val="1800"/>
              </a:spcBef>
            </a:pPr>
            <a:r>
              <a:rPr lang="en-US" altLang="en-US" sz="2800" dirty="0"/>
              <a:t>Because human clinical trials are lengthy and expensive, recent emphasis has been on improving predictability of therapeutic drug effects based on animal research.</a:t>
            </a:r>
            <a:endParaRPr lang="en-US" sz="2800" dirty="0"/>
          </a:p>
        </p:txBody>
      </p:sp>
    </p:spTree>
    <p:extLst>
      <p:ext uri="{BB962C8B-B14F-4D97-AF65-F5344CB8AC3E}">
        <p14:creationId xmlns:p14="http://schemas.microsoft.com/office/powerpoint/2010/main" val="2573802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(17 of 18)</a:t>
            </a:r>
            <a:endParaRPr lang="en-US" dirty="0"/>
          </a:p>
        </p:txBody>
      </p:sp>
      <p:sp>
        <p:nvSpPr>
          <p:cNvPr id="3" name="Text Placeholder 2"/>
          <p:cNvSpPr>
            <a:spLocks noGrp="1"/>
          </p:cNvSpPr>
          <p:nvPr>
            <p:ph idx="1"/>
          </p:nvPr>
        </p:nvSpPr>
        <p:spPr/>
        <p:txBody>
          <a:bodyPr/>
          <a:lstStyle/>
          <a:p>
            <a:pPr marL="0" indent="0">
              <a:spcBef>
                <a:spcPts val="1800"/>
              </a:spcBef>
              <a:buNone/>
            </a:pPr>
            <a:r>
              <a:rPr lang="en-US" sz="2400" u="sng" dirty="0"/>
              <a:t>BOX 4.1  CLINICAL APPLICATIONS</a:t>
            </a:r>
          </a:p>
          <a:p>
            <a:pPr marL="0" indent="0">
              <a:spcBef>
                <a:spcPts val="1800"/>
              </a:spcBef>
              <a:buNone/>
            </a:pPr>
            <a:r>
              <a:rPr lang="en-US" i="1" dirty="0"/>
              <a:t>Drug Testing for FDA Approval</a:t>
            </a:r>
          </a:p>
          <a:p>
            <a:pPr marL="571500">
              <a:spcBef>
                <a:spcPts val="1800"/>
              </a:spcBef>
            </a:pPr>
            <a:r>
              <a:rPr lang="en-US" altLang="en-US" sz="2800" dirty="0"/>
              <a:t>All new drugs produced and sold in the United States must be approved by the Food and Drug Administration (FDA).</a:t>
            </a:r>
          </a:p>
          <a:p>
            <a:pPr marL="571500">
              <a:spcBef>
                <a:spcPts val="1800"/>
              </a:spcBef>
            </a:pPr>
            <a:r>
              <a:rPr lang="en-US" altLang="en-US" sz="2800" dirty="0"/>
              <a:t>They must be demonstrated to be both effective and safe.</a:t>
            </a:r>
          </a:p>
          <a:p>
            <a:pPr marL="571500">
              <a:spcBef>
                <a:spcPts val="1800"/>
              </a:spcBef>
            </a:pPr>
            <a:r>
              <a:rPr lang="en-US" altLang="en-US" sz="2800" dirty="0"/>
              <a:t>About 20% of new drugs being tested reach final approval, and 80% are eliminated.</a:t>
            </a:r>
          </a:p>
        </p:txBody>
      </p:sp>
    </p:spTree>
    <p:extLst>
      <p:ext uri="{BB962C8B-B14F-4D97-AF65-F5344CB8AC3E}">
        <p14:creationId xmlns:p14="http://schemas.microsoft.com/office/powerpoint/2010/main" val="3563405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E8EC-5F63-2C4A-82FE-0FB3C4040BF8}"/>
              </a:ext>
            </a:extLst>
          </p:cNvPr>
          <p:cNvSpPr>
            <a:spLocks noGrp="1"/>
          </p:cNvSpPr>
          <p:nvPr>
            <p:ph type="title"/>
          </p:nvPr>
        </p:nvSpPr>
        <p:spPr/>
        <p:txBody>
          <a:bodyPr/>
          <a:lstStyle/>
          <a:p>
            <a:r>
              <a:rPr lang="en-US" cap="all" dirty="0"/>
              <a:t>Box 4.1  </a:t>
            </a:r>
            <a:r>
              <a:rPr lang="en-US" dirty="0"/>
              <a:t>Clinical Applications: </a:t>
            </a:r>
            <a:r>
              <a:rPr lang="en-GB" dirty="0"/>
              <a:t>Drug Testing for FDA Approval</a:t>
            </a:r>
            <a:endParaRPr lang="en-US" dirty="0"/>
          </a:p>
        </p:txBody>
      </p:sp>
      <p:pic>
        <p:nvPicPr>
          <p:cNvPr id="6" name="Content Placeholder 5" descr="A timeline graph depicts the typical time taken for drug development. The X axis measures time duration in years across 4 phases. The first phase is: at least 5 years. Data at left reads as follows. Stages: Preclinical research. Procedure: Discovery and early in vitro screening of compound; large-scale synthesis; animal testing. Arrow pointer at this point reads: investigational new drug application sent to FDA. The second stage is: 7 years. Data reads: Stage: clinical studies; phase 1: 1.5 years; phase 2: 2 years; phase 3: 3.5 years. Arrow pointer at this stage reads: new drug application sent to FDA. Next phase is 1.5 years. Stage: Review by FDA. Arrow pointer at this stage reads: Approval. The last phase is: Ongoing. Data reads as follows. Stage: Postmarketing surveillance. Procedure: Monitor adverse reactions, product defects, long-tern side effects, drug interaction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484341"/>
            <a:ext cx="11376025" cy="4290956"/>
          </a:xfrm>
        </p:spPr>
      </p:pic>
    </p:spTree>
    <p:extLst>
      <p:ext uri="{BB962C8B-B14F-4D97-AF65-F5344CB8AC3E}">
        <p14:creationId xmlns:p14="http://schemas.microsoft.com/office/powerpoint/2010/main" val="969251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Behavioral Pharmacology </a:t>
            </a:r>
            <a:r>
              <a:rPr lang="en-US" sz="1200" dirty="0"/>
              <a:t>(18 of 18)</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dirty="0"/>
              <a:t>Which of the following is a test for depressive-like behavior?</a:t>
            </a:r>
          </a:p>
          <a:p>
            <a:pPr marL="914400" indent="-457200">
              <a:spcBef>
                <a:spcPts val="1200"/>
              </a:spcBef>
              <a:buFont typeface="Arial" pitchFamily="34" charset="0"/>
              <a:buAutoNum type="alphaLcPeriod"/>
            </a:pPr>
            <a:r>
              <a:rPr lang="en-US" dirty="0"/>
              <a:t>Elevated-plus maze</a:t>
            </a:r>
          </a:p>
          <a:p>
            <a:pPr marL="914400" indent="-457200">
              <a:spcBef>
                <a:spcPts val="1200"/>
              </a:spcBef>
              <a:buFont typeface="Arial" pitchFamily="34" charset="0"/>
              <a:buAutoNum type="alphaLcPeriod"/>
            </a:pPr>
            <a:r>
              <a:rPr lang="en-US" dirty="0"/>
              <a:t>Forced swim test</a:t>
            </a:r>
          </a:p>
          <a:p>
            <a:pPr marL="914400" indent="-457200">
              <a:spcBef>
                <a:spcPts val="1200"/>
              </a:spcBef>
              <a:buFont typeface="Arial" pitchFamily="34" charset="0"/>
              <a:buAutoNum type="alphaLcPeriod"/>
            </a:pPr>
            <a:r>
              <a:rPr lang="en-US" dirty="0"/>
              <a:t>Light-dark crossing task</a:t>
            </a:r>
          </a:p>
          <a:p>
            <a:pPr marL="914400" indent="-457200">
              <a:spcBef>
                <a:spcPts val="1200"/>
              </a:spcBef>
              <a:buFont typeface="Arial" pitchFamily="34" charset="0"/>
              <a:buAutoNum type="alphaLcPeriod"/>
            </a:pPr>
            <a:r>
              <a:rPr lang="en-US" dirty="0"/>
              <a:t>Catalepsy test</a:t>
            </a:r>
          </a:p>
        </p:txBody>
      </p:sp>
    </p:spTree>
    <p:extLst>
      <p:ext uri="{BB962C8B-B14F-4D97-AF65-F5344CB8AC3E}">
        <p14:creationId xmlns:p14="http://schemas.microsoft.com/office/powerpoint/2010/main" val="2244686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3)</a:t>
            </a:r>
            <a:endParaRPr lang="en-US" dirty="0"/>
          </a:p>
        </p:txBody>
      </p:sp>
      <p:sp>
        <p:nvSpPr>
          <p:cNvPr id="3" name="Text Placeholder 2"/>
          <p:cNvSpPr>
            <a:spLocks noGrp="1"/>
          </p:cNvSpPr>
          <p:nvPr>
            <p:ph idx="1"/>
          </p:nvPr>
        </p:nvSpPr>
        <p:spPr/>
        <p:txBody>
          <a:bodyPr>
            <a:normAutofit fontScale="85000" lnSpcReduction="20000"/>
          </a:bodyPr>
          <a:lstStyle/>
          <a:p>
            <a:pPr marL="914400" indent="-914400">
              <a:spcBef>
                <a:spcPts val="1200"/>
              </a:spcBef>
              <a:buNone/>
            </a:pPr>
            <a:r>
              <a:rPr lang="en-US" dirty="0"/>
              <a:t>4.1.1 Describe the advantages of using animal subjects over human participants in neurobiological research.</a:t>
            </a:r>
          </a:p>
          <a:p>
            <a:pPr marL="914400" indent="-914400">
              <a:spcBef>
                <a:spcPts val="1200"/>
              </a:spcBef>
              <a:buNone/>
            </a:pPr>
            <a:r>
              <a:rPr lang="en-US" dirty="0"/>
              <a:t>4.1.2 Describe how researchers evaluate and optimize behavioral tests in non-human animals with respect to face, predictive, and construct validity. </a:t>
            </a:r>
          </a:p>
          <a:p>
            <a:pPr marL="914400" indent="-914400">
              <a:spcBef>
                <a:spcPts val="1200"/>
              </a:spcBef>
              <a:buNone/>
            </a:pPr>
            <a:r>
              <a:rPr lang="en-US" dirty="0"/>
              <a:t>4.1.3 Identify and describe animal behavior tests commonly used to evaluate learning and memory; analgesia; anxiety- and depression-like behavior; and the abuse liability of drugs.</a:t>
            </a:r>
          </a:p>
          <a:p>
            <a:pPr marL="914400" indent="-914400">
              <a:spcBef>
                <a:spcPts val="1200"/>
              </a:spcBef>
              <a:buNone/>
            </a:pPr>
            <a:r>
              <a:rPr lang="en-US" dirty="0"/>
              <a:t>4.1.4 Describe how technological advances in bioinformatics, such as computer vision, can be utilized to describe behavioral signatures of drug effects. </a:t>
            </a:r>
          </a:p>
        </p:txBody>
      </p:sp>
    </p:spTree>
    <p:extLst>
      <p:ext uri="{BB962C8B-B14F-4D97-AF65-F5344CB8AC3E}">
        <p14:creationId xmlns:p14="http://schemas.microsoft.com/office/powerpoint/2010/main" val="4205134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 of 20)</a:t>
            </a:r>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Multiple neurobiological techniques are necessary for the most productive research in psychopharmacology.</a:t>
            </a:r>
          </a:p>
          <a:p>
            <a:pPr marL="571500">
              <a:spcBef>
                <a:spcPts val="1800"/>
              </a:spcBef>
            </a:pPr>
            <a:r>
              <a:rPr lang="en-US" sz="2800" dirty="0"/>
              <a:t>Stereotaxic surgery is needed for accurate in vivo measures of brain function:</a:t>
            </a:r>
          </a:p>
          <a:p>
            <a:pPr marL="1263650" lvl="1" indent="-349250">
              <a:spcBef>
                <a:spcPts val="1800"/>
              </a:spcBef>
              <a:buFont typeface="Courier New" panose="02070309020205020404" pitchFamily="49" charset="0"/>
              <a:buChar char="o"/>
            </a:pPr>
            <a:r>
              <a:rPr lang="en-US" dirty="0"/>
              <a:t>Devices can be implanted in the brain with precision</a:t>
            </a:r>
          </a:p>
          <a:p>
            <a:pPr marL="1263650" lvl="1" indent="-349250">
              <a:spcBef>
                <a:spcPts val="1800"/>
              </a:spcBef>
              <a:buFont typeface="Courier New" panose="02070309020205020404" pitchFamily="49" charset="0"/>
              <a:buChar char="o"/>
            </a:pPr>
            <a:r>
              <a:rPr lang="en-US" dirty="0"/>
              <a:t>Brain site coordinates are calculated using a brain atlas</a:t>
            </a:r>
          </a:p>
          <a:p>
            <a:pPr marL="1263650" lvl="1" indent="-349250">
              <a:spcBef>
                <a:spcPts val="1800"/>
              </a:spcBef>
              <a:buFont typeface="Courier New" panose="02070309020205020404" pitchFamily="49" charset="0"/>
              <a:buChar char="o"/>
            </a:pPr>
            <a:r>
              <a:rPr lang="en-US" altLang="en-US" dirty="0"/>
              <a:t>A similar apparatus is used for human brain surgery</a:t>
            </a:r>
          </a:p>
        </p:txBody>
      </p:sp>
    </p:spTree>
    <p:extLst>
      <p:ext uri="{BB962C8B-B14F-4D97-AF65-F5344CB8AC3E}">
        <p14:creationId xmlns:p14="http://schemas.microsoft.com/office/powerpoint/2010/main" val="1064793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BF46-8C83-9244-8CEC-9331539EB9D0}"/>
              </a:ext>
            </a:extLst>
          </p:cNvPr>
          <p:cNvSpPr>
            <a:spLocks noGrp="1"/>
          </p:cNvSpPr>
          <p:nvPr>
            <p:ph type="title"/>
          </p:nvPr>
        </p:nvSpPr>
        <p:spPr/>
        <p:txBody>
          <a:bodyPr/>
          <a:lstStyle/>
          <a:p>
            <a:r>
              <a:rPr lang="en-US" cap="all" dirty="0"/>
              <a:t>FIGURE 4.13</a:t>
            </a:r>
            <a:r>
              <a:rPr lang="en-US" dirty="0"/>
              <a:t>  Stereotaxic surgery </a:t>
            </a:r>
          </a:p>
        </p:txBody>
      </p:sp>
      <p:pic>
        <p:nvPicPr>
          <p:cNvPr id="6" name="Content Placeholder 5" descr="An illustration of a stereotaxic device holding a rat. Parts are named from top to bottom as follows: Carrier pointing to three rods at the top; positioning knobs referring to the knobs at the end of the carriers; directional tilt referring to the tilting knob; incisor bar referring to the bar holding the rat's mouth; base at the bottom; ear bars holding the ears at both sides; and probe holder at the top of the rat.&#10;&#10;A graph at left with a longitudinal section of the brain. The X axis measures millimeters from 8 through 0 with decrements of 2. The Y axis measures millimeters from 6 through 0 and back again through 6 with increments of 2. A line flows from about 2.5 of the X axis and another line meets this from about negative 0.5 on the Y axis. Both these points meet at the left bottom quadrant of the brain.&#10;&#10;An illustration depicts a stereotaxic device for a human with a probe about to enter a man's shaved head from the left sid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736845" y="479425"/>
            <a:ext cx="6718310" cy="6300788"/>
          </a:xfrm>
        </p:spPr>
      </p:pic>
    </p:spTree>
    <p:extLst>
      <p:ext uri="{BB962C8B-B14F-4D97-AF65-F5344CB8AC3E}">
        <p14:creationId xmlns:p14="http://schemas.microsoft.com/office/powerpoint/2010/main" val="4119037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(2 of 20)</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sz="3500" dirty="0"/>
              <a:t>Stereotaxic surgery is needed for accurate in vivo measures of brain function</a:t>
            </a:r>
          </a:p>
          <a:p>
            <a:pPr marL="571500">
              <a:spcBef>
                <a:spcPts val="1800"/>
              </a:spcBef>
            </a:pPr>
            <a:r>
              <a:rPr lang="en-US" sz="3000" b="1" dirty="0"/>
              <a:t>Lesioning</a:t>
            </a:r>
            <a:r>
              <a:rPr lang="en-US" sz="3000" dirty="0"/>
              <a:t>: an electrode is inserted to destroy brain tissue; behavior before and after is evaluated</a:t>
            </a:r>
          </a:p>
          <a:p>
            <a:pPr marL="571500">
              <a:spcBef>
                <a:spcPts val="1800"/>
              </a:spcBef>
            </a:pPr>
            <a:r>
              <a:rPr lang="en-US" sz="3000" b="1" dirty="0"/>
              <a:t>Neurotoxins</a:t>
            </a:r>
            <a:r>
              <a:rPr lang="en-US" sz="3000" dirty="0"/>
              <a:t> can be injected via a cannula to destroy cells</a:t>
            </a:r>
          </a:p>
          <a:p>
            <a:pPr marL="571500">
              <a:spcBef>
                <a:spcPts val="1800"/>
              </a:spcBef>
            </a:pPr>
            <a:r>
              <a:rPr lang="en-US" sz="3000" dirty="0"/>
              <a:t>Cannulas can be used to administer drugs or neuro-transmitters that stimulate cells </a:t>
            </a:r>
          </a:p>
          <a:p>
            <a:pPr marL="571500">
              <a:spcBef>
                <a:spcPts val="1800"/>
              </a:spcBef>
            </a:pPr>
            <a:r>
              <a:rPr lang="en-US" sz="3000" b="1" dirty="0"/>
              <a:t>Specific neurotoxins </a:t>
            </a:r>
            <a:r>
              <a:rPr lang="en-US" sz="3000" dirty="0"/>
              <a:t>are for different neural pathways that use particular neurotransmitters</a:t>
            </a:r>
          </a:p>
        </p:txBody>
      </p:sp>
    </p:spTree>
    <p:extLst>
      <p:ext uri="{BB962C8B-B14F-4D97-AF65-F5344CB8AC3E}">
        <p14:creationId xmlns:p14="http://schemas.microsoft.com/office/powerpoint/2010/main" val="2741845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(3 of 20)</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Stereotaxic surgery is needed for accurate in vivo measures of brain function</a:t>
            </a:r>
          </a:p>
          <a:p>
            <a:pPr marL="571500">
              <a:spcBef>
                <a:spcPts val="1800"/>
              </a:spcBef>
            </a:pPr>
            <a:r>
              <a:rPr lang="en-US" sz="2800" b="1" dirty="0" err="1"/>
              <a:t>Microdialysis</a:t>
            </a:r>
            <a:r>
              <a:rPr lang="en-US" sz="2800" dirty="0"/>
              <a:t>: measurement of neurotransmitters released in a specific brain region while the subject is actively engaged in behavior </a:t>
            </a:r>
          </a:p>
          <a:p>
            <a:pPr marL="571500">
              <a:spcBef>
                <a:spcPts val="1800"/>
              </a:spcBef>
            </a:pPr>
            <a:r>
              <a:rPr lang="en-US" altLang="en-US" sz="2800" b="1" dirty="0"/>
              <a:t>In vivo voltammetry</a:t>
            </a:r>
            <a:r>
              <a:rPr lang="en-US" altLang="en-US" sz="2800" dirty="0"/>
              <a:t>: implanted microelectrodes measure neurochemicals in extracellular fluid of freely moving animals</a:t>
            </a:r>
            <a:endParaRPr lang="en-US" sz="2800" dirty="0"/>
          </a:p>
        </p:txBody>
      </p:sp>
    </p:spTree>
    <p:extLst>
      <p:ext uri="{BB962C8B-B14F-4D97-AF65-F5344CB8AC3E}">
        <p14:creationId xmlns:p14="http://schemas.microsoft.com/office/powerpoint/2010/main" val="3095323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C267-1A67-F74C-9614-2B4B93F3D34F}"/>
              </a:ext>
            </a:extLst>
          </p:cNvPr>
          <p:cNvSpPr>
            <a:spLocks noGrp="1"/>
          </p:cNvSpPr>
          <p:nvPr>
            <p:ph type="title"/>
          </p:nvPr>
        </p:nvSpPr>
        <p:spPr/>
        <p:txBody>
          <a:bodyPr/>
          <a:lstStyle/>
          <a:p>
            <a:r>
              <a:rPr lang="en-US" cap="all" dirty="0"/>
              <a:t>FIGURE 4.14</a:t>
            </a:r>
            <a:r>
              <a:rPr lang="en-US" dirty="0"/>
              <a:t>  Sampling of extracellular fluid with </a:t>
            </a:r>
            <a:r>
              <a:rPr lang="en-US" dirty="0" err="1"/>
              <a:t>microdialysis</a:t>
            </a:r>
            <a:r>
              <a:rPr lang="en-US" dirty="0"/>
              <a:t>  </a:t>
            </a:r>
          </a:p>
        </p:txBody>
      </p:sp>
      <p:pic>
        <p:nvPicPr>
          <p:cNvPr id="6" name="Content Placeholder 5" descr="An illustration depicts sampling of extracellular fluid with microdialysis from a rat. CSF is pumped into the probe through inlet tubing from top left. The tubing leads to the rat's head. An outlet tube moves out toward top right and CSF sample is collected.&#10;&#10;An illustration of a microdialysis probe. The probe at left has an inlet and outlet, both connected via a shaft and a semipermeable membrane at the bottom. Inset image of the membrane depicts the inlet enveloped by the outlet at the top. Brain tissue covers the outlet. Molecules are diffused across the semipermeable membra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566996" y="479425"/>
            <a:ext cx="11058009" cy="6300788"/>
          </a:xfrm>
        </p:spPr>
      </p:pic>
    </p:spTree>
    <p:extLst>
      <p:ext uri="{BB962C8B-B14F-4D97-AF65-F5344CB8AC3E}">
        <p14:creationId xmlns:p14="http://schemas.microsoft.com/office/powerpoint/2010/main" val="27764957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a:t>Techniques in Neuropharmacology (4 of 20)</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Stereotaxic surgery is needed for accurate in vivo measures of brain function</a:t>
            </a:r>
          </a:p>
          <a:p>
            <a:pPr marL="571500">
              <a:spcBef>
                <a:spcPts val="1800"/>
              </a:spcBef>
            </a:pPr>
            <a:r>
              <a:rPr lang="en-US" sz="2800" dirty="0"/>
              <a:t>Implanted </a:t>
            </a:r>
            <a:r>
              <a:rPr lang="en-US" sz="2800" b="1" dirty="0"/>
              <a:t>macroelectrodes</a:t>
            </a:r>
            <a:r>
              <a:rPr lang="en-US" sz="2800" dirty="0"/>
              <a:t>: e</a:t>
            </a:r>
            <a:r>
              <a:rPr lang="en-US" altLang="en-US" sz="2800" dirty="0"/>
              <a:t>lectrical stimulation produces effects similar to neurotransmitter injection</a:t>
            </a:r>
          </a:p>
          <a:p>
            <a:pPr marL="571500">
              <a:spcBef>
                <a:spcPts val="1800"/>
              </a:spcBef>
            </a:pPr>
            <a:r>
              <a:rPr lang="en-US" sz="2800" dirty="0"/>
              <a:t>Can also record summated electrical response of thousands of neurons in a specific brain region</a:t>
            </a:r>
          </a:p>
          <a:p>
            <a:pPr marL="571500">
              <a:spcBef>
                <a:spcPts val="1800"/>
              </a:spcBef>
            </a:pPr>
            <a:r>
              <a:rPr lang="en-US" sz="2800" dirty="0"/>
              <a:t>Have been adapted to treat Parkinson’s disease – small pulses of electrical current applied to the subthalamic nucleus reduces tremor</a:t>
            </a:r>
          </a:p>
        </p:txBody>
      </p:sp>
    </p:spTree>
    <p:extLst>
      <p:ext uri="{BB962C8B-B14F-4D97-AF65-F5344CB8AC3E}">
        <p14:creationId xmlns:p14="http://schemas.microsoft.com/office/powerpoint/2010/main" val="3469074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(5 of 20)</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Stereotaxic surgery is needed for accurate in vivo measures of brain function</a:t>
            </a:r>
          </a:p>
          <a:p>
            <a:pPr marL="571500">
              <a:spcBef>
                <a:spcPts val="1800"/>
              </a:spcBef>
            </a:pPr>
            <a:r>
              <a:rPr lang="en-US" altLang="en-US" sz="2800" b="1" dirty="0"/>
              <a:t>Microelectrodes</a:t>
            </a:r>
            <a:r>
              <a:rPr lang="en-US" altLang="en-US" sz="2800" dirty="0"/>
              <a:t> can be implanted into a single cell (</a:t>
            </a:r>
            <a:r>
              <a:rPr lang="en-US" altLang="en-US" sz="2800" b="1" dirty="0"/>
              <a:t>intracellular recording</a:t>
            </a:r>
            <a:r>
              <a:rPr lang="en-US" altLang="en-US" sz="2800" dirty="0"/>
              <a:t>) or into the extracellular fluid near a single cell (</a:t>
            </a:r>
            <a:r>
              <a:rPr lang="en-US" altLang="en-US" sz="2800" b="1" dirty="0"/>
              <a:t>extracellular recording</a:t>
            </a:r>
            <a:r>
              <a:rPr lang="en-US" altLang="en-US" sz="2800" dirty="0"/>
              <a:t>)</a:t>
            </a:r>
          </a:p>
          <a:p>
            <a:pPr marL="571500">
              <a:spcBef>
                <a:spcPts val="1800"/>
              </a:spcBef>
            </a:pPr>
            <a:r>
              <a:rPr lang="en-US" altLang="en-US" sz="2800" b="1" dirty="0"/>
              <a:t>Patch clamp electrophysiology</a:t>
            </a:r>
            <a:r>
              <a:rPr lang="en-US" altLang="en-US" sz="2800" dirty="0"/>
              <a:t>: allows study of individual ion channels</a:t>
            </a:r>
          </a:p>
        </p:txBody>
      </p:sp>
    </p:spTree>
    <p:extLst>
      <p:ext uri="{BB962C8B-B14F-4D97-AF65-F5344CB8AC3E}">
        <p14:creationId xmlns:p14="http://schemas.microsoft.com/office/powerpoint/2010/main" val="3032797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Techniques in Neuropharmacology </a:t>
            </a:r>
            <a:r>
              <a:rPr lang="en-US" sz="1200" dirty="0"/>
              <a:t>(6 of 20)</a:t>
            </a:r>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Neurotransmitters, receptors, and other proteins can be quantified and visually located in the CNS</a:t>
            </a:r>
          </a:p>
          <a:p>
            <a:pPr marL="571500">
              <a:spcBef>
                <a:spcPts val="1800"/>
              </a:spcBef>
            </a:pPr>
            <a:r>
              <a:rPr lang="ja-JP" altLang="en-US" sz="2800" dirty="0"/>
              <a:t>“</a:t>
            </a:r>
            <a:r>
              <a:rPr lang="en-US" altLang="ja-JP" sz="2800" dirty="0"/>
              <a:t>Soup</a:t>
            </a:r>
            <a:r>
              <a:rPr lang="ja-JP" altLang="en-US" sz="2800" dirty="0"/>
              <a:t>”</a:t>
            </a:r>
            <a:r>
              <a:rPr lang="en-US" altLang="ja-JP" sz="2800" dirty="0"/>
              <a:t> method (tissue extract assay): isolates and grinds tissue sample to form a homogenate, which can be analyzed</a:t>
            </a:r>
          </a:p>
          <a:p>
            <a:pPr marL="571500">
              <a:spcBef>
                <a:spcPts val="1800"/>
              </a:spcBef>
            </a:pPr>
            <a:r>
              <a:rPr lang="ja-JP" altLang="en-US" sz="2800" dirty="0"/>
              <a:t>“</a:t>
            </a:r>
            <a:r>
              <a:rPr lang="en-US" altLang="ja-JP" sz="2800" dirty="0"/>
              <a:t>Slice</a:t>
            </a:r>
            <a:r>
              <a:rPr lang="ja-JP" altLang="en-US" sz="2800" dirty="0"/>
              <a:t>”</a:t>
            </a:r>
            <a:r>
              <a:rPr lang="en-US" altLang="ja-JP" sz="2800" dirty="0"/>
              <a:t> method (brain slice preparation): uses intact piece or slice of tissue for visualization </a:t>
            </a:r>
          </a:p>
        </p:txBody>
      </p:sp>
    </p:spTree>
    <p:extLst>
      <p:ext uri="{BB962C8B-B14F-4D97-AF65-F5344CB8AC3E}">
        <p14:creationId xmlns:p14="http://schemas.microsoft.com/office/powerpoint/2010/main" val="687791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(7 of 20)</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dirty="0"/>
              <a:t>Neurotransmitters, receptors, and other proteins can be quantified and visually located in the CNS</a:t>
            </a:r>
          </a:p>
          <a:p>
            <a:pPr marL="571500">
              <a:spcBef>
                <a:spcPts val="1800"/>
              </a:spcBef>
            </a:pPr>
            <a:r>
              <a:rPr lang="en-US" sz="2800" b="1" dirty="0"/>
              <a:t>Radioligand binding</a:t>
            </a:r>
            <a:r>
              <a:rPr lang="en-US" sz="2800" dirty="0"/>
              <a:t>: amount of bound ligand </a:t>
            </a:r>
            <a:r>
              <a:rPr lang="en-US" altLang="en-US" sz="2800" dirty="0"/>
              <a:t>reflects the number of receptors in the tissue.</a:t>
            </a:r>
          </a:p>
          <a:p>
            <a:pPr marL="571500">
              <a:spcBef>
                <a:spcPts val="1800"/>
              </a:spcBef>
            </a:pPr>
            <a:r>
              <a:rPr lang="en-US" altLang="en-US" sz="2800" dirty="0"/>
              <a:t>Criteria to determine if ligand is binding to a specific receptor:</a:t>
            </a:r>
          </a:p>
          <a:p>
            <a:pPr marL="1263650" lvl="1" indent="-349250">
              <a:spcBef>
                <a:spcPts val="1800"/>
              </a:spcBef>
              <a:buFont typeface="Courier New" panose="02070309020205020404" pitchFamily="49" charset="0"/>
              <a:buChar char="o"/>
            </a:pPr>
            <a:r>
              <a:rPr lang="en-US" altLang="en-US" b="1" dirty="0"/>
              <a:t>Specificity</a:t>
            </a:r>
          </a:p>
          <a:p>
            <a:pPr marL="1263650" lvl="1" indent="-349250">
              <a:spcBef>
                <a:spcPts val="1800"/>
              </a:spcBef>
              <a:buFont typeface="Courier New" panose="02070309020205020404" pitchFamily="49" charset="0"/>
              <a:buChar char="o"/>
            </a:pPr>
            <a:r>
              <a:rPr lang="en-US" altLang="en-US" b="1" dirty="0"/>
              <a:t>Saturability</a:t>
            </a:r>
          </a:p>
          <a:p>
            <a:pPr marL="1263650" lvl="1" indent="-349250">
              <a:spcBef>
                <a:spcPts val="1800"/>
              </a:spcBef>
              <a:buFont typeface="Courier New" panose="02070309020205020404" pitchFamily="49" charset="0"/>
              <a:buChar char="o"/>
            </a:pPr>
            <a:r>
              <a:rPr lang="en-US" altLang="en-US" b="1" dirty="0"/>
              <a:t>Reversibility </a:t>
            </a:r>
            <a:r>
              <a:rPr lang="en-US" altLang="en-US" dirty="0"/>
              <a:t>and </a:t>
            </a:r>
            <a:r>
              <a:rPr lang="en-US" altLang="en-US" b="1" dirty="0"/>
              <a:t>high affinity</a:t>
            </a:r>
          </a:p>
          <a:p>
            <a:pPr marL="1263650" lvl="1" indent="-349250">
              <a:spcBef>
                <a:spcPts val="1800"/>
              </a:spcBef>
              <a:buFont typeface="Courier New" panose="02070309020205020404" pitchFamily="49" charset="0"/>
              <a:buChar char="o"/>
            </a:pPr>
            <a:r>
              <a:rPr lang="en-US" altLang="en-US" b="1" dirty="0"/>
              <a:t>Biological relevance</a:t>
            </a:r>
            <a:endParaRPr lang="en-US" b="1" dirty="0"/>
          </a:p>
        </p:txBody>
      </p:sp>
    </p:spTree>
    <p:extLst>
      <p:ext uri="{BB962C8B-B14F-4D97-AF65-F5344CB8AC3E}">
        <p14:creationId xmlns:p14="http://schemas.microsoft.com/office/powerpoint/2010/main" val="102789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5D84A-C022-B44D-A0F7-CD7133DC9E71}"/>
              </a:ext>
            </a:extLst>
          </p:cNvPr>
          <p:cNvSpPr>
            <a:spLocks noGrp="1"/>
          </p:cNvSpPr>
          <p:nvPr>
            <p:ph type="title"/>
          </p:nvPr>
        </p:nvSpPr>
        <p:spPr/>
        <p:txBody>
          <a:bodyPr/>
          <a:lstStyle/>
          <a:p>
            <a:r>
              <a:rPr lang="en-US" cap="all" dirty="0"/>
              <a:t>FIGURE 4.18</a:t>
            </a:r>
            <a:r>
              <a:rPr lang="en-US" dirty="0"/>
              <a:t>  Radioligand binding to receptors </a:t>
            </a:r>
          </a:p>
        </p:txBody>
      </p:sp>
      <p:pic>
        <p:nvPicPr>
          <p:cNvPr id="6" name="Content Placeholder 5" descr="A line graph depicts the radioligand binding to receptors. The X axis measures the radioligand concentration in M and the Y axis measures the specific binding in percentage of B subscript max, from 0 through 100 with increments of 50. The line graph starts from origin and moves at a 45-degree angle and tapers after touching 100 on the Y axis. This is named, B superscript max. A line from 50 on the Y axis meets the line graph and the point meeting the X axis is named as K superscript d.&#10;&#10;A line graph depicts the hypothetical association and dissociation curves. The X axis measures time in minutes from 0 through 90 with increments of 30. The Y axis measures specific binding percentage from 0 through 100. The line graph starts from origin, rises sharply and bends toward right sharply at about 10, 80 and then tapers and stays at 100 throughout. A pointer reads, unlabeled ligand added at about 40, 100. Another line graph starts from here and moves sharply downward and ends at about 57, 10. A line flows from about 10, 70 toward the top and is named, k subscript 1. Another line flows from left top toward right bottom and ends at about 45 on the X axis. This line is marked as k subscript negative 1."/>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98388" y="479425"/>
            <a:ext cx="9995225" cy="6300788"/>
          </a:xfrm>
        </p:spPr>
      </p:pic>
    </p:spTree>
    <p:extLst>
      <p:ext uri="{BB962C8B-B14F-4D97-AF65-F5344CB8AC3E}">
        <p14:creationId xmlns:p14="http://schemas.microsoft.com/office/powerpoint/2010/main" val="791447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Techniques in Neuropharmacology </a:t>
            </a:r>
            <a:r>
              <a:rPr lang="en-US" sz="1200" dirty="0"/>
              <a:t>(8 of 20)</a:t>
            </a:r>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Neurotransmitters, receptors, and other proteins can be quantified and visually located in the CNS</a:t>
            </a:r>
          </a:p>
          <a:p>
            <a:pPr marL="571500">
              <a:spcBef>
                <a:spcPts val="1800"/>
              </a:spcBef>
            </a:pPr>
            <a:r>
              <a:rPr lang="en-US" sz="2800" b="1" dirty="0"/>
              <a:t>Autoradiography</a:t>
            </a:r>
            <a:r>
              <a:rPr lang="en-US" sz="2800" dirty="0"/>
              <a:t>: radioligand is added to a tissue slice; shows </a:t>
            </a:r>
            <a:r>
              <a:rPr lang="en-US" altLang="en-US" sz="2800" dirty="0"/>
              <a:t>distribution of receptors in the brain.</a:t>
            </a:r>
          </a:p>
          <a:p>
            <a:pPr marL="571500">
              <a:spcBef>
                <a:spcPts val="1800"/>
              </a:spcBef>
            </a:pPr>
            <a:r>
              <a:rPr lang="en-US" altLang="en-US" sz="2800" b="1" dirty="0"/>
              <a:t>In vivo receptor binding</a:t>
            </a:r>
            <a:r>
              <a:rPr lang="en-US" altLang="en-US" sz="2800" dirty="0"/>
              <a:t>: animal is injected with radioligand while still alive</a:t>
            </a:r>
            <a:endParaRPr lang="en-US" sz="2800" dirty="0"/>
          </a:p>
        </p:txBody>
      </p:sp>
    </p:spTree>
    <p:extLst>
      <p:ext uri="{BB962C8B-B14F-4D97-AF65-F5344CB8AC3E}">
        <p14:creationId xmlns:p14="http://schemas.microsoft.com/office/powerpoint/2010/main" val="1304674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8E4D3-5DED-7844-9D15-FC046B890D4D}"/>
              </a:ext>
            </a:extLst>
          </p:cNvPr>
          <p:cNvSpPr>
            <a:spLocks noGrp="1"/>
          </p:cNvSpPr>
          <p:nvPr>
            <p:ph type="title"/>
          </p:nvPr>
        </p:nvSpPr>
        <p:spPr/>
        <p:txBody>
          <a:bodyPr/>
          <a:lstStyle/>
          <a:p>
            <a:r>
              <a:rPr lang="en-US" cap="all" dirty="0"/>
              <a:t>FIGURE 4.19</a:t>
            </a:r>
            <a:r>
              <a:rPr lang="en-US" dirty="0"/>
              <a:t>  Autoradiogram of the distribution of cocaine binding in monkey brain </a:t>
            </a:r>
          </a:p>
        </p:txBody>
      </p:sp>
      <p:pic>
        <p:nvPicPr>
          <p:cNvPr id="6" name="Content Placeholder 5" descr="An autoradiogram of a monkey brain depicts the cortex at left, caudate at the top right, putamen to its right, and amygdala at the bottom right. All of these areas are brightly colored to indicate the highest levels of cocaine binding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952410" y="479425"/>
            <a:ext cx="8287181" cy="6300788"/>
          </a:xfrm>
        </p:spPr>
      </p:pic>
    </p:spTree>
    <p:extLst>
      <p:ext uri="{BB962C8B-B14F-4D97-AF65-F5344CB8AC3E}">
        <p14:creationId xmlns:p14="http://schemas.microsoft.com/office/powerpoint/2010/main" val="657050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(9 of 20)</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dirty="0"/>
              <a:t>Neurotransmitters, receptors, and other proteins can be quantified and visually located in the CNS</a:t>
            </a:r>
          </a:p>
          <a:p>
            <a:pPr marL="571500">
              <a:spcBef>
                <a:spcPts val="1800"/>
              </a:spcBef>
            </a:pPr>
            <a:r>
              <a:rPr lang="en-US" sz="2800" dirty="0"/>
              <a:t>Assays of enzyme activity using antibodies produced to bind to specific proteins:</a:t>
            </a:r>
          </a:p>
          <a:p>
            <a:pPr marL="1263650" lvl="1" indent="-349250">
              <a:spcBef>
                <a:spcPts val="1800"/>
              </a:spcBef>
              <a:buFont typeface="Courier New" panose="02070309020205020404" pitchFamily="49" charset="0"/>
              <a:buChar char="o"/>
            </a:pPr>
            <a:r>
              <a:rPr lang="en-US" b="1" dirty="0"/>
              <a:t>Immunocytochemistry (ICC)</a:t>
            </a:r>
          </a:p>
          <a:p>
            <a:pPr marL="1263650" lvl="1" indent="-349250">
              <a:spcBef>
                <a:spcPts val="1800"/>
              </a:spcBef>
              <a:buFont typeface="Courier New" panose="02070309020205020404" pitchFamily="49" charset="0"/>
              <a:buChar char="o"/>
            </a:pPr>
            <a:r>
              <a:rPr lang="en-US" b="1" dirty="0"/>
              <a:t>Western blot</a:t>
            </a:r>
          </a:p>
          <a:p>
            <a:pPr marL="1263650" lvl="1" indent="-349250">
              <a:spcBef>
                <a:spcPts val="1800"/>
              </a:spcBef>
              <a:buFont typeface="Courier New" panose="02070309020205020404" pitchFamily="49" charset="0"/>
              <a:buChar char="o"/>
            </a:pPr>
            <a:r>
              <a:rPr lang="en-US" b="1" dirty="0"/>
              <a:t>Radioimmunoassay (RIA)</a:t>
            </a:r>
          </a:p>
          <a:p>
            <a:pPr marL="1263650" lvl="1" indent="-349250">
              <a:spcBef>
                <a:spcPts val="1800"/>
              </a:spcBef>
              <a:buFont typeface="Courier New" panose="02070309020205020404" pitchFamily="49" charset="0"/>
              <a:buChar char="o"/>
            </a:pPr>
            <a:r>
              <a:rPr lang="en-US" b="1" dirty="0"/>
              <a:t>Enzyme-linked immunosorbent assay (ELISA)</a:t>
            </a:r>
          </a:p>
        </p:txBody>
      </p:sp>
    </p:spTree>
    <p:extLst>
      <p:ext uri="{BB962C8B-B14F-4D97-AF65-F5344CB8AC3E}">
        <p14:creationId xmlns:p14="http://schemas.microsoft.com/office/powerpoint/2010/main" val="3752246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99521-E0BE-284A-97E3-FFB46F30B754}"/>
              </a:ext>
            </a:extLst>
          </p:cNvPr>
          <p:cNvSpPr>
            <a:spLocks noGrp="1"/>
          </p:cNvSpPr>
          <p:nvPr>
            <p:ph type="title"/>
          </p:nvPr>
        </p:nvSpPr>
        <p:spPr/>
        <p:txBody>
          <a:bodyPr/>
          <a:lstStyle/>
          <a:p>
            <a:r>
              <a:rPr lang="en-US" cap="all" dirty="0"/>
              <a:t>FIGURE 4.20</a:t>
            </a:r>
            <a:r>
              <a:rPr lang="en-US" dirty="0"/>
              <a:t>  Immunocytochemistry (ICC) uses tagged antibodies to locate molecules within cells </a:t>
            </a:r>
            <a:r>
              <a:rPr lang="en-US" sz="1100" dirty="0"/>
              <a:t>(1)</a:t>
            </a:r>
          </a:p>
        </p:txBody>
      </p:sp>
      <p:pic>
        <p:nvPicPr>
          <p:cNvPr id="6" name="Content Placeholder 5" descr="A flowchart depicts the steps in ICC localization. The topmost left shows a mouse being injected. Text reads: The protein is first injected into an animal that makes antibodies to the foreign material. Step 2 shows the blood containing the antibodies withdrawn from the animal. Step 3: The antibody is applied to tissue slices and then chemically tagged to make its presence visible under the microscope. Image shows a tissue on a piece of glass. An arrow points from here into a pair of neurons below. The left neuron is teeming with antigens. Text pointer reads: Only those neurons containing the antigen to which the tagged antibody binds are labeled. The right neuron does not have any antigens. Text pointer reads: Unlabeled neuron contains no antigen.&#10;&#10;A photo depicts cells containing the neuropeptide hypocretin in a lateral view of the hypothalamus. The cells are shown as dark blotches amidst a lighter environmen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629779" y="479425"/>
            <a:ext cx="8932442" cy="6300788"/>
          </a:xfrm>
        </p:spPr>
      </p:pic>
    </p:spTree>
    <p:extLst>
      <p:ext uri="{BB962C8B-B14F-4D97-AF65-F5344CB8AC3E}">
        <p14:creationId xmlns:p14="http://schemas.microsoft.com/office/powerpoint/2010/main" val="41955232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(10 of 20)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sz="3500" dirty="0"/>
              <a:t>Neurotransmitters, receptors, and other proteins can be quantified and visually located in the CNS</a:t>
            </a:r>
          </a:p>
          <a:p>
            <a:pPr marL="571500">
              <a:spcBef>
                <a:spcPts val="1800"/>
              </a:spcBef>
            </a:pPr>
            <a:r>
              <a:rPr lang="en-US" sz="3000" b="1" dirty="0"/>
              <a:t>In situ hybridization (ISH)</a:t>
            </a:r>
            <a:r>
              <a:rPr lang="en-US" sz="3000" dirty="0"/>
              <a:t> - locates cells in tissue slices that are manufacturing a particular protein or peptide, such as mRNAs</a:t>
            </a:r>
          </a:p>
          <a:p>
            <a:pPr marL="571500">
              <a:spcBef>
                <a:spcPts val="1800"/>
              </a:spcBef>
            </a:pPr>
            <a:r>
              <a:rPr lang="en-US" sz="3000" b="1" dirty="0"/>
              <a:t>DNA microarrays </a:t>
            </a:r>
            <a:r>
              <a:rPr lang="en-US" sz="3000" dirty="0"/>
              <a:t>measure expression of thousands of genes at the same time</a:t>
            </a:r>
          </a:p>
          <a:p>
            <a:pPr marL="571500">
              <a:spcBef>
                <a:spcPts val="1800"/>
              </a:spcBef>
            </a:pPr>
            <a:r>
              <a:rPr lang="en-US" sz="3000" b="1" dirty="0"/>
              <a:t>Genome-wide association studies (GWAS) </a:t>
            </a:r>
            <a:r>
              <a:rPr lang="en-US" sz="3000" dirty="0"/>
              <a:t>- </a:t>
            </a:r>
            <a:r>
              <a:rPr lang="en-US" altLang="en-US" sz="3000" dirty="0"/>
              <a:t>uses gene chips consisting of large sets of single-nucleotide polymorphisms (SNPs) to search for alleles associated with a disease or disorder</a:t>
            </a:r>
            <a:endParaRPr lang="en-US" sz="3000" dirty="0"/>
          </a:p>
        </p:txBody>
      </p:sp>
    </p:spTree>
    <p:extLst>
      <p:ext uri="{BB962C8B-B14F-4D97-AF65-F5344CB8AC3E}">
        <p14:creationId xmlns:p14="http://schemas.microsoft.com/office/powerpoint/2010/main" val="14054700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18C4-8632-F74B-B37E-7B65A53163BF}"/>
              </a:ext>
            </a:extLst>
          </p:cNvPr>
          <p:cNvSpPr>
            <a:spLocks noGrp="1"/>
          </p:cNvSpPr>
          <p:nvPr>
            <p:ph type="title"/>
          </p:nvPr>
        </p:nvSpPr>
        <p:spPr/>
        <p:txBody>
          <a:bodyPr/>
          <a:lstStyle/>
          <a:p>
            <a:r>
              <a:rPr lang="en-US" cap="all" dirty="0"/>
              <a:t>FIGURE 4.23</a:t>
            </a:r>
            <a:r>
              <a:rPr lang="en-US" dirty="0"/>
              <a:t>  In situ hybridization (ISH) </a:t>
            </a:r>
          </a:p>
        </p:txBody>
      </p:sp>
      <p:pic>
        <p:nvPicPr>
          <p:cNvPr id="6" name="Content Placeholder 5" descr="An illustration depicts a longitudinal section of the brain.&#10;&#10;An illustration depicts the D N A's double helix structure.&#10;&#10;An illustration depicts the D N A and m R N A strands within a D N A molecule.&#10;&#10;A three-part illustration has brain tissue on a slide at the top. This leads to the second section with two neurons, one of which has antigens. Inset image of an antigen depicts a single strand of m R N A. Pointer at left reads, labeled probe with proper sequence of complementary nuclei acid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542575"/>
            <a:ext cx="11376025" cy="6174487"/>
          </a:xfrm>
        </p:spPr>
      </p:pic>
    </p:spTree>
    <p:extLst>
      <p:ext uri="{BB962C8B-B14F-4D97-AF65-F5344CB8AC3E}">
        <p14:creationId xmlns:p14="http://schemas.microsoft.com/office/powerpoint/2010/main" val="18819639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(11 of 20)</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New tools are used for imaging the structure and function of the brain</a:t>
            </a:r>
          </a:p>
          <a:p>
            <a:pPr marL="571500">
              <a:spcBef>
                <a:spcPts val="1800"/>
              </a:spcBef>
            </a:pPr>
            <a:r>
              <a:rPr lang="en-US" sz="2800" dirty="0"/>
              <a:t>Autoradiography can trace active processes in the brain such as blood flow, oxygen consumption, glucose utilization, or rates of protein synthesis that indicates neural activity</a:t>
            </a:r>
          </a:p>
          <a:p>
            <a:pPr marL="571500">
              <a:spcBef>
                <a:spcPts val="1800"/>
              </a:spcBef>
            </a:pPr>
            <a:r>
              <a:rPr lang="en-US" sz="2800" b="1" dirty="0"/>
              <a:t>2-deoxyglucose autoradiography</a:t>
            </a:r>
            <a:r>
              <a:rPr lang="en-US" sz="2800" dirty="0"/>
              <a:t>: based on the assumption that when nerve cell firing increases, metabolic rate increases </a:t>
            </a:r>
          </a:p>
        </p:txBody>
      </p:sp>
    </p:spTree>
    <p:extLst>
      <p:ext uri="{BB962C8B-B14F-4D97-AF65-F5344CB8AC3E}">
        <p14:creationId xmlns:p14="http://schemas.microsoft.com/office/powerpoint/2010/main" val="1127695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(12 of 20)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dirty="0"/>
              <a:t>New tools are used for imaging the structure and function of the brain</a:t>
            </a:r>
          </a:p>
          <a:p>
            <a:pPr marL="571500">
              <a:spcBef>
                <a:spcPts val="1800"/>
              </a:spcBef>
            </a:pPr>
            <a:r>
              <a:rPr lang="en-US" sz="2800" dirty="0"/>
              <a:t>Imaging techniques:</a:t>
            </a:r>
          </a:p>
          <a:p>
            <a:pPr marL="1263650" lvl="1" indent="-349250">
              <a:spcBef>
                <a:spcPts val="1800"/>
              </a:spcBef>
              <a:buFont typeface="Courier New" panose="02070309020205020404" pitchFamily="49" charset="0"/>
              <a:buChar char="o"/>
            </a:pPr>
            <a:r>
              <a:rPr lang="en-US" b="1" dirty="0"/>
              <a:t>Computerized tomography (CT)</a:t>
            </a:r>
          </a:p>
          <a:p>
            <a:pPr marL="1263650" lvl="1" indent="-349250">
              <a:spcBef>
                <a:spcPts val="1800"/>
              </a:spcBef>
              <a:buFont typeface="Courier New" panose="02070309020205020404" pitchFamily="49" charset="0"/>
              <a:buChar char="o"/>
            </a:pPr>
            <a:r>
              <a:rPr lang="en-US" b="1" dirty="0"/>
              <a:t>Magnetic resonance imaging (MRI)</a:t>
            </a:r>
          </a:p>
          <a:p>
            <a:pPr marL="1263650" lvl="1" indent="-349250">
              <a:spcBef>
                <a:spcPts val="1800"/>
              </a:spcBef>
              <a:buFont typeface="Courier New" panose="02070309020205020404" pitchFamily="49" charset="0"/>
              <a:buChar char="o"/>
            </a:pPr>
            <a:r>
              <a:rPr lang="en-US" b="1" dirty="0"/>
              <a:t>Magnetic resonance spectroscopy (MRS)</a:t>
            </a:r>
          </a:p>
          <a:p>
            <a:pPr marL="1263650" lvl="1" indent="-349250">
              <a:spcBef>
                <a:spcPts val="1800"/>
              </a:spcBef>
              <a:buFont typeface="Courier New" panose="02070309020205020404" pitchFamily="49" charset="0"/>
              <a:buChar char="o"/>
            </a:pPr>
            <a:r>
              <a:rPr lang="fr-FR" b="1" dirty="0"/>
              <a:t>Diffusion </a:t>
            </a:r>
            <a:r>
              <a:rPr lang="fr-FR" b="1" dirty="0" err="1"/>
              <a:t>tensor</a:t>
            </a:r>
            <a:r>
              <a:rPr lang="fr-FR" b="1" dirty="0"/>
              <a:t> </a:t>
            </a:r>
            <a:r>
              <a:rPr lang="fr-FR" b="1" dirty="0" err="1"/>
              <a:t>imaging</a:t>
            </a:r>
            <a:r>
              <a:rPr lang="fr-FR" b="1" dirty="0"/>
              <a:t> (DTI)</a:t>
            </a:r>
          </a:p>
          <a:p>
            <a:pPr marL="1263650" lvl="1" indent="-349250">
              <a:spcBef>
                <a:spcPts val="1800"/>
              </a:spcBef>
              <a:buFont typeface="Courier New" panose="02070309020205020404" pitchFamily="49" charset="0"/>
              <a:buChar char="o"/>
            </a:pPr>
            <a:r>
              <a:rPr lang="en-US" b="1" dirty="0"/>
              <a:t>Positron emission tomography (PET)</a:t>
            </a:r>
          </a:p>
        </p:txBody>
      </p:sp>
    </p:spTree>
    <p:extLst>
      <p:ext uri="{BB962C8B-B14F-4D97-AF65-F5344CB8AC3E}">
        <p14:creationId xmlns:p14="http://schemas.microsoft.com/office/powerpoint/2010/main" val="32741877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61BC-5199-5742-9FC3-062FCBA73997}"/>
              </a:ext>
            </a:extLst>
          </p:cNvPr>
          <p:cNvSpPr>
            <a:spLocks noGrp="1"/>
          </p:cNvSpPr>
          <p:nvPr>
            <p:ph type="title"/>
          </p:nvPr>
        </p:nvSpPr>
        <p:spPr/>
        <p:txBody>
          <a:bodyPr/>
          <a:lstStyle/>
          <a:p>
            <a:r>
              <a:rPr lang="en-US" cap="all" dirty="0"/>
              <a:t>FIGURE 4.25</a:t>
            </a:r>
            <a:r>
              <a:rPr lang="en-US" dirty="0"/>
              <a:t>  A three-dimensional image formed with MRI  </a:t>
            </a:r>
          </a:p>
        </p:txBody>
      </p:sp>
      <p:pic>
        <p:nvPicPr>
          <p:cNvPr id="6" name="Content Placeholder 5" descr="An illustration of a three-dimensional image formed with M R I depicts the brain's top portion within the human skul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268715" y="479425"/>
            <a:ext cx="7654571" cy="6300788"/>
          </a:xfrm>
        </p:spPr>
      </p:pic>
    </p:spTree>
    <p:extLst>
      <p:ext uri="{BB962C8B-B14F-4D97-AF65-F5344CB8AC3E}">
        <p14:creationId xmlns:p14="http://schemas.microsoft.com/office/powerpoint/2010/main" val="3038054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(13 of 20)</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dirty="0"/>
              <a:t>New tools are used for imaging the structure and function of the brain</a:t>
            </a:r>
          </a:p>
          <a:p>
            <a:pPr marL="571500">
              <a:spcBef>
                <a:spcPts val="1800"/>
              </a:spcBef>
            </a:pPr>
            <a:r>
              <a:rPr lang="en-US" sz="2800" dirty="0"/>
              <a:t>Imaging techniques:</a:t>
            </a:r>
          </a:p>
          <a:p>
            <a:pPr marL="1263650" lvl="1" indent="-349250">
              <a:spcBef>
                <a:spcPts val="1800"/>
              </a:spcBef>
              <a:buFont typeface="Courier New" panose="02070309020205020404" pitchFamily="49" charset="0"/>
              <a:buChar char="o"/>
            </a:pPr>
            <a:r>
              <a:rPr lang="en-US" sz="2600" b="1" dirty="0"/>
              <a:t>Single-photon emission computerized tomography (SPECT)</a:t>
            </a:r>
          </a:p>
          <a:p>
            <a:pPr marL="1263650" lvl="1" indent="-349250">
              <a:spcBef>
                <a:spcPts val="1800"/>
              </a:spcBef>
              <a:buFont typeface="Courier New" panose="02070309020205020404" pitchFamily="49" charset="0"/>
              <a:buChar char="o"/>
            </a:pPr>
            <a:r>
              <a:rPr lang="en-US" sz="2600" b="1" dirty="0"/>
              <a:t>Functional MRI (fMRI)</a:t>
            </a:r>
          </a:p>
          <a:p>
            <a:pPr marL="1263650" lvl="1" indent="-349250">
              <a:spcBef>
                <a:spcPts val="1800"/>
              </a:spcBef>
              <a:buFont typeface="Courier New" panose="02070309020205020404" pitchFamily="49" charset="0"/>
              <a:buChar char="o"/>
            </a:pPr>
            <a:r>
              <a:rPr lang="en-US" sz="2600" b="1" dirty="0"/>
              <a:t>Resting-state fMRI (</a:t>
            </a:r>
            <a:r>
              <a:rPr lang="en-US" sz="2600" b="1" dirty="0" err="1"/>
              <a:t>rs</a:t>
            </a:r>
            <a:r>
              <a:rPr lang="en-US" sz="2600" b="1" dirty="0"/>
              <a:t>-fMRI)</a:t>
            </a:r>
          </a:p>
          <a:p>
            <a:pPr marL="1263650" lvl="1" indent="-349250">
              <a:spcBef>
                <a:spcPts val="1800"/>
              </a:spcBef>
              <a:buFont typeface="Courier New" panose="02070309020205020404" pitchFamily="49" charset="0"/>
              <a:buChar char="o"/>
            </a:pPr>
            <a:r>
              <a:rPr lang="en-US" sz="2600" b="1" dirty="0"/>
              <a:t>Electroencephalography (EEG)</a:t>
            </a:r>
          </a:p>
          <a:p>
            <a:pPr marL="1263650" lvl="1" indent="-349250">
              <a:spcBef>
                <a:spcPts val="1800"/>
              </a:spcBef>
              <a:buFont typeface="Courier New" panose="02070309020205020404" pitchFamily="49" charset="0"/>
              <a:buChar char="o"/>
            </a:pPr>
            <a:r>
              <a:rPr lang="en-US" sz="2600" b="1" dirty="0"/>
              <a:t>Quantitative EEG (</a:t>
            </a:r>
            <a:r>
              <a:rPr lang="en-US" sz="2600" b="1" dirty="0" err="1"/>
              <a:t>qEEG</a:t>
            </a:r>
            <a:r>
              <a:rPr lang="en-US" sz="2600" b="1" dirty="0"/>
              <a:t>)</a:t>
            </a:r>
          </a:p>
        </p:txBody>
      </p:sp>
    </p:spTree>
    <p:extLst>
      <p:ext uri="{BB962C8B-B14F-4D97-AF65-F5344CB8AC3E}">
        <p14:creationId xmlns:p14="http://schemas.microsoft.com/office/powerpoint/2010/main" val="2713356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B28B-6C35-9543-BF66-719C54F37A48}"/>
              </a:ext>
            </a:extLst>
          </p:cNvPr>
          <p:cNvSpPr>
            <a:spLocks noGrp="1"/>
          </p:cNvSpPr>
          <p:nvPr>
            <p:ph type="title"/>
          </p:nvPr>
        </p:nvSpPr>
        <p:spPr/>
        <p:txBody>
          <a:bodyPr/>
          <a:lstStyle/>
          <a:p>
            <a:r>
              <a:rPr lang="en-US" cap="all" dirty="0"/>
              <a:t>FIGURE 4.27</a:t>
            </a:r>
            <a:r>
              <a:rPr lang="en-US" dirty="0"/>
              <a:t>  Electroencephalography (EEG) </a:t>
            </a:r>
          </a:p>
        </p:txBody>
      </p:sp>
      <p:pic>
        <p:nvPicPr>
          <p:cNvPr id="6" name="Content Placeholder 5" descr="A photo depicts a woman whose head is covered with multiple electrodes.&#10;&#10;An illustration of the human head depicting the standardized points for electrode placement.&#10;&#10;An illustration at left depicts a girl whose head is covered with electrodes. The girl is seeing some shapes on a desktop monitor and presses a button on the table. Pointer pointing to an electrode reads, E R P s. A pair of line graphs are present at the right. The X axis measures time in milliseconds and has time from 0 through 400 with increments of 100. The Y axis has the points, positive 3 mu V at a point near the origin and another point, negative 3 mu V at the top. The line graph starts about the middle at the Y axis, moves parallel to the X axis for a short time, then moves sharply to the bottom and then rises and touches the highest point, then falls sharply toward the bottom at 200 on the X axis, then rises gradually and falls sharply to touch the X axis at 325 and rises to the far right end and ends about the middle. Points are marked as follows. C 1 at the first point of increase, P 1, first trough; N 1, topmost point; P 2, next trough; N 2, next topmost point; P 3, the bottom most point. Another graph above has the same X and Y axes. The line graph starts at about halfway on the Y axis. It moves parallel to the X axis for a while, then wavers below, rises a bit, falls again sharply and then rises sharply to end about middle right. The fallen portion at right is named L R P and the rising portion, E R N. Multiple lines are drawn within this region depicting ups and lows. The graph is titled, Behavioral respon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737800" y="479425"/>
            <a:ext cx="10716400" cy="6300788"/>
          </a:xfrm>
        </p:spPr>
      </p:pic>
    </p:spTree>
    <p:extLst>
      <p:ext uri="{BB962C8B-B14F-4D97-AF65-F5344CB8AC3E}">
        <p14:creationId xmlns:p14="http://schemas.microsoft.com/office/powerpoint/2010/main" val="4160246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(14 of 20)</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Genetic engineering helps neuroscientists to ask and answer new questions</a:t>
            </a:r>
          </a:p>
          <a:p>
            <a:pPr marL="571500">
              <a:spcBef>
                <a:spcPts val="1800"/>
              </a:spcBef>
            </a:pPr>
            <a:r>
              <a:rPr lang="en-US" altLang="en-US" sz="2800" dirty="0"/>
              <a:t>DNA of an organism is altered to produce highly specific mutations.</a:t>
            </a:r>
          </a:p>
          <a:p>
            <a:pPr marL="571500">
              <a:spcBef>
                <a:spcPts val="1800"/>
              </a:spcBef>
            </a:pPr>
            <a:r>
              <a:rPr lang="en-US" altLang="en-US" sz="2800" b="1" dirty="0"/>
              <a:t>Knockout mice</a:t>
            </a:r>
            <a:r>
              <a:rPr lang="en-US" altLang="en-US" sz="2800" dirty="0"/>
              <a:t>: lack gene for making a particular protein</a:t>
            </a:r>
          </a:p>
          <a:p>
            <a:pPr marL="571500">
              <a:spcBef>
                <a:spcPts val="1800"/>
              </a:spcBef>
            </a:pPr>
            <a:r>
              <a:rPr lang="en-US" altLang="en-US" sz="2800" b="1" dirty="0" err="1"/>
              <a:t>Knockin</a:t>
            </a:r>
            <a:r>
              <a:rPr lang="en-US" altLang="en-US" sz="2800" b="1" dirty="0"/>
              <a:t> mice</a:t>
            </a:r>
            <a:r>
              <a:rPr lang="en-US" altLang="en-US" sz="2800" dirty="0"/>
              <a:t>: inserted gene is modified to produces a slightly different protein</a:t>
            </a:r>
          </a:p>
          <a:p>
            <a:pPr marL="571500">
              <a:spcBef>
                <a:spcPts val="1800"/>
              </a:spcBef>
            </a:pPr>
            <a:r>
              <a:rPr lang="en-US" altLang="en-US" sz="2800" b="1" dirty="0"/>
              <a:t>Transgenic mice</a:t>
            </a:r>
            <a:r>
              <a:rPr lang="en-US" altLang="en-US" sz="2800" dirty="0"/>
              <a:t>: one gene has been substituted for another</a:t>
            </a:r>
          </a:p>
        </p:txBody>
      </p:sp>
    </p:spTree>
    <p:extLst>
      <p:ext uri="{BB962C8B-B14F-4D97-AF65-F5344CB8AC3E}">
        <p14:creationId xmlns:p14="http://schemas.microsoft.com/office/powerpoint/2010/main" val="29980950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B3CF4-1055-D248-8D52-37FDB97DF2C7}"/>
              </a:ext>
            </a:extLst>
          </p:cNvPr>
          <p:cNvSpPr>
            <a:spLocks noGrp="1"/>
          </p:cNvSpPr>
          <p:nvPr>
            <p:ph type="title"/>
          </p:nvPr>
        </p:nvSpPr>
        <p:spPr/>
        <p:txBody>
          <a:bodyPr/>
          <a:lstStyle/>
          <a:p>
            <a:r>
              <a:rPr lang="en-US" cap="all" dirty="0"/>
              <a:t>FIGURE 4.28</a:t>
            </a:r>
            <a:r>
              <a:rPr lang="en-US" dirty="0"/>
              <a:t>  Illustration of genetic engineering </a:t>
            </a:r>
          </a:p>
        </p:txBody>
      </p:sp>
      <p:pic>
        <p:nvPicPr>
          <p:cNvPr id="6" name="Content Placeholder 5" descr="A flowchart depicts the process of genetic engineering. A fertilized egg at the top has the desired gene implanted. Pointer reads: pronuclei. Arrow flows below and text reads: implantation of embryos into the uterus of a surrogate mother. An injection pointing to a rat follows below. Arrow flows below and text reads: examination of offspring for expression of mutation. Three mice are present below. The one at the left has a mix of the characteristics of the ones at the right. The left one is titled, Chimeric mouse. Text at the bottom reads: Breeding of chimeric offspring to ultimately produce homozygous transgenic mic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654129" y="479425"/>
            <a:ext cx="4883743" cy="6300788"/>
          </a:xfrm>
        </p:spPr>
      </p:pic>
    </p:spTree>
    <p:extLst>
      <p:ext uri="{BB962C8B-B14F-4D97-AF65-F5344CB8AC3E}">
        <p14:creationId xmlns:p14="http://schemas.microsoft.com/office/powerpoint/2010/main" val="14044083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Techniques in Neuropharmacology </a:t>
            </a:r>
            <a:r>
              <a:rPr lang="en-US" sz="1200"/>
              <a:t>(15 of 20)</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t>Genetic engineering helps neuroscientists to ask and answer new questions</a:t>
            </a:r>
          </a:p>
          <a:p>
            <a:pPr marL="571500">
              <a:spcBef>
                <a:spcPts val="1800"/>
              </a:spcBef>
            </a:pPr>
            <a:r>
              <a:rPr lang="en-US" sz="2800" b="1"/>
              <a:t>CRISPR (clustered regularly interspaced short palindromic repeat) </a:t>
            </a:r>
            <a:r>
              <a:rPr lang="en-US" sz="2800"/>
              <a:t>– faster way to genetically engineer mice</a:t>
            </a:r>
          </a:p>
          <a:p>
            <a:pPr marL="571500">
              <a:spcBef>
                <a:spcPts val="1800"/>
              </a:spcBef>
            </a:pPr>
            <a:r>
              <a:rPr lang="en-US" altLang="en-US" sz="2800"/>
              <a:t>“Guide RNA” identifies a specific genomic sequence to be modified, and a nuclease (Cas9) cuts out the specified section. New DNA is then inserted.</a:t>
            </a:r>
            <a:endParaRPr lang="en-US" altLang="en-US" sz="2800" dirty="0"/>
          </a:p>
        </p:txBody>
      </p:sp>
    </p:spTree>
    <p:extLst>
      <p:ext uri="{BB962C8B-B14F-4D97-AF65-F5344CB8AC3E}">
        <p14:creationId xmlns:p14="http://schemas.microsoft.com/office/powerpoint/2010/main" val="18889247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Techniques in Neuropharmacology </a:t>
            </a:r>
            <a:r>
              <a:rPr lang="en-US" sz="1200" dirty="0"/>
              <a:t>(16 of 20)</a:t>
            </a:r>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0" indent="0">
              <a:buNone/>
            </a:pPr>
            <a:r>
              <a:rPr lang="en-US" sz="2600" u="sng" dirty="0"/>
              <a:t>BOX 4.3  PHARMACOLOGY IN ACTION</a:t>
            </a:r>
          </a:p>
          <a:p>
            <a:pPr marL="0" indent="0">
              <a:spcBef>
                <a:spcPts val="1800"/>
              </a:spcBef>
              <a:buNone/>
            </a:pPr>
            <a:r>
              <a:rPr lang="en-US" sz="3500" i="1" dirty="0"/>
              <a:t>Transgenic Model of Huntington’s Disease</a:t>
            </a:r>
          </a:p>
          <a:p>
            <a:pPr marL="571500">
              <a:spcBef>
                <a:spcPts val="1800"/>
              </a:spcBef>
            </a:pPr>
            <a:r>
              <a:rPr lang="en-US" altLang="en-US" sz="3000" dirty="0"/>
              <a:t>In a transgenic mouse model for Huntington’</a:t>
            </a:r>
            <a:r>
              <a:rPr lang="en-US" altLang="ja-JP" sz="3000" dirty="0"/>
              <a:t>s disease, m</a:t>
            </a:r>
            <a:r>
              <a:rPr lang="en-US" altLang="en-US" sz="3000" dirty="0"/>
              <a:t>otor functioning was evaluated using </a:t>
            </a:r>
            <a:r>
              <a:rPr lang="en-US" altLang="en-US" sz="3000" b="1" dirty="0"/>
              <a:t>beam walking</a:t>
            </a:r>
            <a:r>
              <a:rPr lang="en-US" altLang="en-US" sz="3000" dirty="0"/>
              <a:t>, </a:t>
            </a:r>
            <a:r>
              <a:rPr lang="en-US" altLang="en-US" sz="3000" b="1" dirty="0"/>
              <a:t>rotarods</a:t>
            </a:r>
            <a:r>
              <a:rPr lang="en-US" altLang="en-US" sz="3000" dirty="0"/>
              <a:t>, swimming ability, </a:t>
            </a:r>
            <a:r>
              <a:rPr lang="en-US" altLang="en-US" sz="3000" b="1" dirty="0"/>
              <a:t>gait</a:t>
            </a:r>
            <a:r>
              <a:rPr lang="en-US" altLang="en-US" sz="3000" dirty="0"/>
              <a:t>, and other measures.</a:t>
            </a:r>
          </a:p>
          <a:p>
            <a:pPr marL="571500">
              <a:spcBef>
                <a:spcPts val="1800"/>
              </a:spcBef>
            </a:pPr>
            <a:r>
              <a:rPr lang="en-US" altLang="en-US" sz="3000" dirty="0"/>
              <a:t>Comparison with wild-type mice showed progressive loss of motor ability in the transgenic mice.</a:t>
            </a:r>
          </a:p>
          <a:p>
            <a:pPr marL="571500">
              <a:spcBef>
                <a:spcPts val="1800"/>
              </a:spcBef>
            </a:pPr>
            <a:r>
              <a:rPr lang="en-US" altLang="en-US" sz="3000" dirty="0"/>
              <a:t>Behavioral measures that reflect the symptoms of Huntington’</a:t>
            </a:r>
            <a:r>
              <a:rPr lang="en-US" altLang="ja-JP" sz="3000" dirty="0"/>
              <a:t>s show that R6/2 (transgenic) mice are a valid model for this disease.</a:t>
            </a:r>
          </a:p>
          <a:p>
            <a:pPr marL="571500">
              <a:spcBef>
                <a:spcPts val="1800"/>
              </a:spcBef>
            </a:pPr>
            <a:r>
              <a:rPr lang="en-US" altLang="en-US" sz="3000" dirty="0"/>
              <a:t>The mice can be used to test potential drugs for treatment.</a:t>
            </a:r>
          </a:p>
        </p:txBody>
      </p:sp>
    </p:spTree>
    <p:extLst>
      <p:ext uri="{BB962C8B-B14F-4D97-AF65-F5344CB8AC3E}">
        <p14:creationId xmlns:p14="http://schemas.microsoft.com/office/powerpoint/2010/main" val="67831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317F9-FBDE-F248-986A-BACC11DEB5B5}"/>
              </a:ext>
            </a:extLst>
          </p:cNvPr>
          <p:cNvSpPr>
            <a:spLocks noGrp="1"/>
          </p:cNvSpPr>
          <p:nvPr>
            <p:ph type="title"/>
          </p:nvPr>
        </p:nvSpPr>
        <p:spPr/>
        <p:txBody>
          <a:bodyPr/>
          <a:lstStyle/>
          <a:p>
            <a:r>
              <a:rPr lang="en-US" dirty="0"/>
              <a:t>BOX 4.3  Pharmacology in Action: </a:t>
            </a:r>
            <a:r>
              <a:rPr lang="en-GB" dirty="0"/>
              <a:t>Transgenic Model of Huntington’s Disease</a:t>
            </a:r>
            <a:r>
              <a:rPr lang="en-US" dirty="0"/>
              <a:t> (Part 1)</a:t>
            </a:r>
          </a:p>
        </p:txBody>
      </p:sp>
      <p:pic>
        <p:nvPicPr>
          <p:cNvPr id="6" name="Content Placeholder 5" descr="A set of four line graphs depict the transgenic model of Huntington's disease for round beans and square beams. All the X axes measure the age in weeks from 0 starting at 5.4 and moving to 5.6 with increments of 0.1 and then from 8.5 through 13.5 with increments of 1. All the Y axes measure latency in seconds from 0 through 60 with increments of 20. The first graph at top left is for square beam. Approximate data follows. For wild-type controls: 5.4, 4. 5.5, 5. 5.6, 4. 8.5, 10. The measurements are at 4 from 9.5 weeks onward until the end. Data for R 6 forward slash, 2 transgenics follow. 5.4, 6. 5.5, 7. 5.6, 6. 8.5, 19. 9.5, 10. 10.5, 18. The latency increases steadily and ends at 13.5, 38. The second graph at bottom left is for round beam. Approximate data follows. For wild-type controls: The latency starts at about 8 for 5.4 weeks and ends at about 10 for 5.6 weeks. It resumes at about 8 at 8.5 weeks and remains steady and ends at about 7 at 13.5 weeks. For R 6 forward slash 2 transgenics: The latency starts at about 9 at 5.4 weeks and remains steady and ends at about 10 at 5.6 weeks. It resumes at about 18 at 8.5 weeks, falls a bit, and rises steadily to end at about 56 at 13.5 weeks. The third and fourth graphs measure foot slips on the Y axis from 0 through 60 with increments of 20. The third graph at top right is for square beam. Approximate data follows. For wild-type controls: The foot slips start at about 1 for 5.4 weeks and remains constant until 5.6 weeks. It resumes at 0 at 8.5 weeks through 13.5 weeks. For R 6 forward slash 2 transgenics: The foot slips start and remain at 0 from 5.4 through 5.6 weeks. It resumes at about 8 at 8.5 weeks and rises steadily to end at about 36 at 13.5 weeks. The fourth graph at bottom right is for round beam. Approximate data follows. For wild-type controls: The foot slips start at about 1 for 5.4 weeks and end at about 2 at 5.6 weeks. It resumes at 1 at 8.5 weeks, rises to 2 at 9.5 weeks and remains at 1 throughout until 13.5 weeks. For R 6 forward slash 2 transgenics: The foot slips start at 2 at 5.4 weeks and end at about 3 at 5.6 weeks. It resumes at about 10 at 8.5 weeks and rises steadily to end at about 48 at 13.5 weeks.&#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053998"/>
            <a:ext cx="11376025" cy="5151642"/>
          </a:xfrm>
        </p:spPr>
      </p:pic>
    </p:spTree>
    <p:extLst>
      <p:ext uri="{BB962C8B-B14F-4D97-AF65-F5344CB8AC3E}">
        <p14:creationId xmlns:p14="http://schemas.microsoft.com/office/powerpoint/2010/main" val="17617571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0A22-0581-AB4B-9D5D-F2D4A072D658}"/>
              </a:ext>
            </a:extLst>
          </p:cNvPr>
          <p:cNvSpPr>
            <a:spLocks noGrp="1"/>
          </p:cNvSpPr>
          <p:nvPr>
            <p:ph type="title"/>
          </p:nvPr>
        </p:nvSpPr>
        <p:spPr/>
        <p:txBody>
          <a:bodyPr/>
          <a:lstStyle/>
          <a:p>
            <a:r>
              <a:rPr lang="en-US" dirty="0"/>
              <a:t>BOX 4.3  Pharmacology in Action: </a:t>
            </a:r>
            <a:r>
              <a:rPr lang="en-GB" dirty="0"/>
              <a:t>Transgenic Model of Huntington’s Disease</a:t>
            </a:r>
            <a:r>
              <a:rPr lang="en-US" dirty="0"/>
              <a:t> (Part 2)</a:t>
            </a:r>
          </a:p>
        </p:txBody>
      </p:sp>
      <p:pic>
        <p:nvPicPr>
          <p:cNvPr id="6" name="Content Placeholder 5" descr="A photo depicts a pair of rats on a rotaro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578216" y="479425"/>
            <a:ext cx="5035569" cy="6300788"/>
          </a:xfrm>
        </p:spPr>
      </p:pic>
    </p:spTree>
    <p:extLst>
      <p:ext uri="{BB962C8B-B14F-4D97-AF65-F5344CB8AC3E}">
        <p14:creationId xmlns:p14="http://schemas.microsoft.com/office/powerpoint/2010/main" val="8175135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5A469-6E6D-9A45-8C29-DC73B22F06EF}"/>
              </a:ext>
            </a:extLst>
          </p:cNvPr>
          <p:cNvSpPr>
            <a:spLocks noGrp="1"/>
          </p:cNvSpPr>
          <p:nvPr>
            <p:ph type="title"/>
          </p:nvPr>
        </p:nvSpPr>
        <p:spPr/>
        <p:txBody>
          <a:bodyPr/>
          <a:lstStyle/>
          <a:p>
            <a:r>
              <a:rPr lang="en-US" dirty="0"/>
              <a:t>BOX 4.3  Pharmacology in Action: </a:t>
            </a:r>
            <a:r>
              <a:rPr lang="en-GB" dirty="0"/>
              <a:t>Transgenic Model of Huntington’s Disease</a:t>
            </a:r>
            <a:r>
              <a:rPr lang="en-US" dirty="0"/>
              <a:t> (Part 3)</a:t>
            </a:r>
          </a:p>
        </p:txBody>
      </p:sp>
      <p:pic>
        <p:nvPicPr>
          <p:cNvPr id="6" name="Content Placeholder 5" descr="All the X axes measure the age in weeks starting at 5.5 and then from 8.5 through 13.5 with increments of 1. All the Y axes measure latency to fall in seconds from 0 through 80 with increments of 20. The first graph is for 8 rotations per minute. Approximate data follows. For wild-type controls: The latency is constant at 60. Data for R 6 forward slash, 2 transgenics follow. The latency starts at 60 for 5.5 weeks and remains there till 9.5 weeks after which it drops steadily to end at about 17 at 13.5 weeks. The second graph is for 20 rotations per minute. Approximate data follows. For wild-type controls: The latency is constant at 60. Data for R 6 forward slash, 2 transgenics follow. The latency starts at 60 for 5.5 weeks, falls to 45 at 8.5 weeks, rises briefly and then falls steadily to end at about 5 at 13.5 weeks. The third graph is for 31 rotations per minute. Approximate data follows. For wild-type controls: The latency is constant at 60 mostly; it briefly dips a bit and resumes position at 60. Data for R 6 forward slash, 2 transgenics follow. The latency starts at 60 for 5.5 weeks, falls to 38 at 8.5 weeks, rises briefly and then falls steadily to end at about 5 at 13.5 weeks. The fourth graph is for 44 rotations per minute. Approximate data follows. For wild-type controls: The latency starts at 60, briefly dips a bit and rises and ends at 60. Data for R 6 forward slash, 2 transgenics follow. The latency starts at 40 for 5.5 weeks and falls steadily to end at about 5 at 13.5 week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603043" y="428625"/>
            <a:ext cx="2985915" cy="6300788"/>
          </a:xfrm>
        </p:spPr>
      </p:pic>
    </p:spTree>
    <p:extLst>
      <p:ext uri="{BB962C8B-B14F-4D97-AF65-F5344CB8AC3E}">
        <p14:creationId xmlns:p14="http://schemas.microsoft.com/office/powerpoint/2010/main" val="36576344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(17 of 20)</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Genetic engineering helps neuroscientists to ask and answer new questions</a:t>
            </a:r>
          </a:p>
          <a:p>
            <a:pPr marL="571500">
              <a:spcBef>
                <a:spcPts val="1800"/>
              </a:spcBef>
            </a:pPr>
            <a:r>
              <a:rPr lang="en-US" sz="2800" b="1" dirty="0"/>
              <a:t>Optogenetics</a:t>
            </a:r>
            <a:r>
              <a:rPr lang="en-US" sz="2800" dirty="0"/>
              <a:t>: uses light and microbial opsins to exert precise control over genetically specified cells</a:t>
            </a:r>
          </a:p>
          <a:p>
            <a:pPr marL="571500">
              <a:spcBef>
                <a:spcPts val="1800"/>
              </a:spcBef>
            </a:pPr>
            <a:r>
              <a:rPr lang="en-US" sz="2800" dirty="0"/>
              <a:t>Researchers can excite or inhibit selected populations of nerve cells almost instantaneously</a:t>
            </a:r>
          </a:p>
          <a:p>
            <a:pPr marL="571500">
              <a:spcBef>
                <a:spcPts val="1800"/>
              </a:spcBef>
            </a:pPr>
            <a:r>
              <a:rPr lang="en-US" sz="2800" dirty="0"/>
              <a:t>Genes for the opsins can be inserted into specific neurons using viral vectors.</a:t>
            </a:r>
          </a:p>
        </p:txBody>
      </p:sp>
    </p:spTree>
    <p:extLst>
      <p:ext uri="{BB962C8B-B14F-4D97-AF65-F5344CB8AC3E}">
        <p14:creationId xmlns:p14="http://schemas.microsoft.com/office/powerpoint/2010/main" val="41042599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13B0-BB51-BC48-923C-82527E79514D}"/>
              </a:ext>
            </a:extLst>
          </p:cNvPr>
          <p:cNvSpPr>
            <a:spLocks noGrp="1"/>
          </p:cNvSpPr>
          <p:nvPr>
            <p:ph type="title"/>
          </p:nvPr>
        </p:nvSpPr>
        <p:spPr/>
        <p:txBody>
          <a:bodyPr/>
          <a:lstStyle/>
          <a:p>
            <a:r>
              <a:rPr lang="en-US" cap="all" dirty="0"/>
              <a:t>FIGURE 4.31</a:t>
            </a:r>
            <a:r>
              <a:rPr lang="en-US" dirty="0"/>
              <a:t>  Behavioral control using optogenetics </a:t>
            </a:r>
          </a:p>
        </p:txBody>
      </p:sp>
      <p:pic>
        <p:nvPicPr>
          <p:cNvPr id="6" name="Content Placeholder 5" descr="A flowchart depicts the steps in an in vivo C h R 2 optogenetic study. The first step is a C h R 2 gene containing the viral vector leading to a packaging cell line containing a D N A strand and the gene, further leading to a virus being injected into a rat, leading to a cross-section of a skull with parts: Skull, cortex, fiber-optic cable, and illumination. The last part is a microscopic view of blue light shed on the target neuron held among other neurons.&#10;&#10;A photo of a lab rat with a fiber-optic probe connected to the hea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419586" y="479425"/>
            <a:ext cx="3352828" cy="6300788"/>
          </a:xfrm>
        </p:spPr>
      </p:pic>
    </p:spTree>
    <p:extLst>
      <p:ext uri="{BB962C8B-B14F-4D97-AF65-F5344CB8AC3E}">
        <p14:creationId xmlns:p14="http://schemas.microsoft.com/office/powerpoint/2010/main" val="26174349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(18 of 20)</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Genetic engineering helps neuroscientists to ask and answer new questions</a:t>
            </a:r>
          </a:p>
          <a:p>
            <a:pPr marL="571500">
              <a:spcBef>
                <a:spcPts val="1800"/>
              </a:spcBef>
            </a:pPr>
            <a:r>
              <a:rPr lang="en-US" altLang="en-US" sz="2800" b="1" dirty="0" err="1"/>
              <a:t>Chemogenetics</a:t>
            </a:r>
            <a:r>
              <a:rPr lang="en-US" altLang="en-US" sz="2800" dirty="0"/>
              <a:t> or </a:t>
            </a:r>
            <a:r>
              <a:rPr lang="en-US" altLang="en-US" sz="2800" b="1" dirty="0"/>
              <a:t>DREADD</a:t>
            </a:r>
            <a:r>
              <a:rPr lang="en-US" altLang="en-US" sz="2800" dirty="0"/>
              <a:t> (designer receptor exclusively activated by a designer drug): A genetically engineered receptor is inserted into specific brain cells, then is activated or suppressed by a ligand that was created to specifically bind to the inserted receptor and nothing else.</a:t>
            </a:r>
          </a:p>
        </p:txBody>
      </p:sp>
    </p:spTree>
    <p:extLst>
      <p:ext uri="{BB962C8B-B14F-4D97-AF65-F5344CB8AC3E}">
        <p14:creationId xmlns:p14="http://schemas.microsoft.com/office/powerpoint/2010/main" val="30406771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Techniques in Neuropharmacology </a:t>
            </a:r>
            <a:r>
              <a:rPr lang="en-US" sz="1200" dirty="0"/>
              <a:t>(19 of 20)</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dirty="0"/>
              <a:t>Behavioral and neuropharmacological methods complement one another</a:t>
            </a:r>
          </a:p>
          <a:p>
            <a:pPr marL="571500">
              <a:spcBef>
                <a:spcPts val="1800"/>
              </a:spcBef>
            </a:pPr>
            <a:r>
              <a:rPr lang="en-US" altLang="en-US" sz="2800" dirty="0"/>
              <a:t>Several techniques are used in tandem to approach a problem in neuroscience from several directions.</a:t>
            </a:r>
          </a:p>
          <a:p>
            <a:pPr marL="571500">
              <a:spcBef>
                <a:spcPts val="1800"/>
              </a:spcBef>
            </a:pPr>
            <a:r>
              <a:rPr lang="en-US" altLang="en-US" sz="2800" dirty="0"/>
              <a:t>When used together we can uncover the neurobiological substrates of cognitive function and dysfunction. </a:t>
            </a:r>
          </a:p>
        </p:txBody>
      </p:sp>
    </p:spTree>
    <p:extLst>
      <p:ext uri="{BB962C8B-B14F-4D97-AF65-F5344CB8AC3E}">
        <p14:creationId xmlns:p14="http://schemas.microsoft.com/office/powerpoint/2010/main" val="3942273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in Neuropharmacology </a:t>
            </a:r>
            <a:r>
              <a:rPr lang="en-US" sz="1200" dirty="0"/>
              <a:t>(20 of 20)</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dirty="0"/>
              <a:t>Which technique allows researchers to study a single ion channel?</a:t>
            </a:r>
          </a:p>
          <a:p>
            <a:pPr marL="914400" indent="-457200">
              <a:spcBef>
                <a:spcPts val="1200"/>
              </a:spcBef>
              <a:buFont typeface="Arial" pitchFamily="34" charset="0"/>
              <a:buAutoNum type="alphaLcPeriod"/>
            </a:pPr>
            <a:r>
              <a:rPr lang="en-US" dirty="0"/>
              <a:t>Intracellular recording</a:t>
            </a:r>
          </a:p>
          <a:p>
            <a:pPr marL="914400" indent="-457200">
              <a:spcBef>
                <a:spcPts val="1200"/>
              </a:spcBef>
              <a:buFont typeface="Arial" pitchFamily="34" charset="0"/>
              <a:buAutoNum type="alphaLcPeriod"/>
            </a:pPr>
            <a:r>
              <a:rPr lang="en-US" dirty="0" err="1"/>
              <a:t>Microdialysis</a:t>
            </a:r>
            <a:endParaRPr lang="en-US" dirty="0"/>
          </a:p>
          <a:p>
            <a:pPr marL="914400" indent="-457200">
              <a:spcBef>
                <a:spcPts val="1200"/>
              </a:spcBef>
              <a:buFont typeface="Arial" pitchFamily="34" charset="0"/>
              <a:buAutoNum type="alphaLcPeriod"/>
            </a:pPr>
            <a:r>
              <a:rPr lang="en-US" dirty="0"/>
              <a:t>Patch-clamp electrophysiology</a:t>
            </a:r>
          </a:p>
          <a:p>
            <a:pPr marL="914400" indent="-457200">
              <a:spcBef>
                <a:spcPts val="1200"/>
              </a:spcBef>
              <a:buFont typeface="Arial" pitchFamily="34" charset="0"/>
              <a:buAutoNum type="alphaLcPeriod"/>
            </a:pPr>
            <a:r>
              <a:rPr lang="en-US" dirty="0"/>
              <a:t>Autoradiography </a:t>
            </a:r>
          </a:p>
        </p:txBody>
      </p:sp>
    </p:spTree>
    <p:extLst>
      <p:ext uri="{BB962C8B-B14F-4D97-AF65-F5344CB8AC3E}">
        <p14:creationId xmlns:p14="http://schemas.microsoft.com/office/powerpoint/2010/main" val="28212425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(2 of 3)</a:t>
            </a:r>
            <a:endParaRPr lang="en-US" dirty="0"/>
          </a:p>
        </p:txBody>
      </p:sp>
      <p:sp>
        <p:nvSpPr>
          <p:cNvPr id="3" name="Text Placeholder 2"/>
          <p:cNvSpPr>
            <a:spLocks noGrp="1"/>
          </p:cNvSpPr>
          <p:nvPr>
            <p:ph idx="1"/>
          </p:nvPr>
        </p:nvSpPr>
        <p:spPr/>
        <p:txBody>
          <a:bodyPr>
            <a:normAutofit fontScale="77500" lnSpcReduction="20000"/>
          </a:bodyPr>
          <a:lstStyle/>
          <a:p>
            <a:pPr marL="914400" indent="-914400">
              <a:spcBef>
                <a:spcPts val="1800"/>
              </a:spcBef>
              <a:buNone/>
            </a:pPr>
            <a:r>
              <a:rPr lang="en-US" dirty="0"/>
              <a:t>4.2.1  Describe how stereotaxic surgery can be used in combination with a brain atlas to accurately target brain structures using a three-dimensional coordinate system.</a:t>
            </a:r>
          </a:p>
          <a:p>
            <a:pPr marL="914400" indent="-914400">
              <a:spcBef>
                <a:spcPts val="1800"/>
              </a:spcBef>
              <a:buNone/>
            </a:pPr>
            <a:r>
              <a:rPr lang="en-US" dirty="0"/>
              <a:t>4.2.2  Explain how neural activity can be monitored in awake, behaving animals. Compare and contrast neurochemical techniques, such as </a:t>
            </a:r>
            <a:r>
              <a:rPr lang="en-US" dirty="0" err="1"/>
              <a:t>microdialysis</a:t>
            </a:r>
            <a:r>
              <a:rPr lang="en-US" dirty="0"/>
              <a:t> and in vivo voltammetry with electrophysiological techniques. </a:t>
            </a:r>
          </a:p>
          <a:p>
            <a:pPr marL="914400" indent="-914400">
              <a:spcBef>
                <a:spcPts val="1800"/>
              </a:spcBef>
              <a:buNone/>
            </a:pPr>
            <a:r>
              <a:rPr lang="en-US" dirty="0"/>
              <a:t>4.2.3  Describe the similarities and differences between radiolabeling assays and techniques that use immunocytochemistry (ICC).Provide examples of how these techniques are typically used in neuropharmacology research. </a:t>
            </a:r>
          </a:p>
          <a:p>
            <a:pPr marL="914400" indent="-914400">
              <a:spcBef>
                <a:spcPts val="1800"/>
              </a:spcBef>
              <a:buNone/>
            </a:pPr>
            <a:r>
              <a:rPr lang="en-US" dirty="0"/>
              <a:t>4.2.4  Identify and describe various tools used for detecting gene expression and transcription levels, including in situ hybridization (ISH), DNA microarrays, and RNA sequencing (RNA-seq). </a:t>
            </a:r>
          </a:p>
        </p:txBody>
      </p:sp>
    </p:spTree>
    <p:extLst>
      <p:ext uri="{BB962C8B-B14F-4D97-AF65-F5344CB8AC3E}">
        <p14:creationId xmlns:p14="http://schemas.microsoft.com/office/powerpoint/2010/main" val="21673132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(3 of 3)</a:t>
            </a:r>
            <a:endParaRPr lang="en-US" dirty="0"/>
          </a:p>
        </p:txBody>
      </p:sp>
      <p:sp>
        <p:nvSpPr>
          <p:cNvPr id="3" name="Text Placeholder 2"/>
          <p:cNvSpPr>
            <a:spLocks noGrp="1"/>
          </p:cNvSpPr>
          <p:nvPr>
            <p:ph idx="1"/>
          </p:nvPr>
        </p:nvSpPr>
        <p:spPr/>
        <p:txBody>
          <a:bodyPr>
            <a:normAutofit fontScale="85000" lnSpcReduction="10000"/>
          </a:bodyPr>
          <a:lstStyle/>
          <a:p>
            <a:pPr marL="914400" indent="-914400">
              <a:spcBef>
                <a:spcPts val="1800"/>
              </a:spcBef>
              <a:buNone/>
            </a:pPr>
            <a:r>
              <a:rPr lang="en-US" dirty="0"/>
              <a:t>4.2.5  Describe the different brain imaging technologies, with particular emphasis on the relative advantages and disadvantages of each, with respect to their utility in neuropharmacology. Identify the advantages and disadvantages of electroencephalogram (EEG) technology relative to these imaging techniques.</a:t>
            </a:r>
          </a:p>
          <a:p>
            <a:pPr marL="914400" indent="-914400">
              <a:spcBef>
                <a:spcPts val="1800"/>
              </a:spcBef>
              <a:buNone/>
            </a:pPr>
            <a:r>
              <a:rPr lang="en-US" dirty="0"/>
              <a:t>4.2.6  Identify different genetic engineering technologies, including transgenic, knockout and </a:t>
            </a:r>
            <a:r>
              <a:rPr lang="en-US" dirty="0" err="1"/>
              <a:t>knockin</a:t>
            </a:r>
            <a:r>
              <a:rPr lang="en-US" dirty="0"/>
              <a:t> techniques, as well as optogenetic and DREADD technology and describe how they are useful for psychopharmacology research. Furthermore, explain how CRISPR technology has improved upon existing gene-editing techniques, and identify ethical issues associated with its potential use in humans.</a:t>
            </a:r>
          </a:p>
        </p:txBody>
      </p:sp>
    </p:spTree>
    <p:extLst>
      <p:ext uri="{BB962C8B-B14F-4D97-AF65-F5344CB8AC3E}">
        <p14:creationId xmlns:p14="http://schemas.microsoft.com/office/powerpoint/2010/main" val="2908778260"/>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2">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2.xml><?xml version="1.0" encoding="utf-8"?>
<ds:datastoreItem xmlns:ds="http://schemas.openxmlformats.org/officeDocument/2006/customXml" ds:itemID="{2856919D-3723-464B-9967-427A087CBD61}">
  <ds:schemaRef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schemas.microsoft.com/office/2006/documentManagement/types"/>
    <ds:schemaRef ds:uri="http://purl.org/dc/terms/"/>
    <ds:schemaRef ds:uri="http://www.w3.org/XML/1998/namespace"/>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1787</TotalTime>
  <Words>4231</Words>
  <Application>Microsoft Office PowerPoint</Application>
  <PresentationFormat>Widescreen</PresentationFormat>
  <Paragraphs>434</Paragraphs>
  <Slides>66</Slides>
  <Notes>60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66</vt:i4>
      </vt:variant>
    </vt:vector>
  </HeadingPairs>
  <TitlesOfParts>
    <vt:vector size="76" baseType="lpstr">
      <vt:lpstr>ＭＳ Ｐゴシック</vt:lpstr>
      <vt:lpstr>Arial</vt:lpstr>
      <vt:lpstr>Calibri</vt:lpstr>
      <vt:lpstr>Courier New</vt:lpstr>
      <vt:lpstr>DINPro-Bold</vt:lpstr>
      <vt:lpstr>DINPro-Light</vt:lpstr>
      <vt:lpstr>PalatinoLTStd-Italic</vt:lpstr>
      <vt:lpstr>PalatinoLTStd-Roman</vt:lpstr>
      <vt:lpstr>Text Content Templates</vt:lpstr>
      <vt:lpstr>Figure-Only Templates</vt:lpstr>
      <vt:lpstr>Psychopharmacology: Drugs, the Brain, and Behavior</vt:lpstr>
      <vt:lpstr>Chapter 4 Methods of Research in Psychopharmacology</vt:lpstr>
      <vt:lpstr>Chapter 4 Learning Objectives (1 of 3) </vt:lpstr>
      <vt:lpstr>Chapter 4 Learning Objectives (2 of 3)</vt:lpstr>
      <vt:lpstr>Chapter 4 Learning Objectives (3 of 3) </vt:lpstr>
      <vt:lpstr>Techniques in Behavioral Pharmacology (1 of 18)</vt:lpstr>
      <vt:lpstr>Techniques in Behavioral Pharmacology (2 of 18)</vt:lpstr>
      <vt:lpstr>Techniques in Behavioral Pharmacology (3 of 18)</vt:lpstr>
      <vt:lpstr>Techniques in Behavioral Pharmacology (4 of 18)</vt:lpstr>
      <vt:lpstr>Techniques in Behavioral Pharmacology (5 of 18)</vt:lpstr>
      <vt:lpstr>Techniques in Behavioral Pharmacology (6 of 18)</vt:lpstr>
      <vt:lpstr>Techniques in Behavioral Pharmacology (7 of 18)</vt:lpstr>
      <vt:lpstr>FIGURE 4.2  Rat in an operant chamber </vt:lpstr>
      <vt:lpstr>Techniques in Behavioral Pharmacology (8 of 18)</vt:lpstr>
      <vt:lpstr>Techniques in Behavioral Pharmacology (9 of 18)</vt:lpstr>
      <vt:lpstr>FIGURE 4.3  The tail-flick test of analgesia  </vt:lpstr>
      <vt:lpstr>Techniques in Behavioral Pharmacology (10 of 18)</vt:lpstr>
      <vt:lpstr>FIGURE 4.5  The Morris water maze </vt:lpstr>
      <vt:lpstr>Techniques in Behavioral Pharmacology (11 of 18)</vt:lpstr>
      <vt:lpstr>FIGURE 4.7  The elevated plus-maze </vt:lpstr>
      <vt:lpstr>Techniques in Behavioral Pharmacology (12 of 18)</vt:lpstr>
      <vt:lpstr>Techniques in Behavioral Pharmacology (13 of 18)</vt:lpstr>
      <vt:lpstr>Techniques in Behavioral Pharmacology (14 of 18)</vt:lpstr>
      <vt:lpstr>FIGURE 4.11  Drug discrimination testing </vt:lpstr>
      <vt:lpstr>Techniques in Behavioral Pharmacology (15 of 18)</vt:lpstr>
      <vt:lpstr>FIGURE 4.12  Automated analysis of behavior with computer vision (1)</vt:lpstr>
      <vt:lpstr>Techniques in Behavioral Pharmacology (16 of 18)</vt:lpstr>
      <vt:lpstr>Techniques in Behavioral Pharmacology (17 of 18)</vt:lpstr>
      <vt:lpstr>Box 4.1  Clinical Applications: Drug Testing for FDA Approval</vt:lpstr>
      <vt:lpstr>Techniques in Behavioral Pharmacology (18 of 18)</vt:lpstr>
      <vt:lpstr>Review of Learning Objectives (1 of 3)</vt:lpstr>
      <vt:lpstr>Techniques in Neuropharmacology (1 of 20)</vt:lpstr>
      <vt:lpstr>FIGURE 4.13  Stereotaxic surgery </vt:lpstr>
      <vt:lpstr>Techniques in Neuropharmacology (2 of 20)</vt:lpstr>
      <vt:lpstr>Techniques in Neuropharmacology (3 of 20)</vt:lpstr>
      <vt:lpstr>FIGURE 4.14  Sampling of extracellular fluid with microdialysis  </vt:lpstr>
      <vt:lpstr>Techniques in Neuropharmacology (4 of 20)</vt:lpstr>
      <vt:lpstr>Techniques in Neuropharmacology (5 of 20)</vt:lpstr>
      <vt:lpstr>Techniques in Neuropharmacology (6 of 20)</vt:lpstr>
      <vt:lpstr>Techniques in Neuropharmacology (7 of 20)</vt:lpstr>
      <vt:lpstr>FIGURE 4.18  Radioligand binding to receptors </vt:lpstr>
      <vt:lpstr>Techniques in Neuropharmacology (8 of 20)</vt:lpstr>
      <vt:lpstr>FIGURE 4.19  Autoradiogram of the distribution of cocaine binding in monkey brain </vt:lpstr>
      <vt:lpstr>Techniques in Neuropharmacology (9 of 20)</vt:lpstr>
      <vt:lpstr>FIGURE 4.20  Immunocytochemistry (ICC) uses tagged antibodies to locate molecules within cells (1)</vt:lpstr>
      <vt:lpstr>Techniques in Neuropharmacology (10 of 20)</vt:lpstr>
      <vt:lpstr>FIGURE 4.23  In situ hybridization (ISH) </vt:lpstr>
      <vt:lpstr>Techniques in Neuropharmacology (11 of 20)</vt:lpstr>
      <vt:lpstr>Techniques in Neuropharmacology (12 of 20)</vt:lpstr>
      <vt:lpstr>FIGURE 4.25  A three-dimensional image formed with MRI  </vt:lpstr>
      <vt:lpstr>Techniques in Neuropharmacology (13 of 20)</vt:lpstr>
      <vt:lpstr>FIGURE 4.27  Electroencephalography (EEG) </vt:lpstr>
      <vt:lpstr>Techniques in Neuropharmacology (14 of 20)</vt:lpstr>
      <vt:lpstr>FIGURE 4.28  Illustration of genetic engineering </vt:lpstr>
      <vt:lpstr>Techniques in Neuropharmacology (15 of 20)</vt:lpstr>
      <vt:lpstr>Techniques in Neuropharmacology (16 of 20)</vt:lpstr>
      <vt:lpstr>BOX 4.3  Pharmacology in Action: Transgenic Model of Huntington’s Disease (Part 1)</vt:lpstr>
      <vt:lpstr>BOX 4.3  Pharmacology in Action: Transgenic Model of Huntington’s Disease (Part 2)</vt:lpstr>
      <vt:lpstr>BOX 4.3  Pharmacology in Action: Transgenic Model of Huntington’s Disease (Part 3)</vt:lpstr>
      <vt:lpstr>Techniques in Neuropharmacology (17 of 20)</vt:lpstr>
      <vt:lpstr>FIGURE 4.31  Behavioral control using optogenetics </vt:lpstr>
      <vt:lpstr>Techniques in Neuropharmacology (18 of 20)</vt:lpstr>
      <vt:lpstr>Techniques in Neuropharmacology (19 of 20)</vt:lpstr>
      <vt:lpstr>Techniques in Neuropharmacology (20 of 20)</vt:lpstr>
      <vt:lpstr>Review of Learning Objectives (2 of 3)</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55</cp:revision>
  <dcterms:created xsi:type="dcterms:W3CDTF">2021-11-13T04:08:54Z</dcterms:created>
  <dcterms:modified xsi:type="dcterms:W3CDTF">2022-03-02T23:47:16Z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