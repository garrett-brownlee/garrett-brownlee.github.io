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80" r:id="rId5"/>
  </p:sldMasterIdLst>
  <p:notesMasterIdLst>
    <p:notesMasterId r:id="rId71"/>
  </p:notesMasterIdLst>
  <p:handoutMasterIdLst>
    <p:handoutMasterId r:id="rId72"/>
  </p:handoutMasterIdLst>
  <p:sldIdLst>
    <p:sldId id="346" r:id="rId6"/>
    <p:sldId id="270" r:id="rId7"/>
    <p:sldId id="274" r:id="rId8"/>
    <p:sldId id="347" r:id="rId9"/>
    <p:sldId id="288" r:id="rId10"/>
    <p:sldId id="348" r:id="rId11"/>
    <p:sldId id="271" r:id="rId12"/>
    <p:sldId id="289" r:id="rId13"/>
    <p:sldId id="290" r:id="rId14"/>
    <p:sldId id="291" r:id="rId15"/>
    <p:sldId id="292" r:id="rId16"/>
    <p:sldId id="353" r:id="rId17"/>
    <p:sldId id="293" r:id="rId18"/>
    <p:sldId id="294" r:id="rId19"/>
    <p:sldId id="354" r:id="rId20"/>
    <p:sldId id="297" r:id="rId21"/>
    <p:sldId id="295" r:id="rId22"/>
    <p:sldId id="300" r:id="rId23"/>
    <p:sldId id="355" r:id="rId24"/>
    <p:sldId id="302" r:id="rId25"/>
    <p:sldId id="356" r:id="rId26"/>
    <p:sldId id="304" r:id="rId27"/>
    <p:sldId id="305" r:id="rId28"/>
    <p:sldId id="357" r:id="rId29"/>
    <p:sldId id="307" r:id="rId30"/>
    <p:sldId id="308" r:id="rId31"/>
    <p:sldId id="358" r:id="rId32"/>
    <p:sldId id="310" r:id="rId33"/>
    <p:sldId id="311" r:id="rId34"/>
    <p:sldId id="312" r:id="rId35"/>
    <p:sldId id="359" r:id="rId36"/>
    <p:sldId id="314" r:id="rId37"/>
    <p:sldId id="315" r:id="rId38"/>
    <p:sldId id="316" r:id="rId39"/>
    <p:sldId id="317" r:id="rId40"/>
    <p:sldId id="285" r:id="rId41"/>
    <p:sldId id="345" r:id="rId42"/>
    <p:sldId id="350" r:id="rId43"/>
    <p:sldId id="349" r:id="rId44"/>
    <p:sldId id="318" r:id="rId45"/>
    <p:sldId id="360" r:id="rId46"/>
    <p:sldId id="319" r:id="rId47"/>
    <p:sldId id="321" r:id="rId48"/>
    <p:sldId id="322" r:id="rId49"/>
    <p:sldId id="361" r:id="rId50"/>
    <p:sldId id="326" r:id="rId51"/>
    <p:sldId id="362" r:id="rId52"/>
    <p:sldId id="327" r:id="rId53"/>
    <p:sldId id="363" r:id="rId54"/>
    <p:sldId id="329" r:id="rId55"/>
    <p:sldId id="364" r:id="rId56"/>
    <p:sldId id="331" r:id="rId57"/>
    <p:sldId id="332" r:id="rId58"/>
    <p:sldId id="333" r:id="rId59"/>
    <p:sldId id="336" r:id="rId60"/>
    <p:sldId id="337" r:id="rId61"/>
    <p:sldId id="365" r:id="rId62"/>
    <p:sldId id="334" r:id="rId63"/>
    <p:sldId id="335" r:id="rId64"/>
    <p:sldId id="366" r:id="rId65"/>
    <p:sldId id="341" r:id="rId66"/>
    <p:sldId id="343" r:id="rId67"/>
    <p:sldId id="339" r:id="rId68"/>
    <p:sldId id="351" r:id="rId69"/>
    <p:sldId id="352" r:id="rId7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A47"/>
    <a:srgbClr val="014478"/>
    <a:srgbClr val="001B47"/>
    <a:srgbClr val="1F497D"/>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45" autoAdjust="0"/>
    <p:restoredTop sz="76126" autoAdjust="0"/>
  </p:normalViewPr>
  <p:slideViewPr>
    <p:cSldViewPr snapToGrid="0" snapToObjects="1">
      <p:cViewPr varScale="1">
        <p:scale>
          <a:sx n="91" d="100"/>
          <a:sy n="91" d="100"/>
        </p:scale>
        <p:origin x="102" y="49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30" d="100"/>
        <a:sy n="130" d="100"/>
      </p:scale>
      <p:origin x="0" y="-11964"/>
    </p:cViewPr>
  </p:sorterViewPr>
  <p:notesViewPr>
    <p:cSldViewPr snapToGrid="0" snapToObjects="1">
      <p:cViewPr varScale="1">
        <p:scale>
          <a:sx n="85" d="100"/>
          <a:sy n="85" d="100"/>
        </p:scale>
        <p:origin x="31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tableStyles" Target="tableStyles.xml"/><Relationship Id="rId7" Type="http://schemas.openxmlformats.org/officeDocument/2006/relationships/slide" Target="slides/slide2.xml"/><Relationship Id="rId71"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685613-ADFF-4141-B66C-A45235623B50}" type="datetimeFigureOut">
              <a:rPr lang="en-US" smtClean="0"/>
              <a:t>3/2/2022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92E8A8-05A8-499B-9FC4-E546163481AE}" type="slidenum">
              <a:rPr lang="en-US" smtClean="0"/>
              <a:t>‹#›</a:t>
            </a:fld>
            <a:endParaRPr lang="en-US"/>
          </a:p>
        </p:txBody>
      </p:sp>
    </p:spTree>
    <p:extLst>
      <p:ext uri="{BB962C8B-B14F-4D97-AF65-F5344CB8AC3E}">
        <p14:creationId xmlns:p14="http://schemas.microsoft.com/office/powerpoint/2010/main" val="104911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1F5199-F7F4-4FB2-A2CD-22A2CFC87608}" type="datetimeFigureOut">
              <a:rPr lang="en-US" smtClean="0"/>
              <a:t>3/2/2022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6C0744-2FEF-4441-821D-70180A370937}" type="slidenum">
              <a:rPr lang="en-US" smtClean="0"/>
              <a:t>‹#›</a:t>
            </a:fld>
            <a:endParaRPr lang="en-US"/>
          </a:p>
        </p:txBody>
      </p:sp>
    </p:spTree>
    <p:extLst>
      <p:ext uri="{BB962C8B-B14F-4D97-AF65-F5344CB8AC3E}">
        <p14:creationId xmlns:p14="http://schemas.microsoft.com/office/powerpoint/2010/main" val="127170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56C0744-2FEF-4441-821D-70180A370937}" type="slidenum">
              <a:rPr lang="en-US" smtClean="0"/>
              <a:t>1</a:t>
            </a:fld>
            <a:endParaRPr lang="en-US"/>
          </a:p>
        </p:txBody>
      </p:sp>
    </p:spTree>
    <p:extLst>
      <p:ext uri="{BB962C8B-B14F-4D97-AF65-F5344CB8AC3E}">
        <p14:creationId xmlns:p14="http://schemas.microsoft.com/office/powerpoint/2010/main" val="486279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7</a:t>
            </a:fld>
            <a:endParaRPr lang="en-US"/>
          </a:p>
        </p:txBody>
      </p:sp>
    </p:spTree>
    <p:extLst>
      <p:ext uri="{BB962C8B-B14F-4D97-AF65-F5344CB8AC3E}">
        <p14:creationId xmlns:p14="http://schemas.microsoft.com/office/powerpoint/2010/main" val="766032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8</a:t>
            </a:fld>
            <a:endParaRPr lang="en-US"/>
          </a:p>
        </p:txBody>
      </p:sp>
    </p:spTree>
    <p:extLst>
      <p:ext uri="{BB962C8B-B14F-4D97-AF65-F5344CB8AC3E}">
        <p14:creationId xmlns:p14="http://schemas.microsoft.com/office/powerpoint/2010/main" val="27678282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9</a:t>
            </a:fld>
            <a:endParaRPr lang="en-US"/>
          </a:p>
        </p:txBody>
      </p:sp>
    </p:spTree>
    <p:extLst>
      <p:ext uri="{BB962C8B-B14F-4D97-AF65-F5344CB8AC3E}">
        <p14:creationId xmlns:p14="http://schemas.microsoft.com/office/powerpoint/2010/main" val="15718822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10</a:t>
            </a:fld>
            <a:endParaRPr lang="en-US"/>
          </a:p>
        </p:txBody>
      </p:sp>
    </p:spTree>
    <p:extLst>
      <p:ext uri="{BB962C8B-B14F-4D97-AF65-F5344CB8AC3E}">
        <p14:creationId xmlns:p14="http://schemas.microsoft.com/office/powerpoint/2010/main" val="32237088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11</a:t>
            </a:fld>
            <a:endParaRPr lang="en-US"/>
          </a:p>
        </p:txBody>
      </p:sp>
    </p:spTree>
    <p:extLst>
      <p:ext uri="{BB962C8B-B14F-4D97-AF65-F5344CB8AC3E}">
        <p14:creationId xmlns:p14="http://schemas.microsoft.com/office/powerpoint/2010/main" val="20401180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1.1  </a:t>
            </a:r>
            <a:r>
              <a:rPr lang="en-US" sz="1200" b="1" kern="1200" dirty="0">
                <a:solidFill>
                  <a:schemeClr val="tx1"/>
                </a:solidFill>
                <a:effectLst/>
                <a:latin typeface="+mn-lt"/>
                <a:ea typeface="+mn-ea"/>
                <a:cs typeface="+mn-cs"/>
              </a:rPr>
              <a:t>Pharmacokinetic factors that determine bioavailability of drugs 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From the site of administration (1), the drug moves through cell membranes to be absorbed into the blood (2), where it circulates to all cells in the body. Some of the drug molecules may bind to inactive sites such as plasma proteins or storage depots (3), and others may bind to receptors in target tissue. Bloodborne drug molecules also enter the liver (4), where they may be transformed into metabolites and travel to the kidneys and other discharge sites for ultimate excretion (5) from the body.</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12</a:t>
            </a:fld>
            <a:endParaRPr lang="en-US"/>
          </a:p>
        </p:txBody>
      </p:sp>
    </p:spTree>
    <p:extLst>
      <p:ext uri="{BB962C8B-B14F-4D97-AF65-F5344CB8AC3E}">
        <p14:creationId xmlns:p14="http://schemas.microsoft.com/office/powerpoint/2010/main" val="1009375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sz="1800" b="1" i="0" u="none" strike="noStrike" baseline="0" dirty="0">
                <a:latin typeface="DINPro-Bold"/>
              </a:rPr>
              <a:t>Enteral </a:t>
            </a:r>
            <a:r>
              <a:rPr lang="en-US" sz="1800" b="0" i="0" u="none" strike="noStrike" baseline="0" dirty="0">
                <a:latin typeface="PalatinoLTStd-Roman"/>
              </a:rPr>
              <a:t>methods use the GI tract (oral and rectal); </a:t>
            </a:r>
            <a:r>
              <a:rPr lang="en-US" sz="1800" b="1" i="0" u="none" strike="noStrike" baseline="0" dirty="0">
                <a:latin typeface="DINPro-Bold"/>
              </a:rPr>
              <a:t>parenteral</a:t>
            </a:r>
            <a:r>
              <a:rPr lang="en-US" sz="1800" b="0" i="0" u="none" strike="noStrike" baseline="0" dirty="0">
                <a:latin typeface="PalatinoLTStd-Roman"/>
              </a:rPr>
              <a:t> methods include injection and pulmonary administration.</a:t>
            </a:r>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13</a:t>
            </a:fld>
            <a:endParaRPr lang="en-US"/>
          </a:p>
        </p:txBody>
      </p:sp>
    </p:spTree>
    <p:extLst>
      <p:ext uri="{BB962C8B-B14F-4D97-AF65-F5344CB8AC3E}">
        <p14:creationId xmlns:p14="http://schemas.microsoft.com/office/powerpoint/2010/main" val="4010491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14</a:t>
            </a:fld>
            <a:endParaRPr lang="en-US"/>
          </a:p>
        </p:txBody>
      </p:sp>
    </p:spTree>
    <p:extLst>
      <p:ext uri="{BB962C8B-B14F-4D97-AF65-F5344CB8AC3E}">
        <p14:creationId xmlns:p14="http://schemas.microsoft.com/office/powerpoint/2010/main" val="3205092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1.2  </a:t>
            </a:r>
            <a:r>
              <a:rPr lang="en-US" sz="1200" b="1" kern="1200" dirty="0">
                <a:solidFill>
                  <a:schemeClr val="tx1"/>
                </a:solidFill>
                <a:effectLst/>
                <a:latin typeface="+mn-lt"/>
                <a:ea typeface="+mn-ea"/>
                <a:cs typeface="+mn-cs"/>
              </a:rPr>
              <a:t>Routes of drug administration 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First-pass effect. Drugs administered orally are absorbed into the blood and must pass through the liver before reaching the general circulation. Some drug molecules may be destroyed in the liver before they can reach target tissues. The arrows indicate the direction of blood flow in the arteries (red) and veins (blue). (Top inset) Pulmonary absorption through capillaries in the alveoli. Rapid absorption occurs after inhalation because the large surface area of the lungs and the rich capillary networks provide efficient exchange of gases to and from the blood. (Bottom inset) Methods of administration by injection. The speed of absorption of drug molecules from administration sites depends on the amount of blood circulating to that area.</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15</a:t>
            </a:fld>
            <a:endParaRPr lang="en-US"/>
          </a:p>
        </p:txBody>
      </p:sp>
    </p:spTree>
    <p:extLst>
      <p:ext uri="{BB962C8B-B14F-4D97-AF65-F5344CB8AC3E}">
        <p14:creationId xmlns:p14="http://schemas.microsoft.com/office/powerpoint/2010/main" val="27140763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Rectal administration</a:t>
            </a:r>
            <a:r>
              <a:rPr lang="en-US" dirty="0"/>
              <a:t>: the drug may avoid some first-pass metabolism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Intraperitoneal</a:t>
            </a:r>
            <a:r>
              <a:rPr lang="en-US" dirty="0"/>
              <a:t> (</a:t>
            </a:r>
            <a:r>
              <a:rPr lang="en-US" b="1" dirty="0"/>
              <a:t>IP</a:t>
            </a:r>
            <a:r>
              <a:rPr lang="en-US" dirty="0"/>
              <a:t>) injection: into peritoneal cavity – mostly used for laboratory animals.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Sublingual</a:t>
            </a:r>
            <a:r>
              <a:rPr lang="en-US" dirty="0"/>
              <a:t>: under the tongue; rapid absorption into capillaries; avoids first-pass metabolism</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16</a:t>
            </a:fld>
            <a:endParaRPr lang="en-US"/>
          </a:p>
        </p:txBody>
      </p:sp>
    </p:spTree>
    <p:extLst>
      <p:ext uri="{BB962C8B-B14F-4D97-AF65-F5344CB8AC3E}">
        <p14:creationId xmlns:p14="http://schemas.microsoft.com/office/powerpoint/2010/main" val="28467288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sz="1200" b="0" i="0" u="none" strike="noStrike" baseline="0" dirty="0">
                <a:latin typeface="PalatinoLTStd-Roman"/>
              </a:rPr>
              <a:t>Intranasal administration bypasses the blood–brain barrier, perhaps by direct access to the </a:t>
            </a:r>
            <a:r>
              <a:rPr lang="en-US" sz="1200" b="1" i="0" u="none" strike="noStrike" baseline="0" dirty="0">
                <a:latin typeface="DINPro-Bold"/>
              </a:rPr>
              <a:t>cerebrospinal fluid </a:t>
            </a:r>
            <a:r>
              <a:rPr lang="en-US" sz="1200" b="0" i="0" u="none" strike="noStrike" baseline="0" dirty="0">
                <a:latin typeface="PalatinoLTStd-Roman"/>
              </a:rPr>
              <a:t>[</a:t>
            </a:r>
            <a:r>
              <a:rPr lang="en-US" sz="1200" b="1" i="0" u="none" strike="noStrike" baseline="0" dirty="0">
                <a:latin typeface="DINPro-Bold"/>
              </a:rPr>
              <a:t>CSF</a:t>
            </a:r>
            <a:r>
              <a:rPr lang="en-US" sz="1200" b="0" i="0" u="none" strike="noStrike" baseline="0" dirty="0">
                <a:latin typeface="PalatinoLTStd-Roman"/>
              </a:rPr>
              <a:t>] and moving from there to extracellular fluid found in the intercellular</a:t>
            </a:r>
          </a:p>
          <a:p>
            <a:pPr algn="l"/>
            <a:r>
              <a:rPr lang="en-US" sz="1200" b="0" i="0" u="none" strike="noStrike" baseline="0" dirty="0">
                <a:latin typeface="PalatinoLTStd-Roman"/>
              </a:rPr>
              <a:t>spaces between neurons.</a:t>
            </a:r>
            <a:endParaRPr lang="en-US" u="sng" dirty="0"/>
          </a:p>
          <a:p>
            <a:pPr marL="0" indent="0">
              <a:spcBef>
                <a:spcPts val="1800"/>
              </a:spcBef>
              <a:buNone/>
            </a:pPr>
            <a:r>
              <a:rPr lang="en-US" b="1" dirty="0"/>
              <a:t>Central</a:t>
            </a:r>
            <a:r>
              <a:rPr lang="en-US" dirty="0"/>
              <a:t> routes of administration for drugs that act on neurons:</a:t>
            </a:r>
          </a:p>
          <a:p>
            <a:pPr marL="400050" lvl="1" indent="0">
              <a:spcBef>
                <a:spcPts val="1800"/>
              </a:spcBef>
              <a:buNone/>
            </a:pPr>
            <a:r>
              <a:rPr lang="en-US" b="1" dirty="0"/>
              <a:t>Intrathecal</a:t>
            </a:r>
            <a:r>
              <a:rPr lang="en-US" dirty="0"/>
              <a:t> injection into subarachnoid space</a:t>
            </a:r>
            <a:endParaRPr lang="en-US" b="1" dirty="0"/>
          </a:p>
          <a:p>
            <a:pPr marL="400050" lvl="1" indent="0">
              <a:spcBef>
                <a:spcPts val="1800"/>
              </a:spcBef>
              <a:buNone/>
            </a:pPr>
            <a:r>
              <a:rPr lang="en-US" b="1" dirty="0"/>
              <a:t>Intracranial</a:t>
            </a:r>
            <a:r>
              <a:rPr lang="en-US" dirty="0"/>
              <a:t> injection into discrete areas of brain tissue</a:t>
            </a:r>
          </a:p>
          <a:p>
            <a:pPr marL="400050" lvl="1" indent="0">
              <a:spcBef>
                <a:spcPts val="1800"/>
              </a:spcBef>
              <a:buNone/>
            </a:pPr>
            <a:r>
              <a:rPr lang="en-US" b="1" dirty="0"/>
              <a:t>Intracerebroventricular</a:t>
            </a:r>
            <a:r>
              <a:rPr lang="en-US" dirty="0"/>
              <a:t> injection into ventricles</a:t>
            </a:r>
          </a:p>
          <a:p>
            <a:pPr marL="400050" lvl="1" indent="0">
              <a:spcBef>
                <a:spcPts val="1800"/>
              </a:spcBef>
              <a:buNone/>
            </a:pPr>
            <a:r>
              <a:rPr lang="en-US" b="1" dirty="0"/>
              <a:t>Infusion pump </a:t>
            </a:r>
            <a:r>
              <a:rPr lang="en-US" dirty="0"/>
              <a:t>delivers constant dose to ventricles</a:t>
            </a:r>
          </a:p>
          <a:p>
            <a:r>
              <a:rPr lang="en-US" u="none" dirty="0"/>
              <a:t>Infusion pump is used to administer antibiotics for </a:t>
            </a:r>
            <a:r>
              <a:rPr lang="en-US" sz="1800" b="0" i="0" u="none" strike="noStrike" baseline="0" dirty="0">
                <a:latin typeface="PalatinoLTStd-Roman"/>
              </a:rPr>
              <a:t>cerebral meningitis; also used for systemic drugs, e.g., insulin.</a:t>
            </a:r>
          </a:p>
          <a:p>
            <a:r>
              <a:rPr lang="en-US" sz="1800" b="1" i="0" u="none" strike="noStrike" baseline="0" dirty="0">
                <a:latin typeface="PalatinoLTStd-Roman"/>
              </a:rPr>
              <a:t>Viral vectors </a:t>
            </a:r>
            <a:r>
              <a:rPr lang="en-US" sz="1800" b="0" i="0" u="none" strike="noStrike" baseline="0" dirty="0">
                <a:latin typeface="PalatinoLTStd-Roman"/>
              </a:rPr>
              <a:t>are under research as a delivery mechanism for DNA in </a:t>
            </a:r>
            <a:r>
              <a:rPr lang="en-US" sz="1800" b="1" i="0" u="none" strike="noStrike" baseline="0" dirty="0">
                <a:latin typeface="PalatinoLTStd-Roman"/>
              </a:rPr>
              <a:t>gene therapy</a:t>
            </a:r>
            <a:r>
              <a:rPr lang="en-US" sz="1800" b="0" i="0" u="none" strike="noStrike" baseline="0" dirty="0">
                <a:latin typeface="PalatinoLTStd-Roman"/>
              </a:rPr>
              <a:t>.</a:t>
            </a:r>
            <a:endParaRPr lang="en-US" u="non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17</a:t>
            </a:fld>
            <a:endParaRPr lang="en-US"/>
          </a:p>
        </p:txBody>
      </p:sp>
    </p:spTree>
    <p:extLst>
      <p:ext uri="{BB962C8B-B14F-4D97-AF65-F5344CB8AC3E}">
        <p14:creationId xmlns:p14="http://schemas.microsoft.com/office/powerpoint/2010/main" val="8158810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18</a:t>
            </a:fld>
            <a:endParaRPr lang="en-US"/>
          </a:p>
        </p:txBody>
      </p:sp>
    </p:spTree>
    <p:extLst>
      <p:ext uri="{BB962C8B-B14F-4D97-AF65-F5344CB8AC3E}">
        <p14:creationId xmlns:p14="http://schemas.microsoft.com/office/powerpoint/2010/main" val="38849690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1.4  </a:t>
            </a:r>
            <a:r>
              <a:rPr lang="en-US" sz="1200" b="1" kern="1200" dirty="0">
                <a:solidFill>
                  <a:schemeClr val="tx1"/>
                </a:solidFill>
                <a:effectLst/>
                <a:latin typeface="+mn-lt"/>
                <a:ea typeface="+mn-ea"/>
                <a:cs typeface="+mn-cs"/>
              </a:rPr>
              <a:t>The time course of drug blood level depends on route of administration 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blood level of the same amount of drug administered by different procedures to the same indi­vidual varies significantly. Intravenous (IV) administration produces an instantaneous peak when the drug is placed in the blood, followed by a rapid decline. Intramuscular (IM) administration produces rapid absorption and rapid decline, although IM admin­istration in oil (IM-oil) shows slower absorption and gradual decline. Slow absorption after subcutaneous (SC) administration means that some of the drug is metabolized before absorption is complete. For this reason, no sharp peak occurs, and overall blood levels are lower. Oral (PO) administration produces the lowest blood levels and a relatively short time over threshold for effectiveness in this instance. (After R. R. Levine. 1973. </a:t>
            </a:r>
            <a:r>
              <a:rPr lang="en-US" sz="1200" i="1" kern="1200" dirty="0">
                <a:solidFill>
                  <a:schemeClr val="tx1"/>
                </a:solidFill>
                <a:effectLst/>
                <a:latin typeface="+mn-lt"/>
                <a:ea typeface="+mn-ea"/>
                <a:cs typeface="+mn-cs"/>
              </a:rPr>
              <a:t>Pharmacology: Drug Actions and Reactions</a:t>
            </a:r>
            <a:r>
              <a:rPr lang="en-US" sz="1200" kern="1200" dirty="0">
                <a:solidFill>
                  <a:schemeClr val="tx1"/>
                </a:solidFill>
                <a:effectLst/>
                <a:latin typeface="+mn-lt"/>
                <a:ea typeface="+mn-ea"/>
                <a:cs typeface="+mn-cs"/>
              </a:rPr>
              <a:t>. Little, Brown, and Co.: Boston; D. F. Marsh. 1951. </a:t>
            </a:r>
            <a:r>
              <a:rPr lang="en-US" sz="1200" i="1" kern="1200" dirty="0">
                <a:solidFill>
                  <a:schemeClr val="tx1"/>
                </a:solidFill>
                <a:effectLst/>
                <a:latin typeface="+mn-lt"/>
                <a:ea typeface="+mn-ea"/>
                <a:cs typeface="+mn-cs"/>
              </a:rPr>
              <a:t>Outlines of Fundamental Pharmacology</a:t>
            </a:r>
            <a:r>
              <a:rPr lang="en-US" sz="1200" kern="1200" dirty="0">
                <a:solidFill>
                  <a:schemeClr val="tx1"/>
                </a:solidFill>
                <a:effectLst/>
                <a:latin typeface="+mn-lt"/>
                <a:ea typeface="+mn-ea"/>
                <a:cs typeface="+mn-cs"/>
              </a:rPr>
              <a:t>. Charles C. Thomas: Springfield, IL.)</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19</a:t>
            </a:fld>
            <a:endParaRPr lang="en-US"/>
          </a:p>
        </p:txBody>
      </p:sp>
    </p:spTree>
    <p:extLst>
      <p:ext uri="{BB962C8B-B14F-4D97-AF65-F5344CB8AC3E}">
        <p14:creationId xmlns:p14="http://schemas.microsoft.com/office/powerpoint/2010/main" val="26333438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20</a:t>
            </a:fld>
            <a:endParaRPr lang="en-US"/>
          </a:p>
        </p:txBody>
      </p:sp>
    </p:spTree>
    <p:extLst>
      <p:ext uri="{BB962C8B-B14F-4D97-AF65-F5344CB8AC3E}">
        <p14:creationId xmlns:p14="http://schemas.microsoft.com/office/powerpoint/2010/main" val="24229849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1.5  </a:t>
            </a:r>
            <a:r>
              <a:rPr lang="en-US" sz="1200" b="1" kern="1200" dirty="0">
                <a:solidFill>
                  <a:schemeClr val="tx1"/>
                </a:solidFill>
                <a:effectLst/>
                <a:latin typeface="+mn-lt"/>
                <a:ea typeface="+mn-ea"/>
                <a:cs typeface="+mn-cs"/>
              </a:rPr>
              <a:t>Cell membranes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Example of a phospholipid molecule with a negatively charged group (PO</a:t>
            </a:r>
            <a:r>
              <a:rPr lang="en-US" sz="1200" kern="1200" baseline="-25000" dirty="0">
                <a:solidFill>
                  <a:schemeClr val="tx1"/>
                </a:solidFill>
                <a:effectLst/>
                <a:latin typeface="+mn-lt"/>
                <a:ea typeface="+mn-ea"/>
                <a:cs typeface="+mn-cs"/>
              </a:rPr>
              <a:t>4</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one end (hydrophilic) and two fatty uncharged tails (hydrophobic). (B) The arrangement of individual phospholipid molecules forms a bilayer, with negatively charged heads attracted to the water molecules of both intracellular and extracellular fluids. The fatty tails of the molecules are tucked within the two charged layers and have no contact with aqueous fluid. Embedded in the bilayer are protein molecules that serve as receptors or channels.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21</a:t>
            </a:fld>
            <a:endParaRPr lang="en-US"/>
          </a:p>
        </p:txBody>
      </p:sp>
    </p:spTree>
    <p:extLst>
      <p:ext uri="{BB962C8B-B14F-4D97-AF65-F5344CB8AC3E}">
        <p14:creationId xmlns:p14="http://schemas.microsoft.com/office/powerpoint/2010/main" val="23459971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22</a:t>
            </a:fld>
            <a:endParaRPr lang="en-US"/>
          </a:p>
        </p:txBody>
      </p:sp>
    </p:spTree>
    <p:extLst>
      <p:ext uri="{BB962C8B-B14F-4D97-AF65-F5344CB8AC3E}">
        <p14:creationId xmlns:p14="http://schemas.microsoft.com/office/powerpoint/2010/main" val="7586777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u="none" dirty="0"/>
              <a:t>Other factors include rate of passage through the stomach. Greater surface area and slower movement through small intestines = more opportunity for absorption.</a:t>
            </a:r>
          </a:p>
          <a:p>
            <a:r>
              <a:rPr lang="en-US" u="none" dirty="0"/>
              <a:t>Drug dosage depends on size and sex of an individual.</a:t>
            </a:r>
          </a:p>
        </p:txBody>
      </p:sp>
      <p:sp>
        <p:nvSpPr>
          <p:cNvPr id="4" name="Slide Number Placeholder 3"/>
          <p:cNvSpPr>
            <a:spLocks noGrp="1"/>
          </p:cNvSpPr>
          <p:nvPr>
            <p:ph type="sldNum" sz="quarter" idx="5"/>
          </p:nvPr>
        </p:nvSpPr>
        <p:spPr/>
        <p:txBody>
          <a:bodyPr/>
          <a:lstStyle/>
          <a:p>
            <a:fld id="{556C0744-2FEF-4441-821D-70180A370937}" type="slidenum">
              <a:rPr lang="en-US" smtClean="0"/>
              <a:t>23</a:t>
            </a:fld>
            <a:endParaRPr lang="en-US"/>
          </a:p>
        </p:txBody>
      </p:sp>
    </p:spTree>
    <p:extLst>
      <p:ext uri="{BB962C8B-B14F-4D97-AF65-F5344CB8AC3E}">
        <p14:creationId xmlns:p14="http://schemas.microsoft.com/office/powerpoint/2010/main" val="26617872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1.6  </a:t>
            </a:r>
            <a:r>
              <a:rPr lang="en-US" sz="1200" b="1" kern="1200" dirty="0">
                <a:solidFill>
                  <a:schemeClr val="tx1"/>
                </a:solidFill>
                <a:effectLst/>
                <a:latin typeface="+mn-lt"/>
                <a:ea typeface="+mn-ea"/>
                <a:cs typeface="+mn-cs"/>
              </a:rPr>
              <a:t>Effect of ionization on drug absorption 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 the right side of the cell barrier in stomach acid (pH 2.0), aspirin molecules tend to remain in the non-ionized form (1), which promotes the passage of the drug through the cell walls (2) to the blood. Once the intact aspirin molecules reach the blood (pH 7.4), they ionize (3) and are “trapped” in the blood to be circulated throughout the body. In the lower portion of the figure, when the aspirin has reached the intestine, it tends to dissociate to a greater extent (4) in the more basic </a:t>
            </a:r>
            <a:r>
              <a:rPr lang="en-US" sz="1200" kern="1200" dirty="0" err="1">
                <a:solidFill>
                  <a:schemeClr val="tx1"/>
                </a:solidFill>
                <a:effectLst/>
                <a:latin typeface="+mn-lt"/>
                <a:ea typeface="+mn-ea"/>
                <a:cs typeface="+mn-cs"/>
              </a:rPr>
              <a:t>pH.</a:t>
            </a:r>
            <a:r>
              <a:rPr lang="en-US" sz="1200" kern="1200" dirty="0">
                <a:solidFill>
                  <a:schemeClr val="tx1"/>
                </a:solidFill>
                <a:effectLst/>
                <a:latin typeface="+mn-lt"/>
                <a:ea typeface="+mn-ea"/>
                <a:cs typeface="+mn-cs"/>
              </a:rPr>
              <a:t> Its more ionized form reduces passage (5) through the cells to the blood, so absorption from the intestine is slower than from the stomach.</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24</a:t>
            </a:fld>
            <a:endParaRPr lang="en-US"/>
          </a:p>
        </p:txBody>
      </p:sp>
    </p:spTree>
    <p:extLst>
      <p:ext uri="{BB962C8B-B14F-4D97-AF65-F5344CB8AC3E}">
        <p14:creationId xmlns:p14="http://schemas.microsoft.com/office/powerpoint/2010/main" val="20937980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25</a:t>
            </a:fld>
            <a:endParaRPr lang="en-US"/>
          </a:p>
        </p:txBody>
      </p:sp>
    </p:spTree>
    <p:extLst>
      <p:ext uri="{BB962C8B-B14F-4D97-AF65-F5344CB8AC3E}">
        <p14:creationId xmlns:p14="http://schemas.microsoft.com/office/powerpoint/2010/main" val="13319229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Typical capillaries: endothelial cells with </a:t>
            </a:r>
            <a:r>
              <a:rPr lang="en-US" b="1" dirty="0"/>
              <a:t>intercellular clefts </a:t>
            </a:r>
            <a:r>
              <a:rPr lang="en-US" dirty="0"/>
              <a:t>and </a:t>
            </a:r>
            <a:r>
              <a:rPr lang="en-US" b="1" dirty="0"/>
              <a:t>fenestrations</a:t>
            </a:r>
            <a:r>
              <a:rPr lang="en-US" dirty="0"/>
              <a:t> that allow molecules to pass, plus </a:t>
            </a:r>
            <a:r>
              <a:rPr lang="en-US" b="1" dirty="0"/>
              <a:t>pinocytotic vesicles</a:t>
            </a:r>
            <a:r>
              <a:rPr lang="en-US" dirty="0"/>
              <a:t> to transport larger molecules.</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26</a:t>
            </a:fld>
            <a:endParaRPr lang="en-US"/>
          </a:p>
        </p:txBody>
      </p:sp>
    </p:spTree>
    <p:extLst>
      <p:ext uri="{BB962C8B-B14F-4D97-AF65-F5344CB8AC3E}">
        <p14:creationId xmlns:p14="http://schemas.microsoft.com/office/powerpoint/2010/main" val="12538540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1.8  </a:t>
            </a:r>
            <a:r>
              <a:rPr lang="en-US" sz="1200" b="1" kern="1200" dirty="0">
                <a:solidFill>
                  <a:schemeClr val="tx1"/>
                </a:solidFill>
                <a:effectLst/>
                <a:latin typeface="+mn-lt"/>
                <a:ea typeface="+mn-ea"/>
                <a:cs typeface="+mn-cs"/>
              </a:rPr>
              <a:t>Cross-section of typical capillaries and brain capillaries 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Capillaries found throughout the body have characteristics that encourage movement of materials between the blood and surrounding cells. (B) Brain capillaries minimize movement of water-soluble molecules through the blood vessel wall because there are essentially no large or small clefts or pinocytotic sites. (After W. H. </a:t>
            </a:r>
            <a:r>
              <a:rPr lang="en-US" sz="1200" kern="1200" dirty="0" err="1">
                <a:solidFill>
                  <a:schemeClr val="tx1"/>
                </a:solidFill>
                <a:effectLst/>
                <a:latin typeface="+mn-lt"/>
                <a:ea typeface="+mn-ea"/>
                <a:cs typeface="+mn-cs"/>
              </a:rPr>
              <a:t>Oldendorf</a:t>
            </a:r>
            <a:r>
              <a:rPr lang="en-US" sz="1200" kern="1200" dirty="0">
                <a:solidFill>
                  <a:schemeClr val="tx1"/>
                </a:solidFill>
                <a:effectLst/>
                <a:latin typeface="+mn-lt"/>
                <a:ea typeface="+mn-ea"/>
                <a:cs typeface="+mn-cs"/>
              </a:rPr>
              <a:t>. 1977. </a:t>
            </a:r>
            <a:r>
              <a:rPr lang="en-US" sz="1200" i="1" kern="1200" dirty="0" err="1">
                <a:solidFill>
                  <a:schemeClr val="tx1"/>
                </a:solidFill>
                <a:effectLst/>
                <a:latin typeface="+mn-lt"/>
                <a:ea typeface="+mn-ea"/>
                <a:cs typeface="+mn-cs"/>
              </a:rPr>
              <a:t>Exp</a:t>
            </a:r>
            <a:r>
              <a:rPr lang="en-US" sz="1200" i="1" kern="1200" dirty="0">
                <a:solidFill>
                  <a:schemeClr val="tx1"/>
                </a:solidFill>
                <a:effectLst/>
                <a:latin typeface="+mn-lt"/>
                <a:ea typeface="+mn-ea"/>
                <a:cs typeface="+mn-cs"/>
              </a:rPr>
              <a:t> Eye Res</a:t>
            </a:r>
            <a:r>
              <a:rPr lang="en-US" sz="1200" kern="1200" dirty="0">
                <a:solidFill>
                  <a:schemeClr val="tx1"/>
                </a:solidFill>
                <a:effectLst/>
                <a:latin typeface="+mn-lt"/>
                <a:ea typeface="+mn-ea"/>
                <a:cs typeface="+mn-cs"/>
              </a:rPr>
              <a:t> 25: 177–190. © 1977. Reprinted with permission from Elsevier.)</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27</a:t>
            </a:fld>
            <a:endParaRPr lang="en-US"/>
          </a:p>
        </p:txBody>
      </p:sp>
    </p:spTree>
    <p:extLst>
      <p:ext uri="{BB962C8B-B14F-4D97-AF65-F5344CB8AC3E}">
        <p14:creationId xmlns:p14="http://schemas.microsoft.com/office/powerpoint/2010/main" val="18553789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28</a:t>
            </a:fld>
            <a:endParaRPr lang="en-US"/>
          </a:p>
        </p:txBody>
      </p:sp>
    </p:spTree>
    <p:extLst>
      <p:ext uri="{BB962C8B-B14F-4D97-AF65-F5344CB8AC3E}">
        <p14:creationId xmlns:p14="http://schemas.microsoft.com/office/powerpoint/2010/main" val="14529218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u="none" dirty="0"/>
              <a:t>See Table 1.4</a:t>
            </a:r>
          </a:p>
        </p:txBody>
      </p:sp>
      <p:sp>
        <p:nvSpPr>
          <p:cNvPr id="4" name="Slide Number Placeholder 3"/>
          <p:cNvSpPr>
            <a:spLocks noGrp="1"/>
          </p:cNvSpPr>
          <p:nvPr>
            <p:ph type="sldNum" sz="quarter" idx="5"/>
          </p:nvPr>
        </p:nvSpPr>
        <p:spPr/>
        <p:txBody>
          <a:bodyPr/>
          <a:lstStyle/>
          <a:p>
            <a:fld id="{556C0744-2FEF-4441-821D-70180A370937}" type="slidenum">
              <a:rPr lang="en-US" smtClean="0"/>
              <a:t>29</a:t>
            </a:fld>
            <a:endParaRPr lang="en-US"/>
          </a:p>
        </p:txBody>
      </p:sp>
    </p:spTree>
    <p:extLst>
      <p:ext uri="{BB962C8B-B14F-4D97-AF65-F5344CB8AC3E}">
        <p14:creationId xmlns:p14="http://schemas.microsoft.com/office/powerpoint/2010/main" val="39946176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sz="1800" b="0" i="0" u="none" strike="noStrike" baseline="0" dirty="0">
                <a:latin typeface="PalatinoLTStd-Roman"/>
              </a:rPr>
              <a:t>When blood levels are high, clearance is faster, as blood levels drop, rate of clearance is reduced.</a:t>
            </a:r>
          </a:p>
          <a:p>
            <a:pPr algn="l"/>
            <a:r>
              <a:rPr lang="en-US" sz="1800" b="0" i="0" u="none" strike="noStrike" baseline="0" dirty="0">
                <a:latin typeface="PalatinoLTStd-Roman"/>
              </a:rPr>
              <a:t>Clearance is also dependent on biotransformation rate, depot binding, and storage in reservoirs such as fat.</a:t>
            </a:r>
          </a:p>
          <a:p>
            <a:pPr algn="l"/>
            <a:r>
              <a:rPr lang="en-US" sz="1800" b="0" i="0" u="none" strike="noStrike" baseline="0" dirty="0">
                <a:latin typeface="PalatinoLTStd-Roman"/>
              </a:rPr>
              <a:t>Steady state plasma level is the desired blood concentration of drug achieved when the absorption/distribution phase is equal to the metabolism/excretion phase.</a:t>
            </a:r>
            <a:r>
              <a:rPr lang="en-US" sz="1800" b="0" i="0" u="sng" strike="noStrike" baseline="0" dirty="0">
                <a:latin typeface="PalatinoLTStd-Roman"/>
              </a:rPr>
              <a:t> </a:t>
            </a:r>
            <a:r>
              <a:rPr lang="en-US" sz="1800" b="0" i="0" u="none" strike="noStrike" baseline="0" dirty="0">
                <a:latin typeface="PalatinoLTStd-Roman"/>
              </a:rPr>
              <a:t>It is approached after a period of time equal to five half-lives.</a:t>
            </a:r>
          </a:p>
          <a:p>
            <a:pPr algn="l"/>
            <a:r>
              <a:rPr lang="en-US" sz="1800" b="0" i="0" u="none" strike="noStrike" baseline="0" dirty="0">
                <a:latin typeface="PalatinoLTStd-Roman"/>
              </a:rPr>
              <a:t>Some drugs are cleared according to </a:t>
            </a:r>
            <a:r>
              <a:rPr lang="en-US" sz="1800" b="1" i="0" u="none" strike="noStrike" baseline="0" dirty="0">
                <a:latin typeface="PalatinoLTStd-Roman"/>
              </a:rPr>
              <a:t>zero-order kinetics</a:t>
            </a:r>
            <a:r>
              <a:rPr lang="en-US" sz="1800" b="0" i="0" u="none" strike="noStrike" baseline="0" dirty="0">
                <a:latin typeface="PalatinoLTStd-Roman"/>
              </a:rPr>
              <a:t>.</a:t>
            </a:r>
          </a:p>
        </p:txBody>
      </p:sp>
      <p:sp>
        <p:nvSpPr>
          <p:cNvPr id="4" name="Slide Number Placeholder 3"/>
          <p:cNvSpPr>
            <a:spLocks noGrp="1"/>
          </p:cNvSpPr>
          <p:nvPr>
            <p:ph type="sldNum" sz="quarter" idx="5"/>
          </p:nvPr>
        </p:nvSpPr>
        <p:spPr/>
        <p:txBody>
          <a:bodyPr/>
          <a:lstStyle/>
          <a:p>
            <a:fld id="{556C0744-2FEF-4441-821D-70180A370937}" type="slidenum">
              <a:rPr lang="en-US" smtClean="0"/>
              <a:t>30</a:t>
            </a:fld>
            <a:endParaRPr lang="en-US"/>
          </a:p>
        </p:txBody>
      </p:sp>
    </p:spTree>
    <p:extLst>
      <p:ext uri="{BB962C8B-B14F-4D97-AF65-F5344CB8AC3E}">
        <p14:creationId xmlns:p14="http://schemas.microsoft.com/office/powerpoint/2010/main" val="4438014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1.10  </a:t>
            </a:r>
            <a:r>
              <a:rPr lang="en-US" sz="1200" b="1" kern="1200" dirty="0">
                <a:solidFill>
                  <a:schemeClr val="tx1"/>
                </a:solidFill>
                <a:effectLst/>
                <a:latin typeface="+mn-lt"/>
                <a:ea typeface="+mn-ea"/>
                <a:cs typeface="+mn-cs"/>
              </a:rPr>
              <a:t>Achieving steady state plasma levels of drug</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scalloped line shows the pattern of accumulation during repeated administration of a drug. The arrows represent the times of administration. The shape of the scallop is dependent on both the rate of absorption and the rate of elimination. The smooth line represents drug accumulation in the blood during continuous intravenous infusion of the same drug.</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31</a:t>
            </a:fld>
            <a:endParaRPr lang="en-US"/>
          </a:p>
        </p:txBody>
      </p:sp>
    </p:spTree>
    <p:extLst>
      <p:ext uri="{BB962C8B-B14F-4D97-AF65-F5344CB8AC3E}">
        <p14:creationId xmlns:p14="http://schemas.microsoft.com/office/powerpoint/2010/main" val="24252691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b="0" u="none" dirty="0"/>
              <a:t>See Table 1.6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u="none" dirty="0"/>
              <a:t>Liver enzymes (</a:t>
            </a:r>
            <a:r>
              <a:rPr lang="en-US" b="1" u="none" dirty="0"/>
              <a:t>microsomal enzymes</a:t>
            </a:r>
            <a:r>
              <a:rPr lang="en-US" b="0" u="none" dirty="0"/>
              <a:t>) that metabolize psychoactive drugs are located on the smooth ER; lack specificity </a:t>
            </a:r>
            <a:r>
              <a:rPr lang="en-US" dirty="0"/>
              <a:t>and can metabolize a wide variety of foreign chemicals. The </a:t>
            </a:r>
            <a:r>
              <a:rPr lang="en-US" b="1" dirty="0"/>
              <a:t>cytochrome P450</a:t>
            </a:r>
            <a:r>
              <a:rPr lang="en-US" dirty="0"/>
              <a:t> (</a:t>
            </a:r>
            <a:r>
              <a:rPr lang="en-US" b="1" dirty="0"/>
              <a:t>CYP450</a:t>
            </a:r>
            <a:r>
              <a:rPr lang="en-US" dirty="0"/>
              <a:t>) enzyme family is responsible for oxidizing most psychoactive drugs.</a:t>
            </a:r>
          </a:p>
          <a:p>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32</a:t>
            </a:fld>
            <a:endParaRPr lang="en-US"/>
          </a:p>
        </p:txBody>
      </p:sp>
    </p:spTree>
    <p:extLst>
      <p:ext uri="{BB962C8B-B14F-4D97-AF65-F5344CB8AC3E}">
        <p14:creationId xmlns:p14="http://schemas.microsoft.com/office/powerpoint/2010/main" val="4295452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Genetic polymorphisms </a:t>
            </a:r>
            <a:r>
              <a:rPr lang="en-US" dirty="0"/>
              <a:t>for drug-metabolizing enzymes contribute to variability in metabolism.</a:t>
            </a:r>
          </a:p>
          <a:p>
            <a:pPr algn="l"/>
            <a:r>
              <a:rPr lang="en-US" sz="1800" b="0" i="0" u="none" strike="noStrike" baseline="0" dirty="0">
                <a:latin typeface="PalatinoLTStd-Roman"/>
              </a:rPr>
              <a:t>The enzymes that have been studied most are in the CYP450 family, and each has multiple polymorphisms.</a:t>
            </a:r>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33</a:t>
            </a:fld>
            <a:endParaRPr lang="en-US"/>
          </a:p>
        </p:txBody>
      </p:sp>
    </p:spTree>
    <p:extLst>
      <p:ext uri="{BB962C8B-B14F-4D97-AF65-F5344CB8AC3E}">
        <p14:creationId xmlns:p14="http://schemas.microsoft.com/office/powerpoint/2010/main" val="1818439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baseline="0" dirty="0">
                <a:latin typeface="PalatinoLTStd-Roman"/>
              </a:rPr>
              <a:t>.</a:t>
            </a:r>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34</a:t>
            </a:fld>
            <a:endParaRPr lang="en-US"/>
          </a:p>
        </p:txBody>
      </p:sp>
    </p:spTree>
    <p:extLst>
      <p:ext uri="{BB962C8B-B14F-4D97-AF65-F5344CB8AC3E}">
        <p14:creationId xmlns:p14="http://schemas.microsoft.com/office/powerpoint/2010/main" val="39695383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baseline="0" dirty="0">
                <a:latin typeface="PalatinoLTStd-Roman"/>
              </a:rPr>
              <a:t>.</a:t>
            </a:r>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35</a:t>
            </a:fld>
            <a:endParaRPr lang="en-US"/>
          </a:p>
        </p:txBody>
      </p:sp>
    </p:spTree>
    <p:extLst>
      <p:ext uri="{BB962C8B-B14F-4D97-AF65-F5344CB8AC3E}">
        <p14:creationId xmlns:p14="http://schemas.microsoft.com/office/powerpoint/2010/main" val="4220671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c</a:t>
            </a:r>
          </a:p>
        </p:txBody>
      </p:sp>
      <p:sp>
        <p:nvSpPr>
          <p:cNvPr id="4" name="Slide Number Placeholder 3"/>
          <p:cNvSpPr>
            <a:spLocks noGrp="1"/>
          </p:cNvSpPr>
          <p:nvPr>
            <p:ph type="sldNum" sz="quarter" idx="5"/>
          </p:nvPr>
        </p:nvSpPr>
        <p:spPr/>
        <p:txBody>
          <a:bodyPr/>
          <a:lstStyle/>
          <a:p>
            <a:fld id="{556C0744-2FEF-4441-821D-70180A370937}" type="slidenum">
              <a:rPr lang="en-US" smtClean="0"/>
              <a:t>36</a:t>
            </a:fld>
            <a:endParaRPr lang="en-US"/>
          </a:p>
        </p:txBody>
      </p:sp>
    </p:spTree>
    <p:extLst>
      <p:ext uri="{BB962C8B-B14F-4D97-AF65-F5344CB8AC3E}">
        <p14:creationId xmlns:p14="http://schemas.microsoft.com/office/powerpoint/2010/main" val="25842292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b</a:t>
            </a:r>
          </a:p>
        </p:txBody>
      </p:sp>
      <p:sp>
        <p:nvSpPr>
          <p:cNvPr id="4" name="Slide Number Placeholder 3"/>
          <p:cNvSpPr>
            <a:spLocks noGrp="1"/>
          </p:cNvSpPr>
          <p:nvPr>
            <p:ph type="sldNum" sz="quarter" idx="5"/>
          </p:nvPr>
        </p:nvSpPr>
        <p:spPr/>
        <p:txBody>
          <a:bodyPr/>
          <a:lstStyle/>
          <a:p>
            <a:fld id="{556C0744-2FEF-4441-821D-70180A370937}" type="slidenum">
              <a:rPr lang="en-US" smtClean="0"/>
              <a:t>37</a:t>
            </a:fld>
            <a:endParaRPr lang="en-US"/>
          </a:p>
        </p:txBody>
      </p:sp>
    </p:spTree>
    <p:extLst>
      <p:ext uri="{BB962C8B-B14F-4D97-AF65-F5344CB8AC3E}">
        <p14:creationId xmlns:p14="http://schemas.microsoft.com/office/powerpoint/2010/main" val="25661468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baseline="0" dirty="0">
                <a:latin typeface="PalatinoLTStd-Roman"/>
              </a:rPr>
              <a:t>.</a:t>
            </a:r>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40</a:t>
            </a:fld>
            <a:endParaRPr lang="en-US"/>
          </a:p>
        </p:txBody>
      </p:sp>
    </p:spTree>
    <p:extLst>
      <p:ext uri="{BB962C8B-B14F-4D97-AF65-F5344CB8AC3E}">
        <p14:creationId xmlns:p14="http://schemas.microsoft.com/office/powerpoint/2010/main" val="19199342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1.13  </a:t>
            </a:r>
            <a:r>
              <a:rPr lang="en-US" sz="1200" b="1" kern="1200" dirty="0">
                <a:solidFill>
                  <a:schemeClr val="tx1"/>
                </a:solidFill>
                <a:effectLst/>
                <a:latin typeface="+mn-lt"/>
                <a:ea typeface="+mn-ea"/>
                <a:cs typeface="+mn-cs"/>
              </a:rPr>
              <a:t>Two principal types of receptors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Most drugs and neurotransmitters remain outside the cell and bind to receptors on the exterior cell surface. When these receptors are activated, they initiate changes in an effector, causing intracellular changes such as movement of ions or changes in enzyme activity. (B) Many hormones are capable of entering the cell before acting on an intracellular receptor that changes the expression of specific genes within the nucleus. The altered protein synthesis in turn leads to changes in cell function that may include altering gluconeogenesis, modulating the menstrual cycle, and others.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41</a:t>
            </a:fld>
            <a:endParaRPr lang="en-US"/>
          </a:p>
        </p:txBody>
      </p:sp>
    </p:spTree>
    <p:extLst>
      <p:ext uri="{BB962C8B-B14F-4D97-AF65-F5344CB8AC3E}">
        <p14:creationId xmlns:p14="http://schemas.microsoft.com/office/powerpoint/2010/main" val="2723850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Baseline receptor function (</a:t>
            </a:r>
            <a:r>
              <a:rPr lang="en-US" sz="1800" b="1" i="0" u="none" strike="noStrike" baseline="0" dirty="0">
                <a:latin typeface="DINPro-Bold"/>
              </a:rPr>
              <a:t>constitutive activity</a:t>
            </a:r>
            <a:r>
              <a:rPr lang="en-US" sz="1800" b="0" i="0" u="none" strike="noStrike" baseline="0" dirty="0">
                <a:latin typeface="PalatinoLTStd-Roman"/>
              </a:rPr>
              <a:t>) is unaffected by neutral antagonists, but can be reduced by inverse agonists. </a:t>
            </a:r>
          </a:p>
          <a:p>
            <a:pPr indent="-182880" algn="l"/>
            <a:r>
              <a:rPr lang="en-US" b="0" u="none" dirty="0"/>
              <a:t>Drug action can vary in efficacy along a continuum from full agonist action with maximal efficacy, to partial agonist action</a:t>
            </a:r>
          </a:p>
          <a:p>
            <a:pPr algn="l"/>
            <a:r>
              <a:rPr lang="en-US" b="0" u="none" dirty="0"/>
              <a:t>to the inactive antagonist, to partial inverse agonist action with some inverse efficacy, to full inverse agonist with maximal inverse efficacy.</a:t>
            </a:r>
          </a:p>
          <a:p>
            <a:pPr algn="l"/>
            <a:endParaRPr lang="en-US" b="0" u="none" dirty="0"/>
          </a:p>
          <a:p>
            <a:pPr algn="l"/>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42</a:t>
            </a:fld>
            <a:endParaRPr lang="en-US"/>
          </a:p>
        </p:txBody>
      </p:sp>
    </p:spTree>
    <p:extLst>
      <p:ext uri="{BB962C8B-B14F-4D97-AF65-F5344CB8AC3E}">
        <p14:creationId xmlns:p14="http://schemas.microsoft.com/office/powerpoint/2010/main" val="32439038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Chronic use of receptor antagonists leads to subsequent up-regulation of receptors. Likewise, drugs that act as agonists cause a reduction in receptors if they are administered repeatedly.</a:t>
            </a:r>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43</a:t>
            </a:fld>
            <a:endParaRPr lang="en-US"/>
          </a:p>
        </p:txBody>
      </p:sp>
    </p:spTree>
    <p:extLst>
      <p:ext uri="{BB962C8B-B14F-4D97-AF65-F5344CB8AC3E}">
        <p14:creationId xmlns:p14="http://schemas.microsoft.com/office/powerpoint/2010/main" val="38292091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At low doses, the drug-induced effect is slight because very few receptors are occupied. As the dose of the drug is increased, more receptors are occupied, and a greater response occurs.</a:t>
            </a:r>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44</a:t>
            </a:fld>
            <a:endParaRPr lang="en-US"/>
          </a:p>
        </p:txBody>
      </p:sp>
    </p:spTree>
    <p:extLst>
      <p:ext uri="{BB962C8B-B14F-4D97-AF65-F5344CB8AC3E}">
        <p14:creationId xmlns:p14="http://schemas.microsoft.com/office/powerpoint/2010/main" val="8534059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1.17  </a:t>
            </a:r>
            <a:r>
              <a:rPr lang="en-US" sz="1200" b="1" kern="1200" dirty="0">
                <a:solidFill>
                  <a:schemeClr val="tx1"/>
                </a:solidFill>
                <a:effectLst/>
                <a:latin typeface="+mn-lt"/>
                <a:ea typeface="+mn-ea"/>
                <a:cs typeface="+mn-cs"/>
              </a:rPr>
              <a:t>Dose–response curve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classic S-shape describes the gradual increase in biological response that occurs with increasing doses of a drug (drug–receptor activation). Threshold is the dose that produces the smallest measurable response. The dose at which the maximum response is achieved is the ED</a:t>
            </a:r>
            <a:r>
              <a:rPr lang="en-US" sz="1200" kern="1200" baseline="-25000" dirty="0">
                <a:solidFill>
                  <a:schemeClr val="tx1"/>
                </a:solidFill>
                <a:effectLst/>
                <a:latin typeface="+mn-lt"/>
                <a:ea typeface="+mn-ea"/>
                <a:cs typeface="+mn-cs"/>
              </a:rPr>
              <a:t>100</a:t>
            </a:r>
            <a:r>
              <a:rPr lang="en-US" sz="1200" kern="1200" dirty="0">
                <a:solidFill>
                  <a:schemeClr val="tx1"/>
                </a:solidFill>
                <a:effectLst/>
                <a:latin typeface="+mn-lt"/>
                <a:ea typeface="+mn-ea"/>
                <a:cs typeface="+mn-cs"/>
              </a:rPr>
              <a:t> (100% effective dose), and the ED</a:t>
            </a:r>
            <a:r>
              <a:rPr lang="en-US" sz="1200" kern="1200" baseline="-25000" dirty="0">
                <a:solidFill>
                  <a:schemeClr val="tx1"/>
                </a:solidFill>
                <a:effectLst/>
                <a:latin typeface="+mn-lt"/>
                <a:ea typeface="+mn-ea"/>
                <a:cs typeface="+mn-cs"/>
              </a:rPr>
              <a:t>50</a:t>
            </a:r>
            <a:r>
              <a:rPr lang="en-US" sz="1200" kern="1200" dirty="0">
                <a:solidFill>
                  <a:schemeClr val="tx1"/>
                </a:solidFill>
                <a:effectLst/>
                <a:latin typeface="+mn-lt"/>
                <a:ea typeface="+mn-ea"/>
                <a:cs typeface="+mn-cs"/>
              </a:rPr>
              <a:t> is the dose that effectively produces 50% of the maximum response.</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45</a:t>
            </a:fld>
            <a:endParaRPr lang="en-US"/>
          </a:p>
        </p:txBody>
      </p:sp>
    </p:spTree>
    <p:extLst>
      <p:ext uri="{BB962C8B-B14F-4D97-AF65-F5344CB8AC3E}">
        <p14:creationId xmlns:p14="http://schemas.microsoft.com/office/powerpoint/2010/main" val="39276823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46</a:t>
            </a:fld>
            <a:endParaRPr lang="en-US"/>
          </a:p>
        </p:txBody>
      </p:sp>
    </p:spTree>
    <p:extLst>
      <p:ext uri="{BB962C8B-B14F-4D97-AF65-F5344CB8AC3E}">
        <p14:creationId xmlns:p14="http://schemas.microsoft.com/office/powerpoint/2010/main" val="27248599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1.18  </a:t>
            </a:r>
            <a:r>
              <a:rPr lang="en-US" sz="1200" b="1" kern="1200" dirty="0">
                <a:solidFill>
                  <a:schemeClr val="tx1"/>
                </a:solidFill>
                <a:effectLst/>
                <a:latin typeface="+mn-lt"/>
                <a:ea typeface="+mn-ea"/>
                <a:cs typeface="+mn-cs"/>
              </a:rPr>
              <a:t>Dose–response curves for four analgesic agents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Each curve represents the increase in pain threshold (the magnitude of painful stimulus required to elicit a withdrawal response) as a function of dose. Knowing the ED</a:t>
            </a:r>
            <a:r>
              <a:rPr lang="en-US" sz="1200" kern="1200" baseline="-25000" dirty="0">
                <a:solidFill>
                  <a:schemeClr val="tx1"/>
                </a:solidFill>
                <a:effectLst/>
                <a:latin typeface="+mn-lt"/>
                <a:ea typeface="+mn-ea"/>
                <a:cs typeface="+mn-cs"/>
              </a:rPr>
              <a:t>50</a:t>
            </a:r>
            <a:r>
              <a:rPr lang="en-US" sz="1200" kern="1200" dirty="0">
                <a:solidFill>
                  <a:schemeClr val="tx1"/>
                </a:solidFill>
                <a:effectLst/>
                <a:latin typeface="+mn-lt"/>
                <a:ea typeface="+mn-ea"/>
                <a:cs typeface="+mn-cs"/>
              </a:rPr>
              <a:t> doses for hydromorphone, morphine, and codeine helps when comparing their potency. The linear portions of the curves for the opiate analgesics are parallel, suggesting that they work through the same mechanism. Aspirin is not an opiate and relieves pain by a very different mechanism of action, so the shape of the curve is distinct. In addition, the maximum effectiveness of aspirin never reaches the level of the opiates. (After R. R. Levine, 1973. </a:t>
            </a:r>
            <a:r>
              <a:rPr lang="en-US" sz="1200" i="1" kern="1200" dirty="0">
                <a:solidFill>
                  <a:schemeClr val="tx1"/>
                </a:solidFill>
                <a:effectLst/>
                <a:latin typeface="+mn-lt"/>
                <a:ea typeface="+mn-ea"/>
                <a:cs typeface="+mn-cs"/>
              </a:rPr>
              <a:t>Pharmacology: Drug Actions and Reactions</a:t>
            </a:r>
            <a:r>
              <a:rPr lang="en-US" sz="1200" kern="1200" dirty="0">
                <a:solidFill>
                  <a:schemeClr val="tx1"/>
                </a:solidFill>
                <a:effectLst/>
                <a:latin typeface="+mn-lt"/>
                <a:ea typeface="+mn-ea"/>
                <a:cs typeface="+mn-cs"/>
              </a:rPr>
              <a:t>, 1st ed. Little, Brown, and Co.: Boston. © 1973 by Little, Brown and Company, Inc.)</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47</a:t>
            </a:fld>
            <a:endParaRPr lang="en-US"/>
          </a:p>
        </p:txBody>
      </p:sp>
    </p:spTree>
    <p:extLst>
      <p:ext uri="{BB962C8B-B14F-4D97-AF65-F5344CB8AC3E}">
        <p14:creationId xmlns:p14="http://schemas.microsoft.com/office/powerpoint/2010/main" val="34483822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48</a:t>
            </a:fld>
            <a:endParaRPr lang="en-US"/>
          </a:p>
        </p:txBody>
      </p:sp>
    </p:spTree>
    <p:extLst>
      <p:ext uri="{BB962C8B-B14F-4D97-AF65-F5344CB8AC3E}">
        <p14:creationId xmlns:p14="http://schemas.microsoft.com/office/powerpoint/2010/main" val="42798410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1.19  </a:t>
            </a:r>
            <a:r>
              <a:rPr lang="en-US" sz="1200" b="1" kern="1200" dirty="0">
                <a:solidFill>
                  <a:schemeClr val="tx1"/>
                </a:solidFill>
                <a:effectLst/>
                <a:latin typeface="+mn-lt"/>
                <a:ea typeface="+mn-ea"/>
                <a:cs typeface="+mn-cs"/>
              </a:rPr>
              <a:t>Comparison of ED</a:t>
            </a:r>
            <a:r>
              <a:rPr lang="en-US" sz="1200" b="1" kern="1200" baseline="-25000" dirty="0">
                <a:solidFill>
                  <a:schemeClr val="tx1"/>
                </a:solidFill>
                <a:effectLst/>
                <a:latin typeface="+mn-lt"/>
                <a:ea typeface="+mn-ea"/>
                <a:cs typeface="+mn-cs"/>
              </a:rPr>
              <a:t>50 </a:t>
            </a:r>
            <a:r>
              <a:rPr lang="en-US" sz="1200" b="1" kern="1200" dirty="0">
                <a:solidFill>
                  <a:schemeClr val="tx1"/>
                </a:solidFill>
                <a:effectLst/>
                <a:latin typeface="+mn-lt"/>
                <a:ea typeface="+mn-ea"/>
                <a:cs typeface="+mn-cs"/>
              </a:rPr>
              <a:t>and TD</a:t>
            </a:r>
            <a:r>
              <a:rPr lang="en-US" sz="1200" b="1" kern="1200" baseline="-25000" dirty="0">
                <a:solidFill>
                  <a:schemeClr val="tx1"/>
                </a:solidFill>
                <a:effectLst/>
                <a:latin typeface="+mn-lt"/>
                <a:ea typeface="+mn-ea"/>
                <a:cs typeface="+mn-cs"/>
              </a:rPr>
              <a:t>50</a:t>
            </a:r>
            <a:r>
              <a:rPr lang="en-US" sz="1200" kern="1200" baseline="-250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therapeutic index (TI) is calculated by comparing the dose of drug required to produce a toxic effect in 50% of individuals (TD</a:t>
            </a:r>
            <a:r>
              <a:rPr lang="en-US" sz="1200" kern="1200" baseline="-25000" dirty="0">
                <a:solidFill>
                  <a:schemeClr val="tx1"/>
                </a:solidFill>
                <a:effectLst/>
                <a:latin typeface="+mn-lt"/>
                <a:ea typeface="+mn-ea"/>
                <a:cs typeface="+mn-cs"/>
              </a:rPr>
              <a:t>50</a:t>
            </a:r>
            <a:r>
              <a:rPr lang="en-US" sz="1200" kern="1200" dirty="0">
                <a:solidFill>
                  <a:schemeClr val="tx1"/>
                </a:solidFill>
                <a:effectLst/>
                <a:latin typeface="+mn-lt"/>
                <a:ea typeface="+mn-ea"/>
                <a:cs typeface="+mn-cs"/>
              </a:rPr>
              <a:t>) with the dose that is effective for 50% (ED</a:t>
            </a:r>
            <a:r>
              <a:rPr lang="en-US" sz="1200" kern="1200" baseline="-25000" dirty="0">
                <a:solidFill>
                  <a:schemeClr val="tx1"/>
                </a:solidFill>
                <a:effectLst/>
                <a:latin typeface="+mn-lt"/>
                <a:ea typeface="+mn-ea"/>
                <a:cs typeface="+mn-cs"/>
              </a:rPr>
              <a:t>50</a:t>
            </a:r>
            <a:r>
              <a:rPr lang="en-US" sz="1200" kern="1200" dirty="0">
                <a:solidFill>
                  <a:schemeClr val="tx1"/>
                </a:solidFill>
                <a:effectLst/>
                <a:latin typeface="+mn-lt"/>
                <a:ea typeface="+mn-ea"/>
                <a:cs typeface="+mn-cs"/>
              </a:rPr>
              <a:t>). Each drug may have several therapeutic indices based on its toxic effects or side effects of concern. Because the optimum condition is to have a drug that is effective at a low dose with no toxicity except at very high doses, the TI will be large for a safer drug. The figure shows a large margin of safety for an antianxiety drug that can produce respiratory depression.</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49</a:t>
            </a:fld>
            <a:endParaRPr lang="en-US"/>
          </a:p>
        </p:txBody>
      </p:sp>
    </p:spTree>
    <p:extLst>
      <p:ext uri="{BB962C8B-B14F-4D97-AF65-F5344CB8AC3E}">
        <p14:creationId xmlns:p14="http://schemas.microsoft.com/office/powerpoint/2010/main" val="27680323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b="1" dirty="0"/>
              <a:t>Noncompetitive antagonists </a:t>
            </a:r>
            <a:r>
              <a:rPr lang="en-US" dirty="0"/>
              <a:t>reduce effect of agonists by: Binding to the receptor at a site other than the agonist binding site; Disturbing the cell membrane supporting the receptor; Interfering with cell processes that were initiated by the agonist.</a:t>
            </a:r>
          </a:p>
          <a:p>
            <a:pPr algn="l"/>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50</a:t>
            </a:fld>
            <a:endParaRPr lang="en-US"/>
          </a:p>
        </p:txBody>
      </p:sp>
    </p:spTree>
    <p:extLst>
      <p:ext uri="{BB962C8B-B14F-4D97-AF65-F5344CB8AC3E}">
        <p14:creationId xmlns:p14="http://schemas.microsoft.com/office/powerpoint/2010/main" val="34338643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1.20  </a:t>
            </a:r>
            <a:r>
              <a:rPr lang="en-US" sz="1200" b="1" kern="1200" dirty="0">
                <a:solidFill>
                  <a:schemeClr val="tx1"/>
                </a:solidFill>
                <a:effectLst/>
                <a:latin typeface="+mn-lt"/>
                <a:ea typeface="+mn-ea"/>
                <a:cs typeface="+mn-cs"/>
              </a:rPr>
              <a:t>Drug antagonism 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The effect of a competitive antagonist (naloxone) on the analgesic effect of morphine. The addition of a competitive antagonist essentially reduces the potency of the agonist, as is shown by the parallel shift of the dose–response curve to the right. (B) In contrast, adding a noncompetitive antagonist usually produces a distinct change in the shape of the dose–response curve, indicating that it does not act at the same receptor site. Also, regardless of the increase in morphine, the maximum efficacy is never reached.</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51</a:t>
            </a:fld>
            <a:endParaRPr lang="en-US"/>
          </a:p>
        </p:txBody>
      </p:sp>
    </p:spTree>
    <p:extLst>
      <p:ext uri="{BB962C8B-B14F-4D97-AF65-F5344CB8AC3E}">
        <p14:creationId xmlns:p14="http://schemas.microsoft.com/office/powerpoint/2010/main" val="38114172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52</a:t>
            </a:fld>
            <a:endParaRPr lang="en-US"/>
          </a:p>
        </p:txBody>
      </p:sp>
    </p:spTree>
    <p:extLst>
      <p:ext uri="{BB962C8B-B14F-4D97-AF65-F5344CB8AC3E}">
        <p14:creationId xmlns:p14="http://schemas.microsoft.com/office/powerpoint/2010/main" val="36638168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53</a:t>
            </a:fld>
            <a:endParaRPr lang="en-US"/>
          </a:p>
        </p:txBody>
      </p:sp>
    </p:spTree>
    <p:extLst>
      <p:ext uri="{BB962C8B-B14F-4D97-AF65-F5344CB8AC3E}">
        <p14:creationId xmlns:p14="http://schemas.microsoft.com/office/powerpoint/2010/main" val="34003479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Acute tolerance: as when an individual experiences significantly greater effects of alcohol as his blood level rises than he experiences several hours later, when his blood level has fallen to the same point.</a:t>
            </a:r>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54</a:t>
            </a:fld>
            <a:endParaRPr lang="en-US"/>
          </a:p>
        </p:txBody>
      </p:sp>
    </p:spTree>
    <p:extLst>
      <p:ext uri="{BB962C8B-B14F-4D97-AF65-F5344CB8AC3E}">
        <p14:creationId xmlns:p14="http://schemas.microsoft.com/office/powerpoint/2010/main" val="22182093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a:t>
            </a:r>
          </a:p>
          <a:p>
            <a:r>
              <a:rPr lang="en-US" u="none" dirty="0"/>
              <a:t>Metabolic tolerance also called </a:t>
            </a:r>
            <a:r>
              <a:rPr lang="en-US" b="1" u="none" dirty="0"/>
              <a:t>drug disposition tolerance</a:t>
            </a:r>
            <a:r>
              <a:rPr lang="en-US" b="1" u="sng" dirty="0"/>
              <a:t> </a:t>
            </a:r>
          </a:p>
          <a:p>
            <a:pPr algn="l"/>
            <a:r>
              <a:rPr lang="en-US" dirty="0"/>
              <a:t>Pharmacodynamic tolerance</a:t>
            </a:r>
            <a:r>
              <a:rPr lang="en-US" u="none" dirty="0"/>
              <a:t> helps explain </a:t>
            </a:r>
            <a:r>
              <a:rPr lang="en-US" b="1" u="none" dirty="0"/>
              <a:t>withdrawal syndrome </a:t>
            </a:r>
            <a:r>
              <a:rPr lang="en-US" u="none" dirty="0"/>
              <a:t>- </a:t>
            </a:r>
            <a:r>
              <a:rPr lang="en-US" sz="1800" b="0" i="0" u="none" strike="noStrike" baseline="0" dirty="0">
                <a:latin typeface="PalatinoLTStd-Roman"/>
              </a:rPr>
              <a:t>the adaptive mechanism produces effects opposite to the initial drug effects; when the drug</a:t>
            </a:r>
          </a:p>
          <a:p>
            <a:pPr algn="l"/>
            <a:r>
              <a:rPr lang="en-US" sz="1800" b="0" i="0" u="none" strike="noStrike" baseline="0" dirty="0">
                <a:latin typeface="PalatinoLTStd-Roman"/>
              </a:rPr>
              <a:t>is no longer present, the adaptive mechanism remains functioning. Withdrawal syndrome is the hallmark of </a:t>
            </a:r>
            <a:r>
              <a:rPr lang="en-US" sz="1800" b="1" i="0" u="none" strike="noStrike" baseline="0" dirty="0">
                <a:latin typeface="PalatinoLTStd-Roman"/>
              </a:rPr>
              <a:t>physical dependence</a:t>
            </a:r>
            <a:r>
              <a:rPr lang="en-US" sz="1800" b="0" i="0" u="none" strike="noStrike" baseline="0" dirty="0">
                <a:latin typeface="PalatinoLTStd-Roman"/>
              </a:rPr>
              <a:t>.</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55</a:t>
            </a:fld>
            <a:endParaRPr lang="en-US"/>
          </a:p>
        </p:txBody>
      </p:sp>
    </p:spTree>
    <p:extLst>
      <p:ext uri="{BB962C8B-B14F-4D97-AF65-F5344CB8AC3E}">
        <p14:creationId xmlns:p14="http://schemas.microsoft.com/office/powerpoint/2010/main" val="393980567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a:t>
            </a:r>
          </a:p>
        </p:txBody>
      </p:sp>
      <p:sp>
        <p:nvSpPr>
          <p:cNvPr id="4" name="Slide Number Placeholder 3"/>
          <p:cNvSpPr>
            <a:spLocks noGrp="1"/>
          </p:cNvSpPr>
          <p:nvPr>
            <p:ph type="sldNum" sz="quarter" idx="5"/>
          </p:nvPr>
        </p:nvSpPr>
        <p:spPr/>
        <p:txBody>
          <a:bodyPr/>
          <a:lstStyle/>
          <a:p>
            <a:fld id="{556C0744-2FEF-4441-821D-70180A370937}" type="slidenum">
              <a:rPr lang="en-US" smtClean="0"/>
              <a:t>56</a:t>
            </a:fld>
            <a:endParaRPr lang="en-US"/>
          </a:p>
        </p:txBody>
      </p:sp>
    </p:spTree>
    <p:extLst>
      <p:ext uri="{BB962C8B-B14F-4D97-AF65-F5344CB8AC3E}">
        <p14:creationId xmlns:p14="http://schemas.microsoft.com/office/powerpoint/2010/main" val="281067552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1.22  </a:t>
            </a:r>
            <a:r>
              <a:rPr lang="en-US" sz="1200" b="1" kern="1200" dirty="0">
                <a:solidFill>
                  <a:schemeClr val="tx1"/>
                </a:solidFill>
                <a:effectLst/>
                <a:latin typeface="+mn-lt"/>
                <a:ea typeface="+mn-ea"/>
                <a:cs typeface="+mn-cs"/>
              </a:rPr>
              <a:t>Classical conditioning of drug-related cues 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Although drug-taking equipment and the immediate environment initially serve as meaningless stimuli for the individual, their repeated pairing with the drug (unconditioned stimulus; US), which naturally elicits euphoria, arousal, or other desirable effects (unconditioned response; UR), gives the drug-­taking equipment new meaning. Ultimately, the equipment and the environment alone (now a conditioned stimulus; CS) could elicit drug effects (conditioned response; CR) in the absence of the drug.</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57</a:t>
            </a:fld>
            <a:endParaRPr lang="en-US"/>
          </a:p>
        </p:txBody>
      </p:sp>
    </p:spTree>
    <p:extLst>
      <p:ext uri="{BB962C8B-B14F-4D97-AF65-F5344CB8AC3E}">
        <p14:creationId xmlns:p14="http://schemas.microsoft.com/office/powerpoint/2010/main" val="35735788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58</a:t>
            </a:fld>
            <a:endParaRPr lang="en-US"/>
          </a:p>
        </p:txBody>
      </p:sp>
    </p:spTree>
    <p:extLst>
      <p:ext uri="{BB962C8B-B14F-4D97-AF65-F5344CB8AC3E}">
        <p14:creationId xmlns:p14="http://schemas.microsoft.com/office/powerpoint/2010/main" val="14060637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Goal of </a:t>
            </a:r>
            <a:r>
              <a:rPr lang="en-US" dirty="0" err="1"/>
              <a:t>pharmcogenetics</a:t>
            </a:r>
            <a:r>
              <a:rPr lang="en-US" dirty="0"/>
              <a:t>: Identify genetic factors that confer susceptibility to specific side effects, or predict a therapeutic response to select appropriate drugs and dosages for an individual.</a:t>
            </a:r>
          </a:p>
          <a:p>
            <a:pPr algn="l"/>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59</a:t>
            </a:fld>
            <a:endParaRPr lang="en-US"/>
          </a:p>
        </p:txBody>
      </p:sp>
    </p:spTree>
    <p:extLst>
      <p:ext uri="{BB962C8B-B14F-4D97-AF65-F5344CB8AC3E}">
        <p14:creationId xmlns:p14="http://schemas.microsoft.com/office/powerpoint/2010/main" val="24012963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1.25  </a:t>
            </a:r>
            <a:r>
              <a:rPr lang="en-US" sz="1200" b="1" kern="1200" dirty="0">
                <a:solidFill>
                  <a:schemeClr val="tx1"/>
                </a:solidFill>
                <a:effectLst/>
                <a:latin typeface="+mn-lt"/>
                <a:ea typeface="+mn-ea"/>
                <a:cs typeface="+mn-cs"/>
              </a:rPr>
              <a:t>Drug dosage adjustments based on genotype</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Compared with standard dosages (open), theoretical dosages (solid red) were estimated based on drug-­metabolizing genotype in order to achieve equal drug plasma concentration time courses to maximize therapeutic efficacy and avoid unwanted adverse effects. See text for details. (After J. </a:t>
            </a:r>
            <a:r>
              <a:rPr lang="en-US" sz="1200" kern="1200" dirty="0" err="1">
                <a:solidFill>
                  <a:schemeClr val="tx1"/>
                </a:solidFill>
                <a:effectLst/>
                <a:latin typeface="+mn-lt"/>
                <a:ea typeface="+mn-ea"/>
                <a:cs typeface="+mn-cs"/>
              </a:rPr>
              <a:t>Kirchheiner</a:t>
            </a:r>
            <a:r>
              <a:rPr lang="en-US" sz="1200" kern="1200" dirty="0">
                <a:solidFill>
                  <a:schemeClr val="tx1"/>
                </a:solidFill>
                <a:effectLst/>
                <a:latin typeface="+mn-lt"/>
                <a:ea typeface="+mn-ea"/>
                <a:cs typeface="+mn-cs"/>
              </a:rPr>
              <a:t> and A. </a:t>
            </a:r>
            <a:r>
              <a:rPr lang="en-US" sz="1200" kern="1200" dirty="0" err="1">
                <a:solidFill>
                  <a:schemeClr val="tx1"/>
                </a:solidFill>
                <a:effectLst/>
                <a:latin typeface="+mn-lt"/>
                <a:ea typeface="+mn-ea"/>
                <a:cs typeface="+mn-cs"/>
              </a:rPr>
              <a:t>Seeringer</a:t>
            </a:r>
            <a:r>
              <a:rPr lang="en-US" sz="1200" kern="1200" dirty="0">
                <a:solidFill>
                  <a:schemeClr val="tx1"/>
                </a:solidFill>
                <a:effectLst/>
                <a:latin typeface="+mn-lt"/>
                <a:ea typeface="+mn-ea"/>
                <a:cs typeface="+mn-cs"/>
              </a:rPr>
              <a:t>. 2007. </a:t>
            </a:r>
            <a:r>
              <a:rPr lang="en-US" sz="1200" i="1" kern="1200" dirty="0" err="1">
                <a:solidFill>
                  <a:schemeClr val="tx1"/>
                </a:solidFill>
                <a:effectLst/>
                <a:latin typeface="+mn-lt"/>
                <a:ea typeface="+mn-ea"/>
                <a:cs typeface="+mn-cs"/>
              </a:rPr>
              <a:t>Biochim</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Biophys</a:t>
            </a:r>
            <a:r>
              <a:rPr lang="en-US" sz="1200" i="1" kern="1200" dirty="0">
                <a:solidFill>
                  <a:schemeClr val="tx1"/>
                </a:solidFill>
                <a:effectLst/>
                <a:latin typeface="+mn-lt"/>
                <a:ea typeface="+mn-ea"/>
                <a:cs typeface="+mn-cs"/>
              </a:rPr>
              <a:t> Acta</a:t>
            </a:r>
            <a:r>
              <a:rPr lang="en-US" sz="1200" kern="1200" dirty="0">
                <a:solidFill>
                  <a:schemeClr val="tx1"/>
                </a:solidFill>
                <a:effectLst/>
                <a:latin typeface="+mn-lt"/>
                <a:ea typeface="+mn-ea"/>
                <a:cs typeface="+mn-cs"/>
              </a:rPr>
              <a:t> 1770: 489–494. © 2006. Reprinted with permission from Elsevier.)</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60</a:t>
            </a:fld>
            <a:endParaRPr lang="en-US"/>
          </a:p>
        </p:txBody>
      </p:sp>
    </p:spTree>
    <p:extLst>
      <p:ext uri="{BB962C8B-B14F-4D97-AF65-F5344CB8AC3E}">
        <p14:creationId xmlns:p14="http://schemas.microsoft.com/office/powerpoint/2010/main" val="3288304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61</a:t>
            </a:fld>
            <a:endParaRPr lang="en-US"/>
          </a:p>
        </p:txBody>
      </p:sp>
    </p:spTree>
    <p:extLst>
      <p:ext uri="{BB962C8B-B14F-4D97-AF65-F5344CB8AC3E}">
        <p14:creationId xmlns:p14="http://schemas.microsoft.com/office/powerpoint/2010/main" val="27506744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62</a:t>
            </a:fld>
            <a:endParaRPr lang="en-US"/>
          </a:p>
        </p:txBody>
      </p:sp>
    </p:spTree>
    <p:extLst>
      <p:ext uri="{BB962C8B-B14F-4D97-AF65-F5344CB8AC3E}">
        <p14:creationId xmlns:p14="http://schemas.microsoft.com/office/powerpoint/2010/main" val="38059834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b and d</a:t>
            </a:r>
          </a:p>
        </p:txBody>
      </p:sp>
      <p:sp>
        <p:nvSpPr>
          <p:cNvPr id="4" name="Slide Number Placeholder 3"/>
          <p:cNvSpPr>
            <a:spLocks noGrp="1"/>
          </p:cNvSpPr>
          <p:nvPr>
            <p:ph type="sldNum" sz="quarter" idx="5"/>
          </p:nvPr>
        </p:nvSpPr>
        <p:spPr/>
        <p:txBody>
          <a:bodyPr/>
          <a:lstStyle/>
          <a:p>
            <a:fld id="{556C0744-2FEF-4441-821D-70180A370937}" type="slidenum">
              <a:rPr lang="en-US" smtClean="0"/>
              <a:t>63</a:t>
            </a:fld>
            <a:endParaRPr lang="en-US"/>
          </a:p>
        </p:txBody>
      </p:sp>
    </p:spTree>
    <p:extLst>
      <p:ext uri="{BB962C8B-B14F-4D97-AF65-F5344CB8AC3E}">
        <p14:creationId xmlns:p14="http://schemas.microsoft.com/office/powerpoint/2010/main" val="30213642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450575" y="586409"/>
            <a:ext cx="11317356" cy="566530"/>
          </a:xfrm>
          <a:prstGeom prst="rect">
            <a:avLst/>
          </a:prstGeom>
        </p:spPr>
        <p:txBody>
          <a:bodyPr vert="horz" lIns="91440" tIns="45720" rIns="91440" bIns="45720" rtlCol="0" anchor="t">
            <a:normAutofit/>
          </a:bodyPr>
          <a:lstStyle>
            <a:lvl1pPr algn="ctr">
              <a:defRPr sz="3600" b="1" i="1"/>
            </a:lvl1pPr>
          </a:lstStyle>
          <a:p>
            <a:r>
              <a:rPr lang="en-US" dirty="0"/>
              <a:t>Title</a:t>
            </a:r>
          </a:p>
        </p:txBody>
      </p:sp>
      <p:sp>
        <p:nvSpPr>
          <p:cNvPr id="11" name="Text Placeholder 10"/>
          <p:cNvSpPr>
            <a:spLocks noGrp="1"/>
          </p:cNvSpPr>
          <p:nvPr>
            <p:ph type="body" sz="quarter" idx="11"/>
          </p:nvPr>
        </p:nvSpPr>
        <p:spPr>
          <a:xfrm>
            <a:off x="450851" y="1152525"/>
            <a:ext cx="11317816" cy="477838"/>
          </a:xfrm>
          <a:prstGeom prst="rect">
            <a:avLst/>
          </a:prstGeom>
        </p:spPr>
        <p:txBody>
          <a:bodyPr/>
          <a:lstStyle>
            <a:lvl1pPr marL="0" indent="0" algn="ctr">
              <a:buNone/>
              <a:defRPr sz="2400">
                <a:solidFill>
                  <a:srgbClr val="1F497D"/>
                </a:solidFill>
              </a:defRPr>
            </a:lvl1pPr>
          </a:lstStyle>
          <a:p>
            <a:pPr lvl="0"/>
            <a:r>
              <a:rPr lang="en-US"/>
              <a:t>Edit Master text styles</a:t>
            </a:r>
          </a:p>
        </p:txBody>
      </p:sp>
      <p:sp>
        <p:nvSpPr>
          <p:cNvPr id="6" name="Picture Placeholder 5"/>
          <p:cNvSpPr>
            <a:spLocks noGrp="1"/>
          </p:cNvSpPr>
          <p:nvPr>
            <p:ph type="pic" sz="quarter" idx="10"/>
          </p:nvPr>
        </p:nvSpPr>
        <p:spPr>
          <a:xfrm>
            <a:off x="3710609" y="1808921"/>
            <a:ext cx="4770784" cy="4283766"/>
          </a:xfrm>
          <a:prstGeom prst="rect">
            <a:avLst/>
          </a:prstGeom>
        </p:spPr>
        <p:txBody>
          <a:bodyPr/>
          <a:lstStyle/>
          <a:p>
            <a:r>
              <a:rPr lang="en-US"/>
              <a:t>Click icon to add picture</a:t>
            </a:r>
            <a:endParaRPr lang="en-US" dirty="0"/>
          </a:p>
        </p:txBody>
      </p:sp>
      <p:pic>
        <p:nvPicPr>
          <p:cNvPr id="5" name="Picture 4" descr="Oxford University Press logo">
            <a:extLst>
              <a:ext uri="{FF2B5EF4-FFF2-40B4-BE49-F238E27FC236}">
                <a16:creationId xmlns:a16="http://schemas.microsoft.com/office/drawing/2014/main" id="{8590439F-3AAE-4FE6-B28E-69B3789AD63F}"/>
              </a:ext>
            </a:extLst>
          </p:cNvPr>
          <p:cNvPicPr>
            <a:picLocks noChangeAspect="1"/>
          </p:cNvPicPr>
          <p:nvPr userDrawn="1"/>
        </p:nvPicPr>
        <p:blipFill>
          <a:blip r:embed="rId2"/>
          <a:stretch>
            <a:fillRect/>
          </a:stretch>
        </p:blipFill>
        <p:spPr>
          <a:xfrm>
            <a:off x="0" y="5976152"/>
            <a:ext cx="2505812" cy="881848"/>
          </a:xfrm>
          <a:prstGeom prst="rect">
            <a:avLst/>
          </a:prstGeom>
        </p:spPr>
      </p:pic>
    </p:spTree>
    <p:extLst>
      <p:ext uri="{BB962C8B-B14F-4D97-AF65-F5344CB8AC3E}">
        <p14:creationId xmlns:p14="http://schemas.microsoft.com/office/powerpoint/2010/main" val="180465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8875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384048"/>
          </a:xfrm>
        </p:spPr>
        <p:txBody>
          <a:bodyPr/>
          <a:lstStyle>
            <a:lvl1pPr>
              <a:defRPr sz="1800"/>
            </a:lvl1pPr>
          </a:lstStyle>
          <a:p>
            <a:r>
              <a:rPr lang="en-US" dirty="0"/>
              <a:t>Click to edit Master title style</a:t>
            </a:r>
          </a:p>
        </p:txBody>
      </p:sp>
      <p:sp>
        <p:nvSpPr>
          <p:cNvPr id="5" name="Content Placeholder 4">
            <a:extLst>
              <a:ext uri="{FF2B5EF4-FFF2-40B4-BE49-F238E27FC236}">
                <a16:creationId xmlns:a16="http://schemas.microsoft.com/office/drawing/2014/main" id="{C12606DF-F2AC-0D4C-A2DC-B85399E449B6}"/>
              </a:ext>
            </a:extLst>
          </p:cNvPr>
          <p:cNvSpPr>
            <a:spLocks noGrp="1"/>
          </p:cNvSpPr>
          <p:nvPr>
            <p:ph sz="quarter" idx="10"/>
          </p:nvPr>
        </p:nvSpPr>
        <p:spPr>
          <a:xfrm>
            <a:off x="408432" y="479776"/>
            <a:ext cx="11375136" cy="6300216"/>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28342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ti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E61D60-431D-4A54-BAD5-CA1C8D6D754C}"/>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822" y="2792"/>
            <a:ext cx="12191178" cy="6858137"/>
          </a:xfrm>
          <a:prstGeom prst="rect">
            <a:avLst/>
          </a:prstGeom>
        </p:spPr>
      </p:pic>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857781"/>
            <a:ext cx="10972800" cy="4525963"/>
          </a:xfrm>
          <a:prstGeom prst="rect">
            <a:avLst/>
          </a:prstGeom>
        </p:spPr>
        <p:txBody>
          <a:bodyPr vert="horz" lIns="91440" tIns="45720" rIns="91440" bIns="45720" rtlCol="0">
            <a:normAutofit/>
          </a:bodyPr>
          <a:lstStyle/>
          <a:p>
            <a:pPr lvl="0"/>
            <a:r>
              <a:rPr lang="en-US" dirty="0"/>
              <a:t>Click to edit Master text styles</a:t>
            </a:r>
          </a:p>
          <a:p>
            <a:pPr lvl="0"/>
            <a:r>
              <a:rPr lang="en-US" dirty="0"/>
              <a:t>Click to edit Master text styles</a:t>
            </a:r>
          </a:p>
        </p:txBody>
      </p:sp>
      <p:sp>
        <p:nvSpPr>
          <p:cNvPr id="9" name="TextBox 8"/>
          <p:cNvSpPr txBox="1">
            <a:spLocks noChangeArrowheads="1"/>
          </p:cNvSpPr>
          <p:nvPr userDrawn="1"/>
        </p:nvSpPr>
        <p:spPr bwMode="auto">
          <a:xfrm>
            <a:off x="10363435" y="6605739"/>
            <a:ext cx="1827743" cy="246221"/>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hangingPunct="1">
              <a:defRPr/>
            </a:pPr>
            <a:r>
              <a:rPr lang="en-US" altLang="en-US" sz="1000" b="0" dirty="0">
                <a:solidFill>
                  <a:schemeClr val="tx1"/>
                </a:solidFill>
                <a:latin typeface="+mj-lt"/>
                <a:cs typeface="Arial" panose="020B0604020202020204" pitchFamily="34" charset="0"/>
              </a:rPr>
              <a:t>© 2023 Oxford University Press</a:t>
            </a:r>
          </a:p>
        </p:txBody>
      </p:sp>
    </p:spTree>
    <p:extLst>
      <p:ext uri="{BB962C8B-B14F-4D97-AF65-F5344CB8AC3E}">
        <p14:creationId xmlns:p14="http://schemas.microsoft.com/office/powerpoint/2010/main" val="839490661"/>
      </p:ext>
    </p:extLst>
  </p:cSld>
  <p:clrMap bg1="lt1" tx1="dk1" bg2="lt2" tx2="dk2" accent1="accent1" accent2="accent2" accent3="accent3" accent4="accent4" accent5="accent5" accent6="accent6" hlink="hlink" folHlink="folHlink"/>
  <p:sldLayoutIdLst>
    <p:sldLayoutId id="2147483673" r:id="rId1"/>
    <p:sldLayoutId id="2147483652" r:id="rId2"/>
  </p:sldLayoutIdLst>
  <p:txStyles>
    <p:titleStyle>
      <a:lvl1pPr algn="ctr" defTabSz="914400" rtl="0" eaLnBrk="1" latinLnBrk="0" hangingPunct="1">
        <a:spcBef>
          <a:spcPct val="0"/>
        </a:spcBef>
        <a:buNone/>
        <a:defRPr sz="36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2192000" cy="369332"/>
          </a:xfrm>
          <a:prstGeom prst="rect">
            <a:avLst/>
          </a:prstGeom>
          <a:solidFill>
            <a:srgbClr val="001A47"/>
          </a:solidFill>
        </p:spPr>
        <p:txBody>
          <a:bodyPr vert="horz" lIns="91440" tIns="45720" rIns="91440" bIns="45720" rtlCol="0" anchor="t" anchorCtr="0">
            <a:noAutofit/>
          </a:bodyPr>
          <a:lstStyle/>
          <a:p>
            <a:r>
              <a:rPr lang="en-US" dirty="0"/>
              <a:t>Click to edit Master title style</a:t>
            </a:r>
          </a:p>
        </p:txBody>
      </p:sp>
      <p:sp>
        <p:nvSpPr>
          <p:cNvPr id="4" name="Text Placeholder 3">
            <a:extLst>
              <a:ext uri="{FF2B5EF4-FFF2-40B4-BE49-F238E27FC236}">
                <a16:creationId xmlns:a16="http://schemas.microsoft.com/office/drawing/2014/main" id="{98CCD7AE-E6DE-4592-894F-F3E075B9E6C8}"/>
              </a:ext>
            </a:extLst>
          </p:cNvPr>
          <p:cNvSpPr>
            <a:spLocks noGrp="1"/>
          </p:cNvSpPr>
          <p:nvPr>
            <p:ph type="body" idx="1"/>
          </p:nvPr>
        </p:nvSpPr>
        <p:spPr>
          <a:xfrm>
            <a:off x="838200" y="952107"/>
            <a:ext cx="10515600" cy="52248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9565259"/>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spcBef>
          <a:spcPct val="0"/>
        </a:spcBef>
        <a:buNone/>
        <a:defRPr sz="18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Psychopharmacology: Drugs, the Brain, and </a:t>
            </a:r>
            <a:r>
              <a:rPr lang="en-GB" dirty="0" err="1"/>
              <a:t>Behavior</a:t>
            </a:r>
            <a:endParaRPr lang="en-US" b="1" i="0" dirty="0"/>
          </a:p>
        </p:txBody>
      </p:sp>
      <p:sp>
        <p:nvSpPr>
          <p:cNvPr id="4" name="Text Placeholder 3"/>
          <p:cNvSpPr>
            <a:spLocks noGrp="1"/>
          </p:cNvSpPr>
          <p:nvPr>
            <p:ph type="body" sz="quarter" idx="11"/>
          </p:nvPr>
        </p:nvSpPr>
        <p:spPr/>
        <p:txBody>
          <a:bodyPr/>
          <a:lstStyle/>
          <a:p>
            <a:r>
              <a:rPr lang="en-US"/>
              <a:t>by Meyer, Farrar, Biezonski, Yates</a:t>
            </a:r>
            <a:endParaRPr lang="en-US" dirty="0"/>
          </a:p>
        </p:txBody>
      </p:sp>
      <p:pic>
        <p:nvPicPr>
          <p:cNvPr id="8" name="Picture Placeholder 7" descr="Cover image for Psychopharmacology, Fourth Edition.">
            <a:extLst>
              <a:ext uri="{FF2B5EF4-FFF2-40B4-BE49-F238E27FC236}">
                <a16:creationId xmlns:a16="http://schemas.microsoft.com/office/drawing/2014/main" id="{3C56F26D-84E7-4578-9ED6-ACB6F71FF233}"/>
              </a:ext>
            </a:extLst>
          </p:cNvPr>
          <p:cNvPicPr>
            <a:picLocks noGrp="1" noChangeAspect="1"/>
          </p:cNvPicPr>
          <p:nvPr>
            <p:ph type="pic" sz="quarter" idx="10"/>
          </p:nvPr>
        </p:nvPicPr>
        <p:blipFill>
          <a:blip r:embed="rId3"/>
          <a:stretch>
            <a:fillRect/>
          </a:stretch>
        </p:blipFill>
        <p:spPr>
          <a:xfrm>
            <a:off x="4267824" y="1818587"/>
            <a:ext cx="3656351" cy="4413095"/>
          </a:xfrm>
          <a:prstGeom prst="rect">
            <a:avLst/>
          </a:prstGeom>
        </p:spPr>
      </p:pic>
    </p:spTree>
    <p:extLst>
      <p:ext uri="{BB962C8B-B14F-4D97-AF65-F5344CB8AC3E}">
        <p14:creationId xmlns:p14="http://schemas.microsoft.com/office/powerpoint/2010/main" val="2820496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Autofit/>
          </a:bodyPr>
          <a:lstStyle/>
          <a:p>
            <a:r>
              <a:rPr lang="en-US" sz="3200" dirty="0"/>
              <a:t>Chapter 1</a:t>
            </a:r>
            <a:br>
              <a:rPr lang="en-US" dirty="0"/>
            </a:br>
            <a:r>
              <a:rPr lang="en-US" i="1" dirty="0"/>
              <a:t>Principles of Pharmacology</a:t>
            </a:r>
          </a:p>
        </p:txBody>
      </p:sp>
      <p:sp>
        <p:nvSpPr>
          <p:cNvPr id="3" name="Text Placeholder 2"/>
          <p:cNvSpPr>
            <a:spLocks noGrp="1"/>
          </p:cNvSpPr>
          <p:nvPr>
            <p:ph idx="1"/>
          </p:nvPr>
        </p:nvSpPr>
        <p:spPr>
          <a:xfrm>
            <a:off x="609600" y="1857781"/>
            <a:ext cx="10972800" cy="4525963"/>
          </a:xfrm>
        </p:spPr>
        <p:txBody>
          <a:bodyPr/>
          <a:lstStyle/>
          <a:p>
            <a:pPr marL="914400" indent="-914400">
              <a:spcBef>
                <a:spcPts val="2400"/>
              </a:spcBef>
              <a:buNone/>
            </a:pPr>
            <a:r>
              <a:rPr lang="en-US" dirty="0"/>
              <a:t>1.1  Pharmacology: The Science of Drug Action</a:t>
            </a:r>
          </a:p>
          <a:p>
            <a:pPr marL="914400" indent="-914400">
              <a:spcBef>
                <a:spcPts val="2400"/>
              </a:spcBef>
              <a:buNone/>
            </a:pPr>
            <a:r>
              <a:rPr lang="en-US" dirty="0"/>
              <a:t>1.2  Pharmacodynamics: Drug–Receptor Interactions</a:t>
            </a:r>
            <a:endParaRPr lang="en-GB" dirty="0"/>
          </a:p>
        </p:txBody>
      </p:sp>
    </p:spTree>
    <p:extLst>
      <p:ext uri="{BB962C8B-B14F-4D97-AF65-F5344CB8AC3E}">
        <p14:creationId xmlns:p14="http://schemas.microsoft.com/office/powerpoint/2010/main" val="729111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fontScale="90000"/>
          </a:bodyPr>
          <a:lstStyle/>
          <a:p>
            <a:r>
              <a:rPr lang="en-US" dirty="0"/>
              <a:t>Chapter 1</a:t>
            </a:r>
            <a:br>
              <a:rPr lang="en-US" dirty="0"/>
            </a:br>
            <a:r>
              <a:rPr lang="en-US" sz="4000" dirty="0"/>
              <a:t>Learning Objectives </a:t>
            </a:r>
            <a:r>
              <a:rPr lang="en-US" sz="1200" dirty="0"/>
              <a:t>(1 of 4)</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914400" indent="-914400">
              <a:spcBef>
                <a:spcPts val="1800"/>
              </a:spcBef>
              <a:buNone/>
            </a:pPr>
            <a:r>
              <a:rPr lang="en-US" sz="2800" dirty="0"/>
              <a:t>1.1.1  Identify the differences between drug action and drug effects; therapeutic effects and side effects; specific and nonspecific drug effects.</a:t>
            </a:r>
          </a:p>
          <a:p>
            <a:pPr marL="914400" indent="-914400">
              <a:spcBef>
                <a:spcPts val="1800"/>
              </a:spcBef>
              <a:buNone/>
            </a:pPr>
            <a:r>
              <a:rPr lang="en-US" sz="2800" dirty="0"/>
              <a:t>1.1.2  Describe placebo and nocebo effects and explain the psychological mechanisms that likely account for them. Explain the importance of the placebo control in a double-blind experimental design.</a:t>
            </a:r>
          </a:p>
        </p:txBody>
      </p:sp>
    </p:spTree>
    <p:extLst>
      <p:ext uri="{BB962C8B-B14F-4D97-AF65-F5344CB8AC3E}">
        <p14:creationId xmlns:p14="http://schemas.microsoft.com/office/powerpoint/2010/main" val="1460686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fontScale="90000"/>
          </a:bodyPr>
          <a:lstStyle/>
          <a:p>
            <a:r>
              <a:rPr lang="en-US" dirty="0"/>
              <a:t>Chapter 1</a:t>
            </a:r>
            <a:br>
              <a:rPr lang="en-US" dirty="0"/>
            </a:br>
            <a:r>
              <a:rPr lang="en-US" sz="4000" dirty="0"/>
              <a:t>Learning Objectives </a:t>
            </a:r>
            <a:r>
              <a:rPr lang="en-US" sz="1200" dirty="0"/>
              <a:t>(2 of 4)</a:t>
            </a:r>
            <a:endParaRPr lang="en-US" dirty="0"/>
          </a:p>
        </p:txBody>
      </p:sp>
      <p:sp>
        <p:nvSpPr>
          <p:cNvPr id="3" name="Text Placeholder 2"/>
          <p:cNvSpPr>
            <a:spLocks noGrp="1"/>
          </p:cNvSpPr>
          <p:nvPr>
            <p:ph idx="1"/>
          </p:nvPr>
        </p:nvSpPr>
        <p:spPr>
          <a:xfrm>
            <a:off x="609600" y="1857781"/>
            <a:ext cx="10972800" cy="4525963"/>
          </a:xfrm>
        </p:spPr>
        <p:txBody>
          <a:bodyPr>
            <a:normAutofit fontScale="92500" lnSpcReduction="20000"/>
          </a:bodyPr>
          <a:lstStyle/>
          <a:p>
            <a:pPr marL="914400" indent="-914400">
              <a:lnSpc>
                <a:spcPct val="110000"/>
              </a:lnSpc>
              <a:spcBef>
                <a:spcPts val="1800"/>
              </a:spcBef>
              <a:buNone/>
            </a:pPr>
            <a:r>
              <a:rPr lang="en-US" sz="2800" dirty="0"/>
              <a:t>1.1.3  Explain how the following pharmacokinetic factors interact to determine drug bioavailability: absorption, distribution, biotransformation, and excretion.</a:t>
            </a:r>
          </a:p>
          <a:p>
            <a:pPr marL="914400" indent="-914400">
              <a:lnSpc>
                <a:spcPct val="110000"/>
              </a:lnSpc>
              <a:spcBef>
                <a:spcPts val="1800"/>
              </a:spcBef>
              <a:buNone/>
            </a:pPr>
            <a:r>
              <a:rPr lang="en-US" sz="2800" dirty="0"/>
              <a:t>1.1.4  List the major routes of administration and explain their advantages and disadvantages in terms of rate of onset, duration of action, convenience, and safety.</a:t>
            </a:r>
          </a:p>
          <a:p>
            <a:pPr marL="914400" indent="-914400">
              <a:lnSpc>
                <a:spcPct val="110000"/>
              </a:lnSpc>
              <a:spcBef>
                <a:spcPts val="1800"/>
              </a:spcBef>
              <a:buNone/>
            </a:pPr>
            <a:r>
              <a:rPr lang="en-US" sz="2800" dirty="0"/>
              <a:t>1.1.5  Describe how absorption, distribution, biotransformation, and excretion are influenced by the interaction between the chemical properties of the drug and biological properties of the body, including gastrointestinal tract pH, blood–brain and placental barriers, depot binding sites, enzymatic metabolism, and excretory processes.</a:t>
            </a:r>
          </a:p>
        </p:txBody>
      </p:sp>
    </p:spTree>
    <p:extLst>
      <p:ext uri="{BB962C8B-B14F-4D97-AF65-F5344CB8AC3E}">
        <p14:creationId xmlns:p14="http://schemas.microsoft.com/office/powerpoint/2010/main" val="1513318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(3 of 4)</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914400" indent="-914400">
              <a:spcBef>
                <a:spcPts val="1800"/>
              </a:spcBef>
              <a:buNone/>
            </a:pPr>
            <a:r>
              <a:rPr lang="en-US" sz="2800" dirty="0"/>
              <a:t>1.2.1  Describe how drugs interact with the target tissue in terms of receptor-ligand binding.</a:t>
            </a:r>
          </a:p>
          <a:p>
            <a:pPr marL="914400" indent="-914400">
              <a:spcBef>
                <a:spcPts val="1800"/>
              </a:spcBef>
              <a:buNone/>
            </a:pPr>
            <a:r>
              <a:rPr lang="en-US" sz="2800" dirty="0"/>
              <a:t>1.2.2  Explain how receptor-ligand binding can be described in terms of affinity and efficacy; use these terms to describe how a drug is defined as an agonist, partial agonist, or antagonist.</a:t>
            </a:r>
          </a:p>
          <a:p>
            <a:pPr marL="914400" indent="-914400">
              <a:spcBef>
                <a:spcPts val="1800"/>
              </a:spcBef>
              <a:buNone/>
            </a:pPr>
            <a:r>
              <a:rPr lang="en-US" sz="2800" dirty="0"/>
              <a:t>1.2.3  Describe how dose-response relationships reflect receptor occupancy and activation, and can be used to describe the relative potency of a drug.</a:t>
            </a:r>
          </a:p>
        </p:txBody>
      </p:sp>
    </p:spTree>
    <p:extLst>
      <p:ext uri="{BB962C8B-B14F-4D97-AF65-F5344CB8AC3E}">
        <p14:creationId xmlns:p14="http://schemas.microsoft.com/office/powerpoint/2010/main" val="4228162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(4 of 4)</a:t>
            </a:r>
            <a:endParaRPr lang="en-US" dirty="0"/>
          </a:p>
        </p:txBody>
      </p:sp>
      <p:sp>
        <p:nvSpPr>
          <p:cNvPr id="3" name="Text Placeholder 2"/>
          <p:cNvSpPr>
            <a:spLocks noGrp="1"/>
          </p:cNvSpPr>
          <p:nvPr>
            <p:ph idx="1"/>
          </p:nvPr>
        </p:nvSpPr>
        <p:spPr>
          <a:xfrm>
            <a:off x="609600" y="1857781"/>
            <a:ext cx="10972800" cy="4525963"/>
          </a:xfrm>
        </p:spPr>
        <p:txBody>
          <a:bodyPr>
            <a:normAutofit fontScale="92500" lnSpcReduction="10000"/>
          </a:bodyPr>
          <a:lstStyle/>
          <a:p>
            <a:pPr marL="914400" indent="-914400">
              <a:lnSpc>
                <a:spcPct val="110000"/>
              </a:lnSpc>
              <a:spcBef>
                <a:spcPts val="1800"/>
              </a:spcBef>
              <a:buNone/>
            </a:pPr>
            <a:r>
              <a:rPr lang="en-US" sz="2800" dirty="0"/>
              <a:t>1.2.4  Explain the difference between competitive and non-competitive antagonists, and how co-administration of either of these would alter the dose-response curve of a receptor agonist.</a:t>
            </a:r>
          </a:p>
          <a:p>
            <a:pPr marL="914400" indent="-914400">
              <a:lnSpc>
                <a:spcPct val="110000"/>
              </a:lnSpc>
              <a:spcBef>
                <a:spcPts val="1800"/>
              </a:spcBef>
              <a:buNone/>
            </a:pPr>
            <a:r>
              <a:rPr lang="en-US" sz="2800" dirty="0"/>
              <a:t>1.2.5  Explain how the concept of therapeutic index is used to determine the relative safety of a drug.</a:t>
            </a:r>
          </a:p>
          <a:p>
            <a:pPr marL="914400" indent="-914400">
              <a:lnSpc>
                <a:spcPct val="110000"/>
              </a:lnSpc>
              <a:spcBef>
                <a:spcPts val="1800"/>
              </a:spcBef>
              <a:buNone/>
            </a:pPr>
            <a:r>
              <a:rPr lang="en-US" sz="2800" dirty="0"/>
              <a:t>1.2.6  Define tolerance and sensitization. Describe the mechanistic differences between pharmacodynamic, metabolic and behavioral tolerance.</a:t>
            </a:r>
          </a:p>
          <a:p>
            <a:pPr marL="914400" indent="-914400">
              <a:lnSpc>
                <a:spcPct val="110000"/>
              </a:lnSpc>
              <a:spcBef>
                <a:spcPts val="1800"/>
              </a:spcBef>
              <a:buNone/>
            </a:pPr>
            <a:r>
              <a:rPr lang="en-US" sz="2800" dirty="0"/>
              <a:t>1.2.7  Describe how pharmacogenetics can be used to optimize drug selection and dose based on genetic variability across individuals.</a:t>
            </a:r>
          </a:p>
        </p:txBody>
      </p:sp>
    </p:spTree>
    <p:extLst>
      <p:ext uri="{BB962C8B-B14F-4D97-AF65-F5344CB8AC3E}">
        <p14:creationId xmlns:p14="http://schemas.microsoft.com/office/powerpoint/2010/main" val="3885539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(1 of 24)</a:t>
            </a:r>
          </a:p>
        </p:txBody>
      </p:sp>
      <p:sp>
        <p:nvSpPr>
          <p:cNvPr id="3" name="Text Placeholder 2"/>
          <p:cNvSpPr>
            <a:spLocks noGrp="1"/>
          </p:cNvSpPr>
          <p:nvPr>
            <p:ph idx="1"/>
          </p:nvPr>
        </p:nvSpPr>
        <p:spPr>
          <a:xfrm>
            <a:off x="609600" y="1857781"/>
            <a:ext cx="10972800" cy="4525963"/>
          </a:xfrm>
        </p:spPr>
        <p:txBody>
          <a:bodyPr>
            <a:normAutofit fontScale="85000" lnSpcReduction="20000"/>
          </a:bodyPr>
          <a:lstStyle/>
          <a:p>
            <a:pPr marL="0" indent="0">
              <a:spcBef>
                <a:spcPts val="1200"/>
              </a:spcBef>
              <a:buNone/>
            </a:pPr>
            <a:r>
              <a:rPr lang="en-US" sz="3500" b="1" dirty="0"/>
              <a:t>Pharmacology</a:t>
            </a:r>
            <a:r>
              <a:rPr lang="en-US" sz="3500" dirty="0"/>
              <a:t>: the scientific study of the actions of drugs and their effects on a living organism</a:t>
            </a:r>
          </a:p>
          <a:p>
            <a:pPr marL="571500">
              <a:lnSpc>
                <a:spcPct val="120000"/>
              </a:lnSpc>
              <a:spcBef>
                <a:spcPts val="1800"/>
              </a:spcBef>
            </a:pPr>
            <a:r>
              <a:rPr lang="en-US" sz="3000" dirty="0"/>
              <a:t>Specialized areas:</a:t>
            </a:r>
          </a:p>
          <a:p>
            <a:pPr marL="1263650" lvl="1" indent="-349250">
              <a:spcBef>
                <a:spcPts val="1800"/>
              </a:spcBef>
              <a:buFont typeface="Courier New" panose="02070309020205020404" pitchFamily="49" charset="0"/>
              <a:buChar char="o"/>
            </a:pPr>
            <a:r>
              <a:rPr lang="en-US" sz="3000" b="1" dirty="0"/>
              <a:t>Neuropharmacology</a:t>
            </a:r>
            <a:r>
              <a:rPr lang="en-US" sz="3000" dirty="0"/>
              <a:t>: concerned with drug-induced changes to nervous system</a:t>
            </a:r>
          </a:p>
          <a:p>
            <a:pPr marL="1263650" lvl="1" indent="-349250">
              <a:spcBef>
                <a:spcPts val="1800"/>
              </a:spcBef>
              <a:buFont typeface="Courier New" panose="02070309020205020404" pitchFamily="49" charset="0"/>
              <a:buChar char="o"/>
            </a:pPr>
            <a:r>
              <a:rPr lang="en-US" sz="3000" b="1" dirty="0"/>
              <a:t>Psychopharmacology</a:t>
            </a:r>
            <a:r>
              <a:rPr lang="en-US" sz="3000" dirty="0"/>
              <a:t>: concerned with drug-induced changes in mood, thinking, and behavior</a:t>
            </a:r>
          </a:p>
          <a:p>
            <a:pPr marL="1263650" lvl="1" indent="-349250">
              <a:spcBef>
                <a:spcPts val="1800"/>
              </a:spcBef>
              <a:buFont typeface="Courier New" panose="02070309020205020404" pitchFamily="49" charset="0"/>
              <a:buChar char="o"/>
            </a:pPr>
            <a:r>
              <a:rPr lang="en-US" sz="3000" b="1" dirty="0"/>
              <a:t>Neuropsychopharmacology</a:t>
            </a:r>
            <a:r>
              <a:rPr lang="en-US" sz="3000" dirty="0"/>
              <a:t>: identify chemicals that can alter disturbed behavior; using chemicals as probes to understand the neurobiology of behavior</a:t>
            </a:r>
          </a:p>
        </p:txBody>
      </p:sp>
    </p:spTree>
    <p:extLst>
      <p:ext uri="{BB962C8B-B14F-4D97-AF65-F5344CB8AC3E}">
        <p14:creationId xmlns:p14="http://schemas.microsoft.com/office/powerpoint/2010/main" val="2666009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(2 of 24)</a:t>
            </a:r>
            <a:endParaRPr lang="en-US" dirty="0"/>
          </a:p>
        </p:txBody>
      </p:sp>
      <p:sp>
        <p:nvSpPr>
          <p:cNvPr id="3" name="Text Placeholder 2"/>
          <p:cNvSpPr>
            <a:spLocks noGrp="1"/>
          </p:cNvSpPr>
          <p:nvPr>
            <p:ph idx="1"/>
          </p:nvPr>
        </p:nvSpPr>
        <p:spPr>
          <a:xfrm>
            <a:off x="609600" y="1857781"/>
            <a:ext cx="10972800" cy="4525963"/>
          </a:xfrm>
        </p:spPr>
        <p:txBody>
          <a:bodyPr>
            <a:normAutofit fontScale="85000" lnSpcReduction="20000"/>
          </a:bodyPr>
          <a:lstStyle/>
          <a:p>
            <a:pPr marL="0" indent="0">
              <a:lnSpc>
                <a:spcPct val="90000"/>
              </a:lnSpc>
              <a:spcBef>
                <a:spcPts val="1200"/>
              </a:spcBef>
              <a:buNone/>
            </a:pPr>
            <a:r>
              <a:rPr lang="en-US" sz="3500" b="1" dirty="0"/>
              <a:t>Drug action</a:t>
            </a:r>
            <a:r>
              <a:rPr lang="en-US" sz="3500" dirty="0"/>
              <a:t>: specific molecular changes produced when drug binds to a particular target site or receptor</a:t>
            </a:r>
          </a:p>
          <a:p>
            <a:pPr marL="571500">
              <a:lnSpc>
                <a:spcPct val="110000"/>
              </a:lnSpc>
              <a:spcBef>
                <a:spcPts val="1800"/>
              </a:spcBef>
            </a:pPr>
            <a:r>
              <a:rPr lang="en-US" sz="3000" b="1" dirty="0"/>
              <a:t>Drug effects</a:t>
            </a:r>
            <a:r>
              <a:rPr lang="en-US" sz="3000" dirty="0"/>
              <a:t>: alterations in physiological or psychological functions</a:t>
            </a:r>
          </a:p>
          <a:p>
            <a:pPr marL="1263650" lvl="1" indent="-349250">
              <a:spcBef>
                <a:spcPts val="1800"/>
              </a:spcBef>
              <a:buFont typeface="Courier New" panose="02070309020205020404" pitchFamily="49" charset="0"/>
              <a:buChar char="o"/>
            </a:pPr>
            <a:r>
              <a:rPr lang="en-US" sz="3000" b="1" dirty="0"/>
              <a:t>Therapeutic effect</a:t>
            </a:r>
            <a:r>
              <a:rPr lang="en-US" sz="3000" dirty="0"/>
              <a:t>: drug produces desired physical or behavioral changes</a:t>
            </a:r>
          </a:p>
          <a:p>
            <a:pPr marL="1263650" lvl="1" indent="-349250">
              <a:spcBef>
                <a:spcPts val="1800"/>
              </a:spcBef>
              <a:buFont typeface="Courier New" panose="02070309020205020404" pitchFamily="49" charset="0"/>
              <a:buChar char="o"/>
            </a:pPr>
            <a:r>
              <a:rPr lang="en-US" sz="3000" b="1" dirty="0"/>
              <a:t>Side effects</a:t>
            </a:r>
            <a:r>
              <a:rPr lang="en-US" sz="3000" dirty="0"/>
              <a:t>: non-therapeutic effects</a:t>
            </a:r>
          </a:p>
          <a:p>
            <a:pPr marL="1263650" lvl="1" indent="-349250">
              <a:spcBef>
                <a:spcPts val="1800"/>
              </a:spcBef>
              <a:buFont typeface="Courier New" panose="02070309020205020404" pitchFamily="49" charset="0"/>
              <a:buChar char="o"/>
            </a:pPr>
            <a:r>
              <a:rPr lang="en-US" sz="3000" b="1" dirty="0"/>
              <a:t>Specific drug effects</a:t>
            </a:r>
            <a:r>
              <a:rPr lang="en-US" sz="3000" dirty="0"/>
              <a:t>: based on physical and biochemical interactions of a drug with a target site in living tissue</a:t>
            </a:r>
          </a:p>
          <a:p>
            <a:pPr marL="1263650" lvl="1" indent="-349250">
              <a:spcBef>
                <a:spcPts val="1800"/>
              </a:spcBef>
              <a:buFont typeface="Courier New" panose="02070309020205020404" pitchFamily="49" charset="0"/>
              <a:buChar char="o"/>
            </a:pPr>
            <a:r>
              <a:rPr lang="en-US" sz="3000" b="1" dirty="0"/>
              <a:t>Nonspecific drug effects</a:t>
            </a:r>
            <a:r>
              <a:rPr lang="en-US" sz="3000" dirty="0"/>
              <a:t>: based on unique characteristics of the individual</a:t>
            </a:r>
          </a:p>
        </p:txBody>
      </p:sp>
    </p:spTree>
    <p:extLst>
      <p:ext uri="{BB962C8B-B14F-4D97-AF65-F5344CB8AC3E}">
        <p14:creationId xmlns:p14="http://schemas.microsoft.com/office/powerpoint/2010/main" val="1629727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(3 of 24)</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0" indent="0">
              <a:lnSpc>
                <a:spcPct val="90000"/>
              </a:lnSpc>
              <a:spcBef>
                <a:spcPts val="1200"/>
              </a:spcBef>
              <a:buNone/>
            </a:pPr>
            <a:r>
              <a:rPr lang="en-US" dirty="0"/>
              <a:t>Placebo Effect</a:t>
            </a:r>
          </a:p>
          <a:p>
            <a:pPr marL="571500">
              <a:lnSpc>
                <a:spcPct val="110000"/>
              </a:lnSpc>
              <a:spcBef>
                <a:spcPts val="1800"/>
              </a:spcBef>
            </a:pPr>
            <a:r>
              <a:rPr lang="en-US" sz="2800" b="1" dirty="0"/>
              <a:t>Placebo</a:t>
            </a:r>
            <a:r>
              <a:rPr lang="en-US" sz="2800" dirty="0"/>
              <a:t>: pharmacologically inert compound; may have therapeutic effects and side effects</a:t>
            </a:r>
          </a:p>
          <a:p>
            <a:pPr marL="571500">
              <a:lnSpc>
                <a:spcPct val="110000"/>
              </a:lnSpc>
              <a:spcBef>
                <a:spcPts val="1800"/>
              </a:spcBef>
            </a:pPr>
            <a:r>
              <a:rPr lang="en-US" sz="2800" dirty="0"/>
              <a:t>Effects include measurable physiological changes</a:t>
            </a:r>
          </a:p>
          <a:p>
            <a:pPr marL="571500">
              <a:lnSpc>
                <a:spcPct val="110000"/>
              </a:lnSpc>
              <a:spcBef>
                <a:spcPts val="1800"/>
              </a:spcBef>
            </a:pPr>
            <a:r>
              <a:rPr lang="en-US" sz="2800" dirty="0"/>
              <a:t>May be due to Pavlovian conditioning, verbal suggestion, positive expectations, social learning, or genetics</a:t>
            </a:r>
          </a:p>
          <a:p>
            <a:pPr marL="571500">
              <a:lnSpc>
                <a:spcPct val="110000"/>
              </a:lnSpc>
              <a:spcBef>
                <a:spcPts val="1800"/>
              </a:spcBef>
            </a:pPr>
            <a:r>
              <a:rPr lang="en-US" sz="2800" b="1" dirty="0"/>
              <a:t>Nocebo</a:t>
            </a:r>
            <a:r>
              <a:rPr lang="en-US" sz="2800" dirty="0"/>
              <a:t> effect: increased anxiety or pain due to negative expectations</a:t>
            </a:r>
          </a:p>
        </p:txBody>
      </p:sp>
    </p:spTree>
    <p:extLst>
      <p:ext uri="{BB962C8B-B14F-4D97-AF65-F5344CB8AC3E}">
        <p14:creationId xmlns:p14="http://schemas.microsoft.com/office/powerpoint/2010/main" val="2678066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(4 of 24)</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0" indent="0">
              <a:lnSpc>
                <a:spcPct val="90000"/>
              </a:lnSpc>
              <a:spcBef>
                <a:spcPts val="1200"/>
              </a:spcBef>
              <a:buNone/>
            </a:pPr>
            <a:r>
              <a:rPr lang="en-US" dirty="0"/>
              <a:t>Placebo Effect</a:t>
            </a:r>
          </a:p>
          <a:p>
            <a:pPr marL="571500">
              <a:lnSpc>
                <a:spcPct val="110000"/>
              </a:lnSpc>
              <a:spcBef>
                <a:spcPts val="1800"/>
              </a:spcBef>
            </a:pPr>
            <a:r>
              <a:rPr lang="en-US" sz="2800" dirty="0"/>
              <a:t>Placebos are essential in experimental design</a:t>
            </a:r>
          </a:p>
          <a:p>
            <a:pPr marL="571500">
              <a:lnSpc>
                <a:spcPct val="110000"/>
              </a:lnSpc>
              <a:spcBef>
                <a:spcPts val="1800"/>
              </a:spcBef>
            </a:pPr>
            <a:r>
              <a:rPr lang="en-US" sz="2800" dirty="0"/>
              <a:t>Control group is unaware of placebo; comparison with experimental group provides information on effectiveness of the drug beyond the expectations of the participants.</a:t>
            </a:r>
          </a:p>
          <a:p>
            <a:pPr marL="571500">
              <a:lnSpc>
                <a:spcPct val="110000"/>
              </a:lnSpc>
              <a:spcBef>
                <a:spcPts val="1800"/>
              </a:spcBef>
            </a:pPr>
            <a:r>
              <a:rPr lang="en-US" sz="2800" b="1" dirty="0"/>
              <a:t>Double-blind experiment</a:t>
            </a:r>
            <a:r>
              <a:rPr lang="en-US" sz="2800" dirty="0"/>
              <a:t>: neither patient nor observer knows what treatment the participant has received</a:t>
            </a:r>
          </a:p>
        </p:txBody>
      </p:sp>
    </p:spTree>
    <p:extLst>
      <p:ext uri="{BB962C8B-B14F-4D97-AF65-F5344CB8AC3E}">
        <p14:creationId xmlns:p14="http://schemas.microsoft.com/office/powerpoint/2010/main" val="4161612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(5 of 24)</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0" indent="0">
              <a:lnSpc>
                <a:spcPct val="90000"/>
              </a:lnSpc>
              <a:spcBef>
                <a:spcPts val="1200"/>
              </a:spcBef>
              <a:buNone/>
            </a:pPr>
            <a:r>
              <a:rPr lang="en-US" dirty="0"/>
              <a:t>Pharmacokinetic Factors Determining Drug Action</a:t>
            </a:r>
          </a:p>
          <a:p>
            <a:pPr marL="571500">
              <a:lnSpc>
                <a:spcPct val="110000"/>
              </a:lnSpc>
              <a:spcBef>
                <a:spcPts val="1800"/>
              </a:spcBef>
            </a:pPr>
            <a:r>
              <a:rPr lang="en-US" sz="2800" b="1" dirty="0"/>
              <a:t>Bioavailability</a:t>
            </a:r>
            <a:r>
              <a:rPr lang="en-US" sz="2800" dirty="0"/>
              <a:t>: amount of drug in the blood that is free to bind at specific target sites</a:t>
            </a:r>
          </a:p>
          <a:p>
            <a:pPr marL="571500">
              <a:lnSpc>
                <a:spcPct val="110000"/>
              </a:lnSpc>
              <a:spcBef>
                <a:spcPts val="1800"/>
              </a:spcBef>
            </a:pPr>
            <a:r>
              <a:rPr lang="en-US" sz="2800" b="1" dirty="0"/>
              <a:t>Pharmacokinetic</a:t>
            </a:r>
            <a:r>
              <a:rPr lang="en-US" sz="2800" dirty="0"/>
              <a:t> components of drug action contribute to bioavailability.</a:t>
            </a:r>
          </a:p>
        </p:txBody>
      </p:sp>
    </p:spTree>
    <p:extLst>
      <p:ext uri="{BB962C8B-B14F-4D97-AF65-F5344CB8AC3E}">
        <p14:creationId xmlns:p14="http://schemas.microsoft.com/office/powerpoint/2010/main" val="2378851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E8C57-0982-7449-9603-AF84942668CA}"/>
              </a:ext>
            </a:extLst>
          </p:cNvPr>
          <p:cNvSpPr>
            <a:spLocks noGrp="1"/>
          </p:cNvSpPr>
          <p:nvPr>
            <p:ph type="title"/>
          </p:nvPr>
        </p:nvSpPr>
        <p:spPr/>
        <p:txBody>
          <a:bodyPr/>
          <a:lstStyle/>
          <a:p>
            <a:r>
              <a:rPr lang="en-US" cap="all" dirty="0"/>
              <a:t>FIGURE 1.1  </a:t>
            </a:r>
            <a:r>
              <a:rPr lang="en-US" dirty="0"/>
              <a:t>Pharmacokinetic factors that determine bioavailability of drugs </a:t>
            </a:r>
          </a:p>
        </p:txBody>
      </p:sp>
      <p:pic>
        <p:nvPicPr>
          <p:cNvPr id="6" name="Content Placeholder 5" descr="The pharmacokinetic factors that determine drug bioavailability are depicted in this flow diagram. The first step is drug administration through oral, intravenous, intraperitoneal, subcutaneous, intramuscular, and inhalation sites, which is followed by absorption and distribution through the membranes of the oral cavity, gastrointestinal tract, peritoneum, skin, muscles, and lungs, which results in plasma protein binding that reaches the target site, which is the neuron receptor. Binding of blood plasma with inactive storage depots of bone and fat is the third stage. Inactivation occurs in the liver, stomach, colon, kidney, blood plasma, and brain, resulting in metabolites, which leads to the fifth phase. Excretion occurs in the intestines, kidneys, lungs, and sweat glands, producing excretion products such as feces, urine, water vapor, sweat, and saliva."/>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445845" y="479425"/>
            <a:ext cx="7300310" cy="6300788"/>
          </a:xfrm>
        </p:spPr>
      </p:pic>
    </p:spTree>
    <p:extLst>
      <p:ext uri="{BB962C8B-B14F-4D97-AF65-F5344CB8AC3E}">
        <p14:creationId xmlns:p14="http://schemas.microsoft.com/office/powerpoint/2010/main" val="12785578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(6 of 24)</a:t>
            </a:r>
            <a:endParaRPr lang="en-US" dirty="0"/>
          </a:p>
        </p:txBody>
      </p:sp>
      <p:sp>
        <p:nvSpPr>
          <p:cNvPr id="3" name="Text Placeholder 2"/>
          <p:cNvSpPr>
            <a:spLocks noGrp="1"/>
          </p:cNvSpPr>
          <p:nvPr>
            <p:ph idx="1"/>
          </p:nvPr>
        </p:nvSpPr>
        <p:spPr>
          <a:xfrm>
            <a:off x="609600" y="1857375"/>
            <a:ext cx="10972800" cy="4525963"/>
          </a:xfrm>
        </p:spPr>
        <p:txBody>
          <a:bodyPr>
            <a:normAutofit fontScale="85000" lnSpcReduction="20000"/>
          </a:bodyPr>
          <a:lstStyle/>
          <a:p>
            <a:pPr marL="457200" indent="-457200">
              <a:lnSpc>
                <a:spcPct val="110000"/>
              </a:lnSpc>
              <a:spcBef>
                <a:spcPts val="1200"/>
              </a:spcBef>
              <a:buNone/>
            </a:pPr>
            <a:r>
              <a:rPr lang="en-US" sz="3500" dirty="0"/>
              <a:t>Methods of Drug Administration Influence the Onset of Drug Action</a:t>
            </a:r>
          </a:p>
          <a:p>
            <a:pPr marL="571500">
              <a:lnSpc>
                <a:spcPct val="130000"/>
              </a:lnSpc>
              <a:spcBef>
                <a:spcPts val="1800"/>
              </a:spcBef>
            </a:pPr>
            <a:r>
              <a:rPr lang="en-US" sz="3000" b="1" dirty="0"/>
              <a:t>Systemic</a:t>
            </a:r>
            <a:r>
              <a:rPr lang="en-US" sz="3000" dirty="0"/>
              <a:t> routes: drug moves throughout the body through general circulation</a:t>
            </a:r>
          </a:p>
          <a:p>
            <a:pPr marL="571500">
              <a:lnSpc>
                <a:spcPct val="130000"/>
              </a:lnSpc>
              <a:spcBef>
                <a:spcPts val="1800"/>
              </a:spcBef>
            </a:pPr>
            <a:r>
              <a:rPr lang="en-US" sz="3000" b="1" dirty="0"/>
              <a:t>Oral administration (PO)</a:t>
            </a:r>
            <a:r>
              <a:rPr lang="en-US" sz="3000" dirty="0"/>
              <a:t>: drug must pass through stomach or intestine wall to reach blood capillaries; must be resistant to destruction by stomach acid and enzymes</a:t>
            </a:r>
          </a:p>
          <a:p>
            <a:pPr marL="571500">
              <a:lnSpc>
                <a:spcPct val="130000"/>
              </a:lnSpc>
              <a:spcBef>
                <a:spcPts val="1800"/>
              </a:spcBef>
            </a:pPr>
            <a:r>
              <a:rPr lang="en-US" sz="3000" b="1" dirty="0"/>
              <a:t>Absorption</a:t>
            </a:r>
            <a:r>
              <a:rPr lang="en-US" sz="3000" dirty="0"/>
              <a:t>: movement of drug from the site of administration to the blood circulation</a:t>
            </a:r>
          </a:p>
        </p:txBody>
      </p:sp>
    </p:spTree>
    <p:extLst>
      <p:ext uri="{BB962C8B-B14F-4D97-AF65-F5344CB8AC3E}">
        <p14:creationId xmlns:p14="http://schemas.microsoft.com/office/powerpoint/2010/main" val="2341353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(7 of 24)</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lnSpc>
                <a:spcPct val="90000"/>
              </a:lnSpc>
              <a:spcBef>
                <a:spcPts val="1200"/>
              </a:spcBef>
              <a:buNone/>
            </a:pPr>
            <a:r>
              <a:rPr lang="en-US" dirty="0"/>
              <a:t>Methods of Drug Administration Influence the Onset of Drug Action</a:t>
            </a:r>
          </a:p>
          <a:p>
            <a:pPr marL="571500">
              <a:lnSpc>
                <a:spcPct val="110000"/>
              </a:lnSpc>
              <a:spcBef>
                <a:spcPts val="1800"/>
              </a:spcBef>
            </a:pPr>
            <a:r>
              <a:rPr lang="en-US" sz="2800" b="1" dirty="0"/>
              <a:t>First-pass metabolism</a:t>
            </a:r>
            <a:r>
              <a:rPr lang="en-US" sz="2800" dirty="0"/>
              <a:t>: ingested chemicals pass via the portal vein to the liver, where they are altered by enzymes before passing to the general circulation</a:t>
            </a:r>
          </a:p>
          <a:p>
            <a:pPr marL="571500">
              <a:lnSpc>
                <a:spcPct val="110000"/>
              </a:lnSpc>
              <a:spcBef>
                <a:spcPts val="1800"/>
              </a:spcBef>
            </a:pPr>
            <a:r>
              <a:rPr lang="en-US" sz="2800" dirty="0"/>
              <a:t>Oral therapeutic drugs may undergo metabolism that reduces their bioavailability.</a:t>
            </a:r>
          </a:p>
        </p:txBody>
      </p:sp>
    </p:spTree>
    <p:extLst>
      <p:ext uri="{BB962C8B-B14F-4D97-AF65-F5344CB8AC3E}">
        <p14:creationId xmlns:p14="http://schemas.microsoft.com/office/powerpoint/2010/main" val="2246270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D307B-5337-4648-8DE1-31E8DF5E731E}"/>
              </a:ext>
            </a:extLst>
          </p:cNvPr>
          <p:cNvSpPr>
            <a:spLocks noGrp="1"/>
          </p:cNvSpPr>
          <p:nvPr>
            <p:ph type="title"/>
          </p:nvPr>
        </p:nvSpPr>
        <p:spPr/>
        <p:txBody>
          <a:bodyPr/>
          <a:lstStyle/>
          <a:p>
            <a:r>
              <a:rPr lang="en-US" cap="all" dirty="0"/>
              <a:t>FIGURE 1.2  </a:t>
            </a:r>
            <a:r>
              <a:rPr lang="en-US" dirty="0"/>
              <a:t>Routes of drug administration </a:t>
            </a:r>
          </a:p>
        </p:txBody>
      </p:sp>
      <p:pic>
        <p:nvPicPr>
          <p:cNvPr id="6" name="Content Placeholder 5" descr="The routes of drug administration are depicted in this illustration. The epithelial region is injected with subcutaneous injection, the muscle with intramuscular injection, and the blood vessel with intravenous injection. The oral drug is absorbed by the stomach and then passed via the intestine to the liver, where it is combined with intramuscular and subcutaneous injections from various parts of the body and sent to the right side of the heart, along with the intravenous injection that arrives passing through brain. The drug passes from the right side of the heart to the left side of the heart via the lungs, where it is then carried to the brain, stomach, and the rest of the body. The drug penetrates the alveoli and capillaries of the bronchiole, allowing it to reach the alveoli and capillaries of the lung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350954" y="479425"/>
            <a:ext cx="7490093" cy="6300788"/>
          </a:xfrm>
        </p:spPr>
      </p:pic>
    </p:spTree>
    <p:extLst>
      <p:ext uri="{BB962C8B-B14F-4D97-AF65-F5344CB8AC3E}">
        <p14:creationId xmlns:p14="http://schemas.microsoft.com/office/powerpoint/2010/main" val="10434997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(8 of 24)</a:t>
            </a:r>
            <a:endParaRPr lang="en-US" dirty="0"/>
          </a:p>
        </p:txBody>
      </p:sp>
      <p:sp>
        <p:nvSpPr>
          <p:cNvPr id="3" name="Text Placeholder 2"/>
          <p:cNvSpPr>
            <a:spLocks noGrp="1"/>
          </p:cNvSpPr>
          <p:nvPr>
            <p:ph idx="1"/>
          </p:nvPr>
        </p:nvSpPr>
        <p:spPr>
          <a:xfrm>
            <a:off x="609600" y="1857781"/>
            <a:ext cx="10972800" cy="4525963"/>
          </a:xfrm>
        </p:spPr>
        <p:txBody>
          <a:bodyPr>
            <a:normAutofit fontScale="92500" lnSpcReduction="20000"/>
          </a:bodyPr>
          <a:lstStyle/>
          <a:p>
            <a:pPr marL="457200" indent="-457200">
              <a:lnSpc>
                <a:spcPct val="110000"/>
              </a:lnSpc>
              <a:spcBef>
                <a:spcPts val="1200"/>
              </a:spcBef>
              <a:buNone/>
            </a:pPr>
            <a:r>
              <a:rPr lang="en-US" sz="3500" dirty="0"/>
              <a:t>Methods of Drug Administration Influence the Onset of Drug Action</a:t>
            </a:r>
          </a:p>
          <a:p>
            <a:pPr marL="571500">
              <a:lnSpc>
                <a:spcPct val="120000"/>
              </a:lnSpc>
              <a:spcBef>
                <a:spcPts val="1800"/>
              </a:spcBef>
            </a:pPr>
            <a:r>
              <a:rPr lang="en-US" sz="3000" b="1" dirty="0"/>
              <a:t>Intravenous (IV)</a:t>
            </a:r>
            <a:r>
              <a:rPr lang="en-US" sz="3000" dirty="0"/>
              <a:t>: rapid and accurate; drug goes directly into bloodstream; danger of overdose</a:t>
            </a:r>
          </a:p>
          <a:p>
            <a:pPr marL="571500">
              <a:lnSpc>
                <a:spcPct val="120000"/>
              </a:lnSpc>
              <a:spcBef>
                <a:spcPts val="1800"/>
              </a:spcBef>
            </a:pPr>
            <a:r>
              <a:rPr lang="en-US" sz="3000" b="1" dirty="0"/>
              <a:t>Intramuscular (IM)</a:t>
            </a:r>
            <a:r>
              <a:rPr lang="en-US" sz="3000" dirty="0"/>
              <a:t> injection: slower, more even absorption over time</a:t>
            </a:r>
          </a:p>
          <a:p>
            <a:pPr marL="571500">
              <a:lnSpc>
                <a:spcPct val="120000"/>
              </a:lnSpc>
              <a:spcBef>
                <a:spcPts val="1800"/>
              </a:spcBef>
            </a:pPr>
            <a:r>
              <a:rPr lang="en-US" sz="3000" b="1" dirty="0"/>
              <a:t>Subcutaneous (SC)</a:t>
            </a:r>
            <a:r>
              <a:rPr lang="en-US" sz="3000" dirty="0"/>
              <a:t> injection: just below the skin; drug pellets can be used to deliver hormones such as contraceptives</a:t>
            </a:r>
          </a:p>
          <a:p>
            <a:pPr marL="571500">
              <a:lnSpc>
                <a:spcPct val="120000"/>
              </a:lnSpc>
              <a:spcBef>
                <a:spcPts val="1800"/>
              </a:spcBef>
            </a:pPr>
            <a:r>
              <a:rPr lang="en-US" sz="3000" b="1" dirty="0"/>
              <a:t>Inhalation</a:t>
            </a:r>
            <a:r>
              <a:rPr lang="en-US" sz="3000" dirty="0"/>
              <a:t>: drug is absorbed by passing through the lungs</a:t>
            </a:r>
          </a:p>
        </p:txBody>
      </p:sp>
    </p:spTree>
    <p:extLst>
      <p:ext uri="{BB962C8B-B14F-4D97-AF65-F5344CB8AC3E}">
        <p14:creationId xmlns:p14="http://schemas.microsoft.com/office/powerpoint/2010/main" val="742287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(9 of 24)</a:t>
            </a:r>
            <a:endParaRPr lang="en-US" dirty="0"/>
          </a:p>
        </p:txBody>
      </p:sp>
      <p:sp>
        <p:nvSpPr>
          <p:cNvPr id="3" name="Text Placeholder 2"/>
          <p:cNvSpPr>
            <a:spLocks noGrp="1"/>
          </p:cNvSpPr>
          <p:nvPr>
            <p:ph idx="1"/>
          </p:nvPr>
        </p:nvSpPr>
        <p:spPr>
          <a:xfrm>
            <a:off x="609600" y="1857781"/>
            <a:ext cx="10972800" cy="4525963"/>
          </a:xfrm>
        </p:spPr>
        <p:txBody>
          <a:bodyPr>
            <a:normAutofit fontScale="92500" lnSpcReduction="10000"/>
          </a:bodyPr>
          <a:lstStyle/>
          <a:p>
            <a:pPr marL="457200" indent="-457200">
              <a:spcBef>
                <a:spcPts val="1200"/>
              </a:spcBef>
              <a:buNone/>
            </a:pPr>
            <a:r>
              <a:rPr lang="en-US" sz="3500" dirty="0"/>
              <a:t>Methods of Drug Administration Influence the Onset of Drug Action</a:t>
            </a:r>
          </a:p>
          <a:p>
            <a:pPr marL="571500">
              <a:spcBef>
                <a:spcPts val="1800"/>
              </a:spcBef>
            </a:pPr>
            <a:r>
              <a:rPr lang="en-US" sz="3000" b="1" dirty="0"/>
              <a:t>Topical</a:t>
            </a:r>
            <a:r>
              <a:rPr lang="en-US" sz="3000" dirty="0"/>
              <a:t> application to mucus membranes: local effects</a:t>
            </a:r>
          </a:p>
          <a:p>
            <a:pPr marL="571500">
              <a:spcBef>
                <a:spcPts val="1800"/>
              </a:spcBef>
            </a:pPr>
            <a:r>
              <a:rPr lang="en-US" sz="3000" b="1" dirty="0"/>
              <a:t>Intranasal</a:t>
            </a:r>
            <a:r>
              <a:rPr lang="en-US" sz="3000" dirty="0"/>
              <a:t>: local effects but moves rapidly into blood; avoids first-pass metabolism; bypasses blood-brain barrier </a:t>
            </a:r>
          </a:p>
          <a:p>
            <a:pPr marL="571500">
              <a:spcBef>
                <a:spcPts val="1800"/>
              </a:spcBef>
            </a:pPr>
            <a:r>
              <a:rPr lang="en-US" sz="3000" b="1" dirty="0"/>
              <a:t>Transdermal</a:t>
            </a:r>
            <a:r>
              <a:rPr lang="en-US" sz="3000" dirty="0"/>
              <a:t>: through the skin with skin patches; avoids first-pass metabolism</a:t>
            </a:r>
          </a:p>
          <a:p>
            <a:pPr marL="571500">
              <a:spcBef>
                <a:spcPts val="1800"/>
              </a:spcBef>
            </a:pPr>
            <a:r>
              <a:rPr lang="en-US" sz="3000" b="1" dirty="0"/>
              <a:t>Epidural</a:t>
            </a:r>
            <a:r>
              <a:rPr lang="en-US" sz="3000" dirty="0"/>
              <a:t>: injection into epidural space; bypasses blood-brain barrier</a:t>
            </a:r>
          </a:p>
        </p:txBody>
      </p:sp>
    </p:spTree>
    <p:extLst>
      <p:ext uri="{BB962C8B-B14F-4D97-AF65-F5344CB8AC3E}">
        <p14:creationId xmlns:p14="http://schemas.microsoft.com/office/powerpoint/2010/main" val="122816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(10 of 24)</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lnSpc>
                <a:spcPct val="90000"/>
              </a:lnSpc>
              <a:spcBef>
                <a:spcPts val="1200"/>
              </a:spcBef>
              <a:buNone/>
            </a:pPr>
            <a:r>
              <a:rPr lang="en-US" dirty="0"/>
              <a:t>Methods of Drug Administration Influence the Onset of Drug Action</a:t>
            </a:r>
          </a:p>
          <a:p>
            <a:pPr marL="571500">
              <a:lnSpc>
                <a:spcPct val="110000"/>
              </a:lnSpc>
              <a:spcBef>
                <a:spcPts val="1800"/>
              </a:spcBef>
            </a:pPr>
            <a:r>
              <a:rPr lang="en-US" sz="2800" dirty="0"/>
              <a:t>Route of administration alters the rate of absorption and thus blood levels of the drug (bioavailability).</a:t>
            </a:r>
          </a:p>
          <a:p>
            <a:pPr marL="571500">
              <a:lnSpc>
                <a:spcPct val="110000"/>
              </a:lnSpc>
              <a:spcBef>
                <a:spcPts val="1800"/>
              </a:spcBef>
            </a:pPr>
            <a:r>
              <a:rPr lang="en-US" sz="2800" dirty="0"/>
              <a:t>Peak levels reflect absorption rate and metabolism in the liver.</a:t>
            </a:r>
          </a:p>
        </p:txBody>
      </p:sp>
    </p:spTree>
    <p:extLst>
      <p:ext uri="{BB962C8B-B14F-4D97-AF65-F5344CB8AC3E}">
        <p14:creationId xmlns:p14="http://schemas.microsoft.com/office/powerpoint/2010/main" val="600178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A415F-76A1-9D4E-AE29-1F816ECB572A}"/>
              </a:ext>
            </a:extLst>
          </p:cNvPr>
          <p:cNvSpPr>
            <a:spLocks noGrp="1"/>
          </p:cNvSpPr>
          <p:nvPr>
            <p:ph type="title"/>
          </p:nvPr>
        </p:nvSpPr>
        <p:spPr/>
        <p:txBody>
          <a:bodyPr/>
          <a:lstStyle/>
          <a:p>
            <a:r>
              <a:rPr lang="en-US" cap="all" dirty="0"/>
              <a:t>FIGURE 1.4  </a:t>
            </a:r>
            <a:r>
              <a:rPr lang="en-US" dirty="0"/>
              <a:t>The time course of drug blood level depends on route of administration </a:t>
            </a:r>
          </a:p>
        </p:txBody>
      </p:sp>
      <p:pic>
        <p:nvPicPr>
          <p:cNvPr id="6" name="Content Placeholder 5" descr="A trend graph depicts the drug concentration depending on the route of administration. The horizontal axis represents the time in hours ranges between 0 and 24. The vertical axis represents the drug concentration of blood in milligrams per kilogram ranges between 0.01 and 10.0. The trend for IM decreases through the points (3, 4.8), (5, 0.2), and (8, 0.01). The trend for IV decreases through the points (0, 10.0), (3, 0.8), and (5, 0.03). The trend for IM-oil passes through the points (2, 0.7), (4, 1.1), (5, 1.2), (6.5, 1.15), (10, 0.9), (12, 0.5), (18, 0.10), and (24, 0.03). The trend for SC passes through the points (1, 0.03), (2, 0.05), (5, 0.05), (8, 0.04), and (12, 0.02). The trend for PO passes through the points (1.5, 0.01), (3, 0.03), (5, 0.03), and (8, 0.02). A horizontal dashed line representing the threshold for effectiveness passes at y value of 0.03. Note that the above-mentioned values are approximate. "/>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876019" y="479425"/>
            <a:ext cx="6439962" cy="6300788"/>
          </a:xfrm>
        </p:spPr>
      </p:pic>
    </p:spTree>
    <p:extLst>
      <p:ext uri="{BB962C8B-B14F-4D97-AF65-F5344CB8AC3E}">
        <p14:creationId xmlns:p14="http://schemas.microsoft.com/office/powerpoint/2010/main" val="1853999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(11 of 24)</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Multiple Factors Modify Drug Absorption</a:t>
            </a:r>
          </a:p>
          <a:p>
            <a:pPr marL="571500">
              <a:lnSpc>
                <a:spcPct val="110000"/>
              </a:lnSpc>
              <a:spcBef>
                <a:spcPts val="1800"/>
              </a:spcBef>
            </a:pPr>
            <a:r>
              <a:rPr lang="en-US" sz="2800" dirty="0"/>
              <a:t>Route of administration</a:t>
            </a:r>
          </a:p>
          <a:p>
            <a:pPr marL="571500">
              <a:lnSpc>
                <a:spcPct val="110000"/>
              </a:lnSpc>
              <a:spcBef>
                <a:spcPts val="1800"/>
              </a:spcBef>
            </a:pPr>
            <a:r>
              <a:rPr lang="en-US" sz="2800" dirty="0"/>
              <a:t>Drug concentration</a:t>
            </a:r>
          </a:p>
          <a:p>
            <a:pPr marL="571500">
              <a:lnSpc>
                <a:spcPct val="110000"/>
              </a:lnSpc>
              <a:spcBef>
                <a:spcPts val="1800"/>
              </a:spcBef>
            </a:pPr>
            <a:r>
              <a:rPr lang="en-US" sz="2800" dirty="0"/>
              <a:t>Solubility and ionization of the drug</a:t>
            </a:r>
          </a:p>
          <a:p>
            <a:pPr marL="571500">
              <a:lnSpc>
                <a:spcPct val="110000"/>
              </a:lnSpc>
              <a:spcBef>
                <a:spcPts val="1800"/>
              </a:spcBef>
            </a:pPr>
            <a:r>
              <a:rPr lang="en-US" sz="2800" dirty="0"/>
              <a:t>Rate of transport across cell membranes – bilayers of </a:t>
            </a:r>
            <a:r>
              <a:rPr lang="en-US" sz="2800" b="1" dirty="0"/>
              <a:t>phospholipid </a:t>
            </a:r>
            <a:r>
              <a:rPr lang="en-US" sz="2800" dirty="0"/>
              <a:t>molecules</a:t>
            </a:r>
          </a:p>
        </p:txBody>
      </p:sp>
    </p:spTree>
    <p:extLst>
      <p:ext uri="{BB962C8B-B14F-4D97-AF65-F5344CB8AC3E}">
        <p14:creationId xmlns:p14="http://schemas.microsoft.com/office/powerpoint/2010/main" val="9022991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481A1-BFCD-114B-98EB-6C1ED0D5358A}"/>
              </a:ext>
            </a:extLst>
          </p:cNvPr>
          <p:cNvSpPr>
            <a:spLocks noGrp="1"/>
          </p:cNvSpPr>
          <p:nvPr>
            <p:ph type="title"/>
          </p:nvPr>
        </p:nvSpPr>
        <p:spPr/>
        <p:txBody>
          <a:bodyPr/>
          <a:lstStyle/>
          <a:p>
            <a:r>
              <a:rPr lang="en-US" cap="all" dirty="0"/>
              <a:t>FIGURE 1.5  </a:t>
            </a:r>
            <a:r>
              <a:rPr lang="en-US" dirty="0"/>
              <a:t>Cell membranes </a:t>
            </a:r>
          </a:p>
        </p:txBody>
      </p:sp>
      <p:pic>
        <p:nvPicPr>
          <p:cNvPr id="6" name="Content Placeholder 5" descr="A phospholipid molecule's structure is depicted. The phosphate group forms a negatively charged hydrophilic head. Fatty acid chain links form two uncharged hydrophobic tails. The extracellular and intracellular views of the arrangement of individual phospholipid molecules are depicted in this illustration. Within a bilayer outlined by a phospholipid charged area, the phospholipid molecules are closely packed. The globular protein is found in both the extracellular and intracellular regions of the phospholipid molecule. Within the bilayer, the fatty uncharged tails are labeled."/>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29020" y="479425"/>
            <a:ext cx="11333961" cy="6300788"/>
          </a:xfrm>
        </p:spPr>
      </p:pic>
    </p:spTree>
    <p:extLst>
      <p:ext uri="{BB962C8B-B14F-4D97-AF65-F5344CB8AC3E}">
        <p14:creationId xmlns:p14="http://schemas.microsoft.com/office/powerpoint/2010/main" val="36549897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(12 of 24)</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Multiple Factors Modify Drug Absorption</a:t>
            </a:r>
          </a:p>
          <a:p>
            <a:pPr marL="571500">
              <a:lnSpc>
                <a:spcPct val="110000"/>
              </a:lnSpc>
              <a:spcBef>
                <a:spcPts val="1800"/>
              </a:spcBef>
            </a:pPr>
            <a:r>
              <a:rPr lang="en-US" sz="2800" dirty="0"/>
              <a:t>Lipid-soluble drugs move through cell membranes by </a:t>
            </a:r>
            <a:r>
              <a:rPr lang="en-US" sz="2800" b="1" dirty="0"/>
              <a:t>passive diffusion</a:t>
            </a:r>
            <a:r>
              <a:rPr lang="en-US" sz="2800" dirty="0"/>
              <a:t>.</a:t>
            </a:r>
          </a:p>
          <a:p>
            <a:pPr marL="1263650" lvl="1" indent="-349250">
              <a:spcBef>
                <a:spcPts val="1800"/>
              </a:spcBef>
              <a:buFont typeface="Courier New" panose="02070309020205020404" pitchFamily="49" charset="0"/>
              <a:buChar char="o"/>
            </a:pPr>
            <a:r>
              <a:rPr lang="en-US" dirty="0"/>
              <a:t>Diffusion is from higher to lower concentration (</a:t>
            </a:r>
            <a:r>
              <a:rPr lang="en-US" b="1" dirty="0"/>
              <a:t>concentration gradient</a:t>
            </a:r>
            <a:r>
              <a:rPr lang="en-US" dirty="0"/>
              <a:t>) .</a:t>
            </a:r>
          </a:p>
          <a:p>
            <a:pPr marL="1263650" lvl="1" indent="-349250">
              <a:spcBef>
                <a:spcPts val="1800"/>
              </a:spcBef>
              <a:buFont typeface="Courier New" panose="02070309020205020404" pitchFamily="49" charset="0"/>
              <a:buChar char="o"/>
            </a:pPr>
            <a:r>
              <a:rPr lang="en-US" dirty="0"/>
              <a:t>Lipid solubility increases absorption and entry into the brain.</a:t>
            </a:r>
          </a:p>
          <a:p>
            <a:pPr marL="571500">
              <a:lnSpc>
                <a:spcPct val="110000"/>
              </a:lnSpc>
              <a:spcBef>
                <a:spcPts val="1800"/>
              </a:spcBef>
            </a:pPr>
            <a:r>
              <a:rPr lang="en-US" sz="2800" b="1" dirty="0"/>
              <a:t>Bioactivation</a:t>
            </a:r>
            <a:r>
              <a:rPr lang="en-US" sz="2800" dirty="0"/>
              <a:t>: inactive drug is metabolized into an active form</a:t>
            </a:r>
          </a:p>
        </p:txBody>
      </p:sp>
    </p:spTree>
    <p:extLst>
      <p:ext uri="{BB962C8B-B14F-4D97-AF65-F5344CB8AC3E}">
        <p14:creationId xmlns:p14="http://schemas.microsoft.com/office/powerpoint/2010/main" val="3167129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(13 of 24)</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Multiple Factors Modify Drug Absorption</a:t>
            </a:r>
          </a:p>
          <a:p>
            <a:pPr marL="571500">
              <a:lnSpc>
                <a:spcPct val="110000"/>
              </a:lnSpc>
              <a:spcBef>
                <a:spcPts val="1800"/>
              </a:spcBef>
            </a:pPr>
            <a:r>
              <a:rPr lang="en-US" sz="2800" dirty="0"/>
              <a:t>Most drugs are weak acids or bases that partially ionize in water</a:t>
            </a:r>
          </a:p>
          <a:p>
            <a:pPr marL="571500">
              <a:lnSpc>
                <a:spcPct val="110000"/>
              </a:lnSpc>
              <a:spcBef>
                <a:spcPts val="1800"/>
              </a:spcBef>
            </a:pPr>
            <a:r>
              <a:rPr lang="en-US" sz="2800" dirty="0"/>
              <a:t>Degree of </a:t>
            </a:r>
            <a:r>
              <a:rPr lang="en-US" sz="2800" b="1" dirty="0"/>
              <a:t>ionization</a:t>
            </a:r>
            <a:r>
              <a:rPr lang="en-US" sz="2800" dirty="0"/>
              <a:t> depends on pH and </a:t>
            </a:r>
            <a:r>
              <a:rPr lang="en-US" sz="2800" dirty="0" err="1"/>
              <a:t>pK</a:t>
            </a:r>
            <a:r>
              <a:rPr lang="en-US" sz="2800" baseline="-25000" dirty="0" err="1"/>
              <a:t>a</a:t>
            </a:r>
            <a:r>
              <a:rPr lang="en-US" sz="2800" dirty="0"/>
              <a:t> </a:t>
            </a:r>
          </a:p>
          <a:p>
            <a:pPr marL="571500">
              <a:lnSpc>
                <a:spcPct val="110000"/>
              </a:lnSpc>
              <a:spcBef>
                <a:spcPts val="1800"/>
              </a:spcBef>
            </a:pPr>
            <a:r>
              <a:rPr lang="en-US" sz="2800" dirty="0" err="1"/>
              <a:t>pK</a:t>
            </a:r>
            <a:r>
              <a:rPr lang="en-US" sz="2800" baseline="-25000" dirty="0" err="1"/>
              <a:t>a</a:t>
            </a:r>
            <a:r>
              <a:rPr lang="en-US" sz="2800" dirty="0"/>
              <a:t>: pH of the solution in which that drug would be 50% ionized and 50% non-ionized.</a:t>
            </a:r>
          </a:p>
          <a:p>
            <a:pPr marL="571500">
              <a:lnSpc>
                <a:spcPct val="110000"/>
              </a:lnSpc>
              <a:spcBef>
                <a:spcPts val="1800"/>
              </a:spcBef>
            </a:pPr>
            <a:r>
              <a:rPr lang="en-US" sz="2800" dirty="0"/>
              <a:t>Non-ionized form is more lipid soluble; can pass cell membranes and enter the blood more easily.</a:t>
            </a:r>
          </a:p>
        </p:txBody>
      </p:sp>
    </p:spTree>
    <p:extLst>
      <p:ext uri="{BB962C8B-B14F-4D97-AF65-F5344CB8AC3E}">
        <p14:creationId xmlns:p14="http://schemas.microsoft.com/office/powerpoint/2010/main" val="1499449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2CDB7-A05B-2E45-ABB7-F2BA7DB9EAC7}"/>
              </a:ext>
            </a:extLst>
          </p:cNvPr>
          <p:cNvSpPr>
            <a:spLocks noGrp="1"/>
          </p:cNvSpPr>
          <p:nvPr>
            <p:ph type="title"/>
          </p:nvPr>
        </p:nvSpPr>
        <p:spPr/>
        <p:txBody>
          <a:bodyPr/>
          <a:lstStyle/>
          <a:p>
            <a:r>
              <a:rPr lang="en-US" cap="all" dirty="0"/>
              <a:t>FIGURE 1.6  </a:t>
            </a:r>
            <a:r>
              <a:rPr lang="en-US" dirty="0"/>
              <a:t>Effect of ionization on drug absorption </a:t>
            </a:r>
          </a:p>
        </p:txBody>
      </p:sp>
      <p:pic>
        <p:nvPicPr>
          <p:cNvPr id="6" name="Content Placeholder 5" descr="The effect of ionization on drug absorption is depicted in this illustration. The first phase depicts the conversion of ionized carboxylic groups (without hydrogen atoms) and acetic groups in the stomach at pH 2.0 to non-ionized carboxylic groups and acetic groups. The passage of non-ionized acid from the stomach to the blood with a pH of 7.4 is the second phase. The conversion of non-ionized forms of acetic and carboxylic acids into ionized forms of acids in the blood is the third phase. In the fourth phase, non-ionized acids are converted to ionized acids in the intestine with a pH of 5.5. The transport of acid from the intestine to the blood is the fifth phas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970433" y="479425"/>
            <a:ext cx="4251134" cy="6300788"/>
          </a:xfrm>
        </p:spPr>
      </p:pic>
    </p:spTree>
    <p:extLst>
      <p:ext uri="{BB962C8B-B14F-4D97-AF65-F5344CB8AC3E}">
        <p14:creationId xmlns:p14="http://schemas.microsoft.com/office/powerpoint/2010/main" val="1582847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(14 of 24)</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Drug Distribution Is Limited by Selective Barriers</a:t>
            </a:r>
          </a:p>
          <a:p>
            <a:pPr marL="571500">
              <a:lnSpc>
                <a:spcPct val="110000"/>
              </a:lnSpc>
              <a:spcBef>
                <a:spcPts val="1800"/>
              </a:spcBef>
            </a:pPr>
            <a:r>
              <a:rPr lang="en-US" sz="2800" dirty="0"/>
              <a:t>Once a drug enters the blood it is quickly delivered to areas with high blood flow. </a:t>
            </a:r>
          </a:p>
          <a:p>
            <a:pPr marL="571500">
              <a:lnSpc>
                <a:spcPct val="110000"/>
              </a:lnSpc>
              <a:spcBef>
                <a:spcPts val="1800"/>
              </a:spcBef>
            </a:pPr>
            <a:r>
              <a:rPr lang="en-US" sz="2800" dirty="0"/>
              <a:t>Those areas will initially have a high drug concentration; as plasma levels fall, the drug is redistributed until it reaches equilibrium in all tissues.</a:t>
            </a:r>
          </a:p>
          <a:p>
            <a:pPr marL="571500">
              <a:lnSpc>
                <a:spcPct val="110000"/>
              </a:lnSpc>
              <a:spcBef>
                <a:spcPts val="1800"/>
              </a:spcBef>
            </a:pPr>
            <a:r>
              <a:rPr lang="en-US" sz="2800" b="1" dirty="0"/>
              <a:t>Drug redistribution </a:t>
            </a:r>
            <a:r>
              <a:rPr lang="en-US" sz="2800" dirty="0"/>
              <a:t>can terminate drug action.</a:t>
            </a:r>
            <a:endParaRPr lang="en-US" dirty="0"/>
          </a:p>
        </p:txBody>
      </p:sp>
    </p:spTree>
    <p:extLst>
      <p:ext uri="{BB962C8B-B14F-4D97-AF65-F5344CB8AC3E}">
        <p14:creationId xmlns:p14="http://schemas.microsoft.com/office/powerpoint/2010/main" val="2072453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(15 of 24)</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Drug Distribution Is Limited by Selective Barriers</a:t>
            </a:r>
          </a:p>
          <a:p>
            <a:pPr marL="571500">
              <a:lnSpc>
                <a:spcPct val="110000"/>
              </a:lnSpc>
              <a:spcBef>
                <a:spcPts val="1800"/>
              </a:spcBef>
            </a:pPr>
            <a:r>
              <a:rPr lang="en-US" sz="2800" dirty="0"/>
              <a:t>Blood-brain barrier: separation between brain capillaries and cerebrospinal fluid (CSF); selectively permeable</a:t>
            </a:r>
          </a:p>
          <a:p>
            <a:pPr marL="571500">
              <a:lnSpc>
                <a:spcPct val="110000"/>
              </a:lnSpc>
              <a:spcBef>
                <a:spcPts val="1800"/>
              </a:spcBef>
            </a:pPr>
            <a:r>
              <a:rPr lang="en-US" sz="2800" dirty="0"/>
              <a:t>Brain capillaries: endothelial cells are fused by </a:t>
            </a:r>
            <a:r>
              <a:rPr lang="en-US" sz="2800" b="1" dirty="0"/>
              <a:t>tight junctions</a:t>
            </a:r>
            <a:r>
              <a:rPr lang="en-US" sz="2800" dirty="0"/>
              <a:t>; most materials move by special transporters</a:t>
            </a:r>
          </a:p>
          <a:p>
            <a:pPr marL="571500">
              <a:lnSpc>
                <a:spcPct val="110000"/>
              </a:lnSpc>
              <a:spcBef>
                <a:spcPts val="1800"/>
              </a:spcBef>
            </a:pPr>
            <a:r>
              <a:rPr lang="en-US" sz="2800" dirty="0"/>
              <a:t>Brain capillaries are surrounded by extensions of </a:t>
            </a:r>
            <a:r>
              <a:rPr lang="en-US" sz="2800" b="1" dirty="0"/>
              <a:t>astroglia (astrocytes) </a:t>
            </a:r>
            <a:r>
              <a:rPr lang="en-US" sz="2800" dirty="0"/>
              <a:t>– essential to maintaining the blood-brain barrier</a:t>
            </a:r>
          </a:p>
        </p:txBody>
      </p:sp>
    </p:spTree>
    <p:extLst>
      <p:ext uri="{BB962C8B-B14F-4D97-AF65-F5344CB8AC3E}">
        <p14:creationId xmlns:p14="http://schemas.microsoft.com/office/powerpoint/2010/main" val="32827352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B3F08-7569-904B-A23D-5EC82A41B1D5}"/>
              </a:ext>
            </a:extLst>
          </p:cNvPr>
          <p:cNvSpPr>
            <a:spLocks noGrp="1"/>
          </p:cNvSpPr>
          <p:nvPr>
            <p:ph type="title"/>
          </p:nvPr>
        </p:nvSpPr>
        <p:spPr/>
        <p:txBody>
          <a:bodyPr/>
          <a:lstStyle/>
          <a:p>
            <a:r>
              <a:rPr lang="en-US" cap="all" dirty="0"/>
              <a:t>FIGURE 1.8  </a:t>
            </a:r>
            <a:r>
              <a:rPr lang="en-US" dirty="0"/>
              <a:t>Cross-section of typical capillaries and brain capillaries </a:t>
            </a:r>
          </a:p>
        </p:txBody>
      </p:sp>
      <p:pic>
        <p:nvPicPr>
          <p:cNvPr id="6" name="Content Placeholder 5" descr="A cross-section of a typical capillary is depicted in this illustration. The capillary is made up of two layers of circular structures, the outermost of which is the endothelial cell with the cell nucleus, and the fenestration is a gap connected by a thin connection in the endothelial cell. The intercellular cleft is the space between the endothelial cells. The blood plasma is the innermost layer, and lipid-soluble transport occurs here. The endothelial cell contains the pinocytotic vesicle.&#10;A cross-section of a brain capillary is depicted in this illustration. The capillary is five split entities designated as astrocytes. The transport is lipid soluble and carrier-mediated in this case. Instead of an intercellular cleft, there is a tight junction in the brain capillary."/>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698497"/>
            <a:ext cx="11376025" cy="5862644"/>
          </a:xfrm>
        </p:spPr>
      </p:pic>
    </p:spTree>
    <p:extLst>
      <p:ext uri="{BB962C8B-B14F-4D97-AF65-F5344CB8AC3E}">
        <p14:creationId xmlns:p14="http://schemas.microsoft.com/office/powerpoint/2010/main" val="10532936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(16 of 24)</a:t>
            </a:r>
            <a:endParaRPr lang="en-US" dirty="0"/>
          </a:p>
        </p:txBody>
      </p:sp>
      <p:sp>
        <p:nvSpPr>
          <p:cNvPr id="3" name="Text Placeholder 2"/>
          <p:cNvSpPr>
            <a:spLocks noGrp="1"/>
          </p:cNvSpPr>
          <p:nvPr>
            <p:ph idx="1"/>
          </p:nvPr>
        </p:nvSpPr>
        <p:spPr>
          <a:xfrm>
            <a:off x="609600" y="1857781"/>
            <a:ext cx="10972800" cy="4525963"/>
          </a:xfrm>
        </p:spPr>
        <p:txBody>
          <a:bodyPr>
            <a:normAutofit lnSpcReduction="10000"/>
          </a:bodyPr>
          <a:lstStyle/>
          <a:p>
            <a:pPr marL="457200" indent="-457200">
              <a:spcBef>
                <a:spcPts val="1200"/>
              </a:spcBef>
              <a:buNone/>
            </a:pPr>
            <a:r>
              <a:rPr lang="en-US" dirty="0"/>
              <a:t>Drug Distribution Is Limited by Selective Barriers</a:t>
            </a:r>
          </a:p>
          <a:p>
            <a:pPr marL="571500">
              <a:lnSpc>
                <a:spcPct val="110000"/>
              </a:lnSpc>
              <a:spcBef>
                <a:spcPts val="1800"/>
              </a:spcBef>
            </a:pPr>
            <a:r>
              <a:rPr lang="en-US" sz="2800" dirty="0"/>
              <a:t>Placental barrier: separation of blood circulation between mother and fetus at the placenta</a:t>
            </a:r>
          </a:p>
          <a:p>
            <a:pPr marL="571500">
              <a:lnSpc>
                <a:spcPct val="110000"/>
              </a:lnSpc>
              <a:spcBef>
                <a:spcPts val="1800"/>
              </a:spcBef>
            </a:pPr>
            <a:r>
              <a:rPr lang="en-US" sz="2800" dirty="0"/>
              <a:t>Transfer of drugs from mother to fetus can cause:</a:t>
            </a:r>
          </a:p>
          <a:p>
            <a:pPr marL="1263650" lvl="1" indent="-349250">
              <a:spcBef>
                <a:spcPts val="1800"/>
              </a:spcBef>
              <a:buFont typeface="Courier New" panose="02070309020205020404" pitchFamily="49" charset="0"/>
              <a:buChar char="o"/>
            </a:pPr>
            <a:r>
              <a:rPr lang="en-US" dirty="0"/>
              <a:t>Acute toxicity – opiates, alcohol, and other drugs; action can be prolonged after birth due to slow metabolism</a:t>
            </a:r>
          </a:p>
          <a:p>
            <a:pPr marL="1263650" lvl="1" indent="-349250">
              <a:spcBef>
                <a:spcPts val="1800"/>
              </a:spcBef>
              <a:buFont typeface="Courier New" panose="02070309020205020404" pitchFamily="49" charset="0"/>
              <a:buChar char="o"/>
            </a:pPr>
            <a:r>
              <a:rPr lang="en-US" dirty="0"/>
              <a:t>Teratogenic effects – causing developmental abnormalities; depends on time of exposure – most severe in early pregnancy</a:t>
            </a:r>
          </a:p>
        </p:txBody>
      </p:sp>
    </p:spTree>
    <p:extLst>
      <p:ext uri="{BB962C8B-B14F-4D97-AF65-F5344CB8AC3E}">
        <p14:creationId xmlns:p14="http://schemas.microsoft.com/office/powerpoint/2010/main" val="7905475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(17 of 24)</a:t>
            </a:r>
            <a:endParaRPr lang="en-US" dirty="0"/>
          </a:p>
        </p:txBody>
      </p:sp>
      <p:sp>
        <p:nvSpPr>
          <p:cNvPr id="3" name="Text Placeholder 2"/>
          <p:cNvSpPr>
            <a:spLocks noGrp="1"/>
          </p:cNvSpPr>
          <p:nvPr>
            <p:ph idx="1"/>
          </p:nvPr>
        </p:nvSpPr>
        <p:spPr>
          <a:xfrm>
            <a:off x="609600" y="1857781"/>
            <a:ext cx="10972800" cy="4525963"/>
          </a:xfrm>
        </p:spPr>
        <p:txBody>
          <a:bodyPr>
            <a:normAutofit fontScale="85000" lnSpcReduction="20000"/>
          </a:bodyPr>
          <a:lstStyle/>
          <a:p>
            <a:pPr marL="457200" indent="-457200">
              <a:spcBef>
                <a:spcPts val="1200"/>
              </a:spcBef>
              <a:buNone/>
            </a:pPr>
            <a:r>
              <a:rPr lang="en-US" sz="3500" b="1" dirty="0"/>
              <a:t>Depot Binding</a:t>
            </a:r>
            <a:r>
              <a:rPr lang="en-US" sz="3500" dirty="0"/>
              <a:t> Alters the Magnitude and Duration of Drug Action</a:t>
            </a:r>
          </a:p>
          <a:p>
            <a:pPr marL="571500">
              <a:lnSpc>
                <a:spcPct val="120000"/>
              </a:lnSpc>
              <a:spcBef>
                <a:spcPts val="1800"/>
              </a:spcBef>
            </a:pPr>
            <a:r>
              <a:rPr lang="en-US" sz="3000" dirty="0"/>
              <a:t>Binding of drugs to inactive sites (</a:t>
            </a:r>
            <a:r>
              <a:rPr lang="en-US" sz="3000" b="1" dirty="0"/>
              <a:t>drug depots </a:t>
            </a:r>
            <a:r>
              <a:rPr lang="en-US" sz="3000" dirty="0"/>
              <a:t>or </a:t>
            </a:r>
            <a:r>
              <a:rPr lang="en-US" sz="3000" b="1" dirty="0"/>
              <a:t>silent receptors</a:t>
            </a:r>
            <a:r>
              <a:rPr lang="en-US" sz="3000" dirty="0"/>
              <a:t>) – affects magnitude and duration of drug action</a:t>
            </a:r>
          </a:p>
          <a:p>
            <a:pPr marL="1263650" lvl="1" indent="-349250">
              <a:spcBef>
                <a:spcPts val="1800"/>
              </a:spcBef>
              <a:buFont typeface="Courier New" panose="02070309020205020404" pitchFamily="49" charset="0"/>
              <a:buChar char="o"/>
            </a:pPr>
            <a:r>
              <a:rPr lang="en-US" sz="3000" dirty="0"/>
              <a:t>Reduces concentration of drug at action sites</a:t>
            </a:r>
          </a:p>
          <a:p>
            <a:pPr marL="1263650" lvl="1" indent="-349250">
              <a:spcBef>
                <a:spcPts val="1800"/>
              </a:spcBef>
              <a:buFont typeface="Courier New" panose="02070309020205020404" pitchFamily="49" charset="0"/>
              <a:buChar char="o"/>
            </a:pPr>
            <a:r>
              <a:rPr lang="en-US" sz="3000" dirty="0"/>
              <a:t>Nonselective binding can cause competition between drugs and possible overdose</a:t>
            </a:r>
          </a:p>
          <a:p>
            <a:pPr marL="1263650" lvl="1" indent="-349250">
              <a:spcBef>
                <a:spcPts val="1800"/>
              </a:spcBef>
              <a:buFont typeface="Courier New" panose="02070309020205020404" pitchFamily="49" charset="0"/>
              <a:buChar char="o"/>
            </a:pPr>
            <a:r>
              <a:rPr lang="en-US" sz="3000" dirty="0"/>
              <a:t>Bound drug molecules can be altered by liver enzymes – prolongs time drug is in the body</a:t>
            </a:r>
          </a:p>
          <a:p>
            <a:pPr marL="1263650" lvl="1" indent="-349250">
              <a:spcBef>
                <a:spcPts val="1800"/>
              </a:spcBef>
              <a:buFont typeface="Courier New" panose="02070309020205020404" pitchFamily="49" charset="0"/>
              <a:buChar char="o"/>
            </a:pPr>
            <a:r>
              <a:rPr lang="en-US" sz="3000" dirty="0"/>
              <a:t>Redistribution to inactive sites</a:t>
            </a:r>
          </a:p>
        </p:txBody>
      </p:sp>
    </p:spTree>
    <p:extLst>
      <p:ext uri="{BB962C8B-B14F-4D97-AF65-F5344CB8AC3E}">
        <p14:creationId xmlns:p14="http://schemas.microsoft.com/office/powerpoint/2010/main" val="36355280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(18 of 24)</a:t>
            </a:r>
            <a:endParaRPr lang="en-US" dirty="0"/>
          </a:p>
        </p:txBody>
      </p:sp>
      <p:sp>
        <p:nvSpPr>
          <p:cNvPr id="3" name="Text Placeholder 2"/>
          <p:cNvSpPr>
            <a:spLocks noGrp="1"/>
          </p:cNvSpPr>
          <p:nvPr>
            <p:ph idx="1"/>
          </p:nvPr>
        </p:nvSpPr>
        <p:spPr>
          <a:xfrm>
            <a:off x="609600" y="1857781"/>
            <a:ext cx="10972800" cy="4525963"/>
          </a:xfrm>
        </p:spPr>
        <p:txBody>
          <a:bodyPr>
            <a:normAutofit lnSpcReduction="10000"/>
          </a:bodyPr>
          <a:lstStyle/>
          <a:p>
            <a:pPr marL="457200" indent="-457200">
              <a:spcBef>
                <a:spcPts val="1200"/>
              </a:spcBef>
              <a:buNone/>
            </a:pPr>
            <a:r>
              <a:rPr lang="en-US" dirty="0"/>
              <a:t>Biotransformation and Elimination of Drugs Contribute to Bioavailability</a:t>
            </a:r>
          </a:p>
          <a:p>
            <a:pPr marL="571500">
              <a:lnSpc>
                <a:spcPct val="120000"/>
              </a:lnSpc>
              <a:spcBef>
                <a:spcPts val="1800"/>
              </a:spcBef>
            </a:pPr>
            <a:r>
              <a:rPr lang="en-US" sz="2800" b="1" dirty="0"/>
              <a:t>Biotransformation</a:t>
            </a:r>
            <a:r>
              <a:rPr lang="en-US" sz="2800" dirty="0"/>
              <a:t> (metabolism) and excretion eliminate drugs from the body.</a:t>
            </a:r>
          </a:p>
          <a:p>
            <a:pPr marL="571500">
              <a:lnSpc>
                <a:spcPct val="120000"/>
              </a:lnSpc>
              <a:spcBef>
                <a:spcPts val="1800"/>
              </a:spcBef>
            </a:pPr>
            <a:r>
              <a:rPr lang="en-US" sz="2800" dirty="0"/>
              <a:t>Drug clearance from the blood is exponential (</a:t>
            </a:r>
            <a:r>
              <a:rPr lang="en-US" sz="2800" b="1" dirty="0"/>
              <a:t>first-order kinetics</a:t>
            </a:r>
            <a:r>
              <a:rPr lang="en-US" sz="2800" dirty="0"/>
              <a:t>).</a:t>
            </a:r>
          </a:p>
          <a:p>
            <a:pPr marL="571500">
              <a:lnSpc>
                <a:spcPct val="120000"/>
              </a:lnSpc>
              <a:spcBef>
                <a:spcPts val="1800"/>
              </a:spcBef>
            </a:pPr>
            <a:r>
              <a:rPr lang="en-US" sz="2800" b="1" dirty="0"/>
              <a:t>Half-life</a:t>
            </a:r>
            <a:r>
              <a:rPr lang="en-US" sz="2800" dirty="0"/>
              <a:t>: amount of time required for removal of 50% of the drug (t</a:t>
            </a:r>
            <a:r>
              <a:rPr lang="en-US" sz="2800" baseline="-25000" dirty="0"/>
              <a:t>½</a:t>
            </a:r>
            <a:r>
              <a:rPr lang="en-US" sz="2800" dirty="0"/>
              <a:t>); determines time needed to reach the </a:t>
            </a:r>
            <a:r>
              <a:rPr lang="en-US" sz="2800" b="1" dirty="0"/>
              <a:t>steady state plasma level </a:t>
            </a:r>
            <a:r>
              <a:rPr lang="en-US" sz="2800" dirty="0"/>
              <a:t>(the desired blood concentration).</a:t>
            </a:r>
          </a:p>
        </p:txBody>
      </p:sp>
    </p:spTree>
    <p:extLst>
      <p:ext uri="{BB962C8B-B14F-4D97-AF65-F5344CB8AC3E}">
        <p14:creationId xmlns:p14="http://schemas.microsoft.com/office/powerpoint/2010/main" val="34326562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04811-76EA-1244-8B68-DA1611BF4670}"/>
              </a:ext>
            </a:extLst>
          </p:cNvPr>
          <p:cNvSpPr>
            <a:spLocks noGrp="1"/>
          </p:cNvSpPr>
          <p:nvPr>
            <p:ph type="title"/>
          </p:nvPr>
        </p:nvSpPr>
        <p:spPr/>
        <p:txBody>
          <a:bodyPr/>
          <a:lstStyle/>
          <a:p>
            <a:r>
              <a:rPr lang="en-US" cap="all" dirty="0"/>
              <a:t>FIGURE 1.10  </a:t>
            </a:r>
            <a:r>
              <a:rPr lang="en-US" dirty="0"/>
              <a:t>Achieving steady state plasma levels of drug </a:t>
            </a:r>
          </a:p>
        </p:txBody>
      </p:sp>
      <p:pic>
        <p:nvPicPr>
          <p:cNvPr id="6" name="Content Placeholder 5" descr="A graph depicts the drug level in blood and the steady state plasma level. The horizontal axis represents the time and the vertical axis represents the blood drug level. An ascending curve representing the steady state plasma level gradually increases from the zero-level point to a peak throughout the time sections of A, B, and C. A sequence of sinusoidal waves originates from a point above the zero level and continues to extend throughout the ascending curv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502780" y="479425"/>
            <a:ext cx="7186440" cy="6300788"/>
          </a:xfrm>
        </p:spPr>
      </p:pic>
    </p:spTree>
    <p:extLst>
      <p:ext uri="{BB962C8B-B14F-4D97-AF65-F5344CB8AC3E}">
        <p14:creationId xmlns:p14="http://schemas.microsoft.com/office/powerpoint/2010/main" val="24865373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(19 of 24)</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Biotransformation and Elimination of Drugs Contribute to Bioavailability</a:t>
            </a:r>
          </a:p>
          <a:p>
            <a:pPr marL="571500">
              <a:lnSpc>
                <a:spcPct val="110000"/>
              </a:lnSpc>
              <a:spcBef>
                <a:spcPts val="1800"/>
              </a:spcBef>
            </a:pPr>
            <a:r>
              <a:rPr lang="en-US" sz="2800" dirty="0"/>
              <a:t>Most biotransformation occurs in the liver:</a:t>
            </a:r>
          </a:p>
          <a:p>
            <a:pPr marL="1263650" lvl="1" indent="-349250">
              <a:lnSpc>
                <a:spcPct val="80000"/>
              </a:lnSpc>
              <a:spcBef>
                <a:spcPts val="1800"/>
              </a:spcBef>
              <a:buFont typeface="Courier New" panose="02070309020205020404" pitchFamily="49" charset="0"/>
              <a:buChar char="o"/>
            </a:pPr>
            <a:r>
              <a:rPr lang="en-US" dirty="0"/>
              <a:t>Phase I – oxidation, reduction, or hydrolysis</a:t>
            </a:r>
          </a:p>
          <a:p>
            <a:pPr marL="1263650" lvl="1" indent="-349250">
              <a:lnSpc>
                <a:spcPct val="80000"/>
              </a:lnSpc>
              <a:spcBef>
                <a:spcPts val="1800"/>
              </a:spcBef>
              <a:buFont typeface="Courier New" panose="02070309020205020404" pitchFamily="49" charset="0"/>
              <a:buChar char="o"/>
            </a:pPr>
            <a:r>
              <a:rPr lang="en-US" dirty="0"/>
              <a:t>Phase II – synthetic reactions – products are ionized, water soluble, and biologically inactive</a:t>
            </a:r>
          </a:p>
          <a:p>
            <a:pPr marL="571500">
              <a:lnSpc>
                <a:spcPct val="110000"/>
              </a:lnSpc>
              <a:spcBef>
                <a:spcPts val="1800"/>
              </a:spcBef>
            </a:pPr>
            <a:r>
              <a:rPr lang="en-US" sz="2800" dirty="0"/>
              <a:t>Drugs that are converted to active metabolites have a prolonged duration of action.</a:t>
            </a:r>
          </a:p>
        </p:txBody>
      </p:sp>
    </p:spTree>
    <p:extLst>
      <p:ext uri="{BB962C8B-B14F-4D97-AF65-F5344CB8AC3E}">
        <p14:creationId xmlns:p14="http://schemas.microsoft.com/office/powerpoint/2010/main" val="28585186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(20 of 24)</a:t>
            </a:r>
            <a:endParaRPr lang="en-US" dirty="0"/>
          </a:p>
        </p:txBody>
      </p:sp>
      <p:sp>
        <p:nvSpPr>
          <p:cNvPr id="3" name="Text Placeholder 2"/>
          <p:cNvSpPr>
            <a:spLocks noGrp="1"/>
          </p:cNvSpPr>
          <p:nvPr>
            <p:ph idx="1"/>
          </p:nvPr>
        </p:nvSpPr>
        <p:spPr>
          <a:xfrm>
            <a:off x="609600" y="1857781"/>
            <a:ext cx="10972800" cy="4525963"/>
          </a:xfrm>
        </p:spPr>
        <p:txBody>
          <a:bodyPr>
            <a:normAutofit fontScale="85000" lnSpcReduction="20000"/>
          </a:bodyPr>
          <a:lstStyle/>
          <a:p>
            <a:pPr marL="457200" indent="-457200">
              <a:spcBef>
                <a:spcPts val="1200"/>
              </a:spcBef>
              <a:buNone/>
            </a:pPr>
            <a:r>
              <a:rPr lang="en-US" sz="3500" dirty="0"/>
              <a:t>Biotransformation and Elimination of Drugs Contribute to Bioavailability</a:t>
            </a:r>
          </a:p>
          <a:p>
            <a:pPr marL="571500">
              <a:lnSpc>
                <a:spcPct val="120000"/>
              </a:lnSpc>
              <a:spcBef>
                <a:spcPts val="1800"/>
              </a:spcBef>
            </a:pPr>
            <a:r>
              <a:rPr lang="en-US" altLang="en-US" sz="3000" dirty="0"/>
              <a:t>Factors that influence rate of biotransformation:</a:t>
            </a:r>
          </a:p>
          <a:p>
            <a:pPr marL="1263650" lvl="1" indent="-349250">
              <a:lnSpc>
                <a:spcPct val="90000"/>
              </a:lnSpc>
              <a:spcBef>
                <a:spcPts val="1800"/>
              </a:spcBef>
              <a:buFont typeface="Courier New" panose="02070309020205020404" pitchFamily="49" charset="0"/>
              <a:buChar char="o"/>
            </a:pPr>
            <a:r>
              <a:rPr lang="en-US" altLang="en-US" sz="3000" b="1" dirty="0"/>
              <a:t>Enzyme induction</a:t>
            </a:r>
            <a:r>
              <a:rPr lang="en-US" altLang="en-US" sz="3000" dirty="0"/>
              <a:t>: repeated use of drug increases number of enzymes; increases rate</a:t>
            </a:r>
          </a:p>
          <a:p>
            <a:pPr marL="1263650" lvl="1" indent="-349250">
              <a:lnSpc>
                <a:spcPct val="90000"/>
              </a:lnSpc>
              <a:spcBef>
                <a:spcPts val="1800"/>
              </a:spcBef>
              <a:buFont typeface="Courier New" panose="02070309020205020404" pitchFamily="49" charset="0"/>
              <a:buChar char="o"/>
            </a:pPr>
            <a:r>
              <a:rPr lang="en-US" altLang="en-US" sz="3000" b="1" dirty="0"/>
              <a:t>Enzyme inhibition</a:t>
            </a:r>
            <a:r>
              <a:rPr lang="en-US" altLang="en-US" sz="3000" dirty="0"/>
              <a:t>: reduces metabolism of other drugs that use the same enzyme</a:t>
            </a:r>
          </a:p>
          <a:p>
            <a:pPr marL="1263650" lvl="1" indent="-349250">
              <a:lnSpc>
                <a:spcPct val="90000"/>
              </a:lnSpc>
              <a:spcBef>
                <a:spcPts val="1800"/>
              </a:spcBef>
              <a:buFont typeface="Courier New" panose="02070309020205020404" pitchFamily="49" charset="0"/>
              <a:buChar char="o"/>
            </a:pPr>
            <a:r>
              <a:rPr lang="en-US" altLang="en-US" sz="3000" b="1" dirty="0"/>
              <a:t>Drug competition</a:t>
            </a:r>
            <a:r>
              <a:rPr lang="en-US" altLang="en-US" sz="3000" dirty="0"/>
              <a:t>: </a:t>
            </a:r>
            <a:r>
              <a:rPr lang="en-US" sz="3000" dirty="0"/>
              <a:t>elevated levels of one drug reduces metabolism of the second</a:t>
            </a:r>
            <a:r>
              <a:rPr lang="en-US" altLang="en-US" sz="3000" dirty="0"/>
              <a:t> </a:t>
            </a:r>
          </a:p>
          <a:p>
            <a:pPr marL="1263650" lvl="1" indent="-349250">
              <a:lnSpc>
                <a:spcPct val="90000"/>
              </a:lnSpc>
              <a:spcBef>
                <a:spcPts val="1800"/>
              </a:spcBef>
              <a:buFont typeface="Courier New" panose="02070309020205020404" pitchFamily="49" charset="0"/>
              <a:buChar char="o"/>
            </a:pPr>
            <a:r>
              <a:rPr lang="en-US" altLang="en-US" sz="3000" dirty="0"/>
              <a:t>Individual differences in age, gender, and genetics.</a:t>
            </a:r>
          </a:p>
        </p:txBody>
      </p:sp>
    </p:spTree>
    <p:extLst>
      <p:ext uri="{BB962C8B-B14F-4D97-AF65-F5344CB8AC3E}">
        <p14:creationId xmlns:p14="http://schemas.microsoft.com/office/powerpoint/2010/main" val="16600729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(21 of 24)</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lnSpc>
                <a:spcPct val="90000"/>
              </a:lnSpc>
              <a:spcBef>
                <a:spcPts val="1200"/>
              </a:spcBef>
              <a:buNone/>
            </a:pPr>
            <a:r>
              <a:rPr lang="en-US" dirty="0"/>
              <a:t>Biotransformation and Elimination of Drugs Contribute to Bioavailability</a:t>
            </a:r>
          </a:p>
          <a:p>
            <a:pPr marL="571500">
              <a:lnSpc>
                <a:spcPct val="110000"/>
              </a:lnSpc>
              <a:spcBef>
                <a:spcPts val="1800"/>
              </a:spcBef>
            </a:pPr>
            <a:r>
              <a:rPr lang="en-US" sz="2800" dirty="0"/>
              <a:t>Urine is the most important route for drug elimination.</a:t>
            </a:r>
          </a:p>
          <a:p>
            <a:pPr marL="571500">
              <a:lnSpc>
                <a:spcPct val="110000"/>
              </a:lnSpc>
              <a:spcBef>
                <a:spcPts val="1800"/>
              </a:spcBef>
            </a:pPr>
            <a:r>
              <a:rPr lang="en-US" sz="2800" dirty="0"/>
              <a:t>Kidneys filter materials from the blood, unless large or bound to plasma proteins; ionization reduces reabsorption</a:t>
            </a:r>
          </a:p>
          <a:p>
            <a:pPr marL="571500">
              <a:lnSpc>
                <a:spcPct val="110000"/>
              </a:lnSpc>
              <a:spcBef>
                <a:spcPts val="1800"/>
              </a:spcBef>
            </a:pPr>
            <a:r>
              <a:rPr lang="en-US" sz="2800" dirty="0"/>
              <a:t>Urinary pH affects drug reabsorption in kidney tubules; altering the pH is used to treat drug toxicity. </a:t>
            </a:r>
          </a:p>
        </p:txBody>
      </p:sp>
    </p:spTree>
    <p:extLst>
      <p:ext uri="{BB962C8B-B14F-4D97-AF65-F5344CB8AC3E}">
        <p14:creationId xmlns:p14="http://schemas.microsoft.com/office/powerpoint/2010/main" val="17205666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Pharmacology: The Science of Drug Action </a:t>
            </a:r>
            <a:r>
              <a:rPr lang="en-US" sz="1200" dirty="0"/>
              <a:t>(22 of 24)</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lnSpc>
                <a:spcPct val="90000"/>
              </a:lnSpc>
              <a:spcBef>
                <a:spcPts val="1200"/>
              </a:spcBef>
              <a:buNone/>
            </a:pPr>
            <a:r>
              <a:rPr lang="en-US" b="1" dirty="0"/>
              <a:t>Therapeutic Drug Monitoring</a:t>
            </a:r>
          </a:p>
          <a:p>
            <a:pPr marL="571500">
              <a:lnSpc>
                <a:spcPct val="110000"/>
              </a:lnSpc>
              <a:spcBef>
                <a:spcPts val="1800"/>
              </a:spcBef>
            </a:pPr>
            <a:r>
              <a:rPr lang="en-US" sz="2800" dirty="0"/>
              <a:t>To maintain optimal blood levels and hence drug concentration at the target site</a:t>
            </a:r>
          </a:p>
          <a:p>
            <a:pPr marL="571500">
              <a:lnSpc>
                <a:spcPct val="110000"/>
              </a:lnSpc>
              <a:spcBef>
                <a:spcPts val="1800"/>
              </a:spcBef>
            </a:pPr>
            <a:r>
              <a:rPr lang="en-US" sz="2800" dirty="0"/>
              <a:t>Multiple blood samples are taken after drug administration, and plasma levels are measured.</a:t>
            </a:r>
          </a:p>
          <a:p>
            <a:pPr marL="571500">
              <a:lnSpc>
                <a:spcPct val="110000"/>
              </a:lnSpc>
              <a:spcBef>
                <a:spcPts val="1800"/>
              </a:spcBef>
            </a:pPr>
            <a:r>
              <a:rPr lang="en-US" sz="2800" dirty="0"/>
              <a:t>Especially important for drugs that have a narrow therapeutic index</a:t>
            </a:r>
          </a:p>
        </p:txBody>
      </p:sp>
    </p:spTree>
    <p:extLst>
      <p:ext uri="{BB962C8B-B14F-4D97-AF65-F5344CB8AC3E}">
        <p14:creationId xmlns:p14="http://schemas.microsoft.com/office/powerpoint/2010/main" val="37946113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Pharmacology: The Science of Drug Action </a:t>
            </a:r>
            <a:r>
              <a:rPr lang="en-US" sz="1200" dirty="0"/>
              <a:t>(23 of 24)</a:t>
            </a:r>
            <a:endParaRPr lang="en-US" dirty="0"/>
          </a:p>
        </p:txBody>
      </p:sp>
      <p:sp>
        <p:nvSpPr>
          <p:cNvPr id="3" name="Text Placeholder 2"/>
          <p:cNvSpPr>
            <a:spLocks noGrp="1"/>
          </p:cNvSpPr>
          <p:nvPr>
            <p:ph idx="1"/>
          </p:nvPr>
        </p:nvSpPr>
        <p:spPr>
          <a:xfrm>
            <a:off x="609600" y="1857781"/>
            <a:ext cx="10972800" cy="4525963"/>
          </a:xfrm>
        </p:spPr>
        <p:txBody>
          <a:bodyPr/>
          <a:lstStyle/>
          <a:p>
            <a:pPr marL="0" indent="0">
              <a:buNone/>
            </a:pPr>
            <a:r>
              <a:rPr lang="en-US" sz="2400" u="sng" dirty="0"/>
              <a:t>CLICKER QUESTION 1</a:t>
            </a:r>
          </a:p>
          <a:p>
            <a:pPr marL="457200" indent="-457200">
              <a:spcBef>
                <a:spcPts val="2400"/>
              </a:spcBef>
              <a:buNone/>
            </a:pPr>
            <a:r>
              <a:rPr lang="en-US" dirty="0"/>
              <a:t>Which of the following factors is most important in determining plasma drug levels?  </a:t>
            </a:r>
          </a:p>
          <a:p>
            <a:pPr marL="914400" indent="-457200">
              <a:spcBef>
                <a:spcPts val="1200"/>
              </a:spcBef>
              <a:buFont typeface="Arial" pitchFamily="34" charset="0"/>
              <a:buAutoNum type="alphaLcPeriod"/>
            </a:pPr>
            <a:r>
              <a:rPr lang="en-US" dirty="0"/>
              <a:t>Amount of the drug destroyed by metabolism</a:t>
            </a:r>
          </a:p>
          <a:p>
            <a:pPr marL="914400" indent="-457200">
              <a:spcBef>
                <a:spcPts val="1200"/>
              </a:spcBef>
              <a:buFont typeface="Arial" pitchFamily="34" charset="0"/>
              <a:buAutoNum type="alphaLcPeriod"/>
            </a:pPr>
            <a:r>
              <a:rPr lang="en-US" dirty="0"/>
              <a:t>Route of administration</a:t>
            </a:r>
          </a:p>
          <a:p>
            <a:pPr marL="914400" indent="-457200">
              <a:spcBef>
                <a:spcPts val="1200"/>
              </a:spcBef>
              <a:buFont typeface="Arial" pitchFamily="34" charset="0"/>
              <a:buAutoNum type="alphaLcPeriod"/>
            </a:pPr>
            <a:r>
              <a:rPr lang="en-US" dirty="0"/>
              <a:t>Rate of passage of drug through cell membranes</a:t>
            </a:r>
          </a:p>
        </p:txBody>
      </p:sp>
    </p:spTree>
    <p:extLst>
      <p:ext uri="{BB962C8B-B14F-4D97-AF65-F5344CB8AC3E}">
        <p14:creationId xmlns:p14="http://schemas.microsoft.com/office/powerpoint/2010/main" val="22446861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Pharmacology: The Science of Drug Action </a:t>
            </a:r>
            <a:r>
              <a:rPr lang="en-US" sz="1200" dirty="0"/>
              <a:t>(24 of 24)</a:t>
            </a:r>
          </a:p>
        </p:txBody>
      </p:sp>
      <p:sp>
        <p:nvSpPr>
          <p:cNvPr id="3" name="Text Placeholder 2"/>
          <p:cNvSpPr>
            <a:spLocks noGrp="1"/>
          </p:cNvSpPr>
          <p:nvPr>
            <p:ph idx="1"/>
          </p:nvPr>
        </p:nvSpPr>
        <p:spPr>
          <a:xfrm>
            <a:off x="609600" y="1857781"/>
            <a:ext cx="10972800" cy="4525963"/>
          </a:xfrm>
        </p:spPr>
        <p:txBody>
          <a:bodyPr/>
          <a:lstStyle/>
          <a:p>
            <a:pPr marL="0" indent="0">
              <a:buNone/>
            </a:pPr>
            <a:r>
              <a:rPr lang="en-US" sz="2400" u="sng" dirty="0"/>
              <a:t>CLICKER QUESTION 2</a:t>
            </a:r>
          </a:p>
          <a:p>
            <a:pPr marL="457200" indent="-457200">
              <a:spcBef>
                <a:spcPts val="2400"/>
              </a:spcBef>
              <a:buNone/>
            </a:pPr>
            <a:r>
              <a:rPr lang="en-US" dirty="0"/>
              <a:t>Which organ is the most important route for drug elimination?</a:t>
            </a:r>
          </a:p>
          <a:p>
            <a:pPr marL="914400" indent="-457200">
              <a:spcBef>
                <a:spcPts val="1200"/>
              </a:spcBef>
              <a:buFont typeface="Arial" pitchFamily="34" charset="0"/>
              <a:buAutoNum type="alphaLcPeriod"/>
            </a:pPr>
            <a:r>
              <a:rPr lang="en-US" dirty="0"/>
              <a:t>Liver</a:t>
            </a:r>
          </a:p>
          <a:p>
            <a:pPr marL="914400" indent="-457200">
              <a:spcBef>
                <a:spcPts val="1200"/>
              </a:spcBef>
              <a:buFont typeface="Arial" pitchFamily="34" charset="0"/>
              <a:buAutoNum type="alphaLcPeriod"/>
            </a:pPr>
            <a:r>
              <a:rPr lang="en-US" dirty="0"/>
              <a:t>Kidneys </a:t>
            </a:r>
          </a:p>
          <a:p>
            <a:pPr marL="914400" indent="-457200">
              <a:spcBef>
                <a:spcPts val="1200"/>
              </a:spcBef>
              <a:buFont typeface="Arial" pitchFamily="34" charset="0"/>
              <a:buAutoNum type="alphaLcPeriod"/>
            </a:pPr>
            <a:r>
              <a:rPr lang="en-US" dirty="0"/>
              <a:t>Large intestine</a:t>
            </a:r>
          </a:p>
        </p:txBody>
      </p:sp>
    </p:spTree>
    <p:extLst>
      <p:ext uri="{BB962C8B-B14F-4D97-AF65-F5344CB8AC3E}">
        <p14:creationId xmlns:p14="http://schemas.microsoft.com/office/powerpoint/2010/main" val="30102693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sz="3600" dirty="0"/>
              <a:t>Review of Learning Objectives </a:t>
            </a:r>
            <a:r>
              <a:rPr lang="en-US" sz="1200" dirty="0"/>
              <a:t>(1 of 4)</a:t>
            </a:r>
          </a:p>
        </p:txBody>
      </p:sp>
      <p:sp>
        <p:nvSpPr>
          <p:cNvPr id="3" name="Text Placeholder 2"/>
          <p:cNvSpPr>
            <a:spLocks noGrp="1"/>
          </p:cNvSpPr>
          <p:nvPr>
            <p:ph idx="1"/>
          </p:nvPr>
        </p:nvSpPr>
        <p:spPr>
          <a:xfrm>
            <a:off x="609600" y="1857781"/>
            <a:ext cx="10972800" cy="4525963"/>
          </a:xfrm>
        </p:spPr>
        <p:txBody>
          <a:bodyPr>
            <a:normAutofit/>
          </a:bodyPr>
          <a:lstStyle/>
          <a:p>
            <a:pPr marL="914400" indent="-914400">
              <a:spcBef>
                <a:spcPts val="1800"/>
              </a:spcBef>
              <a:buNone/>
            </a:pPr>
            <a:r>
              <a:rPr lang="en-US" sz="2800" dirty="0"/>
              <a:t>1.1.1  Identify the differences between drug action and drug effects; therapeutic effects and side effects; specific and nonspecific drug effects.</a:t>
            </a:r>
          </a:p>
          <a:p>
            <a:pPr marL="914400" indent="-914400">
              <a:spcBef>
                <a:spcPts val="1800"/>
              </a:spcBef>
              <a:buNone/>
            </a:pPr>
            <a:r>
              <a:rPr lang="en-US" sz="2800" dirty="0"/>
              <a:t>1.1.2  Describe placebo and nocebo effects and explain the psychological mechanisms that likely account for them. Explain the importance of the placebo control in a double-blind experimental design.</a:t>
            </a:r>
          </a:p>
        </p:txBody>
      </p:sp>
    </p:spTree>
    <p:extLst>
      <p:ext uri="{BB962C8B-B14F-4D97-AF65-F5344CB8AC3E}">
        <p14:creationId xmlns:p14="http://schemas.microsoft.com/office/powerpoint/2010/main" val="192380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Review of Learning Objectives </a:t>
            </a:r>
            <a:r>
              <a:rPr lang="en-US" sz="1200" dirty="0"/>
              <a:t>(2 of 4)</a:t>
            </a:r>
            <a:endParaRPr lang="en-US" dirty="0"/>
          </a:p>
        </p:txBody>
      </p:sp>
      <p:sp>
        <p:nvSpPr>
          <p:cNvPr id="3" name="Text Placeholder 2"/>
          <p:cNvSpPr>
            <a:spLocks noGrp="1"/>
          </p:cNvSpPr>
          <p:nvPr>
            <p:ph idx="1"/>
          </p:nvPr>
        </p:nvSpPr>
        <p:spPr>
          <a:xfrm>
            <a:off x="609600" y="1857781"/>
            <a:ext cx="10972800" cy="4525963"/>
          </a:xfrm>
        </p:spPr>
        <p:txBody>
          <a:bodyPr>
            <a:normAutofit fontScale="92500" lnSpcReduction="20000"/>
          </a:bodyPr>
          <a:lstStyle/>
          <a:p>
            <a:pPr marL="914400" indent="-914400">
              <a:lnSpc>
                <a:spcPct val="110000"/>
              </a:lnSpc>
              <a:spcBef>
                <a:spcPts val="1800"/>
              </a:spcBef>
              <a:buNone/>
            </a:pPr>
            <a:r>
              <a:rPr lang="en-US" sz="2800" dirty="0"/>
              <a:t>1.1.3  Explain how the following pharmacokinetic factors interact to determine drug bioavailability: absorption, distribution, biotransformation, and excretion.</a:t>
            </a:r>
          </a:p>
          <a:p>
            <a:pPr marL="914400" indent="-914400">
              <a:lnSpc>
                <a:spcPct val="110000"/>
              </a:lnSpc>
              <a:spcBef>
                <a:spcPts val="1800"/>
              </a:spcBef>
              <a:buNone/>
            </a:pPr>
            <a:r>
              <a:rPr lang="en-US" sz="2800" dirty="0"/>
              <a:t>1.1.4  List the major routes of administration and explain their advantages and disadvantages in terms of rate of onset, duration of action, convenience, and safety.</a:t>
            </a:r>
          </a:p>
          <a:p>
            <a:pPr marL="914400" indent="-914400">
              <a:lnSpc>
                <a:spcPct val="110000"/>
              </a:lnSpc>
              <a:spcBef>
                <a:spcPts val="1800"/>
              </a:spcBef>
              <a:buNone/>
            </a:pPr>
            <a:r>
              <a:rPr lang="en-US" sz="2800" dirty="0"/>
              <a:t>1.1.5  Describe how absorption, distribution, biotransformation, and excretion are influenced by the interaction between the chemical properties of the drug and biological properties of the body, including gastrointestinal tract pH, blood–brain and placental barriers, depot binding sites, enzymatic metabolism, and excretory processes.</a:t>
            </a:r>
          </a:p>
        </p:txBody>
      </p:sp>
    </p:spTree>
    <p:extLst>
      <p:ext uri="{BB962C8B-B14F-4D97-AF65-F5344CB8AC3E}">
        <p14:creationId xmlns:p14="http://schemas.microsoft.com/office/powerpoint/2010/main" val="40899410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Pharmacodynamics: Drug–Receptor Interactions </a:t>
            </a:r>
            <a:r>
              <a:rPr lang="en-US" sz="1200" dirty="0"/>
              <a:t>(1 of 17)</a:t>
            </a:r>
          </a:p>
        </p:txBody>
      </p:sp>
      <p:sp>
        <p:nvSpPr>
          <p:cNvPr id="3" name="Text Placeholder 2"/>
          <p:cNvSpPr>
            <a:spLocks noGrp="1"/>
          </p:cNvSpPr>
          <p:nvPr>
            <p:ph idx="1"/>
          </p:nvPr>
        </p:nvSpPr>
        <p:spPr>
          <a:xfrm>
            <a:off x="609600" y="1857781"/>
            <a:ext cx="10972800" cy="4525963"/>
          </a:xfrm>
        </p:spPr>
        <p:txBody>
          <a:bodyPr>
            <a:normAutofit/>
          </a:bodyPr>
          <a:lstStyle/>
          <a:p>
            <a:pPr marL="457200" indent="-457200">
              <a:lnSpc>
                <a:spcPct val="90000"/>
              </a:lnSpc>
              <a:spcBef>
                <a:spcPts val="1200"/>
              </a:spcBef>
              <a:buNone/>
            </a:pPr>
            <a:r>
              <a:rPr lang="en-US" b="1" dirty="0"/>
              <a:t>Pharmacodynamics</a:t>
            </a:r>
            <a:r>
              <a:rPr lang="en-US" dirty="0"/>
              <a:t>: study of the interaction of drug molecules with specific receptors.</a:t>
            </a:r>
          </a:p>
          <a:p>
            <a:pPr marL="571500">
              <a:spcBef>
                <a:spcPts val="1800"/>
              </a:spcBef>
            </a:pPr>
            <a:r>
              <a:rPr lang="en-US" sz="2800" b="1" dirty="0"/>
              <a:t>Receptors</a:t>
            </a:r>
            <a:r>
              <a:rPr lang="en-US" sz="2800" dirty="0"/>
              <a:t>: proteins on cell surfaces or within cells.</a:t>
            </a:r>
          </a:p>
          <a:p>
            <a:pPr marL="1263650" lvl="1" indent="-349250">
              <a:spcBef>
                <a:spcPts val="1800"/>
              </a:spcBef>
              <a:buFont typeface="Courier New" panose="02070309020205020404" pitchFamily="49" charset="0"/>
              <a:buChar char="o"/>
            </a:pPr>
            <a:r>
              <a:rPr lang="en-US" dirty="0"/>
              <a:t>Cell surface receptors relay information through the cell membrane</a:t>
            </a:r>
          </a:p>
          <a:p>
            <a:pPr marL="1263650" lvl="1" indent="-349250">
              <a:spcBef>
                <a:spcPts val="1800"/>
              </a:spcBef>
              <a:buFont typeface="Courier New" panose="02070309020205020404" pitchFamily="49" charset="0"/>
              <a:buChar char="o"/>
            </a:pPr>
            <a:r>
              <a:rPr lang="en-US" dirty="0"/>
              <a:t>Receptors within cytoplasm or nucleus of target cells</a:t>
            </a:r>
          </a:p>
          <a:p>
            <a:pPr marL="571500">
              <a:spcBef>
                <a:spcPts val="1800"/>
              </a:spcBef>
            </a:pPr>
            <a:r>
              <a:rPr lang="en-US" sz="2800" b="1" dirty="0"/>
              <a:t>Ligand</a:t>
            </a:r>
            <a:r>
              <a:rPr lang="en-US" sz="2800" dirty="0"/>
              <a:t>: molecule that binds to a receptor with some selectivity.</a:t>
            </a:r>
          </a:p>
        </p:txBody>
      </p:sp>
    </p:spTree>
    <p:extLst>
      <p:ext uri="{BB962C8B-B14F-4D97-AF65-F5344CB8AC3E}">
        <p14:creationId xmlns:p14="http://schemas.microsoft.com/office/powerpoint/2010/main" val="15412805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36946-52E5-7148-8AC5-7B2F4F3BFE51}"/>
              </a:ext>
            </a:extLst>
          </p:cNvPr>
          <p:cNvSpPr>
            <a:spLocks noGrp="1"/>
          </p:cNvSpPr>
          <p:nvPr>
            <p:ph type="title"/>
          </p:nvPr>
        </p:nvSpPr>
        <p:spPr/>
        <p:txBody>
          <a:bodyPr/>
          <a:lstStyle/>
          <a:p>
            <a:r>
              <a:rPr lang="en-US" cap="all" dirty="0"/>
              <a:t>FIGURE 1.13  </a:t>
            </a:r>
            <a:r>
              <a:rPr lang="en-US" dirty="0"/>
              <a:t>Two principal types of receptors </a:t>
            </a:r>
          </a:p>
        </p:txBody>
      </p:sp>
      <p:pic>
        <p:nvPicPr>
          <p:cNvPr id="6" name="Content Placeholder 5" descr="The drug's transmission across the receptor is depicted in this illustration. Outside the cell, the drug or neurotransmitter binds to the receptor, causing intracellular effects which then triggers the effector.&#10;The interaction of the hormone with the genetic components within the cell is depicted in this illustration. The hormone receptor complex is formed when a steroid hormone from outside the cell binds to a specific receptor. The hormone receptor complex interacts with the cell's DNA and mRNA, resulting in protein synthesis and a change in functional respons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820039" y="479425"/>
            <a:ext cx="10551922" cy="6300788"/>
          </a:xfrm>
        </p:spPr>
      </p:pic>
    </p:spTree>
    <p:extLst>
      <p:ext uri="{BB962C8B-B14F-4D97-AF65-F5344CB8AC3E}">
        <p14:creationId xmlns:p14="http://schemas.microsoft.com/office/powerpoint/2010/main" val="5835832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Pharmacodynamics: Drug–Receptor Interactions </a:t>
            </a:r>
            <a:r>
              <a:rPr lang="en-US" sz="1200" dirty="0"/>
              <a:t>(2 of 17)</a:t>
            </a:r>
            <a:endParaRPr lang="en-US" dirty="0"/>
          </a:p>
        </p:txBody>
      </p:sp>
      <p:sp>
        <p:nvSpPr>
          <p:cNvPr id="3" name="Text Placeholder 2"/>
          <p:cNvSpPr>
            <a:spLocks noGrp="1"/>
          </p:cNvSpPr>
          <p:nvPr>
            <p:ph idx="1"/>
          </p:nvPr>
        </p:nvSpPr>
        <p:spPr>
          <a:xfrm>
            <a:off x="609600" y="1857781"/>
            <a:ext cx="10972800" cy="4525963"/>
          </a:xfrm>
        </p:spPr>
        <p:txBody>
          <a:bodyPr>
            <a:normAutofit fontScale="92500" lnSpcReduction="20000"/>
          </a:bodyPr>
          <a:lstStyle/>
          <a:p>
            <a:pPr marL="457200" indent="-457200">
              <a:spcBef>
                <a:spcPts val="1200"/>
              </a:spcBef>
              <a:buNone/>
            </a:pPr>
            <a:r>
              <a:rPr lang="en-US" sz="3500" dirty="0"/>
              <a:t>Extracellular and Intracellular Receptors Have Several Common Features</a:t>
            </a:r>
          </a:p>
          <a:p>
            <a:pPr marL="571500">
              <a:spcBef>
                <a:spcPts val="1800"/>
              </a:spcBef>
            </a:pPr>
            <a:r>
              <a:rPr lang="en-US" sz="3000" b="1" dirty="0"/>
              <a:t>Receptor agonists</a:t>
            </a:r>
            <a:r>
              <a:rPr lang="en-US" sz="3000" dirty="0"/>
              <a:t> have a high </a:t>
            </a:r>
            <a:r>
              <a:rPr lang="en-US" sz="3000" b="1" dirty="0"/>
              <a:t>affinity </a:t>
            </a:r>
            <a:r>
              <a:rPr lang="en-US" sz="3000" dirty="0"/>
              <a:t>for a receptor; bind to receptor and initiate a cellular response.</a:t>
            </a:r>
          </a:p>
          <a:p>
            <a:pPr marL="571500">
              <a:spcBef>
                <a:spcPts val="1800"/>
              </a:spcBef>
            </a:pPr>
            <a:r>
              <a:rPr lang="en-US" sz="3000" b="1" dirty="0"/>
              <a:t>Receptor antagonists </a:t>
            </a:r>
            <a:r>
              <a:rPr lang="en-US" sz="3000" dirty="0"/>
              <a:t>bind to receptor but produce no effects (low </a:t>
            </a:r>
            <a:r>
              <a:rPr lang="en-US" sz="3000" b="1" dirty="0"/>
              <a:t>efficacy</a:t>
            </a:r>
            <a:r>
              <a:rPr lang="en-US" sz="3000" dirty="0"/>
              <a:t>); also prevent agonists from binding </a:t>
            </a:r>
          </a:p>
          <a:p>
            <a:pPr marL="571500">
              <a:spcBef>
                <a:spcPts val="1800"/>
              </a:spcBef>
            </a:pPr>
            <a:r>
              <a:rPr lang="en-US" sz="3000" b="1" dirty="0"/>
              <a:t>Partial agonists </a:t>
            </a:r>
            <a:r>
              <a:rPr lang="en-US" sz="3000" dirty="0"/>
              <a:t>have intermediate efficacy.</a:t>
            </a:r>
          </a:p>
          <a:p>
            <a:pPr marL="571500">
              <a:spcBef>
                <a:spcPts val="1800"/>
              </a:spcBef>
            </a:pPr>
            <a:r>
              <a:rPr lang="en-US" sz="3000" b="1" dirty="0"/>
              <a:t>Inverse agonists </a:t>
            </a:r>
            <a:r>
              <a:rPr lang="en-US" sz="3000" dirty="0"/>
              <a:t>initiate an action opposite to that produced by an agonist.</a:t>
            </a:r>
          </a:p>
        </p:txBody>
      </p:sp>
    </p:spTree>
    <p:extLst>
      <p:ext uri="{BB962C8B-B14F-4D97-AF65-F5344CB8AC3E}">
        <p14:creationId xmlns:p14="http://schemas.microsoft.com/office/powerpoint/2010/main" val="30641163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Pharmacodynamics: Drug–Receptor Interactions </a:t>
            </a:r>
            <a:r>
              <a:rPr lang="en-US" sz="1200" dirty="0"/>
              <a:t>(3 of 17)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Extracellular and Intracellular Receptors Have Several Common Features</a:t>
            </a:r>
          </a:p>
          <a:p>
            <a:pPr marL="571500">
              <a:lnSpc>
                <a:spcPct val="80000"/>
              </a:lnSpc>
              <a:spcBef>
                <a:spcPts val="1800"/>
              </a:spcBef>
            </a:pPr>
            <a:r>
              <a:rPr lang="en-US" sz="2800" dirty="0"/>
              <a:t>Ligands bind temporarily; ligand and receptor are both free to bind again.</a:t>
            </a:r>
          </a:p>
          <a:p>
            <a:pPr marL="571500">
              <a:lnSpc>
                <a:spcPct val="80000"/>
              </a:lnSpc>
              <a:spcBef>
                <a:spcPts val="1800"/>
              </a:spcBef>
            </a:pPr>
            <a:r>
              <a:rPr lang="en-US" sz="2800" dirty="0"/>
              <a:t>Ligand binding produces a physical change in the 3-D receptor shape</a:t>
            </a:r>
          </a:p>
          <a:p>
            <a:pPr marL="571500">
              <a:lnSpc>
                <a:spcPct val="80000"/>
              </a:lnSpc>
              <a:spcBef>
                <a:spcPts val="1800"/>
              </a:spcBef>
            </a:pPr>
            <a:r>
              <a:rPr lang="en-US" sz="2800" b="1" dirty="0"/>
              <a:t>Up-regulation</a:t>
            </a:r>
            <a:r>
              <a:rPr lang="en-US" sz="2800" dirty="0"/>
              <a:t>: increase in number of receptors</a:t>
            </a:r>
          </a:p>
          <a:p>
            <a:pPr marL="571500">
              <a:lnSpc>
                <a:spcPct val="80000"/>
              </a:lnSpc>
              <a:spcBef>
                <a:spcPts val="1800"/>
              </a:spcBef>
            </a:pPr>
            <a:r>
              <a:rPr lang="en-US" sz="2800" b="1" dirty="0"/>
              <a:t>Down-regulation</a:t>
            </a:r>
            <a:r>
              <a:rPr lang="en-US" sz="2800" dirty="0"/>
              <a:t>: decrease in number of receptors</a:t>
            </a:r>
          </a:p>
        </p:txBody>
      </p:sp>
    </p:spTree>
    <p:extLst>
      <p:ext uri="{BB962C8B-B14F-4D97-AF65-F5344CB8AC3E}">
        <p14:creationId xmlns:p14="http://schemas.microsoft.com/office/powerpoint/2010/main" val="17826917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Pharmacodynamics: Drug–Receptor Interactions </a:t>
            </a:r>
            <a:r>
              <a:rPr lang="en-US" sz="1200" dirty="0"/>
              <a:t>(4 of 17)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Dose–Response Curves Describe Receptor Activity</a:t>
            </a:r>
          </a:p>
          <a:p>
            <a:pPr marL="571500">
              <a:lnSpc>
                <a:spcPct val="80000"/>
              </a:lnSpc>
              <a:spcBef>
                <a:spcPts val="1800"/>
              </a:spcBef>
            </a:pPr>
            <a:r>
              <a:rPr lang="en-US" sz="2800" b="1" dirty="0"/>
              <a:t>Dose–response curve</a:t>
            </a:r>
            <a:r>
              <a:rPr lang="en-US" sz="2800" dirty="0"/>
              <a:t>: describes extent of biological or behavioral effect produced by a given drug concentration (dose).</a:t>
            </a:r>
          </a:p>
          <a:p>
            <a:pPr marL="571500">
              <a:lnSpc>
                <a:spcPct val="80000"/>
              </a:lnSpc>
              <a:spcBef>
                <a:spcPts val="1800"/>
              </a:spcBef>
            </a:pPr>
            <a:r>
              <a:rPr lang="en-US" sz="2800" dirty="0"/>
              <a:t>50% effective dose (ED</a:t>
            </a:r>
            <a:r>
              <a:rPr lang="en-US" sz="2800" baseline="-25000" dirty="0"/>
              <a:t>50</a:t>
            </a:r>
            <a:r>
              <a:rPr lang="en-US" sz="2800" dirty="0"/>
              <a:t>): the dose that produces half the maximal effect</a:t>
            </a:r>
          </a:p>
          <a:p>
            <a:pPr marL="571500">
              <a:lnSpc>
                <a:spcPct val="80000"/>
              </a:lnSpc>
              <a:spcBef>
                <a:spcPts val="1800"/>
              </a:spcBef>
            </a:pPr>
            <a:r>
              <a:rPr lang="en-US" sz="2800" dirty="0"/>
              <a:t>Threshold: dose that produces the smallest measurable response.</a:t>
            </a:r>
          </a:p>
        </p:txBody>
      </p:sp>
    </p:spTree>
    <p:extLst>
      <p:ext uri="{BB962C8B-B14F-4D97-AF65-F5344CB8AC3E}">
        <p14:creationId xmlns:p14="http://schemas.microsoft.com/office/powerpoint/2010/main" val="12779149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97E77-009B-AA46-AD59-58ADB32D1D82}"/>
              </a:ext>
            </a:extLst>
          </p:cNvPr>
          <p:cNvSpPr>
            <a:spLocks noGrp="1"/>
          </p:cNvSpPr>
          <p:nvPr>
            <p:ph type="title"/>
          </p:nvPr>
        </p:nvSpPr>
        <p:spPr/>
        <p:txBody>
          <a:bodyPr/>
          <a:lstStyle/>
          <a:p>
            <a:r>
              <a:rPr lang="en-US" cap="all" dirty="0"/>
              <a:t>FIGURE 1.17  </a:t>
            </a:r>
            <a:r>
              <a:rPr lang="en-US" dirty="0"/>
              <a:t>Dose–response curve </a:t>
            </a:r>
          </a:p>
        </p:txBody>
      </p:sp>
      <p:pic>
        <p:nvPicPr>
          <p:cNvPr id="6" name="Content Placeholder 5" descr="A trend graph depicts the dose-response curve. The horizontal axis represents the dose. The vertical axis represents the response in percent ranges between 0 and 100. An ascending curve originates from the zero-level in the threshold phase then gradually increases through ED 50 to the maximum response of ED 10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591345" y="479425"/>
            <a:ext cx="7009310" cy="6300788"/>
          </a:xfrm>
        </p:spPr>
      </p:pic>
    </p:spTree>
    <p:extLst>
      <p:ext uri="{BB962C8B-B14F-4D97-AF65-F5344CB8AC3E}">
        <p14:creationId xmlns:p14="http://schemas.microsoft.com/office/powerpoint/2010/main" val="35664375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Pharmacodynamics: Drug–Receptor Interactions </a:t>
            </a:r>
            <a:r>
              <a:rPr lang="en-US" sz="1200" dirty="0"/>
              <a:t>(5 of 17)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Dose–Response Curves Describe Receptor Activity</a:t>
            </a:r>
          </a:p>
          <a:p>
            <a:pPr marL="571500">
              <a:lnSpc>
                <a:spcPct val="80000"/>
              </a:lnSpc>
              <a:spcBef>
                <a:spcPts val="1800"/>
              </a:spcBef>
            </a:pPr>
            <a:r>
              <a:rPr lang="en-US" sz="2800" b="1" dirty="0"/>
              <a:t>Potency</a:t>
            </a:r>
            <a:r>
              <a:rPr lang="en-US" sz="2800" dirty="0"/>
              <a:t>: amount of drug necessary to produce a specific effect </a:t>
            </a:r>
          </a:p>
          <a:p>
            <a:pPr marL="571500">
              <a:lnSpc>
                <a:spcPct val="80000"/>
              </a:lnSpc>
              <a:spcBef>
                <a:spcPts val="1800"/>
              </a:spcBef>
            </a:pPr>
            <a:r>
              <a:rPr lang="en-US" sz="2800" dirty="0"/>
              <a:t>Comparing ED</a:t>
            </a:r>
            <a:r>
              <a:rPr lang="en-US" sz="2800" baseline="-25000" dirty="0"/>
              <a:t>50</a:t>
            </a:r>
            <a:r>
              <a:rPr lang="en-US" sz="2800" dirty="0"/>
              <a:t> of different drugs shows differences in potency, even if they have identical efficacy.</a:t>
            </a:r>
          </a:p>
        </p:txBody>
      </p:sp>
    </p:spTree>
    <p:extLst>
      <p:ext uri="{BB962C8B-B14F-4D97-AF65-F5344CB8AC3E}">
        <p14:creationId xmlns:p14="http://schemas.microsoft.com/office/powerpoint/2010/main" val="42598703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DB93A-64C6-0B4F-9B9F-295F5C5A671A}"/>
              </a:ext>
            </a:extLst>
          </p:cNvPr>
          <p:cNvSpPr>
            <a:spLocks noGrp="1"/>
          </p:cNvSpPr>
          <p:nvPr>
            <p:ph type="title"/>
          </p:nvPr>
        </p:nvSpPr>
        <p:spPr/>
        <p:txBody>
          <a:bodyPr/>
          <a:lstStyle/>
          <a:p>
            <a:r>
              <a:rPr lang="en-US" cap="all" dirty="0"/>
              <a:t>FIGURE 1.18  </a:t>
            </a:r>
            <a:r>
              <a:rPr lang="en-US" dirty="0"/>
              <a:t>Dose–response curves for four analgesic agents  </a:t>
            </a:r>
          </a:p>
        </p:txBody>
      </p:sp>
      <p:pic>
        <p:nvPicPr>
          <p:cNvPr id="6" name="Content Placeholder 5" descr="A trend graph depicts the dose-response curve for four analgesic agents. The horizontal axis represents the dose in milligrams ranges between 1 and 100. The vertical axis represents the percentage of elevation in pain threshold ranges between 0 and 100. The trend for Hydromorphone, Morphine, Codeine, and Aspirin gradually increases passing through the following points. (3, 50), (10, 50), (100, 50), (120, 50). Note that the above-mentioned values are approximat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047779" y="479425"/>
            <a:ext cx="10096443" cy="6300788"/>
          </a:xfrm>
        </p:spPr>
      </p:pic>
    </p:spTree>
    <p:extLst>
      <p:ext uri="{BB962C8B-B14F-4D97-AF65-F5344CB8AC3E}">
        <p14:creationId xmlns:p14="http://schemas.microsoft.com/office/powerpoint/2010/main" val="33713092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Pharmacodynamics: Drug–Receptor Interactions </a:t>
            </a:r>
            <a:r>
              <a:rPr lang="en-US" sz="1200" dirty="0"/>
              <a:t>(6 of 17)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The Therapeutic Index Calculates Drug Safety</a:t>
            </a:r>
          </a:p>
          <a:p>
            <a:pPr marL="571500">
              <a:lnSpc>
                <a:spcPct val="80000"/>
              </a:lnSpc>
              <a:spcBef>
                <a:spcPts val="1800"/>
              </a:spcBef>
            </a:pPr>
            <a:r>
              <a:rPr lang="en-US" sz="2800" dirty="0"/>
              <a:t>Undesirable or dangerous side effects of a drug must be evaluated carefully in a therapeutic situation.</a:t>
            </a:r>
          </a:p>
          <a:p>
            <a:pPr marL="571500">
              <a:lnSpc>
                <a:spcPct val="80000"/>
              </a:lnSpc>
              <a:spcBef>
                <a:spcPts val="1800"/>
              </a:spcBef>
            </a:pPr>
            <a:r>
              <a:rPr lang="en-US" sz="2800" dirty="0"/>
              <a:t>TD</a:t>
            </a:r>
            <a:r>
              <a:rPr lang="en-US" sz="2800" baseline="-25000" dirty="0"/>
              <a:t>50</a:t>
            </a:r>
            <a:r>
              <a:rPr lang="en-US" sz="2800" dirty="0"/>
              <a:t> (50% toxic dose): dose at which 50% of the population experiences a toxic effect.</a:t>
            </a:r>
          </a:p>
          <a:p>
            <a:pPr marL="571500">
              <a:lnSpc>
                <a:spcPct val="80000"/>
              </a:lnSpc>
              <a:spcBef>
                <a:spcPts val="1800"/>
              </a:spcBef>
            </a:pPr>
            <a:r>
              <a:rPr lang="en-US" sz="2800" dirty="0"/>
              <a:t>Comparing TD</a:t>
            </a:r>
            <a:r>
              <a:rPr lang="en-US" sz="2800" baseline="-25000" dirty="0"/>
              <a:t>50</a:t>
            </a:r>
            <a:r>
              <a:rPr lang="en-US" sz="2800" dirty="0"/>
              <a:t> with ED</a:t>
            </a:r>
            <a:r>
              <a:rPr lang="en-US" sz="2800" baseline="-25000" dirty="0"/>
              <a:t>50</a:t>
            </a:r>
            <a:r>
              <a:rPr lang="en-US" sz="2800" dirty="0"/>
              <a:t> helps determine appropriate doses to prevent toxic effects.</a:t>
            </a:r>
          </a:p>
          <a:p>
            <a:pPr marL="571500">
              <a:lnSpc>
                <a:spcPct val="80000"/>
              </a:lnSpc>
              <a:spcBef>
                <a:spcPts val="1800"/>
              </a:spcBef>
            </a:pPr>
            <a:r>
              <a:rPr lang="en-US" sz="2800" b="1" dirty="0"/>
              <a:t>Therapeutic index (TI)</a:t>
            </a:r>
            <a:r>
              <a:rPr lang="en-US" sz="2800" dirty="0"/>
              <a:t> = TD</a:t>
            </a:r>
            <a:r>
              <a:rPr lang="en-US" sz="2800" baseline="-25000" dirty="0"/>
              <a:t>50</a:t>
            </a:r>
            <a:r>
              <a:rPr lang="en-US" sz="2800" dirty="0"/>
              <a:t>/ED</a:t>
            </a:r>
            <a:r>
              <a:rPr lang="en-US" sz="2800" baseline="-25000" dirty="0"/>
              <a:t>50</a:t>
            </a:r>
          </a:p>
        </p:txBody>
      </p:sp>
    </p:spTree>
    <p:extLst>
      <p:ext uri="{BB962C8B-B14F-4D97-AF65-F5344CB8AC3E}">
        <p14:creationId xmlns:p14="http://schemas.microsoft.com/office/powerpoint/2010/main" val="41705103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507B9-EF87-8F42-8C2A-B33347F7DA5A}"/>
              </a:ext>
            </a:extLst>
          </p:cNvPr>
          <p:cNvSpPr>
            <a:spLocks noGrp="1"/>
          </p:cNvSpPr>
          <p:nvPr>
            <p:ph type="title"/>
          </p:nvPr>
        </p:nvSpPr>
        <p:spPr/>
        <p:txBody>
          <a:bodyPr/>
          <a:lstStyle/>
          <a:p>
            <a:r>
              <a:rPr lang="en-US" cap="all" dirty="0"/>
              <a:t>FIGURE 1.19  </a:t>
            </a:r>
            <a:r>
              <a:rPr lang="en-US" dirty="0"/>
              <a:t>Comparison of ED</a:t>
            </a:r>
            <a:r>
              <a:rPr lang="en-US" baseline="-25000" dirty="0"/>
              <a:t>50 </a:t>
            </a:r>
            <a:r>
              <a:rPr lang="en-US" dirty="0"/>
              <a:t>and TD</a:t>
            </a:r>
            <a:r>
              <a:rPr lang="en-US" baseline="-25000" dirty="0"/>
              <a:t>50</a:t>
            </a:r>
            <a:r>
              <a:rPr lang="en-US" dirty="0"/>
              <a:t> </a:t>
            </a:r>
          </a:p>
        </p:txBody>
      </p:sp>
      <p:pic>
        <p:nvPicPr>
          <p:cNvPr id="6" name="Content Placeholder 5" descr="A trend graph depicts the dose-response curve comparing TD and ED. The horizontal axis represents the dose. The vertical axis represents the percentage responding ranges between 0 and 100. The trend for reduced anxiety and sedation originates from the zero-level at the same point, and gradually increases passing through the respond value of 50. The trend for respiratory depression originates at zero x value and then gradually ascends passing through the respond value of 50. The region between the thresholds of reduced anxiety and respiratory depression is marked as the margin of safety. "/>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395714" y="479425"/>
            <a:ext cx="9400573" cy="6300788"/>
          </a:xfrm>
        </p:spPr>
      </p:pic>
    </p:spTree>
    <p:extLst>
      <p:ext uri="{BB962C8B-B14F-4D97-AF65-F5344CB8AC3E}">
        <p14:creationId xmlns:p14="http://schemas.microsoft.com/office/powerpoint/2010/main" val="18008967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Pharmacodynamics: Drug–Receptor Interactions </a:t>
            </a:r>
            <a:r>
              <a:rPr lang="en-US" sz="1200" dirty="0"/>
              <a:t>(7 of 17)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Receptor Antagonists Compete with Agonists for Binding Sites</a:t>
            </a:r>
          </a:p>
          <a:p>
            <a:pPr marL="571500">
              <a:lnSpc>
                <a:spcPct val="80000"/>
              </a:lnSpc>
              <a:spcBef>
                <a:spcPts val="1800"/>
              </a:spcBef>
            </a:pPr>
            <a:r>
              <a:rPr lang="en-US" sz="2800" b="1" dirty="0"/>
              <a:t>Competitive antagonists</a:t>
            </a:r>
            <a:r>
              <a:rPr lang="en-US" sz="2800" dirty="0"/>
              <a:t>: compete with agonists to bind receptors but don’t</a:t>
            </a:r>
            <a:r>
              <a:rPr lang="en-US" altLang="ja-JP" sz="2800" dirty="0"/>
              <a:t> initiate effects, reducing effect of the agonist.</a:t>
            </a:r>
          </a:p>
          <a:p>
            <a:pPr marL="1263650" lvl="1" indent="-349250">
              <a:spcBef>
                <a:spcPts val="1800"/>
              </a:spcBef>
              <a:buFont typeface="Courier New" panose="02070309020205020404" pitchFamily="49" charset="0"/>
              <a:buChar char="o"/>
            </a:pPr>
            <a:r>
              <a:rPr lang="en-US" dirty="0"/>
              <a:t>Can be displaced by an excess of agonist.</a:t>
            </a:r>
          </a:p>
          <a:p>
            <a:pPr marL="571500">
              <a:lnSpc>
                <a:spcPct val="80000"/>
              </a:lnSpc>
              <a:spcBef>
                <a:spcPts val="1800"/>
              </a:spcBef>
            </a:pPr>
            <a:r>
              <a:rPr lang="en-US" sz="2800" b="1" dirty="0"/>
              <a:t>Noncompetitive antagonists</a:t>
            </a:r>
            <a:r>
              <a:rPr lang="en-US" sz="2800" dirty="0"/>
              <a:t>: reduce effect of agonists in other ways</a:t>
            </a:r>
            <a:endParaRPr lang="en-US" altLang="ja-JP" sz="2800" dirty="0"/>
          </a:p>
        </p:txBody>
      </p:sp>
    </p:spTree>
    <p:extLst>
      <p:ext uri="{BB962C8B-B14F-4D97-AF65-F5344CB8AC3E}">
        <p14:creationId xmlns:p14="http://schemas.microsoft.com/office/powerpoint/2010/main" val="14416127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A7DD1-A252-E546-BA52-E4C72A1311E9}"/>
              </a:ext>
            </a:extLst>
          </p:cNvPr>
          <p:cNvSpPr>
            <a:spLocks noGrp="1"/>
          </p:cNvSpPr>
          <p:nvPr>
            <p:ph type="title"/>
          </p:nvPr>
        </p:nvSpPr>
        <p:spPr/>
        <p:txBody>
          <a:bodyPr/>
          <a:lstStyle/>
          <a:p>
            <a:r>
              <a:rPr lang="en-US" cap="all" dirty="0"/>
              <a:t>FIGURE 1.20  </a:t>
            </a:r>
            <a:r>
              <a:rPr lang="en-US" dirty="0"/>
              <a:t>Drug antagonism </a:t>
            </a:r>
          </a:p>
        </p:txBody>
      </p:sp>
      <p:pic>
        <p:nvPicPr>
          <p:cNvPr id="6" name="Content Placeholder 5" descr="The trend for competitive antagonist pretreatment is depicted in a graph. The horizontal axis represents the dose of morphine varies between low and high. The vertical axis represents the percentage increase in response latency ranges between 0 and 100. Before the high level of morphine intake, a set of two comparable trends begins at the low point and gradually increases to the maximum point.&#10;The trend for non-competitive antagonist pretreatment is depicted in a graph. The horizontal axis represents the dose of morphine varies between low and high. The vertical axis represents the percentage increase in response latency ranges between 0 and 100. Before the high level of morphine dosage, one trend progressively increases from the origin to the maximum point, whereas the other trend exists between the low and high level of morphine dosag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272288"/>
            <a:ext cx="11376025" cy="4715062"/>
          </a:xfrm>
        </p:spPr>
      </p:pic>
    </p:spTree>
    <p:extLst>
      <p:ext uri="{BB962C8B-B14F-4D97-AF65-F5344CB8AC3E}">
        <p14:creationId xmlns:p14="http://schemas.microsoft.com/office/powerpoint/2010/main" val="36663107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Pharmacodynamics: Drug–Receptor Interactions </a:t>
            </a:r>
            <a:r>
              <a:rPr lang="en-US" sz="1200" dirty="0"/>
              <a:t>(8 of 17)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Receptor Antagonists Compete with Agonists for Binding Sites</a:t>
            </a:r>
          </a:p>
          <a:p>
            <a:pPr marL="571500">
              <a:lnSpc>
                <a:spcPct val="80000"/>
              </a:lnSpc>
              <a:spcBef>
                <a:spcPts val="1800"/>
              </a:spcBef>
            </a:pPr>
            <a:r>
              <a:rPr lang="en-US" altLang="en-US" sz="2800" b="1" dirty="0"/>
              <a:t>Physiological antagonism</a:t>
            </a:r>
            <a:r>
              <a:rPr lang="en-US" altLang="en-US" sz="2800" dirty="0"/>
              <a:t>: two drugs interact and reduce the effectiveness of both.</a:t>
            </a:r>
          </a:p>
          <a:p>
            <a:pPr marL="571500">
              <a:lnSpc>
                <a:spcPct val="80000"/>
              </a:lnSpc>
              <a:spcBef>
                <a:spcPts val="1800"/>
              </a:spcBef>
            </a:pPr>
            <a:r>
              <a:rPr lang="en-US" altLang="en-US" sz="2800" dirty="0"/>
              <a:t>Two drugs may also have </a:t>
            </a:r>
            <a:r>
              <a:rPr lang="en-US" altLang="en-US" sz="2800" b="1" dirty="0"/>
              <a:t>additive effects</a:t>
            </a:r>
            <a:r>
              <a:rPr lang="en-US" altLang="en-US" sz="2800" dirty="0"/>
              <a:t>.</a:t>
            </a:r>
          </a:p>
          <a:p>
            <a:pPr marL="571500">
              <a:lnSpc>
                <a:spcPct val="80000"/>
              </a:lnSpc>
              <a:spcBef>
                <a:spcPts val="1800"/>
              </a:spcBef>
            </a:pPr>
            <a:r>
              <a:rPr lang="en-US" altLang="en-US" sz="2800" b="1" dirty="0"/>
              <a:t>Potentiation</a:t>
            </a:r>
            <a:r>
              <a:rPr lang="en-US" altLang="en-US" sz="2800" dirty="0"/>
              <a:t>: the combination of two drugs produces effects greater than the sum of their individual effects.</a:t>
            </a:r>
          </a:p>
        </p:txBody>
      </p:sp>
    </p:spTree>
    <p:extLst>
      <p:ext uri="{BB962C8B-B14F-4D97-AF65-F5344CB8AC3E}">
        <p14:creationId xmlns:p14="http://schemas.microsoft.com/office/powerpoint/2010/main" val="33366587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Pharmacodynamics: Drug–Receptor Interactions </a:t>
            </a:r>
            <a:r>
              <a:rPr lang="en-US" sz="1200" dirty="0"/>
              <a:t>(9 of 17)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Biobehavioral Effects of Chronic Drug Use</a:t>
            </a:r>
          </a:p>
          <a:p>
            <a:pPr marL="571500">
              <a:lnSpc>
                <a:spcPct val="80000"/>
              </a:lnSpc>
              <a:spcBef>
                <a:spcPts val="1800"/>
              </a:spcBef>
            </a:pPr>
            <a:r>
              <a:rPr lang="en-US" sz="2800" dirty="0"/>
              <a:t>Chronic drug use can change the magnitude of response.</a:t>
            </a:r>
          </a:p>
          <a:p>
            <a:pPr marL="571500">
              <a:lnSpc>
                <a:spcPct val="80000"/>
              </a:lnSpc>
              <a:spcBef>
                <a:spcPts val="1800"/>
              </a:spcBef>
            </a:pPr>
            <a:r>
              <a:rPr lang="en-US" sz="2800" dirty="0"/>
              <a:t>Repeated drug exposure can cause </a:t>
            </a:r>
            <a:r>
              <a:rPr lang="en-US" sz="2800" b="1" dirty="0"/>
              <a:t>tolerance</a:t>
            </a:r>
            <a:r>
              <a:rPr lang="en-US" sz="2800" dirty="0"/>
              <a:t>: a diminished response – increasingly larger doses must be administered to obtain the same magnitude of response</a:t>
            </a:r>
          </a:p>
          <a:p>
            <a:pPr marL="571500">
              <a:lnSpc>
                <a:spcPct val="80000"/>
              </a:lnSpc>
              <a:spcBef>
                <a:spcPts val="1800"/>
              </a:spcBef>
            </a:pPr>
            <a:r>
              <a:rPr lang="en-US" sz="2800" b="1" dirty="0"/>
              <a:t>Cross tolerance</a:t>
            </a:r>
            <a:r>
              <a:rPr lang="en-US" sz="2800" dirty="0"/>
              <a:t>: tolerance to one drug can diminish effectiveness of a second drug</a:t>
            </a:r>
          </a:p>
        </p:txBody>
      </p:sp>
    </p:spTree>
    <p:extLst>
      <p:ext uri="{BB962C8B-B14F-4D97-AF65-F5344CB8AC3E}">
        <p14:creationId xmlns:p14="http://schemas.microsoft.com/office/powerpoint/2010/main" val="10683693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Pharmacodynamics: Drug–Receptor Interactions </a:t>
            </a:r>
            <a:r>
              <a:rPr lang="en-US" sz="1200" dirty="0"/>
              <a:t>(10 of 17)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Repeated Drug Exposure Can Cause Tolerance</a:t>
            </a:r>
          </a:p>
          <a:p>
            <a:pPr marL="571500">
              <a:lnSpc>
                <a:spcPct val="80000"/>
              </a:lnSpc>
              <a:spcBef>
                <a:spcPts val="1800"/>
              </a:spcBef>
            </a:pPr>
            <a:r>
              <a:rPr lang="en-US" sz="2800" dirty="0"/>
              <a:t>Tolerance is reversible.</a:t>
            </a:r>
          </a:p>
          <a:p>
            <a:pPr marL="571500">
              <a:lnSpc>
                <a:spcPct val="80000"/>
              </a:lnSpc>
              <a:spcBef>
                <a:spcPts val="1800"/>
              </a:spcBef>
            </a:pPr>
            <a:r>
              <a:rPr lang="en-US" sz="2800" dirty="0"/>
              <a:t>Extent of tolerance depends on dose and frequency of use, and the environment in which it occurs.</a:t>
            </a:r>
          </a:p>
          <a:p>
            <a:pPr marL="571500">
              <a:lnSpc>
                <a:spcPct val="80000"/>
              </a:lnSpc>
              <a:spcBef>
                <a:spcPts val="1800"/>
              </a:spcBef>
            </a:pPr>
            <a:r>
              <a:rPr lang="en-US" sz="2800" b="1" dirty="0"/>
              <a:t>Acute tolerance </a:t>
            </a:r>
            <a:r>
              <a:rPr lang="en-US" sz="2800" dirty="0"/>
              <a:t>develops after one administration.</a:t>
            </a:r>
          </a:p>
          <a:p>
            <a:pPr marL="571500">
              <a:lnSpc>
                <a:spcPct val="80000"/>
              </a:lnSpc>
              <a:spcBef>
                <a:spcPts val="1800"/>
              </a:spcBef>
            </a:pPr>
            <a:r>
              <a:rPr lang="en-US" sz="2800" dirty="0"/>
              <a:t>Development of tolerance to the different effects of one drug may be uneven.</a:t>
            </a:r>
          </a:p>
        </p:txBody>
      </p:sp>
    </p:spTree>
    <p:extLst>
      <p:ext uri="{BB962C8B-B14F-4D97-AF65-F5344CB8AC3E}">
        <p14:creationId xmlns:p14="http://schemas.microsoft.com/office/powerpoint/2010/main" val="16465301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Pharmacodynamics: Drug–Receptor Interactions </a:t>
            </a:r>
            <a:r>
              <a:rPr lang="en-US" sz="1200" dirty="0"/>
              <a:t>(11 of 17)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Repeated Drug Exposure Can Cause Tolerance</a:t>
            </a:r>
          </a:p>
          <a:p>
            <a:pPr marL="571500">
              <a:lnSpc>
                <a:spcPct val="80000"/>
              </a:lnSpc>
              <a:spcBef>
                <a:spcPts val="1800"/>
              </a:spcBef>
            </a:pPr>
            <a:r>
              <a:rPr lang="en-US" sz="2800" dirty="0"/>
              <a:t>Types of tolerance:</a:t>
            </a:r>
          </a:p>
          <a:p>
            <a:pPr marL="1263650" lvl="1" indent="-349250">
              <a:lnSpc>
                <a:spcPct val="110000"/>
              </a:lnSpc>
              <a:spcBef>
                <a:spcPts val="1200"/>
              </a:spcBef>
              <a:buFont typeface="Courier New" panose="02070309020205020404" pitchFamily="49" charset="0"/>
              <a:buChar char="o"/>
            </a:pPr>
            <a:r>
              <a:rPr lang="en-US" sz="2400" b="1" dirty="0"/>
              <a:t>Metabolic</a:t>
            </a:r>
            <a:r>
              <a:rPr lang="en-US" sz="2400" dirty="0"/>
              <a:t>: when drugs increase their own rate of metabolism by liver microsomal enzyme induction</a:t>
            </a:r>
          </a:p>
          <a:p>
            <a:pPr marL="1263650" lvl="1" indent="-349250">
              <a:lnSpc>
                <a:spcPct val="110000"/>
              </a:lnSpc>
              <a:spcBef>
                <a:spcPts val="1200"/>
              </a:spcBef>
              <a:buFont typeface="Courier New" panose="02070309020205020404" pitchFamily="49" charset="0"/>
              <a:buChar char="o"/>
            </a:pPr>
            <a:r>
              <a:rPr lang="en-US" sz="2400" b="1" dirty="0"/>
              <a:t>Pharmacodynamic</a:t>
            </a:r>
            <a:r>
              <a:rPr lang="en-US" sz="2400" dirty="0"/>
              <a:t>: neural function changes to adapt to continued presence of the drug by up- or down-regulation.</a:t>
            </a:r>
          </a:p>
          <a:p>
            <a:pPr marL="1263650" lvl="1" indent="-349250">
              <a:lnSpc>
                <a:spcPct val="110000"/>
              </a:lnSpc>
              <a:spcBef>
                <a:spcPts val="1200"/>
              </a:spcBef>
              <a:buFont typeface="Courier New" panose="02070309020205020404" pitchFamily="49" charset="0"/>
              <a:buChar char="o"/>
            </a:pPr>
            <a:r>
              <a:rPr lang="en-US" sz="2400" b="1" dirty="0"/>
              <a:t>Behavioral</a:t>
            </a:r>
            <a:r>
              <a:rPr lang="en-US" sz="2400" dirty="0"/>
              <a:t>: occurs in the same environment in which the drug was administered</a:t>
            </a:r>
          </a:p>
        </p:txBody>
      </p:sp>
    </p:spTree>
    <p:extLst>
      <p:ext uri="{BB962C8B-B14F-4D97-AF65-F5344CB8AC3E}">
        <p14:creationId xmlns:p14="http://schemas.microsoft.com/office/powerpoint/2010/main" val="15826971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Pharmacodynamics: Drug–Receptor Interactions </a:t>
            </a:r>
            <a:r>
              <a:rPr lang="en-US" sz="1200" dirty="0"/>
              <a:t>(12 of 17)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Repeated Drug Exposure Can Cause Tolerance</a:t>
            </a:r>
          </a:p>
          <a:p>
            <a:pPr marL="571500">
              <a:lnSpc>
                <a:spcPct val="80000"/>
              </a:lnSpc>
              <a:spcBef>
                <a:spcPts val="1800"/>
              </a:spcBef>
            </a:pPr>
            <a:r>
              <a:rPr lang="en-US" sz="2800" dirty="0"/>
              <a:t>Behavioral tolerance involves learning: </a:t>
            </a:r>
          </a:p>
          <a:p>
            <a:pPr marL="1263650" lvl="1" indent="-349250">
              <a:lnSpc>
                <a:spcPct val="110000"/>
              </a:lnSpc>
              <a:spcBef>
                <a:spcPts val="1200"/>
              </a:spcBef>
              <a:buFont typeface="Courier New" panose="02070309020205020404" pitchFamily="49" charset="0"/>
              <a:buChar char="o"/>
            </a:pPr>
            <a:r>
              <a:rPr lang="en-US" sz="2400" b="1" dirty="0"/>
              <a:t>Pavlovian</a:t>
            </a:r>
            <a:r>
              <a:rPr lang="en-US" sz="2400" dirty="0"/>
              <a:t>, or </a:t>
            </a:r>
            <a:r>
              <a:rPr lang="en-US" sz="2400" b="1" dirty="0"/>
              <a:t>classical conditioning</a:t>
            </a:r>
            <a:r>
              <a:rPr lang="en-US" sz="2400" dirty="0"/>
              <a:t>: the drug-taking procedure or the environment may elicit a conditioned response</a:t>
            </a:r>
          </a:p>
          <a:p>
            <a:pPr marL="1263650" lvl="1" indent="-349250">
              <a:lnSpc>
                <a:spcPct val="110000"/>
              </a:lnSpc>
              <a:spcBef>
                <a:spcPts val="1200"/>
              </a:spcBef>
              <a:buFont typeface="Courier New" panose="02070309020205020404" pitchFamily="49" charset="0"/>
              <a:buChar char="o"/>
            </a:pPr>
            <a:r>
              <a:rPr lang="en-US" sz="2400" b="1" dirty="0"/>
              <a:t>Operant conditioning</a:t>
            </a:r>
            <a:r>
              <a:rPr lang="en-US" sz="2400" dirty="0"/>
              <a:t>: e.g., </a:t>
            </a:r>
            <a:r>
              <a:rPr lang="en-US" altLang="en-US" sz="2400" dirty="0"/>
              <a:t>an individual with alcohol use disorder learns to maneuver efficiently while intoxicated.</a:t>
            </a:r>
          </a:p>
          <a:p>
            <a:pPr marL="1263650" lvl="1" indent="-349250">
              <a:lnSpc>
                <a:spcPct val="110000"/>
              </a:lnSpc>
              <a:spcBef>
                <a:spcPts val="1200"/>
              </a:spcBef>
              <a:buFont typeface="Courier New" panose="02070309020205020404" pitchFamily="49" charset="0"/>
              <a:buChar char="o"/>
            </a:pPr>
            <a:r>
              <a:rPr lang="en-US" sz="2400" b="1" dirty="0"/>
              <a:t>State-dependent learning</a:t>
            </a:r>
            <a:r>
              <a:rPr lang="en-US" sz="2400" dirty="0"/>
              <a:t>: tasks learned under the influence of a psychoactive drug may then be performed better in the drugged state</a:t>
            </a:r>
          </a:p>
        </p:txBody>
      </p:sp>
    </p:spTree>
    <p:extLst>
      <p:ext uri="{BB962C8B-B14F-4D97-AF65-F5344CB8AC3E}">
        <p14:creationId xmlns:p14="http://schemas.microsoft.com/office/powerpoint/2010/main" val="1089360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F23FC-85A2-5A40-9A42-B0613EF5D194}"/>
              </a:ext>
            </a:extLst>
          </p:cNvPr>
          <p:cNvSpPr>
            <a:spLocks noGrp="1"/>
          </p:cNvSpPr>
          <p:nvPr>
            <p:ph type="title"/>
          </p:nvPr>
        </p:nvSpPr>
        <p:spPr/>
        <p:txBody>
          <a:bodyPr/>
          <a:lstStyle/>
          <a:p>
            <a:r>
              <a:rPr lang="en-US" cap="all" dirty="0"/>
              <a:t>FIGURE 1.22  </a:t>
            </a:r>
            <a:r>
              <a:rPr lang="en-US" dirty="0"/>
              <a:t>Classical conditioning of drug-related cues </a:t>
            </a:r>
          </a:p>
        </p:txBody>
      </p:sp>
      <p:pic>
        <p:nvPicPr>
          <p:cNvPr id="6" name="Content Placeholder 5" descr="A three-part illustration depicts the classical conditioning of drug-related cues. In the first part, drug (US) signals cortical arousal, euphoria, etcetera (UR) with reflexive stimuli. In the second part, drug (US) in addition with neutral stimulus, drug paraphemalia signals cortical arousal, euphoria, etcetera (UR) with reflexive stimuli. In the third part, drug paraphemalia signals cortical arousal, euphoria, craving, etcetera (CR) with conditioned reflex stimuli."/>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641954" y="479425"/>
            <a:ext cx="6908092" cy="6300788"/>
          </a:xfrm>
        </p:spPr>
      </p:pic>
    </p:spTree>
    <p:extLst>
      <p:ext uri="{BB962C8B-B14F-4D97-AF65-F5344CB8AC3E}">
        <p14:creationId xmlns:p14="http://schemas.microsoft.com/office/powerpoint/2010/main" val="16659606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Pharmacodynamics: Drug–Receptor Interactions </a:t>
            </a:r>
            <a:r>
              <a:rPr lang="en-US" sz="1200" dirty="0"/>
              <a:t>(13 of 17)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Chronic Drug Use Can Cause Sensitization</a:t>
            </a:r>
          </a:p>
          <a:p>
            <a:pPr marL="571500">
              <a:lnSpc>
                <a:spcPct val="80000"/>
              </a:lnSpc>
              <a:spcBef>
                <a:spcPts val="1800"/>
              </a:spcBef>
            </a:pPr>
            <a:r>
              <a:rPr lang="en-US" sz="2800" b="1" dirty="0"/>
              <a:t>Sensitization</a:t>
            </a:r>
            <a:r>
              <a:rPr lang="en-US" sz="2800" dirty="0"/>
              <a:t>, or reverse tolerance: enhancement of drug effects after repeated administration</a:t>
            </a:r>
          </a:p>
          <a:p>
            <a:pPr marL="571500">
              <a:lnSpc>
                <a:spcPct val="80000"/>
              </a:lnSpc>
              <a:spcBef>
                <a:spcPts val="1800"/>
              </a:spcBef>
            </a:pPr>
            <a:r>
              <a:rPr lang="en-US" sz="2800" dirty="0"/>
              <a:t>Development is dose-dependent; interval between treatments is important</a:t>
            </a:r>
          </a:p>
          <a:p>
            <a:pPr marL="571500">
              <a:lnSpc>
                <a:spcPct val="80000"/>
              </a:lnSpc>
              <a:spcBef>
                <a:spcPts val="1800"/>
              </a:spcBef>
            </a:pPr>
            <a:r>
              <a:rPr lang="en-US" sz="2800" dirty="0"/>
              <a:t>Cross-sensitization has also been documented</a:t>
            </a:r>
          </a:p>
        </p:txBody>
      </p:sp>
    </p:spTree>
    <p:extLst>
      <p:ext uri="{BB962C8B-B14F-4D97-AF65-F5344CB8AC3E}">
        <p14:creationId xmlns:p14="http://schemas.microsoft.com/office/powerpoint/2010/main" val="12659126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Pharmacodynamics: Drug–Receptor Interactions </a:t>
            </a:r>
            <a:r>
              <a:rPr lang="en-US" sz="1200" dirty="0"/>
              <a:t>(14 of 17)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Pharmacogenetics and Personalized Medicine in Psychiatry</a:t>
            </a:r>
          </a:p>
          <a:p>
            <a:pPr marL="571500">
              <a:lnSpc>
                <a:spcPct val="80000"/>
              </a:lnSpc>
              <a:spcBef>
                <a:spcPts val="1800"/>
              </a:spcBef>
            </a:pPr>
            <a:r>
              <a:rPr lang="en-US" sz="2800" b="1" dirty="0"/>
              <a:t>Pharmacogenetics</a:t>
            </a:r>
            <a:r>
              <a:rPr lang="en-US" sz="2800" dirty="0"/>
              <a:t>: study of the genetic basis for variability in drug response among individuals.</a:t>
            </a:r>
          </a:p>
          <a:p>
            <a:pPr marL="571500">
              <a:lnSpc>
                <a:spcPct val="80000"/>
              </a:lnSpc>
              <a:spcBef>
                <a:spcPts val="1800"/>
              </a:spcBef>
            </a:pPr>
            <a:r>
              <a:rPr lang="en-US" sz="2800" dirty="0"/>
              <a:t>Genetic variation in drug-metabolizing enzymes: cytochrome P450 enzyme family genes have many polymorphisms </a:t>
            </a:r>
          </a:p>
          <a:p>
            <a:pPr marL="571500">
              <a:lnSpc>
                <a:spcPct val="80000"/>
              </a:lnSpc>
              <a:spcBef>
                <a:spcPts val="1800"/>
              </a:spcBef>
            </a:pPr>
            <a:r>
              <a:rPr lang="en-US" sz="2800" dirty="0"/>
              <a:t>Drug dosage could be adjusted if an individual</a:t>
            </a:r>
            <a:r>
              <a:rPr lang="ja-JP" altLang="en-US" sz="2800" dirty="0"/>
              <a:t>’</a:t>
            </a:r>
            <a:r>
              <a:rPr lang="en-US" altLang="ja-JP" sz="2800" dirty="0"/>
              <a:t>s genetic makeup is known.</a:t>
            </a:r>
            <a:endParaRPr lang="en-US" sz="2800" dirty="0"/>
          </a:p>
        </p:txBody>
      </p:sp>
    </p:spTree>
    <p:extLst>
      <p:ext uri="{BB962C8B-B14F-4D97-AF65-F5344CB8AC3E}">
        <p14:creationId xmlns:p14="http://schemas.microsoft.com/office/powerpoint/2010/main" val="13392327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8DE6A-61AD-6C4A-811D-9F858D7BF22E}"/>
              </a:ext>
            </a:extLst>
          </p:cNvPr>
          <p:cNvSpPr>
            <a:spLocks noGrp="1"/>
          </p:cNvSpPr>
          <p:nvPr>
            <p:ph type="title"/>
          </p:nvPr>
        </p:nvSpPr>
        <p:spPr/>
        <p:txBody>
          <a:bodyPr/>
          <a:lstStyle/>
          <a:p>
            <a:r>
              <a:rPr lang="en-US" cap="all" dirty="0"/>
              <a:t>FIGURE 1.25  </a:t>
            </a:r>
            <a:r>
              <a:rPr lang="en-US" dirty="0"/>
              <a:t>Drug dosage adjustments based on genotype </a:t>
            </a:r>
          </a:p>
        </p:txBody>
      </p:sp>
      <p:pic>
        <p:nvPicPr>
          <p:cNvPr id="6" name="Content Placeholder 5" descr="An illustration depicts the data for the drug dosage adjustments based on genotype. In the bar graph, the horizontal axis represents the time. The vertical axis represents the percent dose ranging between 0 and 250. A set of four pairs of bars is plotted, each pair with two categories of standard dosage and adjusted genotype-specific dosage. The data inferred in the order of standard dosage and adjusted genotype specific dosage is as follows. Poor genotype: 100, 60. Intermediary genotype: 100, 90. Extensive genotype: 100, 160. Ultrarapid genotype: 100, 23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021997" y="479425"/>
            <a:ext cx="8148006" cy="6300788"/>
          </a:xfrm>
        </p:spPr>
      </p:pic>
    </p:spTree>
    <p:extLst>
      <p:ext uri="{BB962C8B-B14F-4D97-AF65-F5344CB8AC3E}">
        <p14:creationId xmlns:p14="http://schemas.microsoft.com/office/powerpoint/2010/main" val="952257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Pharmacodynamics: Drug–Receptor Interactions </a:t>
            </a:r>
            <a:r>
              <a:rPr lang="en-US" sz="1200" dirty="0"/>
              <a:t>(15 of 17)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Pharmacogenetics and Personalized Medicine in Psychiatry</a:t>
            </a:r>
          </a:p>
          <a:p>
            <a:pPr marL="571500">
              <a:lnSpc>
                <a:spcPct val="80000"/>
              </a:lnSpc>
              <a:spcBef>
                <a:spcPts val="1800"/>
              </a:spcBef>
            </a:pPr>
            <a:r>
              <a:rPr lang="en-US" sz="2800" dirty="0"/>
              <a:t>Multiple genetic factors, demographic factors, environmental factors, and use of multiple medications can also alter drug metabolism.</a:t>
            </a:r>
          </a:p>
          <a:p>
            <a:pPr marL="571500">
              <a:lnSpc>
                <a:spcPct val="80000"/>
              </a:lnSpc>
              <a:spcBef>
                <a:spcPts val="1800"/>
              </a:spcBef>
            </a:pPr>
            <a:r>
              <a:rPr lang="en-US" sz="2800" b="1" dirty="0" err="1"/>
              <a:t>Pharmacoepigenetics</a:t>
            </a:r>
            <a:r>
              <a:rPr lang="en-US" sz="2800" dirty="0"/>
              <a:t> takes into account the role of </a:t>
            </a:r>
            <a:r>
              <a:rPr lang="en-US" sz="2800" b="1" dirty="0"/>
              <a:t>epigenetic</a:t>
            </a:r>
            <a:r>
              <a:rPr lang="en-US" sz="2800" dirty="0"/>
              <a:t> modifications that can alter gene function and arise from environmental and behavioral factors.</a:t>
            </a:r>
          </a:p>
        </p:txBody>
      </p:sp>
    </p:spTree>
    <p:extLst>
      <p:ext uri="{BB962C8B-B14F-4D97-AF65-F5344CB8AC3E}">
        <p14:creationId xmlns:p14="http://schemas.microsoft.com/office/powerpoint/2010/main" val="19894742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Pharmacodynamics: Drug–Receptor Interactions </a:t>
            </a:r>
            <a:r>
              <a:rPr lang="en-US" sz="1200" dirty="0"/>
              <a:t>(16 of 17)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Pharmacogenetics and Personalized Medicine in Psychiatry</a:t>
            </a:r>
          </a:p>
          <a:p>
            <a:pPr marL="571500">
              <a:lnSpc>
                <a:spcPct val="80000"/>
              </a:lnSpc>
              <a:spcBef>
                <a:spcPts val="1800"/>
              </a:spcBef>
            </a:pPr>
            <a:r>
              <a:rPr lang="en-US" sz="2800" dirty="0"/>
              <a:t>Routine genetic screening will provide several advantages.</a:t>
            </a:r>
          </a:p>
          <a:p>
            <a:pPr marL="571500">
              <a:lnSpc>
                <a:spcPct val="80000"/>
              </a:lnSpc>
              <a:spcBef>
                <a:spcPts val="1800"/>
              </a:spcBef>
            </a:pPr>
            <a:r>
              <a:rPr lang="en-US" sz="2800" dirty="0"/>
              <a:t>Predicting how patients will respond to a medication before treatment begins would avoid the current costly and time-consuming method of trial and error.</a:t>
            </a:r>
          </a:p>
          <a:p>
            <a:pPr marL="571500">
              <a:lnSpc>
                <a:spcPct val="80000"/>
              </a:lnSpc>
              <a:spcBef>
                <a:spcPts val="1800"/>
              </a:spcBef>
            </a:pPr>
            <a:r>
              <a:rPr lang="en-US" sz="2800" dirty="0"/>
              <a:t>Genetic screening is still limited, but pharmacogenetics holds great promise for better psychiatric treatment.</a:t>
            </a:r>
          </a:p>
        </p:txBody>
      </p:sp>
    </p:spTree>
    <p:extLst>
      <p:ext uri="{BB962C8B-B14F-4D97-AF65-F5344CB8AC3E}">
        <p14:creationId xmlns:p14="http://schemas.microsoft.com/office/powerpoint/2010/main" val="15251893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Pharmacodynamics: Drug–Receptor Interactions </a:t>
            </a:r>
            <a:r>
              <a:rPr lang="en-US" sz="1200" dirty="0"/>
              <a:t>(17 of 17)</a:t>
            </a:r>
            <a:endParaRPr lang="en-US" dirty="0"/>
          </a:p>
        </p:txBody>
      </p:sp>
      <p:sp>
        <p:nvSpPr>
          <p:cNvPr id="3" name="Text Placeholder 2"/>
          <p:cNvSpPr>
            <a:spLocks noGrp="1"/>
          </p:cNvSpPr>
          <p:nvPr>
            <p:ph idx="1"/>
          </p:nvPr>
        </p:nvSpPr>
        <p:spPr>
          <a:xfrm>
            <a:off x="609600" y="1857781"/>
            <a:ext cx="10972800" cy="4525963"/>
          </a:xfrm>
        </p:spPr>
        <p:txBody>
          <a:bodyPr/>
          <a:lstStyle/>
          <a:p>
            <a:pPr marL="0" indent="0">
              <a:buNone/>
            </a:pPr>
            <a:r>
              <a:rPr lang="en-US" sz="2400" u="sng" dirty="0"/>
              <a:t>CLICKER QUESTION 3</a:t>
            </a:r>
          </a:p>
          <a:p>
            <a:pPr marL="457200" indent="-457200">
              <a:spcBef>
                <a:spcPts val="2400"/>
              </a:spcBef>
              <a:buNone/>
            </a:pPr>
            <a:r>
              <a:rPr lang="en-US" dirty="0"/>
              <a:t>Which of these parameters in dose-response studies is used to assess drug safety? </a:t>
            </a:r>
            <a:r>
              <a:rPr lang="en-US" i="1" dirty="0"/>
              <a:t>(Select all that apply.)</a:t>
            </a:r>
          </a:p>
          <a:p>
            <a:pPr marL="914400" indent="-457200">
              <a:spcBef>
                <a:spcPts val="1200"/>
              </a:spcBef>
              <a:buFont typeface="Arial" pitchFamily="34" charset="0"/>
              <a:buAutoNum type="alphaLcPeriod"/>
            </a:pPr>
            <a:r>
              <a:rPr lang="en-US" dirty="0"/>
              <a:t>ED</a:t>
            </a:r>
            <a:r>
              <a:rPr lang="en-US" baseline="-25000" dirty="0"/>
              <a:t>50</a:t>
            </a:r>
          </a:p>
          <a:p>
            <a:pPr marL="914400" indent="-457200">
              <a:spcBef>
                <a:spcPts val="1200"/>
              </a:spcBef>
              <a:buFont typeface="Arial" pitchFamily="34" charset="0"/>
              <a:buAutoNum type="alphaLcPeriod"/>
            </a:pPr>
            <a:r>
              <a:rPr lang="en-US" dirty="0"/>
              <a:t>TD</a:t>
            </a:r>
            <a:r>
              <a:rPr lang="en-US" baseline="-25000" dirty="0"/>
              <a:t>50</a:t>
            </a:r>
          </a:p>
          <a:p>
            <a:pPr marL="914400" indent="-457200">
              <a:spcBef>
                <a:spcPts val="1200"/>
              </a:spcBef>
              <a:buFont typeface="Arial" pitchFamily="34" charset="0"/>
              <a:buAutoNum type="alphaLcPeriod"/>
            </a:pPr>
            <a:r>
              <a:rPr lang="en-US" dirty="0"/>
              <a:t>Threshold dose</a:t>
            </a:r>
          </a:p>
          <a:p>
            <a:pPr marL="914400" indent="-457200">
              <a:spcBef>
                <a:spcPts val="1200"/>
              </a:spcBef>
              <a:buFont typeface="Arial" pitchFamily="34" charset="0"/>
              <a:buAutoNum type="alphaLcPeriod"/>
            </a:pPr>
            <a:r>
              <a:rPr lang="en-US" dirty="0"/>
              <a:t>TI</a:t>
            </a:r>
          </a:p>
        </p:txBody>
      </p:sp>
    </p:spTree>
    <p:extLst>
      <p:ext uri="{BB962C8B-B14F-4D97-AF65-F5344CB8AC3E}">
        <p14:creationId xmlns:p14="http://schemas.microsoft.com/office/powerpoint/2010/main" val="8013929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(3 of 4)</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914400" indent="-914400">
              <a:spcBef>
                <a:spcPts val="1800"/>
              </a:spcBef>
              <a:buNone/>
            </a:pPr>
            <a:r>
              <a:rPr lang="en-US" sz="2800" dirty="0"/>
              <a:t>1.2.1  Describe how drugs interact with the target tissue in terms of receptor-ligand binding.</a:t>
            </a:r>
          </a:p>
          <a:p>
            <a:pPr marL="914400" indent="-914400">
              <a:spcBef>
                <a:spcPts val="1800"/>
              </a:spcBef>
              <a:buNone/>
            </a:pPr>
            <a:r>
              <a:rPr lang="en-US" sz="2800" dirty="0"/>
              <a:t>1.2.2  Explain how receptor-ligand binding can be described in terms of affinity and efficacy; use these terms to describe how a drug is defined as an agonist, partial agonist, or antagonist.</a:t>
            </a:r>
          </a:p>
          <a:p>
            <a:pPr marL="914400" indent="-914400">
              <a:spcBef>
                <a:spcPts val="1800"/>
              </a:spcBef>
              <a:buNone/>
            </a:pPr>
            <a:r>
              <a:rPr lang="en-US" sz="2800" dirty="0"/>
              <a:t>1.2.3  Describe how dose-response relationships reflect receptor occupancy and activation, and can be used to describe the relative potency of a drug.</a:t>
            </a:r>
          </a:p>
        </p:txBody>
      </p:sp>
    </p:spTree>
    <p:extLst>
      <p:ext uri="{BB962C8B-B14F-4D97-AF65-F5344CB8AC3E}">
        <p14:creationId xmlns:p14="http://schemas.microsoft.com/office/powerpoint/2010/main" val="766699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(4 of 4)</a:t>
            </a:r>
            <a:endParaRPr lang="en-US" dirty="0"/>
          </a:p>
        </p:txBody>
      </p:sp>
      <p:sp>
        <p:nvSpPr>
          <p:cNvPr id="3" name="Text Placeholder 2"/>
          <p:cNvSpPr>
            <a:spLocks noGrp="1"/>
          </p:cNvSpPr>
          <p:nvPr>
            <p:ph idx="1"/>
          </p:nvPr>
        </p:nvSpPr>
        <p:spPr>
          <a:xfrm>
            <a:off x="609600" y="1857781"/>
            <a:ext cx="10972800" cy="4525963"/>
          </a:xfrm>
        </p:spPr>
        <p:txBody>
          <a:bodyPr>
            <a:normAutofit fontScale="92500" lnSpcReduction="10000"/>
          </a:bodyPr>
          <a:lstStyle/>
          <a:p>
            <a:pPr marL="914400" indent="-914400">
              <a:lnSpc>
                <a:spcPct val="110000"/>
              </a:lnSpc>
              <a:spcBef>
                <a:spcPts val="1800"/>
              </a:spcBef>
              <a:buNone/>
            </a:pPr>
            <a:r>
              <a:rPr lang="en-US" sz="2800" dirty="0"/>
              <a:t>1.2.4  Explain the difference between competitive and non-competitive antagonists, and how co-administration of either of these would alter the dose-response curve of a receptor agonist.</a:t>
            </a:r>
          </a:p>
          <a:p>
            <a:pPr marL="914400" indent="-914400">
              <a:lnSpc>
                <a:spcPct val="110000"/>
              </a:lnSpc>
              <a:spcBef>
                <a:spcPts val="1800"/>
              </a:spcBef>
              <a:buNone/>
            </a:pPr>
            <a:r>
              <a:rPr lang="en-US" sz="2800" dirty="0"/>
              <a:t>1.2.5  Explain how the concept of therapeutic index is used to determine the relative safety of a drug.</a:t>
            </a:r>
          </a:p>
          <a:p>
            <a:pPr marL="914400" indent="-914400">
              <a:lnSpc>
                <a:spcPct val="110000"/>
              </a:lnSpc>
              <a:spcBef>
                <a:spcPts val="1800"/>
              </a:spcBef>
              <a:buNone/>
            </a:pPr>
            <a:r>
              <a:rPr lang="en-US" sz="2800" dirty="0"/>
              <a:t>1.2.6  Define tolerance and sensitization. Describe the mechanistic differences between pharmacodynamic, metabolic and behavioral tolerance.</a:t>
            </a:r>
          </a:p>
          <a:p>
            <a:pPr marL="914400" indent="-914400">
              <a:lnSpc>
                <a:spcPct val="110000"/>
              </a:lnSpc>
              <a:spcBef>
                <a:spcPts val="1800"/>
              </a:spcBef>
              <a:buNone/>
            </a:pPr>
            <a:r>
              <a:rPr lang="en-US" sz="2800" dirty="0"/>
              <a:t>1.2.7  Describe how pharmacogenetics can be used to optimize drug selection and dose based on genetic variability across individuals.</a:t>
            </a:r>
          </a:p>
        </p:txBody>
      </p:sp>
    </p:spTree>
    <p:extLst>
      <p:ext uri="{BB962C8B-B14F-4D97-AF65-F5344CB8AC3E}">
        <p14:creationId xmlns:p14="http://schemas.microsoft.com/office/powerpoint/2010/main" val="2240132831"/>
      </p:ext>
    </p:extLst>
  </p:cSld>
  <p:clrMapOvr>
    <a:masterClrMapping/>
  </p:clrMapOvr>
</p:sld>
</file>

<file path=ppt/theme/theme1.xml><?xml version="1.0" encoding="utf-8"?>
<a:theme xmlns:a="http://schemas.openxmlformats.org/drawingml/2006/main" name="Text Content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UP US HE Widescreen Template 3.1 (TH).pptx" id="{38592676-3FE0-4EA4-B873-8CD03AA7ACBC}" vid="{4464F53A-3550-4D7A-B3C8-5443B75EFB8E}"/>
    </a:ext>
  </a:extLst>
</a:theme>
</file>

<file path=ppt/theme/theme2.xml><?xml version="1.0" encoding="utf-8"?>
<a:theme xmlns:a="http://schemas.openxmlformats.org/drawingml/2006/main" name="Figure-Only Templates">
  <a:themeElements>
    <a:clrScheme name="Custom 88">
      <a:dk1>
        <a:srgbClr val="000000"/>
      </a:dk1>
      <a:lt1>
        <a:srgbClr val="FFFFFF"/>
      </a:lt1>
      <a:dk2>
        <a:srgbClr val="1F497D"/>
      </a:dk2>
      <a:lt2>
        <a:srgbClr val="EEECE1"/>
      </a:lt2>
      <a:accent1>
        <a:srgbClr val="001A47"/>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034735E286A8A478CDABE780C9EC78F" ma:contentTypeVersion="13" ma:contentTypeDescription="Create a new document." ma:contentTypeScope="" ma:versionID="9b8825675e62d57985c81b74d5b14a7f">
  <xsd:schema xmlns:xsd="http://www.w3.org/2001/XMLSchema" xmlns:xs="http://www.w3.org/2001/XMLSchema" xmlns:p="http://schemas.microsoft.com/office/2006/metadata/properties" xmlns:ns3="fd39d560-5c7d-4158-98a0-f420f8fdebce" xmlns:ns4="a6c716b4-9090-4de7-aadc-2aa5f812ad24" targetNamespace="http://schemas.microsoft.com/office/2006/metadata/properties" ma:root="true" ma:fieldsID="bdbc9fd47a72f6438c4442bb9222e145" ns3:_="" ns4:_="">
    <xsd:import namespace="fd39d560-5c7d-4158-98a0-f420f8fdebce"/>
    <xsd:import namespace="a6c716b4-9090-4de7-aadc-2aa5f812ad2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39d560-5c7d-4158-98a0-f420f8fdeb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c716b4-9090-4de7-aadc-2aa5f812ad2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856919D-3723-464B-9967-427A087CBD61}">
  <ds:schemaRefs>
    <ds:schemaRef ds:uri="http://schemas.microsoft.com/office/2006/documentManagement/types"/>
    <ds:schemaRef ds:uri="http://purl.org/dc/terms/"/>
    <ds:schemaRef ds:uri="http://schemas.openxmlformats.org/package/2006/metadata/core-properties"/>
    <ds:schemaRef ds:uri="a6c716b4-9090-4de7-aadc-2aa5f812ad24"/>
    <ds:schemaRef ds:uri="http://purl.org/dc/dcmitype/"/>
    <ds:schemaRef ds:uri="http://schemas.microsoft.com/office/infopath/2007/PartnerControls"/>
    <ds:schemaRef ds:uri="http://purl.org/dc/elements/1.1/"/>
    <ds:schemaRef ds:uri="http://schemas.microsoft.com/office/2006/metadata/properties"/>
    <ds:schemaRef ds:uri="fd39d560-5c7d-4158-98a0-f420f8fdebce"/>
    <ds:schemaRef ds:uri="http://www.w3.org/XML/1998/namespace"/>
  </ds:schemaRefs>
</ds:datastoreItem>
</file>

<file path=customXml/itemProps2.xml><?xml version="1.0" encoding="utf-8"?>
<ds:datastoreItem xmlns:ds="http://schemas.openxmlformats.org/officeDocument/2006/customXml" ds:itemID="{6B57C1AB-C2BF-4446-AECB-681D5785527F}">
  <ds:schemaRefs>
    <ds:schemaRef ds:uri="http://schemas.microsoft.com/sharepoint/v3/contenttype/forms"/>
  </ds:schemaRefs>
</ds:datastoreItem>
</file>

<file path=customXml/itemProps3.xml><?xml version="1.0" encoding="utf-8"?>
<ds:datastoreItem xmlns:ds="http://schemas.openxmlformats.org/officeDocument/2006/customXml" ds:itemID="{7E307B2A-FA70-43CE-A010-B3D8154DEA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d39d560-5c7d-4158-98a0-f420f8fdebce"/>
    <ds:schemaRef ds:uri="a6c716b4-9090-4de7-aadc-2aa5f812ad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OUP US HE Widescreen Template 3.1 (TH)</Template>
  <TotalTime>4448</TotalTime>
  <Words>4392</Words>
  <Application>Microsoft Office PowerPoint</Application>
  <PresentationFormat>Widescreen</PresentationFormat>
  <Paragraphs>441</Paragraphs>
  <Slides>65</Slides>
  <Notes>56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65</vt:i4>
      </vt:variant>
    </vt:vector>
  </HeadingPairs>
  <TitlesOfParts>
    <vt:vector size="73" baseType="lpstr">
      <vt:lpstr>ＭＳ Ｐゴシック</vt:lpstr>
      <vt:lpstr>Arial</vt:lpstr>
      <vt:lpstr>Calibri</vt:lpstr>
      <vt:lpstr>Courier New</vt:lpstr>
      <vt:lpstr>DINPro-Bold</vt:lpstr>
      <vt:lpstr>PalatinoLTStd-Roman</vt:lpstr>
      <vt:lpstr>Text Content Templates</vt:lpstr>
      <vt:lpstr>Figure-Only Templates</vt:lpstr>
      <vt:lpstr>Psychopharmacology: Drugs, the Brain, and Behavior</vt:lpstr>
      <vt:lpstr>Chapter 1 Principles of Pharmacology</vt:lpstr>
      <vt:lpstr>Chapter 1 Learning Objectives (1 of 4)</vt:lpstr>
      <vt:lpstr>Chapter 1 Learning Objectives (2 of 4)</vt:lpstr>
      <vt:lpstr>Chapter 1 Learning Objectives (3 of 4)</vt:lpstr>
      <vt:lpstr>Chapter 1 Learning Objectives (4 of 4)</vt:lpstr>
      <vt:lpstr>Pharmacology: The Science of Drug Action (1 of 24)</vt:lpstr>
      <vt:lpstr>Pharmacology: The Science of Drug Action (2 of 24)</vt:lpstr>
      <vt:lpstr>Pharmacology: The Science of Drug Action (3 of 24)</vt:lpstr>
      <vt:lpstr>Pharmacology: The Science of Drug Action (4 of 24)</vt:lpstr>
      <vt:lpstr>Pharmacology: The Science of Drug Action (5 of 24)</vt:lpstr>
      <vt:lpstr>FIGURE 1.1  Pharmacokinetic factors that determine bioavailability of drugs </vt:lpstr>
      <vt:lpstr>Pharmacology: The Science of Drug Action (6 of 24)</vt:lpstr>
      <vt:lpstr>Pharmacology: The Science of Drug Action (7 of 24)</vt:lpstr>
      <vt:lpstr>FIGURE 1.2  Routes of drug administration </vt:lpstr>
      <vt:lpstr>Pharmacology: The Science of Drug Action (8 of 24)</vt:lpstr>
      <vt:lpstr>Pharmacology: The Science of Drug Action (9 of 24)</vt:lpstr>
      <vt:lpstr>Pharmacology: The Science of Drug Action (10 of 24)</vt:lpstr>
      <vt:lpstr>FIGURE 1.4  The time course of drug blood level depends on route of administration </vt:lpstr>
      <vt:lpstr>Pharmacology: The Science of Drug Action (11 of 24)</vt:lpstr>
      <vt:lpstr>FIGURE 1.5  Cell membranes </vt:lpstr>
      <vt:lpstr>Pharmacology: The Science of Drug Action (12 of 24)</vt:lpstr>
      <vt:lpstr>Pharmacology: The Science of Drug Action (13 of 24)</vt:lpstr>
      <vt:lpstr>FIGURE 1.6  Effect of ionization on drug absorption </vt:lpstr>
      <vt:lpstr>Pharmacology: The Science of Drug Action (14 of 24)</vt:lpstr>
      <vt:lpstr>Pharmacology: The Science of Drug Action (15 of 24)</vt:lpstr>
      <vt:lpstr>FIGURE 1.8  Cross-section of typical capillaries and brain capillaries </vt:lpstr>
      <vt:lpstr>Pharmacology: The Science of Drug Action (16 of 24)</vt:lpstr>
      <vt:lpstr>Pharmacology: The Science of Drug Action (17 of 24)</vt:lpstr>
      <vt:lpstr>Pharmacology: The Science of Drug Action (18 of 24)</vt:lpstr>
      <vt:lpstr>FIGURE 1.10  Achieving steady state plasma levels of drug </vt:lpstr>
      <vt:lpstr>Pharmacology: The Science of Drug Action (19 of 24)</vt:lpstr>
      <vt:lpstr>Pharmacology: The Science of Drug Action (20 of 24)</vt:lpstr>
      <vt:lpstr>Pharmacology: The Science of Drug Action (21 of 24)</vt:lpstr>
      <vt:lpstr>Pharmacology: The Science of Drug Action (22 of 24)</vt:lpstr>
      <vt:lpstr>Pharmacology: The Science of Drug Action (23 of 24)</vt:lpstr>
      <vt:lpstr>Pharmacology: The Science of Drug Action (24 of 24)</vt:lpstr>
      <vt:lpstr>Review of Learning Objectives (1 of 4)</vt:lpstr>
      <vt:lpstr>Review of Learning Objectives (2 of 4)</vt:lpstr>
      <vt:lpstr>Pharmacodynamics: Drug–Receptor Interactions (1 of 17)</vt:lpstr>
      <vt:lpstr>FIGURE 1.13  Two principal types of receptors </vt:lpstr>
      <vt:lpstr>Pharmacodynamics: Drug–Receptor Interactions (2 of 17)</vt:lpstr>
      <vt:lpstr>Pharmacodynamics: Drug–Receptor Interactions (3 of 17)</vt:lpstr>
      <vt:lpstr>Pharmacodynamics: Drug–Receptor Interactions (4 of 17)</vt:lpstr>
      <vt:lpstr>FIGURE 1.17  Dose–response curve </vt:lpstr>
      <vt:lpstr>Pharmacodynamics: Drug–Receptor Interactions (5 of 17)</vt:lpstr>
      <vt:lpstr>FIGURE 1.18  Dose–response curves for four analgesic agents  </vt:lpstr>
      <vt:lpstr>Pharmacodynamics: Drug–Receptor Interactions (6 of 17)</vt:lpstr>
      <vt:lpstr>FIGURE 1.19  Comparison of ED50 and TD50 </vt:lpstr>
      <vt:lpstr>Pharmacodynamics: Drug–Receptor Interactions (7 of 17)</vt:lpstr>
      <vt:lpstr>FIGURE 1.20  Drug antagonism </vt:lpstr>
      <vt:lpstr>Pharmacodynamics: Drug–Receptor Interactions (8 of 17)</vt:lpstr>
      <vt:lpstr>Pharmacodynamics: Drug–Receptor Interactions (9 of 17)</vt:lpstr>
      <vt:lpstr>Pharmacodynamics: Drug–Receptor Interactions (10 of 17)</vt:lpstr>
      <vt:lpstr>Pharmacodynamics: Drug–Receptor Interactions (11 of 17)</vt:lpstr>
      <vt:lpstr>Pharmacodynamics: Drug–Receptor Interactions (12 of 17)</vt:lpstr>
      <vt:lpstr>FIGURE 1.22  Classical conditioning of drug-related cues </vt:lpstr>
      <vt:lpstr>Pharmacodynamics: Drug–Receptor Interactions (13 of 17)</vt:lpstr>
      <vt:lpstr>Pharmacodynamics: Drug–Receptor Interactions (14 of 17)</vt:lpstr>
      <vt:lpstr>FIGURE 1.25  Drug dosage adjustments based on genotype </vt:lpstr>
      <vt:lpstr>Pharmacodynamics: Drug–Receptor Interactions (15 of 17)</vt:lpstr>
      <vt:lpstr>Pharmacodynamics: Drug–Receptor Interactions (16 of 17)</vt:lpstr>
      <vt:lpstr>Pharmacodynamics: Drug–Receptor Interactions (17 of 17)</vt:lpstr>
      <vt:lpstr>Review of Learning Objectives (3 of 4)</vt:lpstr>
      <vt:lpstr>Review of Learning Objectives (4 of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Psychopharmacology: Drugs, the Brain, and Behavior</dc:title>
  <dc:creator>OUP</dc:creator>
  <cp:lastModifiedBy>Carter, Suzanne</cp:lastModifiedBy>
  <cp:revision>86</cp:revision>
  <dcterms:created xsi:type="dcterms:W3CDTF">2021-11-13T04:08:54Z</dcterms:created>
  <dcterms:modified xsi:type="dcterms:W3CDTF">2022-03-02T23:50:17Z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f61502-7731-4690-a118-333634878cc9_Enabled">
    <vt:lpwstr>true</vt:lpwstr>
  </property>
  <property fmtid="{D5CDD505-2E9C-101B-9397-08002B2CF9AE}" pid="3" name="MSIP_Label_89f61502-7731-4690-a118-333634878cc9_SetDate">
    <vt:lpwstr>2020-04-27T21:10:48Z</vt:lpwstr>
  </property>
  <property fmtid="{D5CDD505-2E9C-101B-9397-08002B2CF9AE}" pid="4" name="MSIP_Label_89f61502-7731-4690-a118-333634878cc9_Method">
    <vt:lpwstr>Standard</vt:lpwstr>
  </property>
  <property fmtid="{D5CDD505-2E9C-101B-9397-08002B2CF9AE}" pid="5" name="MSIP_Label_89f61502-7731-4690-a118-333634878cc9_Name">
    <vt:lpwstr>Internal</vt:lpwstr>
  </property>
  <property fmtid="{D5CDD505-2E9C-101B-9397-08002B2CF9AE}" pid="6" name="MSIP_Label_89f61502-7731-4690-a118-333634878cc9_SiteId">
    <vt:lpwstr>91761b62-4c45-43f5-9f0e-be8ad9b551ff</vt:lpwstr>
  </property>
  <property fmtid="{D5CDD505-2E9C-101B-9397-08002B2CF9AE}" pid="7" name="MSIP_Label_89f61502-7731-4690-a118-333634878cc9_ActionId">
    <vt:lpwstr>69912cf1-8f32-4f1f-9ade-00009ae8a75a</vt:lpwstr>
  </property>
  <property fmtid="{D5CDD505-2E9C-101B-9397-08002B2CF9AE}" pid="8" name="MSIP_Label_89f61502-7731-4690-a118-333634878cc9_ContentBits">
    <vt:lpwstr>0</vt:lpwstr>
  </property>
  <property fmtid="{D5CDD505-2E9C-101B-9397-08002B2CF9AE}" pid="9" name="ContentTypeId">
    <vt:lpwstr>0x0101006034735E286A8A478CDABE780C9EC78F</vt:lpwstr>
  </property>
</Properties>
</file>