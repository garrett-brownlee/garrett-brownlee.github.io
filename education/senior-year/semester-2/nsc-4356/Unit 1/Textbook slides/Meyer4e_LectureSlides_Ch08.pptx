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0" r:id="rId5"/>
  </p:sldMasterIdLst>
  <p:notesMasterIdLst>
    <p:notesMasterId r:id="rId66"/>
  </p:notesMasterIdLst>
  <p:handoutMasterIdLst>
    <p:handoutMasterId r:id="rId67"/>
  </p:handoutMasterIdLst>
  <p:sldIdLst>
    <p:sldId id="348" r:id="rId6"/>
    <p:sldId id="270" r:id="rId7"/>
    <p:sldId id="274" r:id="rId8"/>
    <p:sldId id="288" r:id="rId9"/>
    <p:sldId id="290" r:id="rId10"/>
    <p:sldId id="291" r:id="rId11"/>
    <p:sldId id="293" r:id="rId12"/>
    <p:sldId id="292" r:id="rId13"/>
    <p:sldId id="294" r:id="rId14"/>
    <p:sldId id="353" r:id="rId15"/>
    <p:sldId id="295" r:id="rId16"/>
    <p:sldId id="296" r:id="rId17"/>
    <p:sldId id="354" r:id="rId18"/>
    <p:sldId id="285" r:id="rId19"/>
    <p:sldId id="349" r:id="rId20"/>
    <p:sldId id="297" r:id="rId21"/>
    <p:sldId id="300" r:id="rId22"/>
    <p:sldId id="355" r:id="rId23"/>
    <p:sldId id="301" r:id="rId24"/>
    <p:sldId id="302" r:id="rId25"/>
    <p:sldId id="356" r:id="rId26"/>
    <p:sldId id="357" r:id="rId27"/>
    <p:sldId id="305" r:id="rId28"/>
    <p:sldId id="306" r:id="rId29"/>
    <p:sldId id="313" r:id="rId30"/>
    <p:sldId id="358" r:id="rId31"/>
    <p:sldId id="307" r:id="rId32"/>
    <p:sldId id="311" r:id="rId33"/>
    <p:sldId id="359" r:id="rId34"/>
    <p:sldId id="312" r:id="rId35"/>
    <p:sldId id="360" r:id="rId36"/>
    <p:sldId id="361" r:id="rId37"/>
    <p:sldId id="315" r:id="rId38"/>
    <p:sldId id="362" r:id="rId39"/>
    <p:sldId id="363" r:id="rId40"/>
    <p:sldId id="316" r:id="rId41"/>
    <p:sldId id="364" r:id="rId42"/>
    <p:sldId id="321" r:id="rId43"/>
    <p:sldId id="324" r:id="rId44"/>
    <p:sldId id="350" r:id="rId45"/>
    <p:sldId id="322" r:id="rId46"/>
    <p:sldId id="325" r:id="rId47"/>
    <p:sldId id="326" r:id="rId48"/>
    <p:sldId id="365" r:id="rId49"/>
    <p:sldId id="329" r:id="rId50"/>
    <p:sldId id="366" r:id="rId51"/>
    <p:sldId id="332" r:id="rId52"/>
    <p:sldId id="351" r:id="rId53"/>
    <p:sldId id="333" r:id="rId54"/>
    <p:sldId id="334" r:id="rId55"/>
    <p:sldId id="335" r:id="rId56"/>
    <p:sldId id="336" r:id="rId57"/>
    <p:sldId id="367" r:id="rId58"/>
    <p:sldId id="338" r:id="rId59"/>
    <p:sldId id="368" r:id="rId60"/>
    <p:sldId id="339" r:id="rId61"/>
    <p:sldId id="345" r:id="rId62"/>
    <p:sldId id="344" r:id="rId63"/>
    <p:sldId id="341" r:id="rId64"/>
    <p:sldId id="352"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89607" autoAdjust="0"/>
  </p:normalViewPr>
  <p:slideViewPr>
    <p:cSldViewPr snapToGrid="0" snapToObjects="1">
      <p:cViewPr varScale="1">
        <p:scale>
          <a:sx n="84" d="100"/>
          <a:sy n="84" d="100"/>
        </p:scale>
        <p:origin x="120" y="9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6182"/>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3/9/2022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3/9/2022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6C0744-2FEF-4441-821D-70180A370937}" type="slidenum">
              <a:rPr lang="en-US" smtClean="0"/>
              <a:t>1</a:t>
            </a:fld>
            <a:endParaRPr lang="en-US"/>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4063325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VTA: ventral tegmental area</a:t>
            </a:r>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1111505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261464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Phenotypic charac­teristics of mutant mice lacking EAAT2</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EAAT2 knockout mice exhibited a reduction in weight gain compared with genetically normal wild-type mice, particularly once they reached 30 days of age. (B) The knockout mice showed increased mortality beginning at 3 weeks of age. (C) and (D) Mice lacking EAAT2 had increased brain excitability that manifested as spontaneous behavioral seizures (note the abnormal posture in C, which is caused by epileptic activity in the brain) and seizure-like EEG changes (underlined traces in D) when given a sub­threshold dose of the convulsant agent </a:t>
            </a:r>
            <a:r>
              <a:rPr lang="en-US" sz="1200" kern="1200" dirty="0" err="1">
                <a:solidFill>
                  <a:schemeClr val="tx1"/>
                </a:solidFill>
                <a:effectLst/>
                <a:latin typeface="+mn-lt"/>
                <a:ea typeface="+mn-ea"/>
                <a:cs typeface="+mn-cs"/>
              </a:rPr>
              <a:t>pentylenetetrazole</a:t>
            </a:r>
            <a:r>
              <a:rPr lang="en-US" sz="1200" kern="1200" dirty="0">
                <a:solidFill>
                  <a:schemeClr val="tx1"/>
                </a:solidFill>
                <a:effectLst/>
                <a:latin typeface="+mn-lt"/>
                <a:ea typeface="+mn-ea"/>
                <a:cs typeface="+mn-cs"/>
              </a:rPr>
              <a:t>. Note that at this drug dose, the wild-type mice showed no such EEG changes. (From K. Tanaka et al., 1997. </a:t>
            </a:r>
            <a:r>
              <a:rPr lang="en-US" sz="1200" i="1" kern="1200" dirty="0">
                <a:solidFill>
                  <a:schemeClr val="tx1"/>
                </a:solidFill>
                <a:effectLst/>
                <a:latin typeface="+mn-lt"/>
                <a:ea typeface="+mn-ea"/>
                <a:cs typeface="+mn-cs"/>
              </a:rPr>
              <a:t>Science</a:t>
            </a:r>
            <a:r>
              <a:rPr lang="en-US" sz="1200" kern="1200" dirty="0">
                <a:solidFill>
                  <a:schemeClr val="tx1"/>
                </a:solidFill>
                <a:effectLst/>
                <a:latin typeface="+mn-lt"/>
                <a:ea typeface="+mn-ea"/>
                <a:cs typeface="+mn-cs"/>
              </a:rPr>
              <a:t> 276: 1699–1702.)</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1532334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3027496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527792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Cycling of glutamate and glutamine between glutamatergic neurons and astrocytes 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After neurons release glutamate, it can be transported into nearby astrocytes by EAAT1 or EAAT2, or less commonly it can be transported into the postsynaptic cell by EAAT3. Inside the astrocyte, glutamate is converted into glutamine by the enzyme glutamine synthetase. The glutamine can be later released by the astrocytes, taken up by neurons, and converted back into glutamate by the enzyme glutaminase.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792743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2370479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AMPA (</a:t>
            </a:r>
            <a:r>
              <a:rPr lang="el-GR" sz="1800" b="0" i="0" u="none" strike="noStrike" baseline="0" dirty="0">
                <a:latin typeface="STIXTwoText"/>
              </a:rPr>
              <a:t>α</a:t>
            </a:r>
            <a:r>
              <a:rPr lang="el-GR" sz="1800" b="0" i="0" u="none" strike="noStrike" baseline="0" dirty="0">
                <a:latin typeface="PalatinoLTStd-Roman"/>
              </a:rPr>
              <a:t>-</a:t>
            </a:r>
            <a:r>
              <a:rPr lang="en-US" sz="1800" b="0" i="0" u="none" strike="noStrike" baseline="0" dirty="0">
                <a:latin typeface="PalatinoLTStd-Roman"/>
              </a:rPr>
              <a:t>amino-3-hydroxy-5-methyl-4-isoxazole propionic acid) – a synthetic amino acid analog </a:t>
            </a:r>
          </a:p>
          <a:p>
            <a:pPr algn="l"/>
            <a:r>
              <a:rPr lang="en-US" sz="1800" b="0" i="0" u="none" strike="noStrike" baseline="0" dirty="0">
                <a:latin typeface="PalatinoLTStd-Roman"/>
              </a:rPr>
              <a:t>Kainic acid comes from a type of seaweed called </a:t>
            </a:r>
            <a:r>
              <a:rPr lang="en-US" sz="1800" b="0" i="1" u="none" strike="noStrike" baseline="0" dirty="0">
                <a:latin typeface="PalatinoLTStd-Italic"/>
              </a:rPr>
              <a:t>Digenea simplex</a:t>
            </a:r>
          </a:p>
          <a:p>
            <a:pPr algn="l"/>
            <a:r>
              <a:rPr lang="en-US" sz="1800" b="0" i="0" u="none" strike="noStrike" baseline="0" dirty="0">
                <a:latin typeface="PalatinoLTStd-Roman"/>
              </a:rPr>
              <a:t>NMDA (</a:t>
            </a:r>
            <a:r>
              <a:rPr lang="en-US" sz="1800" b="0" i="1" u="none" strike="noStrike" baseline="0" dirty="0">
                <a:latin typeface="PalatinoLTStd-Italic"/>
              </a:rPr>
              <a:t>N</a:t>
            </a:r>
            <a:r>
              <a:rPr lang="en-US" sz="1800" b="0" i="0" u="none" strike="noStrike" baseline="0" dirty="0">
                <a:latin typeface="PalatinoLTStd-Roman"/>
              </a:rPr>
              <a:t>-</a:t>
            </a:r>
            <a:r>
              <a:rPr lang="en-US" sz="1800" b="0" i="0" u="none" strike="noStrike" baseline="0" dirty="0" err="1">
                <a:latin typeface="PalatinoLTStd-Roman"/>
              </a:rPr>
              <a:t>methyld</a:t>
            </a:r>
            <a:r>
              <a:rPr lang="en-US" sz="1800" b="0" i="0" u="none" strike="noStrike" baseline="0" dirty="0">
                <a:latin typeface="PalatinoLTStd-Roman"/>
              </a:rPr>
              <a:t>-aspartate), a synthetic amino acid</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2818917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Ion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permeabilities of ionotropic glutamate receptor channels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All three ionotropic glutamate receptor channels conduct Na</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ions into the cell. NMDA receptor channels additionally conduct Ca</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ions, which can activate several important second-messenger functions.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345025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See table 8.1</a:t>
            </a:r>
          </a:p>
          <a:p>
            <a:pPr algn="l"/>
            <a:r>
              <a:rPr lang="en-US" sz="1800" b="0" i="0" u="none" strike="noStrike" baseline="0" dirty="0">
                <a:latin typeface="DINPro-Bold"/>
              </a:rPr>
              <a:t>NBQX </a:t>
            </a:r>
            <a:r>
              <a:rPr lang="en-US" sz="1800" b="0" i="0" u="none" strike="noStrike" baseline="0" dirty="0">
                <a:latin typeface="PalatinoLTStd-Roman"/>
              </a:rPr>
              <a:t>[6-nitro7-sulfamoyl-benzo(f)quinoxaline-2,3-dione]</a:t>
            </a:r>
          </a:p>
          <a:p>
            <a:r>
              <a:rPr lang="en-US" sz="1800" b="0" i="0" u="none" strike="noStrike" baseline="0" dirty="0">
                <a:latin typeface="PalatinoLTStd-Roman"/>
              </a:rPr>
              <a:t>Experiments on mice indicate AMPA receptor </a:t>
            </a:r>
            <a:r>
              <a:rPr lang="en-US" altLang="ja-JP" dirty="0"/>
              <a:t>involvement in locomotor activity, coordination, and brain excitability</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754908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1729306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8.5</a:t>
            </a:r>
            <a:r>
              <a:rPr lang="en-US" sz="1200" b="1" kern="1200" dirty="0">
                <a:solidFill>
                  <a:schemeClr val="tx1"/>
                </a:solidFill>
                <a:effectLst/>
                <a:latin typeface="+mn-lt"/>
                <a:ea typeface="+mn-ea"/>
                <a:cs typeface="+mn-cs"/>
              </a:rPr>
              <a:t>  NMDA receptor properties 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NMDA receptor is activated by simultaneous binding of glutamate and a co-agonist, either glycine or </a:t>
            </a:r>
            <a:r>
              <a:rPr lang="en-US" sz="1200" kern="1200" cap="small" dirty="0">
                <a:solidFill>
                  <a:schemeClr val="tx1"/>
                </a:solidFill>
                <a:effectLst/>
                <a:latin typeface="+mn-lt"/>
                <a:ea typeface="+mn-ea"/>
                <a:cs typeface="+mn-cs"/>
              </a:rPr>
              <a:t>d</a:t>
            </a:r>
            <a:r>
              <a:rPr lang="en-US" sz="1200" kern="1200" dirty="0">
                <a:solidFill>
                  <a:schemeClr val="tx1"/>
                </a:solidFill>
                <a:effectLst/>
                <a:latin typeface="+mn-lt"/>
                <a:ea typeface="+mn-ea"/>
                <a:cs typeface="+mn-cs"/>
              </a:rPr>
              <a:t>-serine. Note that the locations of the glutamate and glycine binding sites are highly stylized and are not meant to accurately depict the locations of the actual sites shown in Figure 8.6. The diagram further illustrates that the receptor channel can be blocked by Mg</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ions under resting conditions and also by the presence of the abused drug phencyclidine (PCP).</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1354992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Three-dimensional depiction of an NMDA receptor in the cell membrane 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The receptor is composed of two GluN1 subunits (shown in shades of gray) and two GluN2 subunits (shown in shades of blue). (B) A cutaway view of the receptor with a molecule of glycine bound to a GluN1 subunit and a molecule of glutamate bound to a GluN2 subunit. Both agonists are shown in red. This view shows regions of the two subunits that are predicted to have a ribbon structure (wavy lines) and other regions that are predicted to have a helical structure (lines in a corkscrew configuration). Note that the ion channel pore is shown in the closed state. (From S. Zhu and P. </a:t>
            </a:r>
            <a:r>
              <a:rPr lang="en-US" sz="1200" kern="1200" dirty="0" err="1">
                <a:solidFill>
                  <a:schemeClr val="tx1"/>
                </a:solidFill>
                <a:effectLst/>
                <a:latin typeface="+mn-lt"/>
                <a:ea typeface="+mn-ea"/>
                <a:cs typeface="+mn-cs"/>
              </a:rPr>
              <a:t>Paoletti</a:t>
            </a:r>
            <a:r>
              <a:rPr lang="en-US" sz="1200" kern="1200" dirty="0">
                <a:solidFill>
                  <a:schemeClr val="tx1"/>
                </a:solidFill>
                <a:effectLst/>
                <a:latin typeface="+mn-lt"/>
                <a:ea typeface="+mn-ea"/>
                <a:cs typeface="+mn-cs"/>
              </a:rPr>
              <a:t>. 2015. </a:t>
            </a:r>
            <a:r>
              <a:rPr lang="en-US" sz="1200" i="1" kern="1200" dirty="0" err="1">
                <a:solidFill>
                  <a:schemeClr val="tx1"/>
                </a:solidFill>
                <a:effectLst/>
                <a:latin typeface="+mn-lt"/>
                <a:ea typeface="+mn-ea"/>
                <a:cs typeface="+mn-cs"/>
              </a:rPr>
              <a:t>Curr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Opin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Pharmacol</a:t>
            </a:r>
            <a:r>
              <a:rPr lang="en-US" sz="1200" kern="1200" dirty="0">
                <a:solidFill>
                  <a:schemeClr val="tx1"/>
                </a:solidFill>
                <a:effectLst/>
                <a:latin typeface="+mn-lt"/>
                <a:ea typeface="+mn-ea"/>
                <a:cs typeface="+mn-cs"/>
              </a:rPr>
              <a:t> 20: 14–23. © 2014.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3786188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2849634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altLang="en-US" b="1" dirty="0"/>
              <a:t>l-AP4</a:t>
            </a:r>
            <a:r>
              <a:rPr lang="en-US" altLang="en-US" dirty="0"/>
              <a:t> (</a:t>
            </a:r>
            <a:r>
              <a:rPr lang="en-US" altLang="en-US" b="1" dirty="0"/>
              <a:t>l-2-amino-4-phosphonobutyrate</a:t>
            </a:r>
            <a:r>
              <a:rPr lang="en-US" altLang="en-US" dirty="0"/>
              <a:t>) </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2308868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FMR1</a:t>
            </a:r>
            <a:r>
              <a:rPr lang="en-US" dirty="0"/>
              <a:t>:</a:t>
            </a:r>
            <a:r>
              <a:rPr lang="en-US" altLang="en-US" dirty="0"/>
              <a:t> </a:t>
            </a:r>
            <a:r>
              <a:rPr lang="en-US" altLang="en-US" b="1" dirty="0"/>
              <a:t>fragile X mental retardation 1 gene</a:t>
            </a:r>
            <a:r>
              <a:rPr lang="en-US" altLang="en-US" dirty="0"/>
              <a:t>; codes for </a:t>
            </a:r>
            <a:r>
              <a:rPr lang="en-US" sz="1800" b="1" i="0" u="none" strike="noStrike" baseline="0" dirty="0">
                <a:latin typeface="DINPro-Bold"/>
              </a:rPr>
              <a:t>fragile X mental retardation protein </a:t>
            </a:r>
            <a:r>
              <a:rPr lang="en-US" sz="1800" b="0" i="0" u="none" strike="noStrike" baseline="0" dirty="0">
                <a:latin typeface="DINPro-Regular"/>
              </a:rPr>
              <a:t>(</a:t>
            </a:r>
            <a:r>
              <a:rPr lang="en-US" sz="1800" b="1" i="0" u="none" strike="noStrike" baseline="0" dirty="0">
                <a:latin typeface="DINPro-Bold"/>
              </a:rPr>
              <a:t>FMRP</a:t>
            </a:r>
            <a:r>
              <a:rPr lang="en-US" sz="1800" b="0" i="0" u="none" strike="noStrike" baseline="0" dirty="0">
                <a:latin typeface="DINPro-Regular"/>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Long-term depression </a:t>
            </a:r>
            <a:r>
              <a:rPr lang="en-US" altLang="en-US" dirty="0"/>
              <a:t>(</a:t>
            </a:r>
            <a:r>
              <a:rPr lang="en-US" altLang="en-US" b="1" dirty="0"/>
              <a:t>LTD</a:t>
            </a:r>
            <a:r>
              <a:rPr lang="en-US" altLang="en-US" dirty="0"/>
              <a:t>) – a form of plasticity in the hippocampus. FMRP restricts the LTD process.</a:t>
            </a:r>
          </a:p>
          <a:p>
            <a:r>
              <a:rPr lang="en-US" sz="1200" b="0" i="0" u="none" strike="noStrike" baseline="0" dirty="0">
                <a:latin typeface="DINPro-Regular"/>
              </a:rPr>
              <a:t>LTD weakens neurotransmission at the affected synapses. A specific type of LTD is activated by the group I metabotropic glutamate receptors.</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3307151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1" kern="1200" cap="all" dirty="0">
                <a:solidFill>
                  <a:schemeClr val="tx1"/>
                </a:solidFill>
                <a:effectLst/>
                <a:latin typeface="+mn-lt"/>
                <a:ea typeface="+mn-ea"/>
                <a:cs typeface="+mn-cs"/>
              </a:rPr>
              <a:t>Box 8.1  </a:t>
            </a:r>
            <a:r>
              <a:rPr lang="en-US" sz="1200" b="1" kern="1200" dirty="0">
                <a:solidFill>
                  <a:schemeClr val="tx1"/>
                </a:solidFill>
                <a:effectLst/>
                <a:latin typeface="+mn-lt"/>
                <a:ea typeface="+mn-ea"/>
                <a:cs typeface="+mn-cs"/>
              </a:rPr>
              <a:t>Clinical Applications: </a:t>
            </a:r>
            <a:r>
              <a:rPr lang="en-GB" sz="1200" b="1" kern="1200" dirty="0">
                <a:solidFill>
                  <a:schemeClr val="tx1"/>
                </a:solidFill>
                <a:effectLst/>
                <a:latin typeface="+mn-lt"/>
                <a:ea typeface="+mn-ea"/>
                <a:cs typeface="+mn-cs"/>
              </a:rPr>
              <a:t>Fragile X Syndrome and Metabotropic Glutamate Receptor Antagonists: A Contemporary Saga of Translational Medicine</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mGluR5, FMRP, and synaptic plasticity in health and in fragile X syndrome 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In a normal healthy brain, the presence of FMRP regulates postsynaptic mRNA translation and synaptic plasticity in response to activation of mGluR5 and other neurotransmitter receptors. (B) Loss of FMRP in fragile X syndrome causes excessive mRNA translation, increased long-term depression, and abnormal dendritic structure. (C) Blockade of mGluR5 by mavoglurant is hypothesized to at least partially reverse the effects of FMRP loss, potentially leading to normalization of synaptic structure and plasticity. (After G. </a:t>
            </a:r>
            <a:r>
              <a:rPr lang="en-US" sz="1200" kern="1200" dirty="0" err="1">
                <a:solidFill>
                  <a:schemeClr val="tx1"/>
                </a:solidFill>
                <a:effectLst/>
                <a:latin typeface="+mn-lt"/>
                <a:ea typeface="+mn-ea"/>
                <a:cs typeface="+mn-cs"/>
              </a:rPr>
              <a:t>Dölen</a:t>
            </a:r>
            <a:r>
              <a:rPr lang="en-US" sz="1200" kern="1200" dirty="0">
                <a:solidFill>
                  <a:schemeClr val="tx1"/>
                </a:solidFill>
                <a:effectLst/>
                <a:latin typeface="+mn-lt"/>
                <a:ea typeface="+mn-ea"/>
                <a:cs typeface="+mn-cs"/>
              </a:rPr>
              <a:t> and M. Bear. 2009.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Neurodev</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Disord</a:t>
            </a:r>
            <a:r>
              <a:rPr lang="en-US" sz="1200" kern="1200" dirty="0">
                <a:solidFill>
                  <a:schemeClr val="tx1"/>
                </a:solidFill>
                <a:effectLst/>
                <a:latin typeface="+mn-lt"/>
                <a:ea typeface="+mn-ea"/>
                <a:cs typeface="+mn-cs"/>
              </a:rPr>
              <a:t> 1: 133–140,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/10.1007/s11689-009-9015-x. CC BY 4.0, </a:t>
            </a:r>
            <a:r>
              <a:rPr lang="en-US" sz="1200" kern="1200" dirty="0" err="1">
                <a:solidFill>
                  <a:schemeClr val="tx1"/>
                </a:solidFill>
                <a:effectLst/>
                <a:latin typeface="+mn-lt"/>
                <a:ea typeface="+mn-ea"/>
                <a:cs typeface="+mn-cs"/>
              </a:rPr>
              <a:t>creativecommons.org</a:t>
            </a:r>
            <a:r>
              <a:rPr lang="en-US" sz="1200" kern="1200" dirty="0">
                <a:solidFill>
                  <a:schemeClr val="tx1"/>
                </a:solidFill>
                <a:effectLst/>
                <a:latin typeface="+mn-lt"/>
                <a:ea typeface="+mn-ea"/>
                <a:cs typeface="+mn-cs"/>
              </a:rPr>
              <a:t>/licenses/by/4.0/)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8419577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9318428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DINPro-Bold"/>
              </a:rPr>
              <a:t>Long-term potentiation </a:t>
            </a:r>
            <a:r>
              <a:rPr lang="en-US" sz="1800" b="0" i="0" u="none" strike="noStrike" baseline="0" dirty="0">
                <a:latin typeface="DINPro-Regular"/>
              </a:rPr>
              <a:t>(</a:t>
            </a:r>
            <a:r>
              <a:rPr lang="en-US" sz="1800" b="0" i="0" u="none" strike="noStrike" baseline="0" dirty="0">
                <a:latin typeface="DINPro-Bold"/>
              </a:rPr>
              <a:t>LTP</a:t>
            </a:r>
            <a:r>
              <a:rPr lang="en-US" sz="1800" b="0" i="0" u="none" strike="noStrike" baseline="0" dirty="0">
                <a:latin typeface="DINPro-Regular"/>
              </a:rPr>
              <a:t>): long lasting synaptic strengthening  </a:t>
            </a:r>
          </a:p>
          <a:p>
            <a:pPr algn="l"/>
            <a:r>
              <a:rPr lang="en-US" sz="1800" b="0" i="0" u="none" strike="noStrike" baseline="0" dirty="0">
                <a:latin typeface="DINPro-Regular"/>
              </a:rPr>
              <a:t>CS = conditioned stimulus, US = unconditioned stimulus</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3409769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8.7</a:t>
            </a:r>
            <a:r>
              <a:rPr lang="en-US" sz="1200" b="1" kern="1200" dirty="0">
                <a:solidFill>
                  <a:schemeClr val="tx1"/>
                </a:solidFill>
                <a:effectLst/>
                <a:latin typeface="+mn-lt"/>
                <a:ea typeface="+mn-ea"/>
                <a:cs typeface="+mn-cs"/>
              </a:rPr>
              <a:t>  A hypothesized role for NMDA receptors in associative learning 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CS, conditioned stimulus; US, unconditioned stimulus (After J. W. Rudy. 2008. </a:t>
            </a:r>
            <a:r>
              <a:rPr lang="en-US" sz="1200" i="1" kern="1200" dirty="0">
                <a:solidFill>
                  <a:schemeClr val="tx1"/>
                </a:solidFill>
                <a:effectLst/>
                <a:latin typeface="+mn-lt"/>
                <a:ea typeface="+mn-ea"/>
                <a:cs typeface="+mn-cs"/>
              </a:rPr>
              <a:t>The Neurobiology of Learning and Memory</a:t>
            </a:r>
            <a:r>
              <a:rPr lang="en-US" sz="1200" kern="1200" dirty="0">
                <a:solidFill>
                  <a:schemeClr val="tx1"/>
                </a:solidFill>
                <a:effectLst/>
                <a:latin typeface="+mn-lt"/>
                <a:ea typeface="+mn-ea"/>
                <a:cs typeface="+mn-cs"/>
              </a:rPr>
              <a:t>. Sinauer/Oxford University Press: Sunderland, MA.)</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41149650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30616513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Long-term potentiation of synaptic transmission 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LTP can be studied in vitro using the hippo­campal slice preparation.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8978996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8.9</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Induction of long-term potentiation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LTP is induced by a tetanic stimulation of the presynaptic input.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34644235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7906711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8.10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underlying mechanism</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LTP involves modification of AMPA receptors in the postsynaptic cell.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31750790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8.12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Conversion of a silent to a functional synapse by LTP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Some dendritic spines possess NMDA receptors in the membrane but lack AMPA receptors (left). The absence of AMPA receptors renders the spine unresponsive to normal low levels of glutamate release (i.e., the synapse is “silent”). However, LTP applied to nearby spine synapses causes trafficking of internal AMPA receptors into the membrane of the silent synapse, thereby rendering it functional (right). (After X. Huang. 2019. </a:t>
            </a:r>
            <a:r>
              <a:rPr lang="en-US" sz="1200" i="1" kern="1200" dirty="0" err="1">
                <a:solidFill>
                  <a:schemeClr val="tx1"/>
                </a:solidFill>
                <a:effectLst/>
                <a:latin typeface="+mn-lt"/>
                <a:ea typeface="+mn-ea"/>
                <a:cs typeface="+mn-cs"/>
              </a:rPr>
              <a:t>Pharmacol</a:t>
            </a:r>
            <a:r>
              <a:rPr lang="en-US" sz="1200" i="1" kern="1200" dirty="0">
                <a:solidFill>
                  <a:schemeClr val="tx1"/>
                </a:solidFill>
                <a:effectLst/>
                <a:latin typeface="+mn-lt"/>
                <a:ea typeface="+mn-ea"/>
                <a:cs typeface="+mn-cs"/>
              </a:rPr>
              <a:t> Res</a:t>
            </a:r>
            <a:r>
              <a:rPr lang="en-US" sz="1200" kern="1200" dirty="0">
                <a:solidFill>
                  <a:schemeClr val="tx1"/>
                </a:solidFill>
                <a:effectLst/>
                <a:latin typeface="+mn-lt"/>
                <a:ea typeface="+mn-ea"/>
                <a:cs typeface="+mn-cs"/>
              </a:rPr>
              <a:t> 141: 586–590.)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38999476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1" i="0" u="none" strike="noStrike" baseline="0" dirty="0">
                <a:latin typeface="DINPro-Bold"/>
              </a:rPr>
              <a:t>Lysis </a:t>
            </a:r>
            <a:r>
              <a:rPr lang="en-US" sz="1800" b="0" i="0" u="none" strike="noStrike" baseline="0" dirty="0">
                <a:latin typeface="PalatinoLTStd-Roman"/>
              </a:rPr>
              <a:t>(bursting) of the cell due to osmotic swelling</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15624067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8.13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Cell death by necrosis versus apoptosis</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During the initial stages of necrosis (A), the cell swells and the membrane forms protrusions called blebs. In the next stage (B), the membrane begins to break up and release the contents of the cell cytoplasm. Finally, the cell disintegrates completely (C). In apoptotic cell death, the cell also blebs (D), but instead of swelling, it shrinks. At the same time, the chromatin (genetic material) condenses within the cell nucleus. The cell then breaks up into smaller pieces (E) that are subsequently engulfed and digested by phagocytes (F).</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19309123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16905785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d</a:t>
            </a:r>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4038974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28171636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VGAT also </a:t>
            </a:r>
            <a:r>
              <a:rPr lang="en-US" dirty="0"/>
              <a:t>called </a:t>
            </a:r>
            <a:r>
              <a:rPr lang="en-US" b="1" dirty="0"/>
              <a:t>VIAAT</a:t>
            </a:r>
            <a:r>
              <a:rPr lang="en-US" dirty="0"/>
              <a:t> (</a:t>
            </a:r>
            <a:r>
              <a:rPr lang="en-US" b="1" dirty="0"/>
              <a:t>vesicular inhibitory amino acid transporters</a:t>
            </a:r>
            <a:r>
              <a:rPr lang="en-US" dirty="0"/>
              <a:t>) because they also transport </a:t>
            </a:r>
            <a:r>
              <a:rPr lang="en-US" b="1" dirty="0"/>
              <a:t>glycine</a:t>
            </a:r>
            <a:r>
              <a:rPr lang="en-US" dirty="0"/>
              <a:t> -another inhibitory amino acid transmitter</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34895368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29502056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8.15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Cycling of GABA between GABAergic neurons and astrocytes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After neurons release GABA, it can be transported back into the nerve terminal by GAT-1 or transported into nearby astrocytes by GAT-2 or GAT-3. Inside the cell, GABA is metabolized to glutamate and succinate by GABA aminotransferase (GABA-T). In the case of astrocytes, the glutamate is converted into glutamine by the enzyme glutamine synthetase. The glutamine can later be released by the astrocytes, taken up by neurons, converted back into glutamate by the enzyme glutaminase, and finally used to resynthesize GABA.</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22562403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1435763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8.16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Examples of co-transmission of GABA with other neurotransmitters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Basal forebrain cholinergic neurons additionally synthesize GABA. In the projections of these cells to the hippocampus,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and GABA are taken up and stored in separate vesicle populations. (B) Midbrain dopaminergic neurons can accumulate GABA either through GAT-1-mediated uptake or from 4-amino-butanal by an usual biosynthetic pathway. DA and GABA are taken up into the same synaptic vesicles by VMAT2. (C) Neurons of the entopeduncular nucleus that project to the lateral habenula synthesize both glutamate and GABA, and the two transmitters are taken up into the same synaptic vesicles by their respective vesicular transporters, VGLUT2 and VGAT. (After A. J. Granger et al. 2017. </a:t>
            </a:r>
            <a:r>
              <a:rPr lang="en-US" sz="1200" i="1" kern="1200" dirty="0" err="1">
                <a:solidFill>
                  <a:schemeClr val="tx1"/>
                </a:solidFill>
                <a:effectLst/>
                <a:latin typeface="+mn-lt"/>
                <a:ea typeface="+mn-ea"/>
                <a:cs typeface="+mn-cs"/>
              </a:rPr>
              <a:t>Curr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Opin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Neurobiol</a:t>
            </a:r>
            <a:r>
              <a:rPr lang="en-US" sz="1200" kern="1200" dirty="0">
                <a:solidFill>
                  <a:schemeClr val="tx1"/>
                </a:solidFill>
                <a:effectLst/>
                <a:latin typeface="+mn-lt"/>
                <a:ea typeface="+mn-ea"/>
                <a:cs typeface="+mn-cs"/>
              </a:rPr>
              <a:t> 45: 85–91.)</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22323911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2201044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16007818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9464964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26987828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24735279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8.17</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GABA</a:t>
            </a:r>
            <a:r>
              <a:rPr lang="en-US" sz="1200" b="1" kern="1200" baseline="-25000" dirty="0">
                <a:solidFill>
                  <a:schemeClr val="tx1"/>
                </a:solidFill>
                <a:effectLst/>
                <a:latin typeface="+mn-lt"/>
                <a:ea typeface="+mn-ea"/>
                <a:cs typeface="+mn-cs"/>
              </a:rPr>
              <a:t>A</a:t>
            </a:r>
            <a:r>
              <a:rPr lang="en-US" sz="1200" b="1" kern="1200" dirty="0">
                <a:solidFill>
                  <a:schemeClr val="tx1"/>
                </a:solidFill>
                <a:effectLst/>
                <a:latin typeface="+mn-lt"/>
                <a:ea typeface="+mn-ea"/>
                <a:cs typeface="+mn-cs"/>
              </a:rPr>
              <a:t> receptor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receptor consists of five subunits that form a Cl</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-conducting channel. In addition to the GABA binding site on the receptor complex, there are additional modulatory sites for benzodiazepines, barbiturates, </a:t>
            </a:r>
            <a:r>
              <a:rPr lang="en-US" sz="1200" kern="1200" dirty="0" err="1">
                <a:solidFill>
                  <a:schemeClr val="tx1"/>
                </a:solidFill>
                <a:effectLst/>
                <a:latin typeface="+mn-lt"/>
                <a:ea typeface="+mn-ea"/>
                <a:cs typeface="+mn-cs"/>
              </a:rPr>
              <a:t>neurosteroids</a:t>
            </a:r>
            <a:r>
              <a:rPr lang="en-US" sz="1200" kern="1200" dirty="0">
                <a:solidFill>
                  <a:schemeClr val="tx1"/>
                </a:solidFill>
                <a:effectLst/>
                <a:latin typeface="+mn-lt"/>
                <a:ea typeface="+mn-ea"/>
                <a:cs typeface="+mn-cs"/>
              </a:rPr>
              <a:t>, and picrotoxin. Note that the locations of the various binding sites are depicted arbitrarily and are not meant to imply the actual locations of these sites on the receptor.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31200002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Researchers have discovered several endogenous neuropeptides (</a:t>
            </a:r>
            <a:r>
              <a:rPr lang="en-US" sz="1800" b="1" i="0" u="none" strike="noStrike" baseline="0" dirty="0" err="1">
                <a:latin typeface="DINPro-Bold"/>
              </a:rPr>
              <a:t>endozepines</a:t>
            </a:r>
            <a:r>
              <a:rPr lang="en-US" sz="1800" b="0" i="0" u="none" strike="noStrike" baseline="0" dirty="0">
                <a:latin typeface="PalatinoLTStd-Roman"/>
              </a:rPr>
              <a:t>, meaning endogenous BDZs) that allosterically modulate the GABA</a:t>
            </a:r>
            <a:r>
              <a:rPr lang="en-US" sz="1800" b="0" i="0" u="none" strike="noStrike" baseline="-25000" dirty="0">
                <a:latin typeface="PalatinoLTStd-Roman"/>
              </a:rPr>
              <a:t>A</a:t>
            </a:r>
            <a:r>
              <a:rPr lang="en-US" sz="1800" b="0" i="0" u="none" strike="noStrike" baseline="0" dirty="0">
                <a:latin typeface="PalatinoLTStd-Roman"/>
              </a:rPr>
              <a:t> receptor by acting at the same site as BDZs.</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9592939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8.19</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Positive allosteric modulation of the GABA</a:t>
            </a:r>
            <a:r>
              <a:rPr lang="en-US" sz="1200" b="1" kern="1200" baseline="-25000" dirty="0">
                <a:solidFill>
                  <a:schemeClr val="tx1"/>
                </a:solidFill>
                <a:effectLst/>
                <a:latin typeface="+mn-lt"/>
                <a:ea typeface="+mn-ea"/>
                <a:cs typeface="+mn-cs"/>
              </a:rPr>
              <a:t>A</a:t>
            </a:r>
            <a:r>
              <a:rPr lang="en-US" sz="1200" b="1" kern="1200" dirty="0">
                <a:solidFill>
                  <a:schemeClr val="tx1"/>
                </a:solidFill>
                <a:effectLst/>
                <a:latin typeface="+mn-lt"/>
                <a:ea typeface="+mn-ea"/>
                <a:cs typeface="+mn-cs"/>
              </a:rPr>
              <a:t> receptor by diazepam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Downward traces depict inward current flow across the membrane of a GABA</a:t>
            </a:r>
            <a:r>
              <a:rPr lang="en-US" sz="1200" kern="1200" baseline="-250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 receptor–­expressing cell. Currents are elicited by application of a low concentration of GABA (left two traces). Application of diazepam (1 </a:t>
            </a:r>
            <a:r>
              <a:rPr lang="en-US" sz="1200" u="none" strike="noStrike" kern="1200" dirty="0" err="1">
                <a:solidFill>
                  <a:schemeClr val="tx1"/>
                </a:solidFill>
                <a:effectLst/>
                <a:latin typeface="+mn-lt"/>
                <a:ea typeface="+mn-ea"/>
                <a:cs typeface="+mn-cs"/>
              </a:rPr>
              <a:t>μ</a:t>
            </a:r>
            <a:r>
              <a:rPr lang="en-US" sz="1200" kern="1200" dirty="0" err="1">
                <a:solidFill>
                  <a:schemeClr val="tx1"/>
                </a:solidFill>
                <a:effectLst/>
                <a:latin typeface="+mn-lt"/>
                <a:ea typeface="+mn-ea"/>
                <a:cs typeface="+mn-cs"/>
              </a:rPr>
              <a:t>M</a:t>
            </a:r>
            <a:r>
              <a:rPr lang="en-US" sz="1200" kern="1200" dirty="0">
                <a:solidFill>
                  <a:schemeClr val="tx1"/>
                </a:solidFill>
                <a:effectLst/>
                <a:latin typeface="+mn-lt"/>
                <a:ea typeface="+mn-ea"/>
                <a:cs typeface="+mn-cs"/>
              </a:rPr>
              <a:t>) by itself has no effect (third trace), but diazepam applied together with GABA elicits a large increase in current amplitude (rightmost trace). (B) The graph illustrates a concentration–response curve in the absence (red line) and presence (blue line) of a fixed concentration of diazepam. Note that the curve is shifted to the left in the presence of diazepam, indicating an enhancement of current amplitude in response to low to moderate concentrations of GABA. However, the maximum current amplitude elicited by a high concentration of GABA is unaffected by diazepam. (After E. Sigel and M. E. Steinmann. 2012.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Biol</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Chem</a:t>
            </a:r>
            <a:r>
              <a:rPr lang="en-US" sz="1200" kern="1200" dirty="0">
                <a:solidFill>
                  <a:schemeClr val="tx1"/>
                </a:solidFill>
                <a:effectLst/>
                <a:latin typeface="+mn-lt"/>
                <a:ea typeface="+mn-ea"/>
                <a:cs typeface="+mn-cs"/>
              </a:rPr>
              <a:t> 287: 40224–40231.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/10.1074/jbc.R112.386664. © 2012 ASBMB. Currently published by Elsevier Inc; originally published by American Society for Biochemistry and Molecular Biology. CC BY 4.0, </a:t>
            </a:r>
            <a:r>
              <a:rPr lang="en-US" sz="1200" kern="1200" dirty="0" err="1">
                <a:solidFill>
                  <a:schemeClr val="tx1"/>
                </a:solidFill>
                <a:effectLst/>
                <a:latin typeface="+mn-lt"/>
                <a:ea typeface="+mn-ea"/>
                <a:cs typeface="+mn-cs"/>
              </a:rPr>
              <a:t>creativecommons.org</a:t>
            </a:r>
            <a:r>
              <a:rPr lang="en-US" sz="1200" kern="1200" dirty="0">
                <a:solidFill>
                  <a:schemeClr val="tx1"/>
                </a:solidFill>
                <a:effectLst/>
                <a:latin typeface="+mn-lt"/>
                <a:ea typeface="+mn-ea"/>
                <a:cs typeface="+mn-cs"/>
              </a:rPr>
              <a:t>/licenses/by/4.0/.)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10873192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17404294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DINPro-Regular"/>
              </a:rPr>
              <a:t>ALLO: Allopregnanolone, THDOC: </a:t>
            </a:r>
            <a:r>
              <a:rPr lang="en-US" sz="1800" b="0" i="0" u="none" strike="noStrike" baseline="0" dirty="0" err="1">
                <a:latin typeface="DINPro-Regular"/>
              </a:rPr>
              <a:t>allotetrahydrodeoxycorticosterone</a:t>
            </a:r>
            <a:r>
              <a:rPr lang="en-US" sz="1800" b="0" i="0" u="none" strike="noStrike" baseline="0" dirty="0">
                <a:latin typeface="DINPro-Regular"/>
              </a:rPr>
              <a:t>. AS: </a:t>
            </a:r>
            <a:r>
              <a:rPr lang="en-US" sz="1800" b="0" i="0" u="none" strike="noStrike" baseline="0" dirty="0" err="1">
                <a:latin typeface="DINPro-Regular"/>
              </a:rPr>
              <a:t>androstanediol</a:t>
            </a:r>
            <a:endParaRPr lang="en-US" sz="1800" b="0" i="0" u="none" strike="noStrike" baseline="0" dirty="0">
              <a:latin typeface="DINPro-Regular"/>
            </a:endParaRPr>
          </a:p>
          <a:p>
            <a:pPr algn="l"/>
            <a:r>
              <a:rPr lang="en-US" sz="1800" b="0" i="0" u="none" strike="noStrike" baseline="0" dirty="0">
                <a:latin typeface="DINPro-Regular"/>
              </a:rPr>
              <a:t>PS: pregnenolone sulfate  DHEAS: dehydroepiandrosterone sulfate</a:t>
            </a:r>
          </a:p>
          <a:p>
            <a:pPr algn="l"/>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13970703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2724546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8632271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1594691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8</a:t>
            </a:r>
            <a:br>
              <a:rPr lang="en-US" dirty="0"/>
            </a:br>
            <a:r>
              <a:rPr lang="en-US" sz="4000" i="1" dirty="0"/>
              <a:t>Glutamate and GABA</a:t>
            </a:r>
            <a:endParaRPr lang="en-US" i="1" dirty="0"/>
          </a:p>
        </p:txBody>
      </p:sp>
      <p:sp>
        <p:nvSpPr>
          <p:cNvPr id="3" name="Text Placeholder 2"/>
          <p:cNvSpPr>
            <a:spLocks noGrp="1"/>
          </p:cNvSpPr>
          <p:nvPr>
            <p:ph idx="1"/>
          </p:nvPr>
        </p:nvSpPr>
        <p:spPr/>
        <p:txBody>
          <a:bodyPr>
            <a:normAutofit/>
          </a:bodyPr>
          <a:lstStyle/>
          <a:p>
            <a:pPr marL="914400" indent="-914400">
              <a:spcBef>
                <a:spcPts val="1800"/>
              </a:spcBef>
              <a:buNone/>
            </a:pPr>
            <a:r>
              <a:rPr lang="en-US" sz="3200" dirty="0"/>
              <a:t>8.1  Glutamate Synthesis, Release, and Inactivation</a:t>
            </a:r>
          </a:p>
          <a:p>
            <a:pPr marL="914400" indent="-914400">
              <a:spcBef>
                <a:spcPts val="1800"/>
              </a:spcBef>
              <a:buNone/>
            </a:pPr>
            <a:r>
              <a:rPr lang="en-US" sz="3200" dirty="0"/>
              <a:t>8.2  Organization and Function of the Glutamatergic System</a:t>
            </a:r>
          </a:p>
          <a:p>
            <a:pPr marL="914400" indent="-914400">
              <a:spcBef>
                <a:spcPts val="1800"/>
              </a:spcBef>
              <a:buNone/>
            </a:pPr>
            <a:r>
              <a:rPr lang="en-US" sz="3200" dirty="0"/>
              <a:t>8.3  GABA Synthesis, Release, and Inactivation</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8</a:t>
            </a:r>
            <a:br>
              <a:rPr lang="en-US" dirty="0"/>
            </a:br>
            <a:r>
              <a:rPr lang="en-US" sz="4000" dirty="0"/>
              <a:t>Learning Objectives </a:t>
            </a:r>
            <a:r>
              <a:rPr lang="en-US" sz="1300" dirty="0"/>
              <a:t>(1 of 4)</a:t>
            </a:r>
            <a:endParaRPr lang="en-US" dirty="0"/>
          </a:p>
        </p:txBody>
      </p:sp>
      <p:sp>
        <p:nvSpPr>
          <p:cNvPr id="3" name="Text Placeholder 2"/>
          <p:cNvSpPr>
            <a:spLocks noGrp="1"/>
          </p:cNvSpPr>
          <p:nvPr>
            <p:ph idx="1"/>
          </p:nvPr>
        </p:nvSpPr>
        <p:spPr/>
        <p:txBody>
          <a:bodyPr>
            <a:normAutofit/>
          </a:bodyPr>
          <a:lstStyle/>
          <a:p>
            <a:pPr marL="914400" indent="-914400">
              <a:lnSpc>
                <a:spcPct val="110000"/>
              </a:lnSpc>
              <a:buNone/>
            </a:pPr>
            <a:r>
              <a:rPr lang="en-US" dirty="0"/>
              <a:t>8.1.1  Describe the processes by which glutamate is synthesized and metabolized and the interactions between glutamatergic neurons and astrocytes in these processes.</a:t>
            </a:r>
          </a:p>
          <a:p>
            <a:pPr marL="914400" indent="-914400">
              <a:lnSpc>
                <a:spcPct val="110000"/>
              </a:lnSpc>
              <a:buNone/>
            </a:pPr>
            <a:r>
              <a:rPr lang="en-US" dirty="0"/>
              <a:t>8.1.2  Name and describe the anatomical/cellular localization of the various glutamate vesicular transporters.</a:t>
            </a:r>
          </a:p>
          <a:p>
            <a:pPr marL="914400" indent="-914400">
              <a:lnSpc>
                <a:spcPct val="110000"/>
              </a:lnSpc>
              <a:buNone/>
            </a:pPr>
            <a:r>
              <a:rPr lang="en-US" dirty="0"/>
              <a:t>8.1.3  Name and describe (a) the anatomical/cellular localization of the excitatory amino acid transporters responsible for uptake from the extracellular fluid, and (b) the functional role of these transporters. </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8</a:t>
            </a:r>
            <a:br>
              <a:rPr lang="en-US" dirty="0"/>
            </a:br>
            <a:r>
              <a:rPr lang="en-US" sz="4000" dirty="0"/>
              <a:t>Learning Objectives </a:t>
            </a:r>
            <a:r>
              <a:rPr lang="en-US" sz="1300" dirty="0"/>
              <a:t>(2 of 4)</a:t>
            </a:r>
          </a:p>
        </p:txBody>
      </p:sp>
      <p:sp>
        <p:nvSpPr>
          <p:cNvPr id="3" name="Text Placeholder 2"/>
          <p:cNvSpPr>
            <a:spLocks noGrp="1"/>
          </p:cNvSpPr>
          <p:nvPr>
            <p:ph idx="1"/>
          </p:nvPr>
        </p:nvSpPr>
        <p:spPr/>
        <p:txBody>
          <a:bodyPr>
            <a:normAutofit fontScale="70000" lnSpcReduction="20000"/>
          </a:bodyPr>
          <a:lstStyle/>
          <a:p>
            <a:pPr marL="914400" indent="-914400">
              <a:lnSpc>
                <a:spcPct val="120000"/>
              </a:lnSpc>
              <a:buNone/>
            </a:pPr>
            <a:r>
              <a:rPr lang="en-US" dirty="0"/>
              <a:t>8.2.1  (a) Describe the structure (including subunit composition) and function of the three types of ionotropic glutamate receptors, and (b) list the major agonists and antagonists for these receptors, including whether a given antagonist is competitive or uncompetitive.</a:t>
            </a:r>
          </a:p>
          <a:p>
            <a:pPr marL="914400" indent="-914400">
              <a:lnSpc>
                <a:spcPct val="120000"/>
              </a:lnSpc>
              <a:buNone/>
            </a:pPr>
            <a:r>
              <a:rPr lang="en-US" dirty="0"/>
              <a:t>8.2.2  (a) Describe the features (including groupings) of the metabotropic glutamate receptors, and (b) discuss evidence for a role for mGluR5 in fragile X syndrome.</a:t>
            </a:r>
          </a:p>
          <a:p>
            <a:pPr marL="914400" indent="-914400">
              <a:lnSpc>
                <a:spcPct val="120000"/>
              </a:lnSpc>
              <a:buNone/>
            </a:pPr>
            <a:r>
              <a:rPr lang="en-US" dirty="0"/>
              <a:t>8.2.3  Discuss the properties of long-term potentiation (LTP), the role of glutamate receptors in LTP induction and expression, and the proposed relationship between LTP and learning and memory processes.</a:t>
            </a:r>
          </a:p>
          <a:p>
            <a:pPr marL="914400" indent="-914400">
              <a:lnSpc>
                <a:spcPct val="120000"/>
              </a:lnSpc>
              <a:buNone/>
            </a:pPr>
            <a:r>
              <a:rPr lang="en-US" dirty="0"/>
              <a:t>8.2.4  (a) Describe three types of cell death in the brain, (b) the mechanisms of cell death by glutamate </a:t>
            </a:r>
            <a:r>
              <a:rPr lang="en-US" dirty="0" err="1"/>
              <a:t>excitoxicity</a:t>
            </a:r>
            <a:r>
              <a:rPr lang="en-US" dirty="0"/>
              <a:t>, and (c) how excitotoxic cell death may contribute to several nervous system disorders.</a:t>
            </a:r>
          </a:p>
        </p:txBody>
      </p:sp>
    </p:spTree>
    <p:extLst>
      <p:ext uri="{BB962C8B-B14F-4D97-AF65-F5344CB8AC3E}">
        <p14:creationId xmlns:p14="http://schemas.microsoft.com/office/powerpoint/2010/main" val="2711308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8</a:t>
            </a:r>
            <a:br>
              <a:rPr lang="en-US" dirty="0"/>
            </a:br>
            <a:r>
              <a:rPr lang="en-US" sz="4000" dirty="0"/>
              <a:t>Learning Objectives </a:t>
            </a:r>
            <a:r>
              <a:rPr lang="en-US" sz="1300" dirty="0"/>
              <a:t>(3 of 4)</a:t>
            </a:r>
            <a:endParaRPr lang="en-US" dirty="0"/>
          </a:p>
        </p:txBody>
      </p:sp>
      <p:sp>
        <p:nvSpPr>
          <p:cNvPr id="3" name="Text Placeholder 2"/>
          <p:cNvSpPr>
            <a:spLocks noGrp="1"/>
          </p:cNvSpPr>
          <p:nvPr>
            <p:ph idx="1"/>
          </p:nvPr>
        </p:nvSpPr>
        <p:spPr/>
        <p:txBody>
          <a:bodyPr>
            <a:normAutofit lnSpcReduction="10000"/>
          </a:bodyPr>
          <a:lstStyle/>
          <a:p>
            <a:pPr marL="914400" indent="-914400">
              <a:lnSpc>
                <a:spcPct val="110000"/>
              </a:lnSpc>
              <a:buNone/>
            </a:pPr>
            <a:r>
              <a:rPr lang="en-US" dirty="0"/>
              <a:t>8.3.1  (a) Identify the biochemical pathways by which GABA is synthesized and metabolized, and (b) name and discuss the clinical use of a drug that blocks GABA breakdown.</a:t>
            </a:r>
          </a:p>
          <a:p>
            <a:pPr marL="914400" indent="-914400">
              <a:lnSpc>
                <a:spcPct val="110000"/>
              </a:lnSpc>
              <a:buNone/>
            </a:pPr>
            <a:r>
              <a:rPr lang="en-US" dirty="0"/>
              <a:t>8.3.2  (a) Describe the functions and localization of the GABA transporters that mediate vesicular GABA uptake and removal of GABA from the extracellular fluid after its release, and (b) name and discuss the clinical use of a drug that blocks GABA reuptake.</a:t>
            </a:r>
          </a:p>
          <a:p>
            <a:pPr marL="914400" indent="-914400">
              <a:lnSpc>
                <a:spcPct val="110000"/>
              </a:lnSpc>
              <a:buNone/>
            </a:pPr>
            <a:r>
              <a:rPr lang="en-US" dirty="0"/>
              <a:t>8.3.3  Discuss the characteristics of GABA co-expression and co-release with other neurotransmitters.</a:t>
            </a:r>
          </a:p>
        </p:txBody>
      </p:sp>
    </p:spTree>
    <p:extLst>
      <p:ext uri="{BB962C8B-B14F-4D97-AF65-F5344CB8AC3E}">
        <p14:creationId xmlns:p14="http://schemas.microsoft.com/office/powerpoint/2010/main" val="2271059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8</a:t>
            </a:r>
            <a:br>
              <a:rPr lang="en-US" dirty="0"/>
            </a:br>
            <a:r>
              <a:rPr lang="en-US" sz="4000" dirty="0"/>
              <a:t>Learning Objectives </a:t>
            </a:r>
            <a:r>
              <a:rPr lang="en-US" sz="1300" dirty="0"/>
              <a:t>(4 of 4)</a:t>
            </a:r>
            <a:endParaRPr lang="en-US" dirty="0"/>
          </a:p>
        </p:txBody>
      </p:sp>
      <p:sp>
        <p:nvSpPr>
          <p:cNvPr id="3" name="Text Placeholder 2"/>
          <p:cNvSpPr>
            <a:spLocks noGrp="1"/>
          </p:cNvSpPr>
          <p:nvPr>
            <p:ph idx="1"/>
          </p:nvPr>
        </p:nvSpPr>
        <p:spPr/>
        <p:txBody>
          <a:bodyPr>
            <a:normAutofit fontScale="92500" lnSpcReduction="20000"/>
          </a:bodyPr>
          <a:lstStyle/>
          <a:p>
            <a:pPr marL="914400" indent="-914400">
              <a:lnSpc>
                <a:spcPct val="110000"/>
              </a:lnSpc>
              <a:buNone/>
            </a:pPr>
            <a:r>
              <a:rPr lang="en-US" dirty="0"/>
              <a:t>8.4.1  Describe use of GABA as a neurotransmitter both in local inhibitory interneurons and in projection neurons.</a:t>
            </a:r>
          </a:p>
          <a:p>
            <a:pPr marL="914400" indent="-914400">
              <a:lnSpc>
                <a:spcPct val="110000"/>
              </a:lnSpc>
              <a:buNone/>
            </a:pPr>
            <a:r>
              <a:rPr lang="en-US" dirty="0"/>
              <a:t>8.4.2  (a) Describe the subunit composition and electrophysiological properties of ionotropic GABAA receptors, (b) name the major drugs that act as agonists or antagonists of these receptors, and (c) discuss the classes of drugs that act as GABAA receptor positive allosteric modulators and the clinical applications of such drugs where appropriate.</a:t>
            </a:r>
          </a:p>
          <a:p>
            <a:pPr marL="914400" indent="-914400">
              <a:lnSpc>
                <a:spcPct val="110000"/>
              </a:lnSpc>
              <a:buNone/>
            </a:pPr>
            <a:r>
              <a:rPr lang="en-US" dirty="0"/>
              <a:t>8.4.3  Discuss evidence for a role for GABA and the GABAA receptor in epilepsy.</a:t>
            </a:r>
          </a:p>
          <a:p>
            <a:pPr marL="914400" indent="-914400">
              <a:lnSpc>
                <a:spcPct val="110000"/>
              </a:lnSpc>
              <a:buNone/>
            </a:pPr>
            <a:r>
              <a:rPr lang="en-US" dirty="0"/>
              <a:t>8.4.4  Describe the structure, signaling mechanisms, and functional roles of metabotropic GABAB receptors.</a:t>
            </a:r>
          </a:p>
        </p:txBody>
      </p:sp>
    </p:spTree>
    <p:extLst>
      <p:ext uri="{BB962C8B-B14F-4D97-AF65-F5344CB8AC3E}">
        <p14:creationId xmlns:p14="http://schemas.microsoft.com/office/powerpoint/2010/main" val="1495400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Glutamate Synthesis, Release, and Inactivation </a:t>
            </a:r>
            <a:r>
              <a:rPr lang="en-US" sz="1200" dirty="0"/>
              <a:t>(1 of 6)</a:t>
            </a:r>
            <a:endParaRPr lang="en-US" dirty="0"/>
          </a:p>
        </p:txBody>
      </p:sp>
      <p:sp>
        <p:nvSpPr>
          <p:cNvPr id="3" name="Text Placeholder 2"/>
          <p:cNvSpPr>
            <a:spLocks noGrp="1"/>
          </p:cNvSpPr>
          <p:nvPr>
            <p:ph idx="1"/>
          </p:nvPr>
        </p:nvSpPr>
        <p:spPr/>
        <p:txBody>
          <a:bodyPr>
            <a:normAutofit fontScale="92500"/>
          </a:bodyPr>
          <a:lstStyle/>
          <a:p>
            <a:pPr marL="457200" indent="-457200">
              <a:lnSpc>
                <a:spcPct val="120000"/>
              </a:lnSpc>
              <a:spcBef>
                <a:spcPts val="1200"/>
              </a:spcBef>
              <a:buNone/>
            </a:pPr>
            <a:r>
              <a:rPr lang="en-US" altLang="en-US" sz="3200" dirty="0"/>
              <a:t>Glutamate Synthesis, Release, and Inactivation</a:t>
            </a:r>
          </a:p>
          <a:p>
            <a:r>
              <a:rPr lang="en-US" altLang="en-US" b="1" dirty="0"/>
              <a:t>Glutamate</a:t>
            </a:r>
            <a:r>
              <a:rPr lang="en-US" altLang="en-US" dirty="0"/>
              <a:t>: ionized form of glutamic acid (an amino acid); formed from glutamine by </a:t>
            </a:r>
            <a:r>
              <a:rPr lang="en-US" altLang="en-US" b="1" dirty="0"/>
              <a:t>glutaminase</a:t>
            </a:r>
          </a:p>
          <a:p>
            <a:r>
              <a:rPr lang="en-US" altLang="en-US" dirty="0"/>
              <a:t>Glutamate and </a:t>
            </a:r>
            <a:r>
              <a:rPr lang="en-US" altLang="en-US" b="1" dirty="0"/>
              <a:t>aspartate</a:t>
            </a:r>
            <a:r>
              <a:rPr lang="en-US" altLang="en-US" dirty="0"/>
              <a:t> are </a:t>
            </a:r>
            <a:r>
              <a:rPr lang="en-US" altLang="en-US" b="1" dirty="0"/>
              <a:t>excitatory amino acid neurotransmitters</a:t>
            </a:r>
            <a:r>
              <a:rPr lang="en-US" altLang="en-US" dirty="0"/>
              <a:t>.</a:t>
            </a:r>
          </a:p>
          <a:p>
            <a:r>
              <a:rPr lang="en-US" b="1" dirty="0"/>
              <a:t>Glutamatergic neurons</a:t>
            </a:r>
            <a:r>
              <a:rPr lang="en-US" dirty="0"/>
              <a:t> use glutamate as the transmitter.</a:t>
            </a:r>
          </a:p>
          <a:p>
            <a:r>
              <a:rPr lang="en-US" dirty="0"/>
              <a:t>Glutamate is in all cells because of its multiple biochemical functions but glutamatergic neurons have higher concentrations and segregate their neurotransmitter pool.</a:t>
            </a:r>
          </a:p>
        </p:txBody>
      </p:sp>
    </p:spTree>
    <p:extLst>
      <p:ext uri="{BB962C8B-B14F-4D97-AF65-F5344CB8AC3E}">
        <p14:creationId xmlns:p14="http://schemas.microsoft.com/office/powerpoint/2010/main" val="115238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Glutamate Synthesis, Release, and Inactivation </a:t>
            </a:r>
            <a:r>
              <a:rPr lang="en-US" sz="1200" dirty="0"/>
              <a:t>(2 of 6)</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altLang="en-US" sz="3200" dirty="0"/>
              <a:t>Glutamate packaging into vesicles and uptake after release are mediated by multiple transport systems</a:t>
            </a:r>
          </a:p>
          <a:p>
            <a:r>
              <a:rPr lang="en-US" b="1" dirty="0"/>
              <a:t>Vesicular glutamate</a:t>
            </a:r>
            <a:r>
              <a:rPr lang="en-US" dirty="0"/>
              <a:t> transporters move glutamate into synaptic vesicles: </a:t>
            </a:r>
            <a:r>
              <a:rPr lang="en-US" b="1" dirty="0"/>
              <a:t>VGLUT1</a:t>
            </a:r>
            <a:r>
              <a:rPr lang="en-US" dirty="0"/>
              <a:t>, </a:t>
            </a:r>
            <a:r>
              <a:rPr lang="en-US" b="1" dirty="0"/>
              <a:t>VGLUT2</a:t>
            </a:r>
            <a:r>
              <a:rPr lang="en-US" dirty="0"/>
              <a:t>, </a:t>
            </a:r>
            <a:r>
              <a:rPr lang="en-US" b="1" dirty="0"/>
              <a:t>VGLUT3</a:t>
            </a:r>
            <a:r>
              <a:rPr lang="en-US" dirty="0"/>
              <a:t>; found only in glutamatergic neurons</a:t>
            </a:r>
          </a:p>
          <a:p>
            <a:r>
              <a:rPr lang="en-US" dirty="0"/>
              <a:t>In some neurons, these transporters are expressed with markers for 5-HT, DA, </a:t>
            </a:r>
            <a:r>
              <a:rPr lang="en-US" dirty="0" err="1"/>
              <a:t>ACh</a:t>
            </a:r>
            <a:r>
              <a:rPr lang="en-US" dirty="0"/>
              <a:t>, or GABA, indicating that glutamate is a </a:t>
            </a:r>
            <a:r>
              <a:rPr lang="en-US" dirty="0" err="1"/>
              <a:t>cotransmitter</a:t>
            </a:r>
            <a:endParaRPr lang="en-US" dirty="0"/>
          </a:p>
          <a:p>
            <a:r>
              <a:rPr lang="en-US" dirty="0"/>
              <a:t>DA–glutamate co-expressing neurons of the VTA release the two transmitters from separate vesicles at different kinds of axon terminals</a:t>
            </a:r>
          </a:p>
        </p:txBody>
      </p:sp>
    </p:spTree>
    <p:extLst>
      <p:ext uri="{BB962C8B-B14F-4D97-AF65-F5344CB8AC3E}">
        <p14:creationId xmlns:p14="http://schemas.microsoft.com/office/powerpoint/2010/main" val="1367646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Glutamate Synthesis, Release, and Inactivation </a:t>
            </a:r>
            <a:r>
              <a:rPr lang="en-US" sz="1200" dirty="0"/>
              <a:t>(3 of 6)</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sz="3200" dirty="0"/>
              <a:t>Glutamate packaging into vesicles and uptake after release are mediated by multiple transport systems</a:t>
            </a:r>
          </a:p>
          <a:p>
            <a:r>
              <a:rPr lang="en-US" dirty="0"/>
              <a:t>Glutamate uptake: 5 different </a:t>
            </a:r>
            <a:r>
              <a:rPr lang="en-US" b="1" dirty="0"/>
              <a:t>excitatory amino acid transporters </a:t>
            </a:r>
            <a:r>
              <a:rPr lang="en-US" dirty="0"/>
              <a:t>(EAATs) occur in different locations </a:t>
            </a:r>
          </a:p>
          <a:p>
            <a:r>
              <a:rPr lang="en-US" dirty="0"/>
              <a:t>Astrocytes express EAAT2 and may account for about 90% of total glutamate uptake in the brain</a:t>
            </a:r>
          </a:p>
          <a:p>
            <a:r>
              <a:rPr lang="en-US" dirty="0"/>
              <a:t>High levels of extracellular glutamate are dangerous; EAAT2 knockout mice develop seizures and have short life spans.</a:t>
            </a:r>
          </a:p>
        </p:txBody>
      </p:sp>
    </p:spTree>
    <p:extLst>
      <p:ext uri="{BB962C8B-B14F-4D97-AF65-F5344CB8AC3E}">
        <p14:creationId xmlns:p14="http://schemas.microsoft.com/office/powerpoint/2010/main" val="2700345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70C1F-EF20-E740-91FD-9A206EB42121}"/>
              </a:ext>
            </a:extLst>
          </p:cNvPr>
          <p:cNvSpPr>
            <a:spLocks noGrp="1"/>
          </p:cNvSpPr>
          <p:nvPr>
            <p:ph type="title"/>
          </p:nvPr>
        </p:nvSpPr>
        <p:spPr/>
        <p:txBody>
          <a:bodyPr/>
          <a:lstStyle/>
          <a:p>
            <a:r>
              <a:rPr lang="en-US" cap="all" dirty="0"/>
              <a:t>FIGURE 8.2</a:t>
            </a:r>
            <a:r>
              <a:rPr lang="en-US" dirty="0"/>
              <a:t>  Phenotypic charac­teristics of mutant mice lacking EAAT2 </a:t>
            </a:r>
          </a:p>
        </p:txBody>
      </p:sp>
      <p:pic>
        <p:nvPicPr>
          <p:cNvPr id="6" name="Content Placeholder 5" descr="A trend graph depicts the increase in body weight for two types of mice. The horizontal axis represents age in days, ranging between 0 and 80. The vertical axis represents body weight in grams, ranging between 0 and 30. The trend for wild-type mice increases through the following approximated points. (0, 2); (20, 10); (40, 22); (60, 25); and (80, 27). The trend for knockout mice increases through the following approximated points. (0, 2); (20, 8); (40, 15); (60, 18); and (70, 18).&#10;&#10;A trend graph depicts the decrease in survival percentage for two types of mice. The horizontal axis represents age in weeks, ranging between 0 and 14. The vertical axis represents survival percentage, ranging between 0 and 100. The trend for wild-type mice remains constant at 100 throughout 14 weeks. The trend for knockout mice decreases through the following approximated points. (0, 100); (2, 98); (4, 60); (6, 50); (8, 40); (10, 35); and (12, 20).&#10;&#10; An image of knockout mice.&#10;&#10;A two-part figure depicts the E E G waves for wilt-type and knockout type of mice. The waves in wild-type have a smaller and more or less consistent amplitude, with a frequency of 0.1 millivolts for the last one second. The amplitude of the wave is high in knockout type within a certain period of waves later followed by smaller amplitud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091584" y="479425"/>
            <a:ext cx="8008832" cy="6300788"/>
          </a:xfrm>
        </p:spPr>
      </p:pic>
    </p:spTree>
    <p:extLst>
      <p:ext uri="{BB962C8B-B14F-4D97-AF65-F5344CB8AC3E}">
        <p14:creationId xmlns:p14="http://schemas.microsoft.com/office/powerpoint/2010/main" val="651356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Glutamate Synthesis, Release, and Inactivation </a:t>
            </a:r>
            <a:r>
              <a:rPr lang="en-US" sz="1200" dirty="0"/>
              <a:t>(4 of 6)</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sz="3200" dirty="0"/>
              <a:t>Glutamate packaging into vesicles and uptake after release are mediated by multiple transport systems</a:t>
            </a:r>
          </a:p>
          <a:p>
            <a:r>
              <a:rPr lang="en-US" altLang="en-US" dirty="0"/>
              <a:t>EAAT1: highly expressed in astrocytes in the cerebellum</a:t>
            </a:r>
          </a:p>
          <a:p>
            <a:r>
              <a:rPr lang="en-US" altLang="en-US" dirty="0"/>
              <a:t>EAAT3: major neuronal glutamate transporter; postsynaptic localization</a:t>
            </a:r>
          </a:p>
          <a:p>
            <a:r>
              <a:rPr lang="en-US" altLang="en-US" dirty="0"/>
              <a:t>EAAT4: expressed primarily by Purkinje cells in the cerebellum</a:t>
            </a:r>
          </a:p>
          <a:p>
            <a:r>
              <a:rPr lang="en-US" altLang="en-US" dirty="0"/>
              <a:t>EAAT5: present in bipolar cells in the retina.</a:t>
            </a:r>
          </a:p>
        </p:txBody>
      </p:sp>
    </p:spTree>
    <p:extLst>
      <p:ext uri="{BB962C8B-B14F-4D97-AF65-F5344CB8AC3E}">
        <p14:creationId xmlns:p14="http://schemas.microsoft.com/office/powerpoint/2010/main" val="78941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Glutamate Synthesis, Release, and Inactivation </a:t>
            </a:r>
            <a:r>
              <a:rPr lang="en-US" sz="1200" dirty="0"/>
              <a:t>(5 of 6)</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altLang="en-US" sz="3200" dirty="0"/>
              <a:t>Glutamate packaging into vesicles and uptake after release are mediated by multiple transport systems</a:t>
            </a:r>
          </a:p>
          <a:p>
            <a:r>
              <a:rPr lang="en-US" altLang="en-US" dirty="0"/>
              <a:t>Astrocyte transporters convert the glutamate they take up to glutamine using </a:t>
            </a:r>
            <a:r>
              <a:rPr lang="en-US" altLang="en-US" b="1" dirty="0"/>
              <a:t>glutamine synthetase</a:t>
            </a:r>
          </a:p>
          <a:p>
            <a:r>
              <a:rPr lang="en-US" altLang="en-US" dirty="0"/>
              <a:t>Glutamine is then transported out of astrocytes and picked up by neurons, where it can be converted back into glutamate by glutaminase</a:t>
            </a:r>
          </a:p>
          <a:p>
            <a:r>
              <a:rPr lang="en-US" altLang="en-US" dirty="0"/>
              <a:t>Glutamine synthetase also helps in the metabolism and removal of ammonia</a:t>
            </a:r>
          </a:p>
        </p:txBody>
      </p:sp>
    </p:spTree>
    <p:extLst>
      <p:ext uri="{BB962C8B-B14F-4D97-AF65-F5344CB8AC3E}">
        <p14:creationId xmlns:p14="http://schemas.microsoft.com/office/powerpoint/2010/main" val="1736058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AF064-A364-AA49-9572-AAB681B49751}"/>
              </a:ext>
            </a:extLst>
          </p:cNvPr>
          <p:cNvSpPr>
            <a:spLocks noGrp="1"/>
          </p:cNvSpPr>
          <p:nvPr>
            <p:ph type="title"/>
          </p:nvPr>
        </p:nvSpPr>
        <p:spPr/>
        <p:txBody>
          <a:bodyPr/>
          <a:lstStyle/>
          <a:p>
            <a:r>
              <a:rPr lang="en-US" cap="all" dirty="0"/>
              <a:t>FIGURE 8.3</a:t>
            </a:r>
            <a:r>
              <a:rPr lang="en-US" dirty="0"/>
              <a:t>  Cycling of glutamate and glutamine between glutamatergic neurons and astrocytes </a:t>
            </a:r>
          </a:p>
        </p:txBody>
      </p:sp>
      <p:pic>
        <p:nvPicPr>
          <p:cNvPr id="6" name="Content Placeholder 5" descr="An illustration depicts the cyclic flow reaction of glutamate and glutamine. In the presence of glutamine synthetase within the astrocyte, glutamate is transformed into glutamine, which is then carried to the nerve terminal via glutamine transporters. The glutamine in the presynaptic neuron is converted into glutamate in the presence of glutaminase, which is then carried to the vesicles by V G L U T and to the glutamate receptors of the postsynaptic neuron which is again transmitted to astrocyte via E A A T I or E A A T 2."/>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382584" y="479425"/>
            <a:ext cx="7426832" cy="6300788"/>
          </a:xfrm>
        </p:spPr>
      </p:pic>
    </p:spTree>
    <p:extLst>
      <p:ext uri="{BB962C8B-B14F-4D97-AF65-F5344CB8AC3E}">
        <p14:creationId xmlns:p14="http://schemas.microsoft.com/office/powerpoint/2010/main" val="2786660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Glutamate Synthesis, Release, and Inactivation </a:t>
            </a:r>
            <a:r>
              <a:rPr lang="en-US" sz="1200" dirty="0"/>
              <a:t>(6 of 6)</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1</a:t>
            </a:r>
          </a:p>
          <a:p>
            <a:pPr marL="457200" indent="-457200">
              <a:spcBef>
                <a:spcPts val="2400"/>
              </a:spcBef>
              <a:buNone/>
            </a:pPr>
            <a:r>
              <a:rPr lang="en-US" sz="3200" dirty="0"/>
              <a:t>What is the role of astrocytes in the glutamatergic system?</a:t>
            </a:r>
          </a:p>
          <a:p>
            <a:pPr marL="914400" indent="-457200">
              <a:spcBef>
                <a:spcPts val="1200"/>
              </a:spcBef>
              <a:buFont typeface="Arial" pitchFamily="34" charset="0"/>
              <a:buAutoNum type="alphaLcPeriod"/>
            </a:pPr>
            <a:r>
              <a:rPr lang="en-US" sz="3200" dirty="0"/>
              <a:t>They break down glutamate into aspartate.</a:t>
            </a:r>
          </a:p>
          <a:p>
            <a:pPr marL="914400" indent="-457200">
              <a:spcBef>
                <a:spcPts val="1200"/>
              </a:spcBef>
              <a:buFont typeface="Arial" pitchFamily="34" charset="0"/>
              <a:buAutoNum type="alphaLcPeriod"/>
            </a:pPr>
            <a:r>
              <a:rPr lang="en-US" sz="3200" dirty="0"/>
              <a:t>They “recycle” glutamate by converting it to glutamine.</a:t>
            </a:r>
          </a:p>
          <a:p>
            <a:pPr marL="914400" indent="-457200">
              <a:spcBef>
                <a:spcPts val="1200"/>
              </a:spcBef>
              <a:buFont typeface="Arial" pitchFamily="34" charset="0"/>
              <a:buAutoNum type="alphaLcPeriod"/>
            </a:pPr>
            <a:r>
              <a:rPr lang="en-US" sz="3200" dirty="0"/>
              <a:t>They synthesize vesicular glutamate transporters.</a:t>
            </a:r>
          </a:p>
        </p:txBody>
      </p:sp>
    </p:spTree>
    <p:extLst>
      <p:ext uri="{BB962C8B-B14F-4D97-AF65-F5344CB8AC3E}">
        <p14:creationId xmlns:p14="http://schemas.microsoft.com/office/powerpoint/2010/main" val="2244686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a:t>
            </a:r>
            <a:r>
              <a:rPr lang="en-US" sz="4000" dirty="0"/>
              <a:t> </a:t>
            </a:r>
            <a:r>
              <a:rPr lang="en-US" sz="1200" dirty="0"/>
              <a:t>(1 of 4)</a:t>
            </a:r>
            <a:endParaRPr lang="en-US" dirty="0"/>
          </a:p>
        </p:txBody>
      </p:sp>
      <p:sp>
        <p:nvSpPr>
          <p:cNvPr id="3" name="Text Placeholder 2"/>
          <p:cNvSpPr>
            <a:spLocks noGrp="1"/>
          </p:cNvSpPr>
          <p:nvPr>
            <p:ph idx="1"/>
          </p:nvPr>
        </p:nvSpPr>
        <p:spPr/>
        <p:txBody>
          <a:bodyPr>
            <a:normAutofit/>
          </a:bodyPr>
          <a:lstStyle/>
          <a:p>
            <a:pPr marL="914400" indent="-914400">
              <a:lnSpc>
                <a:spcPct val="110000"/>
              </a:lnSpc>
              <a:buNone/>
            </a:pPr>
            <a:r>
              <a:rPr lang="en-US" dirty="0"/>
              <a:t>8.1.1  Describe the processes by which glutamate is synthesized and metabolized and the interactions between glutamatergic neurons and astrocytes in these processes.</a:t>
            </a:r>
          </a:p>
          <a:p>
            <a:pPr marL="914400" indent="-914400">
              <a:lnSpc>
                <a:spcPct val="110000"/>
              </a:lnSpc>
              <a:buNone/>
            </a:pPr>
            <a:r>
              <a:rPr lang="en-US" dirty="0"/>
              <a:t>8.1.2  Name and describe the anatomical/cellular localization of the various glutamate vesicular transporters.</a:t>
            </a:r>
          </a:p>
          <a:p>
            <a:pPr marL="914400" indent="-914400">
              <a:lnSpc>
                <a:spcPct val="110000"/>
              </a:lnSpc>
              <a:buNone/>
            </a:pPr>
            <a:r>
              <a:rPr lang="en-US" dirty="0"/>
              <a:t>8.1.3  Name and describe (a) the anatomical/cellular localization of the excitatory amino acid transporters responsible for uptake from the extracellular fluid, and (b) the functional role of these transporters. </a:t>
            </a:r>
          </a:p>
        </p:txBody>
      </p:sp>
    </p:spTree>
    <p:extLst>
      <p:ext uri="{BB962C8B-B14F-4D97-AF65-F5344CB8AC3E}">
        <p14:creationId xmlns:p14="http://schemas.microsoft.com/office/powerpoint/2010/main" val="1852298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573" y="293637"/>
            <a:ext cx="11294854" cy="1143000"/>
          </a:xfrm>
        </p:spPr>
        <p:txBody>
          <a:bodyPr>
            <a:normAutofit/>
          </a:bodyPr>
          <a:lstStyle/>
          <a:p>
            <a:r>
              <a:rPr lang="en-US" dirty="0"/>
              <a:t>Organization and Function of the Glutamatergic System </a:t>
            </a:r>
            <a:br>
              <a:rPr lang="en-US" dirty="0"/>
            </a:br>
            <a:r>
              <a:rPr lang="en-US" sz="1200" dirty="0"/>
              <a:t>(1 of 14)</a:t>
            </a:r>
          </a:p>
        </p:txBody>
      </p:sp>
      <p:sp>
        <p:nvSpPr>
          <p:cNvPr id="3" name="Text Placeholder 2"/>
          <p:cNvSpPr>
            <a:spLocks noGrp="1"/>
          </p:cNvSpPr>
          <p:nvPr>
            <p:ph idx="1"/>
          </p:nvPr>
        </p:nvSpPr>
        <p:spPr/>
        <p:txBody>
          <a:bodyPr>
            <a:normAutofit fontScale="92500" lnSpcReduction="20000"/>
          </a:bodyPr>
          <a:lstStyle/>
          <a:p>
            <a:pPr marL="457200" indent="-457200">
              <a:spcBef>
                <a:spcPts val="1200"/>
              </a:spcBef>
              <a:buNone/>
            </a:pPr>
            <a:r>
              <a:rPr lang="en-US" altLang="en-US" sz="3500" dirty="0"/>
              <a:t>Glutamate is the neurotransmitter used in many excitatory pathways in the brain</a:t>
            </a:r>
          </a:p>
          <a:p>
            <a:r>
              <a:rPr lang="en-US" altLang="en-US" dirty="0"/>
              <a:t>Glutamatergic pathways in the brain include</a:t>
            </a:r>
          </a:p>
          <a:p>
            <a:pPr lvl="1"/>
            <a:r>
              <a:rPr lang="en-US" altLang="en-US" dirty="0"/>
              <a:t>Projections of the pyramidal neurons of the cortex</a:t>
            </a:r>
          </a:p>
          <a:p>
            <a:pPr lvl="1"/>
            <a:r>
              <a:rPr lang="en-US" altLang="en-US" dirty="0"/>
              <a:t>Parallel fibers of the cerebrum</a:t>
            </a:r>
          </a:p>
          <a:p>
            <a:pPr lvl="1"/>
            <a:r>
              <a:rPr lang="en-US" altLang="en-US" dirty="0"/>
              <a:t>Excitatory pathways in the hippocampus</a:t>
            </a:r>
          </a:p>
          <a:p>
            <a:r>
              <a:rPr lang="en-US" dirty="0"/>
              <a:t>Glutamate is found throughout the brain; important functions include synaptic plasticity, learning and memory, possibly in psychopathologic disorders</a:t>
            </a:r>
          </a:p>
        </p:txBody>
      </p:sp>
    </p:spTree>
    <p:extLst>
      <p:ext uri="{BB962C8B-B14F-4D97-AF65-F5344CB8AC3E}">
        <p14:creationId xmlns:p14="http://schemas.microsoft.com/office/powerpoint/2010/main" val="1691021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lang="en-US" sz="4000" dirty="0"/>
              <a:t>Organization and Function of the Glutamatergic System </a:t>
            </a:r>
            <a:br>
              <a:rPr lang="en-US" sz="4000" dirty="0"/>
            </a:br>
            <a:r>
              <a:rPr lang="en-US" sz="1300" dirty="0"/>
              <a:t>(2 of 14)</a:t>
            </a:r>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457200" indent="-457200">
              <a:spcBef>
                <a:spcPts val="1200"/>
              </a:spcBef>
              <a:buNone/>
            </a:pPr>
            <a:r>
              <a:rPr lang="en-US" altLang="en-US" sz="3500" dirty="0"/>
              <a:t>Both ionotropic and metabotropic receptors mediate the synaptic effects of glutamate</a:t>
            </a:r>
          </a:p>
          <a:p>
            <a:r>
              <a:rPr lang="en-US" altLang="en-US" dirty="0"/>
              <a:t>Ionotropic glutamate receptors depolarize the membrane of the postsynaptic cell (excitatory) (fast signaling):</a:t>
            </a:r>
          </a:p>
          <a:p>
            <a:pPr lvl="1"/>
            <a:r>
              <a:rPr lang="en-US" altLang="en-US" b="1" dirty="0"/>
              <a:t>AMPA receptor</a:t>
            </a:r>
            <a:r>
              <a:rPr lang="en-US" altLang="en-US" dirty="0"/>
              <a:t>, named for selective agonist AMPA; most fast excitatory responses to glutamate are mediated by stimulation of AMPA receptors</a:t>
            </a:r>
          </a:p>
          <a:p>
            <a:pPr lvl="1"/>
            <a:r>
              <a:rPr lang="en-US" altLang="en-US" b="1" dirty="0" err="1"/>
              <a:t>Kainate</a:t>
            </a:r>
            <a:r>
              <a:rPr lang="en-US" altLang="en-US" b="1" dirty="0"/>
              <a:t> receptor</a:t>
            </a:r>
            <a:r>
              <a:rPr lang="en-US" altLang="en-US" dirty="0"/>
              <a:t>, named for selective agonist kainic acid</a:t>
            </a:r>
          </a:p>
          <a:p>
            <a:pPr lvl="1"/>
            <a:r>
              <a:rPr lang="en-US" altLang="en-US" b="1" dirty="0"/>
              <a:t>NMDA receptor</a:t>
            </a:r>
            <a:r>
              <a:rPr lang="en-US" altLang="en-US" dirty="0"/>
              <a:t>, named for the agonist NMDA; </a:t>
            </a:r>
            <a:r>
              <a:rPr lang="en-US" dirty="0"/>
              <a:t>allows both Na+ and Ca2+ to pass; Ca2+ also activates a second messenger</a:t>
            </a:r>
            <a:endParaRPr lang="en-US" altLang="en-US" dirty="0"/>
          </a:p>
        </p:txBody>
      </p:sp>
    </p:spTree>
    <p:extLst>
      <p:ext uri="{BB962C8B-B14F-4D97-AF65-F5344CB8AC3E}">
        <p14:creationId xmlns:p14="http://schemas.microsoft.com/office/powerpoint/2010/main" val="2042842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7A358-6132-234C-A6E8-56A86E4804A3}"/>
              </a:ext>
            </a:extLst>
          </p:cNvPr>
          <p:cNvSpPr>
            <a:spLocks noGrp="1"/>
          </p:cNvSpPr>
          <p:nvPr>
            <p:ph type="title"/>
          </p:nvPr>
        </p:nvSpPr>
        <p:spPr/>
        <p:txBody>
          <a:bodyPr/>
          <a:lstStyle/>
          <a:p>
            <a:r>
              <a:rPr lang="en-US" cap="all" dirty="0"/>
              <a:t>FIGURE 8.4</a:t>
            </a:r>
            <a:r>
              <a:rPr lang="en-US" dirty="0"/>
              <a:t>  Ion permeabilities of ionotropic glutamate receptor channels </a:t>
            </a:r>
          </a:p>
        </p:txBody>
      </p:sp>
      <p:pic>
        <p:nvPicPr>
          <p:cNvPr id="6" name="Content Placeholder 5" descr="An illustration depicts the three types of ionotropic glutamate receptor channels. The N a plus ions are transmitted by the A M P A and Kainate receptors, whereas the C a 2 plus and N a plus ions are transmitted via the N M D A receptors. C a 2 plus ions act as the cell's second messenger inside the cell."/>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762627" y="479425"/>
            <a:ext cx="8666746" cy="6300788"/>
          </a:xfrm>
        </p:spPr>
      </p:pic>
    </p:spTree>
    <p:extLst>
      <p:ext uri="{BB962C8B-B14F-4D97-AF65-F5344CB8AC3E}">
        <p14:creationId xmlns:p14="http://schemas.microsoft.com/office/powerpoint/2010/main" val="419443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573" y="313302"/>
            <a:ext cx="11294854" cy="1143000"/>
          </a:xfrm>
        </p:spPr>
        <p:txBody>
          <a:bodyPr>
            <a:normAutofit/>
          </a:bodyPr>
          <a:lstStyle/>
          <a:p>
            <a:r>
              <a:rPr lang="en-US" sz="3600" dirty="0"/>
              <a:t>Organization and Function of the Glutamatergic System </a:t>
            </a:r>
            <a:br>
              <a:rPr lang="en-US" sz="3600" dirty="0"/>
            </a:br>
            <a:r>
              <a:rPr lang="en-US" sz="1200" dirty="0"/>
              <a:t>(3 of 14)</a:t>
            </a:r>
            <a:endParaRPr lang="en-US" dirty="0"/>
          </a:p>
        </p:txBody>
      </p:sp>
      <p:sp>
        <p:nvSpPr>
          <p:cNvPr id="3" name="Text Placeholder 2"/>
          <p:cNvSpPr>
            <a:spLocks noGrp="1"/>
          </p:cNvSpPr>
          <p:nvPr>
            <p:ph idx="1"/>
          </p:nvPr>
        </p:nvSpPr>
        <p:spPr/>
        <p:txBody>
          <a:bodyPr>
            <a:normAutofit/>
          </a:bodyPr>
          <a:lstStyle/>
          <a:p>
            <a:pPr marL="457200" indent="-457200">
              <a:lnSpc>
                <a:spcPct val="80000"/>
              </a:lnSpc>
              <a:spcBef>
                <a:spcPts val="1200"/>
              </a:spcBef>
              <a:buNone/>
            </a:pPr>
            <a:r>
              <a:rPr lang="en-US" altLang="en-US" sz="3200" dirty="0"/>
              <a:t>Both ionotropic and metabotropic receptors mediate the synaptic effects of glutamate</a:t>
            </a:r>
          </a:p>
          <a:p>
            <a:r>
              <a:rPr lang="en-US" altLang="en-US" dirty="0"/>
              <a:t>Ionotropic glutamate receptors have 4 subunits; each subtype is composed of a different set of subunits</a:t>
            </a:r>
          </a:p>
          <a:p>
            <a:r>
              <a:rPr lang="en-US" altLang="en-US" dirty="0"/>
              <a:t>Antagonist </a:t>
            </a:r>
            <a:r>
              <a:rPr lang="en-US" altLang="en-US" b="1" dirty="0"/>
              <a:t>NBQX</a:t>
            </a:r>
            <a:r>
              <a:rPr lang="en-US" altLang="en-US" dirty="0"/>
              <a:t> blocks AMPA and </a:t>
            </a:r>
            <a:r>
              <a:rPr lang="en-US" altLang="en-US" dirty="0" err="1"/>
              <a:t>kainate</a:t>
            </a:r>
            <a:r>
              <a:rPr lang="en-US" altLang="en-US" dirty="0"/>
              <a:t> receptors but not </a:t>
            </a:r>
            <a:r>
              <a:rPr lang="en-US" altLang="ja-JP" dirty="0"/>
              <a:t>NMDA receptors.</a:t>
            </a:r>
          </a:p>
          <a:p>
            <a:r>
              <a:rPr lang="en-US" altLang="ja-JP" dirty="0"/>
              <a:t>In mice, NBXQ leads to sedation, ataxia, reduced locomotor activity, deficient rotarod performance, and protection against seizures</a:t>
            </a:r>
            <a:endParaRPr lang="en-US" altLang="en-US" dirty="0"/>
          </a:p>
        </p:txBody>
      </p:sp>
    </p:spTree>
    <p:extLst>
      <p:ext uri="{BB962C8B-B14F-4D97-AF65-F5344CB8AC3E}">
        <p14:creationId xmlns:p14="http://schemas.microsoft.com/office/powerpoint/2010/main" val="4198741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(4 of 14)</a:t>
            </a:r>
            <a:endParaRPr lang="en-US" dirty="0"/>
          </a:p>
        </p:txBody>
      </p:sp>
      <p:sp>
        <p:nvSpPr>
          <p:cNvPr id="3" name="Text Placeholder 2"/>
          <p:cNvSpPr>
            <a:spLocks noGrp="1"/>
          </p:cNvSpPr>
          <p:nvPr>
            <p:ph idx="1"/>
          </p:nvPr>
        </p:nvSpPr>
        <p:spPr/>
        <p:txBody>
          <a:bodyPr>
            <a:normAutofit/>
          </a:bodyPr>
          <a:lstStyle/>
          <a:p>
            <a:pPr marL="457200" indent="-457200">
              <a:lnSpc>
                <a:spcPct val="80000"/>
              </a:lnSpc>
              <a:spcBef>
                <a:spcPts val="1200"/>
              </a:spcBef>
              <a:buNone/>
            </a:pPr>
            <a:r>
              <a:rPr lang="en-US" altLang="en-US" sz="3200" dirty="0"/>
              <a:t>Both ionotropic and metabotropic receptors mediate the synaptic effects of glutamate</a:t>
            </a:r>
          </a:p>
          <a:p>
            <a:r>
              <a:rPr lang="en-US" dirty="0"/>
              <a:t>NMDA receptors have unique characteristics:</a:t>
            </a:r>
          </a:p>
          <a:p>
            <a:pPr lvl="1"/>
            <a:r>
              <a:rPr lang="en-US" dirty="0"/>
              <a:t>Flow of both Na</a:t>
            </a:r>
            <a:r>
              <a:rPr lang="en-US" baseline="30000" dirty="0"/>
              <a:t>+</a:t>
            </a:r>
            <a:r>
              <a:rPr lang="en-US" dirty="0"/>
              <a:t> and Ca</a:t>
            </a:r>
            <a:r>
              <a:rPr lang="en-US" baseline="30000" dirty="0"/>
              <a:t>2+</a:t>
            </a:r>
          </a:p>
          <a:p>
            <a:pPr lvl="1"/>
            <a:r>
              <a:rPr lang="en-US" dirty="0"/>
              <a:t>Activated by simultaneous binding of glutamate and a co-agonist: </a:t>
            </a:r>
            <a:r>
              <a:rPr lang="en-US" b="1" dirty="0"/>
              <a:t>glycine</a:t>
            </a:r>
            <a:r>
              <a:rPr lang="en-US" dirty="0"/>
              <a:t> or </a:t>
            </a:r>
            <a:r>
              <a:rPr lang="en-US" sz="2000" b="1" dirty="0"/>
              <a:t>D</a:t>
            </a:r>
            <a:r>
              <a:rPr lang="en-US" b="1" dirty="0"/>
              <a:t>-serine</a:t>
            </a:r>
            <a:r>
              <a:rPr lang="en-US" dirty="0"/>
              <a:t> (coincidence detection)</a:t>
            </a:r>
          </a:p>
          <a:p>
            <a:pPr lvl="1"/>
            <a:r>
              <a:rPr lang="en-US" dirty="0"/>
              <a:t>Binding site for Mg</a:t>
            </a:r>
            <a:r>
              <a:rPr lang="en-US" baseline="30000" dirty="0"/>
              <a:t>2+</a:t>
            </a:r>
            <a:r>
              <a:rPr lang="en-US" dirty="0"/>
              <a:t> in the ion channel; blocks channel at resting potential; dissociates during depolarization and opens channel</a:t>
            </a:r>
          </a:p>
        </p:txBody>
      </p:sp>
    </p:spTree>
    <p:extLst>
      <p:ext uri="{BB962C8B-B14F-4D97-AF65-F5344CB8AC3E}">
        <p14:creationId xmlns:p14="http://schemas.microsoft.com/office/powerpoint/2010/main" val="2884433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BC76F-1FA9-8541-AAC1-9B0DF96CE6D4}"/>
              </a:ext>
            </a:extLst>
          </p:cNvPr>
          <p:cNvSpPr>
            <a:spLocks noGrp="1"/>
          </p:cNvSpPr>
          <p:nvPr>
            <p:ph type="title"/>
          </p:nvPr>
        </p:nvSpPr>
        <p:spPr/>
        <p:txBody>
          <a:bodyPr/>
          <a:lstStyle/>
          <a:p>
            <a:r>
              <a:rPr lang="en-US" cap="all" dirty="0"/>
              <a:t>FIGURE 8.5</a:t>
            </a:r>
            <a:r>
              <a:rPr lang="en-US" dirty="0"/>
              <a:t>  NMDA receptor properties </a:t>
            </a:r>
          </a:p>
        </p:txBody>
      </p:sp>
      <p:pic>
        <p:nvPicPr>
          <p:cNvPr id="6" name="Content Placeholder 5" descr="A figure depicts the molecules involved with the N M D A receptor. C a 2 plus and N a plus ions pass through the N M D A receptor channel, and M g 2 plus ions are labeled within the channel above P C P. The glutamate molecules bind to the top of either side of the receptor, while glycine or D-serine binds to one side. The receptor's base is marked as 5 nanometers wid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141238" y="479425"/>
            <a:ext cx="3909525" cy="6300788"/>
          </a:xfrm>
        </p:spPr>
      </p:pic>
    </p:spTree>
    <p:extLst>
      <p:ext uri="{BB962C8B-B14F-4D97-AF65-F5344CB8AC3E}">
        <p14:creationId xmlns:p14="http://schemas.microsoft.com/office/powerpoint/2010/main" val="2665735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2DB4B-C88A-E84E-BEB3-F4AC4FBA5B96}"/>
              </a:ext>
            </a:extLst>
          </p:cNvPr>
          <p:cNvSpPr>
            <a:spLocks noGrp="1"/>
          </p:cNvSpPr>
          <p:nvPr>
            <p:ph type="title"/>
          </p:nvPr>
        </p:nvSpPr>
        <p:spPr/>
        <p:txBody>
          <a:bodyPr/>
          <a:lstStyle/>
          <a:p>
            <a:r>
              <a:rPr lang="en-US" cap="all" dirty="0"/>
              <a:t>FIGURE 8.6</a:t>
            </a:r>
            <a:r>
              <a:rPr lang="en-US" dirty="0"/>
              <a:t>  Three-dimensional depiction of an NMDA receptor in the cell membrane </a:t>
            </a:r>
          </a:p>
        </p:txBody>
      </p:sp>
      <p:pic>
        <p:nvPicPr>
          <p:cNvPr id="6" name="Content Placeholder 5" descr="A figure depicts the three-dimensional view of an N M D A receptor of the cell membrane. The molecules on the lateral sides are labeled GluN2, whereas the molecules in the center is labeled GluN1. The receptor's base forms a triangle section that connects the extracellular and intracellular sections.&#10;&#10;A figure depicts a cutaway view of the receptor. The G l u N 1 and G l u N 2 molecules both stretch from the top of the extracellular region to the left side of the base of the intracellular region. Glycine binding site is located on the left lateral side, while glutamate binding site is located on the right lateral side. The ion channel pore is formed on the right side of the ba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895953" y="479425"/>
            <a:ext cx="10400095" cy="6300788"/>
          </a:xfrm>
        </p:spPr>
      </p:pic>
    </p:spTree>
    <p:extLst>
      <p:ext uri="{BB962C8B-B14F-4D97-AF65-F5344CB8AC3E}">
        <p14:creationId xmlns:p14="http://schemas.microsoft.com/office/powerpoint/2010/main" val="3653095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F9DAFD7-6DA0-4B10-9980-3E8B6E3B93AD}"/>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(5 of 14)</a:t>
            </a:r>
            <a:endParaRPr lang="en-US" dirty="0"/>
          </a:p>
        </p:txBody>
      </p:sp>
      <p:sp>
        <p:nvSpPr>
          <p:cNvPr id="3" name="Text Placeholder 2"/>
          <p:cNvSpPr>
            <a:spLocks noGrp="1"/>
          </p:cNvSpPr>
          <p:nvPr>
            <p:ph idx="1"/>
          </p:nvPr>
        </p:nvSpPr>
        <p:spPr/>
        <p:txBody>
          <a:bodyPr>
            <a:normAutofit fontScale="92500" lnSpcReduction="10000"/>
          </a:bodyPr>
          <a:lstStyle/>
          <a:p>
            <a:pPr marL="457200" indent="-457200">
              <a:lnSpc>
                <a:spcPct val="90000"/>
              </a:lnSpc>
              <a:spcBef>
                <a:spcPts val="1200"/>
              </a:spcBef>
              <a:buNone/>
            </a:pPr>
            <a:r>
              <a:rPr lang="en-US" altLang="en-US" sz="3500" dirty="0"/>
              <a:t>Both ionotropic and metabotropic receptors mediate the synaptic effects of glutamate</a:t>
            </a:r>
          </a:p>
          <a:p>
            <a:r>
              <a:rPr lang="en-US" altLang="en-US" dirty="0"/>
              <a:t>Second binding site in the channel recognizes NMDA receptor antagonists that block the channel:</a:t>
            </a:r>
          </a:p>
          <a:p>
            <a:pPr lvl="1"/>
            <a:r>
              <a:rPr lang="en-US" altLang="en-US" dirty="0"/>
              <a:t>Abused drugs </a:t>
            </a:r>
            <a:r>
              <a:rPr lang="en-US" altLang="en-US" b="1" dirty="0"/>
              <a:t>phencyclidine</a:t>
            </a:r>
            <a:r>
              <a:rPr lang="en-US" altLang="en-US" dirty="0"/>
              <a:t> (</a:t>
            </a:r>
            <a:r>
              <a:rPr lang="en-US" altLang="en-US" b="1" dirty="0"/>
              <a:t>PCP</a:t>
            </a:r>
            <a:r>
              <a:rPr lang="en-US" altLang="en-US" dirty="0"/>
              <a:t>) and </a:t>
            </a:r>
            <a:r>
              <a:rPr lang="en-US" altLang="en-US" b="1" dirty="0"/>
              <a:t>ketamine</a:t>
            </a:r>
          </a:p>
          <a:p>
            <a:pPr lvl="1"/>
            <a:r>
              <a:rPr lang="en-US" altLang="en-US" b="1" dirty="0"/>
              <a:t>MK-801</a:t>
            </a:r>
            <a:r>
              <a:rPr lang="en-US" altLang="en-US" dirty="0"/>
              <a:t> (</a:t>
            </a:r>
            <a:r>
              <a:rPr lang="en-US" altLang="en-US" b="1" dirty="0"/>
              <a:t>dizocilpine</a:t>
            </a:r>
            <a:r>
              <a:rPr lang="en-US" altLang="en-US" dirty="0"/>
              <a:t>) used for research</a:t>
            </a:r>
          </a:p>
          <a:p>
            <a:pPr lvl="1"/>
            <a:r>
              <a:rPr lang="en-US" altLang="en-US" b="1" dirty="0"/>
              <a:t>Memantine</a:t>
            </a:r>
            <a:r>
              <a:rPr lang="en-US" altLang="en-US" dirty="0"/>
              <a:t> (</a:t>
            </a:r>
            <a:r>
              <a:rPr lang="en-US" altLang="en-US" b="1" dirty="0"/>
              <a:t>Namenda</a:t>
            </a:r>
            <a:r>
              <a:rPr lang="en-US" altLang="en-US" dirty="0"/>
              <a:t>) used to treat Alzheimer’s disease</a:t>
            </a:r>
          </a:p>
          <a:p>
            <a:r>
              <a:rPr lang="en-US" altLang="en-US" dirty="0"/>
              <a:t>These drugs are </a:t>
            </a:r>
            <a:r>
              <a:rPr lang="en-US" altLang="en-US" b="1" dirty="0"/>
              <a:t>uncompetitive antagonists</a:t>
            </a:r>
            <a:r>
              <a:rPr lang="en-US" altLang="en-US" dirty="0"/>
              <a:t>:</a:t>
            </a:r>
            <a:r>
              <a:rPr lang="en-US" altLang="en-US" b="1" dirty="0"/>
              <a:t> </a:t>
            </a:r>
            <a:r>
              <a:rPr lang="en-US" altLang="en-US" dirty="0"/>
              <a:t>require the receptor to be activated (open) by an agonist</a:t>
            </a:r>
          </a:p>
        </p:txBody>
      </p:sp>
    </p:spTree>
    <p:extLst>
      <p:ext uri="{BB962C8B-B14F-4D97-AF65-F5344CB8AC3E}">
        <p14:creationId xmlns:p14="http://schemas.microsoft.com/office/powerpoint/2010/main" val="3812785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B510870-5CDF-4F2F-B42B-D3450826C21E}"/>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(6 of 14)</a:t>
            </a:r>
            <a:endParaRPr lang="en-US" dirty="0"/>
          </a:p>
        </p:txBody>
      </p:sp>
      <p:sp>
        <p:nvSpPr>
          <p:cNvPr id="3" name="Text Placeholder 2"/>
          <p:cNvSpPr>
            <a:spLocks noGrp="1"/>
          </p:cNvSpPr>
          <p:nvPr>
            <p:ph idx="1"/>
          </p:nvPr>
        </p:nvSpPr>
        <p:spPr/>
        <p:txBody>
          <a:bodyPr>
            <a:normAutofit fontScale="85000" lnSpcReduction="20000"/>
          </a:bodyPr>
          <a:lstStyle/>
          <a:p>
            <a:pPr marL="457200" indent="-457200">
              <a:spcBef>
                <a:spcPts val="1200"/>
              </a:spcBef>
              <a:buNone/>
            </a:pPr>
            <a:r>
              <a:rPr lang="en-US" altLang="en-US" sz="3500" dirty="0"/>
              <a:t>Both ionotropic and metabotropic receptors mediate the synaptic effects of glutamate</a:t>
            </a:r>
          </a:p>
          <a:p>
            <a:r>
              <a:rPr lang="en-US" altLang="en-US" dirty="0"/>
              <a:t>Metabotropic glutamate receptors: </a:t>
            </a:r>
            <a:r>
              <a:rPr lang="en-US" b="1" dirty="0"/>
              <a:t>mGluR1</a:t>
            </a:r>
            <a:r>
              <a:rPr lang="en-US" dirty="0"/>
              <a:t> to </a:t>
            </a:r>
            <a:r>
              <a:rPr lang="en-US" b="1" dirty="0"/>
              <a:t>mGluR8</a:t>
            </a:r>
          </a:p>
          <a:p>
            <a:pPr lvl="1"/>
            <a:r>
              <a:rPr lang="en-US" altLang="en-US" dirty="0"/>
              <a:t>Group I (mGluR1 and mGluR5) – located </a:t>
            </a:r>
            <a:r>
              <a:rPr lang="en-US" altLang="en-US" dirty="0" err="1"/>
              <a:t>postsynaptically</a:t>
            </a:r>
            <a:r>
              <a:rPr lang="en-US" altLang="en-US" dirty="0"/>
              <a:t>; use the phosphoinositide second-messenger system</a:t>
            </a:r>
          </a:p>
          <a:p>
            <a:pPr lvl="1"/>
            <a:r>
              <a:rPr lang="en-US" altLang="en-US" dirty="0"/>
              <a:t>Group II (mGluR2 and mGluR3)</a:t>
            </a:r>
          </a:p>
          <a:p>
            <a:pPr lvl="1"/>
            <a:r>
              <a:rPr lang="en-US" altLang="en-US" dirty="0"/>
              <a:t>Group III (mGluR4 and mGluR6–8) – located </a:t>
            </a:r>
            <a:r>
              <a:rPr lang="en-US" altLang="en-US" dirty="0" err="1"/>
              <a:t>presynaptically</a:t>
            </a:r>
            <a:r>
              <a:rPr lang="en-US" altLang="en-US" dirty="0"/>
              <a:t>; reduce transmitter release by inhibiting cAMP formation</a:t>
            </a:r>
          </a:p>
          <a:p>
            <a:r>
              <a:rPr lang="en-US" altLang="en-US" b="1" dirty="0"/>
              <a:t>l-AP4</a:t>
            </a:r>
            <a:r>
              <a:rPr lang="en-US" altLang="en-US" dirty="0"/>
              <a:t>: selective agonist at group III glutamate </a:t>
            </a:r>
            <a:r>
              <a:rPr lang="en-US" altLang="en-US" dirty="0" err="1"/>
              <a:t>autoreceptors</a:t>
            </a:r>
            <a:r>
              <a:rPr lang="en-US" altLang="en-US" dirty="0"/>
              <a:t>; suppresses transmission</a:t>
            </a:r>
          </a:p>
        </p:txBody>
      </p:sp>
    </p:spTree>
    <p:extLst>
      <p:ext uri="{BB962C8B-B14F-4D97-AF65-F5344CB8AC3E}">
        <p14:creationId xmlns:p14="http://schemas.microsoft.com/office/powerpoint/2010/main" val="3030869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1EAFA0A-EF81-4435-9F92-D09BFA9BB384}"/>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(7 of 14)</a:t>
            </a:r>
            <a:endParaRPr lang="en-US" dirty="0"/>
          </a:p>
        </p:txBody>
      </p:sp>
      <p:sp>
        <p:nvSpPr>
          <p:cNvPr id="3" name="Text Placeholder 2"/>
          <p:cNvSpPr>
            <a:spLocks noGrp="1"/>
          </p:cNvSpPr>
          <p:nvPr>
            <p:ph idx="1"/>
          </p:nvPr>
        </p:nvSpPr>
        <p:spPr/>
        <p:txBody>
          <a:bodyPr>
            <a:normAutofit fontScale="92500" lnSpcReduction="20000"/>
          </a:bodyPr>
          <a:lstStyle/>
          <a:p>
            <a:pPr marL="0" indent="0">
              <a:spcBef>
                <a:spcPts val="1800"/>
              </a:spcBef>
              <a:buNone/>
            </a:pPr>
            <a:r>
              <a:rPr lang="en-US" sz="2600" u="sng" dirty="0"/>
              <a:t>BOX 8.1  CLINICAL APPLICATIONS</a:t>
            </a:r>
          </a:p>
          <a:p>
            <a:pPr marL="457200" indent="-457200">
              <a:buNone/>
            </a:pPr>
            <a:r>
              <a:rPr lang="en-US" sz="3500" i="1" dirty="0"/>
              <a:t>Fragile X Syndrome and Metabotropic Glutamate Receptor Antagonists: A Contemporary Saga of Translational Medicine</a:t>
            </a:r>
          </a:p>
          <a:p>
            <a:pPr>
              <a:spcBef>
                <a:spcPts val="1800"/>
              </a:spcBef>
            </a:pPr>
            <a:r>
              <a:rPr lang="en-US" dirty="0"/>
              <a:t>Fragile X syndrome is caused by mutations in the </a:t>
            </a:r>
            <a:r>
              <a:rPr lang="en-US" i="1" dirty="0"/>
              <a:t>FMR1</a:t>
            </a:r>
            <a:r>
              <a:rPr lang="en-US" dirty="0"/>
              <a:t> gene on the X chromosome.</a:t>
            </a:r>
          </a:p>
          <a:p>
            <a:pPr>
              <a:spcBef>
                <a:spcPts val="1800"/>
              </a:spcBef>
            </a:pPr>
            <a:r>
              <a:rPr lang="en-US" b="1" dirty="0"/>
              <a:t>Metabotropic glutamate receptor theory</a:t>
            </a:r>
            <a:r>
              <a:rPr lang="en-US" dirty="0"/>
              <a:t>: loss of FMRP causes exaggerated group I </a:t>
            </a:r>
            <a:r>
              <a:rPr lang="en-US" dirty="0" err="1"/>
              <a:t>mGluR</a:t>
            </a:r>
            <a:r>
              <a:rPr lang="en-US" dirty="0"/>
              <a:t>–related functions, leading to dendritic spine abnormalities and elevated rates of LTD.</a:t>
            </a:r>
          </a:p>
          <a:p>
            <a:pPr>
              <a:spcBef>
                <a:spcPts val="1800"/>
              </a:spcBef>
            </a:pPr>
            <a:r>
              <a:rPr lang="en-US" altLang="en-US" dirty="0"/>
              <a:t>An mGluR5 antagonist, </a:t>
            </a:r>
            <a:r>
              <a:rPr lang="en-US" altLang="en-US" b="1" dirty="0"/>
              <a:t>mavoglurant</a:t>
            </a:r>
            <a:r>
              <a:rPr lang="en-US" altLang="en-US" dirty="0"/>
              <a:t>, was developed that worked as predicted in </a:t>
            </a:r>
            <a:r>
              <a:rPr lang="en-US" altLang="en-US" i="1" dirty="0"/>
              <a:t>Fmr1</a:t>
            </a:r>
            <a:r>
              <a:rPr lang="en-US" altLang="en-US" dirty="0"/>
              <a:t>-knockout mice, but not in trials with human patients.</a:t>
            </a:r>
          </a:p>
        </p:txBody>
      </p:sp>
    </p:spTree>
    <p:extLst>
      <p:ext uri="{BB962C8B-B14F-4D97-AF65-F5344CB8AC3E}">
        <p14:creationId xmlns:p14="http://schemas.microsoft.com/office/powerpoint/2010/main" val="844384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A345A-4447-3242-BE97-2A2B03D784F6}"/>
              </a:ext>
            </a:extLst>
          </p:cNvPr>
          <p:cNvSpPr>
            <a:spLocks noGrp="1"/>
          </p:cNvSpPr>
          <p:nvPr>
            <p:ph type="title"/>
          </p:nvPr>
        </p:nvSpPr>
        <p:spPr>
          <a:xfrm>
            <a:off x="0" y="-1"/>
            <a:ext cx="12192000" cy="649706"/>
          </a:xfrm>
        </p:spPr>
        <p:txBody>
          <a:bodyPr/>
          <a:lstStyle/>
          <a:p>
            <a:r>
              <a:rPr lang="en-US" cap="all" dirty="0"/>
              <a:t>Box 8.1  </a:t>
            </a:r>
            <a:r>
              <a:rPr lang="en-US" dirty="0"/>
              <a:t>Clinical Applications: Fragile X Syndrome and Metabotropic Glutamate Receptor Antagonists: </a:t>
            </a:r>
            <a:r>
              <a:rPr lang="en-GB" dirty="0"/>
              <a:t>A Contemporary Saga of Translational Medicine</a:t>
            </a:r>
            <a:endParaRPr lang="en-US" dirty="0"/>
          </a:p>
        </p:txBody>
      </p:sp>
      <p:pic>
        <p:nvPicPr>
          <p:cNvPr id="6" name="Content Placeholder 5" descr="A figure depicts the effects of Glutamate in a normal brain. The glutamate molecules are received by the m G l u R 5 receptor of the postsynaptic region, which contains a positive charge in addition to the negative charge of FMRP and stimulates mRNA translation, resulting in the production of a single protein substance. &#10;&#10;A figure depicts the cause of fragile X syndrome. The glutamate is transferred by m G L U R 5, a positively charged receptor that promotes m R N A translation and results in multiple protein substances. The FMRP is not present in this case.&#10;&#10;A figure depicts the preventive method of excess synthesis of protein. Mavoglurant inhibits m G L U R 5, causing mRNA translation to result in a single protein substance even in the absence of FMRP."/>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199265"/>
            <a:ext cx="11376025" cy="5101748"/>
          </a:xfrm>
        </p:spPr>
      </p:pic>
    </p:spTree>
    <p:extLst>
      <p:ext uri="{BB962C8B-B14F-4D97-AF65-F5344CB8AC3E}">
        <p14:creationId xmlns:p14="http://schemas.microsoft.com/office/powerpoint/2010/main" val="2265838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67103B5-A1F1-4581-ACE6-A50F3B827662}"/>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(8 of 14)</a:t>
            </a:r>
            <a:endParaRPr lang="en-US" dirty="0"/>
          </a:p>
        </p:txBody>
      </p:sp>
      <p:sp>
        <p:nvSpPr>
          <p:cNvPr id="3" name="Text Placeholder 2"/>
          <p:cNvSpPr>
            <a:spLocks noGrp="1"/>
          </p:cNvSpPr>
          <p:nvPr>
            <p:ph idx="1"/>
          </p:nvPr>
        </p:nvSpPr>
        <p:spPr/>
        <p:txBody>
          <a:bodyPr>
            <a:normAutofit/>
          </a:bodyPr>
          <a:lstStyle/>
          <a:p>
            <a:pPr marL="457200" indent="-457200">
              <a:lnSpc>
                <a:spcPct val="80000"/>
              </a:lnSpc>
              <a:spcBef>
                <a:spcPts val="1200"/>
              </a:spcBef>
              <a:buNone/>
            </a:pPr>
            <a:r>
              <a:rPr lang="en-US" altLang="en-US" sz="3200" dirty="0"/>
              <a:t>AMPA and NMDA receptors play a key role in learning and memory</a:t>
            </a:r>
          </a:p>
          <a:p>
            <a:r>
              <a:rPr lang="en-US" altLang="en-US" dirty="0"/>
              <a:t>Positive allosteric modulators of AMPA may be cognitive enhancers; most reduce the rate of receptor deactivation – glutamate can exert a more prolonged excitatory effect</a:t>
            </a:r>
          </a:p>
          <a:p>
            <a:r>
              <a:rPr lang="en-US" altLang="en-US" dirty="0"/>
              <a:t>AMPA receptor positive allosteric modulators have been shown to enhance learning and memory in experimental animals but not in clinical trials.</a:t>
            </a:r>
          </a:p>
        </p:txBody>
      </p:sp>
    </p:spTree>
    <p:extLst>
      <p:ext uri="{BB962C8B-B14F-4D97-AF65-F5344CB8AC3E}">
        <p14:creationId xmlns:p14="http://schemas.microsoft.com/office/powerpoint/2010/main" val="909024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1EEFA5F-267D-444C-B91F-5262C593CA30}"/>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(9 of 14)</a:t>
            </a:r>
            <a:endParaRPr lang="en-US" dirty="0"/>
          </a:p>
        </p:txBody>
      </p:sp>
      <p:sp>
        <p:nvSpPr>
          <p:cNvPr id="3" name="Text Placeholder 2"/>
          <p:cNvSpPr>
            <a:spLocks noGrp="1"/>
          </p:cNvSpPr>
          <p:nvPr>
            <p:ph idx="1"/>
          </p:nvPr>
        </p:nvSpPr>
        <p:spPr/>
        <p:txBody>
          <a:bodyPr>
            <a:normAutofit/>
          </a:bodyPr>
          <a:lstStyle/>
          <a:p>
            <a:pPr marL="457200" indent="-457200">
              <a:lnSpc>
                <a:spcPct val="80000"/>
              </a:lnSpc>
              <a:spcBef>
                <a:spcPts val="1200"/>
              </a:spcBef>
              <a:buNone/>
            </a:pPr>
            <a:r>
              <a:rPr lang="en-US" altLang="en-US" sz="3200" dirty="0"/>
              <a:t>AMPA and NMDA receptors play a key role in learning and memory</a:t>
            </a:r>
          </a:p>
          <a:p>
            <a:r>
              <a:rPr lang="en-US" altLang="en-US" dirty="0"/>
              <a:t>One aspect of </a:t>
            </a:r>
            <a:r>
              <a:rPr lang="en-US" altLang="en-US" b="1" dirty="0"/>
              <a:t>long-term potentiation </a:t>
            </a:r>
            <a:r>
              <a:rPr lang="en-US" altLang="en-US" dirty="0"/>
              <a:t>(</a:t>
            </a:r>
            <a:r>
              <a:rPr lang="en-US" altLang="en-US" b="1" dirty="0"/>
              <a:t>LTP</a:t>
            </a:r>
            <a:r>
              <a:rPr lang="en-US" altLang="en-US" dirty="0"/>
              <a:t>): the coincidence detector feature of NMDA receptors</a:t>
            </a:r>
          </a:p>
          <a:p>
            <a:r>
              <a:rPr lang="en-US" altLang="en-US" dirty="0"/>
              <a:t>In associative learning, repeated pairings of the CS and the US theoretically strengthen the synaptic connections between the CS input neurons and the postsynaptic cells; the latter cells (which express NMDA receptors) are being depolarized at the same time that the nerve terminals of the CS neurons are releasing glutamate. </a:t>
            </a:r>
          </a:p>
        </p:txBody>
      </p:sp>
    </p:spTree>
    <p:extLst>
      <p:ext uri="{BB962C8B-B14F-4D97-AF65-F5344CB8AC3E}">
        <p14:creationId xmlns:p14="http://schemas.microsoft.com/office/powerpoint/2010/main" val="2178231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2862C-A9DA-F044-B3D4-E38011A7494E}"/>
              </a:ext>
            </a:extLst>
          </p:cNvPr>
          <p:cNvSpPr>
            <a:spLocks noGrp="1"/>
          </p:cNvSpPr>
          <p:nvPr>
            <p:ph type="title"/>
          </p:nvPr>
        </p:nvSpPr>
        <p:spPr/>
        <p:txBody>
          <a:bodyPr/>
          <a:lstStyle/>
          <a:p>
            <a:r>
              <a:rPr lang="en-US" cap="all" dirty="0"/>
              <a:t>FIGURE 8.7</a:t>
            </a:r>
            <a:r>
              <a:rPr lang="en-US" dirty="0"/>
              <a:t>  A hypothesized role for NMDA receptors in associative learning </a:t>
            </a:r>
          </a:p>
        </p:txBody>
      </p:sp>
      <p:pic>
        <p:nvPicPr>
          <p:cNvPr id="6" name="Content Placeholder 5" descr="A figure depicts the transfer of glutamate molecules, which are transferred separately by C S via weak synaptic connections and U S via strong synaptic connections and are received by the receptors of two U S.&#10;&#10;A figure depicts the transfer of glutamate, in which the molecules from C S and U S are transferred together to the receptor of U S via weak and strong synaptic connections.&#10;&#10;A figure depicts the transfer of Glutamate, where both C S and U S have strong synaptic connections and the molecules are transmitted by C S to the receptor of U 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808657"/>
            <a:ext cx="11376025" cy="3642323"/>
          </a:xfrm>
        </p:spPr>
      </p:pic>
    </p:spTree>
    <p:extLst>
      <p:ext uri="{BB962C8B-B14F-4D97-AF65-F5344CB8AC3E}">
        <p14:creationId xmlns:p14="http://schemas.microsoft.com/office/powerpoint/2010/main" val="2928428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EF280BD-9E0A-4CA8-91B2-D55BBD90B4D0}"/>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(10 of 14)</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80000"/>
              </a:lnSpc>
              <a:spcBef>
                <a:spcPts val="1200"/>
              </a:spcBef>
              <a:buNone/>
            </a:pPr>
            <a:r>
              <a:rPr lang="en-US" altLang="en-US" sz="3200" dirty="0"/>
              <a:t>AMPA and NMDA receptors play a key role in learning and memory</a:t>
            </a:r>
          </a:p>
          <a:p>
            <a:r>
              <a:rPr lang="en-US" altLang="en-US" dirty="0"/>
              <a:t>Long-term potentiation (LTP): persistent increase in synaptic strength produced by a burst of activity in the presynaptic neuron; experimentally produced by </a:t>
            </a:r>
            <a:r>
              <a:rPr lang="en-US" altLang="en-US" b="1" dirty="0"/>
              <a:t>tetanic stimulus</a:t>
            </a:r>
          </a:p>
          <a:p>
            <a:r>
              <a:rPr lang="en-US" altLang="en-US" dirty="0"/>
              <a:t>CA1 hippocampal LTP: </a:t>
            </a:r>
            <a:r>
              <a:rPr lang="en-US" altLang="en-US" b="1" dirty="0"/>
              <a:t>early LTP </a:t>
            </a:r>
            <a:r>
              <a:rPr lang="en-US" altLang="en-US" dirty="0"/>
              <a:t>(</a:t>
            </a:r>
            <a:r>
              <a:rPr lang="en-US" altLang="en-US" b="1" dirty="0"/>
              <a:t>E-LTP</a:t>
            </a:r>
            <a:r>
              <a:rPr lang="en-US" altLang="en-US" dirty="0"/>
              <a:t>) lasts a few hours; </a:t>
            </a:r>
            <a:r>
              <a:rPr lang="en-US" altLang="en-US" b="1" dirty="0"/>
              <a:t>late LTP</a:t>
            </a:r>
            <a:r>
              <a:rPr lang="en-US" altLang="en-US" dirty="0"/>
              <a:t> (</a:t>
            </a:r>
            <a:r>
              <a:rPr lang="en-US" altLang="en-US" b="1" dirty="0"/>
              <a:t>L-LTP</a:t>
            </a:r>
            <a:r>
              <a:rPr lang="en-US" altLang="en-US" dirty="0"/>
              <a:t>) lasts days or months</a:t>
            </a:r>
          </a:p>
          <a:p>
            <a:r>
              <a:rPr lang="en-US" altLang="en-US" dirty="0"/>
              <a:t>E-LTP is studied using hippocampal slices; activation of NMDA receptor is necessary for induction of hippocampal LTP</a:t>
            </a:r>
          </a:p>
        </p:txBody>
      </p:sp>
    </p:spTree>
    <p:extLst>
      <p:ext uri="{BB962C8B-B14F-4D97-AF65-F5344CB8AC3E}">
        <p14:creationId xmlns:p14="http://schemas.microsoft.com/office/powerpoint/2010/main" val="578831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FFD84-3752-8545-A70F-04EE3A4D6EBF}"/>
              </a:ext>
            </a:extLst>
          </p:cNvPr>
          <p:cNvSpPr>
            <a:spLocks noGrp="1"/>
          </p:cNvSpPr>
          <p:nvPr>
            <p:ph type="title"/>
          </p:nvPr>
        </p:nvSpPr>
        <p:spPr/>
        <p:txBody>
          <a:bodyPr/>
          <a:lstStyle/>
          <a:p>
            <a:r>
              <a:rPr lang="en-US" cap="all" dirty="0"/>
              <a:t>FIGURE 8.8</a:t>
            </a:r>
            <a:r>
              <a:rPr lang="en-US" dirty="0"/>
              <a:t>  Long-term potentiation of synaptic transmission </a:t>
            </a:r>
          </a:p>
        </p:txBody>
      </p:sp>
      <p:pic>
        <p:nvPicPr>
          <p:cNvPr id="6" name="Content Placeholder 5" descr="An illustration depicts the long-term potentiation of synaptic transmission. A closer view of the hippocampus is displayed. The right lateral portion is designated C A 1, and it has a C A 1 pyramidal cell on its surface. The left lateral section is labeled C A 3, and it contains the C A 3 pyramidal cell. The granule cell is located at the basal surface of the dentate gyrus. The passage from the entorhinal cortex to the granule cell is labeled as a perforant path. The mossy fibers extend from the granule cell to the C A 3 pyramidal cell, from which the schaffer collaterals extend to the C A 1 pyramidal cell."/>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521281" y="479425"/>
            <a:ext cx="5149439" cy="6300788"/>
          </a:xfrm>
        </p:spPr>
      </p:pic>
    </p:spTree>
    <p:extLst>
      <p:ext uri="{BB962C8B-B14F-4D97-AF65-F5344CB8AC3E}">
        <p14:creationId xmlns:p14="http://schemas.microsoft.com/office/powerpoint/2010/main" val="68576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415D-13CB-734A-B717-82F4AB96667C}"/>
              </a:ext>
            </a:extLst>
          </p:cNvPr>
          <p:cNvSpPr>
            <a:spLocks noGrp="1"/>
          </p:cNvSpPr>
          <p:nvPr>
            <p:ph type="title"/>
          </p:nvPr>
        </p:nvSpPr>
        <p:spPr/>
        <p:txBody>
          <a:bodyPr/>
          <a:lstStyle/>
          <a:p>
            <a:r>
              <a:rPr lang="en-US" cap="all" dirty="0"/>
              <a:t>FIGURE 8.9</a:t>
            </a:r>
            <a:r>
              <a:rPr lang="en-US" dirty="0"/>
              <a:t>  Induction of long-term potentiation </a:t>
            </a:r>
          </a:p>
        </p:txBody>
      </p:sp>
      <p:pic>
        <p:nvPicPr>
          <p:cNvPr id="6" name="Content Placeholder 5" descr="A two-part illustration depicts the transfer of Glutamate by single stimulus and tetanic stimulus. The glutamate molecules from the presynaptic nerve terminal vesicles bind to the A M P A and N M D A receptors. N a plus molecules are carried to the dendritic spine of postsynaptic neurons by the A M P A receptor, whereas M g 2 plus molecules are carried via the N M D A receptor, signifying a single stimulus. The glutamate molecules from the presynaptic nerve terminal bind to the depolarized postsynaptic membrane's A M P A and N M D A receptors. In this case, N a plus molecules are transported by the A M P A receptor, whereas C a 2 plus and M g 2 plus molecules are transmitted via the N M D A receptor, signifying a tetanic stimulation. C a 2 plus is denoted as LTP in this case.&#10;&#10;A trend graph depicts the EPSP membrane potential with respect to time. The horizontal axis represents time in milliseconds ranging between 0 and 100. The vertical axis represents EPSP membrane potential in millivolts ranging between negative 50 and negative 65. The trend for stimulus before tetanus, passes through the following approximated points. (0, negative 60), (25, negative 58), (30, negative 56), (50, negative 58), (75, negative 60), and (100, negative 60). The trend for stimulus after tetanus, passes through the following approximated points. (0, negative 60), (25, negative 55), (30, negative 52), (50, negative 56), (75, negative 58), and (100, negative 60). The stimulus is marked at the point (20, negative 6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253577"/>
            <a:ext cx="11376025" cy="4752484"/>
          </a:xfrm>
        </p:spPr>
      </p:pic>
    </p:spTree>
    <p:extLst>
      <p:ext uri="{BB962C8B-B14F-4D97-AF65-F5344CB8AC3E}">
        <p14:creationId xmlns:p14="http://schemas.microsoft.com/office/powerpoint/2010/main" val="16944603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F60CE57-FDED-4FA1-A686-7D52EE457E4A}"/>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(11 of 14)</a:t>
            </a:r>
            <a:endParaRPr lang="en-US" dirty="0"/>
          </a:p>
        </p:txBody>
      </p:sp>
      <p:sp>
        <p:nvSpPr>
          <p:cNvPr id="3" name="Text Placeholder 2"/>
          <p:cNvSpPr>
            <a:spLocks noGrp="1"/>
          </p:cNvSpPr>
          <p:nvPr>
            <p:ph idx="1"/>
          </p:nvPr>
        </p:nvSpPr>
        <p:spPr>
          <a:xfrm>
            <a:off x="609600" y="1792465"/>
            <a:ext cx="10972800" cy="4725581"/>
          </a:xfrm>
        </p:spPr>
        <p:txBody>
          <a:bodyPr>
            <a:normAutofit fontScale="92500" lnSpcReduction="20000"/>
          </a:bodyPr>
          <a:lstStyle/>
          <a:p>
            <a:pPr marL="457200" indent="-457200">
              <a:lnSpc>
                <a:spcPct val="90000"/>
              </a:lnSpc>
              <a:spcBef>
                <a:spcPts val="1200"/>
              </a:spcBef>
              <a:buNone/>
            </a:pPr>
            <a:r>
              <a:rPr lang="en-US" altLang="en-US" sz="3500" dirty="0"/>
              <a:t>AMPA and NMDA receptors play a key role in learning and memory</a:t>
            </a:r>
          </a:p>
          <a:p>
            <a:r>
              <a:rPr lang="en-US" altLang="en-US" dirty="0"/>
              <a:t>E-LTP </a:t>
            </a:r>
            <a:r>
              <a:rPr lang="en-US" altLang="en-US" b="1" dirty="0"/>
              <a:t>induction phase</a:t>
            </a:r>
            <a:r>
              <a:rPr lang="en-US" altLang="en-US" dirty="0"/>
              <a:t>: during and immediately after tetanic stimulation; NMDA receptors have a critical role</a:t>
            </a:r>
          </a:p>
          <a:p>
            <a:r>
              <a:rPr lang="en-US" altLang="en-US" b="1" dirty="0"/>
              <a:t>Expression phase</a:t>
            </a:r>
            <a:r>
              <a:rPr lang="en-US" altLang="en-US" dirty="0"/>
              <a:t>: the resulting increase in synaptic strength can be measured</a:t>
            </a:r>
          </a:p>
          <a:p>
            <a:r>
              <a:rPr lang="en-US" altLang="en-US" dirty="0"/>
              <a:t>Postsynaptic Ca</a:t>
            </a:r>
            <a:r>
              <a:rPr lang="en-US" altLang="en-US" baseline="30000" dirty="0"/>
              <a:t>2+ </a:t>
            </a:r>
            <a:r>
              <a:rPr lang="en-US" altLang="en-US" dirty="0"/>
              <a:t>influx and CaMKII activation cause rapid expansion of dendritic spines and insertion of more AMPA receptors into the spine membrane – a form of </a:t>
            </a:r>
            <a:r>
              <a:rPr lang="en-US" altLang="en-US" b="1" dirty="0"/>
              <a:t>receptor trafficking</a:t>
            </a:r>
          </a:p>
          <a:p>
            <a:r>
              <a:rPr lang="en-US" altLang="en-US" dirty="0"/>
              <a:t>E-LTP converts silent synapses (NMDA receptors only) to functional by trafficking AMPA receptors into the spine</a:t>
            </a:r>
          </a:p>
        </p:txBody>
      </p:sp>
    </p:spTree>
    <p:extLst>
      <p:ext uri="{BB962C8B-B14F-4D97-AF65-F5344CB8AC3E}">
        <p14:creationId xmlns:p14="http://schemas.microsoft.com/office/powerpoint/2010/main" val="4066861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01391-795D-D44A-A4A9-986EC4708316}"/>
              </a:ext>
            </a:extLst>
          </p:cNvPr>
          <p:cNvSpPr>
            <a:spLocks noGrp="1"/>
          </p:cNvSpPr>
          <p:nvPr>
            <p:ph type="title"/>
          </p:nvPr>
        </p:nvSpPr>
        <p:spPr/>
        <p:txBody>
          <a:bodyPr/>
          <a:lstStyle/>
          <a:p>
            <a:r>
              <a:rPr lang="en-US" cap="all" dirty="0"/>
              <a:t>FIGURE 8.10</a:t>
            </a:r>
            <a:r>
              <a:rPr lang="en-US" dirty="0"/>
              <a:t>  The underlying mechanism </a:t>
            </a:r>
          </a:p>
        </p:txBody>
      </p:sp>
      <p:pic>
        <p:nvPicPr>
          <p:cNvPr id="6" name="Content Placeholder 5" descr="An illustration depicts the underlying mechanism in the postsynaptic cell. The glutamate released from the presynaptic terminal binds to the A M P A and N M D A receptors. The N a plus and C a plus molecules are transferred by A M P A and N M D A, whereas the C a 2 plus molecules are transferred via N M D A. Calcium or calmodulin kinase two, along with other protein kinases, combines to generate extra A M P A receptors in the postsynaptic neuron's dendritic spin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230281" y="479425"/>
            <a:ext cx="5731439" cy="6300788"/>
          </a:xfrm>
        </p:spPr>
      </p:pic>
    </p:spTree>
    <p:extLst>
      <p:ext uri="{BB962C8B-B14F-4D97-AF65-F5344CB8AC3E}">
        <p14:creationId xmlns:p14="http://schemas.microsoft.com/office/powerpoint/2010/main" val="4106338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A3BD6-A5D4-074C-A648-FB80712E8494}"/>
              </a:ext>
            </a:extLst>
          </p:cNvPr>
          <p:cNvSpPr>
            <a:spLocks noGrp="1"/>
          </p:cNvSpPr>
          <p:nvPr>
            <p:ph type="title"/>
          </p:nvPr>
        </p:nvSpPr>
        <p:spPr/>
        <p:txBody>
          <a:bodyPr/>
          <a:lstStyle/>
          <a:p>
            <a:r>
              <a:rPr lang="en-US" cap="all" dirty="0"/>
              <a:t>FIGURE 8.12</a:t>
            </a:r>
            <a:r>
              <a:rPr lang="en-US" dirty="0"/>
              <a:t>  Conversion of a silent to a functional synapse by LTP </a:t>
            </a:r>
          </a:p>
        </p:txBody>
      </p:sp>
      <p:pic>
        <p:nvPicPr>
          <p:cNvPr id="6" name="Content Placeholder 5" descr="A figure depicts a neuron before LTP. The N M D A receptors are located in the dendritic spine area of the postsynaptic region, while the A M P A receptors are located in the lateral and central parts of the postsynaptic region.&#10;&#10;A figure depicts a neuron after LTP. On the dendritic spine area, the N M D A and A M P A receptors are aligned one beside the other in alternating pattern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085182"/>
            <a:ext cx="11376025" cy="5089274"/>
          </a:xfrm>
        </p:spPr>
      </p:pic>
    </p:spTree>
    <p:extLst>
      <p:ext uri="{BB962C8B-B14F-4D97-AF65-F5344CB8AC3E}">
        <p14:creationId xmlns:p14="http://schemas.microsoft.com/office/powerpoint/2010/main" val="3894361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1B8DB69-B5FC-446D-B2C2-7F5D6749D032}"/>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(12 of 14)</a:t>
            </a:r>
            <a:endParaRPr lang="en-US" dirty="0"/>
          </a:p>
        </p:txBody>
      </p:sp>
      <p:sp>
        <p:nvSpPr>
          <p:cNvPr id="3" name="Text Placeholder 2"/>
          <p:cNvSpPr>
            <a:spLocks noGrp="1"/>
          </p:cNvSpPr>
          <p:nvPr>
            <p:ph idx="1"/>
          </p:nvPr>
        </p:nvSpPr>
        <p:spPr/>
        <p:txBody>
          <a:bodyPr>
            <a:normAutofit/>
          </a:bodyPr>
          <a:lstStyle/>
          <a:p>
            <a:pPr marL="457200" indent="-457200">
              <a:lnSpc>
                <a:spcPct val="80000"/>
              </a:lnSpc>
              <a:spcBef>
                <a:spcPts val="1200"/>
              </a:spcBef>
              <a:buNone/>
            </a:pPr>
            <a:r>
              <a:rPr lang="en-US" altLang="en-US" sz="3200" dirty="0"/>
              <a:t>High levels of glutamate can be toxic to nerve cells</a:t>
            </a:r>
          </a:p>
          <a:p>
            <a:r>
              <a:rPr lang="en-US" altLang="en-US" b="1" dirty="0"/>
              <a:t>Excitotoxicity hypothesis</a:t>
            </a:r>
            <a:r>
              <a:rPr lang="en-US" altLang="en-US" dirty="0"/>
              <a:t>: excessive exposure to glutamate causes prolonged depolarization of receptive neurons that leads to their damage or death.</a:t>
            </a:r>
          </a:p>
          <a:p>
            <a:r>
              <a:rPr lang="en-US" altLang="en-US" b="1" dirty="0"/>
              <a:t>Excitotoxic lesions </a:t>
            </a:r>
            <a:r>
              <a:rPr lang="en-US" altLang="en-US" dirty="0"/>
              <a:t>are selective: kills nerve cells but spares fibers of passage</a:t>
            </a:r>
          </a:p>
          <a:p>
            <a:r>
              <a:rPr lang="en-US" altLang="en-US" dirty="0"/>
              <a:t>Cell death can occur by </a:t>
            </a:r>
            <a:r>
              <a:rPr lang="en-US" altLang="en-US" b="1" dirty="0"/>
              <a:t>necrosis</a:t>
            </a:r>
            <a:r>
              <a:rPr lang="en-US" altLang="en-US" dirty="0"/>
              <a:t>, characterized by </a:t>
            </a:r>
            <a:r>
              <a:rPr lang="en-US" altLang="en-US" b="1" dirty="0"/>
              <a:t>lysis</a:t>
            </a:r>
            <a:r>
              <a:rPr lang="en-US" altLang="en-US" dirty="0"/>
              <a:t>, or by </a:t>
            </a:r>
            <a:r>
              <a:rPr lang="en-US" altLang="en-US" b="1" dirty="0"/>
              <a:t>programmed cell death </a:t>
            </a:r>
            <a:r>
              <a:rPr lang="en-US" altLang="en-US" dirty="0"/>
              <a:t>(</a:t>
            </a:r>
            <a:r>
              <a:rPr lang="en-US" altLang="en-US" b="1" dirty="0"/>
              <a:t>apoptosis</a:t>
            </a:r>
            <a:r>
              <a:rPr lang="en-US" altLang="en-US" dirty="0"/>
              <a:t> or </a:t>
            </a:r>
            <a:r>
              <a:rPr lang="en-US" altLang="en-US" b="1" dirty="0"/>
              <a:t>necroptosis</a:t>
            </a:r>
            <a:r>
              <a:rPr lang="en-US" altLang="en-US" dirty="0"/>
              <a:t>)</a:t>
            </a:r>
          </a:p>
        </p:txBody>
      </p:sp>
    </p:spTree>
    <p:extLst>
      <p:ext uri="{BB962C8B-B14F-4D97-AF65-F5344CB8AC3E}">
        <p14:creationId xmlns:p14="http://schemas.microsoft.com/office/powerpoint/2010/main" val="1114292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E14A6-F468-4842-A8E3-AAE4E076A207}"/>
              </a:ext>
            </a:extLst>
          </p:cNvPr>
          <p:cNvSpPr>
            <a:spLocks noGrp="1"/>
          </p:cNvSpPr>
          <p:nvPr>
            <p:ph type="title"/>
          </p:nvPr>
        </p:nvSpPr>
        <p:spPr/>
        <p:txBody>
          <a:bodyPr/>
          <a:lstStyle/>
          <a:p>
            <a:r>
              <a:rPr lang="en-US" cap="all" dirty="0"/>
              <a:t>FIGURE 8.13</a:t>
            </a:r>
            <a:r>
              <a:rPr lang="en-US" dirty="0"/>
              <a:t>  Cell death by necrosis versus apoptosis </a:t>
            </a:r>
          </a:p>
        </p:txBody>
      </p:sp>
      <p:pic>
        <p:nvPicPr>
          <p:cNvPr id="6" name="Content Placeholder 5" descr="An illustration depicts the comparison of cell death by Necrosis and Apoptosis. Necrosis is characterized by the production of blebs on the outer surfaces of normal cells, followed by the formation of holes in the cell membrane, which results in cellular disintegration. Apoptosis occurs when chromatin condenses within the nucleus and is engulfed by a phagocyte, resulting in a dead cell."/>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463869" y="479425"/>
            <a:ext cx="3264263" cy="6300788"/>
          </a:xfrm>
        </p:spPr>
      </p:pic>
    </p:spTree>
    <p:extLst>
      <p:ext uri="{BB962C8B-B14F-4D97-AF65-F5344CB8AC3E}">
        <p14:creationId xmlns:p14="http://schemas.microsoft.com/office/powerpoint/2010/main" val="804416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470D94-D062-4D76-8119-438804231874}"/>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(13 of 14)</a:t>
            </a:r>
            <a:endParaRPr lang="en-US" dirty="0"/>
          </a:p>
        </p:txBody>
      </p:sp>
      <p:sp>
        <p:nvSpPr>
          <p:cNvPr id="3" name="Text Placeholder 2"/>
          <p:cNvSpPr>
            <a:spLocks noGrp="1"/>
          </p:cNvSpPr>
          <p:nvPr>
            <p:ph idx="1"/>
          </p:nvPr>
        </p:nvSpPr>
        <p:spPr/>
        <p:txBody>
          <a:bodyPr>
            <a:normAutofit/>
          </a:bodyPr>
          <a:lstStyle/>
          <a:p>
            <a:pPr marL="457200" indent="-457200">
              <a:lnSpc>
                <a:spcPct val="80000"/>
              </a:lnSpc>
              <a:spcBef>
                <a:spcPts val="1200"/>
              </a:spcBef>
              <a:buNone/>
            </a:pPr>
            <a:r>
              <a:rPr lang="en-US" altLang="en-US" sz="3200" dirty="0"/>
              <a:t>High levels of glutamate can be toxic to nerve cells</a:t>
            </a:r>
          </a:p>
          <a:p>
            <a:r>
              <a:rPr lang="en-US" altLang="en-US" dirty="0"/>
              <a:t>Monosodium glutamate (MSG) does not increase glutamate levels in the brain because it can’t cross the blood-brain barrier</a:t>
            </a:r>
          </a:p>
          <a:p>
            <a:r>
              <a:rPr lang="en-US" altLang="en-US" dirty="0"/>
              <a:t>In humans, excitotoxic cell death can be caused by food contaminated with the algal toxin domoic acid.</a:t>
            </a:r>
          </a:p>
          <a:p>
            <a:r>
              <a:rPr lang="en-US" altLang="en-US" dirty="0"/>
              <a:t>Excitotoxic cell death may contribute to brain damage that occurs with strokes and brain injuries, mediated by Ca</a:t>
            </a:r>
            <a:r>
              <a:rPr lang="en-US" altLang="en-US" baseline="30000" dirty="0"/>
              <a:t>2+</a:t>
            </a:r>
            <a:r>
              <a:rPr lang="en-US" altLang="en-US" dirty="0"/>
              <a:t> entry through </a:t>
            </a:r>
            <a:r>
              <a:rPr lang="en-US" altLang="en-US" dirty="0" err="1"/>
              <a:t>extrasynaptic</a:t>
            </a:r>
            <a:r>
              <a:rPr lang="en-US" altLang="en-US" dirty="0"/>
              <a:t> NMDA receptors containing GluN2B subunits.</a:t>
            </a:r>
          </a:p>
        </p:txBody>
      </p:sp>
    </p:spTree>
    <p:extLst>
      <p:ext uri="{BB962C8B-B14F-4D97-AF65-F5344CB8AC3E}">
        <p14:creationId xmlns:p14="http://schemas.microsoft.com/office/powerpoint/2010/main" val="1904456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FD46250-AE27-457F-BE73-97E8A3BBDFFC}"/>
              </a:ext>
            </a:extLst>
          </p:cNvPr>
          <p:cNvSpPr>
            <a:spLocks noGrp="1"/>
          </p:cNvSpPr>
          <p:nvPr>
            <p:ph type="title"/>
          </p:nvPr>
        </p:nvSpPr>
        <p:spPr>
          <a:xfrm>
            <a:off x="448573" y="274638"/>
            <a:ext cx="11294854" cy="1143000"/>
          </a:xfrm>
        </p:spPr>
        <p:txBody>
          <a:bodyPr>
            <a:normAutofit/>
          </a:bodyPr>
          <a:lstStyle/>
          <a:p>
            <a:r>
              <a:rPr lang="en-US" sz="3600" dirty="0"/>
              <a:t>Organization and Function of the Glutamatergic System </a:t>
            </a:r>
            <a:br>
              <a:rPr lang="en-US" sz="3600" dirty="0"/>
            </a:br>
            <a:r>
              <a:rPr lang="en-US" sz="1200" dirty="0"/>
              <a:t>(14 of 14)</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2</a:t>
            </a:r>
          </a:p>
          <a:p>
            <a:pPr marL="457200" indent="-457200">
              <a:spcBef>
                <a:spcPts val="2400"/>
              </a:spcBef>
              <a:buNone/>
            </a:pPr>
            <a:r>
              <a:rPr lang="en-US" sz="3200" dirty="0"/>
              <a:t>Glycine and </a:t>
            </a:r>
            <a:r>
              <a:rPr lang="en-US" sz="3200" cap="small" dirty="0"/>
              <a:t>d</a:t>
            </a:r>
            <a:r>
              <a:rPr lang="en-US" sz="3200" dirty="0"/>
              <a:t>-serine are co-agonists with glutamate at _______ receptors.</a:t>
            </a:r>
          </a:p>
          <a:p>
            <a:pPr marL="914400" indent="-457200">
              <a:spcBef>
                <a:spcPts val="1200"/>
              </a:spcBef>
              <a:buFont typeface="Arial" pitchFamily="34" charset="0"/>
              <a:buAutoNum type="alphaLcPeriod"/>
            </a:pPr>
            <a:r>
              <a:rPr lang="en-US" altLang="en-US" sz="3200" dirty="0"/>
              <a:t>mGluR5</a:t>
            </a:r>
          </a:p>
          <a:p>
            <a:pPr marL="914400" indent="-457200">
              <a:spcBef>
                <a:spcPts val="1200"/>
              </a:spcBef>
              <a:buFont typeface="Arial" pitchFamily="34" charset="0"/>
              <a:buAutoNum type="alphaLcPeriod"/>
            </a:pPr>
            <a:r>
              <a:rPr lang="en-US" sz="3200" dirty="0" err="1"/>
              <a:t>kianate</a:t>
            </a:r>
            <a:endParaRPr lang="en-US" sz="3200" dirty="0"/>
          </a:p>
          <a:p>
            <a:pPr marL="914400" indent="-457200">
              <a:spcBef>
                <a:spcPts val="1200"/>
              </a:spcBef>
              <a:buFont typeface="Arial" pitchFamily="34" charset="0"/>
              <a:buAutoNum type="alphaLcPeriod"/>
            </a:pPr>
            <a:r>
              <a:rPr lang="en-US" sz="3200" dirty="0"/>
              <a:t>AMPA</a:t>
            </a:r>
          </a:p>
          <a:p>
            <a:pPr marL="914400" indent="-457200">
              <a:spcBef>
                <a:spcPts val="1200"/>
              </a:spcBef>
              <a:buFont typeface="Arial" pitchFamily="34" charset="0"/>
              <a:buAutoNum type="alphaLcPeriod"/>
            </a:pPr>
            <a:r>
              <a:rPr lang="en-US" sz="3200" dirty="0"/>
              <a:t>NMDA</a:t>
            </a:r>
          </a:p>
        </p:txBody>
      </p:sp>
    </p:spTree>
    <p:extLst>
      <p:ext uri="{BB962C8B-B14F-4D97-AF65-F5344CB8AC3E}">
        <p14:creationId xmlns:p14="http://schemas.microsoft.com/office/powerpoint/2010/main" val="3204266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(2 of 4)</a:t>
            </a:r>
            <a:endParaRPr lang="en-US" sz="1300" dirty="0"/>
          </a:p>
        </p:txBody>
      </p:sp>
      <p:sp>
        <p:nvSpPr>
          <p:cNvPr id="3" name="Text Placeholder 2"/>
          <p:cNvSpPr>
            <a:spLocks noGrp="1"/>
          </p:cNvSpPr>
          <p:nvPr>
            <p:ph idx="1"/>
          </p:nvPr>
        </p:nvSpPr>
        <p:spPr/>
        <p:txBody>
          <a:bodyPr>
            <a:normAutofit fontScale="70000" lnSpcReduction="20000"/>
          </a:bodyPr>
          <a:lstStyle/>
          <a:p>
            <a:pPr marL="914400" indent="-914400">
              <a:lnSpc>
                <a:spcPct val="120000"/>
              </a:lnSpc>
              <a:buNone/>
            </a:pPr>
            <a:r>
              <a:rPr lang="en-US" dirty="0"/>
              <a:t>8.2.1  (a) Describe the structure (including subunit composition) and function of the three types of ionotropic glutamate receptors, and (b) list the major agonists and antagonists for these receptors, including whether a given antagonist is competitive or uncompetitive.</a:t>
            </a:r>
          </a:p>
          <a:p>
            <a:pPr marL="914400" indent="-914400">
              <a:lnSpc>
                <a:spcPct val="120000"/>
              </a:lnSpc>
              <a:buNone/>
            </a:pPr>
            <a:r>
              <a:rPr lang="en-US" dirty="0"/>
              <a:t>8.2.2  (a) Describe the features (including groupings) of the metabotropic glutamate receptors, and (b) discuss evidence for a role for mGluR5 in fragile X syndrome.</a:t>
            </a:r>
          </a:p>
          <a:p>
            <a:pPr marL="914400" indent="-914400">
              <a:lnSpc>
                <a:spcPct val="120000"/>
              </a:lnSpc>
              <a:buNone/>
            </a:pPr>
            <a:r>
              <a:rPr lang="en-US" dirty="0"/>
              <a:t>8.2.3  Discuss the properties of long-term potentiation (LTP), the role of glutamate receptors in LTP induction and expression, and the proposed relationship between LTP and learning and memory processes.</a:t>
            </a:r>
          </a:p>
          <a:p>
            <a:pPr marL="914400" indent="-914400">
              <a:lnSpc>
                <a:spcPct val="120000"/>
              </a:lnSpc>
              <a:buNone/>
            </a:pPr>
            <a:r>
              <a:rPr lang="en-US" dirty="0"/>
              <a:t>8.2.4  (a) Describe three types of cell death in the brain, (b) the mechanisms of cell death by glutamate </a:t>
            </a:r>
            <a:r>
              <a:rPr lang="en-US" dirty="0" err="1"/>
              <a:t>excitoxicity</a:t>
            </a:r>
            <a:r>
              <a:rPr lang="en-US" dirty="0"/>
              <a:t>, and (c) how excitotoxic cell death may contribute to several nervous system disorders.</a:t>
            </a:r>
          </a:p>
        </p:txBody>
      </p:sp>
    </p:spTree>
    <p:extLst>
      <p:ext uri="{BB962C8B-B14F-4D97-AF65-F5344CB8AC3E}">
        <p14:creationId xmlns:p14="http://schemas.microsoft.com/office/powerpoint/2010/main" val="3063383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573" y="274638"/>
            <a:ext cx="11294854" cy="1143000"/>
          </a:xfrm>
        </p:spPr>
        <p:txBody>
          <a:bodyPr>
            <a:normAutofit/>
          </a:bodyPr>
          <a:lstStyle/>
          <a:p>
            <a:r>
              <a:rPr lang="en-US" dirty="0"/>
              <a:t>GABA Synthesis, Release, and Inactivation </a:t>
            </a:r>
            <a:r>
              <a:rPr lang="en-US" sz="1200" dirty="0"/>
              <a:t>(1 of 5)</a:t>
            </a:r>
            <a:endParaRPr lang="en-US" dirty="0"/>
          </a:p>
        </p:txBody>
      </p:sp>
      <p:sp>
        <p:nvSpPr>
          <p:cNvPr id="3" name="Text Placeholder 2"/>
          <p:cNvSpPr>
            <a:spLocks noGrp="1"/>
          </p:cNvSpPr>
          <p:nvPr>
            <p:ph idx="1"/>
          </p:nvPr>
        </p:nvSpPr>
        <p:spPr/>
        <p:txBody>
          <a:bodyPr>
            <a:normAutofit/>
          </a:bodyPr>
          <a:lstStyle/>
          <a:p>
            <a:pPr marL="457200" indent="-457200">
              <a:buNone/>
            </a:pPr>
            <a:r>
              <a:rPr lang="en-US" altLang="en-US" sz="3200" dirty="0"/>
              <a:t>GABA is synthesized by the enzyme glutamic acid decarboxylase</a:t>
            </a:r>
          </a:p>
          <a:p>
            <a:r>
              <a:rPr lang="en-US" b="1" dirty="0"/>
              <a:t>GABA</a:t>
            </a:r>
            <a:r>
              <a:rPr lang="en-US" dirty="0"/>
              <a:t> (</a:t>
            </a:r>
            <a:r>
              <a:rPr lang="el-GR" b="1" dirty="0">
                <a:latin typeface="PalatinoLT-Roman"/>
              </a:rPr>
              <a:t>γ</a:t>
            </a:r>
            <a:r>
              <a:rPr lang="en-US" b="1" dirty="0"/>
              <a:t>-aminobutyric acid</a:t>
            </a:r>
            <a:r>
              <a:rPr lang="en-US" dirty="0"/>
              <a:t>) major inhibitory amino acid transmitter; manufactured only by GABAergic neurons; has a critical role in regulating brain excitability. </a:t>
            </a:r>
          </a:p>
          <a:p>
            <a:r>
              <a:rPr lang="en-US" altLang="en-US" dirty="0"/>
              <a:t>Synthesized from glutamate in one step by </a:t>
            </a:r>
            <a:r>
              <a:rPr lang="en-US" altLang="en-US" b="1" dirty="0"/>
              <a:t>glutamic acid decarboxylase </a:t>
            </a:r>
            <a:r>
              <a:rPr lang="en-US" altLang="en-US" dirty="0"/>
              <a:t>(</a:t>
            </a:r>
            <a:r>
              <a:rPr lang="en-US" altLang="en-US" b="1" dirty="0"/>
              <a:t>GAD</a:t>
            </a:r>
            <a:r>
              <a:rPr lang="en-US" altLang="en-US" dirty="0"/>
              <a:t>)</a:t>
            </a:r>
          </a:p>
          <a:p>
            <a:r>
              <a:rPr lang="en-US" b="1" dirty="0"/>
              <a:t>Allylglycine</a:t>
            </a:r>
            <a:r>
              <a:rPr lang="en-US" dirty="0"/>
              <a:t>, </a:t>
            </a:r>
            <a:r>
              <a:rPr lang="en-US" b="1" dirty="0" err="1"/>
              <a:t>thiosemicarbazide</a:t>
            </a:r>
            <a:r>
              <a:rPr lang="en-US" dirty="0"/>
              <a:t>, and </a:t>
            </a:r>
            <a:r>
              <a:rPr lang="en-US" b="1" dirty="0"/>
              <a:t>3-mercaptopropionic</a:t>
            </a:r>
            <a:r>
              <a:rPr lang="en-US" dirty="0"/>
              <a:t> </a:t>
            </a:r>
            <a:r>
              <a:rPr lang="en-US" b="1" dirty="0"/>
              <a:t>acid</a:t>
            </a:r>
            <a:r>
              <a:rPr lang="en-US" dirty="0"/>
              <a:t> can block GABA synthesis; can only be used for in vitro studies.</a:t>
            </a:r>
          </a:p>
        </p:txBody>
      </p:sp>
    </p:spTree>
    <p:extLst>
      <p:ext uri="{BB962C8B-B14F-4D97-AF65-F5344CB8AC3E}">
        <p14:creationId xmlns:p14="http://schemas.microsoft.com/office/powerpoint/2010/main" val="2147652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B40AAEA-B2E5-4637-BC7E-9EC46854F397}"/>
              </a:ext>
            </a:extLst>
          </p:cNvPr>
          <p:cNvSpPr>
            <a:spLocks noGrp="1"/>
          </p:cNvSpPr>
          <p:nvPr>
            <p:ph type="title"/>
          </p:nvPr>
        </p:nvSpPr>
        <p:spPr/>
        <p:txBody>
          <a:bodyPr>
            <a:normAutofit/>
          </a:bodyPr>
          <a:lstStyle/>
          <a:p>
            <a:r>
              <a:rPr lang="en-US" dirty="0"/>
              <a:t>GABA Synthesis, Release, and Inactivation </a:t>
            </a:r>
            <a:r>
              <a:rPr lang="en-US" sz="1200" dirty="0"/>
              <a:t>(2 of 5)</a:t>
            </a:r>
            <a:endParaRPr lang="en-US" dirty="0"/>
          </a:p>
        </p:txBody>
      </p:sp>
      <p:sp>
        <p:nvSpPr>
          <p:cNvPr id="3" name="Text Placeholder 2"/>
          <p:cNvSpPr>
            <a:spLocks noGrp="1"/>
          </p:cNvSpPr>
          <p:nvPr>
            <p:ph idx="1"/>
          </p:nvPr>
        </p:nvSpPr>
        <p:spPr/>
        <p:txBody>
          <a:bodyPr>
            <a:normAutofit lnSpcReduction="10000"/>
          </a:bodyPr>
          <a:lstStyle/>
          <a:p>
            <a:pPr marL="457200" indent="-457200">
              <a:buNone/>
            </a:pPr>
            <a:r>
              <a:rPr lang="en-US" altLang="en-US" sz="3200" dirty="0"/>
              <a:t>GABA packaging into vesicles and uptake after release are mediated by specific transporter proteins</a:t>
            </a:r>
          </a:p>
          <a:p>
            <a:r>
              <a:rPr lang="en-US" b="1" dirty="0"/>
              <a:t>Vesicular GABA transporters</a:t>
            </a:r>
            <a:r>
              <a:rPr lang="en-US" dirty="0"/>
              <a:t> (</a:t>
            </a:r>
            <a:r>
              <a:rPr lang="en-US" b="1" dirty="0"/>
              <a:t>VGAT</a:t>
            </a:r>
            <a:r>
              <a:rPr lang="en-US" dirty="0"/>
              <a:t>) move GABA (and glycine) into vesicles.</a:t>
            </a:r>
          </a:p>
          <a:p>
            <a:r>
              <a:rPr lang="en-US" dirty="0"/>
              <a:t>GABA is removed from the synaptic cleft by transporters </a:t>
            </a:r>
            <a:r>
              <a:rPr lang="en-US" b="1" dirty="0"/>
              <a:t>GAT-1</a:t>
            </a:r>
            <a:r>
              <a:rPr lang="en-US" dirty="0"/>
              <a:t> and </a:t>
            </a:r>
            <a:r>
              <a:rPr lang="en-US" b="1" dirty="0"/>
              <a:t>GAT-2</a:t>
            </a:r>
            <a:r>
              <a:rPr lang="en-US" dirty="0"/>
              <a:t> (in neurons and astrocytes) and </a:t>
            </a:r>
            <a:r>
              <a:rPr lang="en-US" b="1" dirty="0"/>
              <a:t>GAT-3</a:t>
            </a:r>
            <a:r>
              <a:rPr lang="en-US" dirty="0"/>
              <a:t> (only in astrocytes).</a:t>
            </a:r>
          </a:p>
          <a:p>
            <a:r>
              <a:rPr lang="en-US" altLang="en-US" b="1" dirty="0"/>
              <a:t>Tiagabine</a:t>
            </a:r>
            <a:r>
              <a:rPr lang="en-US" altLang="en-US" dirty="0"/>
              <a:t>: selective inhibitor of GAT-1; elevates extracellular GABA levels and enhances GABAergic transmission in several brain areas; marketed as </a:t>
            </a:r>
            <a:r>
              <a:rPr lang="en-US" altLang="en-US" b="1" dirty="0" err="1"/>
              <a:t>Gabitril</a:t>
            </a:r>
            <a:r>
              <a:rPr lang="en-US" altLang="en-US" dirty="0"/>
              <a:t> for treating epilepsy </a:t>
            </a:r>
          </a:p>
        </p:txBody>
      </p:sp>
    </p:spTree>
    <p:extLst>
      <p:ext uri="{BB962C8B-B14F-4D97-AF65-F5344CB8AC3E}">
        <p14:creationId xmlns:p14="http://schemas.microsoft.com/office/powerpoint/2010/main" val="31237762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0CCA890-3553-4E15-99CD-60B3CAEA2685}"/>
              </a:ext>
            </a:extLst>
          </p:cNvPr>
          <p:cNvSpPr>
            <a:spLocks noGrp="1"/>
          </p:cNvSpPr>
          <p:nvPr>
            <p:ph type="title"/>
          </p:nvPr>
        </p:nvSpPr>
        <p:spPr>
          <a:xfrm>
            <a:off x="448573" y="274638"/>
            <a:ext cx="11294854" cy="1143000"/>
          </a:xfrm>
        </p:spPr>
        <p:txBody>
          <a:bodyPr>
            <a:normAutofit/>
          </a:bodyPr>
          <a:lstStyle/>
          <a:p>
            <a:r>
              <a:rPr lang="en-US" dirty="0"/>
              <a:t>GABA Synthesis, Release, and Inactivation </a:t>
            </a:r>
            <a:r>
              <a:rPr lang="en-US" sz="1200" dirty="0"/>
              <a:t>(3 of 5)</a:t>
            </a:r>
            <a:endParaRPr lang="en-US" dirty="0"/>
          </a:p>
        </p:txBody>
      </p:sp>
      <p:sp>
        <p:nvSpPr>
          <p:cNvPr id="3" name="Text Placeholder 2"/>
          <p:cNvSpPr>
            <a:spLocks noGrp="1"/>
          </p:cNvSpPr>
          <p:nvPr>
            <p:ph idx="1"/>
          </p:nvPr>
        </p:nvSpPr>
        <p:spPr/>
        <p:txBody>
          <a:bodyPr>
            <a:normAutofit/>
          </a:bodyPr>
          <a:lstStyle/>
          <a:p>
            <a:pPr marL="457200" indent="-457200">
              <a:buNone/>
            </a:pPr>
            <a:r>
              <a:rPr lang="en-US" altLang="en-US" sz="3200" dirty="0"/>
              <a:t>GABA packaging into vesicles and uptake after release are mediated by specific transporter proteins</a:t>
            </a:r>
          </a:p>
          <a:p>
            <a:r>
              <a:rPr lang="en-US" dirty="0"/>
              <a:t>GABA is metabolized to glutamate and succinate by </a:t>
            </a:r>
            <a:r>
              <a:rPr lang="en-US" b="1" dirty="0"/>
              <a:t>GABA aminotransferase</a:t>
            </a:r>
            <a:r>
              <a:rPr lang="en-US" dirty="0"/>
              <a:t> (</a:t>
            </a:r>
            <a:r>
              <a:rPr lang="en-US" b="1" dirty="0"/>
              <a:t>GABA-T</a:t>
            </a:r>
            <a:r>
              <a:rPr lang="en-US" dirty="0"/>
              <a:t>), in neurons and astrocytes.</a:t>
            </a:r>
          </a:p>
          <a:p>
            <a:r>
              <a:rPr lang="en-US" dirty="0"/>
              <a:t>In astrocytes, the glutamate is converted to glutamine by glutamine synthetase.</a:t>
            </a:r>
          </a:p>
          <a:p>
            <a:r>
              <a:rPr lang="en-US" dirty="0"/>
              <a:t>Glutamine can be released by astrocytes, taken up by neurons, converted back to glutamate, and used to remake GABA.</a:t>
            </a:r>
          </a:p>
        </p:txBody>
      </p:sp>
    </p:spTree>
    <p:extLst>
      <p:ext uri="{BB962C8B-B14F-4D97-AF65-F5344CB8AC3E}">
        <p14:creationId xmlns:p14="http://schemas.microsoft.com/office/powerpoint/2010/main" val="16829235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89568-358D-0348-91C7-FAABF104FE09}"/>
              </a:ext>
            </a:extLst>
          </p:cNvPr>
          <p:cNvSpPr>
            <a:spLocks noGrp="1"/>
          </p:cNvSpPr>
          <p:nvPr>
            <p:ph type="title"/>
          </p:nvPr>
        </p:nvSpPr>
        <p:spPr/>
        <p:txBody>
          <a:bodyPr/>
          <a:lstStyle/>
          <a:p>
            <a:r>
              <a:rPr lang="en-US" cap="all" dirty="0"/>
              <a:t>FIGURE 8.15</a:t>
            </a:r>
            <a:r>
              <a:rPr lang="en-US" dirty="0"/>
              <a:t>  Cycling of GABA between GABAergic neurons and astrocytes </a:t>
            </a:r>
          </a:p>
        </p:txBody>
      </p:sp>
      <p:pic>
        <p:nvPicPr>
          <p:cNvPr id="6" name="Content Placeholder 5" descr="An illustration depicts the G A B A cycle. In the presence of glutamine synthetase within the astrocyte, G A B A is transformed into glutamate, which is subsequently turned into glutamine and delivered to the presynaptic terminal by glutamine transporters. In the terminal, glutamate is converted into G A B A in the presence of glutamic acid decarboxylase, which is then stored in vesicles and transported to the postsynaptic terminal's G A B A receptors, where it is reverse-feedback to the presynaptic terminal through GAT-1, resulting in G A B A amino transferase. G A T-1, G A T-2, and G A T-3 also transport the G A B A molecules to the astrocyt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072128" y="479425"/>
            <a:ext cx="6047744" cy="6300788"/>
          </a:xfrm>
        </p:spPr>
      </p:pic>
    </p:spTree>
    <p:extLst>
      <p:ext uri="{BB962C8B-B14F-4D97-AF65-F5344CB8AC3E}">
        <p14:creationId xmlns:p14="http://schemas.microsoft.com/office/powerpoint/2010/main" val="10714250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C8861BF-A5BA-4139-AEC8-4BBC0BF7DF7D}"/>
              </a:ext>
            </a:extLst>
          </p:cNvPr>
          <p:cNvSpPr>
            <a:spLocks noGrp="1"/>
          </p:cNvSpPr>
          <p:nvPr>
            <p:ph type="title"/>
          </p:nvPr>
        </p:nvSpPr>
        <p:spPr>
          <a:xfrm>
            <a:off x="448573" y="274638"/>
            <a:ext cx="11294854" cy="1143000"/>
          </a:xfrm>
        </p:spPr>
        <p:txBody>
          <a:bodyPr>
            <a:normAutofit/>
          </a:bodyPr>
          <a:lstStyle/>
          <a:p>
            <a:r>
              <a:rPr lang="en-US" dirty="0"/>
              <a:t>GABA Synthesis, Release, and Inactivation </a:t>
            </a:r>
            <a:r>
              <a:rPr lang="en-US" sz="1200" dirty="0"/>
              <a:t>(4 of 5)</a:t>
            </a:r>
            <a:endParaRPr lang="en-US" dirty="0"/>
          </a:p>
        </p:txBody>
      </p:sp>
      <p:sp>
        <p:nvSpPr>
          <p:cNvPr id="3" name="Text Placeholder 2"/>
          <p:cNvSpPr>
            <a:spLocks noGrp="1"/>
          </p:cNvSpPr>
          <p:nvPr>
            <p:ph idx="1"/>
          </p:nvPr>
        </p:nvSpPr>
        <p:spPr/>
        <p:txBody>
          <a:bodyPr>
            <a:normAutofit/>
          </a:bodyPr>
          <a:lstStyle/>
          <a:p>
            <a:pPr marL="457200" indent="-457200">
              <a:buNone/>
            </a:pPr>
            <a:r>
              <a:rPr lang="en-US" altLang="en-US" sz="3200" dirty="0"/>
              <a:t>GABA is co-released with several other classical neurotransmitters</a:t>
            </a:r>
          </a:p>
          <a:p>
            <a:r>
              <a:rPr lang="en-US" altLang="en-US" dirty="0"/>
              <a:t>Co-release of GABA has been demonstrated for neurons that also use glycine, </a:t>
            </a:r>
            <a:r>
              <a:rPr lang="en-US" altLang="en-US" dirty="0" err="1"/>
              <a:t>ACh</a:t>
            </a:r>
            <a:r>
              <a:rPr lang="en-US" altLang="en-US" dirty="0"/>
              <a:t>, DA, or glutamate</a:t>
            </a:r>
          </a:p>
          <a:p>
            <a:r>
              <a:rPr lang="en-US" altLang="en-US" dirty="0"/>
              <a:t>In some cases there is co-expression of the vesicular transporters for multiple transmitters in the same neuron.</a:t>
            </a:r>
          </a:p>
          <a:p>
            <a:r>
              <a:rPr lang="en-US" altLang="en-US" dirty="0"/>
              <a:t>Some neurons co-release GABA (inhibitory) and glutamate (excitatory) at the same time; allows for fine-tuning of the postsynaptic response.</a:t>
            </a:r>
          </a:p>
        </p:txBody>
      </p:sp>
    </p:spTree>
    <p:extLst>
      <p:ext uri="{BB962C8B-B14F-4D97-AF65-F5344CB8AC3E}">
        <p14:creationId xmlns:p14="http://schemas.microsoft.com/office/powerpoint/2010/main" val="21849740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F7368-E64E-DF4F-91C1-625488F8AA4B}"/>
              </a:ext>
            </a:extLst>
          </p:cNvPr>
          <p:cNvSpPr>
            <a:spLocks noGrp="1"/>
          </p:cNvSpPr>
          <p:nvPr>
            <p:ph type="title"/>
          </p:nvPr>
        </p:nvSpPr>
        <p:spPr/>
        <p:txBody>
          <a:bodyPr/>
          <a:lstStyle/>
          <a:p>
            <a:r>
              <a:rPr lang="en-US" cap="all" dirty="0"/>
              <a:t>FIGURE 8.16</a:t>
            </a:r>
            <a:r>
              <a:rPr lang="en-US" dirty="0"/>
              <a:t>  Examples of co-transmission of GABA with other neurotransmitters </a:t>
            </a:r>
          </a:p>
        </p:txBody>
      </p:sp>
      <p:pic>
        <p:nvPicPr>
          <p:cNvPr id="6" name="Content Placeholder 5" descr="An illustration depicts the additional synthesis of G A B A by cholinergic neurons. The choline is delivered to the terminal by C h T, where it is transformed to A C h and G A B A molecules, which are subsequently stored in two separate vesicles transported via V A C h T and V G A T.&#10;&#10;An illustration depicts the additional synthesis of G A B A by dopaminergic neurons. In the presence of T H, tyrosine is converted to L-D O P A, which is subsequently transformed to D A in the presence of A A D C, and the D A molecules are stored in the vesicles carried by V M A T 2. In the presence of A L D H 1 a 1, 4-amino-butanal is converted to G A B A, and the G A B A molecules are stored in vesicles carried by V M A T 2. G A T-1 transports G A B A molecules from outside the terminal into the vesicle.&#10;&#10;An illustration depicts the synthesis of G A B A and glutamate. In the presence of G A D, glutamate molecules are transformed into G A B A molecules, with glutamate molecules carried to the vesicle via V G L U T 2 and G A B A molecules carried via V G A 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384551"/>
            <a:ext cx="11376025" cy="4490536"/>
          </a:xfrm>
        </p:spPr>
      </p:pic>
    </p:spTree>
    <p:extLst>
      <p:ext uri="{BB962C8B-B14F-4D97-AF65-F5344CB8AC3E}">
        <p14:creationId xmlns:p14="http://schemas.microsoft.com/office/powerpoint/2010/main" val="15414040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9AFD3B7-58D3-42D6-9E9E-7228B388F88E}"/>
              </a:ext>
            </a:extLst>
          </p:cNvPr>
          <p:cNvSpPr>
            <a:spLocks noGrp="1"/>
          </p:cNvSpPr>
          <p:nvPr>
            <p:ph type="title"/>
          </p:nvPr>
        </p:nvSpPr>
        <p:spPr>
          <a:xfrm>
            <a:off x="448573" y="274638"/>
            <a:ext cx="11294854" cy="1143000"/>
          </a:xfrm>
        </p:spPr>
        <p:txBody>
          <a:bodyPr>
            <a:normAutofit/>
          </a:bodyPr>
          <a:lstStyle/>
          <a:p>
            <a:r>
              <a:rPr lang="en-US" dirty="0"/>
              <a:t>GABA Synthesis, Release, and Inactivation </a:t>
            </a:r>
            <a:r>
              <a:rPr lang="en-US" sz="1200" dirty="0"/>
              <a:t>(5 of 5)</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3</a:t>
            </a:r>
          </a:p>
          <a:p>
            <a:pPr marL="457200" indent="-457200">
              <a:spcBef>
                <a:spcPts val="2400"/>
              </a:spcBef>
              <a:buNone/>
            </a:pPr>
            <a:r>
              <a:rPr lang="en-US" sz="3200" dirty="0"/>
              <a:t>A neuron that co-releases GABA and glycine would contain which of these chemicals?</a:t>
            </a:r>
          </a:p>
          <a:p>
            <a:pPr marL="914400" indent="-457200">
              <a:spcBef>
                <a:spcPts val="1200"/>
              </a:spcBef>
              <a:buFont typeface="Arial" pitchFamily="34" charset="0"/>
              <a:buAutoNum type="alphaLcPeriod"/>
            </a:pPr>
            <a:r>
              <a:rPr lang="en-US" sz="3200" dirty="0"/>
              <a:t>VGAT</a:t>
            </a:r>
          </a:p>
          <a:p>
            <a:pPr marL="914400" indent="-457200">
              <a:spcBef>
                <a:spcPts val="1200"/>
              </a:spcBef>
              <a:buFont typeface="Arial" pitchFamily="34" charset="0"/>
              <a:buAutoNum type="alphaLcPeriod"/>
            </a:pPr>
            <a:r>
              <a:rPr lang="en-US" sz="3200" dirty="0"/>
              <a:t>VMAT</a:t>
            </a:r>
          </a:p>
          <a:p>
            <a:pPr marL="914400" indent="-457200">
              <a:spcBef>
                <a:spcPts val="1200"/>
              </a:spcBef>
              <a:buFont typeface="Arial" pitchFamily="34" charset="0"/>
              <a:buAutoNum type="alphaLcPeriod"/>
            </a:pPr>
            <a:r>
              <a:rPr lang="en-US" sz="3200" dirty="0"/>
              <a:t>VGAT + VGLUT2</a:t>
            </a:r>
          </a:p>
          <a:p>
            <a:pPr marL="914400" indent="-457200">
              <a:spcBef>
                <a:spcPts val="1200"/>
              </a:spcBef>
              <a:buFont typeface="Arial" pitchFamily="34" charset="0"/>
              <a:buAutoNum type="alphaLcPeriod"/>
            </a:pPr>
            <a:r>
              <a:rPr lang="en-US" sz="3200" dirty="0"/>
              <a:t>VGLUT2 + </a:t>
            </a:r>
            <a:r>
              <a:rPr lang="en-US" sz="3200" dirty="0" err="1"/>
              <a:t>VAChT</a:t>
            </a:r>
            <a:endParaRPr lang="en-US" sz="3200" dirty="0"/>
          </a:p>
        </p:txBody>
      </p:sp>
    </p:spTree>
    <p:extLst>
      <p:ext uri="{BB962C8B-B14F-4D97-AF65-F5344CB8AC3E}">
        <p14:creationId xmlns:p14="http://schemas.microsoft.com/office/powerpoint/2010/main" val="11870700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Chapter 8 Learning Objectives </a:t>
            </a:r>
            <a:r>
              <a:rPr lang="en-US" sz="1200" dirty="0"/>
              <a:t>(3 of 4)</a:t>
            </a:r>
            <a:endParaRPr lang="en-US" dirty="0"/>
          </a:p>
        </p:txBody>
      </p:sp>
      <p:sp>
        <p:nvSpPr>
          <p:cNvPr id="3" name="Text Placeholder 2"/>
          <p:cNvSpPr>
            <a:spLocks noGrp="1"/>
          </p:cNvSpPr>
          <p:nvPr>
            <p:ph idx="1"/>
          </p:nvPr>
        </p:nvSpPr>
        <p:spPr/>
        <p:txBody>
          <a:bodyPr>
            <a:normAutofit lnSpcReduction="10000"/>
          </a:bodyPr>
          <a:lstStyle/>
          <a:p>
            <a:pPr marL="914400" indent="-914400">
              <a:lnSpc>
                <a:spcPct val="110000"/>
              </a:lnSpc>
              <a:buNone/>
            </a:pPr>
            <a:r>
              <a:rPr lang="en-US" dirty="0"/>
              <a:t>8.3.1  (a) Identify the biochemical pathways by which GABA is synthesized and metabolized, and (b) name and discuss the clinical use of a drug that blocks GABA breakdown.</a:t>
            </a:r>
          </a:p>
          <a:p>
            <a:pPr marL="914400" indent="-914400">
              <a:lnSpc>
                <a:spcPct val="110000"/>
              </a:lnSpc>
              <a:buNone/>
            </a:pPr>
            <a:r>
              <a:rPr lang="en-US" dirty="0"/>
              <a:t>8.3.2  (a) Describe the functions and localization of the GABA transporters that mediate vesicular GABA uptake and removal of GABA from the extracellular fluid after its release, and (b) name and discuss the clinical use of a drug that blocks GABA reuptake.</a:t>
            </a:r>
          </a:p>
          <a:p>
            <a:pPr marL="914400" indent="-914400">
              <a:lnSpc>
                <a:spcPct val="110000"/>
              </a:lnSpc>
              <a:buNone/>
            </a:pPr>
            <a:r>
              <a:rPr lang="en-US" dirty="0"/>
              <a:t>8.3.3  Discuss the characteristics of GABA co-expression and co-release with other neurotransmitters.</a:t>
            </a:r>
          </a:p>
        </p:txBody>
      </p:sp>
    </p:spTree>
    <p:extLst>
      <p:ext uri="{BB962C8B-B14F-4D97-AF65-F5344CB8AC3E}">
        <p14:creationId xmlns:p14="http://schemas.microsoft.com/office/powerpoint/2010/main" val="13103068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573" y="274638"/>
            <a:ext cx="11294854" cy="1143000"/>
          </a:xfrm>
        </p:spPr>
        <p:txBody>
          <a:bodyPr>
            <a:normAutofit/>
          </a:bodyPr>
          <a:lstStyle/>
          <a:p>
            <a:r>
              <a:rPr lang="en-US" dirty="0"/>
              <a:t>Organization and Function of the GABAergic System </a:t>
            </a:r>
            <a:r>
              <a:rPr lang="en-US" sz="1200" dirty="0"/>
              <a:t>(1 of 9)</a:t>
            </a:r>
            <a:endParaRPr lang="en-US" dirty="0"/>
          </a:p>
        </p:txBody>
      </p:sp>
      <p:sp>
        <p:nvSpPr>
          <p:cNvPr id="3" name="Text Placeholder 2"/>
          <p:cNvSpPr>
            <a:spLocks noGrp="1"/>
          </p:cNvSpPr>
          <p:nvPr>
            <p:ph idx="1"/>
          </p:nvPr>
        </p:nvSpPr>
        <p:spPr/>
        <p:txBody>
          <a:bodyPr>
            <a:normAutofit lnSpcReduction="10000"/>
          </a:bodyPr>
          <a:lstStyle/>
          <a:p>
            <a:pPr marL="457200" indent="-457200">
              <a:buNone/>
            </a:pPr>
            <a:r>
              <a:rPr lang="en-US" altLang="en-US" sz="3200" dirty="0"/>
              <a:t>Some GABAergic neurons are interneurons, while others are projection neurons</a:t>
            </a:r>
          </a:p>
          <a:p>
            <a:r>
              <a:rPr lang="en-US" altLang="en-US" dirty="0"/>
              <a:t>Many brain areas are rich in GABA</a:t>
            </a:r>
          </a:p>
          <a:p>
            <a:pPr lvl="1"/>
            <a:r>
              <a:rPr lang="en-US" altLang="en-US" dirty="0"/>
              <a:t>Cortex and hippocampus: GABAergic neurons are interneurons</a:t>
            </a:r>
          </a:p>
          <a:p>
            <a:pPr lvl="1"/>
            <a:r>
              <a:rPr lang="en-US" altLang="en-US" dirty="0"/>
              <a:t>Striatum and cerebellar Purkinje cells: projection neurons</a:t>
            </a:r>
          </a:p>
          <a:p>
            <a:r>
              <a:rPr lang="en-US" altLang="en-US" b="1" dirty="0"/>
              <a:t>Spinocerebellar ataxias</a:t>
            </a:r>
            <a:r>
              <a:rPr lang="en-US" altLang="en-US" dirty="0"/>
              <a:t>: rare genetic mutations that cause degeneration and death of Purkinje cells; causes ataxia, impaired balance and poor motor coordination.</a:t>
            </a:r>
          </a:p>
        </p:txBody>
      </p:sp>
    </p:spTree>
    <p:extLst>
      <p:ext uri="{BB962C8B-B14F-4D97-AF65-F5344CB8AC3E}">
        <p14:creationId xmlns:p14="http://schemas.microsoft.com/office/powerpoint/2010/main" val="5078020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340CE27-D17E-4936-ADC6-CCFFEC203992}"/>
              </a:ext>
            </a:extLst>
          </p:cNvPr>
          <p:cNvSpPr>
            <a:spLocks noGrp="1"/>
          </p:cNvSpPr>
          <p:nvPr>
            <p:ph type="title"/>
          </p:nvPr>
        </p:nvSpPr>
        <p:spPr>
          <a:xfrm>
            <a:off x="448573" y="274638"/>
            <a:ext cx="11294854" cy="1143000"/>
          </a:xfrm>
        </p:spPr>
        <p:txBody>
          <a:bodyPr>
            <a:normAutofit/>
          </a:bodyPr>
          <a:lstStyle/>
          <a:p>
            <a:r>
              <a:rPr lang="en-US" dirty="0"/>
              <a:t>Organization and Function of the GABAergic System </a:t>
            </a:r>
            <a:r>
              <a:rPr lang="en-US" sz="1200" dirty="0"/>
              <a:t>(2 of 9)</a:t>
            </a:r>
            <a:endParaRPr lang="en-US" dirty="0"/>
          </a:p>
        </p:txBody>
      </p:sp>
      <p:sp>
        <p:nvSpPr>
          <p:cNvPr id="3" name="Text Placeholder 2"/>
          <p:cNvSpPr>
            <a:spLocks noGrp="1"/>
          </p:cNvSpPr>
          <p:nvPr>
            <p:ph idx="1"/>
          </p:nvPr>
        </p:nvSpPr>
        <p:spPr/>
        <p:txBody>
          <a:bodyPr>
            <a:normAutofit/>
          </a:bodyPr>
          <a:lstStyle/>
          <a:p>
            <a:pPr marL="457200" indent="-457200">
              <a:buNone/>
            </a:pPr>
            <a:r>
              <a:rPr lang="en-US" altLang="en-US" sz="3200" dirty="0"/>
              <a:t>The actions of GABA are primarily mediated by ionotropic GABA</a:t>
            </a:r>
            <a:r>
              <a:rPr lang="en-US" altLang="en-US" sz="3200" baseline="-25000" dirty="0"/>
              <a:t>A</a:t>
            </a:r>
            <a:r>
              <a:rPr lang="en-US" altLang="en-US" sz="3200" dirty="0"/>
              <a:t> receptors</a:t>
            </a:r>
          </a:p>
          <a:p>
            <a:r>
              <a:rPr lang="en-US" altLang="en-US" b="1" dirty="0"/>
              <a:t>GABA</a:t>
            </a:r>
            <a:r>
              <a:rPr lang="en-US" altLang="en-US" b="1" baseline="-25000" dirty="0"/>
              <a:t>A</a:t>
            </a:r>
            <a:r>
              <a:rPr lang="en-US" altLang="en-US" b="1" dirty="0"/>
              <a:t> receptor</a:t>
            </a:r>
            <a:r>
              <a:rPr lang="en-US" altLang="en-US" dirty="0"/>
              <a:t>—ionotropic; </a:t>
            </a:r>
            <a:r>
              <a:rPr lang="en-US" altLang="en-US" b="1" dirty="0"/>
              <a:t>GABA</a:t>
            </a:r>
            <a:r>
              <a:rPr lang="en-US" altLang="en-US" b="1" baseline="-25000" dirty="0"/>
              <a:t>B</a:t>
            </a:r>
            <a:r>
              <a:rPr lang="en-US" altLang="en-US" b="1" dirty="0"/>
              <a:t> receptor</a:t>
            </a:r>
            <a:r>
              <a:rPr lang="en-US" altLang="en-US" dirty="0"/>
              <a:t>—metabotropic</a:t>
            </a:r>
          </a:p>
          <a:p>
            <a:r>
              <a:rPr lang="en-US" altLang="en-US" dirty="0"/>
              <a:t>Each receptor is composed of five subunits, usually two α subunits, two βs, and one γ.</a:t>
            </a:r>
          </a:p>
          <a:p>
            <a:r>
              <a:rPr lang="en-US" altLang="en-US" dirty="0"/>
              <a:t>GABA</a:t>
            </a:r>
            <a:r>
              <a:rPr lang="en-US" altLang="en-US" baseline="-25000" dirty="0"/>
              <a:t>A</a:t>
            </a:r>
            <a:r>
              <a:rPr lang="en-US" altLang="en-US" dirty="0"/>
              <a:t> channel allows Cl</a:t>
            </a:r>
            <a:r>
              <a:rPr lang="en-US" altLang="en-US" baseline="30000" dirty="0"/>
              <a:t>–  </a:t>
            </a:r>
            <a:r>
              <a:rPr lang="en-US" altLang="en-US" dirty="0"/>
              <a:t>to move in, causing hyperpolarization and inhibition of the postsynaptic cell.</a:t>
            </a:r>
          </a:p>
        </p:txBody>
      </p:sp>
    </p:spTree>
    <p:extLst>
      <p:ext uri="{BB962C8B-B14F-4D97-AF65-F5344CB8AC3E}">
        <p14:creationId xmlns:p14="http://schemas.microsoft.com/office/powerpoint/2010/main" val="15606873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EA22AC6-D75B-4FB7-AD7A-A689DD5EFE57}"/>
              </a:ext>
            </a:extLst>
          </p:cNvPr>
          <p:cNvSpPr>
            <a:spLocks noGrp="1"/>
          </p:cNvSpPr>
          <p:nvPr>
            <p:ph type="title"/>
          </p:nvPr>
        </p:nvSpPr>
        <p:spPr>
          <a:xfrm>
            <a:off x="448573" y="274638"/>
            <a:ext cx="11294854" cy="1143000"/>
          </a:xfrm>
        </p:spPr>
        <p:txBody>
          <a:bodyPr>
            <a:normAutofit/>
          </a:bodyPr>
          <a:lstStyle/>
          <a:p>
            <a:r>
              <a:rPr lang="en-US" dirty="0"/>
              <a:t>Organization and Function of the GABAergic System </a:t>
            </a:r>
            <a:r>
              <a:rPr lang="en-US" sz="1200" dirty="0"/>
              <a:t>(3 of 9)</a:t>
            </a:r>
            <a:endParaRPr lang="en-US" dirty="0"/>
          </a:p>
        </p:txBody>
      </p:sp>
      <p:sp>
        <p:nvSpPr>
          <p:cNvPr id="3" name="Text Placeholder 2"/>
          <p:cNvSpPr>
            <a:spLocks noGrp="1"/>
          </p:cNvSpPr>
          <p:nvPr>
            <p:ph idx="1"/>
          </p:nvPr>
        </p:nvSpPr>
        <p:spPr/>
        <p:txBody>
          <a:bodyPr>
            <a:normAutofit/>
          </a:bodyPr>
          <a:lstStyle/>
          <a:p>
            <a:pPr marL="457200" indent="-457200">
              <a:buNone/>
            </a:pPr>
            <a:r>
              <a:rPr lang="en-US" altLang="en-US" sz="3200" dirty="0"/>
              <a:t>The actions of GABA are primarily mediated by ionotropic GABA</a:t>
            </a:r>
            <a:r>
              <a:rPr lang="en-US" altLang="en-US" sz="3200" baseline="-25000" dirty="0"/>
              <a:t>A</a:t>
            </a:r>
            <a:r>
              <a:rPr lang="en-US" altLang="en-US" sz="3200" dirty="0"/>
              <a:t> receptors</a:t>
            </a:r>
          </a:p>
          <a:p>
            <a:r>
              <a:rPr lang="en-US" b="1" dirty="0" err="1"/>
              <a:t>Muscimol</a:t>
            </a:r>
            <a:r>
              <a:rPr lang="en-US" dirty="0"/>
              <a:t>: GABA</a:t>
            </a:r>
            <a:r>
              <a:rPr lang="en-US" baseline="-25000" dirty="0"/>
              <a:t>A</a:t>
            </a:r>
            <a:r>
              <a:rPr lang="en-US" dirty="0"/>
              <a:t> agonist from the mushroom </a:t>
            </a:r>
            <a:r>
              <a:rPr lang="en-US" i="1" dirty="0"/>
              <a:t>Amanita muscaria</a:t>
            </a:r>
          </a:p>
          <a:p>
            <a:r>
              <a:rPr lang="en-US" b="1" dirty="0"/>
              <a:t>Bicuculline: </a:t>
            </a:r>
            <a:r>
              <a:rPr lang="en-US" dirty="0"/>
              <a:t>competitive antagonist for GABA</a:t>
            </a:r>
            <a:r>
              <a:rPr lang="en-US" baseline="-25000" dirty="0"/>
              <a:t>A</a:t>
            </a:r>
            <a:r>
              <a:rPr lang="en-US" dirty="0"/>
              <a:t> receptors; blocks binding of GABA; if taken systemically, causes convulsions.</a:t>
            </a:r>
          </a:p>
          <a:p>
            <a:r>
              <a:rPr lang="en-US" b="1" dirty="0"/>
              <a:t>Pentylenetetrazol</a:t>
            </a:r>
            <a:r>
              <a:rPr lang="en-US" dirty="0"/>
              <a:t> (</a:t>
            </a:r>
            <a:r>
              <a:rPr lang="en-US" b="1" dirty="0"/>
              <a:t>Metrazol</a:t>
            </a:r>
            <a:r>
              <a:rPr lang="en-US" dirty="0"/>
              <a:t>) and </a:t>
            </a:r>
            <a:r>
              <a:rPr lang="en-US" b="1" dirty="0"/>
              <a:t>picrotoxin: </a:t>
            </a:r>
            <a:r>
              <a:rPr lang="en-US" dirty="0"/>
              <a:t>convulsant drugs that inhibit GABA</a:t>
            </a:r>
            <a:r>
              <a:rPr lang="en-US" baseline="-25000" dirty="0"/>
              <a:t>A</a:t>
            </a:r>
            <a:r>
              <a:rPr lang="en-US" dirty="0"/>
              <a:t> receptor function; act at sites distinct from the GABA binding site (noncompetitive antagonists)</a:t>
            </a:r>
          </a:p>
        </p:txBody>
      </p:sp>
    </p:spTree>
    <p:extLst>
      <p:ext uri="{BB962C8B-B14F-4D97-AF65-F5344CB8AC3E}">
        <p14:creationId xmlns:p14="http://schemas.microsoft.com/office/powerpoint/2010/main" val="3753501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30CE78-117F-4264-9D46-5879C80647F1}"/>
              </a:ext>
            </a:extLst>
          </p:cNvPr>
          <p:cNvSpPr>
            <a:spLocks noGrp="1"/>
          </p:cNvSpPr>
          <p:nvPr>
            <p:ph type="title"/>
          </p:nvPr>
        </p:nvSpPr>
        <p:spPr>
          <a:xfrm>
            <a:off x="448573" y="274638"/>
            <a:ext cx="11294854" cy="1143000"/>
          </a:xfrm>
        </p:spPr>
        <p:txBody>
          <a:bodyPr>
            <a:normAutofit/>
          </a:bodyPr>
          <a:lstStyle/>
          <a:p>
            <a:r>
              <a:rPr lang="en-US" dirty="0"/>
              <a:t>Organization and Function of the GABAergic System </a:t>
            </a:r>
            <a:r>
              <a:rPr lang="en-US" sz="1200" dirty="0"/>
              <a:t>(4 of 9)</a:t>
            </a:r>
            <a:endParaRPr lang="en-US" dirty="0"/>
          </a:p>
        </p:txBody>
      </p:sp>
      <p:sp>
        <p:nvSpPr>
          <p:cNvPr id="3" name="Text Placeholder 2"/>
          <p:cNvSpPr>
            <a:spLocks noGrp="1"/>
          </p:cNvSpPr>
          <p:nvPr>
            <p:ph idx="1"/>
          </p:nvPr>
        </p:nvSpPr>
        <p:spPr/>
        <p:txBody>
          <a:bodyPr>
            <a:normAutofit fontScale="92500"/>
          </a:bodyPr>
          <a:lstStyle/>
          <a:p>
            <a:pPr marL="457200" indent="-457200">
              <a:buNone/>
            </a:pPr>
            <a:r>
              <a:rPr lang="en-US" altLang="en-US" sz="3200" dirty="0"/>
              <a:t>The actions of GABA are primarily mediated by ionotropic GABA</a:t>
            </a:r>
            <a:r>
              <a:rPr lang="en-US" altLang="en-US" sz="3200" baseline="-25000" dirty="0"/>
              <a:t>A</a:t>
            </a:r>
            <a:r>
              <a:rPr lang="en-US" altLang="en-US" sz="3200" dirty="0"/>
              <a:t> receptors</a:t>
            </a:r>
          </a:p>
          <a:p>
            <a:r>
              <a:rPr lang="en-US" altLang="en-US" dirty="0"/>
              <a:t>GABA</a:t>
            </a:r>
            <a:r>
              <a:rPr lang="en-US" altLang="en-US" baseline="-25000" dirty="0"/>
              <a:t>A</a:t>
            </a:r>
            <a:r>
              <a:rPr lang="en-US" altLang="en-US" dirty="0"/>
              <a:t> receptors </a:t>
            </a:r>
            <a:r>
              <a:rPr lang="en-US" dirty="0"/>
              <a:t>are sensitive to CNS-depressant drugs such as </a:t>
            </a:r>
            <a:r>
              <a:rPr lang="en-US" b="1" dirty="0"/>
              <a:t>benzodiazepines</a:t>
            </a:r>
            <a:r>
              <a:rPr lang="en-US" dirty="0"/>
              <a:t> (</a:t>
            </a:r>
            <a:r>
              <a:rPr lang="en-US" b="1" dirty="0"/>
              <a:t>BDZs</a:t>
            </a:r>
            <a:r>
              <a:rPr lang="en-US" dirty="0"/>
              <a:t>), </a:t>
            </a:r>
            <a:r>
              <a:rPr lang="en-US" b="1" dirty="0"/>
              <a:t>barbiturates</a:t>
            </a:r>
            <a:r>
              <a:rPr lang="en-US" dirty="0"/>
              <a:t>, and </a:t>
            </a:r>
            <a:r>
              <a:rPr lang="en-US" b="1" dirty="0"/>
              <a:t>ethanol, </a:t>
            </a:r>
            <a:r>
              <a:rPr lang="en-US" dirty="0"/>
              <a:t>which act as positive allosteric modulators – they enhance the action of GABA on the receptor</a:t>
            </a:r>
          </a:p>
          <a:p>
            <a:r>
              <a:rPr lang="en-US" dirty="0"/>
              <a:t>Other positive modulators:</a:t>
            </a:r>
          </a:p>
          <a:p>
            <a:pPr lvl="1"/>
            <a:r>
              <a:rPr lang="en-US" dirty="0"/>
              <a:t>Anesthetics such </a:t>
            </a:r>
            <a:r>
              <a:rPr lang="en-US" altLang="en-US" dirty="0"/>
              <a:t>as </a:t>
            </a:r>
            <a:r>
              <a:rPr lang="en-US" altLang="en-US" b="1" dirty="0"/>
              <a:t>propofol</a:t>
            </a:r>
            <a:r>
              <a:rPr lang="en-US" altLang="en-US" dirty="0"/>
              <a:t> (</a:t>
            </a:r>
            <a:r>
              <a:rPr lang="en-US" altLang="en-US" b="1" dirty="0" err="1"/>
              <a:t>Diprivan</a:t>
            </a:r>
            <a:r>
              <a:rPr lang="en-US" altLang="en-US" dirty="0"/>
              <a:t>) </a:t>
            </a:r>
          </a:p>
          <a:p>
            <a:pPr lvl="1"/>
            <a:r>
              <a:rPr lang="en-US" altLang="en-US" b="1" dirty="0" err="1"/>
              <a:t>Neurosteroids</a:t>
            </a:r>
            <a:endParaRPr lang="en-US" altLang="en-US" dirty="0"/>
          </a:p>
        </p:txBody>
      </p:sp>
    </p:spTree>
    <p:extLst>
      <p:ext uri="{BB962C8B-B14F-4D97-AF65-F5344CB8AC3E}">
        <p14:creationId xmlns:p14="http://schemas.microsoft.com/office/powerpoint/2010/main" val="38516090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2A71A-4955-EB43-A674-F9EDD8AC1894}"/>
              </a:ext>
            </a:extLst>
          </p:cNvPr>
          <p:cNvSpPr>
            <a:spLocks noGrp="1"/>
          </p:cNvSpPr>
          <p:nvPr>
            <p:ph type="title"/>
          </p:nvPr>
        </p:nvSpPr>
        <p:spPr/>
        <p:txBody>
          <a:bodyPr/>
          <a:lstStyle/>
          <a:p>
            <a:r>
              <a:rPr lang="en-US" cap="all" dirty="0"/>
              <a:t>FIGURE 8.17</a:t>
            </a:r>
            <a:r>
              <a:rPr lang="en-US" dirty="0"/>
              <a:t>  The GABA</a:t>
            </a:r>
            <a:r>
              <a:rPr lang="en-US" baseline="-25000" dirty="0"/>
              <a:t>A</a:t>
            </a:r>
            <a:r>
              <a:rPr lang="en-US" dirty="0"/>
              <a:t> receptor </a:t>
            </a:r>
          </a:p>
        </p:txBody>
      </p:sp>
      <p:pic>
        <p:nvPicPr>
          <p:cNvPr id="6" name="Content Placeholder 5" descr="A figure depicts the labeled units of the G A B A receptor. The C l minus molecules move from the extracellular to the intercellular region of the receptor via the channel pore. The picrotoxin molecule is indicated within the alpha subunit's channel pore. The beta subunit is labeled to the right of the channel pore, while the gamma or delta subunit is labeled to the left. Benzodiazepines, Neurosteroids, G A B A, and Barbiturates are the molecules that bind to the top of the recepto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654129" y="479425"/>
            <a:ext cx="4883743" cy="6300788"/>
          </a:xfrm>
        </p:spPr>
      </p:pic>
    </p:spTree>
    <p:extLst>
      <p:ext uri="{BB962C8B-B14F-4D97-AF65-F5344CB8AC3E}">
        <p14:creationId xmlns:p14="http://schemas.microsoft.com/office/powerpoint/2010/main" val="21650290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62E2E12-82A9-4DBE-A542-464D8E7AE978}"/>
              </a:ext>
            </a:extLst>
          </p:cNvPr>
          <p:cNvSpPr>
            <a:spLocks noGrp="1"/>
          </p:cNvSpPr>
          <p:nvPr>
            <p:ph type="title"/>
          </p:nvPr>
        </p:nvSpPr>
        <p:spPr>
          <a:xfrm>
            <a:off x="448573" y="274638"/>
            <a:ext cx="11294854" cy="1143000"/>
          </a:xfrm>
        </p:spPr>
        <p:txBody>
          <a:bodyPr>
            <a:normAutofit/>
          </a:bodyPr>
          <a:lstStyle/>
          <a:p>
            <a:r>
              <a:rPr lang="en-US" dirty="0"/>
              <a:t>Organization and Function of the GABAergic System </a:t>
            </a:r>
            <a:r>
              <a:rPr lang="en-US" sz="1200" dirty="0"/>
              <a:t>(5 of 9)</a:t>
            </a:r>
            <a:endParaRPr lang="en-US" dirty="0"/>
          </a:p>
        </p:txBody>
      </p:sp>
      <p:sp>
        <p:nvSpPr>
          <p:cNvPr id="3" name="Text Placeholder 2"/>
          <p:cNvSpPr>
            <a:spLocks noGrp="1"/>
          </p:cNvSpPr>
          <p:nvPr>
            <p:ph idx="1"/>
          </p:nvPr>
        </p:nvSpPr>
        <p:spPr/>
        <p:txBody>
          <a:bodyPr>
            <a:normAutofit fontScale="92500" lnSpcReduction="10000"/>
          </a:bodyPr>
          <a:lstStyle/>
          <a:p>
            <a:pPr marL="457200" indent="-457200">
              <a:buNone/>
            </a:pPr>
            <a:r>
              <a:rPr lang="en-US" altLang="en-US" sz="3500" dirty="0"/>
              <a:t>The actions of GABA are primarily mediated by ionotropic GABA</a:t>
            </a:r>
            <a:r>
              <a:rPr lang="en-US" altLang="en-US" sz="3500" baseline="-25000" dirty="0"/>
              <a:t>A</a:t>
            </a:r>
            <a:r>
              <a:rPr lang="en-US" altLang="en-US" sz="3500" dirty="0"/>
              <a:t> receptors</a:t>
            </a:r>
          </a:p>
          <a:p>
            <a:r>
              <a:rPr lang="en-US" altLang="en-US" dirty="0"/>
              <a:t>BDZs and ethanol can only modulate receptor activity, regardless of dose; high doses of barbiturates, anesthetics, and </a:t>
            </a:r>
            <a:r>
              <a:rPr lang="en-US" altLang="en-US" dirty="0" err="1"/>
              <a:t>neurosteroids</a:t>
            </a:r>
            <a:r>
              <a:rPr lang="en-US" altLang="en-US" dirty="0"/>
              <a:t> can open the receptor channel even in the absence of GABA</a:t>
            </a:r>
          </a:p>
          <a:p>
            <a:r>
              <a:rPr lang="en-US" altLang="en-US" dirty="0"/>
              <a:t>BDZs such as </a:t>
            </a:r>
            <a:r>
              <a:rPr lang="en-US" altLang="en-US" b="1" dirty="0"/>
              <a:t>diazepam</a:t>
            </a:r>
            <a:r>
              <a:rPr lang="en-US" altLang="en-US" dirty="0"/>
              <a:t> (</a:t>
            </a:r>
            <a:r>
              <a:rPr lang="en-US" altLang="en-US" b="1" dirty="0"/>
              <a:t>Valium</a:t>
            </a:r>
            <a:r>
              <a:rPr lang="en-US" altLang="en-US" dirty="0"/>
              <a:t>) increase effect of GABA on a receptor; diazepam alone has no effect, confirming that BDZs are positive allosteric modulators and not receptor agonists</a:t>
            </a:r>
          </a:p>
          <a:p>
            <a:r>
              <a:rPr lang="en-US" altLang="en-US" b="1" dirty="0"/>
              <a:t>Inverse agonists </a:t>
            </a:r>
            <a:r>
              <a:rPr lang="en-US" altLang="en-US" dirty="0"/>
              <a:t>at the BDZ receptor also require the presence of GABA, they reduce instead of enhance the effectiveness of GABA</a:t>
            </a:r>
          </a:p>
        </p:txBody>
      </p:sp>
    </p:spTree>
    <p:extLst>
      <p:ext uri="{BB962C8B-B14F-4D97-AF65-F5344CB8AC3E}">
        <p14:creationId xmlns:p14="http://schemas.microsoft.com/office/powerpoint/2010/main" val="26808251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EA417-9FEB-A340-A445-E7D9FDDB59E7}"/>
              </a:ext>
            </a:extLst>
          </p:cNvPr>
          <p:cNvSpPr>
            <a:spLocks noGrp="1"/>
          </p:cNvSpPr>
          <p:nvPr>
            <p:ph type="title"/>
          </p:nvPr>
        </p:nvSpPr>
        <p:spPr/>
        <p:txBody>
          <a:bodyPr/>
          <a:lstStyle/>
          <a:p>
            <a:r>
              <a:rPr lang="en-US" cap="all" dirty="0"/>
              <a:t>FIGURE 8.19</a:t>
            </a:r>
            <a:r>
              <a:rPr lang="en-US" dirty="0"/>
              <a:t>  Positive allosteric modulation of the GABA</a:t>
            </a:r>
            <a:r>
              <a:rPr lang="en-US" baseline="-25000" dirty="0"/>
              <a:t>A</a:t>
            </a:r>
            <a:r>
              <a:rPr lang="en-US" dirty="0"/>
              <a:t> receptor by diazepam </a:t>
            </a:r>
          </a:p>
        </p:txBody>
      </p:sp>
      <p:pic>
        <p:nvPicPr>
          <p:cNvPr id="6" name="Content Placeholder 5" descr="A graph depicts the current flow across the receptor cells. The current value persists at 100 Nano amperes for 20 seconds in the two G A B A receptors, remains constant in Diazepam, and is high, as demonstrated by a larger amplitude of wave for G A B A plus Diazepam.&#10;&#10;A graph depicts the G A B A concentration corresponding to the relative current amplitude. The horizontal axis represents the G A B A concentration in M ranging between 10 power negative 6 and 10 power negative 4. The vertical axis represents the relative current amplitude in percent ranging between 0 and 100. The trend for G A B A continues to rise, as evidenced by the following approximations. (0, 0), (10 power negative 6, 2), (10 power negative 5, 30), and (10 power negative 4, 90). The following approximated data show that the trend for G A B A plus Diazepam is increasing. (0, 0), (10 power negative 6, 5), (10 power negative 5, 50), and (10 power negative 4, 9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856564" y="479425"/>
            <a:ext cx="4478873" cy="6300788"/>
          </a:xfrm>
        </p:spPr>
      </p:pic>
    </p:spTree>
    <p:extLst>
      <p:ext uri="{BB962C8B-B14F-4D97-AF65-F5344CB8AC3E}">
        <p14:creationId xmlns:p14="http://schemas.microsoft.com/office/powerpoint/2010/main" val="14680799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310B838-E4FE-4A71-8D1F-FD2DB750F0FB}"/>
              </a:ext>
            </a:extLst>
          </p:cNvPr>
          <p:cNvSpPr>
            <a:spLocks noGrp="1"/>
          </p:cNvSpPr>
          <p:nvPr>
            <p:ph type="title"/>
          </p:nvPr>
        </p:nvSpPr>
        <p:spPr>
          <a:xfrm>
            <a:off x="448573" y="274638"/>
            <a:ext cx="11294854" cy="1143000"/>
          </a:xfrm>
        </p:spPr>
        <p:txBody>
          <a:bodyPr>
            <a:normAutofit/>
          </a:bodyPr>
          <a:lstStyle/>
          <a:p>
            <a:r>
              <a:rPr lang="en-US" dirty="0"/>
              <a:t>Organization and Function of the GABAergic System </a:t>
            </a:r>
            <a:r>
              <a:rPr lang="en-US" sz="1200" dirty="0"/>
              <a:t>(6 of 9)</a:t>
            </a:r>
            <a:endParaRPr lang="en-US" dirty="0"/>
          </a:p>
        </p:txBody>
      </p:sp>
      <p:sp>
        <p:nvSpPr>
          <p:cNvPr id="3" name="Text Placeholder 2"/>
          <p:cNvSpPr>
            <a:spLocks noGrp="1"/>
          </p:cNvSpPr>
          <p:nvPr>
            <p:ph idx="1"/>
          </p:nvPr>
        </p:nvSpPr>
        <p:spPr/>
        <p:txBody>
          <a:bodyPr>
            <a:normAutofit/>
          </a:bodyPr>
          <a:lstStyle/>
          <a:p>
            <a:pPr marL="457200" indent="-457200">
              <a:lnSpc>
                <a:spcPct val="90000"/>
              </a:lnSpc>
              <a:buNone/>
            </a:pPr>
            <a:r>
              <a:rPr lang="en-US" altLang="en-US" sz="3200" dirty="0"/>
              <a:t>The actions of GABA are primarily mediated by ionotropic GABA</a:t>
            </a:r>
            <a:r>
              <a:rPr lang="en-US" altLang="en-US" sz="3200" baseline="-25000" dirty="0"/>
              <a:t>A</a:t>
            </a:r>
            <a:r>
              <a:rPr lang="en-US" altLang="en-US" sz="3200" dirty="0"/>
              <a:t> receptors</a:t>
            </a:r>
          </a:p>
          <a:p>
            <a:r>
              <a:rPr lang="en-US" altLang="en-US" dirty="0"/>
              <a:t>Anesthetics strongly enhance GABA</a:t>
            </a:r>
            <a:r>
              <a:rPr lang="en-US" altLang="en-US" baseline="-25000" dirty="0"/>
              <a:t>A</a:t>
            </a:r>
            <a:r>
              <a:rPr lang="en-US" altLang="en-US" dirty="0"/>
              <a:t> receptor activity, usually as allosteric modulators</a:t>
            </a:r>
          </a:p>
          <a:p>
            <a:r>
              <a:rPr lang="en-US" altLang="en-US" dirty="0"/>
              <a:t>Anesthetics differentially affect receptors with particular subunit compositions</a:t>
            </a:r>
          </a:p>
          <a:p>
            <a:r>
              <a:rPr lang="en-US" altLang="en-US" dirty="0" err="1"/>
              <a:t>Neurosteroids</a:t>
            </a:r>
            <a:r>
              <a:rPr lang="en-US" altLang="en-US" dirty="0"/>
              <a:t>: synthesized in the brain by neurons and glia, act as signaling molecules; target allosteric binding sites on GABA</a:t>
            </a:r>
            <a:r>
              <a:rPr lang="en-US" altLang="en-US" baseline="-25000" dirty="0"/>
              <a:t>A</a:t>
            </a:r>
            <a:r>
              <a:rPr lang="en-US" altLang="en-US" dirty="0"/>
              <a:t> receptors</a:t>
            </a:r>
          </a:p>
        </p:txBody>
      </p:sp>
    </p:spTree>
    <p:extLst>
      <p:ext uri="{BB962C8B-B14F-4D97-AF65-F5344CB8AC3E}">
        <p14:creationId xmlns:p14="http://schemas.microsoft.com/office/powerpoint/2010/main" val="30225357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A2A0AD2-FBEC-45A0-BAEB-FD942B3FE70F}"/>
              </a:ext>
            </a:extLst>
          </p:cNvPr>
          <p:cNvSpPr>
            <a:spLocks noGrp="1"/>
          </p:cNvSpPr>
          <p:nvPr>
            <p:ph type="title"/>
          </p:nvPr>
        </p:nvSpPr>
        <p:spPr>
          <a:xfrm>
            <a:off x="448573" y="274638"/>
            <a:ext cx="11294854" cy="1143000"/>
          </a:xfrm>
        </p:spPr>
        <p:txBody>
          <a:bodyPr>
            <a:normAutofit/>
          </a:bodyPr>
          <a:lstStyle/>
          <a:p>
            <a:r>
              <a:rPr lang="en-US" dirty="0"/>
              <a:t>Organization and Function of the GABAergic System </a:t>
            </a:r>
            <a:r>
              <a:rPr lang="en-US" sz="1200" dirty="0"/>
              <a:t>(7 of 9)</a:t>
            </a:r>
            <a:endParaRPr lang="en-US" dirty="0"/>
          </a:p>
        </p:txBody>
      </p:sp>
      <p:sp>
        <p:nvSpPr>
          <p:cNvPr id="3" name="Text Placeholder 2"/>
          <p:cNvSpPr>
            <a:spLocks noGrp="1"/>
          </p:cNvSpPr>
          <p:nvPr>
            <p:ph idx="1"/>
          </p:nvPr>
        </p:nvSpPr>
        <p:spPr/>
        <p:txBody>
          <a:bodyPr>
            <a:normAutofit fontScale="92500" lnSpcReduction="20000"/>
          </a:bodyPr>
          <a:lstStyle/>
          <a:p>
            <a:pPr marL="0" indent="0">
              <a:spcBef>
                <a:spcPts val="1800"/>
              </a:spcBef>
              <a:buNone/>
            </a:pPr>
            <a:r>
              <a:rPr lang="en-US" sz="2600" u="sng" dirty="0"/>
              <a:t>BOX 8.2  THE CUTTING EDGE</a:t>
            </a:r>
          </a:p>
          <a:p>
            <a:pPr marL="0" indent="0">
              <a:buNone/>
            </a:pPr>
            <a:r>
              <a:rPr lang="en-US" sz="3500" i="1" dirty="0"/>
              <a:t>GABA</a:t>
            </a:r>
            <a:r>
              <a:rPr lang="en-US" sz="3500" i="1" baseline="-25000" dirty="0"/>
              <a:t>A</a:t>
            </a:r>
            <a:r>
              <a:rPr lang="en-US" sz="3500" i="1" dirty="0"/>
              <a:t> Receptor Modulation by </a:t>
            </a:r>
            <a:r>
              <a:rPr lang="en-US" sz="3500" i="1" dirty="0" err="1"/>
              <a:t>Neurosteroids</a:t>
            </a:r>
            <a:endParaRPr lang="en-US" sz="3500" i="1" dirty="0"/>
          </a:p>
          <a:p>
            <a:pPr>
              <a:lnSpc>
                <a:spcPct val="120000"/>
              </a:lnSpc>
              <a:spcBef>
                <a:spcPts val="1800"/>
              </a:spcBef>
            </a:pPr>
            <a:r>
              <a:rPr lang="en-US" sz="2600" dirty="0"/>
              <a:t>GABA</a:t>
            </a:r>
            <a:r>
              <a:rPr lang="en-US" sz="2600" baseline="-25000" dirty="0"/>
              <a:t>A</a:t>
            </a:r>
            <a:r>
              <a:rPr lang="en-US" sz="2600" dirty="0"/>
              <a:t> receptor positive allosteric modulators ALLO, THDOC, and AS have sedating, anxiolytic, and anticonvulsant action</a:t>
            </a:r>
          </a:p>
          <a:p>
            <a:pPr>
              <a:lnSpc>
                <a:spcPct val="120000"/>
              </a:lnSpc>
              <a:spcBef>
                <a:spcPts val="1800"/>
              </a:spcBef>
            </a:pPr>
            <a:r>
              <a:rPr lang="en-US" sz="2600" dirty="0"/>
              <a:t>GABA</a:t>
            </a:r>
            <a:r>
              <a:rPr lang="en-US" sz="2600" baseline="-25000" dirty="0"/>
              <a:t>A</a:t>
            </a:r>
            <a:r>
              <a:rPr lang="en-US" sz="2600" dirty="0"/>
              <a:t> receptor negative allosteric modulators PS and DHEAS result in opposite effects; but also positively modulate NMDA receptors</a:t>
            </a:r>
          </a:p>
          <a:p>
            <a:pPr>
              <a:lnSpc>
                <a:spcPct val="120000"/>
              </a:lnSpc>
              <a:spcBef>
                <a:spcPts val="1800"/>
              </a:spcBef>
            </a:pPr>
            <a:r>
              <a:rPr lang="en-US" sz="2600" b="0" i="0" u="none" strike="noStrike" baseline="0" dirty="0">
                <a:latin typeface="DINPro-Light"/>
              </a:rPr>
              <a:t>Studies indicate that </a:t>
            </a:r>
            <a:r>
              <a:rPr lang="en-US" sz="2600" b="0" i="0" u="none" strike="noStrike" baseline="0" dirty="0" err="1">
                <a:latin typeface="DINPro-Light"/>
              </a:rPr>
              <a:t>neurosteroids</a:t>
            </a:r>
            <a:r>
              <a:rPr lang="en-US" sz="2600" b="0" i="0" u="none" strike="noStrike" baseline="0" dirty="0">
                <a:latin typeface="DINPro-Light"/>
              </a:rPr>
              <a:t>, particularly ALLO, may be involved in catamenial epilepsy (heightened seizure susceptibility during the periovulatory or perimenstrual periods) and in postpartum depression.</a:t>
            </a:r>
            <a:endParaRPr lang="en-US" sz="2600" u="sng" dirty="0"/>
          </a:p>
        </p:txBody>
      </p:sp>
    </p:spTree>
    <p:extLst>
      <p:ext uri="{BB962C8B-B14F-4D97-AF65-F5344CB8AC3E}">
        <p14:creationId xmlns:p14="http://schemas.microsoft.com/office/powerpoint/2010/main" val="6580081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7816B9D-6903-4BF7-8BC4-CC0458FD4D38}"/>
              </a:ext>
            </a:extLst>
          </p:cNvPr>
          <p:cNvSpPr>
            <a:spLocks noGrp="1"/>
          </p:cNvSpPr>
          <p:nvPr>
            <p:ph type="title"/>
          </p:nvPr>
        </p:nvSpPr>
        <p:spPr>
          <a:xfrm>
            <a:off x="448573" y="274638"/>
            <a:ext cx="11294854" cy="1143000"/>
          </a:xfrm>
        </p:spPr>
        <p:txBody>
          <a:bodyPr>
            <a:normAutofit/>
          </a:bodyPr>
          <a:lstStyle/>
          <a:p>
            <a:r>
              <a:rPr lang="en-US" dirty="0"/>
              <a:t>Organization and Function of the GABAergic System </a:t>
            </a:r>
            <a:r>
              <a:rPr lang="en-US" sz="1200" dirty="0"/>
              <a:t>(8 of 9)</a:t>
            </a:r>
            <a:endParaRPr lang="en-US" dirty="0"/>
          </a:p>
        </p:txBody>
      </p:sp>
      <p:sp>
        <p:nvSpPr>
          <p:cNvPr id="3" name="Text Placeholder 2"/>
          <p:cNvSpPr>
            <a:spLocks noGrp="1"/>
          </p:cNvSpPr>
          <p:nvPr>
            <p:ph idx="1"/>
          </p:nvPr>
        </p:nvSpPr>
        <p:spPr>
          <a:xfrm>
            <a:off x="609600" y="1857781"/>
            <a:ext cx="11049000" cy="4525963"/>
          </a:xfrm>
        </p:spPr>
        <p:txBody>
          <a:bodyPr>
            <a:normAutofit fontScale="92500"/>
          </a:bodyPr>
          <a:lstStyle/>
          <a:p>
            <a:pPr marL="457200" indent="-457200">
              <a:lnSpc>
                <a:spcPct val="90000"/>
              </a:lnSpc>
              <a:buNone/>
            </a:pPr>
            <a:r>
              <a:rPr lang="en-US" altLang="en-US" sz="3500" dirty="0"/>
              <a:t>GABA also signals using metabotropic GABA</a:t>
            </a:r>
            <a:r>
              <a:rPr lang="en-US" altLang="en-US" sz="3500" baseline="-25000" dirty="0"/>
              <a:t>B</a:t>
            </a:r>
            <a:r>
              <a:rPr lang="en-US" altLang="en-US" sz="3500" dirty="0"/>
              <a:t> receptors</a:t>
            </a:r>
          </a:p>
          <a:p>
            <a:r>
              <a:rPr lang="en-US" altLang="en-US" dirty="0"/>
              <a:t>Postsynaptic GABA</a:t>
            </a:r>
            <a:r>
              <a:rPr lang="en-US" altLang="en-US" baseline="-25000" dirty="0"/>
              <a:t>B</a:t>
            </a:r>
            <a:r>
              <a:rPr lang="en-US" altLang="en-US" dirty="0"/>
              <a:t> receptors inhibit neuronal firing by stimulating K</a:t>
            </a:r>
            <a:r>
              <a:rPr lang="en-US" altLang="en-US" baseline="30000" dirty="0"/>
              <a:t>+</a:t>
            </a:r>
            <a:r>
              <a:rPr lang="en-US" altLang="en-US" dirty="0"/>
              <a:t> channel opening</a:t>
            </a:r>
          </a:p>
          <a:p>
            <a:r>
              <a:rPr lang="en-US" altLang="en-US" dirty="0"/>
              <a:t>Presynaptic GABA</a:t>
            </a:r>
            <a:r>
              <a:rPr lang="en-US" altLang="en-US" baseline="-25000" dirty="0"/>
              <a:t>B</a:t>
            </a:r>
            <a:r>
              <a:rPr lang="en-US" altLang="en-US" dirty="0"/>
              <a:t> receptors (acting as </a:t>
            </a:r>
            <a:r>
              <a:rPr lang="en-US" altLang="en-US" dirty="0" err="1"/>
              <a:t>autoreceptors</a:t>
            </a:r>
            <a:r>
              <a:rPr lang="en-US" altLang="en-US" dirty="0"/>
              <a:t> or heteroreceptors) inhibit transmitter release by inhibiting Ca</a:t>
            </a:r>
            <a:r>
              <a:rPr lang="en-US" altLang="en-US" baseline="30000" dirty="0"/>
              <a:t>2+</a:t>
            </a:r>
            <a:r>
              <a:rPr lang="en-US" altLang="en-US" dirty="0"/>
              <a:t> channel opening. </a:t>
            </a:r>
          </a:p>
          <a:p>
            <a:r>
              <a:rPr lang="en-US" altLang="en-US" dirty="0"/>
              <a:t>Both inhibit adenylyl cyclase, reducing rate of cAMP formation</a:t>
            </a:r>
          </a:p>
          <a:p>
            <a:r>
              <a:rPr lang="en-US" b="1" i="0" u="none" strike="noStrike" baseline="0" dirty="0"/>
              <a:t>Baclofen </a:t>
            </a:r>
            <a:r>
              <a:rPr lang="en-US" b="0" i="0" u="none" strike="noStrike" baseline="0" dirty="0"/>
              <a:t>(</a:t>
            </a:r>
            <a:r>
              <a:rPr lang="en-US" b="1" i="0" u="none" strike="noStrike" baseline="0" dirty="0" err="1"/>
              <a:t>Lioresal</a:t>
            </a:r>
            <a:r>
              <a:rPr lang="en-US" b="0" i="0" u="none" strike="noStrike" baseline="0" dirty="0"/>
              <a:t>): </a:t>
            </a:r>
            <a:r>
              <a:rPr lang="en-US" altLang="en-US" dirty="0"/>
              <a:t>GABA</a:t>
            </a:r>
            <a:r>
              <a:rPr lang="en-US" altLang="en-US" baseline="-25000" dirty="0"/>
              <a:t>B</a:t>
            </a:r>
            <a:r>
              <a:rPr lang="en-US" altLang="en-US" dirty="0"/>
              <a:t> agonist used as a muscle relaxant</a:t>
            </a:r>
          </a:p>
          <a:p>
            <a:r>
              <a:rPr lang="en-US" altLang="en-US" b="1" dirty="0" err="1"/>
              <a:t>Saclofen</a:t>
            </a:r>
            <a:r>
              <a:rPr lang="en-US" altLang="en-US" dirty="0"/>
              <a:t> and </a:t>
            </a:r>
            <a:r>
              <a:rPr lang="en-US" altLang="en-US" b="1" dirty="0"/>
              <a:t>2-hydroxysaclofen</a:t>
            </a:r>
            <a:r>
              <a:rPr lang="en-US" altLang="en-US" dirty="0"/>
              <a:t> are antagonists at GABA</a:t>
            </a:r>
            <a:r>
              <a:rPr lang="en-US" altLang="en-US" baseline="-25000" dirty="0"/>
              <a:t>B</a:t>
            </a:r>
            <a:r>
              <a:rPr lang="en-US" altLang="en-US" dirty="0"/>
              <a:t> receptors</a:t>
            </a:r>
          </a:p>
        </p:txBody>
      </p:sp>
    </p:spTree>
    <p:extLst>
      <p:ext uri="{BB962C8B-B14F-4D97-AF65-F5344CB8AC3E}">
        <p14:creationId xmlns:p14="http://schemas.microsoft.com/office/powerpoint/2010/main" val="11334816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D316BC7-A685-4747-9CD5-F5F49DEE5958}"/>
              </a:ext>
            </a:extLst>
          </p:cNvPr>
          <p:cNvSpPr>
            <a:spLocks noGrp="1"/>
          </p:cNvSpPr>
          <p:nvPr>
            <p:ph type="title"/>
          </p:nvPr>
        </p:nvSpPr>
        <p:spPr>
          <a:xfrm>
            <a:off x="448573" y="274638"/>
            <a:ext cx="11294854" cy="1143000"/>
          </a:xfrm>
        </p:spPr>
        <p:txBody>
          <a:bodyPr>
            <a:normAutofit/>
          </a:bodyPr>
          <a:lstStyle/>
          <a:p>
            <a:r>
              <a:rPr lang="en-US" dirty="0"/>
              <a:t>Organization and Function of the GABAergic System </a:t>
            </a:r>
            <a:r>
              <a:rPr lang="en-US" sz="1200" dirty="0"/>
              <a:t>(9 of 9)</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4</a:t>
            </a:r>
          </a:p>
          <a:p>
            <a:pPr marL="457200" indent="-457200">
              <a:spcBef>
                <a:spcPts val="2400"/>
              </a:spcBef>
              <a:buNone/>
            </a:pPr>
            <a:r>
              <a:rPr lang="en-US" sz="3200" dirty="0"/>
              <a:t>Which of the following is a positive allosteric modulator of the GABA</a:t>
            </a:r>
            <a:r>
              <a:rPr lang="en-US" sz="3200" baseline="-25000" dirty="0"/>
              <a:t>A</a:t>
            </a:r>
            <a:r>
              <a:rPr lang="en-US" sz="3200" dirty="0"/>
              <a:t> receptor?</a:t>
            </a:r>
          </a:p>
          <a:p>
            <a:pPr marL="914400" indent="-457200">
              <a:spcBef>
                <a:spcPts val="1200"/>
              </a:spcBef>
              <a:buFont typeface="Arial" pitchFamily="34" charset="0"/>
              <a:buAutoNum type="alphaLcPeriod"/>
            </a:pPr>
            <a:r>
              <a:rPr lang="en-US" sz="3200" dirty="0"/>
              <a:t>Bicuculline</a:t>
            </a:r>
          </a:p>
          <a:p>
            <a:pPr marL="914400" indent="-457200">
              <a:spcBef>
                <a:spcPts val="1200"/>
              </a:spcBef>
              <a:buFont typeface="Arial" pitchFamily="34" charset="0"/>
              <a:buAutoNum type="alphaLcPeriod"/>
            </a:pPr>
            <a:r>
              <a:rPr lang="en-US" sz="3200" dirty="0" err="1"/>
              <a:t>Muscimol</a:t>
            </a:r>
            <a:endParaRPr lang="en-US" sz="3200" dirty="0"/>
          </a:p>
          <a:p>
            <a:pPr marL="914400" indent="-457200">
              <a:spcBef>
                <a:spcPts val="1200"/>
              </a:spcBef>
              <a:buFont typeface="Arial" pitchFamily="34" charset="0"/>
              <a:buAutoNum type="alphaLcPeriod"/>
            </a:pPr>
            <a:r>
              <a:rPr lang="en-US" sz="3200" dirty="0"/>
              <a:t>BDZ</a:t>
            </a:r>
          </a:p>
        </p:txBody>
      </p:sp>
    </p:spTree>
    <p:extLst>
      <p:ext uri="{BB962C8B-B14F-4D97-AF65-F5344CB8AC3E}">
        <p14:creationId xmlns:p14="http://schemas.microsoft.com/office/powerpoint/2010/main" val="10902040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(4 of 4)</a:t>
            </a:r>
            <a:endParaRPr lang="en-US" dirty="0"/>
          </a:p>
        </p:txBody>
      </p:sp>
      <p:sp>
        <p:nvSpPr>
          <p:cNvPr id="3" name="Text Placeholder 2"/>
          <p:cNvSpPr>
            <a:spLocks noGrp="1"/>
          </p:cNvSpPr>
          <p:nvPr>
            <p:ph idx="1"/>
          </p:nvPr>
        </p:nvSpPr>
        <p:spPr/>
        <p:txBody>
          <a:bodyPr>
            <a:normAutofit fontScale="92500" lnSpcReduction="20000"/>
          </a:bodyPr>
          <a:lstStyle/>
          <a:p>
            <a:pPr marL="914400" indent="-914400">
              <a:lnSpc>
                <a:spcPct val="110000"/>
              </a:lnSpc>
              <a:buNone/>
            </a:pPr>
            <a:r>
              <a:rPr lang="en-US" dirty="0"/>
              <a:t>8.4.1  Describe use of GABA as a neurotransmitter both in local inhibitory interneurons and in projection neurons.</a:t>
            </a:r>
          </a:p>
          <a:p>
            <a:pPr marL="914400" indent="-914400">
              <a:lnSpc>
                <a:spcPct val="110000"/>
              </a:lnSpc>
              <a:buNone/>
            </a:pPr>
            <a:r>
              <a:rPr lang="en-US" dirty="0"/>
              <a:t>8.4.2  (a) Describe the subunit composition and electrophysiological properties of ionotropic GABAA receptors, (b) name the major drugs that act as agonists or antagonists of these receptors, and (c) discuss the classes of drugs that act as GABAA receptor positive allosteric modulators and the clinical applications of such drugs where appropriate.</a:t>
            </a:r>
          </a:p>
          <a:p>
            <a:pPr marL="914400" indent="-914400">
              <a:lnSpc>
                <a:spcPct val="110000"/>
              </a:lnSpc>
              <a:buNone/>
            </a:pPr>
            <a:r>
              <a:rPr lang="en-US" dirty="0"/>
              <a:t>8.4.3  Discuss evidence for a role for GABA and the GABAA receptor in epilepsy.</a:t>
            </a:r>
          </a:p>
          <a:p>
            <a:pPr marL="914400" indent="-914400">
              <a:lnSpc>
                <a:spcPct val="110000"/>
              </a:lnSpc>
              <a:buNone/>
            </a:pPr>
            <a:r>
              <a:rPr lang="en-US" dirty="0"/>
              <a:t>8.4.4  Describe the structure, signaling mechanisms, and functional roles of metabotropic GABAB receptors.</a:t>
            </a:r>
          </a:p>
        </p:txBody>
      </p:sp>
    </p:spTree>
    <p:extLst>
      <p:ext uri="{BB962C8B-B14F-4D97-AF65-F5344CB8AC3E}">
        <p14:creationId xmlns:p14="http://schemas.microsoft.com/office/powerpoint/2010/main" val="3264992740"/>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96">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56919D-3723-464B-9967-427A087CBD61}">
  <ds:schemaRefs>
    <ds:schemaRef ds:uri="http://schemas.microsoft.com/office/2006/documentManagement/types"/>
    <ds:schemaRef ds:uri="http://schemas.openxmlformats.org/package/2006/metadata/core-properties"/>
    <ds:schemaRef ds:uri="a6c716b4-9090-4de7-aadc-2aa5f812ad24"/>
    <ds:schemaRef ds:uri="http://purl.org/dc/dcmitype/"/>
    <ds:schemaRef ds:uri="http://schemas.microsoft.com/office/infopath/2007/PartnerControls"/>
    <ds:schemaRef ds:uri="http://purl.org/dc/elements/1.1/"/>
    <ds:schemaRef ds:uri="http://schemas.microsoft.com/office/2006/metadata/properties"/>
    <ds:schemaRef ds:uri="fd39d560-5c7d-4158-98a0-f420f8fdebce"/>
    <ds:schemaRef ds:uri="http://www.w3.org/XML/1998/namespace"/>
    <ds:schemaRef ds:uri="http://purl.org/dc/terms/"/>
  </ds:schemaRefs>
</ds:datastoreItem>
</file>

<file path=customXml/itemProps2.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57C1AB-C2BF-4446-AECB-681D578552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6211</TotalTime>
  <Words>4212</Words>
  <Application>Microsoft Office PowerPoint</Application>
  <PresentationFormat>Widescreen</PresentationFormat>
  <Paragraphs>387</Paragraphs>
  <Slides>60</Slides>
  <Notes>51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60</vt:i4>
      </vt:variant>
    </vt:vector>
  </HeadingPairs>
  <TitlesOfParts>
    <vt:vector size="73" baseType="lpstr">
      <vt:lpstr>ＭＳ Ｐゴシック</vt:lpstr>
      <vt:lpstr>Arial</vt:lpstr>
      <vt:lpstr>Calibri</vt:lpstr>
      <vt:lpstr>Courier New</vt:lpstr>
      <vt:lpstr>DINPro-Bold</vt:lpstr>
      <vt:lpstr>DINPro-Light</vt:lpstr>
      <vt:lpstr>DINPro-Regular</vt:lpstr>
      <vt:lpstr>PalatinoLT-Roman</vt:lpstr>
      <vt:lpstr>PalatinoLTStd-Italic</vt:lpstr>
      <vt:lpstr>PalatinoLTStd-Roman</vt:lpstr>
      <vt:lpstr>STIXTwoText</vt:lpstr>
      <vt:lpstr>Text Content Templates</vt:lpstr>
      <vt:lpstr>Figure-Only Templates</vt:lpstr>
      <vt:lpstr>Psychopharmacology: Drugs, the Brain, and Behavior</vt:lpstr>
      <vt:lpstr>Chapter 8 Glutamate and GABA</vt:lpstr>
      <vt:lpstr>Chapter 8 Learning Objectives (1 of 4)</vt:lpstr>
      <vt:lpstr>Chapter 8 Learning Objectives (2 of 4)</vt:lpstr>
      <vt:lpstr>Chapter 8 Learning Objectives (3 of 4)</vt:lpstr>
      <vt:lpstr>Chapter 8 Learning Objectives (4 of 4)</vt:lpstr>
      <vt:lpstr>Glutamate Synthesis, Release, and Inactivation (1 of 6)</vt:lpstr>
      <vt:lpstr>Glutamate Synthesis, Release, and Inactivation (2 of 6)</vt:lpstr>
      <vt:lpstr>Glutamate Synthesis, Release, and Inactivation (3 of 6)</vt:lpstr>
      <vt:lpstr>FIGURE 8.2  Phenotypic charac­teristics of mutant mice lacking EAAT2 </vt:lpstr>
      <vt:lpstr>Glutamate Synthesis, Release, and Inactivation (4 of 6)</vt:lpstr>
      <vt:lpstr>Glutamate Synthesis, Release, and Inactivation (5 of 6)</vt:lpstr>
      <vt:lpstr>FIGURE 8.3  Cycling of glutamate and glutamine between glutamatergic neurons and astrocytes </vt:lpstr>
      <vt:lpstr>Glutamate Synthesis, Release, and Inactivation (6 of 6)</vt:lpstr>
      <vt:lpstr>Review of Learning Objectives (1 of 4)</vt:lpstr>
      <vt:lpstr>Organization and Function of the Glutamatergic System  (1 of 14)</vt:lpstr>
      <vt:lpstr>Organization and Function of the Glutamatergic System  (2 of 14)</vt:lpstr>
      <vt:lpstr>FIGURE 8.4  Ion permeabilities of ionotropic glutamate receptor channels </vt:lpstr>
      <vt:lpstr>Organization and Function of the Glutamatergic System  (3 of 14)</vt:lpstr>
      <vt:lpstr>Organization and Function of the Glutamatergic System  (4 of 14)</vt:lpstr>
      <vt:lpstr>FIGURE 8.5  NMDA receptor properties </vt:lpstr>
      <vt:lpstr>FIGURE 8.6  Three-dimensional depiction of an NMDA receptor in the cell membrane </vt:lpstr>
      <vt:lpstr>Organization and Function of the Glutamatergic System  (5 of 14)</vt:lpstr>
      <vt:lpstr>Organization and Function of the Glutamatergic System  (6 of 14)</vt:lpstr>
      <vt:lpstr>Organization and Function of the Glutamatergic System  (7 of 14)</vt:lpstr>
      <vt:lpstr>Box 8.1  Clinical Applications: Fragile X Syndrome and Metabotropic Glutamate Receptor Antagonists: A Contemporary Saga of Translational Medicine</vt:lpstr>
      <vt:lpstr>Organization and Function of the Glutamatergic System  (8 of 14)</vt:lpstr>
      <vt:lpstr>Organization and Function of the Glutamatergic System  (9 of 14)</vt:lpstr>
      <vt:lpstr>FIGURE 8.7  A hypothesized role for NMDA receptors in associative learning </vt:lpstr>
      <vt:lpstr>Organization and Function of the Glutamatergic System  (10 of 14)</vt:lpstr>
      <vt:lpstr>FIGURE 8.8  Long-term potentiation of synaptic transmission </vt:lpstr>
      <vt:lpstr>FIGURE 8.9  Induction of long-term potentiation </vt:lpstr>
      <vt:lpstr>Organization and Function of the Glutamatergic System  (11 of 14)</vt:lpstr>
      <vt:lpstr>FIGURE 8.10  The underlying mechanism </vt:lpstr>
      <vt:lpstr>FIGURE 8.12  Conversion of a silent to a functional synapse by LTP </vt:lpstr>
      <vt:lpstr>Organization and Function of the Glutamatergic System  (12 of 14)</vt:lpstr>
      <vt:lpstr>FIGURE 8.13  Cell death by necrosis versus apoptosis </vt:lpstr>
      <vt:lpstr>Organization and Function of the Glutamatergic System  (13 of 14)</vt:lpstr>
      <vt:lpstr>Organization and Function of the Glutamatergic System  (14 of 14)</vt:lpstr>
      <vt:lpstr>Review of Learning Objectives (2 of 4)</vt:lpstr>
      <vt:lpstr>GABA Synthesis, Release, and Inactivation (1 of 5)</vt:lpstr>
      <vt:lpstr>GABA Synthesis, Release, and Inactivation (2 of 5)</vt:lpstr>
      <vt:lpstr>GABA Synthesis, Release, and Inactivation (3 of 5)</vt:lpstr>
      <vt:lpstr>FIGURE 8.15  Cycling of GABA between GABAergic neurons and astrocytes </vt:lpstr>
      <vt:lpstr>GABA Synthesis, Release, and Inactivation (4 of 5)</vt:lpstr>
      <vt:lpstr>FIGURE 8.16  Examples of co-transmission of GABA with other neurotransmitters </vt:lpstr>
      <vt:lpstr>GABA Synthesis, Release, and Inactivation (5 of 5)</vt:lpstr>
      <vt:lpstr>Chapter 8 Learning Objectives (3 of 4)</vt:lpstr>
      <vt:lpstr>Organization and Function of the GABAergic System (1 of 9)</vt:lpstr>
      <vt:lpstr>Organization and Function of the GABAergic System (2 of 9)</vt:lpstr>
      <vt:lpstr>Organization and Function of the GABAergic System (3 of 9)</vt:lpstr>
      <vt:lpstr>Organization and Function of the GABAergic System (4 of 9)</vt:lpstr>
      <vt:lpstr>FIGURE 8.17  The GABAA receptor </vt:lpstr>
      <vt:lpstr>Organization and Function of the GABAergic System (5 of 9)</vt:lpstr>
      <vt:lpstr>FIGURE 8.19  Positive allosteric modulation of the GABAA receptor by diazepam </vt:lpstr>
      <vt:lpstr>Organization and Function of the GABAergic System (6 of 9)</vt:lpstr>
      <vt:lpstr>Organization and Function of the GABAergic System (7 of 9)</vt:lpstr>
      <vt:lpstr>Organization and Function of the GABAergic System (8 of 9)</vt:lpstr>
      <vt:lpstr>Organization and Function of the GABAergic System (9 of 9)</vt:lpstr>
      <vt:lpstr>Review of Learning Objectives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51</cp:revision>
  <dcterms:created xsi:type="dcterms:W3CDTF">2021-11-13T04:08:54Z</dcterms:created>
  <dcterms:modified xsi:type="dcterms:W3CDTF">2022-03-09T22:45:49Z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