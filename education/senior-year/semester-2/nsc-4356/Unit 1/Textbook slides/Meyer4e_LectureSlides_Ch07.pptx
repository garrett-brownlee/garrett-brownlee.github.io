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 ContentType="image/tif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 id="2147483678" r:id="rId5"/>
    <p:sldMasterId id="2147483682" r:id="rId6"/>
  </p:sldMasterIdLst>
  <p:notesMasterIdLst>
    <p:notesMasterId r:id="rId50"/>
  </p:notesMasterIdLst>
  <p:handoutMasterIdLst>
    <p:handoutMasterId r:id="rId51"/>
  </p:handoutMasterIdLst>
  <p:sldIdLst>
    <p:sldId id="323" r:id="rId7"/>
    <p:sldId id="270" r:id="rId8"/>
    <p:sldId id="274" r:id="rId9"/>
    <p:sldId id="288" r:id="rId10"/>
    <p:sldId id="289" r:id="rId11"/>
    <p:sldId id="326" r:id="rId12"/>
    <p:sldId id="271" r:id="rId13"/>
    <p:sldId id="327" r:id="rId14"/>
    <p:sldId id="290" r:id="rId15"/>
    <p:sldId id="286" r:id="rId16"/>
    <p:sldId id="292" r:id="rId17"/>
    <p:sldId id="328" r:id="rId18"/>
    <p:sldId id="329" r:id="rId19"/>
    <p:sldId id="293" r:id="rId20"/>
    <p:sldId id="295" r:id="rId21"/>
    <p:sldId id="296" r:id="rId22"/>
    <p:sldId id="330" r:id="rId23"/>
    <p:sldId id="297" r:id="rId24"/>
    <p:sldId id="285" r:id="rId25"/>
    <p:sldId id="325" r:id="rId26"/>
    <p:sldId id="301" r:id="rId27"/>
    <p:sldId id="331" r:id="rId28"/>
    <p:sldId id="299" r:id="rId29"/>
    <p:sldId id="332" r:id="rId30"/>
    <p:sldId id="300" r:id="rId31"/>
    <p:sldId id="302" r:id="rId32"/>
    <p:sldId id="333" r:id="rId33"/>
    <p:sldId id="306" r:id="rId34"/>
    <p:sldId id="307" r:id="rId35"/>
    <p:sldId id="308" r:id="rId36"/>
    <p:sldId id="334" r:id="rId37"/>
    <p:sldId id="309" r:id="rId38"/>
    <p:sldId id="335" r:id="rId39"/>
    <p:sldId id="336" r:id="rId40"/>
    <p:sldId id="310" r:id="rId41"/>
    <p:sldId id="314" r:id="rId42"/>
    <p:sldId id="315" r:id="rId43"/>
    <p:sldId id="316" r:id="rId44"/>
    <p:sldId id="337" r:id="rId45"/>
    <p:sldId id="317" r:id="rId46"/>
    <p:sldId id="318" r:id="rId47"/>
    <p:sldId id="321" r:id="rId48"/>
    <p:sldId id="324"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A47"/>
    <a:srgbClr val="014478"/>
    <a:srgbClr val="001B47"/>
    <a:srgbClr val="1F497D"/>
    <a:srgbClr val="00214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10" autoAdjust="0"/>
    <p:restoredTop sz="89139" autoAdjust="0"/>
  </p:normalViewPr>
  <p:slideViewPr>
    <p:cSldViewPr snapToGrid="0" snapToObjects="1">
      <p:cViewPr varScale="1">
        <p:scale>
          <a:sx n="88" d="100"/>
          <a:sy n="88" d="100"/>
        </p:scale>
        <p:origin x="90" y="888"/>
      </p:cViewPr>
      <p:guideLst>
        <p:guide orient="horz" pos="2160"/>
        <p:guide pos="3840"/>
      </p:guideLst>
    </p:cSldViewPr>
  </p:slideViewPr>
  <p:outlineViewPr>
    <p:cViewPr>
      <p:scale>
        <a:sx n="33" d="100"/>
        <a:sy n="33" d="100"/>
      </p:scale>
      <p:origin x="0" y="-27486"/>
    </p:cViewPr>
  </p:outlineViewPr>
  <p:notesTextViewPr>
    <p:cViewPr>
      <p:scale>
        <a:sx n="100" d="100"/>
        <a:sy n="100" d="100"/>
      </p:scale>
      <p:origin x="0" y="0"/>
    </p:cViewPr>
  </p:notesTextViewPr>
  <p:sorterViewPr>
    <p:cViewPr>
      <p:scale>
        <a:sx n="100" d="100"/>
        <a:sy n="100" d="100"/>
      </p:scale>
      <p:origin x="0" y="-2796"/>
    </p:cViewPr>
  </p:sorterViewPr>
  <p:notesViewPr>
    <p:cSldViewPr snapToGrid="0" snapToObjects="1">
      <p:cViewPr varScale="1">
        <p:scale>
          <a:sx n="85" d="100"/>
          <a:sy n="85" d="100"/>
        </p:scale>
        <p:origin x="3132"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slide" Target="slides/slide35.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8" Type="http://schemas.openxmlformats.org/officeDocument/2006/relationships/slide" Target="slides/slide2.xml"/><Relationship Id="rId51" Type="http://schemas.openxmlformats.org/officeDocument/2006/relationships/handoutMaster" Target="handoutMasters/handoutMaster1.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8685613-ADFF-4141-B66C-A45235623B50}" type="datetimeFigureOut">
              <a:rPr lang="en-US" smtClean="0"/>
              <a:t>3/9/2022</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92E8A8-05A8-499B-9FC4-E546163481AE}" type="slidenum">
              <a:rPr lang="en-US" smtClean="0"/>
              <a:t>‹#›</a:t>
            </a:fld>
            <a:endParaRPr lang="en-US"/>
          </a:p>
        </p:txBody>
      </p:sp>
    </p:spTree>
    <p:extLst>
      <p:ext uri="{BB962C8B-B14F-4D97-AF65-F5344CB8AC3E}">
        <p14:creationId xmlns:p14="http://schemas.microsoft.com/office/powerpoint/2010/main" val="10491195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B1F5199-F7F4-4FB2-A2CD-22A2CFC87608}" type="datetimeFigureOut">
              <a:rPr lang="en-US" smtClean="0"/>
              <a:t>3/8/2022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56C0744-2FEF-4441-821D-70180A370937}" type="slidenum">
              <a:rPr lang="en-US" smtClean="0"/>
              <a:t>‹#›</a:t>
            </a:fld>
            <a:endParaRPr lang="en-US"/>
          </a:p>
        </p:txBody>
      </p:sp>
    </p:spTree>
    <p:extLst>
      <p:ext uri="{BB962C8B-B14F-4D97-AF65-F5344CB8AC3E}">
        <p14:creationId xmlns:p14="http://schemas.microsoft.com/office/powerpoint/2010/main" val="1271703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56C0744-2FEF-4441-821D-70180A370937}" type="slidenum">
              <a:rPr lang="en-US" smtClean="0"/>
              <a:t>1</a:t>
            </a:fld>
            <a:endParaRPr lang="en-US"/>
          </a:p>
        </p:txBody>
      </p:sp>
    </p:spTree>
    <p:extLst>
      <p:ext uri="{BB962C8B-B14F-4D97-AF65-F5344CB8AC3E}">
        <p14:creationId xmlns:p14="http://schemas.microsoft.com/office/powerpoint/2010/main" val="486279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5</a:t>
            </a:fld>
            <a:endParaRPr lang="en-US"/>
          </a:p>
        </p:txBody>
      </p:sp>
    </p:spTree>
    <p:extLst>
      <p:ext uri="{BB962C8B-B14F-4D97-AF65-F5344CB8AC3E}">
        <p14:creationId xmlns:p14="http://schemas.microsoft.com/office/powerpoint/2010/main" val="10286517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FIGURE 7.1</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Synthesis of acetylcholine (</a:t>
            </a:r>
            <a:r>
              <a:rPr lang="en-US" sz="1200" b="1" kern="1200" dirty="0" err="1">
                <a:solidFill>
                  <a:schemeClr val="tx1"/>
                </a:solidFill>
                <a:effectLst/>
                <a:latin typeface="+mn-lt"/>
                <a:ea typeface="+mn-ea"/>
                <a:cs typeface="+mn-cs"/>
              </a:rPr>
              <a:t>ACh</a:t>
            </a:r>
            <a:r>
              <a:rPr lang="en-US" sz="1200" b="1" kern="1200" dirty="0">
                <a:solidFill>
                  <a:schemeClr val="tx1"/>
                </a:solidFill>
                <a:effectLst/>
                <a:latin typeface="+mn-lt"/>
                <a:ea typeface="+mn-ea"/>
                <a:cs typeface="+mn-cs"/>
              </a:rPr>
              <a:t>) by choline acetyltransferase</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6</a:t>
            </a:fld>
            <a:endParaRPr lang="en-US"/>
          </a:p>
        </p:txBody>
      </p:sp>
    </p:spTree>
    <p:extLst>
      <p:ext uri="{BB962C8B-B14F-4D97-AF65-F5344CB8AC3E}">
        <p14:creationId xmlns:p14="http://schemas.microsoft.com/office/powerpoint/2010/main" val="35300154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7</a:t>
            </a:fld>
            <a:endParaRPr lang="en-US"/>
          </a:p>
        </p:txBody>
      </p:sp>
    </p:spTree>
    <p:extLst>
      <p:ext uri="{BB962C8B-B14F-4D97-AF65-F5344CB8AC3E}">
        <p14:creationId xmlns:p14="http://schemas.microsoft.com/office/powerpoint/2010/main" val="7660329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FIGURE 7.2</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 cholinergic synapse</a:t>
            </a:r>
            <a:r>
              <a:rPr lang="en-US" sz="1200" kern="1200" dirty="0">
                <a:solidFill>
                  <a:schemeClr val="tx1"/>
                </a:solidFill>
                <a:effectLst/>
                <a:latin typeface="+mn-lt"/>
                <a:ea typeface="+mn-ea"/>
                <a:cs typeface="+mn-cs"/>
              </a:rPr>
              <a: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processes of </a:t>
            </a:r>
            <a:r>
              <a:rPr lang="en-US" sz="1200" kern="1200" dirty="0" err="1">
                <a:solidFill>
                  <a:schemeClr val="tx1"/>
                </a:solidFill>
                <a:effectLst/>
                <a:latin typeface="+mn-lt"/>
                <a:ea typeface="+mn-ea"/>
                <a:cs typeface="+mn-cs"/>
              </a:rPr>
              <a:t>ACh</a:t>
            </a:r>
            <a:r>
              <a:rPr lang="en-US" sz="1200" kern="1200" dirty="0">
                <a:solidFill>
                  <a:schemeClr val="tx1"/>
                </a:solidFill>
                <a:effectLst/>
                <a:latin typeface="+mn-lt"/>
                <a:ea typeface="+mn-ea"/>
                <a:cs typeface="+mn-cs"/>
              </a:rPr>
              <a:t> synthesis and metabo­lism, presynaptic choline uptake, and vesicular </a:t>
            </a:r>
            <a:r>
              <a:rPr lang="en-US" sz="1200" kern="1200" dirty="0" err="1">
                <a:solidFill>
                  <a:schemeClr val="tx1"/>
                </a:solidFill>
                <a:effectLst/>
                <a:latin typeface="+mn-lt"/>
                <a:ea typeface="+mn-ea"/>
                <a:cs typeface="+mn-cs"/>
              </a:rPr>
              <a:t>ACh</a:t>
            </a:r>
            <a:r>
              <a:rPr lang="en-US" sz="1200" kern="1200" dirty="0">
                <a:solidFill>
                  <a:schemeClr val="tx1"/>
                </a:solidFill>
                <a:effectLst/>
                <a:latin typeface="+mn-lt"/>
                <a:ea typeface="+mn-ea"/>
                <a:cs typeface="+mn-cs"/>
              </a:rPr>
              <a:t> uptake and release occur at the synapse. Postsynaptic nicotinic and muscarinic </a:t>
            </a:r>
            <a:r>
              <a:rPr lang="en-US" sz="1200" kern="1200" dirty="0" err="1">
                <a:solidFill>
                  <a:schemeClr val="tx1"/>
                </a:solidFill>
                <a:effectLst/>
                <a:latin typeface="+mn-lt"/>
                <a:ea typeface="+mn-ea"/>
                <a:cs typeface="+mn-cs"/>
              </a:rPr>
              <a:t>ACh</a:t>
            </a:r>
            <a:r>
              <a:rPr lang="en-US" sz="1200" kern="1200" dirty="0">
                <a:solidFill>
                  <a:schemeClr val="tx1"/>
                </a:solidFill>
                <a:effectLst/>
                <a:latin typeface="+mn-lt"/>
                <a:ea typeface="+mn-ea"/>
                <a:cs typeface="+mn-cs"/>
              </a:rPr>
              <a:t> receptors are also shown. </a:t>
            </a:r>
            <a:r>
              <a:rPr lang="en-US" sz="1200" kern="1200" dirty="0" err="1">
                <a:solidFill>
                  <a:schemeClr val="tx1"/>
                </a:solidFill>
                <a:effectLst/>
                <a:latin typeface="+mn-lt"/>
                <a:ea typeface="+mn-ea"/>
                <a:cs typeface="+mn-cs"/>
              </a:rPr>
              <a:t>AChE</a:t>
            </a:r>
            <a:r>
              <a:rPr lang="en-US" sz="1200" kern="1200" dirty="0">
                <a:solidFill>
                  <a:schemeClr val="tx1"/>
                </a:solidFill>
                <a:effectLst/>
                <a:latin typeface="+mn-lt"/>
                <a:ea typeface="+mn-ea"/>
                <a:cs typeface="+mn-cs"/>
              </a:rPr>
              <a:t>, acetylcholinesterase; </a:t>
            </a:r>
            <a:r>
              <a:rPr lang="en-US" sz="1200" kern="1200" dirty="0" err="1">
                <a:solidFill>
                  <a:schemeClr val="tx1"/>
                </a:solidFill>
                <a:effectLst/>
                <a:latin typeface="+mn-lt"/>
                <a:ea typeface="+mn-ea"/>
                <a:cs typeface="+mn-cs"/>
              </a:rPr>
              <a:t>ChAT</a:t>
            </a:r>
            <a:r>
              <a:rPr lang="en-US" sz="1200" kern="1200" dirty="0">
                <a:solidFill>
                  <a:schemeClr val="tx1"/>
                </a:solidFill>
                <a:effectLst/>
                <a:latin typeface="+mn-lt"/>
                <a:ea typeface="+mn-ea"/>
                <a:cs typeface="+mn-cs"/>
              </a:rPr>
              <a:t>, choline acetyltransferase; HC-3, the drug hemicholinium-3; </a:t>
            </a:r>
            <a:r>
              <a:rPr lang="en-US" sz="1200" kern="1200" dirty="0" err="1">
                <a:solidFill>
                  <a:schemeClr val="tx1"/>
                </a:solidFill>
                <a:effectLst/>
                <a:latin typeface="+mn-lt"/>
                <a:ea typeface="+mn-ea"/>
                <a:cs typeface="+mn-cs"/>
              </a:rPr>
              <a:t>VAChT</a:t>
            </a:r>
            <a:r>
              <a:rPr lang="en-US" sz="1200" kern="1200" dirty="0">
                <a:solidFill>
                  <a:schemeClr val="tx1"/>
                </a:solidFill>
                <a:effectLst/>
                <a:latin typeface="+mn-lt"/>
                <a:ea typeface="+mn-ea"/>
                <a:cs typeface="+mn-cs"/>
              </a:rPr>
              <a:t>, vesicular </a:t>
            </a:r>
            <a:r>
              <a:rPr lang="en-US" sz="1200" kern="1200" dirty="0" err="1">
                <a:solidFill>
                  <a:schemeClr val="tx1"/>
                </a:solidFill>
                <a:effectLst/>
                <a:latin typeface="+mn-lt"/>
                <a:ea typeface="+mn-ea"/>
                <a:cs typeface="+mn-cs"/>
              </a:rPr>
              <a:t>ACh</a:t>
            </a:r>
            <a:r>
              <a:rPr lang="en-US" sz="1200" kern="1200" dirty="0">
                <a:solidFill>
                  <a:schemeClr val="tx1"/>
                </a:solidFill>
                <a:effectLst/>
                <a:latin typeface="+mn-lt"/>
                <a:ea typeface="+mn-ea"/>
                <a:cs typeface="+mn-cs"/>
              </a:rPr>
              <a:t> transporter.</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8</a:t>
            </a:fld>
            <a:endParaRPr lang="en-US"/>
          </a:p>
        </p:txBody>
      </p:sp>
    </p:spTree>
    <p:extLst>
      <p:ext uri="{BB962C8B-B14F-4D97-AF65-F5344CB8AC3E}">
        <p14:creationId xmlns:p14="http://schemas.microsoft.com/office/powerpoint/2010/main" val="26304051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9</a:t>
            </a:fld>
            <a:endParaRPr lang="en-US"/>
          </a:p>
        </p:txBody>
      </p:sp>
    </p:spTree>
    <p:extLst>
      <p:ext uri="{BB962C8B-B14F-4D97-AF65-F5344CB8AC3E}">
        <p14:creationId xmlns:p14="http://schemas.microsoft.com/office/powerpoint/2010/main" val="15298029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a:p>
          <a:p>
            <a:r>
              <a:rPr lang="en-US"/>
              <a:t>sdsdfsd</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10</a:t>
            </a:fld>
            <a:endParaRPr lang="en-US"/>
          </a:p>
        </p:txBody>
      </p:sp>
    </p:spTree>
    <p:extLst>
      <p:ext uri="{BB962C8B-B14F-4D97-AF65-F5344CB8AC3E}">
        <p14:creationId xmlns:p14="http://schemas.microsoft.com/office/powerpoint/2010/main" val="24791111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11</a:t>
            </a:fld>
            <a:endParaRPr lang="en-US"/>
          </a:p>
        </p:txBody>
      </p:sp>
    </p:spTree>
    <p:extLst>
      <p:ext uri="{BB962C8B-B14F-4D97-AF65-F5344CB8AC3E}">
        <p14:creationId xmlns:p14="http://schemas.microsoft.com/office/powerpoint/2010/main" val="34022373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FIGURE 7.3</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Breakdown of </a:t>
            </a:r>
            <a:r>
              <a:rPr lang="en-US" sz="1200" b="1" kern="1200" dirty="0" err="1">
                <a:solidFill>
                  <a:schemeClr val="tx1"/>
                </a:solidFill>
                <a:effectLst/>
                <a:latin typeface="+mn-lt"/>
                <a:ea typeface="+mn-ea"/>
                <a:cs typeface="+mn-cs"/>
              </a:rPr>
              <a:t>ACh</a:t>
            </a:r>
            <a:r>
              <a:rPr lang="en-US" sz="1200" b="1" kern="1200" dirty="0">
                <a:solidFill>
                  <a:schemeClr val="tx1"/>
                </a:solidFill>
                <a:effectLst/>
                <a:latin typeface="+mn-lt"/>
                <a:ea typeface="+mn-ea"/>
                <a:cs typeface="+mn-cs"/>
              </a:rPr>
              <a:t> by acetylcholinesterase</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12</a:t>
            </a:fld>
            <a:endParaRPr lang="en-US"/>
          </a:p>
        </p:txBody>
      </p:sp>
    </p:spTree>
    <p:extLst>
      <p:ext uri="{BB962C8B-B14F-4D97-AF65-F5344CB8AC3E}">
        <p14:creationId xmlns:p14="http://schemas.microsoft.com/office/powerpoint/2010/main" val="3910794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7.4</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Forms of acetylcholinesterase in the nervous system</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Three main forms of </a:t>
            </a:r>
            <a:r>
              <a:rPr lang="en-US" sz="1200" kern="1200" dirty="0" err="1">
                <a:solidFill>
                  <a:schemeClr val="tx1"/>
                </a:solidFill>
                <a:effectLst/>
                <a:latin typeface="+mn-lt"/>
                <a:ea typeface="+mn-ea"/>
                <a:cs typeface="+mn-cs"/>
              </a:rPr>
              <a:t>AChE</a:t>
            </a:r>
            <a:r>
              <a:rPr lang="en-US" sz="1200" kern="1200" dirty="0">
                <a:solidFill>
                  <a:schemeClr val="tx1"/>
                </a:solidFill>
                <a:effectLst/>
                <a:latin typeface="+mn-lt"/>
                <a:ea typeface="+mn-ea"/>
                <a:cs typeface="+mn-cs"/>
              </a:rPr>
              <a:t> occur within the brain and peripheral nervous system. Cholinergic neurons and postsynaptic neurons that receive </a:t>
            </a:r>
            <a:r>
              <a:rPr lang="en-US" sz="1200" kern="1200" dirty="0" err="1">
                <a:solidFill>
                  <a:schemeClr val="tx1"/>
                </a:solidFill>
                <a:effectLst/>
                <a:latin typeface="+mn-lt"/>
                <a:ea typeface="+mn-ea"/>
                <a:cs typeface="+mn-cs"/>
              </a:rPr>
              <a:t>ACh</a:t>
            </a:r>
            <a:r>
              <a:rPr lang="en-US" sz="1200" kern="1200" dirty="0">
                <a:solidFill>
                  <a:schemeClr val="tx1"/>
                </a:solidFill>
                <a:effectLst/>
                <a:latin typeface="+mn-lt"/>
                <a:ea typeface="+mn-ea"/>
                <a:cs typeface="+mn-cs"/>
              </a:rPr>
              <a:t> input synthesize the G4 forms of the enzyme. Most of the G4 </a:t>
            </a:r>
            <a:r>
              <a:rPr lang="en-US" sz="1200" kern="1200" dirty="0" err="1">
                <a:solidFill>
                  <a:schemeClr val="tx1"/>
                </a:solidFill>
                <a:effectLst/>
                <a:latin typeface="+mn-lt"/>
                <a:ea typeface="+mn-ea"/>
                <a:cs typeface="+mn-cs"/>
              </a:rPr>
              <a:t>AChE</a:t>
            </a:r>
            <a:r>
              <a:rPr lang="en-US" sz="1200" kern="1200" dirty="0">
                <a:solidFill>
                  <a:schemeClr val="tx1"/>
                </a:solidFill>
                <a:effectLst/>
                <a:latin typeface="+mn-lt"/>
                <a:ea typeface="+mn-ea"/>
                <a:cs typeface="+mn-cs"/>
              </a:rPr>
              <a:t> is bound to the cell membrane by a tail, as shown. At the neuromuscular junction, muscle cells synthesize the A12 form of </a:t>
            </a:r>
            <a:r>
              <a:rPr lang="en-US" sz="1200" kern="1200" dirty="0" err="1">
                <a:solidFill>
                  <a:schemeClr val="tx1"/>
                </a:solidFill>
                <a:effectLst/>
                <a:latin typeface="+mn-lt"/>
                <a:ea typeface="+mn-ea"/>
                <a:cs typeface="+mn-cs"/>
              </a:rPr>
              <a:t>AChE</a:t>
            </a:r>
            <a:r>
              <a:rPr lang="en-US" sz="1200" kern="1200" dirty="0">
                <a:solidFill>
                  <a:schemeClr val="tx1"/>
                </a:solidFill>
                <a:effectLst/>
                <a:latin typeface="+mn-lt"/>
                <a:ea typeface="+mn-ea"/>
                <a:cs typeface="+mn-cs"/>
              </a:rPr>
              <a:t> that possesses a collagen tail. This form is secreted into the neuromuscular junction, where the collagen tail anchors it to the extracellular matrix. (After R. L. </a:t>
            </a:r>
            <a:r>
              <a:rPr lang="en-US" sz="1200" kern="1200" dirty="0" err="1">
                <a:solidFill>
                  <a:schemeClr val="tx1"/>
                </a:solidFill>
                <a:effectLst/>
                <a:latin typeface="+mn-lt"/>
                <a:ea typeface="+mn-ea"/>
                <a:cs typeface="+mn-cs"/>
              </a:rPr>
              <a:t>Rotundo</a:t>
            </a:r>
            <a:r>
              <a:rPr lang="en-US" sz="1200" kern="1200" dirty="0">
                <a:solidFill>
                  <a:schemeClr val="tx1"/>
                </a:solidFill>
                <a:effectLst/>
                <a:latin typeface="+mn-lt"/>
                <a:ea typeface="+mn-ea"/>
                <a:cs typeface="+mn-cs"/>
              </a:rPr>
              <a:t>. 2020. </a:t>
            </a:r>
            <a:r>
              <a:rPr lang="en-US" sz="1200" i="1" kern="1200" dirty="0" err="1">
                <a:solidFill>
                  <a:schemeClr val="tx1"/>
                </a:solidFill>
                <a:effectLst/>
                <a:latin typeface="+mn-lt"/>
                <a:ea typeface="+mn-ea"/>
                <a:cs typeface="+mn-cs"/>
              </a:rPr>
              <a:t>Neurosci</a:t>
            </a:r>
            <a:r>
              <a:rPr lang="en-US" sz="1200" i="1" kern="1200" dirty="0">
                <a:solidFill>
                  <a:schemeClr val="tx1"/>
                </a:solidFill>
                <a:effectLst/>
                <a:latin typeface="+mn-lt"/>
                <a:ea typeface="+mn-ea"/>
                <a:cs typeface="+mn-cs"/>
              </a:rPr>
              <a:t> Lett</a:t>
            </a:r>
            <a:r>
              <a:rPr lang="en-US" sz="1200" kern="1200" dirty="0">
                <a:solidFill>
                  <a:schemeClr val="tx1"/>
                </a:solidFill>
                <a:effectLst/>
                <a:latin typeface="+mn-lt"/>
                <a:ea typeface="+mn-ea"/>
                <a:cs typeface="+mn-cs"/>
              </a:rPr>
              <a:t> 735: 135157. © 2020. Reprinted with permission from Elsevier.)</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13</a:t>
            </a:fld>
            <a:endParaRPr lang="en-US"/>
          </a:p>
        </p:txBody>
      </p:sp>
    </p:spTree>
    <p:extLst>
      <p:ext uri="{BB962C8B-B14F-4D97-AF65-F5344CB8AC3E}">
        <p14:creationId xmlns:p14="http://schemas.microsoft.com/office/powerpoint/2010/main" val="33230660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14</a:t>
            </a:fld>
            <a:endParaRPr lang="en-US"/>
          </a:p>
        </p:txBody>
      </p:sp>
    </p:spTree>
    <p:extLst>
      <p:ext uri="{BB962C8B-B14F-4D97-AF65-F5344CB8AC3E}">
        <p14:creationId xmlns:p14="http://schemas.microsoft.com/office/powerpoint/2010/main" val="22378239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15</a:t>
            </a:fld>
            <a:endParaRPr lang="en-US"/>
          </a:p>
        </p:txBody>
      </p:sp>
    </p:spTree>
    <p:extLst>
      <p:ext uri="{BB962C8B-B14F-4D97-AF65-F5344CB8AC3E}">
        <p14:creationId xmlns:p14="http://schemas.microsoft.com/office/powerpoint/2010/main" val="32033446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16</a:t>
            </a:fld>
            <a:endParaRPr lang="en-US"/>
          </a:p>
        </p:txBody>
      </p:sp>
    </p:spTree>
    <p:extLst>
      <p:ext uri="{BB962C8B-B14F-4D97-AF65-F5344CB8AC3E}">
        <p14:creationId xmlns:p14="http://schemas.microsoft.com/office/powerpoint/2010/main" val="32941657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7.6</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Myasthenia gravis, an autoimmune disorder 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myasthenia gravis, antibodies interfere with cholinergic transmission at the neuromuscular junction by binding to and blocking the muscle </a:t>
            </a:r>
            <a:r>
              <a:rPr lang="en-US" sz="1200" kern="1200" dirty="0" err="1">
                <a:solidFill>
                  <a:schemeClr val="tx1"/>
                </a:solidFill>
                <a:effectLst/>
                <a:latin typeface="+mn-lt"/>
                <a:ea typeface="+mn-ea"/>
                <a:cs typeface="+mn-cs"/>
              </a:rPr>
              <a:t>ACh</a:t>
            </a:r>
            <a:r>
              <a:rPr lang="en-US" sz="1200" kern="1200" dirty="0">
                <a:solidFill>
                  <a:schemeClr val="tx1"/>
                </a:solidFill>
                <a:effectLst/>
                <a:latin typeface="+mn-lt"/>
                <a:ea typeface="+mn-ea"/>
                <a:cs typeface="+mn-cs"/>
              </a:rPr>
              <a:t> receptors.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17</a:t>
            </a:fld>
            <a:endParaRPr lang="en-US"/>
          </a:p>
        </p:txBody>
      </p:sp>
    </p:spTree>
    <p:extLst>
      <p:ext uri="{BB962C8B-B14F-4D97-AF65-F5344CB8AC3E}">
        <p14:creationId xmlns:p14="http://schemas.microsoft.com/office/powerpoint/2010/main" val="22534727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18</a:t>
            </a:fld>
            <a:endParaRPr lang="en-US"/>
          </a:p>
        </p:txBody>
      </p:sp>
    </p:spTree>
    <p:extLst>
      <p:ext uri="{BB962C8B-B14F-4D97-AF65-F5344CB8AC3E}">
        <p14:creationId xmlns:p14="http://schemas.microsoft.com/office/powerpoint/2010/main" val="8698190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3200" u="sng" kern="1200" baseline="0" dirty="0">
                <a:solidFill>
                  <a:schemeClr val="tx1"/>
                </a:solidFill>
                <a:latin typeface="+mn-lt"/>
                <a:ea typeface="+mn-ea"/>
                <a:cs typeface="+mn-cs"/>
              </a:rPr>
              <a:t>Instructor Notes:</a:t>
            </a:r>
          </a:p>
          <a:p>
            <a:r>
              <a:rPr lang="en-US" sz="3200" kern="1200" baseline="0" dirty="0">
                <a:solidFill>
                  <a:schemeClr val="tx1"/>
                </a:solidFill>
                <a:latin typeface="+mn-lt"/>
                <a:ea typeface="+mn-ea"/>
                <a:cs typeface="+mn-cs"/>
              </a:rPr>
              <a:t>Correct</a:t>
            </a:r>
            <a:r>
              <a:rPr lang="en-US" dirty="0"/>
              <a:t> answer: c</a:t>
            </a:r>
          </a:p>
        </p:txBody>
      </p:sp>
      <p:sp>
        <p:nvSpPr>
          <p:cNvPr id="4" name="Slide Number Placeholder 3"/>
          <p:cNvSpPr>
            <a:spLocks noGrp="1"/>
          </p:cNvSpPr>
          <p:nvPr>
            <p:ph type="sldNum" sz="quarter" idx="5"/>
          </p:nvPr>
        </p:nvSpPr>
        <p:spPr/>
        <p:txBody>
          <a:bodyPr/>
          <a:lstStyle/>
          <a:p>
            <a:fld id="{556C0744-2FEF-4441-821D-70180A370937}" type="slidenum">
              <a:rPr lang="en-US" smtClean="0"/>
              <a:t>19</a:t>
            </a:fld>
            <a:endParaRPr lang="en-US"/>
          </a:p>
        </p:txBody>
      </p:sp>
    </p:spTree>
    <p:extLst>
      <p:ext uri="{BB962C8B-B14F-4D97-AF65-F5344CB8AC3E}">
        <p14:creationId xmlns:p14="http://schemas.microsoft.com/office/powerpoint/2010/main" val="25842292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21</a:t>
            </a:fld>
            <a:endParaRPr lang="en-US"/>
          </a:p>
        </p:txBody>
      </p:sp>
    </p:spTree>
    <p:extLst>
      <p:ext uri="{BB962C8B-B14F-4D97-AF65-F5344CB8AC3E}">
        <p14:creationId xmlns:p14="http://schemas.microsoft.com/office/powerpoint/2010/main" val="23643991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FIGURE 7.7  Cholinergic synapses in the parasympathetic and sympathetic branches of the autonomic nervous system</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22</a:t>
            </a:fld>
            <a:endParaRPr lang="en-US"/>
          </a:p>
        </p:txBody>
      </p:sp>
    </p:spTree>
    <p:extLst>
      <p:ext uri="{BB962C8B-B14F-4D97-AF65-F5344CB8AC3E}">
        <p14:creationId xmlns:p14="http://schemas.microsoft.com/office/powerpoint/2010/main" val="36531418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u="none" dirty="0"/>
              <a:t>Anticholinergic drugs used in Parkinson’s: </a:t>
            </a:r>
            <a:r>
              <a:rPr lang="en-US" sz="1800" b="1" i="0" u="none" strike="noStrike" baseline="0" dirty="0">
                <a:latin typeface="DINPro-Bold"/>
              </a:rPr>
              <a:t>orphenadrine </a:t>
            </a:r>
            <a:r>
              <a:rPr lang="en-US" sz="1800" b="0" i="0" u="none" strike="noStrike" baseline="0" dirty="0">
                <a:latin typeface="PalatinoLTStd-Roman"/>
              </a:rPr>
              <a:t>(</a:t>
            </a:r>
            <a:r>
              <a:rPr lang="en-US" sz="1800" b="1" i="0" u="none" strike="noStrike" baseline="0" dirty="0" err="1">
                <a:latin typeface="DINPro-Bold"/>
              </a:rPr>
              <a:t>Norflex</a:t>
            </a:r>
            <a:r>
              <a:rPr lang="en-US" sz="1800" b="0" i="0" u="none" strike="noStrike" baseline="0" dirty="0">
                <a:latin typeface="PalatinoLTStd-Roman"/>
              </a:rPr>
              <a:t>), </a:t>
            </a:r>
            <a:r>
              <a:rPr lang="en-US" sz="1800" b="1" i="0" u="none" strike="noStrike" baseline="0" dirty="0">
                <a:latin typeface="DINPro-Bold"/>
              </a:rPr>
              <a:t>benztropine mesylate </a:t>
            </a:r>
            <a:r>
              <a:rPr lang="en-US" sz="1800" b="0" i="0" u="none" strike="noStrike" baseline="0" dirty="0">
                <a:latin typeface="PalatinoLTStd-Roman"/>
              </a:rPr>
              <a:t>(</a:t>
            </a:r>
            <a:r>
              <a:rPr lang="en-US" sz="1800" b="1" i="0" u="none" strike="noStrike" baseline="0" dirty="0">
                <a:latin typeface="DINPro-Bold"/>
              </a:rPr>
              <a:t>Cogentin</a:t>
            </a:r>
            <a:r>
              <a:rPr lang="en-US" sz="1800" b="0" i="0" u="none" strike="noStrike" baseline="0" dirty="0">
                <a:latin typeface="PalatinoLTStd-Roman"/>
              </a:rPr>
              <a:t>), </a:t>
            </a:r>
            <a:r>
              <a:rPr lang="en-US" sz="1800" b="1" i="0" u="none" strike="noStrike" baseline="0" dirty="0">
                <a:latin typeface="DINPro-Bold"/>
              </a:rPr>
              <a:t>trihexyphenidyl </a:t>
            </a:r>
            <a:r>
              <a:rPr lang="en-US" sz="1800" b="0" i="0" u="none" strike="noStrike" baseline="0" dirty="0">
                <a:latin typeface="PalatinoLTStd-Roman"/>
              </a:rPr>
              <a:t>(</a:t>
            </a:r>
            <a:r>
              <a:rPr lang="en-US" sz="1800" b="1" i="0" u="none" strike="noStrike" baseline="0" dirty="0">
                <a:latin typeface="DINPro-Bold"/>
              </a:rPr>
              <a:t>Artane</a:t>
            </a:r>
            <a:r>
              <a:rPr lang="en-US" sz="1800" b="0" i="0" u="none" strike="noStrike" baseline="0" dirty="0">
                <a:latin typeface="PalatinoLTStd-Roman"/>
              </a:rPr>
              <a:t>), </a:t>
            </a:r>
            <a:r>
              <a:rPr lang="en-US" sz="1800" b="1" i="0" u="none" strike="noStrike" baseline="0" dirty="0">
                <a:latin typeface="DINPro-Bold"/>
              </a:rPr>
              <a:t>procyclidine </a:t>
            </a:r>
            <a:r>
              <a:rPr lang="en-US" sz="1800" b="0" i="0" u="none" strike="noStrike" baseline="0" dirty="0">
                <a:latin typeface="PalatinoLTStd-Roman"/>
              </a:rPr>
              <a:t>(</a:t>
            </a:r>
            <a:r>
              <a:rPr lang="en-US" sz="1800" b="1" i="0" u="none" strike="noStrike" baseline="0" dirty="0" err="1">
                <a:latin typeface="DINPro-Bold"/>
              </a:rPr>
              <a:t>Kemadrin</a:t>
            </a:r>
            <a:r>
              <a:rPr lang="en-US" sz="1800" b="0" i="0" u="none" strike="noStrike" baseline="0" dirty="0">
                <a:latin typeface="PalatinoLTStd-Roman"/>
              </a:rPr>
              <a:t>), and </a:t>
            </a:r>
            <a:r>
              <a:rPr lang="en-US" sz="1800" b="1" i="0" u="none" strike="noStrike" baseline="0" dirty="0">
                <a:latin typeface="DINPro-Bold"/>
              </a:rPr>
              <a:t>biperiden </a:t>
            </a:r>
            <a:r>
              <a:rPr lang="en-US" sz="1800" b="0" i="0" u="none" strike="noStrike" baseline="0" dirty="0">
                <a:latin typeface="PalatinoLTStd-Roman"/>
              </a:rPr>
              <a:t>(</a:t>
            </a:r>
            <a:r>
              <a:rPr lang="en-US" sz="1800" b="1" i="0" u="none" strike="noStrike" baseline="0" dirty="0" err="1">
                <a:latin typeface="DINPro-Bold"/>
              </a:rPr>
              <a:t>Akineton</a:t>
            </a:r>
            <a:r>
              <a:rPr lang="en-US" sz="1800" b="0" i="0" u="none" strike="noStrike" baseline="0" dirty="0">
                <a:latin typeface="PalatinoLTStd-Roman"/>
              </a:rPr>
              <a:t>)</a:t>
            </a:r>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23</a:t>
            </a:fld>
            <a:endParaRPr lang="en-US"/>
          </a:p>
        </p:txBody>
      </p:sp>
    </p:spTree>
    <p:extLst>
      <p:ext uri="{BB962C8B-B14F-4D97-AF65-F5344CB8AC3E}">
        <p14:creationId xmlns:p14="http://schemas.microsoft.com/office/powerpoint/2010/main" val="30633590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FIGURE 7.8</a:t>
            </a:r>
            <a:r>
              <a:rPr lang="en-US" sz="1200" b="1" kern="1200" dirty="0">
                <a:solidFill>
                  <a:schemeClr val="tx1"/>
                </a:solidFill>
                <a:effectLst/>
                <a:latin typeface="+mn-lt"/>
                <a:ea typeface="+mn-ea"/>
                <a:cs typeface="+mn-cs"/>
              </a:rPr>
              <a:t>  Anatomy of cholinergic pathways in the brain </a:t>
            </a:r>
            <a:br>
              <a:rPr lang="en-US" sz="1200" b="1"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cell bodies of cholinergic neurons are located primarily in the caudate–putamen, nucleus </a:t>
            </a:r>
            <a:r>
              <a:rPr lang="en-US" sz="1200" kern="1200" dirty="0" err="1">
                <a:solidFill>
                  <a:schemeClr val="tx1"/>
                </a:solidFill>
                <a:effectLst/>
                <a:latin typeface="+mn-lt"/>
                <a:ea typeface="+mn-ea"/>
                <a:cs typeface="+mn-cs"/>
              </a:rPr>
              <a:t>accumbens</a:t>
            </a:r>
            <a:r>
              <a:rPr lang="en-US" sz="1200" kern="1200" dirty="0">
                <a:solidFill>
                  <a:schemeClr val="tx1"/>
                </a:solidFill>
                <a:effectLst/>
                <a:latin typeface="+mn-lt"/>
                <a:ea typeface="+mn-ea"/>
                <a:cs typeface="+mn-cs"/>
              </a:rPr>
              <a:t>, nucleus basalis/substantia </a:t>
            </a:r>
            <a:r>
              <a:rPr lang="en-US" sz="1200" kern="1200" dirty="0" err="1">
                <a:solidFill>
                  <a:schemeClr val="tx1"/>
                </a:solidFill>
                <a:effectLst/>
                <a:latin typeface="+mn-lt"/>
                <a:ea typeface="+mn-ea"/>
                <a:cs typeface="+mn-cs"/>
              </a:rPr>
              <a:t>innominata</a:t>
            </a:r>
            <a:r>
              <a:rPr lang="en-US" sz="1200" kern="1200" dirty="0">
                <a:solidFill>
                  <a:schemeClr val="tx1"/>
                </a:solidFill>
                <a:effectLst/>
                <a:latin typeface="+mn-lt"/>
                <a:ea typeface="+mn-ea"/>
                <a:cs typeface="+mn-cs"/>
              </a:rPr>
              <a:t>, medial septum, diagonal band nuclei, pedunculopontine tegmental nucleus, and dorsolateral tegmental nucleus. Note that the basal forebrain cholinergic cell groups send fibers to all areas of the cortex, as well as to limbic system structures such as the hippocampus and amygdala. Cell groups of the pedunculopontine tegmental and dorsolateral tegmental nuclei primarily innervate subcortical structures except for those that (a) receive input from the basal forebrain system, and (b) contain cholinergic interneurons (i.e., caudate–putamen, and nucleus </a:t>
            </a:r>
            <a:r>
              <a:rPr lang="en-US" sz="1200" kern="1200" dirty="0" err="1">
                <a:solidFill>
                  <a:schemeClr val="tx1"/>
                </a:solidFill>
                <a:effectLst/>
                <a:latin typeface="+mn-lt"/>
                <a:ea typeface="+mn-ea"/>
                <a:cs typeface="+mn-cs"/>
              </a:rPr>
              <a:t>accumbens</a:t>
            </a:r>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24</a:t>
            </a:fld>
            <a:endParaRPr lang="en-US"/>
          </a:p>
        </p:txBody>
      </p:sp>
    </p:spTree>
    <p:extLst>
      <p:ext uri="{BB962C8B-B14F-4D97-AF65-F5344CB8AC3E}">
        <p14:creationId xmlns:p14="http://schemas.microsoft.com/office/powerpoint/2010/main" val="2875342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25</a:t>
            </a:fld>
            <a:endParaRPr lang="en-US"/>
          </a:p>
        </p:txBody>
      </p:sp>
    </p:spTree>
    <p:extLst>
      <p:ext uri="{BB962C8B-B14F-4D97-AF65-F5344CB8AC3E}">
        <p14:creationId xmlns:p14="http://schemas.microsoft.com/office/powerpoint/2010/main" val="41482994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dirty="0"/>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26</a:t>
            </a:fld>
            <a:endParaRPr lang="en-US"/>
          </a:p>
        </p:txBody>
      </p:sp>
    </p:spTree>
    <p:extLst>
      <p:ext uri="{BB962C8B-B14F-4D97-AF65-F5344CB8AC3E}">
        <p14:creationId xmlns:p14="http://schemas.microsoft.com/office/powerpoint/2010/main" val="25582624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ctr"/>
            <a:r>
              <a:rPr lang="en-US" sz="1200" b="1" kern="1200" cap="all" dirty="0">
                <a:solidFill>
                  <a:schemeClr val="tx1"/>
                </a:solidFill>
                <a:effectLst/>
                <a:latin typeface="+mn-lt"/>
                <a:ea typeface="+mn-ea"/>
                <a:cs typeface="+mn-cs"/>
              </a:rPr>
              <a:t>Box 7.2  </a:t>
            </a:r>
            <a:r>
              <a:rPr lang="en-US" sz="1200" b="1" kern="1200" dirty="0">
                <a:solidFill>
                  <a:schemeClr val="tx1"/>
                </a:solidFill>
                <a:effectLst/>
                <a:latin typeface="+mn-lt"/>
                <a:ea typeface="+mn-ea"/>
                <a:cs typeface="+mn-cs"/>
              </a:rPr>
              <a:t>The Cutting Edge: Acetylcholine and Cognitive Function</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Effects of optogenetic stimulation or inhibition of BFCS cholinergic neurons on visual cue detection</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 Mice exposed to a short-duration (25 </a:t>
            </a:r>
            <a:r>
              <a:rPr lang="en-US" sz="1200" kern="1200" dirty="0" err="1">
                <a:solidFill>
                  <a:schemeClr val="tx1"/>
                </a:solidFill>
                <a:effectLst/>
                <a:latin typeface="+mn-lt"/>
                <a:ea typeface="+mn-ea"/>
                <a:cs typeface="+mn-cs"/>
              </a:rPr>
              <a:t>ms</a:t>
            </a:r>
            <a:r>
              <a:rPr lang="en-US" sz="1200" kern="1200" dirty="0">
                <a:solidFill>
                  <a:schemeClr val="tx1"/>
                </a:solidFill>
                <a:effectLst/>
                <a:latin typeface="+mn-lt"/>
                <a:ea typeface="+mn-ea"/>
                <a:cs typeface="+mn-cs"/>
              </a:rPr>
              <a:t>) or long-duration (500 </a:t>
            </a:r>
            <a:r>
              <a:rPr lang="en-US" sz="1200" kern="1200" dirty="0" err="1">
                <a:solidFill>
                  <a:schemeClr val="tx1"/>
                </a:solidFill>
                <a:effectLst/>
                <a:latin typeface="+mn-lt"/>
                <a:ea typeface="+mn-ea"/>
                <a:cs typeface="+mn-cs"/>
              </a:rPr>
              <a:t>ms</a:t>
            </a:r>
            <a:r>
              <a:rPr lang="en-US" sz="1200" kern="1200" dirty="0">
                <a:solidFill>
                  <a:schemeClr val="tx1"/>
                </a:solidFill>
                <a:effectLst/>
                <a:latin typeface="+mn-lt"/>
                <a:ea typeface="+mn-ea"/>
                <a:cs typeface="+mn-cs"/>
              </a:rPr>
              <a:t>) visual cue (light flash) reported whether they detected the cue by performing a nose-poke response. The open bars show control performance that consisted of a low hit rate associated with the short cue and a high hit rate associated with the long cue. The solid blue bars show that optogenetic stimulation of the BFCS cholinergic neurons increased the hit rate to the short cue but had no effect on the hit rate to the long cue. (B) The open bars show results from the same control conditions as in (A). The solid red bars show performance associated with optogenetic inhibition of the cholinergic neurons. In this case, inhibition of the cells diminished the hit rate to the long cue but had no effect on the hit rate to the short cue. (A, B after H. J. </a:t>
            </a:r>
            <a:r>
              <a:rPr lang="en-US" sz="1200" kern="1200" dirty="0" err="1">
                <a:solidFill>
                  <a:schemeClr val="tx1"/>
                </a:solidFill>
                <a:effectLst/>
                <a:latin typeface="+mn-lt"/>
                <a:ea typeface="+mn-ea"/>
                <a:cs typeface="+mn-cs"/>
              </a:rPr>
              <a:t>Gritton</a:t>
            </a:r>
            <a:r>
              <a:rPr lang="en-US" sz="1200" kern="1200" dirty="0">
                <a:solidFill>
                  <a:schemeClr val="tx1"/>
                </a:solidFill>
                <a:effectLst/>
                <a:latin typeface="+mn-lt"/>
                <a:ea typeface="+mn-ea"/>
                <a:cs typeface="+mn-cs"/>
              </a:rPr>
              <a:t> et al. 2016. </a:t>
            </a:r>
            <a:r>
              <a:rPr lang="en-US" sz="1200" i="1" kern="1200" dirty="0">
                <a:solidFill>
                  <a:schemeClr val="tx1"/>
                </a:solidFill>
                <a:effectLst/>
                <a:latin typeface="+mn-lt"/>
                <a:ea typeface="+mn-ea"/>
                <a:cs typeface="+mn-cs"/>
              </a:rPr>
              <a:t>Proc Natl </a:t>
            </a:r>
            <a:r>
              <a:rPr lang="en-US" sz="1200" i="1" kern="1200" dirty="0" err="1">
                <a:solidFill>
                  <a:schemeClr val="tx1"/>
                </a:solidFill>
                <a:effectLst/>
                <a:latin typeface="+mn-lt"/>
                <a:ea typeface="+mn-ea"/>
                <a:cs typeface="+mn-cs"/>
              </a:rPr>
              <a:t>Acad</a:t>
            </a:r>
            <a:r>
              <a:rPr lang="en-US" sz="1200" i="1" kern="1200" dirty="0">
                <a:solidFill>
                  <a:schemeClr val="tx1"/>
                </a:solidFill>
                <a:effectLst/>
                <a:latin typeface="+mn-lt"/>
                <a:ea typeface="+mn-ea"/>
                <a:cs typeface="+mn-cs"/>
              </a:rPr>
              <a:t> Sci USA</a:t>
            </a:r>
            <a:r>
              <a:rPr lang="en-US" sz="1200" kern="1200" dirty="0">
                <a:solidFill>
                  <a:schemeClr val="tx1"/>
                </a:solidFill>
                <a:effectLst/>
                <a:latin typeface="+mn-lt"/>
                <a:ea typeface="+mn-ea"/>
                <a:cs typeface="+mn-cs"/>
              </a:rPr>
              <a:t> 113: E1089–E1097.)</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27</a:t>
            </a:fld>
            <a:endParaRPr lang="en-US"/>
          </a:p>
        </p:txBody>
      </p:sp>
    </p:spTree>
    <p:extLst>
      <p:ext uri="{BB962C8B-B14F-4D97-AF65-F5344CB8AC3E}">
        <p14:creationId xmlns:p14="http://schemas.microsoft.com/office/powerpoint/2010/main" val="31510795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28</a:t>
            </a:fld>
            <a:endParaRPr lang="en-US"/>
          </a:p>
        </p:txBody>
      </p:sp>
    </p:spTree>
    <p:extLst>
      <p:ext uri="{BB962C8B-B14F-4D97-AF65-F5344CB8AC3E}">
        <p14:creationId xmlns:p14="http://schemas.microsoft.com/office/powerpoint/2010/main" val="17802598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29</a:t>
            </a:fld>
            <a:endParaRPr lang="en-US"/>
          </a:p>
        </p:txBody>
      </p:sp>
    </p:spTree>
    <p:extLst>
      <p:ext uri="{BB962C8B-B14F-4D97-AF65-F5344CB8AC3E}">
        <p14:creationId xmlns:p14="http://schemas.microsoft.com/office/powerpoint/2010/main" val="28537776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30</a:t>
            </a:fld>
            <a:endParaRPr lang="en-US"/>
          </a:p>
        </p:txBody>
      </p:sp>
    </p:spTree>
    <p:extLst>
      <p:ext uri="{BB962C8B-B14F-4D97-AF65-F5344CB8AC3E}">
        <p14:creationId xmlns:p14="http://schemas.microsoft.com/office/powerpoint/2010/main" val="22187511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7.10</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Three common types of nicotinic </a:t>
            </a:r>
            <a:r>
              <a:rPr lang="en-US" sz="1200" b="1" kern="1200" dirty="0" err="1">
                <a:solidFill>
                  <a:schemeClr val="tx1"/>
                </a:solidFill>
                <a:effectLst/>
                <a:latin typeface="+mn-lt"/>
                <a:ea typeface="+mn-ea"/>
                <a:cs typeface="+mn-cs"/>
              </a:rPr>
              <a:t>ACh</a:t>
            </a:r>
            <a:r>
              <a:rPr lang="en-US" sz="1200" b="1" kern="1200" dirty="0">
                <a:solidFill>
                  <a:schemeClr val="tx1"/>
                </a:solidFill>
                <a:effectLst/>
                <a:latin typeface="+mn-lt"/>
                <a:ea typeface="+mn-ea"/>
                <a:cs typeface="+mn-cs"/>
              </a:rPr>
              <a:t> receptors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muscle nicotinic receptor shown on the left is designated as (α1)</a:t>
            </a:r>
            <a:r>
              <a:rPr lang="en-US" sz="1200" kern="1200" baseline="-25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(β1)(</a:t>
            </a:r>
            <a:r>
              <a:rPr lang="en-US" sz="1200" kern="1200" dirty="0" err="1">
                <a:solidFill>
                  <a:schemeClr val="tx1"/>
                </a:solidFill>
                <a:effectLst/>
                <a:latin typeface="+mn-lt"/>
                <a:ea typeface="+mn-ea"/>
                <a:cs typeface="+mn-cs"/>
              </a:rPr>
              <a:t>γ</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δ</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ε</a:t>
            </a:r>
            <a:r>
              <a:rPr lang="en-US" sz="1200" kern="1200" dirty="0">
                <a:solidFill>
                  <a:schemeClr val="tx1"/>
                </a:solidFill>
                <a:effectLst/>
                <a:latin typeface="+mn-lt"/>
                <a:ea typeface="+mn-ea"/>
                <a:cs typeface="+mn-cs"/>
              </a:rPr>
              <a:t>), which means that each receptor complex contains two α1 subunits, one β1 subunit, one </a:t>
            </a:r>
            <a:r>
              <a:rPr lang="en-US" sz="1200" kern="1200" dirty="0" err="1">
                <a:solidFill>
                  <a:schemeClr val="tx1"/>
                </a:solidFill>
                <a:effectLst/>
                <a:latin typeface="+mn-lt"/>
                <a:ea typeface="+mn-ea"/>
                <a:cs typeface="+mn-cs"/>
              </a:rPr>
              <a:t>γ</a:t>
            </a:r>
            <a:r>
              <a:rPr lang="en-US" sz="1200" kern="1200" dirty="0">
                <a:solidFill>
                  <a:schemeClr val="tx1"/>
                </a:solidFill>
                <a:effectLst/>
                <a:latin typeface="+mn-lt"/>
                <a:ea typeface="+mn-ea"/>
                <a:cs typeface="+mn-cs"/>
              </a:rPr>
              <a:t> subunit, and one </a:t>
            </a:r>
            <a:r>
              <a:rPr lang="en-US" sz="1200" kern="1200" dirty="0" err="1">
                <a:solidFill>
                  <a:schemeClr val="tx1"/>
                </a:solidFill>
                <a:effectLst/>
                <a:latin typeface="+mn-lt"/>
                <a:ea typeface="+mn-ea"/>
                <a:cs typeface="+mn-cs"/>
              </a:rPr>
              <a:t>δ</a:t>
            </a:r>
            <a:r>
              <a:rPr lang="en-US" sz="1200" kern="1200" dirty="0">
                <a:solidFill>
                  <a:schemeClr val="tx1"/>
                </a:solidFill>
                <a:effectLst/>
                <a:latin typeface="+mn-lt"/>
                <a:ea typeface="+mn-ea"/>
                <a:cs typeface="+mn-cs"/>
              </a:rPr>
              <a:t> or </a:t>
            </a:r>
            <a:r>
              <a:rPr lang="en-US" sz="1200" kern="1200" dirty="0" err="1">
                <a:solidFill>
                  <a:schemeClr val="tx1"/>
                </a:solidFill>
                <a:effectLst/>
                <a:latin typeface="+mn-lt"/>
                <a:ea typeface="+mn-ea"/>
                <a:cs typeface="+mn-cs"/>
              </a:rPr>
              <a:t>ε</a:t>
            </a:r>
            <a:r>
              <a:rPr lang="en-US" sz="1200" kern="1200" dirty="0">
                <a:solidFill>
                  <a:schemeClr val="tx1"/>
                </a:solidFill>
                <a:effectLst/>
                <a:latin typeface="+mn-lt"/>
                <a:ea typeface="+mn-ea"/>
                <a:cs typeface="+mn-cs"/>
              </a:rPr>
              <a:t> subunit. The </a:t>
            </a:r>
            <a:r>
              <a:rPr lang="en-US" sz="1200" kern="1200" dirty="0" err="1">
                <a:solidFill>
                  <a:schemeClr val="tx1"/>
                </a:solidFill>
                <a:effectLst/>
                <a:latin typeface="+mn-lt"/>
                <a:ea typeface="+mn-ea"/>
                <a:cs typeface="+mn-cs"/>
              </a:rPr>
              <a:t>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δ</a:t>
            </a:r>
            <a:r>
              <a:rPr lang="en-US" sz="1200" kern="1200" dirty="0">
                <a:solidFill>
                  <a:schemeClr val="tx1"/>
                </a:solidFill>
                <a:effectLst/>
                <a:latin typeface="+mn-lt"/>
                <a:ea typeface="+mn-ea"/>
                <a:cs typeface="+mn-cs"/>
              </a:rPr>
              <a:t>, and </a:t>
            </a:r>
            <a:r>
              <a:rPr lang="en-US" sz="1200" kern="1200" dirty="0" err="1">
                <a:solidFill>
                  <a:schemeClr val="tx1"/>
                </a:solidFill>
                <a:effectLst/>
                <a:latin typeface="+mn-lt"/>
                <a:ea typeface="+mn-ea"/>
                <a:cs typeface="+mn-cs"/>
              </a:rPr>
              <a:t>ε</a:t>
            </a:r>
            <a:r>
              <a:rPr lang="en-US" sz="1200" kern="1200" dirty="0">
                <a:solidFill>
                  <a:schemeClr val="tx1"/>
                </a:solidFill>
                <a:effectLst/>
                <a:latin typeface="+mn-lt"/>
                <a:ea typeface="+mn-ea"/>
                <a:cs typeface="+mn-cs"/>
              </a:rPr>
              <a:t> subunits each have only one form, which is why no numbering is needed in those cases. Nicotinic receptors in neurons are more complex because of the variety of α and β subunit combinations that have been detected in these cells. For simplicity, we are depicting here just two important kinds of neuronal nicotinic receptors found in the brain: (α4)</a:t>
            </a:r>
            <a:r>
              <a:rPr lang="en-US" sz="1200" kern="1200" baseline="-25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(β2)</a:t>
            </a:r>
            <a:r>
              <a:rPr lang="en-US" sz="1200" kern="1200" baseline="-25000" dirty="0">
                <a:solidFill>
                  <a:schemeClr val="tx1"/>
                </a:solidFill>
                <a:effectLst/>
                <a:latin typeface="+mn-lt"/>
                <a:ea typeface="+mn-ea"/>
                <a:cs typeface="+mn-cs"/>
              </a:rPr>
              <a:t>3</a:t>
            </a:r>
            <a:r>
              <a:rPr lang="en-US" sz="1200" kern="1200" dirty="0">
                <a:solidFill>
                  <a:schemeClr val="tx1"/>
                </a:solidFill>
                <a:effectLst/>
                <a:latin typeface="+mn-lt"/>
                <a:ea typeface="+mn-ea"/>
                <a:cs typeface="+mn-cs"/>
              </a:rPr>
              <a:t> and (α7)</a:t>
            </a:r>
            <a:r>
              <a:rPr lang="en-US" sz="1200" kern="1200" baseline="-25000" dirty="0">
                <a:solidFill>
                  <a:schemeClr val="tx1"/>
                </a:solidFill>
                <a:effectLst/>
                <a:latin typeface="+mn-lt"/>
                <a:ea typeface="+mn-ea"/>
                <a:cs typeface="+mn-cs"/>
              </a:rPr>
              <a:t>5</a:t>
            </a:r>
            <a:r>
              <a:rPr lang="en-US" sz="1200" kern="1200" dirty="0">
                <a:solidFill>
                  <a:schemeClr val="tx1"/>
                </a:solidFill>
                <a:effectLst/>
                <a:latin typeface="+mn-lt"/>
                <a:ea typeface="+mn-ea"/>
                <a:cs typeface="+mn-cs"/>
              </a:rPr>
              <a:t>. Note that the muscle and the (α4)</a:t>
            </a:r>
            <a:r>
              <a:rPr lang="en-US" sz="1200" kern="1200" baseline="-25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(β2)</a:t>
            </a:r>
            <a:r>
              <a:rPr lang="en-US" sz="1200" kern="1200" baseline="-25000" dirty="0">
                <a:solidFill>
                  <a:schemeClr val="tx1"/>
                </a:solidFill>
                <a:effectLst/>
                <a:latin typeface="+mn-lt"/>
                <a:ea typeface="+mn-ea"/>
                <a:cs typeface="+mn-cs"/>
              </a:rPr>
              <a:t>3</a:t>
            </a:r>
            <a:r>
              <a:rPr lang="en-US" sz="1200" kern="1200" dirty="0">
                <a:solidFill>
                  <a:schemeClr val="tx1"/>
                </a:solidFill>
                <a:effectLst/>
                <a:latin typeface="+mn-lt"/>
                <a:ea typeface="+mn-ea"/>
                <a:cs typeface="+mn-cs"/>
              </a:rPr>
              <a:t> receptors have two </a:t>
            </a:r>
            <a:r>
              <a:rPr lang="en-US" sz="1200" kern="1200" dirty="0" err="1">
                <a:solidFill>
                  <a:schemeClr val="tx1"/>
                </a:solidFill>
                <a:effectLst/>
                <a:latin typeface="+mn-lt"/>
                <a:ea typeface="+mn-ea"/>
                <a:cs typeface="+mn-cs"/>
              </a:rPr>
              <a:t>ACh</a:t>
            </a:r>
            <a:r>
              <a:rPr lang="en-US" sz="1200" kern="1200" dirty="0">
                <a:solidFill>
                  <a:schemeClr val="tx1"/>
                </a:solidFill>
                <a:effectLst/>
                <a:latin typeface="+mn-lt"/>
                <a:ea typeface="+mn-ea"/>
                <a:cs typeface="+mn-cs"/>
              </a:rPr>
              <a:t> binding sites, whereas the (α7)</a:t>
            </a:r>
            <a:r>
              <a:rPr lang="en-US" sz="1200" kern="1200" baseline="-25000" dirty="0">
                <a:solidFill>
                  <a:schemeClr val="tx1"/>
                </a:solidFill>
                <a:effectLst/>
                <a:latin typeface="+mn-lt"/>
                <a:ea typeface="+mn-ea"/>
                <a:cs typeface="+mn-cs"/>
              </a:rPr>
              <a:t>5</a:t>
            </a:r>
            <a:r>
              <a:rPr lang="en-US" sz="1200" kern="1200" dirty="0">
                <a:solidFill>
                  <a:schemeClr val="tx1"/>
                </a:solidFill>
                <a:effectLst/>
                <a:latin typeface="+mn-lt"/>
                <a:ea typeface="+mn-ea"/>
                <a:cs typeface="+mn-cs"/>
              </a:rPr>
              <a:t> receptor has five </a:t>
            </a:r>
            <a:r>
              <a:rPr lang="en-US" sz="1200" kern="1200" dirty="0" err="1">
                <a:solidFill>
                  <a:schemeClr val="tx1"/>
                </a:solidFill>
                <a:effectLst/>
                <a:latin typeface="+mn-lt"/>
                <a:ea typeface="+mn-ea"/>
                <a:cs typeface="+mn-cs"/>
              </a:rPr>
              <a:t>ACh</a:t>
            </a:r>
            <a:r>
              <a:rPr lang="en-US" sz="1200" kern="1200" dirty="0">
                <a:solidFill>
                  <a:schemeClr val="tx1"/>
                </a:solidFill>
                <a:effectLst/>
                <a:latin typeface="+mn-lt"/>
                <a:ea typeface="+mn-ea"/>
                <a:cs typeface="+mn-cs"/>
              </a:rPr>
              <a:t> binding sites. Whether two or five such sites are present, all must be occupied by </a:t>
            </a:r>
            <a:r>
              <a:rPr lang="en-US" sz="1200" kern="1200" dirty="0" err="1">
                <a:solidFill>
                  <a:schemeClr val="tx1"/>
                </a:solidFill>
                <a:effectLst/>
                <a:latin typeface="+mn-lt"/>
                <a:ea typeface="+mn-ea"/>
                <a:cs typeface="+mn-cs"/>
              </a:rPr>
              <a:t>ACh</a:t>
            </a:r>
            <a:r>
              <a:rPr lang="en-US" sz="1200" kern="1200" dirty="0">
                <a:solidFill>
                  <a:schemeClr val="tx1"/>
                </a:solidFill>
                <a:effectLst/>
                <a:latin typeface="+mn-lt"/>
                <a:ea typeface="+mn-ea"/>
                <a:cs typeface="+mn-cs"/>
              </a:rPr>
              <a:t> or another agonist such as nicotine for the receptor channel to open.</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31</a:t>
            </a:fld>
            <a:endParaRPr lang="en-US"/>
          </a:p>
        </p:txBody>
      </p:sp>
    </p:spTree>
    <p:extLst>
      <p:ext uri="{BB962C8B-B14F-4D97-AF65-F5344CB8AC3E}">
        <p14:creationId xmlns:p14="http://schemas.microsoft.com/office/powerpoint/2010/main" val="30563036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32</a:t>
            </a:fld>
            <a:endParaRPr lang="en-US"/>
          </a:p>
        </p:txBody>
      </p:sp>
    </p:spTree>
    <p:extLst>
      <p:ext uri="{BB962C8B-B14F-4D97-AF65-F5344CB8AC3E}">
        <p14:creationId xmlns:p14="http://schemas.microsoft.com/office/powerpoint/2010/main" val="37685541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7.11</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Composition of nicotinic receptor subtypes identified in selected areas of the human brain</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Multiple receptor subtypes are found in each of the brain regions shown in the figure. All of the receptors shown with an asterisk (*) contain two α and two β subunits [e.g., (α4)</a:t>
            </a:r>
            <a:r>
              <a:rPr lang="en-US" sz="1200" kern="1200" baseline="-25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(β2)</a:t>
            </a:r>
            <a:r>
              <a:rPr lang="en-US" sz="1200" kern="1200" baseline="-25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 in the caudate–­putamen] that form the two agonist binding sites. The fifth subunit is either an α or a β that does not participate in agonist binding. The α7β2 receptor shown in the basal forebrain is a rare subtype that is thought to be expressed only in this brain area. (After M. </a:t>
            </a:r>
            <a:r>
              <a:rPr lang="en-US" sz="1200" kern="1200" dirty="0" err="1">
                <a:solidFill>
                  <a:schemeClr val="tx1"/>
                </a:solidFill>
                <a:effectLst/>
                <a:latin typeface="+mn-lt"/>
                <a:ea typeface="+mn-ea"/>
                <a:cs typeface="+mn-cs"/>
              </a:rPr>
              <a:t>Zoli</a:t>
            </a:r>
            <a:r>
              <a:rPr lang="en-US" sz="1200" kern="1200" dirty="0">
                <a:solidFill>
                  <a:schemeClr val="tx1"/>
                </a:solidFill>
                <a:effectLst/>
                <a:latin typeface="+mn-lt"/>
                <a:ea typeface="+mn-ea"/>
                <a:cs typeface="+mn-cs"/>
              </a:rPr>
              <a:t> et al. 2015. </a:t>
            </a:r>
            <a:r>
              <a:rPr lang="en-US" sz="1200" i="1" kern="1200" dirty="0">
                <a:solidFill>
                  <a:schemeClr val="tx1"/>
                </a:solidFill>
                <a:effectLst/>
                <a:latin typeface="+mn-lt"/>
                <a:ea typeface="+mn-ea"/>
                <a:cs typeface="+mn-cs"/>
              </a:rPr>
              <a:t>Neuropharmacology</a:t>
            </a:r>
            <a:r>
              <a:rPr lang="en-US" sz="1200" kern="1200" dirty="0">
                <a:solidFill>
                  <a:schemeClr val="tx1"/>
                </a:solidFill>
                <a:effectLst/>
                <a:latin typeface="+mn-lt"/>
                <a:ea typeface="+mn-ea"/>
                <a:cs typeface="+mn-cs"/>
              </a:rPr>
              <a:t> 96: 302–311. © 2014. Reprinted with permission from Elsevier.)</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33</a:t>
            </a:fld>
            <a:endParaRPr lang="en-US"/>
          </a:p>
        </p:txBody>
      </p:sp>
    </p:spTree>
    <p:extLst>
      <p:ext uri="{BB962C8B-B14F-4D97-AF65-F5344CB8AC3E}">
        <p14:creationId xmlns:p14="http://schemas.microsoft.com/office/powerpoint/2010/main" val="14750639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7.12</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Functional states of the nicotinic </a:t>
            </a:r>
            <a:r>
              <a:rPr lang="en-US" sz="1200" b="1" kern="1200" dirty="0" err="1">
                <a:solidFill>
                  <a:schemeClr val="tx1"/>
                </a:solidFill>
                <a:effectLst/>
                <a:latin typeface="+mn-lt"/>
                <a:ea typeface="+mn-ea"/>
                <a:cs typeface="+mn-cs"/>
              </a:rPr>
              <a:t>ACh</a:t>
            </a:r>
            <a:r>
              <a:rPr lang="en-US" sz="1200" b="1" kern="1200" dirty="0">
                <a:solidFill>
                  <a:schemeClr val="tx1"/>
                </a:solidFill>
                <a:effectLst/>
                <a:latin typeface="+mn-lt"/>
                <a:ea typeface="+mn-ea"/>
                <a:cs typeface="+mn-cs"/>
              </a:rPr>
              <a:t> receptor</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receptor can exist in three different states: open, closed, and desensitized. A channel in the closed state can be opened by agonist binding (note that only a single agonist binding site is shown for the sake of simplicity). Dissociation of agonist from its binding site can return the receptor to the closed state. However, receptor complexes can also move between open or closed states to a state of desensitization, in which the receptor neither permits ion flow nor can be activated by agonist binding. The only way a desensitized receptor can be activated is to be </a:t>
            </a:r>
            <a:r>
              <a:rPr lang="en-US" sz="1200" kern="1200" dirty="0" err="1">
                <a:solidFill>
                  <a:schemeClr val="tx1"/>
                </a:solidFill>
                <a:effectLst/>
                <a:latin typeface="+mn-lt"/>
                <a:ea typeface="+mn-ea"/>
                <a:cs typeface="+mn-cs"/>
              </a:rPr>
              <a:t>resensitized</a:t>
            </a:r>
            <a:r>
              <a:rPr lang="en-US" sz="1200" kern="1200" dirty="0">
                <a:solidFill>
                  <a:schemeClr val="tx1"/>
                </a:solidFill>
                <a:effectLst/>
                <a:latin typeface="+mn-lt"/>
                <a:ea typeface="+mn-ea"/>
                <a:cs typeface="+mn-cs"/>
              </a:rPr>
              <a:t> into either a closed or open state. (After Z. S. Wu et al. 2015. </a:t>
            </a:r>
            <a:r>
              <a:rPr lang="en-US" sz="1200" i="1" kern="1200" dirty="0">
                <a:solidFill>
                  <a:schemeClr val="tx1"/>
                </a:solidFill>
                <a:effectLst/>
                <a:latin typeface="+mn-lt"/>
                <a:ea typeface="+mn-ea"/>
                <a:cs typeface="+mn-cs"/>
              </a:rPr>
              <a:t>Acta </a:t>
            </a:r>
            <a:r>
              <a:rPr lang="en-US" sz="1200" i="1" kern="1200" dirty="0" err="1">
                <a:solidFill>
                  <a:schemeClr val="tx1"/>
                </a:solidFill>
                <a:effectLst/>
                <a:latin typeface="+mn-lt"/>
                <a:ea typeface="+mn-ea"/>
                <a:cs typeface="+mn-cs"/>
              </a:rPr>
              <a:t>Pharmacol</a:t>
            </a:r>
            <a:r>
              <a:rPr lang="en-US" sz="1200" i="1" kern="1200" dirty="0">
                <a:solidFill>
                  <a:schemeClr val="tx1"/>
                </a:solidFill>
                <a:effectLst/>
                <a:latin typeface="+mn-lt"/>
                <a:ea typeface="+mn-ea"/>
                <a:cs typeface="+mn-cs"/>
              </a:rPr>
              <a:t> Sin</a:t>
            </a:r>
            <a:r>
              <a:rPr lang="en-US" sz="1200" kern="1200" dirty="0">
                <a:solidFill>
                  <a:schemeClr val="tx1"/>
                </a:solidFill>
                <a:effectLst/>
                <a:latin typeface="+mn-lt"/>
                <a:ea typeface="+mn-ea"/>
                <a:cs typeface="+mn-cs"/>
              </a:rPr>
              <a:t> 36: 895–907. Reprinted by permission of Springer Nature. </a:t>
            </a:r>
            <a:r>
              <a:rPr lang="en-US" sz="1200" kern="1200" dirty="0" err="1">
                <a:solidFill>
                  <a:schemeClr val="tx1"/>
                </a:solidFill>
                <a:effectLst/>
                <a:latin typeface="+mn-lt"/>
                <a:ea typeface="+mn-ea"/>
                <a:cs typeface="+mn-cs"/>
              </a:rPr>
              <a:t>doi.org</a:t>
            </a:r>
            <a:r>
              <a:rPr lang="en-US" sz="1200" kern="1200" dirty="0">
                <a:solidFill>
                  <a:schemeClr val="tx1"/>
                </a:solidFill>
                <a:effectLst/>
                <a:latin typeface="+mn-lt"/>
                <a:ea typeface="+mn-ea"/>
                <a:cs typeface="+mn-cs"/>
              </a:rPr>
              <a:t>/10.1038/aps.2015.66)</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34</a:t>
            </a:fld>
            <a:endParaRPr lang="en-US"/>
          </a:p>
        </p:txBody>
      </p:sp>
    </p:spTree>
    <p:extLst>
      <p:ext uri="{BB962C8B-B14F-4D97-AF65-F5344CB8AC3E}">
        <p14:creationId xmlns:p14="http://schemas.microsoft.com/office/powerpoint/2010/main" val="202317273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baseline="0" dirty="0">
                <a:latin typeface="DINPro-Bold"/>
              </a:rPr>
              <a:t>Succinylcholine </a:t>
            </a:r>
            <a:r>
              <a:rPr lang="en-US" sz="1200" b="0" i="0" u="none" strike="noStrike" baseline="0" dirty="0">
                <a:latin typeface="PalatinoLTStd-Roman"/>
              </a:rPr>
              <a:t>(</a:t>
            </a:r>
            <a:r>
              <a:rPr lang="en-US" sz="1200" b="1" i="0" u="none" strike="noStrike" baseline="0" dirty="0" err="1">
                <a:latin typeface="DINPro-Bold"/>
              </a:rPr>
              <a:t>suxamethonium</a:t>
            </a:r>
            <a:r>
              <a:rPr lang="en-US" sz="1200" b="0" i="0" u="none" strike="noStrike" baseline="0" dirty="0">
                <a:latin typeface="PalatinoLTStd-Roman"/>
              </a:rPr>
              <a:t>) powerful muscle relaxant; resistant to breakdown by </a:t>
            </a:r>
            <a:r>
              <a:rPr lang="en-US" sz="1200" b="0" i="0" u="none" strike="noStrike" baseline="0" dirty="0" err="1">
                <a:latin typeface="PalatinoLTStd-Roman"/>
              </a:rPr>
              <a:t>AChE</a:t>
            </a:r>
            <a:r>
              <a:rPr lang="en-US" sz="1200" b="0" i="0" u="none" strike="noStrike" baseline="0" dirty="0">
                <a:latin typeface="PalatinoLTStd-Roman"/>
              </a:rPr>
              <a:t>; thus it continuously stimulates the </a:t>
            </a:r>
            <a:r>
              <a:rPr lang="en-US" sz="1200" b="0" i="0" u="none" strike="noStrike" baseline="0" dirty="0" err="1">
                <a:latin typeface="PalatinoLTStd-Roman"/>
              </a:rPr>
              <a:t>nAChRs</a:t>
            </a:r>
            <a:r>
              <a:rPr lang="en-US" sz="1200" b="0" i="0" u="none" strike="noStrike" baseline="0" dirty="0">
                <a:latin typeface="PalatinoLTStd-Roman"/>
              </a:rPr>
              <a:t> and induces a depolarization block of the muscle cells.</a:t>
            </a:r>
            <a:endParaRPr lang="en-US" u="sng" dirty="0"/>
          </a:p>
          <a:p>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35</a:t>
            </a:fld>
            <a:endParaRPr lang="en-US"/>
          </a:p>
        </p:txBody>
      </p:sp>
    </p:spTree>
    <p:extLst>
      <p:ext uri="{BB962C8B-B14F-4D97-AF65-F5344CB8AC3E}">
        <p14:creationId xmlns:p14="http://schemas.microsoft.com/office/powerpoint/2010/main" val="265064294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36</a:t>
            </a:fld>
            <a:endParaRPr lang="en-US"/>
          </a:p>
        </p:txBody>
      </p:sp>
    </p:spTree>
    <p:extLst>
      <p:ext uri="{BB962C8B-B14F-4D97-AF65-F5344CB8AC3E}">
        <p14:creationId xmlns:p14="http://schemas.microsoft.com/office/powerpoint/2010/main" val="23480191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37</a:t>
            </a:fld>
            <a:endParaRPr lang="en-US"/>
          </a:p>
        </p:txBody>
      </p:sp>
    </p:spTree>
    <p:extLst>
      <p:ext uri="{BB962C8B-B14F-4D97-AF65-F5344CB8AC3E}">
        <p14:creationId xmlns:p14="http://schemas.microsoft.com/office/powerpoint/2010/main" val="230311499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38</a:t>
            </a:fld>
            <a:endParaRPr lang="en-US"/>
          </a:p>
        </p:txBody>
      </p:sp>
    </p:spTree>
    <p:extLst>
      <p:ext uri="{BB962C8B-B14F-4D97-AF65-F5344CB8AC3E}">
        <p14:creationId xmlns:p14="http://schemas.microsoft.com/office/powerpoint/2010/main" val="39407833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7.13</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Administration of an M</a:t>
            </a:r>
            <a:r>
              <a:rPr lang="en-US" sz="1200" b="1" kern="1200" baseline="-25000" dirty="0">
                <a:solidFill>
                  <a:schemeClr val="tx1"/>
                </a:solidFill>
                <a:effectLst/>
                <a:latin typeface="+mn-lt"/>
                <a:ea typeface="+mn-ea"/>
                <a:cs typeface="+mn-cs"/>
              </a:rPr>
              <a:t>5</a:t>
            </a:r>
            <a:r>
              <a:rPr lang="en-US" sz="1200" b="1" kern="1200" dirty="0">
                <a:solidFill>
                  <a:schemeClr val="tx1"/>
                </a:solidFill>
                <a:effectLst/>
                <a:latin typeface="+mn-lt"/>
                <a:ea typeface="+mn-ea"/>
                <a:cs typeface="+mn-cs"/>
              </a:rPr>
              <a:t> muscarinic receptor negative allosteric modulator reduces voluntary ethanol consumption in </a:t>
            </a:r>
            <a:r>
              <a:rPr lang="en-US" sz="1200" b="1" kern="1200" dirty="0" err="1">
                <a:solidFill>
                  <a:schemeClr val="tx1"/>
                </a:solidFill>
                <a:effectLst/>
                <a:latin typeface="+mn-lt"/>
                <a:ea typeface="+mn-ea"/>
                <a:cs typeface="+mn-cs"/>
              </a:rPr>
              <a:t>iP</a:t>
            </a:r>
            <a:r>
              <a:rPr lang="en-US" sz="1200" b="1" kern="1200" dirty="0">
                <a:solidFill>
                  <a:schemeClr val="tx1"/>
                </a:solidFill>
                <a:effectLst/>
                <a:latin typeface="+mn-lt"/>
                <a:ea typeface="+mn-ea"/>
                <a:cs typeface="+mn-cs"/>
              </a:rPr>
              <a:t> rats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Male </a:t>
            </a:r>
            <a:r>
              <a:rPr lang="en-US" sz="1200" kern="1200" dirty="0" err="1">
                <a:solidFill>
                  <a:schemeClr val="tx1"/>
                </a:solidFill>
                <a:effectLst/>
                <a:latin typeface="+mn-lt"/>
                <a:ea typeface="+mn-ea"/>
                <a:cs typeface="+mn-cs"/>
              </a:rPr>
              <a:t>iP</a:t>
            </a:r>
            <a:r>
              <a:rPr lang="en-US" sz="1200" kern="1200" dirty="0">
                <a:solidFill>
                  <a:schemeClr val="tx1"/>
                </a:solidFill>
                <a:effectLst/>
                <a:latin typeface="+mn-lt"/>
                <a:ea typeface="+mn-ea"/>
                <a:cs typeface="+mn-cs"/>
              </a:rPr>
              <a:t> rats (a strain of animals genetically selected to consume ethanol voluntarily) were trained to press a lever for a 10% ethanol/water solution reinforcer. A second lever in the chamber delivered a water-only solution instead. A separate set of learning trials was conducted using a sucrose (sugar) solution as the re­inforcer. After the animals had been trained on these tasks, they were given test trials with either ethanol or sucrose reinforcement after being given either the M</a:t>
            </a:r>
            <a:r>
              <a:rPr lang="en-US" sz="1200" kern="1200" baseline="-25000" dirty="0">
                <a:solidFill>
                  <a:schemeClr val="tx1"/>
                </a:solidFill>
                <a:effectLst/>
                <a:latin typeface="+mn-lt"/>
                <a:ea typeface="+mn-ea"/>
                <a:cs typeface="+mn-cs"/>
              </a:rPr>
              <a:t>5</a:t>
            </a:r>
            <a:r>
              <a:rPr lang="en-US" sz="1200" kern="1200" dirty="0">
                <a:solidFill>
                  <a:schemeClr val="tx1"/>
                </a:solidFill>
                <a:effectLst/>
                <a:latin typeface="+mn-lt"/>
                <a:ea typeface="+mn-ea"/>
                <a:cs typeface="+mn-cs"/>
              </a:rPr>
              <a:t> receptor negative allosteric modulator ML375 (30 mg/kg, injected IP three times at 27, 11, and 3 hours before testing) or the drug vehicle. (A) In the ethanol test, ML375 pretreatment significantly reduced the number of responses on the ethanol lever (open vs. striped bars) but had no effect on the small number of responses on the lever that delivered water (solid bars). (B) In contrast to the ethanol results, ML375 had no effect on responding for sucrose reinforcement. (From A. E. </a:t>
            </a:r>
            <a:r>
              <a:rPr lang="en-US" sz="1200" kern="1200" dirty="0" err="1">
                <a:solidFill>
                  <a:schemeClr val="tx1"/>
                </a:solidFill>
                <a:effectLst/>
                <a:latin typeface="+mn-lt"/>
                <a:ea typeface="+mn-ea"/>
                <a:cs typeface="+mn-cs"/>
              </a:rPr>
              <a:t>Berizzi</a:t>
            </a:r>
            <a:r>
              <a:rPr lang="en-US" sz="1200" kern="1200" dirty="0">
                <a:solidFill>
                  <a:schemeClr val="tx1"/>
                </a:solidFill>
                <a:effectLst/>
                <a:latin typeface="+mn-lt"/>
                <a:ea typeface="+mn-ea"/>
                <a:cs typeface="+mn-cs"/>
              </a:rPr>
              <a:t> et al. 2018. </a:t>
            </a:r>
            <a:r>
              <a:rPr lang="en-US" sz="1200" i="1" kern="1200" dirty="0">
                <a:solidFill>
                  <a:schemeClr val="tx1"/>
                </a:solidFill>
                <a:effectLst/>
                <a:latin typeface="+mn-lt"/>
                <a:ea typeface="+mn-ea"/>
                <a:cs typeface="+mn-cs"/>
              </a:rPr>
              <a:t>Neuropsychopharmacology</a:t>
            </a:r>
            <a:r>
              <a:rPr lang="en-US" sz="1200" kern="1200" dirty="0">
                <a:solidFill>
                  <a:schemeClr val="tx1"/>
                </a:solidFill>
                <a:effectLst/>
                <a:latin typeface="+mn-lt"/>
                <a:ea typeface="+mn-ea"/>
                <a:cs typeface="+mn-cs"/>
              </a:rPr>
              <a:t> 43: 1510–1517. </a:t>
            </a:r>
            <a:r>
              <a:rPr lang="en-US" sz="1200" kern="1200" dirty="0" err="1">
                <a:solidFill>
                  <a:schemeClr val="tx1"/>
                </a:solidFill>
                <a:effectLst/>
                <a:latin typeface="+mn-lt"/>
                <a:ea typeface="+mn-ea"/>
                <a:cs typeface="+mn-cs"/>
              </a:rPr>
              <a:t>doi.org</a:t>
            </a:r>
            <a:r>
              <a:rPr lang="en-US" sz="1200" kern="1200" dirty="0">
                <a:solidFill>
                  <a:schemeClr val="tx1"/>
                </a:solidFill>
                <a:effectLst/>
                <a:latin typeface="+mn-lt"/>
                <a:ea typeface="+mn-ea"/>
                <a:cs typeface="+mn-cs"/>
              </a:rPr>
              <a:t>/10.1038/s41386-017-0007-3. CC BY 4.0, </a:t>
            </a:r>
            <a:r>
              <a:rPr lang="en-US" sz="1200" kern="1200" dirty="0" err="1">
                <a:solidFill>
                  <a:schemeClr val="tx1"/>
                </a:solidFill>
                <a:effectLst/>
                <a:latin typeface="+mn-lt"/>
                <a:ea typeface="+mn-ea"/>
                <a:cs typeface="+mn-cs"/>
              </a:rPr>
              <a:t>creativecommons.org</a:t>
            </a:r>
            <a:r>
              <a:rPr lang="en-US" sz="1200" kern="1200" dirty="0">
                <a:solidFill>
                  <a:schemeClr val="tx1"/>
                </a:solidFill>
                <a:effectLst/>
                <a:latin typeface="+mn-lt"/>
                <a:ea typeface="+mn-ea"/>
                <a:cs typeface="+mn-cs"/>
              </a:rPr>
              <a:t>/licenses/by/4.0/)</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39</a:t>
            </a:fld>
            <a:endParaRPr lang="en-US"/>
          </a:p>
        </p:txBody>
      </p:sp>
    </p:spTree>
    <p:extLst>
      <p:ext uri="{BB962C8B-B14F-4D97-AF65-F5344CB8AC3E}">
        <p14:creationId xmlns:p14="http://schemas.microsoft.com/office/powerpoint/2010/main" val="322812868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40</a:t>
            </a:fld>
            <a:endParaRPr lang="en-US"/>
          </a:p>
        </p:txBody>
      </p:sp>
    </p:spTree>
    <p:extLst>
      <p:ext uri="{BB962C8B-B14F-4D97-AF65-F5344CB8AC3E}">
        <p14:creationId xmlns:p14="http://schemas.microsoft.com/office/powerpoint/2010/main" val="14400275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sz="1800" b="0" i="0" u="none" strike="noStrike" baseline="0" dirty="0">
                <a:latin typeface="PalatinoLTStd-Roman"/>
              </a:rPr>
              <a:t>Muscarine: from </a:t>
            </a:r>
            <a:r>
              <a:rPr lang="en-US" sz="1800" b="0" i="1" u="none" strike="noStrike" baseline="0" dirty="0">
                <a:latin typeface="PalatinoLTStd-Italic"/>
              </a:rPr>
              <a:t>Amanita muscaria</a:t>
            </a:r>
            <a:r>
              <a:rPr lang="en-US" sz="1800" b="0" i="0" u="none" strike="noStrike" baseline="0" dirty="0">
                <a:latin typeface="PalatinoLTStd-Roman"/>
              </a:rPr>
              <a:t> mushrooms</a:t>
            </a:r>
          </a:p>
          <a:p>
            <a:pPr algn="l"/>
            <a:r>
              <a:rPr lang="en-US" sz="1800" b="0" i="0" u="none" strike="noStrike" baseline="0" dirty="0">
                <a:latin typeface="DINPro-Bold"/>
              </a:rPr>
              <a:t>Pilocarpine</a:t>
            </a:r>
            <a:r>
              <a:rPr lang="en-US" sz="1800" b="0" i="0" u="none" strike="noStrike" baseline="0" dirty="0">
                <a:latin typeface="PalatinoLTStd-Roman"/>
              </a:rPr>
              <a:t>: from the leaves of the South American shrub </a:t>
            </a:r>
            <a:r>
              <a:rPr lang="en-US" sz="1800" b="0" i="1" u="none" strike="noStrike" baseline="0" dirty="0" err="1">
                <a:latin typeface="PalatinoLTStd-Italic"/>
              </a:rPr>
              <a:t>Pilocarpus</a:t>
            </a:r>
            <a:r>
              <a:rPr lang="en-US" sz="1800" b="0" i="1" u="none" strike="noStrike" baseline="0" dirty="0">
                <a:latin typeface="PalatinoLTStd-Italic"/>
              </a:rPr>
              <a:t> jaborandi</a:t>
            </a:r>
            <a:endParaRPr lang="en-US" sz="1800" b="0" i="0" u="none" strike="noStrike" baseline="0" dirty="0">
              <a:latin typeface="PalatinoLTStd-Roman"/>
            </a:endParaRPr>
          </a:p>
          <a:p>
            <a:pPr algn="l"/>
            <a:r>
              <a:rPr lang="en-US" sz="1800" b="0" i="0" u="none" strike="noStrike" baseline="0" dirty="0">
                <a:latin typeface="DINPro-Bold"/>
              </a:rPr>
              <a:t>Arecoline</a:t>
            </a:r>
            <a:r>
              <a:rPr lang="en-US" sz="1800" b="0" i="0" u="none" strike="noStrike" baseline="0" dirty="0">
                <a:latin typeface="PalatinoLTStd-Roman"/>
              </a:rPr>
              <a:t>: found in the seeds of the betel nut palm </a:t>
            </a:r>
            <a:r>
              <a:rPr lang="en-US" sz="1800" b="0" i="1" u="none" strike="noStrike" baseline="0" dirty="0">
                <a:latin typeface="PalatinoLTStd-Italic"/>
              </a:rPr>
              <a:t>Areca catechu.</a:t>
            </a:r>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41</a:t>
            </a:fld>
            <a:endParaRPr lang="en-US"/>
          </a:p>
        </p:txBody>
      </p:sp>
    </p:spTree>
    <p:extLst>
      <p:ext uri="{BB962C8B-B14F-4D97-AF65-F5344CB8AC3E}">
        <p14:creationId xmlns:p14="http://schemas.microsoft.com/office/powerpoint/2010/main" val="381651901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u="sng" dirty="0"/>
              <a:t>Instructor Notes:  </a:t>
            </a:r>
          </a:p>
          <a:p>
            <a:r>
              <a:rPr lang="en-US" dirty="0"/>
              <a:t>Correct answer: a</a:t>
            </a:r>
          </a:p>
        </p:txBody>
      </p:sp>
      <p:sp>
        <p:nvSpPr>
          <p:cNvPr id="4" name="Slide Number Placeholder 3"/>
          <p:cNvSpPr>
            <a:spLocks noGrp="1"/>
          </p:cNvSpPr>
          <p:nvPr>
            <p:ph type="sldNum" sz="quarter" idx="5"/>
          </p:nvPr>
        </p:nvSpPr>
        <p:spPr/>
        <p:txBody>
          <a:bodyPr/>
          <a:lstStyle/>
          <a:p>
            <a:fld id="{556C0744-2FEF-4441-821D-70180A370937}" type="slidenum">
              <a:rPr lang="en-US" smtClean="0"/>
              <a:t>42</a:t>
            </a:fld>
            <a:endParaRPr lang="en-US"/>
          </a:p>
        </p:txBody>
      </p:sp>
    </p:spTree>
    <p:extLst>
      <p:ext uri="{BB962C8B-B14F-4D97-AF65-F5344CB8AC3E}">
        <p14:creationId xmlns:p14="http://schemas.microsoft.com/office/powerpoint/2010/main" val="5179357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hasCustomPrompt="1"/>
          </p:nvPr>
        </p:nvSpPr>
        <p:spPr/>
        <p:txBody>
          <a:bodyPr/>
          <a:lstStyle>
            <a:lvl1pPr marL="685800" indent="-457200">
              <a:defRPr lang="en-US" sz="2800" kern="1200" baseline="0" dirty="0">
                <a:solidFill>
                  <a:schemeClr val="tx1"/>
                </a:solidFill>
                <a:latin typeface="+mn-lt"/>
                <a:ea typeface="+mn-ea"/>
                <a:cs typeface="+mn-cs"/>
              </a:defRPr>
            </a:lvl1pPr>
            <a:lvl2pPr marL="1371600" indent="-457200">
              <a:defRPr lang="en-US" sz="2800" kern="1200" baseline="0" dirty="0">
                <a:solidFill>
                  <a:schemeClr val="tx1"/>
                </a:solidFill>
                <a:latin typeface="+mn-lt"/>
                <a:ea typeface="+mn-ea"/>
                <a:cs typeface="+mn-cs"/>
              </a:defRPr>
            </a:lvl2pPr>
          </a:lstStyle>
          <a:p>
            <a:pPr marL="571500" lvl="0" indent="-342900" algn="l" defTabSz="914400" rtl="0" eaLnBrk="1" latinLnBrk="0" hangingPunct="1">
              <a:spcBef>
                <a:spcPts val="1800"/>
              </a:spcBef>
              <a:buFont typeface="Arial" pitchFamily="34" charset="0"/>
              <a:buChar char="•"/>
            </a:pPr>
            <a:r>
              <a:rPr lang="en-US" dirty="0"/>
              <a:t>Edit Master text styles</a:t>
            </a:r>
          </a:p>
          <a:p>
            <a:pPr marL="1263650" lvl="1" indent="-349250" algn="l" defTabSz="914400" rtl="0" eaLnBrk="1" latinLnBrk="0" hangingPunct="1">
              <a:spcBef>
                <a:spcPts val="1800"/>
              </a:spcBef>
              <a:buFont typeface="Courier New" panose="02070309020205020404" pitchFamily="49" charset="0"/>
              <a:buChar char="o"/>
            </a:pPr>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888756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450575" y="586409"/>
            <a:ext cx="11317356" cy="566530"/>
          </a:xfrm>
          <a:prstGeom prst="rect">
            <a:avLst/>
          </a:prstGeom>
        </p:spPr>
        <p:txBody>
          <a:bodyPr vert="horz" lIns="91440" tIns="45720" rIns="91440" bIns="45720" rtlCol="0" anchor="t">
            <a:normAutofit/>
          </a:bodyPr>
          <a:lstStyle>
            <a:lvl1pPr algn="ctr">
              <a:defRPr sz="3600" b="1" i="1"/>
            </a:lvl1pPr>
          </a:lstStyle>
          <a:p>
            <a:r>
              <a:rPr lang="en-US" dirty="0"/>
              <a:t>Title</a:t>
            </a:r>
          </a:p>
        </p:txBody>
      </p:sp>
      <p:sp>
        <p:nvSpPr>
          <p:cNvPr id="11" name="Text Placeholder 10"/>
          <p:cNvSpPr>
            <a:spLocks noGrp="1"/>
          </p:cNvSpPr>
          <p:nvPr>
            <p:ph type="body" sz="quarter" idx="11"/>
          </p:nvPr>
        </p:nvSpPr>
        <p:spPr>
          <a:xfrm>
            <a:off x="450851" y="1152525"/>
            <a:ext cx="11317816" cy="477838"/>
          </a:xfrm>
          <a:prstGeom prst="rect">
            <a:avLst/>
          </a:prstGeom>
        </p:spPr>
        <p:txBody>
          <a:bodyPr/>
          <a:lstStyle>
            <a:lvl1pPr marL="0" indent="0" algn="ctr">
              <a:buNone/>
              <a:defRPr sz="2400">
                <a:solidFill>
                  <a:srgbClr val="1F497D"/>
                </a:solidFill>
              </a:defRPr>
            </a:lvl1pPr>
          </a:lstStyle>
          <a:p>
            <a:pPr lvl="0"/>
            <a:r>
              <a:rPr lang="en-US"/>
              <a:t>Edit Master text styles</a:t>
            </a:r>
          </a:p>
        </p:txBody>
      </p:sp>
      <p:sp>
        <p:nvSpPr>
          <p:cNvPr id="6" name="Picture Placeholder 5"/>
          <p:cNvSpPr>
            <a:spLocks noGrp="1"/>
          </p:cNvSpPr>
          <p:nvPr>
            <p:ph type="pic" sz="quarter" idx="10"/>
          </p:nvPr>
        </p:nvSpPr>
        <p:spPr>
          <a:xfrm>
            <a:off x="3710609" y="1808921"/>
            <a:ext cx="4770784" cy="4283766"/>
          </a:xfrm>
          <a:prstGeom prst="rect">
            <a:avLst/>
          </a:prstGeom>
        </p:spPr>
        <p:txBody>
          <a:bodyPr/>
          <a:lstStyle/>
          <a:p>
            <a:r>
              <a:rPr lang="en-US"/>
              <a:t>Click icon to add picture</a:t>
            </a:r>
            <a:endParaRPr lang="en-US" dirty="0"/>
          </a:p>
        </p:txBody>
      </p:sp>
      <p:pic>
        <p:nvPicPr>
          <p:cNvPr id="5" name="Picture 4" descr="Oxford University Press logo">
            <a:extLst>
              <a:ext uri="{FF2B5EF4-FFF2-40B4-BE49-F238E27FC236}">
                <a16:creationId xmlns:a16="http://schemas.microsoft.com/office/drawing/2014/main" id="{8590439F-3AAE-4FE6-B28E-69B3789AD63F}"/>
              </a:ext>
            </a:extLst>
          </p:cNvPr>
          <p:cNvPicPr>
            <a:picLocks noChangeAspect="1"/>
          </p:cNvPicPr>
          <p:nvPr userDrawn="1"/>
        </p:nvPicPr>
        <p:blipFill>
          <a:blip r:embed="rId2"/>
          <a:stretch>
            <a:fillRect/>
          </a:stretch>
        </p:blipFill>
        <p:spPr>
          <a:xfrm>
            <a:off x="0" y="5976152"/>
            <a:ext cx="2505812" cy="881848"/>
          </a:xfrm>
          <a:prstGeom prst="rect">
            <a:avLst/>
          </a:prstGeom>
        </p:spPr>
      </p:pic>
    </p:spTree>
    <p:extLst>
      <p:ext uri="{BB962C8B-B14F-4D97-AF65-F5344CB8AC3E}">
        <p14:creationId xmlns:p14="http://schemas.microsoft.com/office/powerpoint/2010/main" val="18046508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621792"/>
          </a:xfrm>
        </p:spPr>
        <p:txBody>
          <a:bodyPr/>
          <a:lstStyle>
            <a:lvl1pPr>
              <a:defRPr/>
            </a:lvl1pPr>
          </a:lstStyle>
          <a:p>
            <a:r>
              <a:rPr lang="en-US" dirty="0"/>
              <a:t>Click to edit Master title style</a:t>
            </a:r>
          </a:p>
        </p:txBody>
      </p:sp>
      <p:sp>
        <p:nvSpPr>
          <p:cNvPr id="5" name="Content Placeholder 4">
            <a:extLst>
              <a:ext uri="{FF2B5EF4-FFF2-40B4-BE49-F238E27FC236}">
                <a16:creationId xmlns:a16="http://schemas.microsoft.com/office/drawing/2014/main" id="{8DBA5D03-AECA-2B4D-AD11-BC8666A45DCD}"/>
              </a:ext>
            </a:extLst>
          </p:cNvPr>
          <p:cNvSpPr>
            <a:spLocks noGrp="1"/>
          </p:cNvSpPr>
          <p:nvPr>
            <p:ph sz="quarter" idx="10"/>
          </p:nvPr>
        </p:nvSpPr>
        <p:spPr>
          <a:xfrm>
            <a:off x="408432" y="668867"/>
            <a:ext cx="11375136" cy="6108042"/>
          </a:xfrm>
          <a:prstGeom prst="rect">
            <a:avLst/>
          </a:prstGeo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598040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384048"/>
          </a:xfrm>
        </p:spPr>
        <p:txBody>
          <a:bodyPr/>
          <a:lstStyle>
            <a:lvl1pPr>
              <a:defRPr sz="1800"/>
            </a:lvl1pPr>
          </a:lstStyle>
          <a:p>
            <a:r>
              <a:rPr lang="en-US" dirty="0"/>
              <a:t>Click to edit Master title style</a:t>
            </a:r>
          </a:p>
        </p:txBody>
      </p:sp>
      <p:sp>
        <p:nvSpPr>
          <p:cNvPr id="5" name="Content Placeholder 4">
            <a:extLst>
              <a:ext uri="{FF2B5EF4-FFF2-40B4-BE49-F238E27FC236}">
                <a16:creationId xmlns:a16="http://schemas.microsoft.com/office/drawing/2014/main" id="{C12606DF-F2AC-0D4C-A2DC-B85399E449B6}"/>
              </a:ext>
            </a:extLst>
          </p:cNvPr>
          <p:cNvSpPr>
            <a:spLocks noGrp="1"/>
          </p:cNvSpPr>
          <p:nvPr>
            <p:ph sz="quarter" idx="10"/>
          </p:nvPr>
        </p:nvSpPr>
        <p:spPr>
          <a:xfrm>
            <a:off x="408432" y="479776"/>
            <a:ext cx="11375136" cy="6300216"/>
          </a:xfrm>
          <a:prstGeom prst="rect">
            <a:avLst/>
          </a:prstGeo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7283422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tif"/><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tif"/><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0E61D60-431D-4A54-BAD5-CA1C8D6D754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822" y="2792"/>
            <a:ext cx="12191178" cy="6858137"/>
          </a:xfrm>
          <a:prstGeom prst="rect">
            <a:avLst/>
          </a:prstGeom>
        </p:spPr>
      </p:pic>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857781"/>
            <a:ext cx="10972800" cy="4525963"/>
          </a:xfrm>
          <a:prstGeom prst="rect">
            <a:avLst/>
          </a:prstGeom>
        </p:spPr>
        <p:txBody>
          <a:bodyPr vert="horz" lIns="91440" tIns="45720" rIns="91440" bIns="45720" rtlCol="0">
            <a:normAutofit/>
          </a:bodyPr>
          <a:lstStyle/>
          <a:p>
            <a:pPr marL="571500" lvl="0" indent="-342900" algn="l" defTabSz="914400" rtl="0" eaLnBrk="1" latinLnBrk="0" hangingPunct="1">
              <a:spcBef>
                <a:spcPts val="1800"/>
              </a:spcBef>
              <a:buFont typeface="Arial" pitchFamily="34" charset="0"/>
              <a:buChar char="•"/>
            </a:pPr>
            <a:r>
              <a:rPr lang="en-US" dirty="0"/>
              <a:t>Click to edit Master text styles</a:t>
            </a:r>
          </a:p>
          <a:p>
            <a:pPr marL="1263650" lvl="1" indent="-349250" algn="l" defTabSz="914400" rtl="0" eaLnBrk="1" latinLnBrk="0" hangingPunct="1">
              <a:spcBef>
                <a:spcPts val="1800"/>
              </a:spcBef>
              <a:buFont typeface="Courier New" panose="02070309020205020404" pitchFamily="49" charset="0"/>
              <a:buChar char="o"/>
            </a:pPr>
            <a:r>
              <a:rPr lang="en-US" dirty="0"/>
              <a:t>Click to edit Master text styles</a:t>
            </a:r>
          </a:p>
        </p:txBody>
      </p:sp>
      <p:sp>
        <p:nvSpPr>
          <p:cNvPr id="9" name="TextBox 8"/>
          <p:cNvSpPr txBox="1">
            <a:spLocks noChangeArrowheads="1"/>
          </p:cNvSpPr>
          <p:nvPr userDrawn="1"/>
        </p:nvSpPr>
        <p:spPr bwMode="auto">
          <a:xfrm>
            <a:off x="10363435" y="6605739"/>
            <a:ext cx="1827743" cy="246221"/>
          </a:xfrm>
          <a:prstGeom prst="rect">
            <a:avLst/>
          </a:prstGeom>
          <a:noFill/>
          <a:ln>
            <a:noFill/>
          </a:ln>
        </p:spPr>
        <p:txBody>
          <a:bodyPr wrap="none">
            <a:spAutoFit/>
          </a:bodyPr>
          <a:lstStyle>
            <a:lvl1pPr>
              <a:defRPr sz="2400" b="1">
                <a:solidFill>
                  <a:schemeClr val="bg2"/>
                </a:solidFill>
                <a:latin typeface="Times New Roman" panose="02020603050405020304" pitchFamily="18" charset="0"/>
                <a:ea typeface="ＭＳ Ｐゴシック" panose="020B0600070205080204" pitchFamily="34" charset="-128"/>
              </a:defRPr>
            </a:lvl1pPr>
            <a:lvl2pPr marL="742950" indent="-285750">
              <a:defRPr sz="2400" b="1">
                <a:solidFill>
                  <a:schemeClr val="bg2"/>
                </a:solidFill>
                <a:latin typeface="Times New Roman" panose="02020603050405020304" pitchFamily="18" charset="0"/>
                <a:ea typeface="ＭＳ Ｐゴシック" panose="020B0600070205080204" pitchFamily="34" charset="-128"/>
              </a:defRPr>
            </a:lvl2pPr>
            <a:lvl3pPr marL="1143000" indent="-228600">
              <a:defRPr sz="2400" b="1">
                <a:solidFill>
                  <a:schemeClr val="bg2"/>
                </a:solidFill>
                <a:latin typeface="Times New Roman" panose="02020603050405020304" pitchFamily="18" charset="0"/>
                <a:ea typeface="ＭＳ Ｐゴシック" panose="020B0600070205080204" pitchFamily="34" charset="-128"/>
              </a:defRPr>
            </a:lvl3pPr>
            <a:lvl4pPr marL="1600200" indent="-228600">
              <a:defRPr sz="2400" b="1">
                <a:solidFill>
                  <a:schemeClr val="bg2"/>
                </a:solidFill>
                <a:latin typeface="Times New Roman" panose="02020603050405020304" pitchFamily="18" charset="0"/>
                <a:ea typeface="ＭＳ Ｐゴシック" panose="020B0600070205080204" pitchFamily="34" charset="-128"/>
              </a:defRPr>
            </a:lvl4pPr>
            <a:lvl5pPr marL="2057400" indent="-228600">
              <a:defRPr sz="2400" b="1">
                <a:solidFill>
                  <a:schemeClr val="bg2"/>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9pPr>
          </a:lstStyle>
          <a:p>
            <a:pPr algn="r" eaLnBrk="1" hangingPunct="1">
              <a:defRPr/>
            </a:pPr>
            <a:r>
              <a:rPr lang="en-US" altLang="en-US" sz="1000" b="0" dirty="0">
                <a:solidFill>
                  <a:schemeClr val="tx1"/>
                </a:solidFill>
                <a:latin typeface="+mj-lt"/>
                <a:cs typeface="Arial" panose="020B0604020202020204" pitchFamily="34" charset="0"/>
              </a:rPr>
              <a:t>© 2023 Oxford University Press</a:t>
            </a:r>
          </a:p>
        </p:txBody>
      </p:sp>
    </p:spTree>
    <p:extLst>
      <p:ext uri="{BB962C8B-B14F-4D97-AF65-F5344CB8AC3E}">
        <p14:creationId xmlns:p14="http://schemas.microsoft.com/office/powerpoint/2010/main" val="839490661"/>
      </p:ext>
    </p:extLst>
  </p:cSld>
  <p:clrMap bg1="lt1" tx1="dk1" bg2="lt2" tx2="dk2" accent1="accent1" accent2="accent2" accent3="accent3" accent4="accent4" accent5="accent5" accent6="accent6" hlink="hlink" folHlink="folHlink"/>
  <p:sldLayoutIdLst>
    <p:sldLayoutId id="2147483652" r:id="rId1"/>
  </p:sldLayoutIdLst>
  <p:txStyles>
    <p:titleStyle>
      <a:lvl1pPr algn="ctr" defTabSz="914400" rtl="0" eaLnBrk="1" latinLnBrk="0" hangingPunct="1">
        <a:spcBef>
          <a:spcPct val="0"/>
        </a:spcBef>
        <a:buNone/>
        <a:defRPr sz="3600" kern="1200">
          <a:solidFill>
            <a:schemeClr val="tx2"/>
          </a:solidFill>
          <a:latin typeface="+mj-lt"/>
          <a:ea typeface="+mj-ea"/>
          <a:cs typeface="+mj-cs"/>
        </a:defRPr>
      </a:lvl1pPr>
    </p:titleStyle>
    <p:bodyStyle>
      <a:lvl1pPr marL="1371600" indent="-457200" algn="l" defTabSz="914400" rtl="0" eaLnBrk="1" latinLnBrk="0" hangingPunct="1">
        <a:spcBef>
          <a:spcPct val="20000"/>
        </a:spcBef>
        <a:buFont typeface="Arial" pitchFamily="34" charset="0"/>
        <a:buChar char="•"/>
        <a:defRPr lang="en-US" sz="2800" kern="1200" baseline="0" dirty="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lang="en-US" sz="2800" kern="1200" baseline="0" dirty="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0E61D60-431D-4A54-BAD5-CA1C8D6D754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822" y="2792"/>
            <a:ext cx="12191178" cy="6858137"/>
          </a:xfrm>
          <a:prstGeom prst="rect">
            <a:avLst/>
          </a:prstGeom>
        </p:spPr>
      </p:pic>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1857781"/>
            <a:ext cx="10972800" cy="4525963"/>
          </a:xfrm>
          <a:prstGeom prst="rect">
            <a:avLst/>
          </a:prstGeom>
        </p:spPr>
        <p:txBody>
          <a:bodyPr vert="horz" lIns="91440" tIns="45720" rIns="91440" bIns="45720" rtlCol="0">
            <a:normAutofit/>
          </a:bodyPr>
          <a:lstStyle/>
          <a:p>
            <a:pPr lvl="0"/>
            <a:r>
              <a:rPr lang="en-US" dirty="0"/>
              <a:t>Click to edit Master text styles</a:t>
            </a:r>
          </a:p>
          <a:p>
            <a:pPr lvl="0"/>
            <a:r>
              <a:rPr lang="en-US" dirty="0"/>
              <a:t>Click to edit Master text styles</a:t>
            </a:r>
          </a:p>
        </p:txBody>
      </p:sp>
      <p:sp>
        <p:nvSpPr>
          <p:cNvPr id="9" name="TextBox 8"/>
          <p:cNvSpPr txBox="1">
            <a:spLocks noChangeArrowheads="1"/>
          </p:cNvSpPr>
          <p:nvPr userDrawn="1"/>
        </p:nvSpPr>
        <p:spPr bwMode="auto">
          <a:xfrm>
            <a:off x="10363435" y="6605739"/>
            <a:ext cx="1827743" cy="246221"/>
          </a:xfrm>
          <a:prstGeom prst="rect">
            <a:avLst/>
          </a:prstGeom>
          <a:noFill/>
          <a:ln>
            <a:noFill/>
          </a:ln>
        </p:spPr>
        <p:txBody>
          <a:bodyPr wrap="none">
            <a:spAutoFit/>
          </a:bodyPr>
          <a:lstStyle>
            <a:lvl1pPr>
              <a:defRPr sz="2400" b="1">
                <a:solidFill>
                  <a:schemeClr val="bg2"/>
                </a:solidFill>
                <a:latin typeface="Times New Roman" panose="02020603050405020304" pitchFamily="18" charset="0"/>
                <a:ea typeface="ＭＳ Ｐゴシック" panose="020B0600070205080204" pitchFamily="34" charset="-128"/>
              </a:defRPr>
            </a:lvl1pPr>
            <a:lvl2pPr marL="742950" indent="-285750">
              <a:defRPr sz="2400" b="1">
                <a:solidFill>
                  <a:schemeClr val="bg2"/>
                </a:solidFill>
                <a:latin typeface="Times New Roman" panose="02020603050405020304" pitchFamily="18" charset="0"/>
                <a:ea typeface="ＭＳ Ｐゴシック" panose="020B0600070205080204" pitchFamily="34" charset="-128"/>
              </a:defRPr>
            </a:lvl2pPr>
            <a:lvl3pPr marL="1143000" indent="-228600">
              <a:defRPr sz="2400" b="1">
                <a:solidFill>
                  <a:schemeClr val="bg2"/>
                </a:solidFill>
                <a:latin typeface="Times New Roman" panose="02020603050405020304" pitchFamily="18" charset="0"/>
                <a:ea typeface="ＭＳ Ｐゴシック" panose="020B0600070205080204" pitchFamily="34" charset="-128"/>
              </a:defRPr>
            </a:lvl3pPr>
            <a:lvl4pPr marL="1600200" indent="-228600">
              <a:defRPr sz="2400" b="1">
                <a:solidFill>
                  <a:schemeClr val="bg2"/>
                </a:solidFill>
                <a:latin typeface="Times New Roman" panose="02020603050405020304" pitchFamily="18" charset="0"/>
                <a:ea typeface="ＭＳ Ｐゴシック" panose="020B0600070205080204" pitchFamily="34" charset="-128"/>
              </a:defRPr>
            </a:lvl4pPr>
            <a:lvl5pPr marL="2057400" indent="-228600">
              <a:defRPr sz="2400" b="1">
                <a:solidFill>
                  <a:schemeClr val="bg2"/>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9pPr>
          </a:lstStyle>
          <a:p>
            <a:pPr algn="r" eaLnBrk="1" hangingPunct="1">
              <a:defRPr/>
            </a:pPr>
            <a:r>
              <a:rPr lang="en-US" altLang="en-US" sz="1000" b="0" dirty="0">
                <a:solidFill>
                  <a:schemeClr val="tx1"/>
                </a:solidFill>
                <a:latin typeface="+mj-lt"/>
                <a:cs typeface="Arial" panose="020B0604020202020204" pitchFamily="34" charset="0"/>
              </a:rPr>
              <a:t>© 2023 Oxford University Press</a:t>
            </a:r>
          </a:p>
        </p:txBody>
      </p:sp>
    </p:spTree>
    <p:extLst>
      <p:ext uri="{BB962C8B-B14F-4D97-AF65-F5344CB8AC3E}">
        <p14:creationId xmlns:p14="http://schemas.microsoft.com/office/powerpoint/2010/main" val="839490661"/>
      </p:ext>
    </p:extLst>
  </p:cSld>
  <p:clrMap bg1="lt1" tx1="dk1" bg2="lt2" tx2="dk2" accent1="accent1" accent2="accent2" accent3="accent3" accent4="accent4" accent5="accent5" accent6="accent6" hlink="hlink" folHlink="folHlink"/>
  <p:sldLayoutIdLst>
    <p:sldLayoutId id="2147483681" r:id="rId1"/>
  </p:sldLayoutIdLst>
  <p:txStyles>
    <p:titleStyle>
      <a:lvl1pPr algn="ctr" defTabSz="914400" rtl="0" eaLnBrk="1" latinLnBrk="0" hangingPunct="1">
        <a:spcBef>
          <a:spcPct val="0"/>
        </a:spcBef>
        <a:buNone/>
        <a:defRPr sz="3600" kern="1200">
          <a:solidFill>
            <a:schemeClr val="tx2"/>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baseline="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12192000" cy="369332"/>
          </a:xfrm>
          <a:prstGeom prst="rect">
            <a:avLst/>
          </a:prstGeom>
          <a:solidFill>
            <a:srgbClr val="001A47"/>
          </a:solidFill>
        </p:spPr>
        <p:txBody>
          <a:bodyPr vert="horz" lIns="91440" tIns="45720" rIns="91440" bIns="45720" rtlCol="0" anchor="t" anchorCtr="0">
            <a:noAutofit/>
          </a:bodyPr>
          <a:lstStyle/>
          <a:p>
            <a:r>
              <a:rPr lang="en-US" dirty="0"/>
              <a:t>Click to edit Master title style</a:t>
            </a:r>
          </a:p>
        </p:txBody>
      </p:sp>
      <p:sp>
        <p:nvSpPr>
          <p:cNvPr id="4" name="Text Placeholder 3">
            <a:extLst>
              <a:ext uri="{FF2B5EF4-FFF2-40B4-BE49-F238E27FC236}">
                <a16:creationId xmlns:a16="http://schemas.microsoft.com/office/drawing/2014/main" id="{98CCD7AE-E6DE-4592-894F-F3E075B9E6C8}"/>
              </a:ext>
            </a:extLst>
          </p:cNvPr>
          <p:cNvSpPr>
            <a:spLocks noGrp="1"/>
          </p:cNvSpPr>
          <p:nvPr>
            <p:ph type="body" idx="1"/>
          </p:nvPr>
        </p:nvSpPr>
        <p:spPr>
          <a:xfrm>
            <a:off x="838200" y="952107"/>
            <a:ext cx="10515600" cy="522485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79565259"/>
      </p:ext>
    </p:extLst>
  </p:cSld>
  <p:clrMap bg1="lt1" tx1="dk1" bg2="lt2" tx2="dk2" accent1="accent1" accent2="accent2" accent3="accent3" accent4="accent4" accent5="accent5" accent6="accent6" hlink="hlink" folHlink="folHlink"/>
  <p:sldLayoutIdLst>
    <p:sldLayoutId id="2147483680" r:id="rId1"/>
    <p:sldLayoutId id="2147483679" r:id="rId2"/>
  </p:sldLayoutIdLst>
  <p:txStyles>
    <p:titleStyle>
      <a:lvl1pPr algn="l" defTabSz="914400" rtl="0" eaLnBrk="1" latinLnBrk="0" hangingPunct="1">
        <a:spcBef>
          <a:spcPct val="0"/>
        </a:spcBef>
        <a:buNone/>
        <a:defRPr sz="18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baseline="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nSpc>
                <a:spcPct val="100000"/>
              </a:lnSpc>
            </a:pPr>
            <a:r>
              <a:rPr lang="en-GB" dirty="0"/>
              <a:t>Psychopharmacology: Drugs, the Brain, and </a:t>
            </a:r>
            <a:r>
              <a:rPr lang="en-GB" dirty="0" err="1"/>
              <a:t>Behavior</a:t>
            </a:r>
            <a:br>
              <a:rPr lang="en-GB" dirty="0"/>
            </a:br>
            <a:endParaRPr lang="en-US" b="1" i="0" dirty="0"/>
          </a:p>
        </p:txBody>
      </p:sp>
      <p:sp>
        <p:nvSpPr>
          <p:cNvPr id="4" name="Text Placeholder 3"/>
          <p:cNvSpPr>
            <a:spLocks noGrp="1"/>
          </p:cNvSpPr>
          <p:nvPr>
            <p:ph type="body" sz="quarter" idx="11"/>
          </p:nvPr>
        </p:nvSpPr>
        <p:spPr/>
        <p:txBody>
          <a:bodyPr/>
          <a:lstStyle/>
          <a:p>
            <a:pPr>
              <a:lnSpc>
                <a:spcPct val="100000"/>
              </a:lnSpc>
            </a:pPr>
            <a:r>
              <a:rPr lang="en-US" dirty="0"/>
              <a:t>by Meyer, Farrar, </a:t>
            </a:r>
            <a:r>
              <a:rPr lang="en-US" dirty="0" err="1"/>
              <a:t>Biezonski</a:t>
            </a:r>
            <a:r>
              <a:rPr lang="en-US" dirty="0"/>
              <a:t>, Yates</a:t>
            </a:r>
          </a:p>
        </p:txBody>
      </p:sp>
      <p:pic>
        <p:nvPicPr>
          <p:cNvPr id="8" name="Picture Placeholder 7" descr="Cover image for Psychopharmacology, Fourth Edition.">
            <a:extLst>
              <a:ext uri="{FF2B5EF4-FFF2-40B4-BE49-F238E27FC236}">
                <a16:creationId xmlns:a16="http://schemas.microsoft.com/office/drawing/2014/main" id="{3C56F26D-84E7-4578-9ED6-ACB6F71FF233}"/>
              </a:ext>
            </a:extLst>
          </p:cNvPr>
          <p:cNvPicPr>
            <a:picLocks noGrp="1" noChangeAspect="1"/>
          </p:cNvPicPr>
          <p:nvPr>
            <p:ph type="pic" sz="quarter" idx="10"/>
          </p:nvPr>
        </p:nvPicPr>
        <p:blipFill>
          <a:blip r:embed="rId3"/>
          <a:stretch>
            <a:fillRect/>
          </a:stretch>
        </p:blipFill>
        <p:spPr>
          <a:xfrm>
            <a:off x="4267824" y="1818587"/>
            <a:ext cx="3656351" cy="4413095"/>
          </a:xfrm>
          <a:prstGeom prst="rect">
            <a:avLst/>
          </a:prstGeom>
        </p:spPr>
      </p:pic>
    </p:spTree>
    <p:extLst>
      <p:ext uri="{BB962C8B-B14F-4D97-AF65-F5344CB8AC3E}">
        <p14:creationId xmlns:p14="http://schemas.microsoft.com/office/powerpoint/2010/main" val="28073728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nSpc>
                <a:spcPct val="100000"/>
              </a:lnSpc>
            </a:pPr>
            <a:r>
              <a:rPr lang="en-US" dirty="0"/>
              <a:t>Chapter 7</a:t>
            </a:r>
            <a:br>
              <a:rPr lang="en-US" dirty="0"/>
            </a:br>
            <a:r>
              <a:rPr lang="en-US" sz="4000" i="1" dirty="0"/>
              <a:t>Acetylcholine</a:t>
            </a:r>
            <a:endParaRPr lang="en-US" i="1" dirty="0"/>
          </a:p>
        </p:txBody>
      </p:sp>
      <p:sp>
        <p:nvSpPr>
          <p:cNvPr id="3" name="Text Placeholder 2"/>
          <p:cNvSpPr>
            <a:spLocks noGrp="1"/>
          </p:cNvSpPr>
          <p:nvPr>
            <p:ph idx="1"/>
          </p:nvPr>
        </p:nvSpPr>
        <p:spPr/>
        <p:txBody>
          <a:bodyPr/>
          <a:lstStyle/>
          <a:p>
            <a:pPr marL="914400" indent="-914400">
              <a:lnSpc>
                <a:spcPct val="100000"/>
              </a:lnSpc>
              <a:spcBef>
                <a:spcPts val="2400"/>
              </a:spcBef>
              <a:buNone/>
            </a:pPr>
            <a:r>
              <a:rPr lang="en-US" sz="3200" dirty="0"/>
              <a:t>7.1  Acetylcholine Synthesis, Release, and Inactivation</a:t>
            </a:r>
          </a:p>
          <a:p>
            <a:pPr marL="914400" indent="-914400">
              <a:lnSpc>
                <a:spcPct val="100000"/>
              </a:lnSpc>
              <a:spcBef>
                <a:spcPts val="2400"/>
              </a:spcBef>
              <a:buNone/>
            </a:pPr>
            <a:r>
              <a:rPr lang="en-US" sz="3200" dirty="0"/>
              <a:t>7.2  Organization and Function of the Cholinergic System</a:t>
            </a:r>
          </a:p>
        </p:txBody>
      </p:sp>
    </p:spTree>
    <p:extLst>
      <p:ext uri="{BB962C8B-B14F-4D97-AF65-F5344CB8AC3E}">
        <p14:creationId xmlns:p14="http://schemas.microsoft.com/office/powerpoint/2010/main" val="729111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nSpc>
                <a:spcPct val="100000"/>
              </a:lnSpc>
            </a:pPr>
            <a:r>
              <a:rPr lang="en-US" dirty="0"/>
              <a:t>Chapter 7</a:t>
            </a:r>
            <a:br>
              <a:rPr lang="en-US" dirty="0"/>
            </a:br>
            <a:r>
              <a:rPr lang="en-US" sz="4000" dirty="0"/>
              <a:t>Learning Objectives </a:t>
            </a:r>
            <a:r>
              <a:rPr lang="en-US" sz="1200" dirty="0"/>
              <a:t>(1 of 2)</a:t>
            </a:r>
            <a:endParaRPr lang="en-US" dirty="0"/>
          </a:p>
        </p:txBody>
      </p:sp>
      <p:sp>
        <p:nvSpPr>
          <p:cNvPr id="3" name="Text Placeholder 2"/>
          <p:cNvSpPr>
            <a:spLocks noGrp="1"/>
          </p:cNvSpPr>
          <p:nvPr>
            <p:ph idx="1"/>
          </p:nvPr>
        </p:nvSpPr>
        <p:spPr/>
        <p:txBody>
          <a:bodyPr>
            <a:normAutofit fontScale="77500" lnSpcReduction="20000"/>
          </a:bodyPr>
          <a:lstStyle/>
          <a:p>
            <a:pPr marL="914400" indent="-914400">
              <a:lnSpc>
                <a:spcPct val="120000"/>
              </a:lnSpc>
              <a:spcBef>
                <a:spcPts val="1200"/>
              </a:spcBef>
              <a:buNone/>
            </a:pPr>
            <a:r>
              <a:rPr lang="en-US" dirty="0"/>
              <a:t>7.1.1  (a) Name the chemical precursors needed for </a:t>
            </a:r>
            <a:r>
              <a:rPr lang="en-US" dirty="0" err="1"/>
              <a:t>ACh</a:t>
            </a:r>
            <a:r>
              <a:rPr lang="en-US" dirty="0"/>
              <a:t> synthesis and the enzyme that catalyzes the synthetic reaction, and (b) describe the processes that regulate the rate of </a:t>
            </a:r>
            <a:r>
              <a:rPr lang="en-US" dirty="0" err="1"/>
              <a:t>ACh</a:t>
            </a:r>
            <a:r>
              <a:rPr lang="en-US" dirty="0"/>
              <a:t> synthesis.</a:t>
            </a:r>
          </a:p>
          <a:p>
            <a:pPr marL="914400" indent="-914400">
              <a:lnSpc>
                <a:spcPct val="120000"/>
              </a:lnSpc>
              <a:spcBef>
                <a:spcPts val="1200"/>
              </a:spcBef>
              <a:buNone/>
            </a:pPr>
            <a:r>
              <a:rPr lang="en-US" dirty="0"/>
              <a:t>7.1.2  Name and describe the effects of drugs and toxins that affect </a:t>
            </a:r>
            <a:r>
              <a:rPr lang="en-US" dirty="0" err="1"/>
              <a:t>ACh</a:t>
            </a:r>
            <a:r>
              <a:rPr lang="en-US" dirty="0"/>
              <a:t> vesicular storage and release. These effects should include medical or cosmetic uses where appropriate.</a:t>
            </a:r>
          </a:p>
          <a:p>
            <a:pPr marL="914400" indent="-914400">
              <a:lnSpc>
                <a:spcPct val="120000"/>
              </a:lnSpc>
              <a:spcBef>
                <a:spcPts val="1200"/>
              </a:spcBef>
              <a:buNone/>
            </a:pPr>
            <a:r>
              <a:rPr lang="en-US" dirty="0"/>
              <a:t>7.1.3  (a) Describe the main molecular forms of acetylcholinesterase (</a:t>
            </a:r>
            <a:r>
              <a:rPr lang="en-US" dirty="0" err="1"/>
              <a:t>AChE</a:t>
            </a:r>
            <a:r>
              <a:rPr lang="en-US" dirty="0"/>
              <a:t>), the cellular localization of each form, and the role of this enzyme in </a:t>
            </a:r>
            <a:r>
              <a:rPr lang="en-US" dirty="0" err="1"/>
              <a:t>ACh</a:t>
            </a:r>
            <a:r>
              <a:rPr lang="en-US" dirty="0"/>
              <a:t> breakdown, and (b) list the drugs known to block </a:t>
            </a:r>
            <a:r>
              <a:rPr lang="en-US" dirty="0" err="1"/>
              <a:t>AChE</a:t>
            </a:r>
            <a:r>
              <a:rPr lang="en-US" dirty="0"/>
              <a:t> and for each one, identify its medical or other use.</a:t>
            </a:r>
          </a:p>
          <a:p>
            <a:pPr marL="914400" indent="-914400">
              <a:lnSpc>
                <a:spcPct val="120000"/>
              </a:lnSpc>
              <a:spcBef>
                <a:spcPts val="1200"/>
              </a:spcBef>
              <a:buNone/>
            </a:pPr>
            <a:r>
              <a:rPr lang="en-US" dirty="0"/>
              <a:t>7.1.4  Discuss the clinical disorders associated with abnormal cholinergic transmission at the neuromuscular junction, including the symptoms of these disorders and their pharmacological treatment.</a:t>
            </a:r>
          </a:p>
        </p:txBody>
      </p:sp>
    </p:spTree>
    <p:extLst>
      <p:ext uri="{BB962C8B-B14F-4D97-AF65-F5344CB8AC3E}">
        <p14:creationId xmlns:p14="http://schemas.microsoft.com/office/powerpoint/2010/main" val="14606864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nSpc>
                <a:spcPct val="100000"/>
              </a:lnSpc>
            </a:pPr>
            <a:r>
              <a:rPr kumimoji="0" lang="en-US" sz="3600" b="0" i="0" u="none" strike="noStrike" kern="1200" cap="none" spc="0" normalizeH="0" baseline="0" noProof="0" dirty="0">
                <a:ln>
                  <a:noFill/>
                </a:ln>
                <a:solidFill>
                  <a:srgbClr val="1F497D"/>
                </a:solidFill>
                <a:effectLst/>
                <a:uLnTx/>
                <a:uFillTx/>
                <a:latin typeface="Calibri"/>
                <a:ea typeface="+mj-ea"/>
                <a:cs typeface="+mj-cs"/>
              </a:rPr>
              <a:t>Chapter 7</a:t>
            </a:r>
            <a:br>
              <a:rPr kumimoji="0" lang="en-US" sz="3600" b="0" i="0" u="none" strike="noStrike" kern="1200" cap="none" spc="0" normalizeH="0" baseline="0" noProof="0" dirty="0">
                <a:ln>
                  <a:noFill/>
                </a:ln>
                <a:solidFill>
                  <a:srgbClr val="1F497D"/>
                </a:solidFill>
                <a:effectLst/>
                <a:uLnTx/>
                <a:uFillTx/>
                <a:latin typeface="Calibri"/>
                <a:ea typeface="+mj-ea"/>
                <a:cs typeface="+mj-cs"/>
              </a:rPr>
            </a:br>
            <a:r>
              <a:rPr kumimoji="0" lang="en-US" sz="4000" b="0" i="0" u="none" strike="noStrike" kern="1200" cap="none" spc="0" normalizeH="0" baseline="0" noProof="0" dirty="0">
                <a:ln>
                  <a:noFill/>
                </a:ln>
                <a:solidFill>
                  <a:srgbClr val="1F497D"/>
                </a:solidFill>
                <a:effectLst/>
                <a:uLnTx/>
                <a:uFillTx/>
                <a:latin typeface="Calibri"/>
                <a:ea typeface="+mj-ea"/>
                <a:cs typeface="+mj-cs"/>
              </a:rPr>
              <a:t>Learning Objectives </a:t>
            </a:r>
            <a:r>
              <a:rPr kumimoji="0" lang="en-US" sz="1200" b="0" i="0" u="none" strike="noStrike" kern="1200" cap="none" spc="0" normalizeH="0" baseline="0" noProof="0" dirty="0">
                <a:ln>
                  <a:noFill/>
                </a:ln>
                <a:solidFill>
                  <a:srgbClr val="1F497D"/>
                </a:solidFill>
                <a:effectLst/>
                <a:uLnTx/>
                <a:uFillTx/>
                <a:latin typeface="Calibri"/>
                <a:ea typeface="+mj-ea"/>
                <a:cs typeface="+mj-cs"/>
              </a:rPr>
              <a:t>(2 of 2)</a:t>
            </a:r>
            <a:endParaRPr lang="en-US" dirty="0"/>
          </a:p>
        </p:txBody>
      </p:sp>
      <p:sp>
        <p:nvSpPr>
          <p:cNvPr id="3" name="Text Placeholder 2"/>
          <p:cNvSpPr>
            <a:spLocks noGrp="1"/>
          </p:cNvSpPr>
          <p:nvPr>
            <p:ph idx="1"/>
          </p:nvPr>
        </p:nvSpPr>
        <p:spPr/>
        <p:txBody>
          <a:bodyPr>
            <a:normAutofit fontScale="85000" lnSpcReduction="20000"/>
          </a:bodyPr>
          <a:lstStyle/>
          <a:p>
            <a:pPr marL="914400" indent="-914400">
              <a:lnSpc>
                <a:spcPct val="110000"/>
              </a:lnSpc>
              <a:spcBef>
                <a:spcPts val="1200"/>
              </a:spcBef>
              <a:buNone/>
            </a:pPr>
            <a:r>
              <a:rPr lang="en-US" dirty="0"/>
              <a:t>7.2.1  Identify the locations of cholinergic neurons in both the peripheral nervous system and the brain. </a:t>
            </a:r>
          </a:p>
          <a:p>
            <a:pPr marL="914400" indent="-914400">
              <a:lnSpc>
                <a:spcPct val="110000"/>
              </a:lnSpc>
              <a:spcBef>
                <a:spcPts val="1200"/>
              </a:spcBef>
              <a:buNone/>
            </a:pPr>
            <a:r>
              <a:rPr lang="en-US" dirty="0"/>
              <a:t>7.2.2  Discuss evidence for a role of various cholinergic systems in (a) motor control, including abnormalities in motor control in Parkinson’s disease, (b) memory encoding, (c) sustained attention, and (d) drug reward and reinforcement.</a:t>
            </a:r>
          </a:p>
          <a:p>
            <a:pPr marL="914400" indent="-914400">
              <a:lnSpc>
                <a:spcPct val="110000"/>
              </a:lnSpc>
              <a:spcBef>
                <a:spcPts val="1200"/>
              </a:spcBef>
              <a:buNone/>
            </a:pPr>
            <a:r>
              <a:rPr lang="en-US" dirty="0"/>
              <a:t>7.2.3  (a) Identify and characterize the two major cholinergic receptor subtypes, including their subunit structure (where relevant) and signaling mechanisms, (b) discuss the major behavioral functions of cholinergic receptors, and (c) list the major agonists and antagonists at these receptors and their behavioral or physiological effects.</a:t>
            </a:r>
          </a:p>
          <a:p>
            <a:pPr marL="914400" indent="-914400">
              <a:lnSpc>
                <a:spcPct val="110000"/>
              </a:lnSpc>
              <a:spcBef>
                <a:spcPts val="1200"/>
              </a:spcBef>
              <a:buNone/>
            </a:pPr>
            <a:r>
              <a:rPr lang="en-US" dirty="0"/>
              <a:t>7.2.4  Describe the three different states of nicotinic receptors and how they are regulated.</a:t>
            </a:r>
          </a:p>
        </p:txBody>
      </p:sp>
    </p:spTree>
    <p:extLst>
      <p:ext uri="{BB962C8B-B14F-4D97-AF65-F5344CB8AC3E}">
        <p14:creationId xmlns:p14="http://schemas.microsoft.com/office/powerpoint/2010/main" val="1173622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lang="en-US" dirty="0"/>
              <a:t>Acetylcholine Synthesis, Release, and Inactivation </a:t>
            </a:r>
            <a:r>
              <a:rPr lang="en-US" sz="1200" dirty="0"/>
              <a:t>(1 of 10)</a:t>
            </a:r>
            <a:endParaRPr lang="en-US" dirty="0"/>
          </a:p>
        </p:txBody>
      </p:sp>
      <p:sp>
        <p:nvSpPr>
          <p:cNvPr id="3" name="Text Placeholder 2"/>
          <p:cNvSpPr>
            <a:spLocks noGrp="1"/>
          </p:cNvSpPr>
          <p:nvPr>
            <p:ph idx="1"/>
          </p:nvPr>
        </p:nvSpPr>
        <p:spPr/>
        <p:txBody>
          <a:bodyPr>
            <a:normAutofit/>
          </a:bodyPr>
          <a:lstStyle/>
          <a:p>
            <a:pPr marL="457200">
              <a:lnSpc>
                <a:spcPct val="100000"/>
              </a:lnSpc>
              <a:spcBef>
                <a:spcPts val="1200"/>
              </a:spcBef>
              <a:buNone/>
            </a:pPr>
            <a:r>
              <a:rPr lang="en-US" sz="3200" dirty="0"/>
              <a:t>Acetylcholine synthesis is catalyzed by the enzyme choline acetyltransferase</a:t>
            </a:r>
          </a:p>
          <a:p>
            <a:pPr>
              <a:lnSpc>
                <a:spcPct val="100000"/>
              </a:lnSpc>
              <a:spcBef>
                <a:spcPts val="1800"/>
              </a:spcBef>
            </a:pPr>
            <a:r>
              <a:rPr lang="en-US" b="1" dirty="0"/>
              <a:t>Acetylcholine</a:t>
            </a:r>
            <a:r>
              <a:rPr lang="en-US" dirty="0"/>
              <a:t> (</a:t>
            </a:r>
            <a:r>
              <a:rPr lang="en-US" b="1" dirty="0" err="1"/>
              <a:t>ACh</a:t>
            </a:r>
            <a:r>
              <a:rPr lang="en-US" dirty="0"/>
              <a:t>; adjective form, </a:t>
            </a:r>
            <a:r>
              <a:rPr lang="en-US" b="1" dirty="0"/>
              <a:t>cholinergic</a:t>
            </a:r>
            <a:r>
              <a:rPr lang="en-US" dirty="0"/>
              <a:t>); synthesized in one step from </a:t>
            </a:r>
            <a:r>
              <a:rPr lang="en-US" b="1" dirty="0"/>
              <a:t>choline</a:t>
            </a:r>
            <a:r>
              <a:rPr lang="en-US" dirty="0"/>
              <a:t> and </a:t>
            </a:r>
            <a:r>
              <a:rPr lang="en-US" b="1" dirty="0"/>
              <a:t>acetyl</a:t>
            </a:r>
            <a:r>
              <a:rPr lang="en-US" dirty="0"/>
              <a:t> </a:t>
            </a:r>
            <a:r>
              <a:rPr lang="en-US" b="1" dirty="0"/>
              <a:t>coenzyme A</a:t>
            </a:r>
            <a:r>
              <a:rPr lang="en-US" dirty="0"/>
              <a:t> (</a:t>
            </a:r>
            <a:r>
              <a:rPr lang="en-US" b="1" dirty="0"/>
              <a:t>acetyl CoA</a:t>
            </a:r>
            <a:r>
              <a:rPr lang="en-US" dirty="0"/>
              <a:t>), catalyzed by </a:t>
            </a:r>
            <a:r>
              <a:rPr lang="en-US" b="1" dirty="0"/>
              <a:t>choline</a:t>
            </a:r>
            <a:r>
              <a:rPr lang="en-US" dirty="0"/>
              <a:t> </a:t>
            </a:r>
            <a:r>
              <a:rPr lang="en-US" b="1" dirty="0"/>
              <a:t>acetyltransferase</a:t>
            </a:r>
            <a:r>
              <a:rPr lang="en-US" dirty="0"/>
              <a:t> (</a:t>
            </a:r>
            <a:r>
              <a:rPr lang="en-US" b="1" dirty="0" err="1"/>
              <a:t>ChAT</a:t>
            </a:r>
            <a:r>
              <a:rPr lang="en-US" dirty="0"/>
              <a:t>)</a:t>
            </a:r>
          </a:p>
          <a:p>
            <a:pPr>
              <a:lnSpc>
                <a:spcPct val="100000"/>
              </a:lnSpc>
              <a:spcBef>
                <a:spcPts val="1800"/>
              </a:spcBef>
            </a:pPr>
            <a:r>
              <a:rPr lang="en-US" dirty="0" err="1"/>
              <a:t>ChAT</a:t>
            </a:r>
            <a:r>
              <a:rPr lang="en-US" dirty="0"/>
              <a:t> is found only in neurons that use </a:t>
            </a:r>
            <a:r>
              <a:rPr lang="en-US" dirty="0" err="1"/>
              <a:t>ACh</a:t>
            </a:r>
            <a:r>
              <a:rPr lang="en-US" dirty="0"/>
              <a:t> as a transmitter.</a:t>
            </a:r>
          </a:p>
          <a:p>
            <a:pPr>
              <a:lnSpc>
                <a:spcPct val="100000"/>
              </a:lnSpc>
              <a:spcBef>
                <a:spcPts val="1800"/>
              </a:spcBef>
            </a:pPr>
            <a:r>
              <a:rPr lang="en-US" dirty="0"/>
              <a:t>Rate of synthesis depends on availability of precursors and rate of cell firing; there are no inhibitors of </a:t>
            </a:r>
            <a:r>
              <a:rPr lang="en-US" dirty="0" err="1"/>
              <a:t>ChAT</a:t>
            </a:r>
            <a:endParaRPr lang="en-US" dirty="0"/>
          </a:p>
        </p:txBody>
      </p:sp>
    </p:spTree>
    <p:extLst>
      <p:ext uri="{BB962C8B-B14F-4D97-AF65-F5344CB8AC3E}">
        <p14:creationId xmlns:p14="http://schemas.microsoft.com/office/powerpoint/2010/main" val="1372619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C2AB2-68C6-0D44-9FF2-BC2E3F0DF267}"/>
              </a:ext>
            </a:extLst>
          </p:cNvPr>
          <p:cNvSpPr>
            <a:spLocks noGrp="1"/>
          </p:cNvSpPr>
          <p:nvPr>
            <p:ph type="title"/>
          </p:nvPr>
        </p:nvSpPr>
        <p:spPr/>
        <p:txBody>
          <a:bodyPr/>
          <a:lstStyle/>
          <a:p>
            <a:r>
              <a:rPr lang="en-US" cap="all" dirty="0"/>
              <a:t>FIGURE 7.1</a:t>
            </a:r>
            <a:r>
              <a:rPr lang="en-US" dirty="0"/>
              <a:t>  Synthesis of acetylcholine (</a:t>
            </a:r>
            <a:r>
              <a:rPr lang="en-US" dirty="0" err="1"/>
              <a:t>ACh</a:t>
            </a:r>
            <a:r>
              <a:rPr lang="en-US" dirty="0"/>
              <a:t>) by choline acetyltransferase </a:t>
            </a:r>
          </a:p>
        </p:txBody>
      </p:sp>
      <p:pic>
        <p:nvPicPr>
          <p:cNvPr id="8" name="Content Placeholder 7" descr="A chemical equation for the synthesis of acetylcholine by choline acetyltransferase is given. Choline has one nitrogen plus ion surrounded by three CH3 molecules that are coupled to two CH2 and OH. Acetyl CoA has a carbon atom linked to CH3, O, and S related to CoA. In the presence of Choline acetyltransferase, choline and acetyl CoA combine to create acetylcholine and coenzyme A.">
            <a:extLst>
              <a:ext uri="{FF2B5EF4-FFF2-40B4-BE49-F238E27FC236}">
                <a16:creationId xmlns:a16="http://schemas.microsoft.com/office/drawing/2014/main" id="{19F3DECF-5D47-3841-95FA-EBFAC4BECD4A}"/>
              </a:ext>
            </a:extLst>
          </p:cNvPr>
          <p:cNvPicPr>
            <a:picLocks noGrp="1" noChangeAspect="1"/>
          </p:cNvPicPr>
          <p:nvPr>
            <p:ph sz="quarter" idx="10"/>
          </p:nvPr>
        </p:nvPicPr>
        <p:blipFill>
          <a:blip r:embed="rId3"/>
          <a:stretch>
            <a:fillRect/>
          </a:stretch>
        </p:blipFill>
        <p:spPr>
          <a:xfrm>
            <a:off x="407988" y="2669343"/>
            <a:ext cx="11376025" cy="1920951"/>
          </a:xfrm>
        </p:spPr>
      </p:pic>
    </p:spTree>
    <p:extLst>
      <p:ext uri="{BB962C8B-B14F-4D97-AF65-F5344CB8AC3E}">
        <p14:creationId xmlns:p14="http://schemas.microsoft.com/office/powerpoint/2010/main" val="34143352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lang="en-US" dirty="0"/>
              <a:t>Acetylcholine Synthesis, Release, and Inactivation </a:t>
            </a:r>
            <a:r>
              <a:rPr lang="en-US" sz="1200" dirty="0"/>
              <a:t>(2 of 10)</a:t>
            </a:r>
            <a:endParaRPr lang="en-US" dirty="0"/>
          </a:p>
        </p:txBody>
      </p:sp>
      <p:sp>
        <p:nvSpPr>
          <p:cNvPr id="3" name="Text Placeholder 2"/>
          <p:cNvSpPr>
            <a:spLocks noGrp="1"/>
          </p:cNvSpPr>
          <p:nvPr>
            <p:ph idx="1"/>
          </p:nvPr>
        </p:nvSpPr>
        <p:spPr/>
        <p:txBody>
          <a:bodyPr/>
          <a:lstStyle/>
          <a:p>
            <a:pPr marL="457200">
              <a:spcBef>
                <a:spcPts val="1200"/>
              </a:spcBef>
              <a:buNone/>
            </a:pPr>
            <a:r>
              <a:rPr lang="en-US" sz="3200" dirty="0"/>
              <a:t>Many different drugs and toxins can alter acetylcholine storage and release</a:t>
            </a:r>
          </a:p>
          <a:p>
            <a:pPr>
              <a:lnSpc>
                <a:spcPct val="100000"/>
              </a:lnSpc>
              <a:spcBef>
                <a:spcPts val="1800"/>
              </a:spcBef>
            </a:pPr>
            <a:r>
              <a:rPr lang="en-US" dirty="0" err="1"/>
              <a:t>ACh</a:t>
            </a:r>
            <a:r>
              <a:rPr lang="en-US" dirty="0"/>
              <a:t> is loaded into synaptic vesicles by </a:t>
            </a:r>
            <a:r>
              <a:rPr lang="en-US" altLang="en-US" b="1" dirty="0"/>
              <a:t>vesicular </a:t>
            </a:r>
            <a:r>
              <a:rPr lang="en-US" altLang="en-US" b="1" dirty="0" err="1"/>
              <a:t>ACh</a:t>
            </a:r>
            <a:r>
              <a:rPr lang="en-US" altLang="en-US" b="1" dirty="0"/>
              <a:t> transporters</a:t>
            </a:r>
            <a:r>
              <a:rPr lang="en-US" altLang="en-US" dirty="0"/>
              <a:t> (</a:t>
            </a:r>
            <a:r>
              <a:rPr lang="en-US" altLang="en-US" b="1" dirty="0" err="1"/>
              <a:t>VAChT</a:t>
            </a:r>
            <a:r>
              <a:rPr lang="en-US" altLang="en-US" dirty="0"/>
              <a:t>)</a:t>
            </a:r>
          </a:p>
          <a:p>
            <a:pPr>
              <a:lnSpc>
                <a:spcPct val="100000"/>
              </a:lnSpc>
              <a:spcBef>
                <a:spcPts val="1800"/>
              </a:spcBef>
            </a:pPr>
            <a:r>
              <a:rPr lang="en-US" altLang="en-US" dirty="0" err="1"/>
              <a:t>VAChT</a:t>
            </a:r>
            <a:r>
              <a:rPr lang="en-US" altLang="en-US" dirty="0"/>
              <a:t> can be blocked by </a:t>
            </a:r>
            <a:r>
              <a:rPr lang="en-US" altLang="en-US" b="1" dirty="0" err="1"/>
              <a:t>vesamicol</a:t>
            </a:r>
            <a:r>
              <a:rPr lang="en-US" altLang="en-US" b="1" dirty="0"/>
              <a:t> – </a:t>
            </a:r>
            <a:r>
              <a:rPr lang="en-US" altLang="en-US" dirty="0"/>
              <a:t>reduces amount of </a:t>
            </a:r>
            <a:r>
              <a:rPr lang="en-US" altLang="en-US" dirty="0" err="1"/>
              <a:t>ACh</a:t>
            </a:r>
            <a:r>
              <a:rPr lang="en-US" altLang="en-US" dirty="0"/>
              <a:t> released when neurons fire.</a:t>
            </a:r>
          </a:p>
        </p:txBody>
      </p:sp>
    </p:spTree>
    <p:extLst>
      <p:ext uri="{BB962C8B-B14F-4D97-AF65-F5344CB8AC3E}">
        <p14:creationId xmlns:p14="http://schemas.microsoft.com/office/powerpoint/2010/main" val="26660090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5E351-FC91-F141-B035-6E270DAFE9E4}"/>
              </a:ext>
            </a:extLst>
          </p:cNvPr>
          <p:cNvSpPr>
            <a:spLocks noGrp="1"/>
          </p:cNvSpPr>
          <p:nvPr>
            <p:ph type="title"/>
          </p:nvPr>
        </p:nvSpPr>
        <p:spPr/>
        <p:txBody>
          <a:bodyPr/>
          <a:lstStyle/>
          <a:p>
            <a:r>
              <a:rPr lang="en-US" cap="all" dirty="0"/>
              <a:t>FIGURE 7.2</a:t>
            </a:r>
            <a:r>
              <a:rPr lang="en-US" dirty="0"/>
              <a:t>  A cholinergic synapse </a:t>
            </a:r>
          </a:p>
        </p:txBody>
      </p:sp>
      <p:pic>
        <p:nvPicPr>
          <p:cNvPr id="6" name="Content Placeholder 5" descr="The cholinergic synapse reaction is depicted in this illustration. Initially, in the presence of ChAT and Acetyl CoA, Acetylcholine is synthesized from Choline in the presynaptic terminal. Acetylcholine compounds are collected at vesicles. The vesicular ACh transporter transports vesamicol with a negative sign to the vesicle. The choline transporter transports HC-3 with a negative sign. The choline transporter transports choline and acetate into the presynaptic terminal. Acetylcholine molecules are released to the postsynaptic cell via the nicotinic cholinergic receptor and the muscarinic cholinergic receptor."/>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894998" y="479425"/>
            <a:ext cx="6402005" cy="6300788"/>
          </a:xfrm>
        </p:spPr>
      </p:pic>
    </p:spTree>
    <p:extLst>
      <p:ext uri="{BB962C8B-B14F-4D97-AF65-F5344CB8AC3E}">
        <p14:creationId xmlns:p14="http://schemas.microsoft.com/office/powerpoint/2010/main" val="4823289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lang="en-US" dirty="0"/>
              <a:t>Acetylcholine Synthesis, Release, and Inactivation </a:t>
            </a:r>
            <a:r>
              <a:rPr lang="en-US" sz="1200" dirty="0"/>
              <a:t>(3 of 10)</a:t>
            </a:r>
            <a:endParaRPr lang="en-US" dirty="0"/>
          </a:p>
        </p:txBody>
      </p:sp>
      <p:sp>
        <p:nvSpPr>
          <p:cNvPr id="3" name="Text Placeholder 2"/>
          <p:cNvSpPr>
            <a:spLocks noGrp="1"/>
          </p:cNvSpPr>
          <p:nvPr>
            <p:ph idx="1"/>
          </p:nvPr>
        </p:nvSpPr>
        <p:spPr/>
        <p:txBody>
          <a:bodyPr>
            <a:normAutofit/>
          </a:bodyPr>
          <a:lstStyle/>
          <a:p>
            <a:pPr marL="457200">
              <a:lnSpc>
                <a:spcPct val="100000"/>
              </a:lnSpc>
              <a:spcBef>
                <a:spcPts val="1200"/>
              </a:spcBef>
              <a:buNone/>
            </a:pPr>
            <a:r>
              <a:rPr lang="en-US" sz="3200" dirty="0"/>
              <a:t>Many different drugs and toxins can alter acetylcholine storage and release</a:t>
            </a:r>
          </a:p>
          <a:p>
            <a:pPr>
              <a:lnSpc>
                <a:spcPct val="100000"/>
              </a:lnSpc>
              <a:spcBef>
                <a:spcPts val="1800"/>
              </a:spcBef>
            </a:pPr>
            <a:r>
              <a:rPr lang="en-US" dirty="0"/>
              <a:t>Ach release is affected by toxins</a:t>
            </a:r>
          </a:p>
          <a:p>
            <a:pPr>
              <a:lnSpc>
                <a:spcPct val="100000"/>
              </a:lnSpc>
              <a:spcBef>
                <a:spcPts val="1800"/>
              </a:spcBef>
            </a:pPr>
            <a:r>
              <a:rPr lang="en-US" dirty="0"/>
              <a:t>Black widow spider venom causes massive release of </a:t>
            </a:r>
            <a:r>
              <a:rPr lang="en-US" dirty="0" err="1"/>
              <a:t>ACh</a:t>
            </a:r>
            <a:r>
              <a:rPr lang="en-US" dirty="0"/>
              <a:t> in the PNS</a:t>
            </a:r>
          </a:p>
          <a:p>
            <a:pPr>
              <a:lnSpc>
                <a:spcPct val="100000"/>
              </a:lnSpc>
              <a:spcBef>
                <a:spcPts val="1800"/>
              </a:spcBef>
            </a:pPr>
            <a:r>
              <a:rPr lang="en-US" dirty="0"/>
              <a:t>Botulism toxin blocks </a:t>
            </a:r>
            <a:r>
              <a:rPr lang="en-US" dirty="0" err="1"/>
              <a:t>ACh</a:t>
            </a:r>
            <a:r>
              <a:rPr lang="en-US" dirty="0"/>
              <a:t> release by preventing fusion of synaptic vesicles with nerve terminal membrane; causes muscular paralysis</a:t>
            </a:r>
          </a:p>
        </p:txBody>
      </p:sp>
    </p:spTree>
    <p:extLst>
      <p:ext uri="{BB962C8B-B14F-4D97-AF65-F5344CB8AC3E}">
        <p14:creationId xmlns:p14="http://schemas.microsoft.com/office/powerpoint/2010/main" val="850172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lang="en-US" dirty="0"/>
              <a:t>Acetylcholine Synthesis, Release, and Inactivation </a:t>
            </a:r>
            <a:r>
              <a:rPr lang="en-US" sz="1200" dirty="0"/>
              <a:t>(4 of 10)</a:t>
            </a:r>
            <a:endParaRPr lang="en-US" dirty="0"/>
          </a:p>
        </p:txBody>
      </p:sp>
      <p:sp>
        <p:nvSpPr>
          <p:cNvPr id="3" name="Text Placeholder 2"/>
          <p:cNvSpPr>
            <a:spLocks noGrp="1"/>
          </p:cNvSpPr>
          <p:nvPr>
            <p:ph idx="1"/>
          </p:nvPr>
        </p:nvSpPr>
        <p:spPr/>
        <p:txBody>
          <a:bodyPr>
            <a:normAutofit fontScale="77500" lnSpcReduction="20000"/>
          </a:bodyPr>
          <a:lstStyle/>
          <a:p>
            <a:pPr marL="0" indent="0">
              <a:lnSpc>
                <a:spcPct val="110000"/>
              </a:lnSpc>
              <a:spcBef>
                <a:spcPts val="1800"/>
              </a:spcBef>
              <a:buNone/>
            </a:pPr>
            <a:r>
              <a:rPr lang="en-US" sz="2600" u="sng" dirty="0"/>
              <a:t>BOX 7.1  PHARMACOLOGY IN ACTION</a:t>
            </a:r>
          </a:p>
          <a:p>
            <a:pPr marL="457200">
              <a:lnSpc>
                <a:spcPct val="120000"/>
              </a:lnSpc>
              <a:spcBef>
                <a:spcPts val="1800"/>
              </a:spcBef>
              <a:buNone/>
            </a:pPr>
            <a:r>
              <a:rPr lang="en-US" sz="4100" i="1" dirty="0"/>
              <a:t>Botulinum Toxin—Deadly Poison, Therapeutic Remedy, and Cosmetic Aid</a:t>
            </a:r>
            <a:endParaRPr lang="en-GB" sz="4100" i="1" dirty="0"/>
          </a:p>
          <a:p>
            <a:pPr>
              <a:lnSpc>
                <a:spcPct val="110000"/>
              </a:lnSpc>
              <a:spcBef>
                <a:spcPts val="1800"/>
              </a:spcBef>
            </a:pPr>
            <a:r>
              <a:rPr lang="en-US" dirty="0"/>
              <a:t>Botulinum toxins A through G are produced by the anaerobic bacterium </a:t>
            </a:r>
            <a:r>
              <a:rPr lang="en-US" i="1" dirty="0"/>
              <a:t>Clostridium botulinum</a:t>
            </a:r>
            <a:endParaRPr lang="en-US" dirty="0"/>
          </a:p>
          <a:p>
            <a:pPr>
              <a:lnSpc>
                <a:spcPct val="110000"/>
              </a:lnSpc>
              <a:spcBef>
                <a:spcPts val="1800"/>
              </a:spcBef>
            </a:pPr>
            <a:r>
              <a:rPr lang="en-US" dirty="0"/>
              <a:t>The toxin proteins are taken up selectively by peripheral cholinergic nerve terminals, including at the neuromuscular junction, and fibers innervating smooth muscle and secretory glands</a:t>
            </a:r>
          </a:p>
          <a:p>
            <a:pPr>
              <a:lnSpc>
                <a:spcPct val="110000"/>
              </a:lnSpc>
              <a:spcBef>
                <a:spcPts val="1800"/>
              </a:spcBef>
            </a:pPr>
            <a:r>
              <a:rPr lang="en-US" dirty="0"/>
              <a:t>Toxins are used in treating disorders characterized by involuntary muscle contractions, as a pain reliever, and cosmetically (Botox)</a:t>
            </a:r>
          </a:p>
        </p:txBody>
      </p:sp>
    </p:spTree>
    <p:extLst>
      <p:ext uri="{BB962C8B-B14F-4D97-AF65-F5344CB8AC3E}">
        <p14:creationId xmlns:p14="http://schemas.microsoft.com/office/powerpoint/2010/main" val="35634057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lang="en-US" dirty="0"/>
              <a:t>Acetylcholine Synthesis, Release, and Inactivation </a:t>
            </a:r>
            <a:r>
              <a:rPr lang="en-US" sz="1200" dirty="0"/>
              <a:t>(5 of 10)</a:t>
            </a:r>
            <a:endParaRPr lang="en-US" dirty="0"/>
          </a:p>
        </p:txBody>
      </p:sp>
      <p:sp>
        <p:nvSpPr>
          <p:cNvPr id="3" name="Text Placeholder 2"/>
          <p:cNvSpPr>
            <a:spLocks noGrp="1"/>
          </p:cNvSpPr>
          <p:nvPr>
            <p:ph idx="1"/>
          </p:nvPr>
        </p:nvSpPr>
        <p:spPr/>
        <p:txBody>
          <a:bodyPr>
            <a:normAutofit fontScale="77500" lnSpcReduction="20000"/>
          </a:bodyPr>
          <a:lstStyle/>
          <a:p>
            <a:pPr marL="457200">
              <a:lnSpc>
                <a:spcPct val="120000"/>
              </a:lnSpc>
              <a:spcBef>
                <a:spcPts val="1200"/>
              </a:spcBef>
              <a:buNone/>
            </a:pPr>
            <a:r>
              <a:rPr lang="en-US" sz="4100" dirty="0"/>
              <a:t>Acetylcholinesterase is responsible for acetylcholine breakdown</a:t>
            </a:r>
          </a:p>
          <a:p>
            <a:pPr>
              <a:lnSpc>
                <a:spcPct val="110000"/>
              </a:lnSpc>
              <a:spcBef>
                <a:spcPts val="1800"/>
              </a:spcBef>
            </a:pPr>
            <a:r>
              <a:rPr lang="en-US" sz="3100" b="1" dirty="0"/>
              <a:t>Acetylcholinesterase</a:t>
            </a:r>
            <a:r>
              <a:rPr lang="en-US" sz="3100" dirty="0"/>
              <a:t> (</a:t>
            </a:r>
            <a:r>
              <a:rPr lang="en-US" sz="3100" b="1" dirty="0" err="1"/>
              <a:t>AChE</a:t>
            </a:r>
            <a:r>
              <a:rPr lang="en-US" sz="3100" dirty="0"/>
              <a:t>) breaks </a:t>
            </a:r>
            <a:r>
              <a:rPr lang="en-US" sz="3100" dirty="0" err="1"/>
              <a:t>ACh</a:t>
            </a:r>
            <a:r>
              <a:rPr lang="en-US" sz="3100" dirty="0"/>
              <a:t> down to choline and acetic acid; four subunits combine to form a tetramer (G4)</a:t>
            </a:r>
          </a:p>
          <a:p>
            <a:pPr>
              <a:lnSpc>
                <a:spcPct val="110000"/>
              </a:lnSpc>
              <a:spcBef>
                <a:spcPts val="1800"/>
              </a:spcBef>
            </a:pPr>
            <a:r>
              <a:rPr lang="en-US" sz="3100" dirty="0"/>
              <a:t>Three forms of </a:t>
            </a:r>
            <a:r>
              <a:rPr lang="en-US" sz="3100" dirty="0" err="1"/>
              <a:t>AChE</a:t>
            </a:r>
            <a:r>
              <a:rPr lang="en-US" sz="3100" dirty="0"/>
              <a:t>:</a:t>
            </a:r>
          </a:p>
          <a:p>
            <a:pPr marL="1263650" lvl="1" indent="-349250">
              <a:lnSpc>
                <a:spcPct val="110000"/>
              </a:lnSpc>
              <a:spcBef>
                <a:spcPts val="1800"/>
              </a:spcBef>
              <a:buFont typeface="Courier New" panose="02070309020205020404" pitchFamily="49" charset="0"/>
              <a:buChar char="o"/>
            </a:pPr>
            <a:r>
              <a:rPr lang="en-US" sz="3100" dirty="0"/>
              <a:t>Soluble: free G4 in the cell</a:t>
            </a:r>
          </a:p>
          <a:p>
            <a:pPr marL="1263650" lvl="1" indent="-349250">
              <a:lnSpc>
                <a:spcPct val="110000"/>
              </a:lnSpc>
              <a:spcBef>
                <a:spcPts val="1800"/>
              </a:spcBef>
              <a:buFont typeface="Courier New" panose="02070309020205020404" pitchFamily="49" charset="0"/>
              <a:buChar char="o"/>
            </a:pPr>
            <a:r>
              <a:rPr lang="en-US" sz="3100" dirty="0"/>
              <a:t>G4 tethered to the cell membrane – in a position to allow rapid breakdown</a:t>
            </a:r>
          </a:p>
          <a:p>
            <a:pPr marL="1263650" lvl="1" indent="-349250">
              <a:lnSpc>
                <a:spcPct val="110000"/>
              </a:lnSpc>
              <a:spcBef>
                <a:spcPts val="1800"/>
              </a:spcBef>
              <a:buFont typeface="Courier New" panose="02070309020205020404" pitchFamily="49" charset="0"/>
              <a:buChar char="o"/>
            </a:pPr>
            <a:r>
              <a:rPr lang="en-US" sz="3100" dirty="0"/>
              <a:t>A12 – at neuromuscular junctions; 12 subunits; very rapid breakdown of Ach allows muscle to relax before next contraction</a:t>
            </a:r>
          </a:p>
        </p:txBody>
      </p:sp>
    </p:spTree>
    <p:extLst>
      <p:ext uri="{BB962C8B-B14F-4D97-AF65-F5344CB8AC3E}">
        <p14:creationId xmlns:p14="http://schemas.microsoft.com/office/powerpoint/2010/main" val="3828954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8B2EE-6BDD-024D-B0E3-1C0AB9743998}"/>
              </a:ext>
            </a:extLst>
          </p:cNvPr>
          <p:cNvSpPr>
            <a:spLocks noGrp="1"/>
          </p:cNvSpPr>
          <p:nvPr>
            <p:ph type="title"/>
          </p:nvPr>
        </p:nvSpPr>
        <p:spPr/>
        <p:txBody>
          <a:bodyPr/>
          <a:lstStyle/>
          <a:p>
            <a:r>
              <a:rPr lang="en-US" cap="all" dirty="0"/>
              <a:t>FIGURE 7.3</a:t>
            </a:r>
            <a:r>
              <a:rPr lang="en-US" dirty="0"/>
              <a:t>  Breakdown of </a:t>
            </a:r>
            <a:r>
              <a:rPr lang="en-US" dirty="0" err="1"/>
              <a:t>ACh</a:t>
            </a:r>
            <a:r>
              <a:rPr lang="en-US" dirty="0"/>
              <a:t> by acetylcholinesterase </a:t>
            </a:r>
          </a:p>
        </p:txBody>
      </p:sp>
      <p:pic>
        <p:nvPicPr>
          <p:cNvPr id="8" name="Content Placeholder 7" descr="A chemical equation depicting the breakdown of ACh by acetylcholinesterase. The structure of acetylcholine is one nitrogen plus ion surrounded by three CH3 molecules coupled to two CH2 molecules that are single bound and double bonded with oxygen atoms and a CH3 molecule. In the presence of Acetylcholinesterase, acetylcholine combines with water to form a mixture of choline and acetic acid.">
            <a:extLst>
              <a:ext uri="{FF2B5EF4-FFF2-40B4-BE49-F238E27FC236}">
                <a16:creationId xmlns:a16="http://schemas.microsoft.com/office/drawing/2014/main" id="{DB036DFE-C05A-0F4D-AE05-894AE8C53669}"/>
              </a:ext>
            </a:extLst>
          </p:cNvPr>
          <p:cNvPicPr>
            <a:picLocks noGrp="1" noChangeAspect="1"/>
          </p:cNvPicPr>
          <p:nvPr>
            <p:ph sz="quarter" idx="10"/>
          </p:nvPr>
        </p:nvPicPr>
        <p:blipFill>
          <a:blip r:embed="rId3"/>
          <a:stretch>
            <a:fillRect/>
          </a:stretch>
        </p:blipFill>
        <p:spPr>
          <a:xfrm>
            <a:off x="407988" y="2706764"/>
            <a:ext cx="11376025" cy="1846109"/>
          </a:xfrm>
        </p:spPr>
      </p:pic>
    </p:spTree>
    <p:extLst>
      <p:ext uri="{BB962C8B-B14F-4D97-AF65-F5344CB8AC3E}">
        <p14:creationId xmlns:p14="http://schemas.microsoft.com/office/powerpoint/2010/main" val="15529071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80F41-0DF6-4E4C-B32C-7E566FFC475D}"/>
              </a:ext>
            </a:extLst>
          </p:cNvPr>
          <p:cNvSpPr>
            <a:spLocks noGrp="1"/>
          </p:cNvSpPr>
          <p:nvPr>
            <p:ph type="title"/>
          </p:nvPr>
        </p:nvSpPr>
        <p:spPr/>
        <p:txBody>
          <a:bodyPr/>
          <a:lstStyle/>
          <a:p>
            <a:r>
              <a:rPr lang="en-US" cap="all" dirty="0"/>
              <a:t>FIGURE 7.4</a:t>
            </a:r>
            <a:r>
              <a:rPr lang="en-US" dirty="0"/>
              <a:t>  Forms of acetylcholinesterase in the nervous system </a:t>
            </a:r>
          </a:p>
        </p:txBody>
      </p:sp>
      <p:pic>
        <p:nvPicPr>
          <p:cNvPr id="6" name="Content Placeholder 5" descr="The forms of acetylcholinesterase in the nervous system are depicted in a three-part illustration. The first illustration depicts the structure of soluble G4, which is made up of separate AChE subunits that have been joined to form a closed structure. The membrane-bound G4 is depicted in the second illustration, where the G4 is connected to a single thin strip of membrane anchor descending through the muscle. The third illustration depicts the A12 neuromuscular junction, which has numerous strips of membrane anchor linked to form a ribbon-like structure labeled as the collagen tail."/>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1781606" y="479425"/>
            <a:ext cx="8628789" cy="6300788"/>
          </a:xfrm>
        </p:spPr>
      </p:pic>
    </p:spTree>
    <p:extLst>
      <p:ext uri="{BB962C8B-B14F-4D97-AF65-F5344CB8AC3E}">
        <p14:creationId xmlns:p14="http://schemas.microsoft.com/office/powerpoint/2010/main" val="13808687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lang="en-US" dirty="0"/>
              <a:t>Acetylcholine Synthesis, Release, and Inactivation </a:t>
            </a:r>
            <a:r>
              <a:rPr lang="en-US" sz="1200" dirty="0"/>
              <a:t>(6 of 10)</a:t>
            </a:r>
            <a:endParaRPr lang="en-US" dirty="0"/>
          </a:p>
        </p:txBody>
      </p:sp>
      <p:sp>
        <p:nvSpPr>
          <p:cNvPr id="3" name="Text Placeholder 2"/>
          <p:cNvSpPr>
            <a:spLocks noGrp="1"/>
          </p:cNvSpPr>
          <p:nvPr>
            <p:ph idx="1"/>
          </p:nvPr>
        </p:nvSpPr>
        <p:spPr/>
        <p:txBody>
          <a:bodyPr>
            <a:normAutofit fontScale="92500"/>
          </a:bodyPr>
          <a:lstStyle/>
          <a:p>
            <a:pPr marL="457200">
              <a:buNone/>
            </a:pPr>
            <a:r>
              <a:rPr lang="en-US" sz="3500" dirty="0"/>
              <a:t>Acetylcholinesterase is responsible for acetylcholine breakdown</a:t>
            </a:r>
          </a:p>
          <a:p>
            <a:pPr>
              <a:lnSpc>
                <a:spcPct val="110000"/>
              </a:lnSpc>
              <a:spcBef>
                <a:spcPts val="1800"/>
              </a:spcBef>
            </a:pPr>
            <a:r>
              <a:rPr lang="en-US" dirty="0"/>
              <a:t>Choline is taken back up by </a:t>
            </a:r>
            <a:r>
              <a:rPr lang="en-US" b="1" dirty="0"/>
              <a:t>choline transporters</a:t>
            </a:r>
            <a:r>
              <a:rPr lang="en-US" dirty="0"/>
              <a:t>; transporters can be blocked by </a:t>
            </a:r>
            <a:r>
              <a:rPr lang="en-US" b="1" dirty="0"/>
              <a:t>hemicholinium-3</a:t>
            </a:r>
            <a:r>
              <a:rPr lang="en-US" dirty="0"/>
              <a:t> (</a:t>
            </a:r>
            <a:r>
              <a:rPr lang="en-US" b="1" dirty="0"/>
              <a:t>HC-3</a:t>
            </a:r>
            <a:r>
              <a:rPr lang="en-US" dirty="0"/>
              <a:t>) – </a:t>
            </a:r>
            <a:r>
              <a:rPr lang="en-US" dirty="0" err="1"/>
              <a:t>ACh</a:t>
            </a:r>
            <a:r>
              <a:rPr lang="en-US" dirty="0"/>
              <a:t> production declines.</a:t>
            </a:r>
          </a:p>
          <a:p>
            <a:pPr>
              <a:lnSpc>
                <a:spcPct val="110000"/>
              </a:lnSpc>
              <a:spcBef>
                <a:spcPts val="1800"/>
              </a:spcBef>
            </a:pPr>
            <a:r>
              <a:rPr lang="en-US" dirty="0"/>
              <a:t>Drugs that block </a:t>
            </a:r>
            <a:r>
              <a:rPr lang="en-US" dirty="0" err="1"/>
              <a:t>AChE</a:t>
            </a:r>
            <a:r>
              <a:rPr lang="en-US" dirty="0"/>
              <a:t> prevent breakdown of </a:t>
            </a:r>
            <a:r>
              <a:rPr lang="en-US" dirty="0" err="1"/>
              <a:t>ACh</a:t>
            </a:r>
            <a:r>
              <a:rPr lang="en-US" dirty="0"/>
              <a:t>; </a:t>
            </a:r>
            <a:r>
              <a:rPr lang="en-US" dirty="0" err="1"/>
              <a:t>ACh</a:t>
            </a:r>
            <a:r>
              <a:rPr lang="en-US" dirty="0"/>
              <a:t> effects increase – useful for disorders in which cholinergic transmission is deficient, but can be toxic or fatal</a:t>
            </a:r>
          </a:p>
          <a:p>
            <a:pPr>
              <a:lnSpc>
                <a:spcPct val="110000"/>
              </a:lnSpc>
              <a:spcBef>
                <a:spcPts val="1800"/>
              </a:spcBef>
            </a:pPr>
            <a:r>
              <a:rPr lang="en-US" dirty="0" err="1"/>
              <a:t>AChE</a:t>
            </a:r>
            <a:r>
              <a:rPr lang="en-US" dirty="0"/>
              <a:t> reversible inhibitors </a:t>
            </a:r>
            <a:r>
              <a:rPr lang="en-US" b="1" dirty="0"/>
              <a:t>donepezil</a:t>
            </a:r>
            <a:r>
              <a:rPr lang="en-US" dirty="0"/>
              <a:t> (</a:t>
            </a:r>
            <a:r>
              <a:rPr lang="en-US" b="1" dirty="0"/>
              <a:t>Aricept</a:t>
            </a:r>
            <a:r>
              <a:rPr lang="en-US" dirty="0"/>
              <a:t>), </a:t>
            </a:r>
            <a:r>
              <a:rPr lang="en-US" b="1" dirty="0"/>
              <a:t>rivastigmine</a:t>
            </a:r>
            <a:r>
              <a:rPr lang="en-US" dirty="0"/>
              <a:t> (</a:t>
            </a:r>
            <a:r>
              <a:rPr lang="en-US" b="1" dirty="0"/>
              <a:t>Exelon</a:t>
            </a:r>
            <a:r>
              <a:rPr lang="en-US" dirty="0"/>
              <a:t>), and </a:t>
            </a:r>
            <a:r>
              <a:rPr lang="en-US" b="1" dirty="0"/>
              <a:t>galantamine</a:t>
            </a:r>
            <a:r>
              <a:rPr lang="en-US" dirty="0"/>
              <a:t> (</a:t>
            </a:r>
            <a:r>
              <a:rPr lang="en-US" b="1" dirty="0" err="1"/>
              <a:t>Reminyl</a:t>
            </a:r>
            <a:r>
              <a:rPr lang="en-US" dirty="0"/>
              <a:t>) are used in treatment of age-related </a:t>
            </a:r>
            <a:r>
              <a:rPr lang="en-US" b="1" dirty="0"/>
              <a:t>dementia</a:t>
            </a:r>
          </a:p>
        </p:txBody>
      </p:sp>
    </p:spTree>
    <p:extLst>
      <p:ext uri="{BB962C8B-B14F-4D97-AF65-F5344CB8AC3E}">
        <p14:creationId xmlns:p14="http://schemas.microsoft.com/office/powerpoint/2010/main" val="28837358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lang="en-US" dirty="0"/>
              <a:t>Acetylcholine Synthesis, Release, and Inactivation </a:t>
            </a:r>
            <a:r>
              <a:rPr lang="en-US" sz="1200" dirty="0"/>
              <a:t>(7 of 10)</a:t>
            </a:r>
            <a:endParaRPr lang="en-US" dirty="0"/>
          </a:p>
        </p:txBody>
      </p:sp>
      <p:sp>
        <p:nvSpPr>
          <p:cNvPr id="3" name="Text Placeholder 2"/>
          <p:cNvSpPr>
            <a:spLocks noGrp="1"/>
          </p:cNvSpPr>
          <p:nvPr>
            <p:ph idx="1"/>
          </p:nvPr>
        </p:nvSpPr>
        <p:spPr/>
        <p:txBody>
          <a:bodyPr>
            <a:normAutofit fontScale="92500" lnSpcReduction="20000"/>
          </a:bodyPr>
          <a:lstStyle/>
          <a:p>
            <a:pPr marL="457200">
              <a:lnSpc>
                <a:spcPct val="110000"/>
              </a:lnSpc>
              <a:buNone/>
            </a:pPr>
            <a:r>
              <a:rPr lang="en-US" sz="3500" dirty="0"/>
              <a:t>Acetylcholinesterase is responsible for acetylcholine breakdown</a:t>
            </a:r>
          </a:p>
          <a:p>
            <a:pPr>
              <a:lnSpc>
                <a:spcPct val="110000"/>
              </a:lnSpc>
              <a:spcBef>
                <a:spcPts val="1800"/>
              </a:spcBef>
            </a:pPr>
            <a:r>
              <a:rPr lang="en-US" altLang="en-US" b="1" dirty="0">
                <a:ea typeface="Geneva" pitchFamily="121" charset="-128"/>
              </a:rPr>
              <a:t>Physostigmine</a:t>
            </a:r>
            <a:r>
              <a:rPr lang="en-US" altLang="en-US" dirty="0">
                <a:ea typeface="Geneva" pitchFamily="121" charset="-128"/>
              </a:rPr>
              <a:t> (</a:t>
            </a:r>
            <a:r>
              <a:rPr lang="en-US" altLang="en-US" b="1" dirty="0">
                <a:ea typeface="Geneva" pitchFamily="121" charset="-128"/>
              </a:rPr>
              <a:t>eserine</a:t>
            </a:r>
            <a:r>
              <a:rPr lang="en-US" altLang="en-US" dirty="0">
                <a:ea typeface="Geneva" pitchFamily="121" charset="-128"/>
              </a:rPr>
              <a:t>): reversible </a:t>
            </a:r>
            <a:r>
              <a:rPr lang="en-US" altLang="en-US" dirty="0" err="1">
                <a:ea typeface="Geneva" pitchFamily="121" charset="-128"/>
              </a:rPr>
              <a:t>AChE</a:t>
            </a:r>
            <a:r>
              <a:rPr lang="en-US" altLang="en-US" dirty="0">
                <a:ea typeface="Geneva" pitchFamily="121" charset="-128"/>
              </a:rPr>
              <a:t> inhibitor that crosses blood-brain barrier and affects the CNS; u</a:t>
            </a:r>
            <a:r>
              <a:rPr lang="en-US" dirty="0">
                <a:ea typeface="Geneva" pitchFamily="121" charset="-128"/>
              </a:rPr>
              <a:t>sed for glaucoma (applied directly to eyes) but toxic if given systemically.</a:t>
            </a:r>
          </a:p>
          <a:p>
            <a:pPr>
              <a:lnSpc>
                <a:spcPct val="110000"/>
              </a:lnSpc>
              <a:spcBef>
                <a:spcPts val="1800"/>
              </a:spcBef>
            </a:pPr>
            <a:r>
              <a:rPr lang="en-US" b="1" dirty="0">
                <a:ea typeface="Geneva" pitchFamily="121" charset="-128"/>
              </a:rPr>
              <a:t>Organophosphorus compounds: </a:t>
            </a:r>
            <a:r>
              <a:rPr lang="en-US" dirty="0">
                <a:ea typeface="Geneva" pitchFamily="121" charset="-128"/>
              </a:rPr>
              <a:t>irreversible </a:t>
            </a:r>
            <a:r>
              <a:rPr lang="en-US" dirty="0" err="1">
                <a:ea typeface="Geneva" pitchFamily="121" charset="-128"/>
              </a:rPr>
              <a:t>AChE</a:t>
            </a:r>
            <a:r>
              <a:rPr lang="en-US" dirty="0">
                <a:ea typeface="Geneva" pitchFamily="121" charset="-128"/>
              </a:rPr>
              <a:t> inhibitors; used as insecticides; “nerve gasses” are more toxic versions, such as sarin and soman.</a:t>
            </a:r>
          </a:p>
          <a:p>
            <a:pPr>
              <a:lnSpc>
                <a:spcPct val="110000"/>
              </a:lnSpc>
              <a:spcBef>
                <a:spcPts val="1800"/>
              </a:spcBef>
            </a:pPr>
            <a:r>
              <a:rPr lang="en-US" dirty="0">
                <a:ea typeface="Geneva" pitchFamily="121" charset="-128"/>
              </a:rPr>
              <a:t>Troops in Iraq were given the reversible </a:t>
            </a:r>
            <a:r>
              <a:rPr lang="en-US" dirty="0" err="1">
                <a:ea typeface="Geneva" pitchFamily="121" charset="-128"/>
              </a:rPr>
              <a:t>AChE</a:t>
            </a:r>
            <a:r>
              <a:rPr lang="en-US" dirty="0">
                <a:ea typeface="Geneva" pitchFamily="121" charset="-128"/>
              </a:rPr>
              <a:t> inhibitor </a:t>
            </a:r>
            <a:r>
              <a:rPr lang="en-US" b="1" dirty="0">
                <a:ea typeface="Geneva" pitchFamily="121" charset="-128"/>
              </a:rPr>
              <a:t>pyridostigmine</a:t>
            </a:r>
            <a:r>
              <a:rPr lang="en-US" dirty="0">
                <a:ea typeface="Geneva" pitchFamily="121" charset="-128"/>
              </a:rPr>
              <a:t> as a nerve gas antidote: temporary interaction of pyridostigmine with the enzyme protects </a:t>
            </a:r>
            <a:r>
              <a:rPr lang="en-US" dirty="0" err="1">
                <a:ea typeface="Geneva" pitchFamily="121" charset="-128"/>
              </a:rPr>
              <a:t>AChE</a:t>
            </a:r>
            <a:r>
              <a:rPr lang="en-US" dirty="0">
                <a:ea typeface="Geneva" pitchFamily="121" charset="-128"/>
              </a:rPr>
              <a:t> from permanent inactivation</a:t>
            </a:r>
          </a:p>
        </p:txBody>
      </p:sp>
    </p:spTree>
    <p:extLst>
      <p:ext uri="{BB962C8B-B14F-4D97-AF65-F5344CB8AC3E}">
        <p14:creationId xmlns:p14="http://schemas.microsoft.com/office/powerpoint/2010/main" val="2643207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lang="en-US" dirty="0"/>
              <a:t>Acetylcholine Synthesis, Release, and Inactivation </a:t>
            </a:r>
            <a:r>
              <a:rPr lang="en-US" sz="1200" dirty="0"/>
              <a:t>(8 of 10)</a:t>
            </a:r>
            <a:endParaRPr lang="en-US" dirty="0"/>
          </a:p>
        </p:txBody>
      </p:sp>
      <p:sp>
        <p:nvSpPr>
          <p:cNvPr id="3" name="Text Placeholder 2"/>
          <p:cNvSpPr>
            <a:spLocks noGrp="1"/>
          </p:cNvSpPr>
          <p:nvPr>
            <p:ph idx="1"/>
          </p:nvPr>
        </p:nvSpPr>
        <p:spPr/>
        <p:txBody>
          <a:bodyPr>
            <a:normAutofit/>
          </a:bodyPr>
          <a:lstStyle/>
          <a:p>
            <a:pPr marL="457200">
              <a:buNone/>
            </a:pPr>
            <a:r>
              <a:rPr lang="en-US" sz="3200" dirty="0"/>
              <a:t>Several neuromuscular disorders are associated with abnormal cholinergic functioning at the neuromuscular junction</a:t>
            </a:r>
          </a:p>
          <a:p>
            <a:pPr>
              <a:lnSpc>
                <a:spcPct val="100000"/>
              </a:lnSpc>
              <a:spcBef>
                <a:spcPts val="1800"/>
              </a:spcBef>
            </a:pPr>
            <a:r>
              <a:rPr lang="en-US" b="1" dirty="0"/>
              <a:t>Myasthenia</a:t>
            </a:r>
            <a:r>
              <a:rPr lang="en-US" dirty="0"/>
              <a:t> </a:t>
            </a:r>
            <a:r>
              <a:rPr lang="en-US" b="1" dirty="0"/>
              <a:t>gravis: </a:t>
            </a:r>
            <a:r>
              <a:rPr lang="en-US" dirty="0"/>
              <a:t>autoimmune disorder in which antibodies against muscle cholinergic receptors are produced; leads to severe muscle weakness and fatigue</a:t>
            </a:r>
            <a:endParaRPr lang="en-US" b="1" dirty="0"/>
          </a:p>
          <a:p>
            <a:pPr>
              <a:lnSpc>
                <a:spcPct val="100000"/>
              </a:lnSpc>
              <a:spcBef>
                <a:spcPts val="1800"/>
              </a:spcBef>
            </a:pPr>
            <a:r>
              <a:rPr lang="en-US" dirty="0"/>
              <a:t>Treated with </a:t>
            </a:r>
            <a:r>
              <a:rPr lang="en-US" b="1" dirty="0"/>
              <a:t>Neostigmine</a:t>
            </a:r>
            <a:r>
              <a:rPr lang="en-US" dirty="0"/>
              <a:t> (</a:t>
            </a:r>
            <a:r>
              <a:rPr lang="en-US" b="1" dirty="0" err="1"/>
              <a:t>Prostigmin</a:t>
            </a:r>
            <a:r>
              <a:rPr lang="en-US" dirty="0"/>
              <a:t>) and </a:t>
            </a:r>
            <a:r>
              <a:rPr lang="en-US" b="1" dirty="0"/>
              <a:t>pyridostigmine</a:t>
            </a:r>
            <a:r>
              <a:rPr lang="en-US" dirty="0"/>
              <a:t> (</a:t>
            </a:r>
            <a:r>
              <a:rPr lang="en-US" b="1" dirty="0" err="1"/>
              <a:t>Mestinon</a:t>
            </a:r>
            <a:r>
              <a:rPr lang="en-US" dirty="0"/>
              <a:t>) – synthetic analogs of physostigmine that don’</a:t>
            </a:r>
            <a:r>
              <a:rPr lang="en-US" altLang="ja-JP" dirty="0"/>
              <a:t>t cross the blood-brain barrier</a:t>
            </a:r>
            <a:endParaRPr lang="en-US" dirty="0"/>
          </a:p>
        </p:txBody>
      </p:sp>
    </p:spTree>
    <p:extLst>
      <p:ext uri="{BB962C8B-B14F-4D97-AF65-F5344CB8AC3E}">
        <p14:creationId xmlns:p14="http://schemas.microsoft.com/office/powerpoint/2010/main" val="9472721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6DD52-1784-4641-BF83-4ED1141CD186}"/>
              </a:ext>
            </a:extLst>
          </p:cNvPr>
          <p:cNvSpPr>
            <a:spLocks noGrp="1"/>
          </p:cNvSpPr>
          <p:nvPr>
            <p:ph type="title"/>
          </p:nvPr>
        </p:nvSpPr>
        <p:spPr/>
        <p:txBody>
          <a:bodyPr/>
          <a:lstStyle/>
          <a:p>
            <a:r>
              <a:rPr lang="en-US" cap="all" dirty="0"/>
              <a:t>FIGURE 7.6</a:t>
            </a:r>
            <a:r>
              <a:rPr lang="en-US" dirty="0"/>
              <a:t>  Myasthenia gravis, an autoimmune disorder </a:t>
            </a:r>
            <a:r>
              <a:rPr lang="en-US" sz="1100" dirty="0"/>
              <a:t>(1) </a:t>
            </a:r>
          </a:p>
        </p:txBody>
      </p:sp>
      <p:pic>
        <p:nvPicPr>
          <p:cNvPr id="6" name="Content Placeholder 5" descr="Myastenia gravis' muscular action is depicted in a two-part illustration. Muscle contraction in the neuromuscular junction stays normal during the normal phase. Muscle contraction is reduced in myasthenia gravis, and the antibodies block the receptors in the neuromuscular junction."/>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015671" y="479425"/>
            <a:ext cx="8160659" cy="6300788"/>
          </a:xfrm>
        </p:spPr>
      </p:pic>
    </p:spTree>
    <p:extLst>
      <p:ext uri="{BB962C8B-B14F-4D97-AF65-F5344CB8AC3E}">
        <p14:creationId xmlns:p14="http://schemas.microsoft.com/office/powerpoint/2010/main" val="7369212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lang="en-US" dirty="0"/>
              <a:t>Acetylcholine Synthesis, Release, and Inactivation </a:t>
            </a:r>
            <a:r>
              <a:rPr lang="en-US" sz="1200" dirty="0"/>
              <a:t>(9 of 10)</a:t>
            </a:r>
            <a:endParaRPr lang="en-US" dirty="0"/>
          </a:p>
        </p:txBody>
      </p:sp>
      <p:sp>
        <p:nvSpPr>
          <p:cNvPr id="3" name="Text Placeholder 2"/>
          <p:cNvSpPr>
            <a:spLocks noGrp="1"/>
          </p:cNvSpPr>
          <p:nvPr>
            <p:ph idx="1"/>
          </p:nvPr>
        </p:nvSpPr>
        <p:spPr/>
        <p:txBody>
          <a:bodyPr>
            <a:normAutofit/>
          </a:bodyPr>
          <a:lstStyle/>
          <a:p>
            <a:pPr marL="457200">
              <a:lnSpc>
                <a:spcPct val="100000"/>
              </a:lnSpc>
              <a:buNone/>
            </a:pPr>
            <a:r>
              <a:rPr lang="en-US" sz="3200" dirty="0"/>
              <a:t>Acetylcholinesterase is responsible for acetylcholine breakdown</a:t>
            </a:r>
          </a:p>
          <a:p>
            <a:pPr>
              <a:lnSpc>
                <a:spcPct val="100000"/>
              </a:lnSpc>
              <a:spcBef>
                <a:spcPts val="1800"/>
              </a:spcBef>
            </a:pPr>
            <a:r>
              <a:rPr lang="en-US" b="1" dirty="0"/>
              <a:t>Myasthenic syndromes </a:t>
            </a:r>
            <a:r>
              <a:rPr lang="en-US" dirty="0"/>
              <a:t>result from mutations in genes that encode </a:t>
            </a:r>
            <a:r>
              <a:rPr lang="en-US" dirty="0" err="1"/>
              <a:t>ChAT</a:t>
            </a:r>
            <a:r>
              <a:rPr lang="en-US" dirty="0"/>
              <a:t> or </a:t>
            </a:r>
            <a:r>
              <a:rPr lang="en-US" dirty="0" err="1"/>
              <a:t>AChE</a:t>
            </a:r>
            <a:endParaRPr lang="en-US" dirty="0"/>
          </a:p>
          <a:p>
            <a:pPr>
              <a:lnSpc>
                <a:spcPct val="100000"/>
              </a:lnSpc>
              <a:spcBef>
                <a:spcPts val="1800"/>
              </a:spcBef>
            </a:pPr>
            <a:r>
              <a:rPr lang="en-US" dirty="0"/>
              <a:t>Low </a:t>
            </a:r>
            <a:r>
              <a:rPr lang="en-US" dirty="0" err="1"/>
              <a:t>ChAT</a:t>
            </a:r>
            <a:r>
              <a:rPr lang="en-US" dirty="0"/>
              <a:t>: insufficient amounts of </a:t>
            </a:r>
            <a:r>
              <a:rPr lang="en-US" dirty="0" err="1"/>
              <a:t>ACh</a:t>
            </a:r>
            <a:r>
              <a:rPr lang="en-US" dirty="0"/>
              <a:t> are released at the neuromuscular junction</a:t>
            </a:r>
          </a:p>
          <a:p>
            <a:pPr>
              <a:lnSpc>
                <a:spcPct val="100000"/>
              </a:lnSpc>
              <a:spcBef>
                <a:spcPts val="1800"/>
              </a:spcBef>
            </a:pPr>
            <a:r>
              <a:rPr lang="en-US" dirty="0"/>
              <a:t>Deficient </a:t>
            </a:r>
            <a:r>
              <a:rPr lang="en-US" dirty="0" err="1"/>
              <a:t>AChE</a:t>
            </a:r>
            <a:r>
              <a:rPr lang="en-US" dirty="0"/>
              <a:t>: persistently elevated levels of </a:t>
            </a:r>
            <a:r>
              <a:rPr lang="en-US" dirty="0" err="1"/>
              <a:t>ACh</a:t>
            </a:r>
            <a:r>
              <a:rPr lang="en-US" dirty="0"/>
              <a:t> at neuromuscular junctions lead to desensitization of receptors and reduced cholinergic transmission</a:t>
            </a:r>
          </a:p>
        </p:txBody>
      </p:sp>
    </p:spTree>
    <p:extLst>
      <p:ext uri="{BB962C8B-B14F-4D97-AF65-F5344CB8AC3E}">
        <p14:creationId xmlns:p14="http://schemas.microsoft.com/office/powerpoint/2010/main" val="36772969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lang="en-US" dirty="0"/>
              <a:t>Acetylcholine Synthesis, Release, and Inactivation </a:t>
            </a:r>
            <a:r>
              <a:rPr lang="en-US" sz="1200" dirty="0"/>
              <a:t>(10 of 10)</a:t>
            </a:r>
            <a:endParaRPr lang="en-US" dirty="0"/>
          </a:p>
        </p:txBody>
      </p:sp>
      <p:sp>
        <p:nvSpPr>
          <p:cNvPr id="3" name="Text Placeholder 2"/>
          <p:cNvSpPr>
            <a:spLocks noGrp="1"/>
          </p:cNvSpPr>
          <p:nvPr>
            <p:ph idx="1"/>
          </p:nvPr>
        </p:nvSpPr>
        <p:spPr/>
        <p:txBody>
          <a:bodyPr/>
          <a:lstStyle/>
          <a:p>
            <a:pPr marL="0" indent="0">
              <a:lnSpc>
                <a:spcPct val="100000"/>
              </a:lnSpc>
              <a:spcBef>
                <a:spcPts val="1200"/>
              </a:spcBef>
              <a:buNone/>
            </a:pPr>
            <a:r>
              <a:rPr lang="en-US" sz="2400" u="sng" dirty="0"/>
              <a:t>CLICKER QUESTION 1</a:t>
            </a:r>
          </a:p>
          <a:p>
            <a:pPr marL="457200">
              <a:lnSpc>
                <a:spcPct val="100000"/>
              </a:lnSpc>
              <a:spcBef>
                <a:spcPts val="2400"/>
              </a:spcBef>
              <a:buNone/>
            </a:pPr>
            <a:r>
              <a:rPr lang="en-US" sz="3200" dirty="0"/>
              <a:t>Which chemical could be used to identify the location of cholinergic neurons?</a:t>
            </a:r>
          </a:p>
          <a:p>
            <a:pPr marL="914400">
              <a:lnSpc>
                <a:spcPct val="100000"/>
              </a:lnSpc>
              <a:spcBef>
                <a:spcPts val="1200"/>
              </a:spcBef>
              <a:buFont typeface="Arial" pitchFamily="34" charset="0"/>
              <a:buAutoNum type="alphaLcPeriod"/>
            </a:pPr>
            <a:r>
              <a:rPr lang="en-US" sz="3200" dirty="0"/>
              <a:t>Acetylcholinesterase</a:t>
            </a:r>
          </a:p>
          <a:p>
            <a:pPr marL="914400">
              <a:lnSpc>
                <a:spcPct val="100000"/>
              </a:lnSpc>
              <a:spcBef>
                <a:spcPts val="1200"/>
              </a:spcBef>
              <a:buFont typeface="Arial" pitchFamily="34" charset="0"/>
              <a:buAutoNum type="alphaLcPeriod"/>
            </a:pPr>
            <a:r>
              <a:rPr lang="en-US" sz="3200" dirty="0"/>
              <a:t>Acetyl coenzyme A</a:t>
            </a:r>
          </a:p>
          <a:p>
            <a:pPr marL="914400">
              <a:lnSpc>
                <a:spcPct val="100000"/>
              </a:lnSpc>
              <a:spcBef>
                <a:spcPts val="1200"/>
              </a:spcBef>
              <a:buFont typeface="Arial" pitchFamily="34" charset="0"/>
              <a:buAutoNum type="alphaLcPeriod"/>
            </a:pPr>
            <a:r>
              <a:rPr lang="en-US" sz="3200" dirty="0"/>
              <a:t>Choline acetyltransferase</a:t>
            </a:r>
          </a:p>
          <a:p>
            <a:pPr marL="914400">
              <a:lnSpc>
                <a:spcPct val="100000"/>
              </a:lnSpc>
              <a:spcBef>
                <a:spcPts val="1200"/>
              </a:spcBef>
              <a:buFont typeface="Arial" pitchFamily="34" charset="0"/>
              <a:buAutoNum type="alphaLcPeriod"/>
            </a:pPr>
            <a:r>
              <a:rPr lang="en-US" altLang="en-US" sz="3200" dirty="0" err="1"/>
              <a:t>Vesamicol</a:t>
            </a:r>
            <a:endParaRPr lang="en-US" sz="3200" dirty="0"/>
          </a:p>
        </p:txBody>
      </p:sp>
    </p:spTree>
    <p:extLst>
      <p:ext uri="{BB962C8B-B14F-4D97-AF65-F5344CB8AC3E}">
        <p14:creationId xmlns:p14="http://schemas.microsoft.com/office/powerpoint/2010/main" val="22446861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00000"/>
              </a:lnSpc>
            </a:pPr>
            <a:r>
              <a:rPr lang="en-US" dirty="0"/>
              <a:t>Review of Learning Objectives </a:t>
            </a:r>
            <a:r>
              <a:rPr lang="en-US" sz="1200" dirty="0"/>
              <a:t>(1 of 2)</a:t>
            </a:r>
            <a:endParaRPr lang="en-US" dirty="0"/>
          </a:p>
        </p:txBody>
      </p:sp>
      <p:sp>
        <p:nvSpPr>
          <p:cNvPr id="3" name="Text Placeholder 2"/>
          <p:cNvSpPr>
            <a:spLocks noGrp="1"/>
          </p:cNvSpPr>
          <p:nvPr>
            <p:ph idx="1"/>
          </p:nvPr>
        </p:nvSpPr>
        <p:spPr/>
        <p:txBody>
          <a:bodyPr>
            <a:normAutofit fontScale="77500" lnSpcReduction="20000"/>
          </a:bodyPr>
          <a:lstStyle/>
          <a:p>
            <a:pPr marL="914400" indent="-914400">
              <a:lnSpc>
                <a:spcPct val="120000"/>
              </a:lnSpc>
              <a:spcBef>
                <a:spcPts val="1200"/>
              </a:spcBef>
              <a:buNone/>
            </a:pPr>
            <a:r>
              <a:rPr lang="en-US" dirty="0"/>
              <a:t>7.1.1  (a) Name the chemical precursors needed for </a:t>
            </a:r>
            <a:r>
              <a:rPr lang="en-US" dirty="0" err="1"/>
              <a:t>ACh</a:t>
            </a:r>
            <a:r>
              <a:rPr lang="en-US" dirty="0"/>
              <a:t> synthesis and the enzyme that catalyzes the synthetic reaction, and (b) describe the processes that regulate the rate of </a:t>
            </a:r>
            <a:r>
              <a:rPr lang="en-US" dirty="0" err="1"/>
              <a:t>ACh</a:t>
            </a:r>
            <a:r>
              <a:rPr lang="en-US" dirty="0"/>
              <a:t> synthesis.</a:t>
            </a:r>
          </a:p>
          <a:p>
            <a:pPr marL="914400" indent="-914400">
              <a:lnSpc>
                <a:spcPct val="120000"/>
              </a:lnSpc>
              <a:spcBef>
                <a:spcPts val="1200"/>
              </a:spcBef>
              <a:buNone/>
            </a:pPr>
            <a:r>
              <a:rPr lang="en-US" dirty="0"/>
              <a:t>7.1.2  Name and describe the effects of drugs and toxins that affect </a:t>
            </a:r>
            <a:r>
              <a:rPr lang="en-US" dirty="0" err="1"/>
              <a:t>ACh</a:t>
            </a:r>
            <a:r>
              <a:rPr lang="en-US" dirty="0"/>
              <a:t> vesicular storage and release. These effects should include medical or cosmetic uses where appropriate.</a:t>
            </a:r>
          </a:p>
          <a:p>
            <a:pPr marL="914400" indent="-914400">
              <a:lnSpc>
                <a:spcPct val="120000"/>
              </a:lnSpc>
              <a:spcBef>
                <a:spcPts val="1200"/>
              </a:spcBef>
              <a:buNone/>
            </a:pPr>
            <a:r>
              <a:rPr lang="en-US" dirty="0"/>
              <a:t>7.1.3  (a) Describe the main molecular forms of acetylcholinesterase (</a:t>
            </a:r>
            <a:r>
              <a:rPr lang="en-US" dirty="0" err="1"/>
              <a:t>AChE</a:t>
            </a:r>
            <a:r>
              <a:rPr lang="en-US" dirty="0"/>
              <a:t>), the cellular localization of each form, and the role of this enzyme in </a:t>
            </a:r>
            <a:r>
              <a:rPr lang="en-US" dirty="0" err="1"/>
              <a:t>ACh</a:t>
            </a:r>
            <a:r>
              <a:rPr lang="en-US" dirty="0"/>
              <a:t> breakdown, and (b) list the drugs known to block </a:t>
            </a:r>
            <a:r>
              <a:rPr lang="en-US" dirty="0" err="1"/>
              <a:t>AChE</a:t>
            </a:r>
            <a:r>
              <a:rPr lang="en-US" dirty="0"/>
              <a:t> and for each one, identify its medical or other use.</a:t>
            </a:r>
          </a:p>
          <a:p>
            <a:pPr marL="914400" indent="-914400">
              <a:lnSpc>
                <a:spcPct val="120000"/>
              </a:lnSpc>
              <a:spcBef>
                <a:spcPts val="1200"/>
              </a:spcBef>
              <a:buNone/>
            </a:pPr>
            <a:r>
              <a:rPr lang="en-US" dirty="0"/>
              <a:t>7.1.4  Discuss the clinical disorders associated with abnormal cholinergic transmission at the neuromuscular junction, including the symptoms of these disorders and their pharmacological treatment.</a:t>
            </a:r>
          </a:p>
        </p:txBody>
      </p:sp>
    </p:spTree>
    <p:extLst>
      <p:ext uri="{BB962C8B-B14F-4D97-AF65-F5344CB8AC3E}">
        <p14:creationId xmlns:p14="http://schemas.microsoft.com/office/powerpoint/2010/main" val="6112399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00000"/>
              </a:lnSpc>
            </a:pPr>
            <a:r>
              <a:rPr lang="en-US" dirty="0"/>
              <a:t>Organization and Function of the Cholinergic System </a:t>
            </a:r>
            <a:r>
              <a:rPr lang="en-US" sz="1200" dirty="0"/>
              <a:t>(1 of 15)</a:t>
            </a:r>
            <a:endParaRPr lang="en-US" dirty="0"/>
          </a:p>
        </p:txBody>
      </p:sp>
      <p:sp>
        <p:nvSpPr>
          <p:cNvPr id="3" name="Text Placeholder 2"/>
          <p:cNvSpPr>
            <a:spLocks noGrp="1"/>
          </p:cNvSpPr>
          <p:nvPr>
            <p:ph idx="1"/>
          </p:nvPr>
        </p:nvSpPr>
        <p:spPr/>
        <p:txBody>
          <a:bodyPr>
            <a:normAutofit/>
          </a:bodyPr>
          <a:lstStyle/>
          <a:p>
            <a:pPr marL="457200">
              <a:buNone/>
            </a:pPr>
            <a:r>
              <a:rPr lang="en-US" sz="3200" dirty="0"/>
              <a:t>Cholinergic neurons play a key role in the functioning of both the peripheral and central nervous systems</a:t>
            </a:r>
          </a:p>
          <a:p>
            <a:pPr>
              <a:lnSpc>
                <a:spcPct val="100000"/>
              </a:lnSpc>
              <a:spcBef>
                <a:spcPts val="1800"/>
              </a:spcBef>
            </a:pPr>
            <a:r>
              <a:rPr lang="en-US" dirty="0"/>
              <a:t>Preganglionic neurons of both branches of the autonomic nervous system are cholinergic, as are the ganglionic neurons of the parasympathetic system</a:t>
            </a:r>
          </a:p>
          <a:p>
            <a:pPr>
              <a:lnSpc>
                <a:spcPct val="100000"/>
              </a:lnSpc>
              <a:spcBef>
                <a:spcPts val="1800"/>
              </a:spcBef>
            </a:pPr>
            <a:r>
              <a:rPr lang="en-US" dirty="0"/>
              <a:t>Norepinephrine is the transmitter of the sympathetic ganglionic neurons</a:t>
            </a:r>
          </a:p>
        </p:txBody>
      </p:sp>
    </p:spTree>
    <p:extLst>
      <p:ext uri="{BB962C8B-B14F-4D97-AF65-F5344CB8AC3E}">
        <p14:creationId xmlns:p14="http://schemas.microsoft.com/office/powerpoint/2010/main" val="4254011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0EC7C-7D03-E74B-8AFC-FD50F0867B88}"/>
              </a:ext>
            </a:extLst>
          </p:cNvPr>
          <p:cNvSpPr>
            <a:spLocks noGrp="1"/>
          </p:cNvSpPr>
          <p:nvPr>
            <p:ph type="title"/>
          </p:nvPr>
        </p:nvSpPr>
        <p:spPr/>
        <p:txBody>
          <a:bodyPr/>
          <a:lstStyle/>
          <a:p>
            <a:r>
              <a:rPr lang="en-US" dirty="0"/>
              <a:t>FIGURE 7.7  Cholinergic synapses in the parasympathetic and sympathetic branches of the autonomic nervous system </a:t>
            </a:r>
          </a:p>
        </p:txBody>
      </p:sp>
      <p:pic>
        <p:nvPicPr>
          <p:cNvPr id="6" name="Content Placeholder 5" descr="The parasympathetic and sympathetic branches' cholinergic synapses are depicted in this two-part illustration. In the first illustration of a parasympathetic branch, the preganglionic neuron is located in the central nervous system, from which the axon extends to the ACh, which is linked to the ganglionic neuron in the parasympathetic ganglion, and is subsequently branched to the target organ. In the second sympathetic branch illustration, the preganglionic neuron is located in the central nervous system, from which the axon extends to the ACh coupled to the ganglionic neuron in the sympathetic ganglion, which is then branched to norepinephrine in the target organ."/>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540737" y="479425"/>
            <a:ext cx="7110527" cy="6300788"/>
          </a:xfrm>
        </p:spPr>
      </p:pic>
    </p:spTree>
    <p:extLst>
      <p:ext uri="{BB962C8B-B14F-4D97-AF65-F5344CB8AC3E}">
        <p14:creationId xmlns:p14="http://schemas.microsoft.com/office/powerpoint/2010/main" val="36671117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00000"/>
              </a:lnSpc>
            </a:pPr>
            <a:r>
              <a:rPr lang="en-US" dirty="0"/>
              <a:t>Organization and Function of the Cholinergic System </a:t>
            </a:r>
            <a:r>
              <a:rPr lang="en-US" sz="1200" dirty="0"/>
              <a:t>(2 of 15)</a:t>
            </a:r>
            <a:endParaRPr lang="en-US" dirty="0"/>
          </a:p>
        </p:txBody>
      </p:sp>
      <p:sp>
        <p:nvSpPr>
          <p:cNvPr id="3" name="Text Placeholder 2"/>
          <p:cNvSpPr>
            <a:spLocks noGrp="1"/>
          </p:cNvSpPr>
          <p:nvPr>
            <p:ph idx="1"/>
          </p:nvPr>
        </p:nvSpPr>
        <p:spPr/>
        <p:txBody>
          <a:bodyPr>
            <a:normAutofit/>
          </a:bodyPr>
          <a:lstStyle/>
          <a:p>
            <a:pPr marL="457200">
              <a:lnSpc>
                <a:spcPct val="100000"/>
              </a:lnSpc>
              <a:buNone/>
            </a:pPr>
            <a:r>
              <a:rPr lang="en-US" sz="3200" dirty="0"/>
              <a:t>Cholinergic neurons play a key role in the functioning of both the peripheral and central nervous systems</a:t>
            </a:r>
          </a:p>
          <a:p>
            <a:pPr>
              <a:lnSpc>
                <a:spcPct val="100000"/>
              </a:lnSpc>
              <a:spcBef>
                <a:spcPts val="1800"/>
              </a:spcBef>
            </a:pPr>
            <a:r>
              <a:rPr lang="en-US" dirty="0"/>
              <a:t>In the brain, cell bodies of cholinergic neurons are clustered in only a few areas.</a:t>
            </a:r>
          </a:p>
          <a:p>
            <a:pPr>
              <a:lnSpc>
                <a:spcPct val="100000"/>
              </a:lnSpc>
              <a:spcBef>
                <a:spcPts val="1800"/>
              </a:spcBef>
            </a:pPr>
            <a:r>
              <a:rPr lang="en-US" dirty="0"/>
              <a:t>Interneurons in the striatum: </a:t>
            </a:r>
            <a:r>
              <a:rPr lang="en-US" dirty="0">
                <a:ea typeface="Geneva" pitchFamily="121" charset="-128"/>
              </a:rPr>
              <a:t>regulation of movement depends in part on the balance between </a:t>
            </a:r>
            <a:r>
              <a:rPr lang="en-US" dirty="0" err="1">
                <a:ea typeface="Geneva" pitchFamily="121" charset="-128"/>
              </a:rPr>
              <a:t>ACh</a:t>
            </a:r>
            <a:r>
              <a:rPr lang="en-US" dirty="0">
                <a:ea typeface="Geneva" pitchFamily="121" charset="-128"/>
              </a:rPr>
              <a:t> and dopamine (DA).</a:t>
            </a:r>
          </a:p>
          <a:p>
            <a:pPr>
              <a:lnSpc>
                <a:spcPct val="100000"/>
              </a:lnSpc>
              <a:spcBef>
                <a:spcPts val="1800"/>
              </a:spcBef>
            </a:pPr>
            <a:r>
              <a:rPr lang="en-US" dirty="0">
                <a:ea typeface="Geneva" pitchFamily="121" charset="-128"/>
              </a:rPr>
              <a:t>In Parkinson</a:t>
            </a:r>
            <a:r>
              <a:rPr lang="ja-JP" altLang="en-US" dirty="0">
                <a:ea typeface="Geneva" pitchFamily="121" charset="-128"/>
              </a:rPr>
              <a:t>’</a:t>
            </a:r>
            <a:r>
              <a:rPr lang="en-US" altLang="ja-JP" dirty="0">
                <a:ea typeface="Geneva" pitchFamily="121" charset="-128"/>
              </a:rPr>
              <a:t>s disease, low DA levels cause transmitter imbalance; anticholinergic drugs may be used for treatment. </a:t>
            </a:r>
            <a:endParaRPr lang="en-US" dirty="0"/>
          </a:p>
        </p:txBody>
      </p:sp>
    </p:spTree>
    <p:extLst>
      <p:ext uri="{BB962C8B-B14F-4D97-AF65-F5344CB8AC3E}">
        <p14:creationId xmlns:p14="http://schemas.microsoft.com/office/powerpoint/2010/main" val="27297428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6B89F-4F94-3D45-A559-F8F711D6BA66}"/>
              </a:ext>
            </a:extLst>
          </p:cNvPr>
          <p:cNvSpPr>
            <a:spLocks noGrp="1"/>
          </p:cNvSpPr>
          <p:nvPr>
            <p:ph type="title"/>
          </p:nvPr>
        </p:nvSpPr>
        <p:spPr/>
        <p:txBody>
          <a:bodyPr/>
          <a:lstStyle/>
          <a:p>
            <a:r>
              <a:rPr lang="en-US" cap="all" dirty="0"/>
              <a:t>FIGURE 7.8</a:t>
            </a:r>
            <a:r>
              <a:rPr lang="en-US" dirty="0"/>
              <a:t>  Anatomy of cholinergic pathways in the brain </a:t>
            </a:r>
          </a:p>
        </p:txBody>
      </p:sp>
      <p:pic>
        <p:nvPicPr>
          <p:cNvPr id="6" name="Content Placeholder 5" descr="The anatomy of the brain's cholinergic circuits is depicted. The caudate-putamen and nucleus accumbens regions, which contain interneurons, are located next to the thalamus region, between the hippocampus and the amygdala. The medial septum and diagonal band nuclei are right next to the amygdala. The nucleus basalis and substantia innominata are located adjacent to the lateral hypothalamus. The laterodorsal and pedunculopontine tegmental nuclei are located in the brainstem's dorsal region, next to the locus coeruleus."/>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698497"/>
            <a:ext cx="11376025" cy="5862644"/>
          </a:xfrm>
        </p:spPr>
      </p:pic>
    </p:spTree>
    <p:extLst>
      <p:ext uri="{BB962C8B-B14F-4D97-AF65-F5344CB8AC3E}">
        <p14:creationId xmlns:p14="http://schemas.microsoft.com/office/powerpoint/2010/main" val="8962875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00000"/>
              </a:lnSpc>
            </a:pPr>
            <a:r>
              <a:rPr lang="en-US" dirty="0"/>
              <a:t>Organization and Function of the Cholinergic System </a:t>
            </a:r>
            <a:r>
              <a:rPr lang="en-US" sz="1200" dirty="0"/>
              <a:t>(3 of 15)</a:t>
            </a:r>
            <a:endParaRPr lang="en-US" dirty="0"/>
          </a:p>
        </p:txBody>
      </p:sp>
      <p:sp>
        <p:nvSpPr>
          <p:cNvPr id="3" name="Text Placeholder 2"/>
          <p:cNvSpPr>
            <a:spLocks noGrp="1"/>
          </p:cNvSpPr>
          <p:nvPr>
            <p:ph idx="1"/>
          </p:nvPr>
        </p:nvSpPr>
        <p:spPr/>
        <p:txBody>
          <a:bodyPr>
            <a:normAutofit/>
          </a:bodyPr>
          <a:lstStyle/>
          <a:p>
            <a:pPr marL="457200">
              <a:buNone/>
            </a:pPr>
            <a:r>
              <a:rPr lang="en-US" sz="3200" dirty="0"/>
              <a:t>Cholinergic neurons play a key role in the functioning of both the peripheral and central nervous systems</a:t>
            </a:r>
          </a:p>
          <a:p>
            <a:pPr>
              <a:lnSpc>
                <a:spcPct val="100000"/>
              </a:lnSpc>
            </a:pPr>
            <a:r>
              <a:rPr lang="en-US" b="1" dirty="0"/>
              <a:t>Basal forebrain cholinergic system </a:t>
            </a:r>
            <a:r>
              <a:rPr lang="en-US" dirty="0"/>
              <a:t>(</a:t>
            </a:r>
            <a:r>
              <a:rPr lang="en-US" b="1" dirty="0"/>
              <a:t>BFCS</a:t>
            </a:r>
            <a:r>
              <a:rPr lang="en-US" dirty="0"/>
              <a:t>): </a:t>
            </a:r>
            <a:r>
              <a:rPr lang="en-US" altLang="en-US" dirty="0"/>
              <a:t>neurons in several brain areas; origin of cholinergic innervation of the cerebral cortex, hippocampus, and other limbic system structures.</a:t>
            </a:r>
          </a:p>
          <a:p>
            <a:pPr>
              <a:lnSpc>
                <a:spcPct val="100000"/>
              </a:lnSpc>
            </a:pPr>
            <a:r>
              <a:rPr lang="en-US" altLang="en-US" dirty="0"/>
              <a:t>Different components of the BFCS have different roles in cognition</a:t>
            </a:r>
          </a:p>
        </p:txBody>
      </p:sp>
    </p:spTree>
    <p:extLst>
      <p:ext uri="{BB962C8B-B14F-4D97-AF65-F5344CB8AC3E}">
        <p14:creationId xmlns:p14="http://schemas.microsoft.com/office/powerpoint/2010/main" val="32176272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lang="en-US" dirty="0"/>
              <a:t>Organization and Function of the Cholinergic System </a:t>
            </a:r>
            <a:r>
              <a:rPr lang="en-US" sz="1200" dirty="0"/>
              <a:t>(4 of 15)</a:t>
            </a:r>
            <a:endParaRPr lang="en-US" dirty="0"/>
          </a:p>
        </p:txBody>
      </p:sp>
      <p:sp>
        <p:nvSpPr>
          <p:cNvPr id="3" name="Text Placeholder 2"/>
          <p:cNvSpPr>
            <a:spLocks noGrp="1"/>
          </p:cNvSpPr>
          <p:nvPr>
            <p:ph idx="1"/>
          </p:nvPr>
        </p:nvSpPr>
        <p:spPr/>
        <p:txBody>
          <a:bodyPr>
            <a:normAutofit/>
          </a:bodyPr>
          <a:lstStyle/>
          <a:p>
            <a:pPr marL="0" indent="0">
              <a:lnSpc>
                <a:spcPct val="100000"/>
              </a:lnSpc>
              <a:spcBef>
                <a:spcPts val="1800"/>
              </a:spcBef>
              <a:buNone/>
            </a:pPr>
            <a:r>
              <a:rPr lang="en-US" sz="2400" u="sng" dirty="0"/>
              <a:t>BOX 7.2  THE CUTTING EDGE</a:t>
            </a:r>
          </a:p>
          <a:p>
            <a:pPr marL="0" indent="0">
              <a:lnSpc>
                <a:spcPct val="100000"/>
              </a:lnSpc>
              <a:spcBef>
                <a:spcPts val="1800"/>
              </a:spcBef>
              <a:buNone/>
            </a:pPr>
            <a:r>
              <a:rPr lang="en-US" sz="3200" i="1" dirty="0"/>
              <a:t>Acetylcholine and Cognitive Function</a:t>
            </a:r>
          </a:p>
          <a:p>
            <a:pPr algn="l">
              <a:lnSpc>
                <a:spcPct val="100000"/>
              </a:lnSpc>
              <a:spcBef>
                <a:spcPts val="1200"/>
              </a:spcBef>
            </a:pPr>
            <a:r>
              <a:rPr lang="en-US" b="0" i="0" u="none" strike="noStrike" baseline="0" dirty="0"/>
              <a:t>Cholinergic projections from the medial septum and diagonal band to the hippocampus are involved in encoding of declarative memories</a:t>
            </a:r>
          </a:p>
          <a:p>
            <a:pPr algn="l">
              <a:lnSpc>
                <a:spcPct val="100000"/>
              </a:lnSpc>
              <a:spcBef>
                <a:spcPts val="1200"/>
              </a:spcBef>
            </a:pPr>
            <a:r>
              <a:rPr lang="en-US" b="0" i="0" u="none" strike="noStrike" baseline="0" dirty="0"/>
              <a:t>Projections from the nucleus basalis/substantia </a:t>
            </a:r>
            <a:r>
              <a:rPr lang="en-US" b="0" i="0" u="none" strike="noStrike" baseline="0" dirty="0" err="1"/>
              <a:t>innominata</a:t>
            </a:r>
            <a:r>
              <a:rPr lang="en-US" b="0" i="0" u="none" strike="noStrike" baseline="0" dirty="0"/>
              <a:t> to the prefrontal cortex are important for maintaining sustained attention.</a:t>
            </a:r>
          </a:p>
          <a:p>
            <a:pPr algn="l">
              <a:lnSpc>
                <a:spcPct val="100000"/>
              </a:lnSpc>
              <a:spcBef>
                <a:spcPts val="1200"/>
              </a:spcBef>
            </a:pPr>
            <a:r>
              <a:rPr lang="en-US" dirty="0"/>
              <a:t>Optogenetic experiments in mice show that bursts of </a:t>
            </a:r>
            <a:r>
              <a:rPr lang="en-US" dirty="0" err="1"/>
              <a:t>ACh</a:t>
            </a:r>
            <a:r>
              <a:rPr lang="en-US" dirty="0"/>
              <a:t> release from BFCS neurons play a key role in detecting and responding to learned sensory cues.</a:t>
            </a:r>
            <a:endParaRPr lang="en-US" b="0" i="0" u="none" strike="noStrike" baseline="0" dirty="0"/>
          </a:p>
        </p:txBody>
      </p:sp>
    </p:spTree>
    <p:extLst>
      <p:ext uri="{BB962C8B-B14F-4D97-AF65-F5344CB8AC3E}">
        <p14:creationId xmlns:p14="http://schemas.microsoft.com/office/powerpoint/2010/main" val="4093677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858A3-4A0B-F042-B636-91D0CDB9B8A6}"/>
              </a:ext>
            </a:extLst>
          </p:cNvPr>
          <p:cNvSpPr>
            <a:spLocks noGrp="1"/>
          </p:cNvSpPr>
          <p:nvPr>
            <p:ph type="title"/>
          </p:nvPr>
        </p:nvSpPr>
        <p:spPr/>
        <p:txBody>
          <a:bodyPr/>
          <a:lstStyle/>
          <a:p>
            <a:r>
              <a:rPr lang="en-US" cap="all" dirty="0"/>
              <a:t>Box 7.2  </a:t>
            </a:r>
            <a:r>
              <a:rPr lang="en-US" dirty="0"/>
              <a:t>The Cutting Edge: Acetylcholine and Cognitive Function</a:t>
            </a:r>
          </a:p>
        </p:txBody>
      </p:sp>
      <p:pic>
        <p:nvPicPr>
          <p:cNvPr id="6" name="Content Placeholder 5" descr="The signal duration and hit percentage of the stimulation phase are depicted in a histogram. The horizontal axis represents the signal duration in milliseconds ranging from 25 to 500. The vertical axis represents the hits in percentage ranging from 50 to 90. The approximated data inferred from the graph in the order of signal duration and hit percentage is as follows. Control: 20 to 25, 57; 300 to 500, 85. Stimulated: 25 to 200, 83; 500 to 700, 83. &#10;&#10;The signal duration and hit percentage of the inhibition phase are depicted in a histogram. The horizontal axis represents the signal duration in milliseconds ranging from 25 to 500. The vertical axis represents the hits in percentage ranging from 40 to 90. The approximated data inferred from the graph in the order of signal duration and hit percentage is as follows. Control: 20 to 25, 54; 300 to 500, 79. Inhibited: 25 to 200, 54; 500 to 700, 54."/>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749498" y="479425"/>
            <a:ext cx="6693005" cy="6300788"/>
          </a:xfrm>
        </p:spPr>
      </p:pic>
    </p:spTree>
    <p:extLst>
      <p:ext uri="{BB962C8B-B14F-4D97-AF65-F5344CB8AC3E}">
        <p14:creationId xmlns:p14="http://schemas.microsoft.com/office/powerpoint/2010/main" val="42696184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00000"/>
              </a:lnSpc>
            </a:pPr>
            <a:r>
              <a:rPr lang="en-US" dirty="0"/>
              <a:t>Organization and Function of the Cholinergic System </a:t>
            </a:r>
            <a:r>
              <a:rPr lang="en-US" sz="1200" dirty="0"/>
              <a:t>(5 of 15)</a:t>
            </a:r>
            <a:endParaRPr lang="en-US" dirty="0"/>
          </a:p>
        </p:txBody>
      </p:sp>
      <p:sp>
        <p:nvSpPr>
          <p:cNvPr id="3" name="Text Placeholder 2"/>
          <p:cNvSpPr>
            <a:spLocks noGrp="1"/>
          </p:cNvSpPr>
          <p:nvPr>
            <p:ph idx="1"/>
          </p:nvPr>
        </p:nvSpPr>
        <p:spPr/>
        <p:txBody>
          <a:bodyPr>
            <a:normAutofit/>
          </a:bodyPr>
          <a:lstStyle/>
          <a:p>
            <a:pPr marL="457200">
              <a:lnSpc>
                <a:spcPct val="100000"/>
              </a:lnSpc>
              <a:buNone/>
            </a:pPr>
            <a:r>
              <a:rPr lang="en-US" sz="3200" dirty="0"/>
              <a:t>Cholinergic neurons play a key role in the functioning of both the peripheral and central nervous systems</a:t>
            </a:r>
          </a:p>
          <a:p>
            <a:pPr>
              <a:lnSpc>
                <a:spcPct val="100000"/>
              </a:lnSpc>
              <a:spcBef>
                <a:spcPts val="1800"/>
              </a:spcBef>
            </a:pPr>
            <a:r>
              <a:rPr lang="en-US" dirty="0"/>
              <a:t>Cholinergic neurons in the </a:t>
            </a:r>
            <a:r>
              <a:rPr lang="en-US" b="1" dirty="0" err="1"/>
              <a:t>laterodorsal</a:t>
            </a:r>
            <a:r>
              <a:rPr lang="en-US" dirty="0"/>
              <a:t> and </a:t>
            </a:r>
            <a:r>
              <a:rPr lang="en-US" b="1" dirty="0"/>
              <a:t>pedunculopontine</a:t>
            </a:r>
            <a:r>
              <a:rPr lang="en-US" dirty="0"/>
              <a:t> </a:t>
            </a:r>
            <a:r>
              <a:rPr lang="en-US" b="1" dirty="0"/>
              <a:t>tegmental nuclei </a:t>
            </a:r>
            <a:r>
              <a:rPr lang="en-US" dirty="0"/>
              <a:t>(</a:t>
            </a:r>
            <a:r>
              <a:rPr lang="en-US" b="1" dirty="0" err="1"/>
              <a:t>LDTg</a:t>
            </a:r>
            <a:r>
              <a:rPr lang="en-US" dirty="0"/>
              <a:t> and </a:t>
            </a:r>
            <a:r>
              <a:rPr lang="en-US" b="1" dirty="0" err="1"/>
              <a:t>PPTg</a:t>
            </a:r>
            <a:r>
              <a:rPr lang="en-US" dirty="0"/>
              <a:t>) project to the basal ganglia and thalamus; others to the lower brainstem and spinal cord</a:t>
            </a:r>
          </a:p>
          <a:p>
            <a:pPr>
              <a:lnSpc>
                <a:spcPct val="100000"/>
              </a:lnSpc>
              <a:spcBef>
                <a:spcPts val="1800"/>
              </a:spcBef>
            </a:pPr>
            <a:r>
              <a:rPr lang="en-US" dirty="0"/>
              <a:t>Have multiple roles, including stimulation of midbrain dopamine neurons (important for drug reward and reinforcement) and initiation of REM sleep. </a:t>
            </a:r>
          </a:p>
        </p:txBody>
      </p:sp>
    </p:spTree>
    <p:extLst>
      <p:ext uri="{BB962C8B-B14F-4D97-AF65-F5344CB8AC3E}">
        <p14:creationId xmlns:p14="http://schemas.microsoft.com/office/powerpoint/2010/main" val="22619771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00000"/>
              </a:lnSpc>
            </a:pPr>
            <a:r>
              <a:rPr lang="en-US" dirty="0"/>
              <a:t>Organization and Function of the Cholinergic System </a:t>
            </a:r>
            <a:r>
              <a:rPr lang="en-US" sz="1200" dirty="0"/>
              <a:t>(6 of 15)</a:t>
            </a:r>
            <a:endParaRPr lang="en-US" dirty="0"/>
          </a:p>
        </p:txBody>
      </p:sp>
      <p:sp>
        <p:nvSpPr>
          <p:cNvPr id="3" name="Text Placeholder 2"/>
          <p:cNvSpPr>
            <a:spLocks noGrp="1"/>
          </p:cNvSpPr>
          <p:nvPr>
            <p:ph idx="1"/>
          </p:nvPr>
        </p:nvSpPr>
        <p:spPr/>
        <p:txBody>
          <a:bodyPr>
            <a:normAutofit/>
          </a:bodyPr>
          <a:lstStyle/>
          <a:p>
            <a:pPr marL="457200">
              <a:buNone/>
            </a:pPr>
            <a:r>
              <a:rPr lang="en-US" sz="3200" dirty="0"/>
              <a:t>There are two acetylcholine receptor subtypes: nicotinic and muscarinic</a:t>
            </a:r>
          </a:p>
          <a:p>
            <a:pPr>
              <a:lnSpc>
                <a:spcPct val="100000"/>
              </a:lnSpc>
              <a:spcBef>
                <a:spcPts val="1800"/>
              </a:spcBef>
            </a:pPr>
            <a:r>
              <a:rPr lang="en-US" b="1" dirty="0"/>
              <a:t>Nicotinic receptors</a:t>
            </a:r>
            <a:r>
              <a:rPr lang="en-US" dirty="0"/>
              <a:t>—respond to the agonist nicotine, an alkaloid in the tobacco plant.</a:t>
            </a:r>
          </a:p>
          <a:p>
            <a:pPr>
              <a:lnSpc>
                <a:spcPct val="100000"/>
              </a:lnSpc>
              <a:spcBef>
                <a:spcPts val="1800"/>
              </a:spcBef>
            </a:pPr>
            <a:r>
              <a:rPr lang="en-US" b="1" dirty="0"/>
              <a:t>Muscarinic receptors</a:t>
            </a:r>
            <a:r>
              <a:rPr lang="en-US" dirty="0"/>
              <a:t>—respond to muscarine, an alkaloid first isolated from fly agaric mushrooms (</a:t>
            </a:r>
            <a:r>
              <a:rPr lang="en-US" i="1" dirty="0"/>
              <a:t>Amanita </a:t>
            </a:r>
            <a:r>
              <a:rPr lang="en-US" i="1" dirty="0" err="1"/>
              <a:t>muscaria</a:t>
            </a:r>
            <a:r>
              <a:rPr lang="en-US" dirty="0"/>
              <a:t>).</a:t>
            </a:r>
          </a:p>
        </p:txBody>
      </p:sp>
    </p:spTree>
    <p:extLst>
      <p:ext uri="{BB962C8B-B14F-4D97-AF65-F5344CB8AC3E}">
        <p14:creationId xmlns:p14="http://schemas.microsoft.com/office/powerpoint/2010/main" val="2030347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00000"/>
              </a:lnSpc>
            </a:pPr>
            <a:r>
              <a:rPr lang="en-US" dirty="0"/>
              <a:t>Organization and Function of the Cholinergic System </a:t>
            </a:r>
            <a:r>
              <a:rPr lang="en-US" sz="1200" dirty="0"/>
              <a:t>(7 of 15)</a:t>
            </a:r>
            <a:endParaRPr lang="en-US" dirty="0"/>
          </a:p>
        </p:txBody>
      </p:sp>
      <p:sp>
        <p:nvSpPr>
          <p:cNvPr id="3" name="Text Placeholder 2"/>
          <p:cNvSpPr>
            <a:spLocks noGrp="1"/>
          </p:cNvSpPr>
          <p:nvPr>
            <p:ph idx="1"/>
          </p:nvPr>
        </p:nvSpPr>
        <p:spPr/>
        <p:txBody>
          <a:bodyPr>
            <a:normAutofit/>
          </a:bodyPr>
          <a:lstStyle/>
          <a:p>
            <a:pPr marL="457200">
              <a:lnSpc>
                <a:spcPct val="100000"/>
              </a:lnSpc>
              <a:buNone/>
            </a:pPr>
            <a:r>
              <a:rPr lang="en-US" sz="3200" dirty="0"/>
              <a:t>There are two acetylcholine receptor subtypes: nicotinic and muscarinic</a:t>
            </a:r>
          </a:p>
          <a:p>
            <a:pPr>
              <a:lnSpc>
                <a:spcPct val="100000"/>
              </a:lnSpc>
              <a:spcBef>
                <a:spcPts val="1800"/>
              </a:spcBef>
            </a:pPr>
            <a:r>
              <a:rPr lang="en-US" dirty="0"/>
              <a:t>Nicotinic acetylcholine (</a:t>
            </a:r>
            <a:r>
              <a:rPr lang="en-US" dirty="0" err="1"/>
              <a:t>nAChRs</a:t>
            </a:r>
            <a:r>
              <a:rPr lang="en-US" dirty="0"/>
              <a:t>) receptors: ionotropic; </a:t>
            </a:r>
            <a:r>
              <a:rPr lang="en-US" altLang="en-US" dirty="0">
                <a:ea typeface="Geneva" pitchFamily="121" charset="-128"/>
              </a:rPr>
              <a:t>mediate fast excitatory responses in both the CNS and the PNS</a:t>
            </a:r>
            <a:endParaRPr lang="en-US" dirty="0"/>
          </a:p>
          <a:p>
            <a:pPr>
              <a:lnSpc>
                <a:spcPct val="100000"/>
              </a:lnSpc>
              <a:defRPr/>
            </a:pPr>
            <a:r>
              <a:rPr lang="en-US" altLang="en-US" dirty="0">
                <a:ea typeface="Geneva" pitchFamily="121" charset="-128"/>
              </a:rPr>
              <a:t>When </a:t>
            </a:r>
            <a:r>
              <a:rPr lang="en-US" altLang="en-US" dirty="0" err="1">
                <a:ea typeface="Geneva" pitchFamily="121" charset="-128"/>
              </a:rPr>
              <a:t>ACh</a:t>
            </a:r>
            <a:r>
              <a:rPr lang="en-US" altLang="en-US" dirty="0">
                <a:ea typeface="Geneva" pitchFamily="121" charset="-128"/>
              </a:rPr>
              <a:t> binds, the channel opens, Na</a:t>
            </a:r>
            <a:r>
              <a:rPr lang="en-US" altLang="en-US" baseline="30000" dirty="0">
                <a:ea typeface="Geneva" pitchFamily="121" charset="-128"/>
              </a:rPr>
              <a:t>+</a:t>
            </a:r>
            <a:r>
              <a:rPr lang="en-US" altLang="en-US" dirty="0">
                <a:ea typeface="Geneva" pitchFamily="121" charset="-128"/>
              </a:rPr>
              <a:t> and Ca</a:t>
            </a:r>
            <a:r>
              <a:rPr lang="en-US" altLang="en-US" baseline="30000" dirty="0">
                <a:ea typeface="Geneva" pitchFamily="121" charset="-128"/>
              </a:rPr>
              <a:t>2+</a:t>
            </a:r>
            <a:r>
              <a:rPr lang="en-US" altLang="en-US" dirty="0">
                <a:ea typeface="Geneva" pitchFamily="121" charset="-128"/>
              </a:rPr>
              <a:t> enter the neuron or muscle cell, which depolarizes the cell membrane.</a:t>
            </a:r>
          </a:p>
          <a:p>
            <a:pPr>
              <a:lnSpc>
                <a:spcPct val="100000"/>
              </a:lnSpc>
              <a:defRPr/>
            </a:pPr>
            <a:r>
              <a:rPr lang="en-US" altLang="en-US" dirty="0">
                <a:ea typeface="Geneva" pitchFamily="121" charset="-128"/>
              </a:rPr>
              <a:t>Each receptor has 5 subunits, </a:t>
            </a:r>
            <a:r>
              <a:rPr lang="el-GR" altLang="en-US" dirty="0">
                <a:ea typeface="Geneva" pitchFamily="121" charset="-128"/>
              </a:rPr>
              <a:t>α, β, γ, δ, </a:t>
            </a:r>
            <a:r>
              <a:rPr lang="en-US" altLang="en-US" dirty="0">
                <a:ea typeface="Geneva" pitchFamily="121" charset="-128"/>
              </a:rPr>
              <a:t>and </a:t>
            </a:r>
            <a:r>
              <a:rPr lang="el-GR" altLang="en-US" dirty="0">
                <a:ea typeface="Geneva" pitchFamily="121" charset="-128"/>
              </a:rPr>
              <a:t>ε</a:t>
            </a:r>
            <a:r>
              <a:rPr lang="en-US" altLang="en-US" dirty="0">
                <a:ea typeface="Geneva" pitchFamily="121" charset="-128"/>
              </a:rPr>
              <a:t>; there are many types of </a:t>
            </a:r>
            <a:r>
              <a:rPr lang="el-GR" altLang="en-US" dirty="0">
                <a:ea typeface="Geneva" pitchFamily="121" charset="-128"/>
              </a:rPr>
              <a:t>α</a:t>
            </a:r>
            <a:r>
              <a:rPr lang="en-US" altLang="en-US" dirty="0">
                <a:ea typeface="Geneva" pitchFamily="121" charset="-128"/>
              </a:rPr>
              <a:t> and</a:t>
            </a:r>
            <a:r>
              <a:rPr lang="el-GR" altLang="en-US" dirty="0">
                <a:ea typeface="Geneva" pitchFamily="121" charset="-128"/>
              </a:rPr>
              <a:t> β</a:t>
            </a:r>
            <a:r>
              <a:rPr lang="en-US" altLang="en-US" dirty="0">
                <a:ea typeface="Geneva" pitchFamily="121" charset="-128"/>
              </a:rPr>
              <a:t> subunits. All receptors have </a:t>
            </a:r>
            <a:r>
              <a:rPr lang="el-GR" altLang="en-US" dirty="0">
                <a:ea typeface="Geneva" pitchFamily="121" charset="-128"/>
              </a:rPr>
              <a:t>α</a:t>
            </a:r>
            <a:r>
              <a:rPr lang="en-US" altLang="en-US" dirty="0">
                <a:ea typeface="Geneva" pitchFamily="121" charset="-128"/>
              </a:rPr>
              <a:t> subunits</a:t>
            </a:r>
          </a:p>
        </p:txBody>
      </p:sp>
    </p:spTree>
    <p:extLst>
      <p:ext uri="{BB962C8B-B14F-4D97-AF65-F5344CB8AC3E}">
        <p14:creationId xmlns:p14="http://schemas.microsoft.com/office/powerpoint/2010/main" val="42294253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5D755-A06E-334F-B896-09549EFEC696}"/>
              </a:ext>
            </a:extLst>
          </p:cNvPr>
          <p:cNvSpPr>
            <a:spLocks noGrp="1"/>
          </p:cNvSpPr>
          <p:nvPr>
            <p:ph type="title"/>
          </p:nvPr>
        </p:nvSpPr>
        <p:spPr/>
        <p:txBody>
          <a:bodyPr/>
          <a:lstStyle/>
          <a:p>
            <a:r>
              <a:rPr lang="en-US" cap="all" dirty="0"/>
              <a:t>FIGURE 7.10</a:t>
            </a:r>
            <a:r>
              <a:rPr lang="en-US" dirty="0"/>
              <a:t>  Three common types of nicotinic </a:t>
            </a:r>
            <a:r>
              <a:rPr lang="en-US" dirty="0" err="1"/>
              <a:t>ACh</a:t>
            </a:r>
            <a:r>
              <a:rPr lang="en-US" dirty="0"/>
              <a:t> receptors </a:t>
            </a:r>
          </a:p>
        </p:txBody>
      </p:sp>
      <p:pic>
        <p:nvPicPr>
          <p:cNvPr id="6" name="Content Placeholder 5" descr="The common forms of nicotinic ACh receptors are depicted in a three-part illustration. The first part is the muscle nictonic receptor, which is made up of five subunits labeled alpha, beta, delta or epsilon, alpha 1, and gamma. The ACH binding site is located between alpha 1 and gamma, as well as alpha 1 and delta or epsilon. The second component is the neuronal alpha 4 beta 2 receptor, which is made up of five subunits, two of which are alpha 4 and three of which are beta 2. The ACH binding site is located here between two subunits of alpha 4 and beta 2. The third component is the neuronal alpha 7 receptor, which is composed of five alpha 7 subunits. There are five binding sites between all five subunits in this case."/>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1390788"/>
            <a:ext cx="11376025" cy="4478062"/>
          </a:xfrm>
        </p:spPr>
      </p:pic>
    </p:spTree>
    <p:extLst>
      <p:ext uri="{BB962C8B-B14F-4D97-AF65-F5344CB8AC3E}">
        <p14:creationId xmlns:p14="http://schemas.microsoft.com/office/powerpoint/2010/main" val="28953183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00000"/>
              </a:lnSpc>
            </a:pPr>
            <a:r>
              <a:rPr lang="en-US" dirty="0"/>
              <a:t>Organization and Function of the Cholinergic System </a:t>
            </a:r>
            <a:r>
              <a:rPr lang="en-US" sz="1200" dirty="0"/>
              <a:t>(8 of 15)</a:t>
            </a:r>
            <a:endParaRPr lang="en-US" dirty="0"/>
          </a:p>
        </p:txBody>
      </p:sp>
      <p:sp>
        <p:nvSpPr>
          <p:cNvPr id="3" name="Text Placeholder 2"/>
          <p:cNvSpPr>
            <a:spLocks noGrp="1"/>
          </p:cNvSpPr>
          <p:nvPr>
            <p:ph idx="1"/>
          </p:nvPr>
        </p:nvSpPr>
        <p:spPr/>
        <p:txBody>
          <a:bodyPr>
            <a:normAutofit fontScale="92500" lnSpcReduction="10000"/>
          </a:bodyPr>
          <a:lstStyle/>
          <a:p>
            <a:pPr marL="457200">
              <a:buNone/>
            </a:pPr>
            <a:r>
              <a:rPr lang="en-US" sz="3500" dirty="0"/>
              <a:t>There are two acetylcholine receptor subtypes: nicotinic and muscarinic</a:t>
            </a:r>
          </a:p>
          <a:p>
            <a:pPr>
              <a:lnSpc>
                <a:spcPct val="110000"/>
              </a:lnSpc>
              <a:spcBef>
                <a:spcPts val="1800"/>
              </a:spcBef>
            </a:pPr>
            <a:r>
              <a:rPr lang="en-US" dirty="0"/>
              <a:t>Subunit composition determines key features of a receptor such as affinity of binding sites, ionic selectivity, allosteric binding sites, channel opening and closing kinetics</a:t>
            </a:r>
          </a:p>
          <a:p>
            <a:pPr>
              <a:lnSpc>
                <a:spcPct val="110000"/>
              </a:lnSpc>
              <a:spcBef>
                <a:spcPts val="1800"/>
              </a:spcBef>
            </a:pPr>
            <a:r>
              <a:rPr lang="en-US" dirty="0"/>
              <a:t>Ionotropic receptors can be </a:t>
            </a:r>
            <a:r>
              <a:rPr lang="en-US" b="1" dirty="0"/>
              <a:t>closed</a:t>
            </a:r>
            <a:r>
              <a:rPr lang="en-US" dirty="0"/>
              <a:t>, </a:t>
            </a:r>
            <a:r>
              <a:rPr lang="en-US" b="1" dirty="0"/>
              <a:t>open</a:t>
            </a:r>
            <a:r>
              <a:rPr lang="en-US" dirty="0"/>
              <a:t>, or </a:t>
            </a:r>
            <a:r>
              <a:rPr lang="en-US" b="1" dirty="0"/>
              <a:t>desensitized</a:t>
            </a:r>
            <a:r>
              <a:rPr lang="en-US" dirty="0"/>
              <a:t>; when desensitized, channel is closed and won’t open even if an agonist binds. </a:t>
            </a:r>
          </a:p>
          <a:p>
            <a:pPr>
              <a:lnSpc>
                <a:spcPct val="110000"/>
              </a:lnSpc>
              <a:spcBef>
                <a:spcPts val="1800"/>
              </a:spcBef>
            </a:pPr>
            <a:r>
              <a:rPr lang="en-US" dirty="0"/>
              <a:t>Prolonged exposure to an agonist enhances the rate of conversion to the desensitized state; can spontaneously </a:t>
            </a:r>
            <a:r>
              <a:rPr lang="en-US" b="1" dirty="0" err="1"/>
              <a:t>resensitize</a:t>
            </a:r>
            <a:endParaRPr lang="en-US" b="1" dirty="0"/>
          </a:p>
        </p:txBody>
      </p:sp>
    </p:spTree>
    <p:extLst>
      <p:ext uri="{BB962C8B-B14F-4D97-AF65-F5344CB8AC3E}">
        <p14:creationId xmlns:p14="http://schemas.microsoft.com/office/powerpoint/2010/main" val="2868925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A5825-80F1-AB4E-8F67-B87FA95AB4F3}"/>
              </a:ext>
            </a:extLst>
          </p:cNvPr>
          <p:cNvSpPr>
            <a:spLocks noGrp="1"/>
          </p:cNvSpPr>
          <p:nvPr>
            <p:ph type="title"/>
          </p:nvPr>
        </p:nvSpPr>
        <p:spPr/>
        <p:txBody>
          <a:bodyPr/>
          <a:lstStyle/>
          <a:p>
            <a:r>
              <a:rPr lang="en-US" cap="all" dirty="0"/>
              <a:t>FIGURE 7.11</a:t>
            </a:r>
            <a:r>
              <a:rPr lang="en-US" dirty="0"/>
              <a:t>  Composition of nicotinic receptor subtypes identified in selected areas of the human brain </a:t>
            </a:r>
          </a:p>
        </p:txBody>
      </p:sp>
      <p:pic>
        <p:nvPicPr>
          <p:cNvPr id="6" name="Content Placeholder 5" descr="The composition of the nicotinic receptor subtypes in distinct parts of the brain is depicted in this illustration. The nicotinic receptor subtypes' composition is designated as follows. Alpha 4 beta 2 asterisk, alpha 6 beta 3 beta 2 asterisk, and alpha 7 asterisk in the caudate-putamen. Alpha 4 beta 2 asterisk, alpha 2 beta 2 asterisk, alpha 7, and alpha 7 beta 2 asterisk in the basal forebrain. Alpha 4 beta 2 asterisk, alpha 2 beta 2 asterisk, and alpha 7 in the temporal cortex. Alpha 4 beta 2 asterisk, alpha 3 beta 2 asterisk, and alpha 7 asterisk in the Cerebellum."/>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382584" y="479425"/>
            <a:ext cx="7426832" cy="6300788"/>
          </a:xfrm>
        </p:spPr>
      </p:pic>
    </p:spTree>
    <p:extLst>
      <p:ext uri="{BB962C8B-B14F-4D97-AF65-F5344CB8AC3E}">
        <p14:creationId xmlns:p14="http://schemas.microsoft.com/office/powerpoint/2010/main" val="7133999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6A2CA-3549-1F49-8709-5CF92A35323A}"/>
              </a:ext>
            </a:extLst>
          </p:cNvPr>
          <p:cNvSpPr>
            <a:spLocks noGrp="1"/>
          </p:cNvSpPr>
          <p:nvPr>
            <p:ph type="title"/>
          </p:nvPr>
        </p:nvSpPr>
        <p:spPr/>
        <p:txBody>
          <a:bodyPr/>
          <a:lstStyle/>
          <a:p>
            <a:r>
              <a:rPr lang="en-US" cap="all" dirty="0"/>
              <a:t>FIGURE 7.12</a:t>
            </a:r>
            <a:r>
              <a:rPr lang="en-US" dirty="0"/>
              <a:t>  Functional states of the nicotinic </a:t>
            </a:r>
            <a:r>
              <a:rPr lang="en-US" dirty="0" err="1"/>
              <a:t>ACh</a:t>
            </a:r>
            <a:r>
              <a:rPr lang="en-US" dirty="0"/>
              <a:t> receptor </a:t>
            </a:r>
          </a:p>
        </p:txBody>
      </p:sp>
      <p:pic>
        <p:nvPicPr>
          <p:cNvPr id="6" name="Content Placeholder 5" descr="The functional states of the nicotinic ACh receptors are depicted in three parts. Acetylcholine reaches three receptor stages: open, desensitized, and closed. The receptor centralized channel is totally open during the open phase, and half open during the desentized phase."/>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46347" y="479425"/>
            <a:ext cx="4099307" cy="6300788"/>
          </a:xfrm>
        </p:spPr>
      </p:pic>
    </p:spTree>
    <p:extLst>
      <p:ext uri="{BB962C8B-B14F-4D97-AF65-F5344CB8AC3E}">
        <p14:creationId xmlns:p14="http://schemas.microsoft.com/office/powerpoint/2010/main" val="41059043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00000"/>
              </a:lnSpc>
            </a:pPr>
            <a:r>
              <a:rPr lang="en-US" dirty="0"/>
              <a:t>Organization and Function of the Cholinergic System </a:t>
            </a:r>
            <a:r>
              <a:rPr lang="en-US" sz="1200" dirty="0"/>
              <a:t>(9 of 15)</a:t>
            </a:r>
            <a:endParaRPr lang="en-US" dirty="0"/>
          </a:p>
        </p:txBody>
      </p:sp>
      <p:sp>
        <p:nvSpPr>
          <p:cNvPr id="3" name="Text Placeholder 2"/>
          <p:cNvSpPr>
            <a:spLocks noGrp="1"/>
          </p:cNvSpPr>
          <p:nvPr>
            <p:ph idx="1"/>
          </p:nvPr>
        </p:nvSpPr>
        <p:spPr/>
        <p:txBody>
          <a:bodyPr>
            <a:normAutofit/>
          </a:bodyPr>
          <a:lstStyle/>
          <a:p>
            <a:pPr marL="457200">
              <a:lnSpc>
                <a:spcPct val="90000"/>
              </a:lnSpc>
              <a:buNone/>
            </a:pPr>
            <a:r>
              <a:rPr lang="en-US" sz="3200" dirty="0"/>
              <a:t>There are two acetylcholine receptor subtypes: nicotinic and muscarinic</a:t>
            </a:r>
          </a:p>
          <a:p>
            <a:pPr>
              <a:lnSpc>
                <a:spcPct val="100000"/>
              </a:lnSpc>
            </a:pPr>
            <a:r>
              <a:rPr lang="en-US" dirty="0"/>
              <a:t>Even with continuous agonist exposure, not all receptors are desensitized, and they produce a persistent depolarization of the cell membrane.</a:t>
            </a:r>
          </a:p>
          <a:p>
            <a:pPr>
              <a:lnSpc>
                <a:spcPct val="100000"/>
              </a:lnSpc>
            </a:pPr>
            <a:r>
              <a:rPr lang="en-US" b="1" dirty="0"/>
              <a:t>Depolarization block </a:t>
            </a:r>
            <a:r>
              <a:rPr lang="en-US" dirty="0"/>
              <a:t>occurs: resting potential of the membrane is lost, and the cell cannot be excited until agonist is removed and membrane repolarized.</a:t>
            </a:r>
          </a:p>
        </p:txBody>
      </p:sp>
    </p:spTree>
    <p:extLst>
      <p:ext uri="{BB962C8B-B14F-4D97-AF65-F5344CB8AC3E}">
        <p14:creationId xmlns:p14="http://schemas.microsoft.com/office/powerpoint/2010/main" val="36993396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00000"/>
              </a:lnSpc>
            </a:pPr>
            <a:r>
              <a:rPr lang="en-US" dirty="0"/>
              <a:t>Organization and Function of the Cholinergic System </a:t>
            </a:r>
            <a:r>
              <a:rPr lang="en-US" sz="1200" dirty="0"/>
              <a:t>(10 of 15)</a:t>
            </a:r>
            <a:endParaRPr lang="en-US" dirty="0"/>
          </a:p>
        </p:txBody>
      </p:sp>
      <p:sp>
        <p:nvSpPr>
          <p:cNvPr id="3" name="Text Placeholder 2"/>
          <p:cNvSpPr>
            <a:spLocks noGrp="1"/>
          </p:cNvSpPr>
          <p:nvPr>
            <p:ph idx="1"/>
          </p:nvPr>
        </p:nvSpPr>
        <p:spPr>
          <a:xfrm>
            <a:off x="609600" y="1705379"/>
            <a:ext cx="10972800" cy="4847819"/>
          </a:xfrm>
        </p:spPr>
        <p:txBody>
          <a:bodyPr>
            <a:normAutofit lnSpcReduction="10000"/>
          </a:bodyPr>
          <a:lstStyle/>
          <a:p>
            <a:pPr marL="457200">
              <a:lnSpc>
                <a:spcPct val="90000"/>
              </a:lnSpc>
              <a:buNone/>
            </a:pPr>
            <a:r>
              <a:rPr lang="en-US" sz="3200" dirty="0"/>
              <a:t>There are two acetylcholine receptor subtypes: nicotinic and muscarinic</a:t>
            </a:r>
          </a:p>
          <a:p>
            <a:pPr>
              <a:lnSpc>
                <a:spcPct val="100000"/>
              </a:lnSpc>
              <a:spcBef>
                <a:spcPts val="1800"/>
              </a:spcBef>
            </a:pPr>
            <a:r>
              <a:rPr lang="en-US" b="1" dirty="0"/>
              <a:t>Mecamylamine</a:t>
            </a:r>
            <a:r>
              <a:rPr lang="en-US" dirty="0"/>
              <a:t> (</a:t>
            </a:r>
            <a:r>
              <a:rPr lang="en-US" b="1" dirty="0" err="1"/>
              <a:t>Inversine</a:t>
            </a:r>
            <a:r>
              <a:rPr lang="en-US" dirty="0"/>
              <a:t>): antagonist at neuronal </a:t>
            </a:r>
            <a:r>
              <a:rPr lang="en-US" dirty="0" err="1"/>
              <a:t>nAChRs</a:t>
            </a:r>
            <a:r>
              <a:rPr lang="en-US" dirty="0"/>
              <a:t> in the CNS and autonomic ganglia; antihypertensive agent, no longer used.</a:t>
            </a:r>
          </a:p>
          <a:p>
            <a:pPr>
              <a:lnSpc>
                <a:spcPct val="100000"/>
              </a:lnSpc>
              <a:spcBef>
                <a:spcPts val="1800"/>
              </a:spcBef>
            </a:pPr>
            <a:r>
              <a:rPr lang="en-US" b="1" cap="small" dirty="0"/>
              <a:t>D</a:t>
            </a:r>
            <a:r>
              <a:rPr lang="en-US" b="1" dirty="0"/>
              <a:t>-tubocurarine</a:t>
            </a:r>
            <a:r>
              <a:rPr lang="en-US" dirty="0"/>
              <a:t>: antagonist of muscle </a:t>
            </a:r>
            <a:r>
              <a:rPr lang="en-US" dirty="0" err="1"/>
              <a:t>nAChRs</a:t>
            </a:r>
            <a:r>
              <a:rPr lang="en-US" dirty="0"/>
              <a:t>; paralyzing active ingredient of curare</a:t>
            </a:r>
          </a:p>
          <a:p>
            <a:pPr>
              <a:lnSpc>
                <a:spcPct val="100000"/>
              </a:lnSpc>
              <a:spcBef>
                <a:spcPts val="1800"/>
              </a:spcBef>
            </a:pPr>
            <a:r>
              <a:rPr lang="en-US" b="1" dirty="0"/>
              <a:t>Neonicotinoids</a:t>
            </a:r>
            <a:r>
              <a:rPr lang="en-US" dirty="0"/>
              <a:t> such as imidacloprid, acetamiprid, and thiacloprid: receptor agonists selective for insect </a:t>
            </a:r>
            <a:r>
              <a:rPr lang="en-US" dirty="0" err="1"/>
              <a:t>nAChRs</a:t>
            </a:r>
            <a:r>
              <a:rPr lang="en-US" dirty="0"/>
              <a:t>; absorbed and distributed throughout treated plants; probably harms beneficial insects as well as crop pests.</a:t>
            </a:r>
          </a:p>
        </p:txBody>
      </p:sp>
    </p:spTree>
    <p:extLst>
      <p:ext uri="{BB962C8B-B14F-4D97-AF65-F5344CB8AC3E}">
        <p14:creationId xmlns:p14="http://schemas.microsoft.com/office/powerpoint/2010/main" val="21993878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00000"/>
              </a:lnSpc>
            </a:pPr>
            <a:r>
              <a:rPr lang="en-US" dirty="0"/>
              <a:t>Organization and Function of the Cholinergic System </a:t>
            </a:r>
            <a:r>
              <a:rPr lang="en-US" sz="1200" dirty="0"/>
              <a:t>(11 of 15)</a:t>
            </a:r>
            <a:endParaRPr lang="en-US" dirty="0"/>
          </a:p>
        </p:txBody>
      </p:sp>
      <p:sp>
        <p:nvSpPr>
          <p:cNvPr id="3" name="Text Placeholder 2"/>
          <p:cNvSpPr>
            <a:spLocks noGrp="1"/>
          </p:cNvSpPr>
          <p:nvPr>
            <p:ph idx="1"/>
          </p:nvPr>
        </p:nvSpPr>
        <p:spPr/>
        <p:txBody>
          <a:bodyPr>
            <a:normAutofit/>
          </a:bodyPr>
          <a:lstStyle/>
          <a:p>
            <a:pPr marL="457200">
              <a:lnSpc>
                <a:spcPct val="90000"/>
              </a:lnSpc>
              <a:buNone/>
            </a:pPr>
            <a:r>
              <a:rPr lang="en-US" sz="3200" dirty="0"/>
              <a:t>There are two acetylcholine receptor subtypes: nicotinic and muscarinic</a:t>
            </a:r>
          </a:p>
          <a:p>
            <a:pPr>
              <a:lnSpc>
                <a:spcPct val="100000"/>
              </a:lnSpc>
              <a:defRPr/>
            </a:pPr>
            <a:r>
              <a:rPr lang="en-US" dirty="0">
                <a:ea typeface="Geneva" pitchFamily="121" charset="-128"/>
              </a:rPr>
              <a:t>Muscarinic receptors are metabotropic – operate via second messengers</a:t>
            </a:r>
          </a:p>
          <a:p>
            <a:pPr>
              <a:lnSpc>
                <a:spcPct val="100000"/>
              </a:lnSpc>
              <a:defRPr/>
            </a:pPr>
            <a:r>
              <a:rPr lang="en-US" dirty="0">
                <a:ea typeface="Geneva" pitchFamily="121" charset="-128"/>
              </a:rPr>
              <a:t>Five subtypes: M</a:t>
            </a:r>
            <a:r>
              <a:rPr lang="en-US" baseline="-25000" dirty="0">
                <a:ea typeface="Geneva" pitchFamily="121" charset="-128"/>
              </a:rPr>
              <a:t>1</a:t>
            </a:r>
            <a:r>
              <a:rPr lang="en-US" dirty="0">
                <a:ea typeface="Geneva" pitchFamily="121" charset="-128"/>
              </a:rPr>
              <a:t>, M</a:t>
            </a:r>
            <a:r>
              <a:rPr lang="en-US" baseline="-25000" dirty="0">
                <a:ea typeface="Geneva" pitchFamily="121" charset="-128"/>
              </a:rPr>
              <a:t>3</a:t>
            </a:r>
            <a:r>
              <a:rPr lang="en-US" dirty="0">
                <a:ea typeface="Geneva" pitchFamily="121" charset="-128"/>
              </a:rPr>
              <a:t>, and M</a:t>
            </a:r>
            <a:r>
              <a:rPr lang="en-US" baseline="-25000" dirty="0">
                <a:ea typeface="Geneva" pitchFamily="121" charset="-128"/>
              </a:rPr>
              <a:t>5</a:t>
            </a:r>
            <a:r>
              <a:rPr lang="en-US" dirty="0">
                <a:ea typeface="Geneva" pitchFamily="121" charset="-128"/>
              </a:rPr>
              <a:t> activate the phosphoinositide second-messenger system (excitatory)</a:t>
            </a:r>
          </a:p>
          <a:p>
            <a:pPr>
              <a:lnSpc>
                <a:spcPct val="100000"/>
              </a:lnSpc>
              <a:defRPr/>
            </a:pPr>
            <a:r>
              <a:rPr lang="en-US" dirty="0">
                <a:ea typeface="Geneva" pitchFamily="121" charset="-128"/>
              </a:rPr>
              <a:t>M</a:t>
            </a:r>
            <a:r>
              <a:rPr lang="en-US" baseline="-25000" dirty="0">
                <a:ea typeface="Geneva" pitchFamily="121" charset="-128"/>
              </a:rPr>
              <a:t>2</a:t>
            </a:r>
            <a:r>
              <a:rPr lang="en-US" dirty="0">
                <a:ea typeface="Geneva" pitchFamily="121" charset="-128"/>
              </a:rPr>
              <a:t> and M</a:t>
            </a:r>
            <a:r>
              <a:rPr lang="en-US" baseline="-25000" dirty="0">
                <a:ea typeface="Geneva" pitchFamily="121" charset="-128"/>
              </a:rPr>
              <a:t>4</a:t>
            </a:r>
            <a:r>
              <a:rPr lang="en-US" dirty="0">
                <a:ea typeface="Geneva" pitchFamily="121" charset="-128"/>
              </a:rPr>
              <a:t> inhibit cAMP synthesis, stimulate K</a:t>
            </a:r>
            <a:r>
              <a:rPr lang="en-US" baseline="30000" dirty="0">
                <a:ea typeface="Geneva" pitchFamily="121" charset="-128"/>
              </a:rPr>
              <a:t>+ </a:t>
            </a:r>
            <a:r>
              <a:rPr lang="en-US" dirty="0">
                <a:ea typeface="Geneva" pitchFamily="121" charset="-128"/>
              </a:rPr>
              <a:t>channel opening, and inhibit nerve terminal Ca</a:t>
            </a:r>
            <a:r>
              <a:rPr lang="en-US" baseline="30000" dirty="0">
                <a:ea typeface="Geneva" pitchFamily="121" charset="-128"/>
              </a:rPr>
              <a:t>2+</a:t>
            </a:r>
            <a:r>
              <a:rPr lang="en-US" dirty="0">
                <a:ea typeface="Geneva" pitchFamily="121" charset="-128"/>
              </a:rPr>
              <a:t> channel opening (inhibitory)</a:t>
            </a:r>
          </a:p>
        </p:txBody>
      </p:sp>
    </p:spTree>
    <p:extLst>
      <p:ext uri="{BB962C8B-B14F-4D97-AF65-F5344CB8AC3E}">
        <p14:creationId xmlns:p14="http://schemas.microsoft.com/office/powerpoint/2010/main" val="32786250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00000"/>
              </a:lnSpc>
            </a:pPr>
            <a:r>
              <a:rPr lang="en-US" dirty="0"/>
              <a:t>Organization and Function of the Cholinergic System </a:t>
            </a:r>
            <a:r>
              <a:rPr lang="en-US" sz="1200" dirty="0"/>
              <a:t>(12 of 15)</a:t>
            </a:r>
            <a:endParaRPr lang="en-US" dirty="0"/>
          </a:p>
        </p:txBody>
      </p:sp>
      <p:sp>
        <p:nvSpPr>
          <p:cNvPr id="3" name="Text Placeholder 2"/>
          <p:cNvSpPr>
            <a:spLocks noGrp="1"/>
          </p:cNvSpPr>
          <p:nvPr>
            <p:ph idx="1"/>
          </p:nvPr>
        </p:nvSpPr>
        <p:spPr/>
        <p:txBody>
          <a:bodyPr>
            <a:normAutofit/>
          </a:bodyPr>
          <a:lstStyle/>
          <a:p>
            <a:pPr marL="457200">
              <a:lnSpc>
                <a:spcPct val="90000"/>
              </a:lnSpc>
              <a:buNone/>
            </a:pPr>
            <a:r>
              <a:rPr lang="en-US" sz="3200" dirty="0"/>
              <a:t>There are two acetylcholine receptor subtypes: nicotinic and muscarinic</a:t>
            </a:r>
          </a:p>
          <a:p>
            <a:pPr>
              <a:lnSpc>
                <a:spcPct val="100000"/>
              </a:lnSpc>
              <a:spcBef>
                <a:spcPts val="1800"/>
              </a:spcBef>
            </a:pPr>
            <a:r>
              <a:rPr lang="en-US" dirty="0"/>
              <a:t>Muscarinic receptors in the neocortex and hippocampus play an important role in the cognitive effects of Ach</a:t>
            </a:r>
          </a:p>
          <a:p>
            <a:pPr>
              <a:lnSpc>
                <a:spcPct val="100000"/>
              </a:lnSpc>
              <a:spcBef>
                <a:spcPts val="1800"/>
              </a:spcBef>
            </a:pPr>
            <a:r>
              <a:rPr lang="en-US" dirty="0"/>
              <a:t>Muscarinic receptors in the striatum are involved in motor function.</a:t>
            </a:r>
          </a:p>
          <a:p>
            <a:pPr>
              <a:lnSpc>
                <a:spcPct val="100000"/>
              </a:lnSpc>
              <a:spcBef>
                <a:spcPts val="1800"/>
              </a:spcBef>
            </a:pPr>
            <a:r>
              <a:rPr lang="en-US" dirty="0"/>
              <a:t>M</a:t>
            </a:r>
            <a:r>
              <a:rPr lang="en-US" baseline="-25000" dirty="0"/>
              <a:t>5</a:t>
            </a:r>
            <a:r>
              <a:rPr lang="en-US" dirty="0"/>
              <a:t> in the brain is expressed primarily in the hippocampus, hypothalamus, and midbrain DA areas; may have a role in drug reinforcement</a:t>
            </a:r>
          </a:p>
        </p:txBody>
      </p:sp>
    </p:spTree>
    <p:extLst>
      <p:ext uri="{BB962C8B-B14F-4D97-AF65-F5344CB8AC3E}">
        <p14:creationId xmlns:p14="http://schemas.microsoft.com/office/powerpoint/2010/main" val="37455011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5CD76-ECBE-1E4C-92D3-B81B783BD76D}"/>
              </a:ext>
            </a:extLst>
          </p:cNvPr>
          <p:cNvSpPr>
            <a:spLocks noGrp="1"/>
          </p:cNvSpPr>
          <p:nvPr>
            <p:ph type="title"/>
          </p:nvPr>
        </p:nvSpPr>
        <p:spPr/>
        <p:txBody>
          <a:bodyPr/>
          <a:lstStyle/>
          <a:p>
            <a:r>
              <a:rPr lang="en-US" cap="all" dirty="0"/>
              <a:t>FIGURE 7.13</a:t>
            </a:r>
            <a:r>
              <a:rPr lang="en-US" dirty="0"/>
              <a:t>  Administration of an M</a:t>
            </a:r>
            <a:r>
              <a:rPr lang="en-US" baseline="-25000" dirty="0"/>
              <a:t>5</a:t>
            </a:r>
            <a:r>
              <a:rPr lang="en-US" dirty="0"/>
              <a:t> muscarinic receptor negative allosteric modulator reduces voluntary ethanol consumption in </a:t>
            </a:r>
            <a:r>
              <a:rPr lang="en-US" dirty="0" err="1"/>
              <a:t>iP</a:t>
            </a:r>
            <a:r>
              <a:rPr lang="en-US" dirty="0"/>
              <a:t> rats </a:t>
            </a:r>
          </a:p>
        </p:txBody>
      </p:sp>
      <p:pic>
        <p:nvPicPr>
          <p:cNvPr id="6" name="Content Placeholder 5" descr="A bar graph depicts the number of lever presses for two categories. The horizontal axis represents the two categories listed as Vehicle and ML375. The vertical axis represents the number of level presses ranging between 0 and 100. The approximated data inferred from the graph is as follows. Vehicle: 80 and 10. ML375: 45 and 5.&#10;&#10;A bar graph depicts the number of lever presses for two categories. The horizontal axis represents the two categories listed as Vehicle and ML375. The vertical axis represents the number of level presses ranging between 0 and 100. The approximated data inferred from the graph is as follows. Vehicle: 100 and 3. ML375: 90 and 1."/>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1190525"/>
            <a:ext cx="11376025" cy="5064326"/>
          </a:xfrm>
        </p:spPr>
      </p:pic>
    </p:spTree>
    <p:extLst>
      <p:ext uri="{BB962C8B-B14F-4D97-AF65-F5344CB8AC3E}">
        <p14:creationId xmlns:p14="http://schemas.microsoft.com/office/powerpoint/2010/main" val="3875148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00000"/>
              </a:lnSpc>
            </a:pPr>
            <a:r>
              <a:rPr lang="en-US" dirty="0"/>
              <a:t>Organization and Function of the Cholinergic System </a:t>
            </a:r>
            <a:r>
              <a:rPr lang="en-US" sz="1200" dirty="0"/>
              <a:t>(13 of 15)</a:t>
            </a:r>
            <a:endParaRPr lang="en-US" dirty="0"/>
          </a:p>
        </p:txBody>
      </p:sp>
      <p:sp>
        <p:nvSpPr>
          <p:cNvPr id="3" name="Text Placeholder 2"/>
          <p:cNvSpPr>
            <a:spLocks noGrp="1"/>
          </p:cNvSpPr>
          <p:nvPr>
            <p:ph idx="1"/>
          </p:nvPr>
        </p:nvSpPr>
        <p:spPr/>
        <p:txBody>
          <a:bodyPr>
            <a:normAutofit/>
          </a:bodyPr>
          <a:lstStyle/>
          <a:p>
            <a:pPr marL="457200">
              <a:lnSpc>
                <a:spcPct val="90000"/>
              </a:lnSpc>
              <a:buNone/>
            </a:pPr>
            <a:r>
              <a:rPr lang="en-US" sz="3200" dirty="0"/>
              <a:t>There are two acetylcholine receptor subtypes: nicotinic and muscarinic</a:t>
            </a:r>
          </a:p>
          <a:p>
            <a:pPr>
              <a:lnSpc>
                <a:spcPct val="100000"/>
              </a:lnSpc>
              <a:spcBef>
                <a:spcPts val="1800"/>
              </a:spcBef>
            </a:pPr>
            <a:r>
              <a:rPr lang="en-US" dirty="0"/>
              <a:t>Outside the brain, muscarinic receptors are found in cardiac and smooth muscle; activated by </a:t>
            </a:r>
            <a:r>
              <a:rPr lang="en-US" dirty="0" err="1"/>
              <a:t>ACh</a:t>
            </a:r>
            <a:r>
              <a:rPr lang="en-US" dirty="0"/>
              <a:t> released from parasympathetic postganglionic fibers</a:t>
            </a:r>
          </a:p>
          <a:p>
            <a:pPr>
              <a:lnSpc>
                <a:spcPct val="100000"/>
              </a:lnSpc>
              <a:spcBef>
                <a:spcPts val="1800"/>
              </a:spcBef>
            </a:pPr>
            <a:r>
              <a:rPr lang="en-US" dirty="0"/>
              <a:t>Drugs used to treat many psychiatric disorders block peripheral muscarinic receptors, especially in secretory glands; causes </a:t>
            </a:r>
            <a:r>
              <a:rPr lang="en-US" b="1" dirty="0"/>
              <a:t>dry mouth effect</a:t>
            </a:r>
          </a:p>
        </p:txBody>
      </p:sp>
    </p:spTree>
    <p:extLst>
      <p:ext uri="{BB962C8B-B14F-4D97-AF65-F5344CB8AC3E}">
        <p14:creationId xmlns:p14="http://schemas.microsoft.com/office/powerpoint/2010/main" val="20639430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00000"/>
              </a:lnSpc>
            </a:pPr>
            <a:r>
              <a:rPr lang="en-US" dirty="0"/>
              <a:t>Organization and Function of the Cholinergic System </a:t>
            </a:r>
            <a:r>
              <a:rPr lang="en-US" sz="1200" dirty="0"/>
              <a:t>(14 of 15)</a:t>
            </a:r>
            <a:endParaRPr lang="en-US" dirty="0"/>
          </a:p>
        </p:txBody>
      </p:sp>
      <p:sp>
        <p:nvSpPr>
          <p:cNvPr id="3" name="Text Placeholder 2"/>
          <p:cNvSpPr>
            <a:spLocks noGrp="1"/>
          </p:cNvSpPr>
          <p:nvPr>
            <p:ph idx="1"/>
          </p:nvPr>
        </p:nvSpPr>
        <p:spPr/>
        <p:txBody>
          <a:bodyPr>
            <a:normAutofit/>
          </a:bodyPr>
          <a:lstStyle/>
          <a:p>
            <a:pPr marL="457200">
              <a:lnSpc>
                <a:spcPct val="90000"/>
              </a:lnSpc>
              <a:buNone/>
            </a:pPr>
            <a:r>
              <a:rPr lang="en-US" sz="3200" dirty="0"/>
              <a:t>There are two acetylcholine receptor subtypes: nicotinic and muscarinic</a:t>
            </a:r>
          </a:p>
          <a:p>
            <a:pPr>
              <a:lnSpc>
                <a:spcPct val="100000"/>
              </a:lnSpc>
              <a:spcBef>
                <a:spcPts val="1800"/>
              </a:spcBef>
            </a:pPr>
            <a:r>
              <a:rPr lang="en-US" dirty="0"/>
              <a:t>Naturally occurring muscarinic receptor agonists: muscarine, </a:t>
            </a:r>
            <a:r>
              <a:rPr lang="en-US" b="1" dirty="0" err="1"/>
              <a:t>locarpine</a:t>
            </a:r>
            <a:r>
              <a:rPr lang="en-US" dirty="0"/>
              <a:t>, </a:t>
            </a:r>
            <a:r>
              <a:rPr lang="en-US" b="1" dirty="0"/>
              <a:t>arecoline</a:t>
            </a:r>
            <a:r>
              <a:rPr lang="en-US" dirty="0"/>
              <a:t> (</a:t>
            </a:r>
            <a:r>
              <a:rPr lang="en-US" b="1" dirty="0"/>
              <a:t>parasympathomimetic agents</a:t>
            </a:r>
            <a:r>
              <a:rPr lang="en-US" dirty="0"/>
              <a:t>); mimic effects of parasympathetic activation; high doses can be fatal.</a:t>
            </a:r>
          </a:p>
          <a:p>
            <a:pPr>
              <a:lnSpc>
                <a:spcPct val="100000"/>
              </a:lnSpc>
              <a:spcBef>
                <a:spcPts val="1800"/>
              </a:spcBef>
            </a:pPr>
            <a:r>
              <a:rPr lang="en-US" dirty="0"/>
              <a:t>Muscarinic receptor antagonists inhibit parasympathetic action (</a:t>
            </a:r>
            <a:r>
              <a:rPr lang="en-US" b="1" dirty="0"/>
              <a:t>parasympatholytic agents</a:t>
            </a:r>
            <a:r>
              <a:rPr lang="en-US" dirty="0"/>
              <a:t>): </a:t>
            </a:r>
            <a:r>
              <a:rPr lang="en-US" b="1" dirty="0"/>
              <a:t>atropine</a:t>
            </a:r>
            <a:r>
              <a:rPr lang="en-US" dirty="0"/>
              <a:t>, </a:t>
            </a:r>
            <a:r>
              <a:rPr lang="en-US" b="1" dirty="0"/>
              <a:t>scopolamine</a:t>
            </a:r>
            <a:r>
              <a:rPr lang="en-US" dirty="0"/>
              <a:t>; found in henbane and deadly nightshade. Some have medical uses, such as atropine for dilating pupils</a:t>
            </a:r>
          </a:p>
        </p:txBody>
      </p:sp>
    </p:spTree>
    <p:extLst>
      <p:ext uri="{BB962C8B-B14F-4D97-AF65-F5344CB8AC3E}">
        <p14:creationId xmlns:p14="http://schemas.microsoft.com/office/powerpoint/2010/main" val="32378773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lang="en-US" dirty="0"/>
              <a:t>Organization and Function of the Cholinergic System </a:t>
            </a:r>
            <a:r>
              <a:rPr lang="en-US" sz="1200" dirty="0"/>
              <a:t>(15 of 15)</a:t>
            </a:r>
            <a:endParaRPr lang="en-US" dirty="0"/>
          </a:p>
        </p:txBody>
      </p:sp>
      <p:sp>
        <p:nvSpPr>
          <p:cNvPr id="3" name="Text Placeholder 2"/>
          <p:cNvSpPr>
            <a:spLocks noGrp="1"/>
          </p:cNvSpPr>
          <p:nvPr>
            <p:ph idx="1"/>
          </p:nvPr>
        </p:nvSpPr>
        <p:spPr/>
        <p:txBody>
          <a:bodyPr/>
          <a:lstStyle/>
          <a:p>
            <a:pPr marL="0" indent="0">
              <a:lnSpc>
                <a:spcPct val="100000"/>
              </a:lnSpc>
              <a:spcBef>
                <a:spcPts val="1200"/>
              </a:spcBef>
              <a:buNone/>
            </a:pPr>
            <a:r>
              <a:rPr lang="en-US" sz="2400" u="sng" dirty="0"/>
              <a:t>CLICKER QUESTION 2</a:t>
            </a:r>
          </a:p>
          <a:p>
            <a:pPr marL="0" indent="0">
              <a:lnSpc>
                <a:spcPct val="100000"/>
              </a:lnSpc>
              <a:spcBef>
                <a:spcPts val="3000"/>
              </a:spcBef>
              <a:buNone/>
            </a:pPr>
            <a:r>
              <a:rPr lang="en-US" sz="3200" dirty="0"/>
              <a:t>What is the active ingredient in curare?</a:t>
            </a:r>
          </a:p>
          <a:p>
            <a:pPr marL="914400">
              <a:spcBef>
                <a:spcPts val="1200"/>
              </a:spcBef>
              <a:buFont typeface="Arial" pitchFamily="34" charset="0"/>
              <a:buAutoNum type="alphaLcPeriod"/>
            </a:pPr>
            <a:r>
              <a:rPr lang="en-US" sz="3200" dirty="0"/>
              <a:t>Muscle </a:t>
            </a:r>
            <a:r>
              <a:rPr lang="en-US" sz="3200" dirty="0" err="1"/>
              <a:t>nAChRs</a:t>
            </a:r>
            <a:r>
              <a:rPr lang="en-US" sz="3200" dirty="0"/>
              <a:t> antagonist</a:t>
            </a:r>
          </a:p>
          <a:p>
            <a:pPr marL="914400">
              <a:spcBef>
                <a:spcPts val="1200"/>
              </a:spcBef>
              <a:buFont typeface="Arial" pitchFamily="34" charset="0"/>
              <a:buAutoNum type="alphaLcPeriod"/>
            </a:pPr>
            <a:r>
              <a:rPr lang="en-US" sz="3200" dirty="0"/>
              <a:t>Neuronal </a:t>
            </a:r>
            <a:r>
              <a:rPr lang="en-US" sz="3200" dirty="0" err="1"/>
              <a:t>nAChRs</a:t>
            </a:r>
            <a:r>
              <a:rPr lang="en-US" sz="3200" dirty="0"/>
              <a:t> antagonist</a:t>
            </a:r>
          </a:p>
          <a:p>
            <a:pPr marL="914400">
              <a:spcBef>
                <a:spcPts val="1200"/>
              </a:spcBef>
              <a:buFont typeface="Arial" pitchFamily="34" charset="0"/>
              <a:buAutoNum type="alphaLcPeriod"/>
            </a:pPr>
            <a:r>
              <a:rPr lang="en-US" sz="3200" dirty="0"/>
              <a:t>Muscarinic receptor agonist</a:t>
            </a:r>
          </a:p>
          <a:p>
            <a:pPr marL="914400">
              <a:spcBef>
                <a:spcPts val="1200"/>
              </a:spcBef>
              <a:buFont typeface="Arial" pitchFamily="34" charset="0"/>
              <a:buAutoNum type="alphaLcPeriod"/>
            </a:pPr>
            <a:r>
              <a:rPr lang="en-US" sz="3200" dirty="0" err="1"/>
              <a:t>AChE</a:t>
            </a:r>
            <a:r>
              <a:rPr lang="en-US" sz="3200" dirty="0"/>
              <a:t> inhibitor</a:t>
            </a:r>
          </a:p>
        </p:txBody>
      </p:sp>
    </p:spTree>
    <p:extLst>
      <p:ext uri="{BB962C8B-B14F-4D97-AF65-F5344CB8AC3E}">
        <p14:creationId xmlns:p14="http://schemas.microsoft.com/office/powerpoint/2010/main" val="12495898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00000"/>
              </a:lnSpc>
            </a:pPr>
            <a:r>
              <a:rPr kumimoji="0" lang="en-US" b="0" i="0" u="none" strike="noStrike" kern="1200" cap="none" spc="0" normalizeH="0" baseline="0" noProof="0" dirty="0">
                <a:ln>
                  <a:noFill/>
                </a:ln>
                <a:solidFill>
                  <a:srgbClr val="1F497D"/>
                </a:solidFill>
                <a:effectLst/>
                <a:uLnTx/>
                <a:uFillTx/>
                <a:latin typeface="Calibri"/>
                <a:ea typeface="+mj-ea"/>
                <a:cs typeface="+mj-cs"/>
              </a:rPr>
              <a:t>Review of Learning Objectives </a:t>
            </a:r>
            <a:r>
              <a:rPr kumimoji="0" lang="en-US" sz="1200" b="0" i="0" u="none" strike="noStrike" kern="1200" cap="none" spc="0" normalizeH="0" baseline="0" noProof="0" dirty="0">
                <a:ln>
                  <a:noFill/>
                </a:ln>
                <a:solidFill>
                  <a:srgbClr val="1F497D"/>
                </a:solidFill>
                <a:effectLst/>
                <a:uLnTx/>
                <a:uFillTx/>
                <a:latin typeface="Calibri"/>
                <a:ea typeface="+mj-ea"/>
                <a:cs typeface="+mj-cs"/>
              </a:rPr>
              <a:t>(2 of 2)</a:t>
            </a:r>
            <a:endParaRPr lang="en-US" dirty="0"/>
          </a:p>
        </p:txBody>
      </p:sp>
      <p:sp>
        <p:nvSpPr>
          <p:cNvPr id="3" name="Text Placeholder 2"/>
          <p:cNvSpPr>
            <a:spLocks noGrp="1"/>
          </p:cNvSpPr>
          <p:nvPr>
            <p:ph idx="1"/>
          </p:nvPr>
        </p:nvSpPr>
        <p:spPr/>
        <p:txBody>
          <a:bodyPr>
            <a:normAutofit fontScale="85000" lnSpcReduction="20000"/>
          </a:bodyPr>
          <a:lstStyle/>
          <a:p>
            <a:pPr marL="914400" indent="-914400">
              <a:lnSpc>
                <a:spcPct val="110000"/>
              </a:lnSpc>
              <a:spcBef>
                <a:spcPts val="1200"/>
              </a:spcBef>
              <a:buNone/>
            </a:pPr>
            <a:r>
              <a:rPr lang="en-US" dirty="0"/>
              <a:t>7.2.1  Identify the locations of cholinergic neurons in both the peripheral nervous system and the brain. </a:t>
            </a:r>
          </a:p>
          <a:p>
            <a:pPr marL="914400" indent="-914400">
              <a:lnSpc>
                <a:spcPct val="110000"/>
              </a:lnSpc>
              <a:spcBef>
                <a:spcPts val="1200"/>
              </a:spcBef>
              <a:buNone/>
            </a:pPr>
            <a:r>
              <a:rPr lang="en-US" dirty="0"/>
              <a:t>7.2.2  Discuss evidence for a role of various cholinergic systems in (a) motor control, including abnormalities in motor control in Parkinson’s disease, (b) memory encoding, (c) sustained attention, and (d) drug reward and reinforcement.</a:t>
            </a:r>
          </a:p>
          <a:p>
            <a:pPr marL="914400" indent="-914400">
              <a:lnSpc>
                <a:spcPct val="110000"/>
              </a:lnSpc>
              <a:spcBef>
                <a:spcPts val="1200"/>
              </a:spcBef>
              <a:buNone/>
            </a:pPr>
            <a:r>
              <a:rPr lang="en-US" dirty="0"/>
              <a:t>7.2.3  (a) Identify and characterize the two major cholinergic receptor subtypes, including their subunit structure (where relevant) and signaling mechanisms, (b) discuss the major behavioral functions of cholinergic receptors, and (c) list the major agonists and antagonists at these receptors and their behavioral or physiological effects.</a:t>
            </a:r>
          </a:p>
          <a:p>
            <a:pPr marL="914400" indent="-914400">
              <a:lnSpc>
                <a:spcPct val="110000"/>
              </a:lnSpc>
              <a:spcBef>
                <a:spcPts val="1200"/>
              </a:spcBef>
              <a:buNone/>
            </a:pPr>
            <a:r>
              <a:rPr lang="en-US" dirty="0"/>
              <a:t>7.2.4  Describe the three different states of nicotinic receptors and how they are regulated.</a:t>
            </a:r>
          </a:p>
        </p:txBody>
      </p:sp>
    </p:spTree>
    <p:extLst>
      <p:ext uri="{BB962C8B-B14F-4D97-AF65-F5344CB8AC3E}">
        <p14:creationId xmlns:p14="http://schemas.microsoft.com/office/powerpoint/2010/main" val="4193690400"/>
      </p:ext>
    </p:extLst>
  </p:cSld>
  <p:clrMapOvr>
    <a:masterClrMapping/>
  </p:clrMapOvr>
</p:sld>
</file>

<file path=ppt/theme/theme1.xml><?xml version="1.0" encoding="utf-8"?>
<a:theme xmlns:a="http://schemas.openxmlformats.org/drawingml/2006/main" name="Text Content Templat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UP US HE Widescreen Template 3.1 (TH).pptx" id="{38592676-3FE0-4EA4-B873-8CD03AA7ACBC}" vid="{4464F53A-3550-4D7A-B3C8-5443B75EFB8E}"/>
    </a:ext>
  </a:extLst>
</a:theme>
</file>

<file path=ppt/theme/theme2.xml><?xml version="1.0" encoding="utf-8"?>
<a:theme xmlns:a="http://schemas.openxmlformats.org/drawingml/2006/main" name="Text Content Templat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UP US HE Widescreen Template 3.1 (TH).pptx" id="{38592676-3FE0-4EA4-B873-8CD03AA7ACBC}" vid="{4464F53A-3550-4D7A-B3C8-5443B75EFB8E}"/>
    </a:ext>
  </a:extLst>
</a:theme>
</file>

<file path=ppt/theme/theme3.xml><?xml version="1.0" encoding="utf-8"?>
<a:theme xmlns:a="http://schemas.openxmlformats.org/drawingml/2006/main" name="Figure-Only Templates">
  <a:themeElements>
    <a:clrScheme name="Custom 95">
      <a:dk1>
        <a:srgbClr val="000000"/>
      </a:dk1>
      <a:lt1>
        <a:srgbClr val="FFFFFF"/>
      </a:lt1>
      <a:dk2>
        <a:srgbClr val="1F497D"/>
      </a:dk2>
      <a:lt2>
        <a:srgbClr val="EEECE1"/>
      </a:lt2>
      <a:accent1>
        <a:srgbClr val="001A47"/>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xford Template 2020-05-05" id="{B78F6A64-C076-4E15-90E5-9A59F0E29698}" vid="{18DFF3BF-7F46-4B14-BD35-A03A29764567}"/>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034735E286A8A478CDABE780C9EC78F" ma:contentTypeVersion="13" ma:contentTypeDescription="Create a new document." ma:contentTypeScope="" ma:versionID="9b8825675e62d57985c81b74d5b14a7f">
  <xsd:schema xmlns:xsd="http://www.w3.org/2001/XMLSchema" xmlns:xs="http://www.w3.org/2001/XMLSchema" xmlns:p="http://schemas.microsoft.com/office/2006/metadata/properties" xmlns:ns3="fd39d560-5c7d-4158-98a0-f420f8fdebce" xmlns:ns4="a6c716b4-9090-4de7-aadc-2aa5f812ad24" targetNamespace="http://schemas.microsoft.com/office/2006/metadata/properties" ma:root="true" ma:fieldsID="bdbc9fd47a72f6438c4442bb9222e145" ns3:_="" ns4:_="">
    <xsd:import namespace="fd39d560-5c7d-4158-98a0-f420f8fdebce"/>
    <xsd:import namespace="a6c716b4-9090-4de7-aadc-2aa5f812ad24"/>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3:MediaServiceGenerationTime" minOccurs="0"/>
                <xsd:element ref="ns3:MediaServiceEventHashCode" minOccurs="0"/>
                <xsd:element ref="ns3:MediaServiceAutoKeyPoints" minOccurs="0"/>
                <xsd:element ref="ns3:MediaServiceKeyPoints" minOccurs="0"/>
                <xsd:element ref="ns4:SharedWithUsers" minOccurs="0"/>
                <xsd:element ref="ns4:SharedWithDetails" minOccurs="0"/>
                <xsd:element ref="ns4:SharingHintHash"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d39d560-5c7d-4158-98a0-f420f8fdebc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6c716b4-9090-4de7-aadc-2aa5f812ad24"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856919D-3723-464B-9967-427A087CBD61}">
  <ds:schemaRefs>
    <ds:schemaRef ds:uri="http://purl.org/dc/elements/1.1/"/>
    <ds:schemaRef ds:uri="http://schemas.microsoft.com/office/2006/metadata/properties"/>
    <ds:schemaRef ds:uri="fd39d560-5c7d-4158-98a0-f420f8fdebce"/>
    <ds:schemaRef ds:uri="http://schemas.microsoft.com/office/2006/documentManagement/types"/>
    <ds:schemaRef ds:uri="http://schemas.openxmlformats.org/package/2006/metadata/core-properties"/>
    <ds:schemaRef ds:uri="a6c716b4-9090-4de7-aadc-2aa5f812ad24"/>
    <ds:schemaRef ds:uri="http://purl.org/dc/dcmitype/"/>
    <ds:schemaRef ds:uri="http://schemas.microsoft.com/office/infopath/2007/PartnerControls"/>
    <ds:schemaRef ds:uri="http://www.w3.org/XML/1998/namespace"/>
    <ds:schemaRef ds:uri="http://purl.org/dc/terms/"/>
  </ds:schemaRefs>
</ds:datastoreItem>
</file>

<file path=customXml/itemProps2.xml><?xml version="1.0" encoding="utf-8"?>
<ds:datastoreItem xmlns:ds="http://schemas.openxmlformats.org/officeDocument/2006/customXml" ds:itemID="{7E307B2A-FA70-43CE-A010-B3D8154DEA0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d39d560-5c7d-4158-98a0-f420f8fdebce"/>
    <ds:schemaRef ds:uri="a6c716b4-9090-4de7-aadc-2aa5f812ad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B57C1AB-C2BF-4446-AECB-681D5785527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OUP US HE Widescreen Template 3.1 (TH)</Template>
  <TotalTime>2738</TotalTime>
  <Words>2961</Words>
  <Application>Microsoft Office PowerPoint</Application>
  <PresentationFormat>Widescreen</PresentationFormat>
  <Paragraphs>253</Paragraphs>
  <Slides>43</Slides>
  <Notes>38</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43</vt:i4>
      </vt:variant>
    </vt:vector>
  </HeadingPairs>
  <TitlesOfParts>
    <vt:vector size="54" baseType="lpstr">
      <vt:lpstr>ＭＳ Ｐゴシック</vt:lpstr>
      <vt:lpstr>Arial</vt:lpstr>
      <vt:lpstr>Calibri</vt:lpstr>
      <vt:lpstr>Courier New</vt:lpstr>
      <vt:lpstr>DINPro-Bold</vt:lpstr>
      <vt:lpstr>Geneva</vt:lpstr>
      <vt:lpstr>PalatinoLTStd-Italic</vt:lpstr>
      <vt:lpstr>PalatinoLTStd-Roman</vt:lpstr>
      <vt:lpstr>Text Content Templates</vt:lpstr>
      <vt:lpstr>Text Content Templates</vt:lpstr>
      <vt:lpstr>Figure-Only Templates</vt:lpstr>
      <vt:lpstr>Psychopharmacology: Drugs, the Brain, and Behavior </vt:lpstr>
      <vt:lpstr>Chapter 7 Acetylcholine</vt:lpstr>
      <vt:lpstr>Chapter 7 Learning Objectives (1 of 2)</vt:lpstr>
      <vt:lpstr>Chapter 7 Learning Objectives (2 of 2)</vt:lpstr>
      <vt:lpstr>Acetylcholine Synthesis, Release, and Inactivation (1 of 10)</vt:lpstr>
      <vt:lpstr>FIGURE 7.1  Synthesis of acetylcholine (ACh) by choline acetyltransferase </vt:lpstr>
      <vt:lpstr>Acetylcholine Synthesis, Release, and Inactivation (2 of 10)</vt:lpstr>
      <vt:lpstr>FIGURE 7.2  A cholinergic synapse </vt:lpstr>
      <vt:lpstr>Acetylcholine Synthesis, Release, and Inactivation (3 of 10)</vt:lpstr>
      <vt:lpstr>Acetylcholine Synthesis, Release, and Inactivation (4 of 10)</vt:lpstr>
      <vt:lpstr>Acetylcholine Synthesis, Release, and Inactivation (5 of 10)</vt:lpstr>
      <vt:lpstr>FIGURE 7.3  Breakdown of ACh by acetylcholinesterase </vt:lpstr>
      <vt:lpstr>FIGURE 7.4  Forms of acetylcholinesterase in the nervous system </vt:lpstr>
      <vt:lpstr>Acetylcholine Synthesis, Release, and Inactivation (6 of 10)</vt:lpstr>
      <vt:lpstr>Acetylcholine Synthesis, Release, and Inactivation (7 of 10)</vt:lpstr>
      <vt:lpstr>Acetylcholine Synthesis, Release, and Inactivation (8 of 10)</vt:lpstr>
      <vt:lpstr>FIGURE 7.6  Myasthenia gravis, an autoimmune disorder (1) </vt:lpstr>
      <vt:lpstr>Acetylcholine Synthesis, Release, and Inactivation (9 of 10)</vt:lpstr>
      <vt:lpstr>Acetylcholine Synthesis, Release, and Inactivation (10 of 10)</vt:lpstr>
      <vt:lpstr>Review of Learning Objectives (1 of 2)</vt:lpstr>
      <vt:lpstr>Organization and Function of the Cholinergic System (1 of 15)</vt:lpstr>
      <vt:lpstr>FIGURE 7.7  Cholinergic synapses in the parasympathetic and sympathetic branches of the autonomic nervous system </vt:lpstr>
      <vt:lpstr>Organization and Function of the Cholinergic System (2 of 15)</vt:lpstr>
      <vt:lpstr>FIGURE 7.8  Anatomy of cholinergic pathways in the brain </vt:lpstr>
      <vt:lpstr>Organization and Function of the Cholinergic System (3 of 15)</vt:lpstr>
      <vt:lpstr>Organization and Function of the Cholinergic System (4 of 15)</vt:lpstr>
      <vt:lpstr>Box 7.2  The Cutting Edge: Acetylcholine and Cognitive Function</vt:lpstr>
      <vt:lpstr>Organization and Function of the Cholinergic System (5 of 15)</vt:lpstr>
      <vt:lpstr>Organization and Function of the Cholinergic System (6 of 15)</vt:lpstr>
      <vt:lpstr>Organization and Function of the Cholinergic System (7 of 15)</vt:lpstr>
      <vt:lpstr>FIGURE 7.10  Three common types of nicotinic ACh receptors </vt:lpstr>
      <vt:lpstr>Organization and Function of the Cholinergic System (8 of 15)</vt:lpstr>
      <vt:lpstr>FIGURE 7.11  Composition of nicotinic receptor subtypes identified in selected areas of the human brain </vt:lpstr>
      <vt:lpstr>FIGURE 7.12  Functional states of the nicotinic ACh receptor </vt:lpstr>
      <vt:lpstr>Organization and Function of the Cholinergic System (9 of 15)</vt:lpstr>
      <vt:lpstr>Organization and Function of the Cholinergic System (10 of 15)</vt:lpstr>
      <vt:lpstr>Organization and Function of the Cholinergic System (11 of 15)</vt:lpstr>
      <vt:lpstr>Organization and Function of the Cholinergic System (12 of 15)</vt:lpstr>
      <vt:lpstr>FIGURE 7.13  Administration of an M5 muscarinic receptor negative allosteric modulator reduces voluntary ethanol consumption in iP rats </vt:lpstr>
      <vt:lpstr>Organization and Function of the Cholinergic System (13 of 15)</vt:lpstr>
      <vt:lpstr>Organization and Function of the Cholinergic System (14 of 15)</vt:lpstr>
      <vt:lpstr>Organization and Function of the Cholinergic System (15 of 15)</vt:lpstr>
      <vt:lpstr>Review of Learning Objectives (2 of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Psychopharmacology: Drugs, the Brain, and Behavior</dc:title>
  <dc:creator>OUP</dc:creator>
  <cp:lastModifiedBy>Carter, Suzanne</cp:lastModifiedBy>
  <cp:revision>41</cp:revision>
  <dcterms:created xsi:type="dcterms:W3CDTF">2021-11-13T04:08:54Z</dcterms:created>
  <dcterms:modified xsi:type="dcterms:W3CDTF">2022-03-09T18:24:06Z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f61502-7731-4690-a118-333634878cc9_Enabled">
    <vt:lpwstr>true</vt:lpwstr>
  </property>
  <property fmtid="{D5CDD505-2E9C-101B-9397-08002B2CF9AE}" pid="3" name="MSIP_Label_89f61502-7731-4690-a118-333634878cc9_SetDate">
    <vt:lpwstr>2020-04-27T21:10:48Z</vt:lpwstr>
  </property>
  <property fmtid="{D5CDD505-2E9C-101B-9397-08002B2CF9AE}" pid="4" name="MSIP_Label_89f61502-7731-4690-a118-333634878cc9_Method">
    <vt:lpwstr>Standard</vt:lpwstr>
  </property>
  <property fmtid="{D5CDD505-2E9C-101B-9397-08002B2CF9AE}" pid="5" name="MSIP_Label_89f61502-7731-4690-a118-333634878cc9_Name">
    <vt:lpwstr>Internal</vt:lpwstr>
  </property>
  <property fmtid="{D5CDD505-2E9C-101B-9397-08002B2CF9AE}" pid="6" name="MSIP_Label_89f61502-7731-4690-a118-333634878cc9_SiteId">
    <vt:lpwstr>91761b62-4c45-43f5-9f0e-be8ad9b551ff</vt:lpwstr>
  </property>
  <property fmtid="{D5CDD505-2E9C-101B-9397-08002B2CF9AE}" pid="7" name="MSIP_Label_89f61502-7731-4690-a118-333634878cc9_ActionId">
    <vt:lpwstr>69912cf1-8f32-4f1f-9ade-00009ae8a75a</vt:lpwstr>
  </property>
  <property fmtid="{D5CDD505-2E9C-101B-9397-08002B2CF9AE}" pid="8" name="MSIP_Label_89f61502-7731-4690-a118-333634878cc9_ContentBits">
    <vt:lpwstr>0</vt:lpwstr>
  </property>
  <property fmtid="{D5CDD505-2E9C-101B-9397-08002B2CF9AE}" pid="9" name="ContentTypeId">
    <vt:lpwstr>0x0101006034735E286A8A478CDABE780C9EC78F</vt:lpwstr>
  </property>
</Properties>
</file>