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 ContentType="image/tif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 id="2147483680" r:id="rId5"/>
  </p:sldMasterIdLst>
  <p:notesMasterIdLst>
    <p:notesMasterId r:id="rId67"/>
  </p:notesMasterIdLst>
  <p:handoutMasterIdLst>
    <p:handoutMasterId r:id="rId68"/>
  </p:handoutMasterIdLst>
  <p:sldIdLst>
    <p:sldId id="346" r:id="rId6"/>
    <p:sldId id="270" r:id="rId7"/>
    <p:sldId id="274" r:id="rId8"/>
    <p:sldId id="288" r:id="rId9"/>
    <p:sldId id="289" r:id="rId10"/>
    <p:sldId id="271" r:id="rId11"/>
    <p:sldId id="286" r:id="rId12"/>
    <p:sldId id="284" r:id="rId13"/>
    <p:sldId id="350" r:id="rId14"/>
    <p:sldId id="290" r:id="rId15"/>
    <p:sldId id="291" r:id="rId16"/>
    <p:sldId id="292" r:id="rId17"/>
    <p:sldId id="295" r:id="rId18"/>
    <p:sldId id="293" r:id="rId19"/>
    <p:sldId id="351" r:id="rId20"/>
    <p:sldId id="296" r:id="rId21"/>
    <p:sldId id="352" r:id="rId22"/>
    <p:sldId id="298" r:id="rId23"/>
    <p:sldId id="353" r:id="rId24"/>
    <p:sldId id="299" r:id="rId25"/>
    <p:sldId id="354" r:id="rId26"/>
    <p:sldId id="303" r:id="rId27"/>
    <p:sldId id="285" r:id="rId28"/>
    <p:sldId id="347" r:id="rId29"/>
    <p:sldId id="305" r:id="rId30"/>
    <p:sldId id="355" r:id="rId31"/>
    <p:sldId id="306" r:id="rId32"/>
    <p:sldId id="310" r:id="rId33"/>
    <p:sldId id="307" r:id="rId34"/>
    <p:sldId id="356" r:id="rId35"/>
    <p:sldId id="311" r:id="rId36"/>
    <p:sldId id="357" r:id="rId37"/>
    <p:sldId id="309" r:id="rId38"/>
    <p:sldId id="315" r:id="rId39"/>
    <p:sldId id="348" r:id="rId40"/>
    <p:sldId id="316" r:id="rId41"/>
    <p:sldId id="358" r:id="rId42"/>
    <p:sldId id="318" r:id="rId43"/>
    <p:sldId id="359" r:id="rId44"/>
    <p:sldId id="319" r:id="rId45"/>
    <p:sldId id="360" r:id="rId46"/>
    <p:sldId id="323" r:id="rId47"/>
    <p:sldId id="324" r:id="rId48"/>
    <p:sldId id="325" r:id="rId49"/>
    <p:sldId id="361" r:id="rId50"/>
    <p:sldId id="326" r:id="rId51"/>
    <p:sldId id="331" r:id="rId52"/>
    <p:sldId id="332" r:id="rId53"/>
    <p:sldId id="333" r:id="rId54"/>
    <p:sldId id="334" r:id="rId55"/>
    <p:sldId id="335" r:id="rId56"/>
    <p:sldId id="338" r:id="rId57"/>
    <p:sldId id="362" r:id="rId58"/>
    <p:sldId id="336" r:id="rId59"/>
    <p:sldId id="340" r:id="rId60"/>
    <p:sldId id="363" r:id="rId61"/>
    <p:sldId id="337" r:id="rId62"/>
    <p:sldId id="344" r:id="rId63"/>
    <p:sldId id="364" r:id="rId64"/>
    <p:sldId id="328" r:id="rId65"/>
    <p:sldId id="349" r:id="rId6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A47"/>
    <a:srgbClr val="014478"/>
    <a:srgbClr val="001B47"/>
    <a:srgbClr val="1F497D"/>
    <a:srgbClr val="00214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35" autoAdjust="0"/>
    <p:restoredTop sz="85766" autoAdjust="0"/>
  </p:normalViewPr>
  <p:slideViewPr>
    <p:cSldViewPr snapToGrid="0" snapToObjects="1">
      <p:cViewPr varScale="1">
        <p:scale>
          <a:sx n="98" d="100"/>
          <a:sy n="98" d="100"/>
        </p:scale>
        <p:origin x="78" y="660"/>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8700"/>
    </p:cViewPr>
  </p:sorterViewPr>
  <p:notesViewPr>
    <p:cSldViewPr snapToGrid="0" snapToObjects="1">
      <p:cViewPr varScale="1">
        <p:scale>
          <a:sx n="85" d="100"/>
          <a:sy n="85" d="100"/>
        </p:scale>
        <p:origin x="3132"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slide" Target="slides/slide58.xml"/><Relationship Id="rId68" Type="http://schemas.openxmlformats.org/officeDocument/2006/relationships/handoutMaster" Target="handoutMasters/handoutMaster1.xml"/><Relationship Id="rId7" Type="http://schemas.openxmlformats.org/officeDocument/2006/relationships/slide" Target="slides/slide2.xml"/><Relationship Id="rId71"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61" Type="http://schemas.openxmlformats.org/officeDocument/2006/relationships/slide" Target="slides/slide56.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presProps" Target="presProps.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notesMaster" Target="notesMasters/notesMaster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8685613-ADFF-4141-B66C-A45235623B50}" type="datetimeFigureOut">
              <a:rPr lang="en-US" smtClean="0"/>
              <a:t>2/28/2022</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92E8A8-05A8-499B-9FC4-E546163481AE}" type="slidenum">
              <a:rPr lang="en-US" smtClean="0"/>
              <a:t>‹#›</a:t>
            </a:fld>
            <a:endParaRPr lang="en-US"/>
          </a:p>
        </p:txBody>
      </p:sp>
    </p:spTree>
    <p:extLst>
      <p:ext uri="{BB962C8B-B14F-4D97-AF65-F5344CB8AC3E}">
        <p14:creationId xmlns:p14="http://schemas.microsoft.com/office/powerpoint/2010/main" val="10491195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B1F5199-F7F4-4FB2-A2CD-22A2CFC87608}" type="datetimeFigureOut">
              <a:rPr lang="en-US" smtClean="0"/>
              <a:t>2/28/2022</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56C0744-2FEF-4441-821D-70180A370937}" type="slidenum">
              <a:rPr lang="en-US" smtClean="0"/>
              <a:t>‹#›</a:t>
            </a:fld>
            <a:endParaRPr lang="en-US"/>
          </a:p>
        </p:txBody>
      </p:sp>
    </p:spTree>
    <p:extLst>
      <p:ext uri="{BB962C8B-B14F-4D97-AF65-F5344CB8AC3E}">
        <p14:creationId xmlns:p14="http://schemas.microsoft.com/office/powerpoint/2010/main" val="12717030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56C0744-2FEF-4441-821D-70180A370937}" type="slidenum">
              <a:rPr lang="en-US" smtClean="0"/>
              <a:t>1</a:t>
            </a:fld>
            <a:endParaRPr lang="en-US"/>
          </a:p>
        </p:txBody>
      </p:sp>
    </p:spTree>
    <p:extLst>
      <p:ext uri="{BB962C8B-B14F-4D97-AF65-F5344CB8AC3E}">
        <p14:creationId xmlns:p14="http://schemas.microsoft.com/office/powerpoint/2010/main" val="4862791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6</a:t>
            </a:fld>
            <a:endParaRPr lang="en-US"/>
          </a:p>
        </p:txBody>
      </p:sp>
    </p:spTree>
    <p:extLst>
      <p:ext uri="{BB962C8B-B14F-4D97-AF65-F5344CB8AC3E}">
        <p14:creationId xmlns:p14="http://schemas.microsoft.com/office/powerpoint/2010/main" val="7660329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7</a:t>
            </a:fld>
            <a:endParaRPr lang="en-US"/>
          </a:p>
        </p:txBody>
      </p:sp>
    </p:spTree>
    <p:extLst>
      <p:ext uri="{BB962C8B-B14F-4D97-AF65-F5344CB8AC3E}">
        <p14:creationId xmlns:p14="http://schemas.microsoft.com/office/powerpoint/2010/main" val="24791111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8</a:t>
            </a:fld>
            <a:endParaRPr lang="en-US"/>
          </a:p>
        </p:txBody>
      </p:sp>
    </p:spTree>
    <p:extLst>
      <p:ext uri="{BB962C8B-B14F-4D97-AF65-F5344CB8AC3E}">
        <p14:creationId xmlns:p14="http://schemas.microsoft.com/office/powerpoint/2010/main" val="22831420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2.2  Principal parts of neurons 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Despite differ­ences in size and shape, most neurons have numerous features in common.</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9</a:t>
            </a:fld>
            <a:endParaRPr lang="en-US"/>
          </a:p>
        </p:txBody>
      </p:sp>
    </p:spTree>
    <p:extLst>
      <p:ext uri="{BB962C8B-B14F-4D97-AF65-F5344CB8AC3E}">
        <p14:creationId xmlns:p14="http://schemas.microsoft.com/office/powerpoint/2010/main" val="38636090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10</a:t>
            </a:fld>
            <a:endParaRPr lang="en-US"/>
          </a:p>
        </p:txBody>
      </p:sp>
    </p:spTree>
    <p:extLst>
      <p:ext uri="{BB962C8B-B14F-4D97-AF65-F5344CB8AC3E}">
        <p14:creationId xmlns:p14="http://schemas.microsoft.com/office/powerpoint/2010/main" val="41423293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pPr algn="l"/>
            <a:r>
              <a:rPr lang="en-US" sz="1800" b="0" i="0" u="none" strike="noStrike" baseline="0" dirty="0">
                <a:latin typeface="PalatinoLTStd-Roman"/>
              </a:rPr>
              <a:t>Animal models of mental impairment: individuals with intellectual disabilities have unusually small, immature dendritic spines; which may result from either a failure of maturation of small spines into larger spines or an inability to maintain spine structure. It is impossible to retain knowledge acquired during development without the large spines.</a:t>
            </a:r>
          </a:p>
          <a:p>
            <a:pPr algn="l"/>
            <a:r>
              <a:rPr lang="en-US" sz="1800" b="0" i="0" u="none" strike="noStrike" baseline="0" dirty="0">
                <a:latin typeface="PalatinoLTStd-Roman"/>
              </a:rPr>
              <a:t>Individuals with schizophrenia have dendritic spines of a normal </a:t>
            </a:r>
            <a:r>
              <a:rPr lang="en-US" sz="1800" b="0" i="1" u="none" strike="noStrike" baseline="0" dirty="0">
                <a:latin typeface="PalatinoLTStd-Italic"/>
              </a:rPr>
              <a:t>size </a:t>
            </a:r>
            <a:r>
              <a:rPr lang="en-US" sz="1800" b="0" i="0" u="none" strike="noStrike" baseline="0" dirty="0">
                <a:latin typeface="PalatinoLTStd-Roman"/>
              </a:rPr>
              <a:t>but reduced spine </a:t>
            </a:r>
            <a:r>
              <a:rPr lang="en-US" sz="1800" b="0" i="1" u="none" strike="noStrike" baseline="0" dirty="0">
                <a:latin typeface="PalatinoLTStd-Italic"/>
              </a:rPr>
              <a:t>density</a:t>
            </a:r>
            <a:r>
              <a:rPr lang="en-US" sz="1800" b="0" i="0" u="none" strike="noStrike" baseline="0" dirty="0">
                <a:latin typeface="PalatinoLTStd-Roman"/>
              </a:rPr>
              <a:t>, particularly in the prefrontal cortex.</a:t>
            </a:r>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11</a:t>
            </a:fld>
            <a:endParaRPr lang="en-US"/>
          </a:p>
        </p:txBody>
      </p:sp>
    </p:spTree>
    <p:extLst>
      <p:ext uri="{BB962C8B-B14F-4D97-AF65-F5344CB8AC3E}">
        <p14:creationId xmlns:p14="http://schemas.microsoft.com/office/powerpoint/2010/main" val="38348094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myelin sheath increases speed of conduction along the axon; the thicker the myelin, the faster the conduction.</a:t>
            </a:r>
          </a:p>
          <a:p>
            <a:pPr algn="l"/>
            <a:r>
              <a:rPr lang="en-US" sz="1800" b="0" i="0" u="none" strike="noStrike" baseline="0" dirty="0">
                <a:latin typeface="PalatinoLTStd-Roman"/>
              </a:rPr>
              <a:t>Two types of glial cells: Schwann cells myelinate peripheral nerves that serve muscles, organs, and glands. Oligodendroglia myelinate nerves in brain and spinal cord.</a:t>
            </a:r>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12</a:t>
            </a:fld>
            <a:endParaRPr lang="en-US"/>
          </a:p>
        </p:txBody>
      </p:sp>
    </p:spTree>
    <p:extLst>
      <p:ext uri="{BB962C8B-B14F-4D97-AF65-F5344CB8AC3E}">
        <p14:creationId xmlns:p14="http://schemas.microsoft.com/office/powerpoint/2010/main" val="23092847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pPr algn="l"/>
            <a:r>
              <a:rPr lang="en-US" sz="1800" b="0" i="0" u="none" strike="noStrike" baseline="0" dirty="0">
                <a:latin typeface="PalatinoLTStd-Roman"/>
              </a:rPr>
              <a:t>Although every cell in the body contains the full genetic library of information, each cell type manufactures only those proteins needed for its specific function.</a:t>
            </a:r>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13</a:t>
            </a:fld>
            <a:endParaRPr lang="en-US"/>
          </a:p>
        </p:txBody>
      </p:sp>
    </p:spTree>
    <p:extLst>
      <p:ext uri="{BB962C8B-B14F-4D97-AF65-F5344CB8AC3E}">
        <p14:creationId xmlns:p14="http://schemas.microsoft.com/office/powerpoint/2010/main" val="15045885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14</a:t>
            </a:fld>
            <a:endParaRPr lang="en-US"/>
          </a:p>
        </p:txBody>
      </p:sp>
    </p:spTree>
    <p:extLst>
      <p:ext uri="{BB962C8B-B14F-4D97-AF65-F5344CB8AC3E}">
        <p14:creationId xmlns:p14="http://schemas.microsoft.com/office/powerpoint/2010/main" val="18193170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2.5  Stages of protein synthesis 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Activation of a gene by a transcription factor initiates the formation of mRNA within the nucleus, followed by translation into a protein on the ribosomes in the cytoplasm.</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15</a:t>
            </a:fld>
            <a:endParaRPr lang="en-US"/>
          </a:p>
        </p:txBody>
      </p:sp>
    </p:spTree>
    <p:extLst>
      <p:ext uri="{BB962C8B-B14F-4D97-AF65-F5344CB8AC3E}">
        <p14:creationId xmlns:p14="http://schemas.microsoft.com/office/powerpoint/2010/main" val="25142357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pPr algn="l"/>
            <a:r>
              <a:rPr lang="en-US" sz="1800" b="0" i="0" u="none" strike="noStrike" baseline="0" dirty="0">
                <a:latin typeface="PalatinoLTStd-Roman"/>
              </a:rPr>
              <a:t>Chromatin is a complex of small spherical histone proteins around which the DNA wraps</a:t>
            </a:r>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16</a:t>
            </a:fld>
            <a:endParaRPr lang="en-US"/>
          </a:p>
        </p:txBody>
      </p:sp>
    </p:spTree>
    <p:extLst>
      <p:ext uri="{BB962C8B-B14F-4D97-AF65-F5344CB8AC3E}">
        <p14:creationId xmlns:p14="http://schemas.microsoft.com/office/powerpoint/2010/main" val="29055281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2.6  Epigenetic regulation of gene transcription 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 Chromatin is a complex of DNA, histone proteins, and </a:t>
            </a:r>
            <a:r>
              <a:rPr lang="en-US" sz="1200" kern="1200" dirty="0" err="1">
                <a:solidFill>
                  <a:schemeClr val="tx1"/>
                </a:solidFill>
                <a:effectLst/>
                <a:latin typeface="+mn-lt"/>
                <a:ea typeface="+mn-ea"/>
                <a:cs typeface="+mn-cs"/>
              </a:rPr>
              <a:t>nonhistone</a:t>
            </a:r>
            <a:r>
              <a:rPr lang="en-US" sz="1200" kern="1200" dirty="0">
                <a:solidFill>
                  <a:schemeClr val="tx1"/>
                </a:solidFill>
                <a:effectLst/>
                <a:latin typeface="+mn-lt"/>
                <a:ea typeface="+mn-ea"/>
                <a:cs typeface="+mn-cs"/>
              </a:rPr>
              <a:t> proteins (not shown). (B) When histone tails are acetylated, charges open up the chromatin, creating an active state that allows transcription factors to bind to the promoter region of a gene to enhance transcription. (C) The inactive state of chromatin is caused by methylation of histone tails, which pulls the chromatin tighter and prevents the binding of transcription factors, reducing transcription of the gene. (A after J. M. Levenson and J. D. </a:t>
            </a:r>
            <a:r>
              <a:rPr lang="en-US" sz="1200" kern="1200" dirty="0" err="1">
                <a:solidFill>
                  <a:schemeClr val="tx1"/>
                </a:solidFill>
                <a:effectLst/>
                <a:latin typeface="+mn-lt"/>
                <a:ea typeface="+mn-ea"/>
                <a:cs typeface="+mn-cs"/>
              </a:rPr>
              <a:t>Sweatt</a:t>
            </a:r>
            <a:r>
              <a:rPr lang="en-US" sz="1200" kern="1200" dirty="0">
                <a:solidFill>
                  <a:schemeClr val="tx1"/>
                </a:solidFill>
                <a:effectLst/>
                <a:latin typeface="+mn-lt"/>
                <a:ea typeface="+mn-ea"/>
                <a:cs typeface="+mn-cs"/>
              </a:rPr>
              <a:t>. 2005. </a:t>
            </a:r>
            <a:r>
              <a:rPr lang="en-US" sz="1200" i="1" kern="1200" dirty="0">
                <a:solidFill>
                  <a:schemeClr val="tx1"/>
                </a:solidFill>
                <a:effectLst/>
                <a:latin typeface="+mn-lt"/>
                <a:ea typeface="+mn-ea"/>
                <a:cs typeface="+mn-cs"/>
              </a:rPr>
              <a:t>Nat Rev </a:t>
            </a:r>
            <a:r>
              <a:rPr lang="en-US" sz="1200" i="1" kern="1200" dirty="0" err="1">
                <a:solidFill>
                  <a:schemeClr val="tx1"/>
                </a:solidFill>
                <a:effectLst/>
                <a:latin typeface="+mn-lt"/>
                <a:ea typeface="+mn-ea"/>
                <a:cs typeface="+mn-cs"/>
              </a:rPr>
              <a:t>Neurosci</a:t>
            </a:r>
            <a:r>
              <a:rPr lang="en-US" sz="1200" kern="1200" dirty="0">
                <a:solidFill>
                  <a:schemeClr val="tx1"/>
                </a:solidFill>
                <a:effectLst/>
                <a:latin typeface="+mn-lt"/>
                <a:ea typeface="+mn-ea"/>
                <a:cs typeface="+mn-cs"/>
              </a:rPr>
              <a:t> 6: 108–118. </a:t>
            </a:r>
            <a:r>
              <a:rPr lang="en-US" sz="1200" kern="1200" dirty="0" err="1">
                <a:solidFill>
                  <a:schemeClr val="tx1"/>
                </a:solidFill>
                <a:effectLst/>
                <a:latin typeface="+mn-lt"/>
                <a:ea typeface="+mn-ea"/>
                <a:cs typeface="+mn-cs"/>
              </a:rPr>
              <a:t>doi.org</a:t>
            </a:r>
            <a:r>
              <a:rPr lang="en-US" sz="1200" kern="1200" dirty="0">
                <a:solidFill>
                  <a:schemeClr val="tx1"/>
                </a:solidFill>
                <a:effectLst/>
                <a:latin typeface="+mn-lt"/>
                <a:ea typeface="+mn-ea"/>
                <a:cs typeface="+mn-cs"/>
              </a:rPr>
              <a:t>/10.1038/nrn1604; N. </a:t>
            </a:r>
            <a:r>
              <a:rPr lang="en-US" sz="1200" kern="1200" dirty="0" err="1">
                <a:solidFill>
                  <a:schemeClr val="tx1"/>
                </a:solidFill>
                <a:effectLst/>
                <a:latin typeface="+mn-lt"/>
                <a:ea typeface="+mn-ea"/>
                <a:cs typeface="+mn-cs"/>
              </a:rPr>
              <a:t>Tsankova</a:t>
            </a:r>
            <a:r>
              <a:rPr lang="en-US" sz="1200" kern="1200" dirty="0">
                <a:solidFill>
                  <a:schemeClr val="tx1"/>
                </a:solidFill>
                <a:effectLst/>
                <a:latin typeface="+mn-lt"/>
                <a:ea typeface="+mn-ea"/>
                <a:cs typeface="+mn-cs"/>
              </a:rPr>
              <a:t>, et al. 2007. </a:t>
            </a:r>
            <a:r>
              <a:rPr lang="en-US" sz="1200" i="1" kern="1200" dirty="0">
                <a:solidFill>
                  <a:schemeClr val="tx1"/>
                </a:solidFill>
                <a:effectLst/>
                <a:latin typeface="+mn-lt"/>
                <a:ea typeface="+mn-ea"/>
                <a:cs typeface="+mn-cs"/>
              </a:rPr>
              <a:t>Nat Rev </a:t>
            </a:r>
            <a:r>
              <a:rPr lang="en-US" sz="1200" i="1" kern="1200" dirty="0" err="1">
                <a:solidFill>
                  <a:schemeClr val="tx1"/>
                </a:solidFill>
                <a:effectLst/>
                <a:latin typeface="+mn-lt"/>
                <a:ea typeface="+mn-ea"/>
                <a:cs typeface="+mn-cs"/>
              </a:rPr>
              <a:t>Neurosci</a:t>
            </a:r>
            <a:r>
              <a:rPr lang="en-US" sz="1200" kern="1200" dirty="0">
                <a:solidFill>
                  <a:schemeClr val="tx1"/>
                </a:solidFill>
                <a:effectLst/>
                <a:latin typeface="+mn-lt"/>
                <a:ea typeface="+mn-ea"/>
                <a:cs typeface="+mn-cs"/>
              </a:rPr>
              <a:t> 8: 355–367. </a:t>
            </a:r>
            <a:r>
              <a:rPr lang="en-US" sz="1200" kern="1200" dirty="0" err="1">
                <a:solidFill>
                  <a:schemeClr val="tx1"/>
                </a:solidFill>
                <a:effectLst/>
                <a:latin typeface="+mn-lt"/>
                <a:ea typeface="+mn-ea"/>
                <a:cs typeface="+mn-cs"/>
              </a:rPr>
              <a:t>doi.org</a:t>
            </a:r>
            <a:r>
              <a:rPr lang="en-US" sz="1200" kern="1200" dirty="0">
                <a:solidFill>
                  <a:schemeClr val="tx1"/>
                </a:solidFill>
                <a:effectLst/>
                <a:latin typeface="+mn-lt"/>
                <a:ea typeface="+mn-ea"/>
                <a:cs typeface="+mn-cs"/>
              </a:rPr>
              <a:t>/10.1038/nrn2132; B,C after N. </a:t>
            </a:r>
            <a:r>
              <a:rPr lang="en-US" sz="1200" kern="1200" dirty="0" err="1">
                <a:solidFill>
                  <a:schemeClr val="tx1"/>
                </a:solidFill>
                <a:effectLst/>
                <a:latin typeface="+mn-lt"/>
                <a:ea typeface="+mn-ea"/>
                <a:cs typeface="+mn-cs"/>
              </a:rPr>
              <a:t>Tsankova</a:t>
            </a:r>
            <a:r>
              <a:rPr lang="en-US" sz="1200" kern="1200" dirty="0">
                <a:solidFill>
                  <a:schemeClr val="tx1"/>
                </a:solidFill>
                <a:effectLst/>
                <a:latin typeface="+mn-lt"/>
                <a:ea typeface="+mn-ea"/>
                <a:cs typeface="+mn-cs"/>
              </a:rPr>
              <a:t>, et al. 2007. </a:t>
            </a:r>
            <a:r>
              <a:rPr lang="en-US" sz="1200" i="1" kern="1200" dirty="0">
                <a:solidFill>
                  <a:schemeClr val="tx1"/>
                </a:solidFill>
                <a:effectLst/>
                <a:latin typeface="+mn-lt"/>
                <a:ea typeface="+mn-ea"/>
                <a:cs typeface="+mn-cs"/>
              </a:rPr>
              <a:t>Nat Rev </a:t>
            </a:r>
            <a:r>
              <a:rPr lang="en-US" sz="1200" i="1" kern="1200" dirty="0" err="1">
                <a:solidFill>
                  <a:schemeClr val="tx1"/>
                </a:solidFill>
                <a:effectLst/>
                <a:latin typeface="+mn-lt"/>
                <a:ea typeface="+mn-ea"/>
                <a:cs typeface="+mn-cs"/>
              </a:rPr>
              <a:t>Neurosci</a:t>
            </a:r>
            <a:r>
              <a:rPr lang="en-US" sz="1200" kern="1200" dirty="0">
                <a:solidFill>
                  <a:schemeClr val="tx1"/>
                </a:solidFill>
                <a:effectLst/>
                <a:latin typeface="+mn-lt"/>
                <a:ea typeface="+mn-ea"/>
                <a:cs typeface="+mn-cs"/>
              </a:rPr>
              <a:t> 8: 355–367. </a:t>
            </a:r>
            <a:r>
              <a:rPr lang="en-US" sz="1200" kern="1200" dirty="0" err="1">
                <a:solidFill>
                  <a:schemeClr val="tx1"/>
                </a:solidFill>
                <a:effectLst/>
                <a:latin typeface="+mn-lt"/>
                <a:ea typeface="+mn-ea"/>
                <a:cs typeface="+mn-cs"/>
              </a:rPr>
              <a:t>doi.org</a:t>
            </a:r>
            <a:r>
              <a:rPr lang="en-US" sz="1200" kern="1200" dirty="0">
                <a:solidFill>
                  <a:schemeClr val="tx1"/>
                </a:solidFill>
                <a:effectLst/>
                <a:latin typeface="+mn-lt"/>
                <a:ea typeface="+mn-ea"/>
                <a:cs typeface="+mn-cs"/>
              </a:rPr>
              <a:t>/10.1038/nrn2132.)</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17</a:t>
            </a:fld>
            <a:endParaRPr lang="en-US"/>
          </a:p>
        </p:txBody>
      </p:sp>
    </p:spTree>
    <p:extLst>
      <p:ext uri="{BB962C8B-B14F-4D97-AF65-F5344CB8AC3E}">
        <p14:creationId xmlns:p14="http://schemas.microsoft.com/office/powerpoint/2010/main" val="14909914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r>
              <a:rPr lang="en-US" altLang="en-US" dirty="0"/>
              <a:t>Abnormalities of the cytoskeleton are one of several pathological features of the brain in people with Alzheimer’s disease.</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18</a:t>
            </a:fld>
            <a:endParaRPr lang="en-US"/>
          </a:p>
        </p:txBody>
      </p:sp>
    </p:spTree>
    <p:extLst>
      <p:ext uri="{BB962C8B-B14F-4D97-AF65-F5344CB8AC3E}">
        <p14:creationId xmlns:p14="http://schemas.microsoft.com/office/powerpoint/2010/main" val="13872716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FIGURE 2.7  Axoplasmic transport </a:t>
            </a:r>
            <a:br>
              <a:rPr lang="en-US" sz="1200" b="1"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movement of newly synthesized proteins from the soma to the axon terminals (anterograde) is powered along the microtubules by a motor protein called kinesin. Old proteins are carried from the terminals to the soma (retrograde) by the motor protein dynein.</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19</a:t>
            </a:fld>
            <a:endParaRPr lang="en-US"/>
          </a:p>
        </p:txBody>
      </p:sp>
    </p:spTree>
    <p:extLst>
      <p:ext uri="{BB962C8B-B14F-4D97-AF65-F5344CB8AC3E}">
        <p14:creationId xmlns:p14="http://schemas.microsoft.com/office/powerpoint/2010/main" val="40569374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Receptors</a:t>
            </a:r>
            <a:r>
              <a:rPr lang="en-US" dirty="0"/>
              <a:t>—initial sites of action of neurotransmitters, hormones, and drugs.</a:t>
            </a:r>
          </a:p>
          <a:p>
            <a:pPr algn="l"/>
            <a:r>
              <a:rPr lang="en-US" sz="1800" b="0" i="0" u="none" strike="noStrike" baseline="0" dirty="0">
                <a:latin typeface="PalatinoLTStd-Roman"/>
              </a:rPr>
              <a:t>Membrane enzymes catalyze biochemical reactions in the cell .</a:t>
            </a:r>
          </a:p>
          <a:p>
            <a:pPr algn="l"/>
            <a:r>
              <a:rPr lang="en-US" dirty="0"/>
              <a:t>Ion channels and transporters move charged molecules, such as amino acids, glucose, and metabolic products.</a:t>
            </a:r>
          </a:p>
          <a:p>
            <a:pPr algn="l"/>
            <a:r>
              <a:rPr lang="en-US" dirty="0"/>
              <a:t>Ion channels are specific for only one or two ions. Ions move in the direction of the concentration gradient.</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20</a:t>
            </a:fld>
            <a:endParaRPr lang="en-US"/>
          </a:p>
        </p:txBody>
      </p:sp>
    </p:spTree>
    <p:extLst>
      <p:ext uri="{BB962C8B-B14F-4D97-AF65-F5344CB8AC3E}">
        <p14:creationId xmlns:p14="http://schemas.microsoft.com/office/powerpoint/2010/main" val="5406665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2.8  Ion channels 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 When a ligand (neurotransmitter, hormone, or drug) binds to a receptor on the channel, the ligand-gated channel protein changes shape and opens the gate, allowing passage of a specific ion. (B) A voltage-­gated channel is opened when the electrical potential across the membrane near the channel is altered. (C) Modification of a channel by a second messenger, which produces intracellular phosphorylation (addition of a phosphate group) and regulates the state of the channel. (After S. A. </a:t>
            </a:r>
            <a:r>
              <a:rPr lang="en-US" sz="1200" kern="1200" dirty="0" err="1">
                <a:solidFill>
                  <a:schemeClr val="tx1"/>
                </a:solidFill>
                <a:effectLst/>
                <a:latin typeface="+mn-lt"/>
                <a:ea typeface="+mn-ea"/>
                <a:cs typeface="+mn-cs"/>
              </a:rPr>
              <a:t>Siegelbaum</a:t>
            </a:r>
            <a:r>
              <a:rPr lang="en-US" sz="1200" kern="1200" dirty="0">
                <a:solidFill>
                  <a:schemeClr val="tx1"/>
                </a:solidFill>
                <a:effectLst/>
                <a:latin typeface="+mn-lt"/>
                <a:ea typeface="+mn-ea"/>
                <a:cs typeface="+mn-cs"/>
              </a:rPr>
              <a:t> and J. Koester. 2000. In </a:t>
            </a:r>
            <a:r>
              <a:rPr lang="en-US" sz="1200" i="1" kern="1200" dirty="0">
                <a:solidFill>
                  <a:schemeClr val="tx1"/>
                </a:solidFill>
                <a:effectLst/>
                <a:latin typeface="+mn-lt"/>
                <a:ea typeface="+mn-ea"/>
                <a:cs typeface="+mn-cs"/>
              </a:rPr>
              <a:t>Principles of Neural Science</a:t>
            </a:r>
            <a:r>
              <a:rPr lang="en-US" sz="1200" kern="1200" dirty="0">
                <a:solidFill>
                  <a:schemeClr val="tx1"/>
                </a:solidFill>
                <a:effectLst/>
                <a:latin typeface="+mn-lt"/>
                <a:ea typeface="+mn-ea"/>
                <a:cs typeface="+mn-cs"/>
              </a:rPr>
              <a:t>, 4th ed., E. R. Kandel et al. [Eds.], pp.105–124. McGraw-Hill: New York. © McGraw-Hill.)</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21</a:t>
            </a:fld>
            <a:endParaRPr lang="en-US"/>
          </a:p>
        </p:txBody>
      </p:sp>
    </p:spTree>
    <p:extLst>
      <p:ext uri="{BB962C8B-B14F-4D97-AF65-F5344CB8AC3E}">
        <p14:creationId xmlns:p14="http://schemas.microsoft.com/office/powerpoint/2010/main" val="37971376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22</a:t>
            </a:fld>
            <a:endParaRPr lang="en-US"/>
          </a:p>
        </p:txBody>
      </p:sp>
    </p:spTree>
    <p:extLst>
      <p:ext uri="{BB962C8B-B14F-4D97-AF65-F5344CB8AC3E}">
        <p14:creationId xmlns:p14="http://schemas.microsoft.com/office/powerpoint/2010/main" val="34069769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r>
              <a:rPr lang="en-US" dirty="0"/>
              <a:t>Correct answer: c</a:t>
            </a:r>
          </a:p>
        </p:txBody>
      </p:sp>
      <p:sp>
        <p:nvSpPr>
          <p:cNvPr id="4" name="Slide Number Placeholder 3"/>
          <p:cNvSpPr>
            <a:spLocks noGrp="1"/>
          </p:cNvSpPr>
          <p:nvPr>
            <p:ph type="sldNum" sz="quarter" idx="5"/>
          </p:nvPr>
        </p:nvSpPr>
        <p:spPr/>
        <p:txBody>
          <a:bodyPr/>
          <a:lstStyle/>
          <a:p>
            <a:fld id="{556C0744-2FEF-4441-821D-70180A370937}" type="slidenum">
              <a:rPr lang="en-US" smtClean="0"/>
              <a:t>23</a:t>
            </a:fld>
            <a:endParaRPr lang="en-US"/>
          </a:p>
        </p:txBody>
      </p:sp>
    </p:spTree>
    <p:extLst>
      <p:ext uri="{BB962C8B-B14F-4D97-AF65-F5344CB8AC3E}">
        <p14:creationId xmlns:p14="http://schemas.microsoft.com/office/powerpoint/2010/main" val="25842292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pPr algn="l"/>
            <a:r>
              <a:rPr lang="en-US" sz="1800" b="0" i="0" u="none" strike="noStrike" baseline="0" dirty="0">
                <a:latin typeface="PalatinoLTStd-Roman"/>
              </a:rPr>
              <a:t>Selective permeability of the membrane and uneven distribution of ions inside and outside the cell are responsible for the membrane potential.</a:t>
            </a:r>
          </a:p>
          <a:p>
            <a:pPr algn="l"/>
            <a:r>
              <a:rPr lang="en-US" sz="1800" b="0" i="0" u="none" strike="noStrike" baseline="0" dirty="0">
                <a:latin typeface="PalatinoLTStd-Roman"/>
              </a:rPr>
              <a:t>When the two forces on K+ (inward electrostatic pressure and outward concentration gradient) are balanced at the </a:t>
            </a:r>
            <a:r>
              <a:rPr lang="en-US" sz="1800" b="1" i="0" u="none" strike="noStrike" baseline="0" dirty="0">
                <a:latin typeface="DINPro-Bold"/>
              </a:rPr>
              <a:t>equilibrium potential for potassium</a:t>
            </a:r>
            <a:r>
              <a:rPr lang="en-US" sz="1800" b="0" i="0" u="none" strike="noStrike" baseline="0" dirty="0">
                <a:latin typeface="PalatinoLTStd-Roman"/>
              </a:rPr>
              <a:t>, the membrane potential is still more negative inside (−70 mV).</a:t>
            </a:r>
          </a:p>
          <a:p>
            <a:pPr algn="l"/>
            <a:r>
              <a:rPr lang="en-US" dirty="0"/>
              <a:t>It requires energy (ATP) to move ions against their concentration gradients.</a:t>
            </a:r>
          </a:p>
        </p:txBody>
      </p:sp>
      <p:sp>
        <p:nvSpPr>
          <p:cNvPr id="4" name="Slide Number Placeholder 3"/>
          <p:cNvSpPr>
            <a:spLocks noGrp="1"/>
          </p:cNvSpPr>
          <p:nvPr>
            <p:ph type="sldNum" sz="quarter" idx="5"/>
          </p:nvPr>
        </p:nvSpPr>
        <p:spPr/>
        <p:txBody>
          <a:bodyPr/>
          <a:lstStyle/>
          <a:p>
            <a:fld id="{556C0744-2FEF-4441-821D-70180A370937}" type="slidenum">
              <a:rPr lang="en-US" smtClean="0"/>
              <a:t>25</a:t>
            </a:fld>
            <a:endParaRPr lang="en-US"/>
          </a:p>
        </p:txBody>
      </p:sp>
    </p:spTree>
    <p:extLst>
      <p:ext uri="{BB962C8B-B14F-4D97-AF65-F5344CB8AC3E}">
        <p14:creationId xmlns:p14="http://schemas.microsoft.com/office/powerpoint/2010/main" val="29355599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2.11  Distribution of ions inside and outside a neuron at resting potential </a:t>
            </a:r>
            <a:br>
              <a:rPr lang="en-US" sz="1200" b="1"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Na</a:t>
            </a:r>
            <a:r>
              <a:rPr lang="en-US" sz="1200" kern="1200" baseline="300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and Cl</a:t>
            </a:r>
            <a:r>
              <a:rPr lang="en-US" sz="1200" kern="1200" baseline="300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are more concentrated outside the cell and cannot move in freely through their gated channels. Some K</a:t>
            </a:r>
            <a:r>
              <a:rPr lang="en-US" sz="1200" kern="1200" baseline="300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channels are not gated, allowing the concentration of the ion to force K</a:t>
            </a:r>
            <a:r>
              <a:rPr lang="en-US" sz="1200" kern="1200" baseline="300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outward while electrostatically it is pulled in. At −70 mV, equilibrium between the two forces is reached. The Na</a:t>
            </a:r>
            <a:r>
              <a:rPr lang="en-US" sz="1200" kern="1200" baseline="300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–K</a:t>
            </a:r>
            <a:r>
              <a:rPr lang="en-US" sz="1200" kern="1200" baseline="300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pump helps to maintain the ion distribution. It requires significant energy (ATP) to move ions against their concentration gradients.</a:t>
            </a:r>
          </a:p>
        </p:txBody>
      </p:sp>
      <p:sp>
        <p:nvSpPr>
          <p:cNvPr id="4" name="Slide Number Placeholder 3"/>
          <p:cNvSpPr>
            <a:spLocks noGrp="1"/>
          </p:cNvSpPr>
          <p:nvPr>
            <p:ph type="sldNum" sz="quarter" idx="5"/>
          </p:nvPr>
        </p:nvSpPr>
        <p:spPr/>
        <p:txBody>
          <a:bodyPr/>
          <a:lstStyle/>
          <a:p>
            <a:fld id="{556C0744-2FEF-4441-821D-70180A370937}" type="slidenum">
              <a:rPr lang="en-US" smtClean="0"/>
              <a:t>26</a:t>
            </a:fld>
            <a:endParaRPr lang="en-US"/>
          </a:p>
        </p:txBody>
      </p:sp>
    </p:spTree>
    <p:extLst>
      <p:ext uri="{BB962C8B-B14F-4D97-AF65-F5344CB8AC3E}">
        <p14:creationId xmlns:p14="http://schemas.microsoft.com/office/powerpoint/2010/main" val="24975683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27</a:t>
            </a:fld>
            <a:endParaRPr lang="en-US"/>
          </a:p>
        </p:txBody>
      </p:sp>
    </p:spTree>
    <p:extLst>
      <p:ext uri="{BB962C8B-B14F-4D97-AF65-F5344CB8AC3E}">
        <p14:creationId xmlns:p14="http://schemas.microsoft.com/office/powerpoint/2010/main" val="39134005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28</a:t>
            </a:fld>
            <a:endParaRPr lang="en-US"/>
          </a:p>
        </p:txBody>
      </p:sp>
    </p:spTree>
    <p:extLst>
      <p:ext uri="{BB962C8B-B14F-4D97-AF65-F5344CB8AC3E}">
        <p14:creationId xmlns:p14="http://schemas.microsoft.com/office/powerpoint/2010/main" val="21453788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29</a:t>
            </a:fld>
            <a:endParaRPr lang="en-US"/>
          </a:p>
        </p:txBody>
      </p:sp>
    </p:spTree>
    <p:extLst>
      <p:ext uri="{BB962C8B-B14F-4D97-AF65-F5344CB8AC3E}">
        <p14:creationId xmlns:p14="http://schemas.microsoft.com/office/powerpoint/2010/main" val="20272461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2.14  Stages of the action potential 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Opening and closing of Na</a:t>
            </a:r>
            <a:r>
              <a:rPr lang="en-US" sz="1200" kern="1200" baseline="300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and K</a:t>
            </a:r>
            <a:r>
              <a:rPr lang="en-US" sz="1200" kern="1200" baseline="300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channels are responsible for the characteristic shape of the action potential.</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30</a:t>
            </a:fld>
            <a:endParaRPr lang="en-US"/>
          </a:p>
        </p:txBody>
      </p:sp>
    </p:spTree>
    <p:extLst>
      <p:ext uri="{BB962C8B-B14F-4D97-AF65-F5344CB8AC3E}">
        <p14:creationId xmlns:p14="http://schemas.microsoft.com/office/powerpoint/2010/main" val="13367005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Action potentials are </a:t>
            </a:r>
            <a:r>
              <a:rPr lang="ja-JP" altLang="en-US" dirty="0"/>
              <a:t>“</a:t>
            </a:r>
            <a:r>
              <a:rPr lang="en-US" altLang="ja-JP" dirty="0"/>
              <a:t>all or none</a:t>
            </a:r>
            <a:r>
              <a:rPr lang="ja-JP" altLang="en-US" dirty="0"/>
              <a:t>”</a:t>
            </a:r>
            <a:r>
              <a:rPr lang="en-US" dirty="0"/>
              <a:t>—</a:t>
            </a:r>
            <a:r>
              <a:rPr lang="en-US" altLang="ja-JP" dirty="0"/>
              <a:t>size is unrelated to amount of stimulation.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Action potential moves along axon because Na</a:t>
            </a:r>
            <a:r>
              <a:rPr lang="en-US" baseline="30000" dirty="0"/>
              <a:t>+</a:t>
            </a:r>
            <a:r>
              <a:rPr lang="en-US" dirty="0"/>
              <a:t> ions spread passively to nearby regions, which changes the membrane potential to threshold, opening more Na</a:t>
            </a:r>
            <a:r>
              <a:rPr lang="en-US" baseline="30000" dirty="0"/>
              <a:t>+</a:t>
            </a:r>
            <a:r>
              <a:rPr lang="en-US" dirty="0"/>
              <a:t> channels.</a:t>
            </a:r>
          </a:p>
          <a:p>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31</a:t>
            </a:fld>
            <a:endParaRPr lang="en-US"/>
          </a:p>
        </p:txBody>
      </p:sp>
    </p:spTree>
    <p:extLst>
      <p:ext uri="{BB962C8B-B14F-4D97-AF65-F5344CB8AC3E}">
        <p14:creationId xmlns:p14="http://schemas.microsoft.com/office/powerpoint/2010/main" val="19382724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2.15  Conduction along myelinated axons 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generation of the action potential at one node spreads depolarization along the axon, which in turn changes the membrane potential to threshold and opens voltage-gated Na+ channels at the next node of Ranvier.</a:t>
            </a:r>
          </a:p>
          <a:p>
            <a:pPr fontAlgn="ctr"/>
            <a:r>
              <a:rPr lang="en-US" sz="1200" kern="1200" cap="all"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32</a:t>
            </a:fld>
            <a:endParaRPr lang="en-US"/>
          </a:p>
        </p:txBody>
      </p:sp>
    </p:spTree>
    <p:extLst>
      <p:ext uri="{BB962C8B-B14F-4D97-AF65-F5344CB8AC3E}">
        <p14:creationId xmlns:p14="http://schemas.microsoft.com/office/powerpoint/2010/main" val="13677372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33</a:t>
            </a:fld>
            <a:endParaRPr lang="en-US"/>
          </a:p>
        </p:txBody>
      </p:sp>
    </p:spTree>
    <p:extLst>
      <p:ext uri="{BB962C8B-B14F-4D97-AF65-F5344CB8AC3E}">
        <p14:creationId xmlns:p14="http://schemas.microsoft.com/office/powerpoint/2010/main" val="16426622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r>
              <a:rPr lang="en-US" dirty="0"/>
              <a:t>Correct answer: a</a:t>
            </a:r>
          </a:p>
        </p:txBody>
      </p:sp>
      <p:sp>
        <p:nvSpPr>
          <p:cNvPr id="4" name="Slide Number Placeholder 3"/>
          <p:cNvSpPr>
            <a:spLocks noGrp="1"/>
          </p:cNvSpPr>
          <p:nvPr>
            <p:ph type="sldNum" sz="quarter" idx="5"/>
          </p:nvPr>
        </p:nvSpPr>
        <p:spPr/>
        <p:txBody>
          <a:bodyPr/>
          <a:lstStyle/>
          <a:p>
            <a:fld id="{556C0744-2FEF-4441-821D-70180A370937}" type="slidenum">
              <a:rPr lang="en-US" smtClean="0"/>
              <a:t>34</a:t>
            </a:fld>
            <a:endParaRPr lang="en-US"/>
          </a:p>
        </p:txBody>
      </p:sp>
    </p:spTree>
    <p:extLst>
      <p:ext uri="{BB962C8B-B14F-4D97-AF65-F5344CB8AC3E}">
        <p14:creationId xmlns:p14="http://schemas.microsoft.com/office/powerpoint/2010/main" val="415487562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36</a:t>
            </a:fld>
            <a:endParaRPr lang="en-US"/>
          </a:p>
        </p:txBody>
      </p:sp>
    </p:spTree>
    <p:extLst>
      <p:ext uri="{BB962C8B-B14F-4D97-AF65-F5344CB8AC3E}">
        <p14:creationId xmlns:p14="http://schemas.microsoft.com/office/powerpoint/2010/main" val="23300090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2.16  The central and peripheral nervous systems 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 The brain and spinal cord, shown in yellow, make up the central nervous system (CNS). The peripheral nervous system (PNS), shown in purple, connects all parts of the body to the CNS. (B) Organization of the nervous system: internal and external environments send sensory information by way of peripheral nerves to the CNS, where neural circuits analyze and integrate the information before sending signals to regulate muscle and internal organ function.</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37</a:t>
            </a:fld>
            <a:endParaRPr lang="en-US"/>
          </a:p>
        </p:txBody>
      </p:sp>
    </p:spTree>
    <p:extLst>
      <p:ext uri="{BB962C8B-B14F-4D97-AF65-F5344CB8AC3E}">
        <p14:creationId xmlns:p14="http://schemas.microsoft.com/office/powerpoint/2010/main" val="82938179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sz="1800" b="0" i="0" u="none" strike="noStrike" baseline="0" dirty="0">
                <a:latin typeface="PalatinoLTStd-Roman"/>
              </a:rPr>
              <a:t>The </a:t>
            </a:r>
            <a:r>
              <a:rPr lang="en-US" sz="1800" b="0" i="0" u="none" strike="noStrike" baseline="0" dirty="0" err="1">
                <a:latin typeface="PalatinoLTStd-Roman"/>
              </a:rPr>
              <a:t>vagus</a:t>
            </a:r>
            <a:r>
              <a:rPr lang="en-US" sz="1800" b="0" i="0" u="none" strike="noStrike" baseline="0" dirty="0">
                <a:latin typeface="PalatinoLTStd-Roman"/>
              </a:rPr>
              <a:t> nerve (cranial nerve X) is unique among the cranial nerves because it communicates with numerous organs in the viscera, including heart, lungs, and gastrointestinal tract. The </a:t>
            </a:r>
            <a:r>
              <a:rPr lang="en-US" sz="1800" b="0" i="0" u="none" strike="noStrike" baseline="0" dirty="0" err="1">
                <a:latin typeface="PalatinoLTStd-Roman"/>
              </a:rPr>
              <a:t>vagus</a:t>
            </a:r>
            <a:endParaRPr lang="en-US" sz="1800" b="0" i="0" u="none" strike="noStrike" baseline="0" dirty="0">
              <a:latin typeface="PalatinoLTStd-Roman"/>
            </a:endParaRPr>
          </a:p>
          <a:p>
            <a:pPr algn="l"/>
            <a:r>
              <a:rPr lang="en-US" sz="1800" b="0" i="0" u="none" strike="noStrike" baseline="0" dirty="0">
                <a:latin typeface="PalatinoLTStd-Roman"/>
              </a:rPr>
              <a:t>consists of both sensory and motor neurons.</a:t>
            </a:r>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38</a:t>
            </a:fld>
            <a:endParaRPr lang="en-US"/>
          </a:p>
        </p:txBody>
      </p:sp>
    </p:spTree>
    <p:extLst>
      <p:ext uri="{BB962C8B-B14F-4D97-AF65-F5344CB8AC3E}">
        <p14:creationId xmlns:p14="http://schemas.microsoft.com/office/powerpoint/2010/main" val="234088232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2.17  Spinal nerves of the peripheral nervous system (PNS) 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Cross-section of the spinal cord shows mixed spinal nerves with sensory afferents entering the dorsal horn and motor </a:t>
            </a:r>
            <a:r>
              <a:rPr lang="en-US" sz="1200" kern="1200" dirty="0" err="1">
                <a:solidFill>
                  <a:schemeClr val="tx1"/>
                </a:solidFill>
                <a:effectLst/>
                <a:latin typeface="+mn-lt"/>
                <a:ea typeface="+mn-ea"/>
                <a:cs typeface="+mn-cs"/>
              </a:rPr>
              <a:t>efferents</a:t>
            </a:r>
            <a:r>
              <a:rPr lang="en-US" sz="1200" kern="1200" dirty="0">
                <a:solidFill>
                  <a:schemeClr val="tx1"/>
                </a:solidFill>
                <a:effectLst/>
                <a:latin typeface="+mn-lt"/>
                <a:ea typeface="+mn-ea"/>
                <a:cs typeface="+mn-cs"/>
              </a:rPr>
              <a:t> leaving the ventral horn to innervate skeletal muscles. Note that the soma for the afferent neuron is in the dorsal root ganglion.</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39</a:t>
            </a:fld>
            <a:endParaRPr lang="en-US"/>
          </a:p>
        </p:txBody>
      </p:sp>
    </p:spTree>
    <p:extLst>
      <p:ext uri="{BB962C8B-B14F-4D97-AF65-F5344CB8AC3E}">
        <p14:creationId xmlns:p14="http://schemas.microsoft.com/office/powerpoint/2010/main" val="165002516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r>
              <a:rPr lang="en-US" altLang="en-US" dirty="0"/>
              <a:t>Sympathetic division increases heart rate and blood pressure, stimulates secretion of adrenaline, and increases blood flow to skeletal muscles.</a:t>
            </a:r>
          </a:p>
          <a:p>
            <a:r>
              <a:rPr lang="en-US" b="0" u="none" dirty="0"/>
              <a:t>Parasympathetic division </a:t>
            </a:r>
            <a:r>
              <a:rPr lang="en-US" dirty="0"/>
              <a:t>increases salivation, digestion, and storage of glucose and other nutrients, slows heart rate and decreases respiration.</a:t>
            </a:r>
            <a:endParaRPr lang="en-US" b="0"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40</a:t>
            </a:fld>
            <a:endParaRPr lang="en-US"/>
          </a:p>
        </p:txBody>
      </p:sp>
    </p:spTree>
    <p:extLst>
      <p:ext uri="{BB962C8B-B14F-4D97-AF65-F5344CB8AC3E}">
        <p14:creationId xmlns:p14="http://schemas.microsoft.com/office/powerpoint/2010/main" val="157318583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2.18  Autonomic nervous system (ANS)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internal organs, smooth muscles, and glands served by the ANS have both sympathetic and parasympathetic regulation. The two divisions have opposing effects on the organs; the sympathetic effects prepare the individual for action, and the parasympathetic effects serve to generate and store energy and reduce energy expenditure. Acetylcholine is the neuro­trans­mitter released in all autonomic ganglia because preganglionic fibers are cholinergic neurons. At the target organs, the parasympathetic neurons release acetylcholine once again, while sympathetic neurons (noradrenergic neurons) release norepinephrine. Their anatomical and neuro­transmitter differences are described in the text and are summarized in Table 2.3.</a:t>
            </a:r>
            <a:r>
              <a:rPr lang="en-US" dirty="0">
                <a:effectLst/>
              </a:rPr>
              <a:t> </a:t>
            </a:r>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41</a:t>
            </a:fld>
            <a:endParaRPr lang="en-US"/>
          </a:p>
        </p:txBody>
      </p:sp>
    </p:spTree>
    <p:extLst>
      <p:ext uri="{BB962C8B-B14F-4D97-AF65-F5344CB8AC3E}">
        <p14:creationId xmlns:p14="http://schemas.microsoft.com/office/powerpoint/2010/main" val="362292226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r>
              <a:rPr lang="en-US" dirty="0"/>
              <a:t>Many psychotherapeutic drugs alter norepinephrine or acetylcholine in the brain to relieve symptoms. Altering these neurotransmitters in the peripheral nerves can produce side effects, such as elevated blood pressure, dry mouth, and urinary problems.</a:t>
            </a:r>
          </a:p>
          <a:p>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42</a:t>
            </a:fld>
            <a:endParaRPr lang="en-US"/>
          </a:p>
        </p:txBody>
      </p:sp>
    </p:spTree>
    <p:extLst>
      <p:ext uri="{BB962C8B-B14F-4D97-AF65-F5344CB8AC3E}">
        <p14:creationId xmlns:p14="http://schemas.microsoft.com/office/powerpoint/2010/main" val="94206821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dirty="0"/>
              <a:t>Capillaries in the choroid plexus don’t</a:t>
            </a:r>
            <a:r>
              <a:rPr lang="en-US" altLang="ja-JP" dirty="0"/>
              <a:t> have tight junctions (no blood–brain barrier). </a:t>
            </a:r>
            <a:r>
              <a:rPr lang="en-US" sz="1800" b="0" i="0" u="none" strike="noStrike" baseline="0" dirty="0">
                <a:latin typeface="PalatinoLTStd-Roman"/>
              </a:rPr>
              <a:t>CSF helps in the exchange of nutrients and waste products between the brain and the blood.</a:t>
            </a:r>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43</a:t>
            </a:fld>
            <a:endParaRPr lang="en-US"/>
          </a:p>
        </p:txBody>
      </p:sp>
    </p:spTree>
    <p:extLst>
      <p:ext uri="{BB962C8B-B14F-4D97-AF65-F5344CB8AC3E}">
        <p14:creationId xmlns:p14="http://schemas.microsoft.com/office/powerpoint/2010/main" val="134752599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sz="1800" b="0" i="0" u="none" strike="noStrike" baseline="0" dirty="0">
                <a:latin typeface="PalatinoLTStd-Roman"/>
              </a:rPr>
              <a:t>In the PNS, clusters of cell bodies are called </a:t>
            </a:r>
            <a:r>
              <a:rPr lang="en-US" sz="1800" b="1" i="0" u="none" strike="noStrike" baseline="0" dirty="0">
                <a:latin typeface="DINPro-Bold"/>
              </a:rPr>
              <a:t>ganglia </a:t>
            </a:r>
            <a:r>
              <a:rPr lang="en-US" sz="1800" b="0" i="0" u="none" strike="noStrike" baseline="0" dirty="0">
                <a:latin typeface="PalatinoLTStd-Roman"/>
              </a:rPr>
              <a:t>and bundles of axons are called </a:t>
            </a:r>
            <a:r>
              <a:rPr lang="en-US" sz="1800" b="1" i="0" u="none" strike="noStrike" baseline="0" dirty="0">
                <a:latin typeface="DINPro-Bold"/>
              </a:rPr>
              <a:t>nerves</a:t>
            </a:r>
            <a:r>
              <a:rPr lang="en-US" sz="1800" b="0" i="0" u="none" strike="noStrike" baseline="0" dirty="0">
                <a:latin typeface="PalatinoLTStd-Roman"/>
              </a:rPr>
              <a:t>.</a:t>
            </a:r>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44</a:t>
            </a:fld>
            <a:endParaRPr lang="en-US"/>
          </a:p>
        </p:txBody>
      </p:sp>
    </p:spTree>
    <p:extLst>
      <p:ext uri="{BB962C8B-B14F-4D97-AF65-F5344CB8AC3E}">
        <p14:creationId xmlns:p14="http://schemas.microsoft.com/office/powerpoint/2010/main" val="308220537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2.19  Divisions of the central nervous system (CNS) 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 Beginning with the primitive neural tube in the human embryo, the CNS develops rapidly. By day 50 of gestation, the six divisions of the adult CNS are apparent in the fetus. (B) The organization of the CNS (brain and spinal cord) presented in the table is color-coded to match the divisions shown in the adult brain (sagittal section) (C).</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45</a:t>
            </a:fld>
            <a:endParaRPr lang="en-US"/>
          </a:p>
        </p:txBody>
      </p:sp>
    </p:spTree>
    <p:extLst>
      <p:ext uri="{BB962C8B-B14F-4D97-AF65-F5344CB8AC3E}">
        <p14:creationId xmlns:p14="http://schemas.microsoft.com/office/powerpoint/2010/main" val="358868678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46</a:t>
            </a:fld>
            <a:endParaRPr lang="en-US"/>
          </a:p>
        </p:txBody>
      </p:sp>
    </p:spTree>
    <p:extLst>
      <p:ext uri="{BB962C8B-B14F-4D97-AF65-F5344CB8AC3E}">
        <p14:creationId xmlns:p14="http://schemas.microsoft.com/office/powerpoint/2010/main" val="130115595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Much of the brainstem volume is made up of ascending and descending axons between spinal cord and higher brain regions.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Area postrema</a:t>
            </a:r>
            <a:r>
              <a:rPr lang="en-US" b="0" dirty="0"/>
              <a:t> in the medulla</a:t>
            </a:r>
            <a:r>
              <a:rPr lang="en-US" dirty="0"/>
              <a:t> the vomiting center, has a reduced blood–brain barrier; initiates vomiting in response to toxins.</a:t>
            </a:r>
          </a:p>
          <a:p>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47</a:t>
            </a:fld>
            <a:endParaRPr lang="en-US"/>
          </a:p>
        </p:txBody>
      </p:sp>
    </p:spTree>
    <p:extLst>
      <p:ext uri="{BB962C8B-B14F-4D97-AF65-F5344CB8AC3E}">
        <p14:creationId xmlns:p14="http://schemas.microsoft.com/office/powerpoint/2010/main" val="284934585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48</a:t>
            </a:fld>
            <a:endParaRPr lang="en-US"/>
          </a:p>
        </p:txBody>
      </p:sp>
    </p:spTree>
    <p:extLst>
      <p:ext uri="{BB962C8B-B14F-4D97-AF65-F5344CB8AC3E}">
        <p14:creationId xmlns:p14="http://schemas.microsoft.com/office/powerpoint/2010/main" val="39200785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49</a:t>
            </a:fld>
            <a:endParaRPr lang="en-US"/>
          </a:p>
        </p:txBody>
      </p:sp>
    </p:spTree>
    <p:extLst>
      <p:ext uri="{BB962C8B-B14F-4D97-AF65-F5344CB8AC3E}">
        <p14:creationId xmlns:p14="http://schemas.microsoft.com/office/powerpoint/2010/main" val="53060060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Cell death in the substantia nigra is the cause of Parkinson</a:t>
            </a:r>
            <a:r>
              <a:rPr lang="ja-JP" altLang="en-US" dirty="0"/>
              <a:t>’</a:t>
            </a:r>
            <a:r>
              <a:rPr lang="en-US" altLang="ja-JP" dirty="0"/>
              <a:t>s disease.</a:t>
            </a:r>
            <a:endParaRPr lang="en-US" dirty="0"/>
          </a:p>
          <a:p>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50</a:t>
            </a:fld>
            <a:endParaRPr lang="en-US"/>
          </a:p>
        </p:txBody>
      </p:sp>
    </p:spTree>
    <p:extLst>
      <p:ext uri="{BB962C8B-B14F-4D97-AF65-F5344CB8AC3E}">
        <p14:creationId xmlns:p14="http://schemas.microsoft.com/office/powerpoint/2010/main" val="225532786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u="none" dirty="0"/>
              <a:t>The thalamus </a:t>
            </a:r>
            <a:r>
              <a:rPr lang="en-US" dirty="0"/>
              <a:t>allows cortex to focus on selective sensory signals, and diminishes significance of others.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Hypothalamus regulates body temperature, </a:t>
            </a:r>
            <a:r>
              <a:rPr lang="en-US" dirty="0" err="1"/>
              <a:t>salt</a:t>
            </a:r>
            <a:r>
              <a:rPr lang="en-US" dirty="0" err="1">
                <a:sym typeface="Symbol"/>
              </a:rPr>
              <a:t></a:t>
            </a:r>
            <a:r>
              <a:rPr lang="en-US" dirty="0" err="1"/>
              <a:t>water</a:t>
            </a:r>
            <a:r>
              <a:rPr lang="en-US" dirty="0"/>
              <a:t> balance, hunger, thirst, energy metabolism, reproductive behaviors, and emotional responses.</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51</a:t>
            </a:fld>
            <a:endParaRPr lang="en-US"/>
          </a:p>
        </p:txBody>
      </p:sp>
    </p:spTree>
    <p:extLst>
      <p:ext uri="{BB962C8B-B14F-4D97-AF65-F5344CB8AC3E}">
        <p14:creationId xmlns:p14="http://schemas.microsoft.com/office/powerpoint/2010/main" val="395536230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52</a:t>
            </a:fld>
            <a:endParaRPr lang="en-US"/>
          </a:p>
        </p:txBody>
      </p:sp>
    </p:spTree>
    <p:extLst>
      <p:ext uri="{BB962C8B-B14F-4D97-AF65-F5344CB8AC3E}">
        <p14:creationId xmlns:p14="http://schemas.microsoft.com/office/powerpoint/2010/main" val="286316203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cap="all" dirty="0">
                <a:solidFill>
                  <a:schemeClr val="tx1"/>
                </a:solidFill>
                <a:effectLst/>
                <a:latin typeface="+mn-lt"/>
                <a:ea typeface="+mn-ea"/>
                <a:cs typeface="+mn-cs"/>
              </a:rPr>
              <a:t>Box 2.5  </a:t>
            </a:r>
            <a:r>
              <a:rPr lang="en-US" sz="1200" b="1" kern="1200" dirty="0">
                <a:solidFill>
                  <a:schemeClr val="tx1"/>
                </a:solidFill>
                <a:effectLst/>
                <a:latin typeface="+mn-lt"/>
                <a:ea typeface="+mn-ea"/>
                <a:cs typeface="+mn-cs"/>
              </a:rPr>
              <a:t>Of Special Interest: </a:t>
            </a:r>
            <a:r>
              <a:rPr lang="en-US" sz="1200" b="1" i="0" u="none" strike="noStrike" kern="1200" baseline="0" dirty="0">
                <a:solidFill>
                  <a:schemeClr val="tx1"/>
                </a:solidFill>
                <a:latin typeface="+mn-lt"/>
                <a:ea typeface="+mn-ea"/>
                <a:cs typeface="+mn-cs"/>
              </a:rPr>
              <a:t>Neuroendocrine Response to Stress</a:t>
            </a:r>
            <a:endParaRPr lang="en-US" sz="1200" b="1"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53</a:t>
            </a:fld>
            <a:endParaRPr lang="en-US"/>
          </a:p>
        </p:txBody>
      </p:sp>
    </p:spTree>
    <p:extLst>
      <p:ext uri="{BB962C8B-B14F-4D97-AF65-F5344CB8AC3E}">
        <p14:creationId xmlns:p14="http://schemas.microsoft.com/office/powerpoint/2010/main" val="88644305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54</a:t>
            </a:fld>
            <a:endParaRPr lang="en-US"/>
          </a:p>
        </p:txBody>
      </p:sp>
    </p:spTree>
    <p:extLst>
      <p:ext uri="{BB962C8B-B14F-4D97-AF65-F5344CB8AC3E}">
        <p14:creationId xmlns:p14="http://schemas.microsoft.com/office/powerpoint/2010/main" val="371797568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r>
              <a:rPr lang="en-US" dirty="0"/>
              <a:t>Convolutions increase the surface area. Cells are arranged in six layers, appearing gray because of high concentration of cell bodies.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baseline="0" dirty="0">
                <a:latin typeface="PalatinoLTStd-Roman"/>
              </a:rPr>
              <a:t>Except for olfaction, all sensory information arrives in the appropriate primary cortex via projection neurons from the thalamus.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baseline="0" dirty="0">
                <a:latin typeface="PalatinoLTStd-Roman"/>
              </a:rPr>
              <a:t>Sensory information from the left side of the body goes to the right cerebral hemisphere first, and information from the right side goes to the left hemisphere, but for v</a:t>
            </a:r>
            <a:r>
              <a:rPr lang="en-US" dirty="0"/>
              <a:t>isual information: left half of visual field of each eye goes to the right occipital lobe and right half of visual field of each eye goes to the left occipital lobe.</a:t>
            </a:r>
          </a:p>
          <a:p>
            <a:pPr algn="l"/>
            <a:endParaRPr lang="en-US" sz="1200" b="0" i="0" u="none" strike="noStrike" baseline="0" dirty="0">
              <a:latin typeface="PalatinoLTStd-Roman"/>
            </a:endParaRPr>
          </a:p>
          <a:p>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55</a:t>
            </a:fld>
            <a:endParaRPr lang="en-US"/>
          </a:p>
        </p:txBody>
      </p:sp>
    </p:spTree>
    <p:extLst>
      <p:ext uri="{BB962C8B-B14F-4D97-AF65-F5344CB8AC3E}">
        <p14:creationId xmlns:p14="http://schemas.microsoft.com/office/powerpoint/2010/main" val="9660464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2.25  Lateral view of the exterior cerebral cortex 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four lobes of the cerebral cortex are shown with distinct colors. Within each lobe is a primary area (darker in color) and secondary and tertiary association cortices. The caudal-most three lobes carry out sensory functions: vision (occipital), auditory (temporal), and somatosensory (parietal). The frontal lobe serves as the executive mechanism that plans and organizes behavior and initiates the appropriate sequence of actions.</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56</a:t>
            </a:fld>
            <a:endParaRPr lang="en-US"/>
          </a:p>
        </p:txBody>
      </p:sp>
    </p:spTree>
    <p:extLst>
      <p:ext uri="{BB962C8B-B14F-4D97-AF65-F5344CB8AC3E}">
        <p14:creationId xmlns:p14="http://schemas.microsoft.com/office/powerpoint/2010/main" val="158587921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sz="1800" b="0" i="0" u="none" strike="noStrike" baseline="0" dirty="0">
                <a:latin typeface="PalatinoLTStd-Roman"/>
              </a:rPr>
              <a:t>Motor neurons beginning in the frontal cortex are crossed: areas of the right primary motor cortex control movements of limbs on the left side of the body, and vice versa.</a:t>
            </a:r>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57</a:t>
            </a:fld>
            <a:endParaRPr lang="en-US"/>
          </a:p>
        </p:txBody>
      </p:sp>
    </p:spTree>
    <p:extLst>
      <p:ext uri="{BB962C8B-B14F-4D97-AF65-F5344CB8AC3E}">
        <p14:creationId xmlns:p14="http://schemas.microsoft.com/office/powerpoint/2010/main" val="140951158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sz="1800" b="0" i="0" u="none" strike="noStrike" baseline="0" dirty="0">
                <a:latin typeface="PalatinoLTStd-Roman"/>
              </a:rPr>
              <a:t>Human brains have enlargement of the secondary and tertiary association areas responsible for the complex sensory, perceptual, and cognitive functions (e.g., speech, abstract thinking) of which</a:t>
            </a:r>
          </a:p>
          <a:p>
            <a:pPr algn="l"/>
            <a:r>
              <a:rPr lang="en-US" sz="1800" b="0" i="0" u="none" strike="noStrike" baseline="0" dirty="0">
                <a:latin typeface="PalatinoLTStd-Roman"/>
              </a:rPr>
              <a:t>humans are capable.</a:t>
            </a:r>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58</a:t>
            </a:fld>
            <a:endParaRPr lang="en-US"/>
          </a:p>
        </p:txBody>
      </p:sp>
    </p:spTree>
    <p:extLst>
      <p:ext uri="{BB962C8B-B14F-4D97-AF65-F5344CB8AC3E}">
        <p14:creationId xmlns:p14="http://schemas.microsoft.com/office/powerpoint/2010/main" val="57127871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2.26  Comparison of human and rat brains 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Midsagittal views of the right hemispheres of human and rat brains show extensive similarities in brain structures and their relative topographic location. The brains differ in that the cere­bral hemispheres are relatively much larger in the human brain, while the rat has a relatively larger midbrain and olfactory bulb. The rat brain has been enlarged about six times in linear dimensions relative to the human brain. (From S. M. Breedlove et al. 2010. </a:t>
            </a:r>
            <a:r>
              <a:rPr lang="en-US" sz="1200" i="1" kern="1200" dirty="0">
                <a:solidFill>
                  <a:schemeClr val="tx1"/>
                </a:solidFill>
                <a:effectLst/>
                <a:latin typeface="+mn-lt"/>
                <a:ea typeface="+mn-ea"/>
                <a:cs typeface="+mn-cs"/>
              </a:rPr>
              <a:t>Biological Psychology</a:t>
            </a:r>
            <a:r>
              <a:rPr lang="en-US" sz="1200" kern="1200" dirty="0">
                <a:solidFill>
                  <a:schemeClr val="tx1"/>
                </a:solidFill>
                <a:effectLst/>
                <a:latin typeface="+mn-lt"/>
                <a:ea typeface="+mn-ea"/>
                <a:cs typeface="+mn-cs"/>
              </a:rPr>
              <a:t>, 6th ed., Oxford University Press/Sinauer Associates: Sunderland, MA)</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59</a:t>
            </a:fld>
            <a:endParaRPr lang="en-US"/>
          </a:p>
        </p:txBody>
      </p:sp>
    </p:spTree>
    <p:extLst>
      <p:ext uri="{BB962C8B-B14F-4D97-AF65-F5344CB8AC3E}">
        <p14:creationId xmlns:p14="http://schemas.microsoft.com/office/powerpoint/2010/main" val="337172072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r>
              <a:rPr lang="en-US" dirty="0"/>
              <a:t>Correct answer: b</a:t>
            </a:r>
          </a:p>
        </p:txBody>
      </p:sp>
      <p:sp>
        <p:nvSpPr>
          <p:cNvPr id="4" name="Slide Number Placeholder 3"/>
          <p:cNvSpPr>
            <a:spLocks noGrp="1"/>
          </p:cNvSpPr>
          <p:nvPr>
            <p:ph type="sldNum" sz="quarter" idx="5"/>
          </p:nvPr>
        </p:nvSpPr>
        <p:spPr/>
        <p:txBody>
          <a:bodyPr/>
          <a:lstStyle/>
          <a:p>
            <a:fld id="{556C0744-2FEF-4441-821D-70180A370937}" type="slidenum">
              <a:rPr lang="en-US" smtClean="0"/>
              <a:t>60</a:t>
            </a:fld>
            <a:endParaRPr lang="en-US"/>
          </a:p>
        </p:txBody>
      </p:sp>
    </p:spTree>
    <p:extLst>
      <p:ext uri="{BB962C8B-B14F-4D97-AF65-F5344CB8AC3E}">
        <p14:creationId xmlns:p14="http://schemas.microsoft.com/office/powerpoint/2010/main" val="30668038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450575" y="586409"/>
            <a:ext cx="11317356" cy="566530"/>
          </a:xfrm>
          <a:prstGeom prst="rect">
            <a:avLst/>
          </a:prstGeom>
        </p:spPr>
        <p:txBody>
          <a:bodyPr vert="horz" lIns="91440" tIns="45720" rIns="91440" bIns="45720" rtlCol="0" anchor="t">
            <a:normAutofit/>
          </a:bodyPr>
          <a:lstStyle>
            <a:lvl1pPr algn="ctr">
              <a:defRPr sz="3600" b="1" i="1"/>
            </a:lvl1pPr>
          </a:lstStyle>
          <a:p>
            <a:r>
              <a:rPr lang="en-US" dirty="0"/>
              <a:t>Title</a:t>
            </a:r>
          </a:p>
        </p:txBody>
      </p:sp>
      <p:sp>
        <p:nvSpPr>
          <p:cNvPr id="11" name="Text Placeholder 10"/>
          <p:cNvSpPr>
            <a:spLocks noGrp="1"/>
          </p:cNvSpPr>
          <p:nvPr>
            <p:ph type="body" sz="quarter" idx="11"/>
          </p:nvPr>
        </p:nvSpPr>
        <p:spPr>
          <a:xfrm>
            <a:off x="450851" y="1152525"/>
            <a:ext cx="11317816" cy="477838"/>
          </a:xfrm>
          <a:prstGeom prst="rect">
            <a:avLst/>
          </a:prstGeom>
        </p:spPr>
        <p:txBody>
          <a:bodyPr/>
          <a:lstStyle>
            <a:lvl1pPr marL="0" indent="0" algn="ctr">
              <a:buNone/>
              <a:defRPr sz="2400">
                <a:solidFill>
                  <a:srgbClr val="1F497D"/>
                </a:solidFill>
              </a:defRPr>
            </a:lvl1pPr>
          </a:lstStyle>
          <a:p>
            <a:pPr lvl="0"/>
            <a:r>
              <a:rPr lang="en-US"/>
              <a:t>Edit Master text styles</a:t>
            </a:r>
          </a:p>
        </p:txBody>
      </p:sp>
      <p:sp>
        <p:nvSpPr>
          <p:cNvPr id="6" name="Picture Placeholder 5"/>
          <p:cNvSpPr>
            <a:spLocks noGrp="1"/>
          </p:cNvSpPr>
          <p:nvPr>
            <p:ph type="pic" sz="quarter" idx="10"/>
          </p:nvPr>
        </p:nvSpPr>
        <p:spPr>
          <a:xfrm>
            <a:off x="3710609" y="1808921"/>
            <a:ext cx="4770784" cy="4283766"/>
          </a:xfrm>
          <a:prstGeom prst="rect">
            <a:avLst/>
          </a:prstGeom>
        </p:spPr>
        <p:txBody>
          <a:bodyPr/>
          <a:lstStyle/>
          <a:p>
            <a:r>
              <a:rPr lang="en-US"/>
              <a:t>Click icon to add picture</a:t>
            </a:r>
            <a:endParaRPr lang="en-US" dirty="0"/>
          </a:p>
        </p:txBody>
      </p:sp>
      <p:pic>
        <p:nvPicPr>
          <p:cNvPr id="5" name="Picture 4" descr="Oxford University Press logo">
            <a:extLst>
              <a:ext uri="{FF2B5EF4-FFF2-40B4-BE49-F238E27FC236}">
                <a16:creationId xmlns:a16="http://schemas.microsoft.com/office/drawing/2014/main" id="{8590439F-3AAE-4FE6-B28E-69B3789AD63F}"/>
              </a:ext>
            </a:extLst>
          </p:cNvPr>
          <p:cNvPicPr>
            <a:picLocks noChangeAspect="1"/>
          </p:cNvPicPr>
          <p:nvPr userDrawn="1"/>
        </p:nvPicPr>
        <p:blipFill>
          <a:blip r:embed="rId2"/>
          <a:stretch>
            <a:fillRect/>
          </a:stretch>
        </p:blipFill>
        <p:spPr>
          <a:xfrm>
            <a:off x="0" y="5976152"/>
            <a:ext cx="2505812" cy="881848"/>
          </a:xfrm>
          <a:prstGeom prst="rect">
            <a:avLst/>
          </a:prstGeom>
        </p:spPr>
      </p:pic>
    </p:spTree>
    <p:extLst>
      <p:ext uri="{BB962C8B-B14F-4D97-AF65-F5344CB8AC3E}">
        <p14:creationId xmlns:p14="http://schemas.microsoft.com/office/powerpoint/2010/main" val="18046508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888756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384048"/>
          </a:xfrm>
        </p:spPr>
        <p:txBody>
          <a:bodyPr/>
          <a:lstStyle>
            <a:lvl1pPr>
              <a:defRPr sz="1800"/>
            </a:lvl1pPr>
          </a:lstStyle>
          <a:p>
            <a:r>
              <a:rPr lang="en-US" dirty="0"/>
              <a:t>Click to edit Master title style</a:t>
            </a:r>
          </a:p>
        </p:txBody>
      </p:sp>
      <p:sp>
        <p:nvSpPr>
          <p:cNvPr id="5" name="Content Placeholder 4">
            <a:extLst>
              <a:ext uri="{FF2B5EF4-FFF2-40B4-BE49-F238E27FC236}">
                <a16:creationId xmlns:a16="http://schemas.microsoft.com/office/drawing/2014/main" id="{C12606DF-F2AC-0D4C-A2DC-B85399E449B6}"/>
              </a:ext>
            </a:extLst>
          </p:cNvPr>
          <p:cNvSpPr>
            <a:spLocks noGrp="1"/>
          </p:cNvSpPr>
          <p:nvPr>
            <p:ph sz="quarter" idx="10"/>
          </p:nvPr>
        </p:nvSpPr>
        <p:spPr>
          <a:xfrm>
            <a:off x="408432" y="479776"/>
            <a:ext cx="11375136" cy="6300216"/>
          </a:xfrm>
          <a:prstGeom prst="rect">
            <a:avLst/>
          </a:prstGeo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7283422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tif"/></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0E61D60-431D-4A54-BAD5-CA1C8D6D754C}"/>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822" y="2792"/>
            <a:ext cx="12191178" cy="6858137"/>
          </a:xfrm>
          <a:prstGeom prst="rect">
            <a:avLst/>
          </a:prstGeom>
        </p:spPr>
      </p:pic>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857781"/>
            <a:ext cx="10972800" cy="4525963"/>
          </a:xfrm>
          <a:prstGeom prst="rect">
            <a:avLst/>
          </a:prstGeom>
        </p:spPr>
        <p:txBody>
          <a:bodyPr vert="horz" lIns="91440" tIns="45720" rIns="91440" bIns="45720" rtlCol="0">
            <a:normAutofit/>
          </a:bodyPr>
          <a:lstStyle/>
          <a:p>
            <a:pPr lvl="0"/>
            <a:r>
              <a:rPr lang="en-US" dirty="0"/>
              <a:t>Click to edit Master text styles</a:t>
            </a:r>
          </a:p>
          <a:p>
            <a:pPr lvl="0"/>
            <a:r>
              <a:rPr lang="en-US" dirty="0"/>
              <a:t>Click to edit Master text styles</a:t>
            </a:r>
          </a:p>
        </p:txBody>
      </p:sp>
      <p:sp>
        <p:nvSpPr>
          <p:cNvPr id="9" name="TextBox 8"/>
          <p:cNvSpPr txBox="1">
            <a:spLocks noChangeArrowheads="1"/>
          </p:cNvSpPr>
          <p:nvPr userDrawn="1"/>
        </p:nvSpPr>
        <p:spPr bwMode="auto">
          <a:xfrm>
            <a:off x="10363435" y="6605739"/>
            <a:ext cx="1827743" cy="246221"/>
          </a:xfrm>
          <a:prstGeom prst="rect">
            <a:avLst/>
          </a:prstGeom>
          <a:noFill/>
          <a:ln>
            <a:noFill/>
          </a:ln>
        </p:spPr>
        <p:txBody>
          <a:bodyPr wrap="none">
            <a:spAutoFit/>
          </a:bodyPr>
          <a:lstStyle>
            <a:lvl1pPr>
              <a:defRPr sz="2400" b="1">
                <a:solidFill>
                  <a:schemeClr val="bg2"/>
                </a:solidFill>
                <a:latin typeface="Times New Roman" panose="02020603050405020304" pitchFamily="18" charset="0"/>
                <a:ea typeface="ＭＳ Ｐゴシック" panose="020B0600070205080204" pitchFamily="34" charset="-128"/>
              </a:defRPr>
            </a:lvl1pPr>
            <a:lvl2pPr marL="742950" indent="-285750">
              <a:defRPr sz="2400" b="1">
                <a:solidFill>
                  <a:schemeClr val="bg2"/>
                </a:solidFill>
                <a:latin typeface="Times New Roman" panose="02020603050405020304" pitchFamily="18" charset="0"/>
                <a:ea typeface="ＭＳ Ｐゴシック" panose="020B0600070205080204" pitchFamily="34" charset="-128"/>
              </a:defRPr>
            </a:lvl2pPr>
            <a:lvl3pPr marL="1143000" indent="-228600">
              <a:defRPr sz="2400" b="1">
                <a:solidFill>
                  <a:schemeClr val="bg2"/>
                </a:solidFill>
                <a:latin typeface="Times New Roman" panose="02020603050405020304" pitchFamily="18" charset="0"/>
                <a:ea typeface="ＭＳ Ｐゴシック" panose="020B0600070205080204" pitchFamily="34" charset="-128"/>
              </a:defRPr>
            </a:lvl3pPr>
            <a:lvl4pPr marL="1600200" indent="-228600">
              <a:defRPr sz="2400" b="1">
                <a:solidFill>
                  <a:schemeClr val="bg2"/>
                </a:solidFill>
                <a:latin typeface="Times New Roman" panose="02020603050405020304" pitchFamily="18" charset="0"/>
                <a:ea typeface="ＭＳ Ｐゴシック" panose="020B0600070205080204" pitchFamily="34" charset="-128"/>
              </a:defRPr>
            </a:lvl4pPr>
            <a:lvl5pPr marL="2057400" indent="-228600">
              <a:defRPr sz="2400" b="1">
                <a:solidFill>
                  <a:schemeClr val="bg2"/>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9pPr>
          </a:lstStyle>
          <a:p>
            <a:pPr algn="r" eaLnBrk="1" hangingPunct="1">
              <a:defRPr/>
            </a:pPr>
            <a:r>
              <a:rPr lang="en-US" altLang="en-US" sz="1000" b="0" dirty="0">
                <a:solidFill>
                  <a:schemeClr val="tx1"/>
                </a:solidFill>
                <a:latin typeface="+mj-lt"/>
                <a:cs typeface="Arial" panose="020B0604020202020204" pitchFamily="34" charset="0"/>
              </a:rPr>
              <a:t>© 2023 Oxford University Press</a:t>
            </a:r>
          </a:p>
        </p:txBody>
      </p:sp>
    </p:spTree>
    <p:extLst>
      <p:ext uri="{BB962C8B-B14F-4D97-AF65-F5344CB8AC3E}">
        <p14:creationId xmlns:p14="http://schemas.microsoft.com/office/powerpoint/2010/main" val="839490661"/>
      </p:ext>
    </p:extLst>
  </p:cSld>
  <p:clrMap bg1="lt1" tx1="dk1" bg2="lt2" tx2="dk2" accent1="accent1" accent2="accent2" accent3="accent3" accent4="accent4" accent5="accent5" accent6="accent6" hlink="hlink" folHlink="folHlink"/>
  <p:sldLayoutIdLst>
    <p:sldLayoutId id="2147483673" r:id="rId1"/>
    <p:sldLayoutId id="2147483652" r:id="rId2"/>
  </p:sldLayoutIdLst>
  <p:txStyles>
    <p:titleStyle>
      <a:lvl1pPr algn="ctr" defTabSz="914400" rtl="0" eaLnBrk="1" latinLnBrk="0" hangingPunct="1">
        <a:spcBef>
          <a:spcPct val="0"/>
        </a:spcBef>
        <a:buNone/>
        <a:defRPr sz="3600" kern="1200">
          <a:solidFill>
            <a:schemeClr val="tx2"/>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baseline="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0"/>
            <a:ext cx="12192000" cy="369332"/>
          </a:xfrm>
          <a:prstGeom prst="rect">
            <a:avLst/>
          </a:prstGeom>
          <a:solidFill>
            <a:srgbClr val="001A47"/>
          </a:solidFill>
        </p:spPr>
        <p:txBody>
          <a:bodyPr vert="horz" lIns="91440" tIns="45720" rIns="91440" bIns="45720" rtlCol="0" anchor="t" anchorCtr="0">
            <a:noAutofit/>
          </a:bodyPr>
          <a:lstStyle/>
          <a:p>
            <a:r>
              <a:rPr lang="en-US" dirty="0"/>
              <a:t>Click to edit Master title style</a:t>
            </a:r>
          </a:p>
        </p:txBody>
      </p:sp>
      <p:sp>
        <p:nvSpPr>
          <p:cNvPr id="4" name="Text Placeholder 3">
            <a:extLst>
              <a:ext uri="{FF2B5EF4-FFF2-40B4-BE49-F238E27FC236}">
                <a16:creationId xmlns:a16="http://schemas.microsoft.com/office/drawing/2014/main" id="{98CCD7AE-E6DE-4592-894F-F3E075B9E6C8}"/>
              </a:ext>
            </a:extLst>
          </p:cNvPr>
          <p:cNvSpPr>
            <a:spLocks noGrp="1"/>
          </p:cNvSpPr>
          <p:nvPr>
            <p:ph type="body" idx="1"/>
          </p:nvPr>
        </p:nvSpPr>
        <p:spPr>
          <a:xfrm>
            <a:off x="838200" y="952107"/>
            <a:ext cx="10515600" cy="522485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79565259"/>
      </p:ext>
    </p:extLst>
  </p:cSld>
  <p:clrMap bg1="lt1" tx1="dk1" bg2="lt2" tx2="dk2" accent1="accent1" accent2="accent2" accent3="accent3" accent4="accent4" accent5="accent5" accent6="accent6" hlink="hlink" folHlink="folHlink"/>
  <p:sldLayoutIdLst>
    <p:sldLayoutId id="2147483679" r:id="rId1"/>
  </p:sldLayoutIdLst>
  <p:txStyles>
    <p:titleStyle>
      <a:lvl1pPr algn="l" defTabSz="914400" rtl="0" eaLnBrk="1" latinLnBrk="0" hangingPunct="1">
        <a:spcBef>
          <a:spcPct val="0"/>
        </a:spcBef>
        <a:buNone/>
        <a:defRPr sz="18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baseline="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Psychopharmacology: Drugs, the Brain, and </a:t>
            </a:r>
            <a:r>
              <a:rPr lang="en-GB" dirty="0" err="1"/>
              <a:t>Behavior</a:t>
            </a:r>
            <a:endParaRPr lang="en-US" b="1" i="0" dirty="0"/>
          </a:p>
        </p:txBody>
      </p:sp>
      <p:sp>
        <p:nvSpPr>
          <p:cNvPr id="4" name="Text Placeholder 3"/>
          <p:cNvSpPr>
            <a:spLocks noGrp="1"/>
          </p:cNvSpPr>
          <p:nvPr>
            <p:ph type="body" sz="quarter" idx="11"/>
          </p:nvPr>
        </p:nvSpPr>
        <p:spPr/>
        <p:txBody>
          <a:bodyPr/>
          <a:lstStyle/>
          <a:p>
            <a:r>
              <a:rPr lang="en-US"/>
              <a:t>by Meyer, Farrar, Biezonski, Yates</a:t>
            </a:r>
            <a:endParaRPr lang="en-US" dirty="0"/>
          </a:p>
        </p:txBody>
      </p:sp>
      <p:pic>
        <p:nvPicPr>
          <p:cNvPr id="8" name="Picture Placeholder 7" descr="Cover image for Psychopharmacology, Fourth Edition.">
            <a:extLst>
              <a:ext uri="{FF2B5EF4-FFF2-40B4-BE49-F238E27FC236}">
                <a16:creationId xmlns:a16="http://schemas.microsoft.com/office/drawing/2014/main" id="{3C56F26D-84E7-4578-9ED6-ACB6F71FF233}"/>
              </a:ext>
            </a:extLst>
          </p:cNvPr>
          <p:cNvPicPr>
            <a:picLocks noGrp="1" noChangeAspect="1"/>
          </p:cNvPicPr>
          <p:nvPr>
            <p:ph type="pic" sz="quarter" idx="10"/>
          </p:nvPr>
        </p:nvPicPr>
        <p:blipFill>
          <a:blip r:embed="rId3"/>
          <a:stretch>
            <a:fillRect/>
          </a:stretch>
        </p:blipFill>
        <p:spPr>
          <a:xfrm>
            <a:off x="4267824" y="1818587"/>
            <a:ext cx="3656351" cy="4413095"/>
          </a:xfrm>
          <a:prstGeom prst="rect">
            <a:avLst/>
          </a:prstGeom>
        </p:spPr>
      </p:pic>
    </p:spTree>
    <p:extLst>
      <p:ext uri="{BB962C8B-B14F-4D97-AF65-F5344CB8AC3E}">
        <p14:creationId xmlns:p14="http://schemas.microsoft.com/office/powerpoint/2010/main" val="28204960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Autofit/>
          </a:bodyPr>
          <a:lstStyle/>
          <a:p>
            <a:r>
              <a:rPr lang="en-US" sz="3200" dirty="0"/>
              <a:t>Chapter 2</a:t>
            </a:r>
            <a:br>
              <a:rPr lang="en-US" dirty="0"/>
            </a:br>
            <a:r>
              <a:rPr lang="en-US" i="1" dirty="0"/>
              <a:t>Structure and Function of the Nervous System</a:t>
            </a:r>
          </a:p>
        </p:txBody>
      </p:sp>
      <p:sp>
        <p:nvSpPr>
          <p:cNvPr id="3" name="Text Placeholder 2"/>
          <p:cNvSpPr>
            <a:spLocks noGrp="1"/>
          </p:cNvSpPr>
          <p:nvPr>
            <p:ph idx="1"/>
          </p:nvPr>
        </p:nvSpPr>
        <p:spPr>
          <a:xfrm>
            <a:off x="609600" y="1857781"/>
            <a:ext cx="10972800" cy="4525963"/>
          </a:xfrm>
        </p:spPr>
        <p:txBody>
          <a:bodyPr/>
          <a:lstStyle/>
          <a:p>
            <a:pPr marL="914400" indent="-914400">
              <a:spcBef>
                <a:spcPts val="2400"/>
              </a:spcBef>
              <a:buNone/>
            </a:pPr>
            <a:r>
              <a:rPr lang="en-US" dirty="0"/>
              <a:t>2.1  Cells of the Nervous System</a:t>
            </a:r>
          </a:p>
          <a:p>
            <a:pPr marL="914400" indent="-914400">
              <a:spcBef>
                <a:spcPts val="2400"/>
              </a:spcBef>
              <a:buNone/>
            </a:pPr>
            <a:r>
              <a:rPr lang="en-US" dirty="0"/>
              <a:t>2.2  Electrical Transmission within a Neuron</a:t>
            </a:r>
          </a:p>
          <a:p>
            <a:pPr marL="914400" indent="-914400">
              <a:spcBef>
                <a:spcPts val="2400"/>
              </a:spcBef>
              <a:buNone/>
            </a:pPr>
            <a:r>
              <a:rPr lang="en-US" dirty="0"/>
              <a:t>2.3  Organization of the Nervous System</a:t>
            </a:r>
          </a:p>
        </p:txBody>
      </p:sp>
    </p:spTree>
    <p:extLst>
      <p:ext uri="{BB962C8B-B14F-4D97-AF65-F5344CB8AC3E}">
        <p14:creationId xmlns:p14="http://schemas.microsoft.com/office/powerpoint/2010/main" val="7291119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Autofit/>
          </a:bodyPr>
          <a:lstStyle/>
          <a:p>
            <a:r>
              <a:rPr lang="en-US" sz="3200" dirty="0"/>
              <a:t>Chapter 2</a:t>
            </a:r>
            <a:br>
              <a:rPr lang="en-US" dirty="0"/>
            </a:br>
            <a:r>
              <a:rPr lang="en-US" dirty="0"/>
              <a:t>Learning Objectives </a:t>
            </a:r>
            <a:r>
              <a:rPr lang="en-US" sz="1200" dirty="0"/>
              <a:t>(1 of 3)</a:t>
            </a:r>
            <a:endParaRPr lang="en-US" dirty="0"/>
          </a:p>
        </p:txBody>
      </p:sp>
      <p:sp>
        <p:nvSpPr>
          <p:cNvPr id="3" name="Text Placeholder 2"/>
          <p:cNvSpPr>
            <a:spLocks noGrp="1"/>
          </p:cNvSpPr>
          <p:nvPr>
            <p:ph idx="1"/>
          </p:nvPr>
        </p:nvSpPr>
        <p:spPr>
          <a:xfrm>
            <a:off x="609600" y="1857781"/>
            <a:ext cx="10972800" cy="4525963"/>
          </a:xfrm>
        </p:spPr>
        <p:txBody>
          <a:bodyPr>
            <a:normAutofit fontScale="77500" lnSpcReduction="20000"/>
          </a:bodyPr>
          <a:lstStyle/>
          <a:p>
            <a:pPr marL="914400" indent="-914400">
              <a:lnSpc>
                <a:spcPct val="120000"/>
              </a:lnSpc>
              <a:spcBef>
                <a:spcPts val="1800"/>
              </a:spcBef>
              <a:buNone/>
            </a:pPr>
            <a:r>
              <a:rPr lang="en-US" dirty="0"/>
              <a:t>2.1.1  Name the different types of cells in the nervous system, including the major types of neurons and glial cells.</a:t>
            </a:r>
          </a:p>
          <a:p>
            <a:pPr marL="914400" indent="-914400">
              <a:lnSpc>
                <a:spcPct val="120000"/>
              </a:lnSpc>
              <a:spcBef>
                <a:spcPts val="1800"/>
              </a:spcBef>
              <a:buNone/>
            </a:pPr>
            <a:r>
              <a:rPr lang="en-US" dirty="0"/>
              <a:t>2.1.2  List the three major components of a neuron and describe their functions.</a:t>
            </a:r>
          </a:p>
          <a:p>
            <a:pPr marL="914400" indent="-914400">
              <a:lnSpc>
                <a:spcPct val="120000"/>
              </a:lnSpc>
              <a:spcBef>
                <a:spcPts val="1800"/>
              </a:spcBef>
              <a:buNone/>
            </a:pPr>
            <a:r>
              <a:rPr lang="en-US" dirty="0"/>
              <a:t>2.1.3  Describe the role of myelin in neurotransmission.</a:t>
            </a:r>
          </a:p>
          <a:p>
            <a:pPr marL="914400" indent="-914400">
              <a:lnSpc>
                <a:spcPct val="120000"/>
              </a:lnSpc>
              <a:spcBef>
                <a:spcPts val="1800"/>
              </a:spcBef>
              <a:buNone/>
            </a:pPr>
            <a:r>
              <a:rPr lang="en-US" dirty="0"/>
              <a:t>2.1.4  Explain how epigenetic modifications can influence gene expression. </a:t>
            </a:r>
          </a:p>
          <a:p>
            <a:pPr marL="914400" indent="-914400">
              <a:lnSpc>
                <a:spcPct val="120000"/>
              </a:lnSpc>
              <a:spcBef>
                <a:spcPts val="1800"/>
              </a:spcBef>
              <a:buNone/>
            </a:pPr>
            <a:r>
              <a:rPr lang="en-US" dirty="0"/>
              <a:t>2.1.5  Describe how the internal and external structural features of a neuron (e.g., cytoskeleton, membrane) give rise to its functions (e.g., axoplasmic transport, membrane potential).</a:t>
            </a:r>
          </a:p>
        </p:txBody>
      </p:sp>
    </p:spTree>
    <p:extLst>
      <p:ext uri="{BB962C8B-B14F-4D97-AF65-F5344CB8AC3E}">
        <p14:creationId xmlns:p14="http://schemas.microsoft.com/office/powerpoint/2010/main" val="14606864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Autofit/>
          </a:bodyPr>
          <a:lstStyle/>
          <a:p>
            <a:r>
              <a:rPr kumimoji="0" lang="en-US" sz="3200" b="0" i="0" u="none" strike="noStrike" kern="1200" cap="none" spc="0" normalizeH="0" baseline="0" noProof="0" dirty="0">
                <a:ln>
                  <a:noFill/>
                </a:ln>
                <a:solidFill>
                  <a:srgbClr val="1F497D"/>
                </a:solidFill>
                <a:effectLst/>
                <a:uLnTx/>
                <a:uFillTx/>
                <a:latin typeface="Calibri"/>
                <a:ea typeface="+mj-ea"/>
                <a:cs typeface="+mj-cs"/>
              </a:rPr>
              <a:t>Chapter 2</a:t>
            </a:r>
            <a:br>
              <a:rPr kumimoji="0" lang="en-US" sz="3600" b="0" i="0" u="none" strike="noStrike" kern="1200" cap="none" spc="0" normalizeH="0" baseline="0" noProof="0" dirty="0">
                <a:ln>
                  <a:noFill/>
                </a:ln>
                <a:solidFill>
                  <a:srgbClr val="1F497D"/>
                </a:solidFill>
                <a:effectLst/>
                <a:uLnTx/>
                <a:uFillTx/>
                <a:latin typeface="Calibri"/>
                <a:ea typeface="+mj-ea"/>
                <a:cs typeface="+mj-cs"/>
              </a:rPr>
            </a:br>
            <a:r>
              <a:rPr kumimoji="0" lang="en-US" sz="3600" b="0" i="0" u="none" strike="noStrike" kern="1200" cap="none" spc="0" normalizeH="0" baseline="0" noProof="0" dirty="0">
                <a:ln>
                  <a:noFill/>
                </a:ln>
                <a:solidFill>
                  <a:srgbClr val="1F497D"/>
                </a:solidFill>
                <a:effectLst/>
                <a:uLnTx/>
                <a:uFillTx/>
                <a:latin typeface="Calibri"/>
                <a:ea typeface="+mj-ea"/>
                <a:cs typeface="+mj-cs"/>
              </a:rPr>
              <a:t>Learning Objectives </a:t>
            </a:r>
            <a:r>
              <a:rPr kumimoji="0" lang="en-US" sz="1200" b="0" i="0" u="none" strike="noStrike" kern="1200" cap="none" spc="0" normalizeH="0" baseline="0" noProof="0" dirty="0">
                <a:ln>
                  <a:noFill/>
                </a:ln>
                <a:solidFill>
                  <a:srgbClr val="1F497D"/>
                </a:solidFill>
                <a:effectLst/>
                <a:uLnTx/>
                <a:uFillTx/>
                <a:latin typeface="Calibri"/>
                <a:ea typeface="+mj-ea"/>
                <a:cs typeface="+mj-cs"/>
              </a:rPr>
              <a:t>(2 of 3)</a:t>
            </a:r>
            <a:endParaRPr lang="en-US" dirty="0"/>
          </a:p>
        </p:txBody>
      </p:sp>
      <p:sp>
        <p:nvSpPr>
          <p:cNvPr id="3" name="Text Placeholder 2"/>
          <p:cNvSpPr>
            <a:spLocks noGrp="1"/>
          </p:cNvSpPr>
          <p:nvPr>
            <p:ph idx="1"/>
          </p:nvPr>
        </p:nvSpPr>
        <p:spPr>
          <a:xfrm>
            <a:off x="609600" y="1857781"/>
            <a:ext cx="10972800" cy="4525963"/>
          </a:xfrm>
        </p:spPr>
        <p:txBody>
          <a:bodyPr>
            <a:normAutofit fontScale="77500" lnSpcReduction="20000"/>
          </a:bodyPr>
          <a:lstStyle/>
          <a:p>
            <a:pPr marL="914400" indent="-914400">
              <a:lnSpc>
                <a:spcPct val="120000"/>
              </a:lnSpc>
              <a:spcBef>
                <a:spcPts val="1200"/>
              </a:spcBef>
              <a:buNone/>
            </a:pPr>
            <a:r>
              <a:rPr lang="en-US" dirty="0"/>
              <a:t>2.2.1  Explain the mechanisms that give rise to resting membrane potential.</a:t>
            </a:r>
          </a:p>
          <a:p>
            <a:pPr marL="914400" indent="-914400">
              <a:lnSpc>
                <a:spcPct val="120000"/>
              </a:lnSpc>
              <a:spcBef>
                <a:spcPts val="1200"/>
              </a:spcBef>
              <a:buNone/>
            </a:pPr>
            <a:r>
              <a:rPr lang="en-US" dirty="0"/>
              <a:t>2.2.2  Describe how local inhibitory and excitatory postsynaptic potentials lead to states of hyperpolarization and depolarization, respectively.</a:t>
            </a:r>
          </a:p>
          <a:p>
            <a:pPr marL="914400" indent="-914400">
              <a:lnSpc>
                <a:spcPct val="120000"/>
              </a:lnSpc>
              <a:spcBef>
                <a:spcPts val="1200"/>
              </a:spcBef>
              <a:buNone/>
            </a:pPr>
            <a:r>
              <a:rPr lang="en-US" dirty="0"/>
              <a:t>2.2.3  Explain how local potentials from simultaneous inputs are integrated at the axon hillock.</a:t>
            </a:r>
          </a:p>
          <a:p>
            <a:pPr marL="914400" indent="-914400">
              <a:lnSpc>
                <a:spcPct val="120000"/>
              </a:lnSpc>
              <a:spcBef>
                <a:spcPts val="1200"/>
              </a:spcBef>
              <a:buNone/>
            </a:pPr>
            <a:r>
              <a:rPr lang="en-US" dirty="0"/>
              <a:t>2.2.4  Describe how the integration of sufficient excitatory postsynaptic potentials at the axon hillock can trigger an action potential.</a:t>
            </a:r>
          </a:p>
          <a:p>
            <a:pPr marL="914400" indent="-914400">
              <a:lnSpc>
                <a:spcPct val="120000"/>
              </a:lnSpc>
              <a:spcBef>
                <a:spcPts val="1200"/>
              </a:spcBef>
              <a:buNone/>
            </a:pPr>
            <a:r>
              <a:rPr lang="en-US" dirty="0"/>
              <a:t>2.2.5  Explain how the distribution of ions between the interior and exterior of the neuron interacts with voltage-gated ion channels to generate action potentials; describe how drugs can influence this process.</a:t>
            </a:r>
          </a:p>
        </p:txBody>
      </p:sp>
    </p:spTree>
    <p:extLst>
      <p:ext uri="{BB962C8B-B14F-4D97-AF65-F5344CB8AC3E}">
        <p14:creationId xmlns:p14="http://schemas.microsoft.com/office/powerpoint/2010/main" val="30798587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Autofit/>
          </a:bodyPr>
          <a:lstStyle/>
          <a:p>
            <a:r>
              <a:rPr kumimoji="0" lang="en-US" sz="3200" b="0" i="0" u="none" strike="noStrike" kern="1200" cap="none" spc="0" normalizeH="0" baseline="0" noProof="0" dirty="0">
                <a:ln>
                  <a:noFill/>
                </a:ln>
                <a:solidFill>
                  <a:srgbClr val="1F497D"/>
                </a:solidFill>
                <a:effectLst/>
                <a:uLnTx/>
                <a:uFillTx/>
                <a:latin typeface="Calibri"/>
                <a:ea typeface="+mj-ea"/>
                <a:cs typeface="+mj-cs"/>
              </a:rPr>
              <a:t>Chapter 2</a:t>
            </a:r>
            <a:br>
              <a:rPr kumimoji="0" lang="en-US" sz="3600" b="0" i="0" u="none" strike="noStrike" kern="1200" cap="none" spc="0" normalizeH="0" baseline="0" noProof="0" dirty="0">
                <a:ln>
                  <a:noFill/>
                </a:ln>
                <a:solidFill>
                  <a:srgbClr val="1F497D"/>
                </a:solidFill>
                <a:effectLst/>
                <a:uLnTx/>
                <a:uFillTx/>
                <a:latin typeface="Calibri"/>
                <a:ea typeface="+mj-ea"/>
                <a:cs typeface="+mj-cs"/>
              </a:rPr>
            </a:br>
            <a:r>
              <a:rPr kumimoji="0" lang="en-US" sz="3600" b="0" i="0" u="none" strike="noStrike" kern="1200" cap="none" spc="0" normalizeH="0" baseline="0" noProof="0" dirty="0">
                <a:ln>
                  <a:noFill/>
                </a:ln>
                <a:solidFill>
                  <a:srgbClr val="1F497D"/>
                </a:solidFill>
                <a:effectLst/>
                <a:uLnTx/>
                <a:uFillTx/>
                <a:latin typeface="Calibri"/>
                <a:ea typeface="+mj-ea"/>
                <a:cs typeface="+mj-cs"/>
              </a:rPr>
              <a:t>Learning Objectives </a:t>
            </a:r>
            <a:r>
              <a:rPr kumimoji="0" lang="en-US" sz="1200" b="0" i="0" u="none" strike="noStrike" kern="1200" cap="none" spc="0" normalizeH="0" baseline="0" noProof="0" dirty="0">
                <a:ln>
                  <a:noFill/>
                </a:ln>
                <a:solidFill>
                  <a:srgbClr val="1F497D"/>
                </a:solidFill>
                <a:effectLst/>
                <a:uLnTx/>
                <a:uFillTx/>
                <a:latin typeface="Calibri"/>
                <a:ea typeface="+mj-ea"/>
                <a:cs typeface="+mj-cs"/>
              </a:rPr>
              <a:t>(3 of 3)</a:t>
            </a:r>
            <a:endParaRPr lang="en-US" dirty="0"/>
          </a:p>
        </p:txBody>
      </p:sp>
      <p:sp>
        <p:nvSpPr>
          <p:cNvPr id="3" name="Text Placeholder 2"/>
          <p:cNvSpPr>
            <a:spLocks noGrp="1"/>
          </p:cNvSpPr>
          <p:nvPr>
            <p:ph idx="1"/>
          </p:nvPr>
        </p:nvSpPr>
        <p:spPr>
          <a:xfrm>
            <a:off x="609600" y="1857781"/>
            <a:ext cx="10972800" cy="4525963"/>
          </a:xfrm>
        </p:spPr>
        <p:txBody>
          <a:bodyPr>
            <a:noAutofit/>
          </a:bodyPr>
          <a:lstStyle/>
          <a:p>
            <a:pPr marL="914400" indent="-914400">
              <a:spcBef>
                <a:spcPts val="600"/>
              </a:spcBef>
              <a:buNone/>
            </a:pPr>
            <a:r>
              <a:rPr lang="en-US" sz="2400" dirty="0"/>
              <a:t>2.3.1  Identify and describe the major divisions of the nervous system.</a:t>
            </a:r>
          </a:p>
          <a:p>
            <a:pPr marL="914400" indent="-914400">
              <a:spcBef>
                <a:spcPts val="600"/>
              </a:spcBef>
              <a:buNone/>
            </a:pPr>
            <a:r>
              <a:rPr lang="en-US" sz="2400" dirty="0"/>
              <a:t>2.3.2  Describe the structural features of the CNS that provide protection from injury and exchange nutrients and waste products between the brain and its blood supply.</a:t>
            </a:r>
          </a:p>
          <a:p>
            <a:pPr marL="914400" indent="-914400">
              <a:spcBef>
                <a:spcPts val="600"/>
              </a:spcBef>
              <a:buNone/>
            </a:pPr>
            <a:r>
              <a:rPr lang="en-US" sz="2400" dirty="0"/>
              <a:t>2.3.3  Describe the cellular components that make up the gray and white matter of the spinal cord, and how these components transmit information between the brain and the periphery.</a:t>
            </a:r>
          </a:p>
          <a:p>
            <a:pPr marL="914400" indent="-914400">
              <a:spcBef>
                <a:spcPts val="600"/>
              </a:spcBef>
              <a:buNone/>
            </a:pPr>
            <a:r>
              <a:rPr lang="en-US" sz="2400" dirty="0"/>
              <a:t>2.3.4  Describe the main biological functions of, and the primary structures within, the following anatomical subdivisions of the CNS: myelencephalon, metencephalon, mesencephalon, diencephalon, telencephalon.</a:t>
            </a:r>
          </a:p>
          <a:p>
            <a:pPr marL="914400" indent="-914400">
              <a:spcBef>
                <a:spcPts val="600"/>
              </a:spcBef>
              <a:buNone/>
            </a:pPr>
            <a:r>
              <a:rPr lang="en-US" sz="2400" dirty="0"/>
              <a:t>2.3.5  Name the lobes of the cerebral cortex and discuss the functions associated with each.</a:t>
            </a:r>
          </a:p>
        </p:txBody>
      </p:sp>
    </p:spTree>
    <p:extLst>
      <p:ext uri="{BB962C8B-B14F-4D97-AF65-F5344CB8AC3E}">
        <p14:creationId xmlns:p14="http://schemas.microsoft.com/office/powerpoint/2010/main" val="37621092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dirty="0"/>
              <a:t>Cells of the Nervous System </a:t>
            </a:r>
            <a:r>
              <a:rPr lang="en-US" sz="1200" dirty="0"/>
              <a:t>(1 of 13)</a:t>
            </a:r>
          </a:p>
        </p:txBody>
      </p:sp>
      <p:sp>
        <p:nvSpPr>
          <p:cNvPr id="3" name="Text Placeholder 2"/>
          <p:cNvSpPr>
            <a:spLocks noGrp="1"/>
          </p:cNvSpPr>
          <p:nvPr>
            <p:ph idx="1"/>
          </p:nvPr>
        </p:nvSpPr>
        <p:spPr>
          <a:xfrm>
            <a:off x="609600" y="1857781"/>
            <a:ext cx="10972800" cy="4525963"/>
          </a:xfrm>
        </p:spPr>
        <p:txBody>
          <a:bodyPr>
            <a:normAutofit lnSpcReduction="10000"/>
          </a:bodyPr>
          <a:lstStyle/>
          <a:p>
            <a:pPr marL="571500">
              <a:lnSpc>
                <a:spcPct val="120000"/>
              </a:lnSpc>
              <a:spcBef>
                <a:spcPts val="1800"/>
              </a:spcBef>
            </a:pPr>
            <a:r>
              <a:rPr lang="en-US" sz="2500" dirty="0"/>
              <a:t>Embryonic stem cells that form the nervous system become:</a:t>
            </a:r>
          </a:p>
          <a:p>
            <a:pPr marL="1263650" lvl="1" indent="-349250">
              <a:lnSpc>
                <a:spcPct val="80000"/>
              </a:lnSpc>
              <a:spcBef>
                <a:spcPts val="1800"/>
              </a:spcBef>
              <a:buFont typeface="Courier New" panose="02070309020205020404" pitchFamily="49" charset="0"/>
              <a:buChar char="o"/>
            </a:pPr>
            <a:r>
              <a:rPr lang="en-US" sz="2500" b="1" dirty="0"/>
              <a:t>Neurons</a:t>
            </a:r>
            <a:r>
              <a:rPr lang="en-US" sz="2500" dirty="0"/>
              <a:t>: transmit information in the form of electrical signaling</a:t>
            </a:r>
          </a:p>
          <a:p>
            <a:pPr marL="1263650" lvl="1" indent="-349250">
              <a:lnSpc>
                <a:spcPct val="80000"/>
              </a:lnSpc>
              <a:spcBef>
                <a:spcPts val="1800"/>
              </a:spcBef>
              <a:buFont typeface="Courier New" panose="02070309020205020404" pitchFamily="49" charset="0"/>
              <a:buChar char="o"/>
            </a:pPr>
            <a:r>
              <a:rPr lang="en-US" sz="2500" b="1" dirty="0"/>
              <a:t>Glial cells</a:t>
            </a:r>
            <a:r>
              <a:rPr lang="en-US" sz="2500" dirty="0"/>
              <a:t>: provide metabolic support, protection, and insulation</a:t>
            </a:r>
          </a:p>
          <a:p>
            <a:pPr marL="571500">
              <a:lnSpc>
                <a:spcPct val="130000"/>
              </a:lnSpc>
              <a:spcBef>
                <a:spcPts val="1800"/>
              </a:spcBef>
            </a:pPr>
            <a:r>
              <a:rPr lang="en-US" altLang="en-US" sz="2500" b="1" dirty="0"/>
              <a:t>Sensory neurons</a:t>
            </a:r>
            <a:r>
              <a:rPr lang="en-US" altLang="en-US" sz="2500" dirty="0"/>
              <a:t>: convert physical stimuli into electrical signals</a:t>
            </a:r>
          </a:p>
          <a:p>
            <a:pPr marL="571500">
              <a:lnSpc>
                <a:spcPct val="130000"/>
              </a:lnSpc>
              <a:spcBef>
                <a:spcPts val="1800"/>
              </a:spcBef>
            </a:pPr>
            <a:r>
              <a:rPr lang="en-US" altLang="en-US" sz="2500" b="1" dirty="0"/>
              <a:t>Motor neurons</a:t>
            </a:r>
            <a:r>
              <a:rPr lang="en-US" altLang="en-US" sz="2500" dirty="0"/>
              <a:t>: direct biobehavioral responses appropriate for the situation.</a:t>
            </a:r>
          </a:p>
          <a:p>
            <a:pPr marL="571500">
              <a:lnSpc>
                <a:spcPct val="130000"/>
              </a:lnSpc>
              <a:spcBef>
                <a:spcPts val="1800"/>
              </a:spcBef>
            </a:pPr>
            <a:r>
              <a:rPr lang="en-US" altLang="en-US" sz="2500" b="1" dirty="0"/>
              <a:t>Interneurons</a:t>
            </a:r>
            <a:r>
              <a:rPr lang="en-US" altLang="en-US" sz="2500" dirty="0"/>
              <a:t>: in brain and spinal cord; form interacting neural circuits; responsible for conscious sensations, recognition, memory, decision-making, cognition.</a:t>
            </a:r>
          </a:p>
        </p:txBody>
      </p:sp>
    </p:spTree>
    <p:extLst>
      <p:ext uri="{BB962C8B-B14F-4D97-AF65-F5344CB8AC3E}">
        <p14:creationId xmlns:p14="http://schemas.microsoft.com/office/powerpoint/2010/main" val="26660090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kumimoji="0" lang="en-US" sz="3600" b="0" i="0" u="none" strike="noStrike" kern="1200" cap="none" spc="0" normalizeH="0" baseline="0" noProof="0" dirty="0">
                <a:ln>
                  <a:noFill/>
                </a:ln>
                <a:solidFill>
                  <a:srgbClr val="1F497D"/>
                </a:solidFill>
                <a:effectLst/>
                <a:uLnTx/>
                <a:uFillTx/>
                <a:latin typeface="Calibri"/>
                <a:ea typeface="+mj-ea"/>
                <a:cs typeface="+mj-cs"/>
              </a:rPr>
              <a:t>Cells of the Nervous System </a:t>
            </a:r>
            <a:r>
              <a:rPr kumimoji="0" lang="en-US" sz="1200" b="0" i="0" u="none" strike="noStrike" kern="1200" cap="none" spc="0" normalizeH="0" baseline="0" noProof="0" dirty="0">
                <a:ln>
                  <a:noFill/>
                </a:ln>
                <a:solidFill>
                  <a:srgbClr val="1F497D"/>
                </a:solidFill>
                <a:effectLst/>
                <a:uLnTx/>
                <a:uFillTx/>
                <a:latin typeface="Calibri"/>
                <a:ea typeface="+mj-ea"/>
                <a:cs typeface="+mj-cs"/>
              </a:rPr>
              <a:t>(2 of 13)</a:t>
            </a:r>
            <a:endParaRPr lang="en-US" dirty="0"/>
          </a:p>
        </p:txBody>
      </p:sp>
      <p:sp>
        <p:nvSpPr>
          <p:cNvPr id="3" name="Text Placeholder 2"/>
          <p:cNvSpPr>
            <a:spLocks noGrp="1"/>
          </p:cNvSpPr>
          <p:nvPr>
            <p:ph idx="1"/>
          </p:nvPr>
        </p:nvSpPr>
        <p:spPr>
          <a:xfrm>
            <a:off x="609600" y="1857781"/>
            <a:ext cx="10972800" cy="4525963"/>
          </a:xfrm>
        </p:spPr>
        <p:txBody>
          <a:bodyPr>
            <a:normAutofit fontScale="77500" lnSpcReduction="20000"/>
          </a:bodyPr>
          <a:lstStyle/>
          <a:p>
            <a:pPr marL="0" indent="0">
              <a:buNone/>
            </a:pPr>
            <a:r>
              <a:rPr lang="en-US" sz="2600" u="sng" dirty="0"/>
              <a:t>BOX 2.1  THE CUTTING EDGE</a:t>
            </a:r>
          </a:p>
          <a:p>
            <a:pPr marL="0" indent="0">
              <a:spcBef>
                <a:spcPts val="1800"/>
              </a:spcBef>
              <a:buNone/>
            </a:pPr>
            <a:r>
              <a:rPr lang="en-GB" sz="3500" i="1" dirty="0"/>
              <a:t>Embryonic Stem Cells</a:t>
            </a:r>
          </a:p>
          <a:p>
            <a:pPr marL="571500">
              <a:spcBef>
                <a:spcPts val="1800"/>
              </a:spcBef>
            </a:pPr>
            <a:r>
              <a:rPr lang="en-US" sz="3000" dirty="0"/>
              <a:t>Undifferentiated cells derived from very early-stage embryos; can proliferate and become specific cell types</a:t>
            </a:r>
          </a:p>
          <a:p>
            <a:pPr marL="571500">
              <a:spcBef>
                <a:spcPts val="1800"/>
              </a:spcBef>
            </a:pPr>
            <a:r>
              <a:rPr lang="en-US" sz="3000" dirty="0"/>
              <a:t>Benefits of stem cell research:</a:t>
            </a:r>
          </a:p>
          <a:p>
            <a:pPr marL="1263650" lvl="1" indent="-349250">
              <a:lnSpc>
                <a:spcPct val="80000"/>
              </a:lnSpc>
              <a:spcBef>
                <a:spcPts val="1800"/>
              </a:spcBef>
              <a:buFont typeface="Courier New" panose="02070309020205020404" pitchFamily="49" charset="0"/>
              <a:buChar char="o"/>
            </a:pPr>
            <a:r>
              <a:rPr lang="en-US" sz="3000" dirty="0"/>
              <a:t>Develop model systems to understand differentiation and aberrations in cancer and other diseases</a:t>
            </a:r>
          </a:p>
          <a:p>
            <a:pPr marL="1263650" lvl="1" indent="-349250">
              <a:lnSpc>
                <a:spcPct val="80000"/>
              </a:lnSpc>
              <a:spcBef>
                <a:spcPts val="1800"/>
              </a:spcBef>
              <a:buFont typeface="Courier New" panose="02070309020205020404" pitchFamily="49" charset="0"/>
              <a:buChar char="o"/>
            </a:pPr>
            <a:r>
              <a:rPr lang="en-US" sz="3000" dirty="0"/>
              <a:t>Drug development; screening for potential toxic effects</a:t>
            </a:r>
          </a:p>
          <a:p>
            <a:pPr marL="1263650" lvl="1" indent="-349250">
              <a:lnSpc>
                <a:spcPct val="80000"/>
              </a:lnSpc>
              <a:spcBef>
                <a:spcPts val="1800"/>
              </a:spcBef>
              <a:buFont typeface="Courier New" panose="02070309020205020404" pitchFamily="49" charset="0"/>
              <a:buChar char="o"/>
            </a:pPr>
            <a:r>
              <a:rPr lang="en-US" sz="3000" dirty="0"/>
              <a:t>Develop cell transplantation therapies for degenerative diseases</a:t>
            </a:r>
          </a:p>
          <a:p>
            <a:pPr marL="571500">
              <a:spcBef>
                <a:spcPts val="1800"/>
              </a:spcBef>
            </a:pPr>
            <a:r>
              <a:rPr lang="en-US" sz="3000" dirty="0"/>
              <a:t>Adult stem cells may also have promise but are more limited.</a:t>
            </a:r>
          </a:p>
        </p:txBody>
      </p:sp>
    </p:spTree>
    <p:extLst>
      <p:ext uri="{BB962C8B-B14F-4D97-AF65-F5344CB8AC3E}">
        <p14:creationId xmlns:p14="http://schemas.microsoft.com/office/powerpoint/2010/main" val="35634057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dirty="0"/>
              <a:t>Cells of the Nervous System </a:t>
            </a:r>
            <a:r>
              <a:rPr lang="en-US" sz="1200" dirty="0"/>
              <a:t>(3 of 13)</a:t>
            </a:r>
            <a:endParaRPr lang="en-US" dirty="0"/>
          </a:p>
        </p:txBody>
      </p:sp>
      <p:sp>
        <p:nvSpPr>
          <p:cNvPr id="3" name="Text Placeholder 2"/>
          <p:cNvSpPr>
            <a:spLocks noGrp="1"/>
          </p:cNvSpPr>
          <p:nvPr>
            <p:ph idx="1"/>
          </p:nvPr>
        </p:nvSpPr>
        <p:spPr>
          <a:xfrm>
            <a:off x="609600" y="1857781"/>
            <a:ext cx="10972800" cy="4525963"/>
          </a:xfrm>
        </p:spPr>
        <p:txBody>
          <a:bodyPr>
            <a:normAutofit fontScale="92500" lnSpcReduction="10000"/>
          </a:bodyPr>
          <a:lstStyle/>
          <a:p>
            <a:pPr marL="457200" indent="-457200">
              <a:lnSpc>
                <a:spcPct val="120000"/>
              </a:lnSpc>
              <a:spcBef>
                <a:spcPts val="1200"/>
              </a:spcBef>
              <a:buNone/>
            </a:pPr>
            <a:r>
              <a:rPr lang="en-US" sz="3500" dirty="0"/>
              <a:t>Neurons Have Three Major External Features</a:t>
            </a:r>
          </a:p>
          <a:p>
            <a:pPr marL="571500">
              <a:lnSpc>
                <a:spcPct val="110000"/>
              </a:lnSpc>
              <a:spcBef>
                <a:spcPts val="1800"/>
              </a:spcBef>
            </a:pPr>
            <a:r>
              <a:rPr lang="en-US" sz="2800" dirty="0"/>
              <a:t>Soma: cell body</a:t>
            </a:r>
          </a:p>
          <a:p>
            <a:pPr marL="571500">
              <a:lnSpc>
                <a:spcPct val="110000"/>
              </a:lnSpc>
              <a:spcBef>
                <a:spcPts val="1800"/>
              </a:spcBef>
            </a:pPr>
            <a:r>
              <a:rPr lang="en-US" sz="2800" dirty="0"/>
              <a:t>Dendrites: receive information from other cells across the </a:t>
            </a:r>
            <a:r>
              <a:rPr lang="en-US" sz="2800" b="1" dirty="0"/>
              <a:t>synapse </a:t>
            </a:r>
            <a:r>
              <a:rPr lang="en-US" sz="2800" dirty="0"/>
              <a:t>between them</a:t>
            </a:r>
          </a:p>
          <a:p>
            <a:pPr marL="571500">
              <a:lnSpc>
                <a:spcPct val="110000"/>
              </a:lnSpc>
              <a:spcBef>
                <a:spcPts val="1800"/>
              </a:spcBef>
            </a:pPr>
            <a:r>
              <a:rPr lang="en-US" sz="2800" dirty="0"/>
              <a:t>Axon: conducts signal (generated at the </a:t>
            </a:r>
            <a:r>
              <a:rPr lang="en-US" sz="2800" b="1" dirty="0"/>
              <a:t>axon hillock</a:t>
            </a:r>
            <a:r>
              <a:rPr lang="en-US" sz="2800" dirty="0"/>
              <a:t>) from cell body to axon terminal</a:t>
            </a:r>
          </a:p>
          <a:p>
            <a:pPr marL="571500">
              <a:lnSpc>
                <a:spcPct val="110000"/>
              </a:lnSpc>
              <a:spcBef>
                <a:spcPts val="1800"/>
              </a:spcBef>
            </a:pPr>
            <a:r>
              <a:rPr lang="en-US" sz="2800" dirty="0"/>
              <a:t>Like other cells, nerve cells have a cell membrane, cytoplasm, nucleus, mitochondria, and are bathed in extracellular fluid.</a:t>
            </a:r>
          </a:p>
        </p:txBody>
      </p:sp>
    </p:spTree>
    <p:extLst>
      <p:ext uri="{BB962C8B-B14F-4D97-AF65-F5344CB8AC3E}">
        <p14:creationId xmlns:p14="http://schemas.microsoft.com/office/powerpoint/2010/main" val="31397673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0E75C-014D-734E-8162-3626EE7A4AF9}"/>
              </a:ext>
            </a:extLst>
          </p:cNvPr>
          <p:cNvSpPr>
            <a:spLocks noGrp="1"/>
          </p:cNvSpPr>
          <p:nvPr>
            <p:ph type="title"/>
          </p:nvPr>
        </p:nvSpPr>
        <p:spPr/>
        <p:txBody>
          <a:bodyPr/>
          <a:lstStyle/>
          <a:p>
            <a:r>
              <a:rPr lang="en-US" dirty="0"/>
              <a:t>FIGURE 2.2  Principal parts of neurons  </a:t>
            </a:r>
          </a:p>
        </p:txBody>
      </p:sp>
      <p:pic>
        <p:nvPicPr>
          <p:cNvPr id="6" name="Content Placeholder 5" descr="A figure depicts the structure of neuron with its labeled parts. The cell body is the head of the neuron, with a rounded nucleus in the cytoplasm and branched dendrites around it. The soma (cell body) connects to the axon via an axon hillock, which is encased in a myelin sheath, and the axon's center point is referred to as the node of Ranvier. The axon splits into two axon collaterals at the base, resulting in branching terminal buttons."/>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659978" y="479425"/>
            <a:ext cx="2872045" cy="6300788"/>
          </a:xfrm>
        </p:spPr>
      </p:pic>
    </p:spTree>
    <p:extLst>
      <p:ext uri="{BB962C8B-B14F-4D97-AF65-F5344CB8AC3E}">
        <p14:creationId xmlns:p14="http://schemas.microsoft.com/office/powerpoint/2010/main" val="28533935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dirty="0"/>
              <a:t>Cells of the Nervous System </a:t>
            </a:r>
            <a:r>
              <a:rPr lang="en-US" sz="1200" dirty="0"/>
              <a:t>(4 of 13)</a:t>
            </a:r>
            <a:endParaRPr lang="en-US" dirty="0"/>
          </a:p>
        </p:txBody>
      </p:sp>
      <p:sp>
        <p:nvSpPr>
          <p:cNvPr id="3" name="Text Placeholder 2"/>
          <p:cNvSpPr>
            <a:spLocks noGrp="1"/>
          </p:cNvSpPr>
          <p:nvPr>
            <p:ph idx="1"/>
          </p:nvPr>
        </p:nvSpPr>
        <p:spPr>
          <a:xfrm>
            <a:off x="609600" y="1857781"/>
            <a:ext cx="10972800" cy="4525963"/>
          </a:xfrm>
        </p:spPr>
        <p:txBody>
          <a:bodyPr>
            <a:normAutofit fontScale="92500"/>
          </a:bodyPr>
          <a:lstStyle/>
          <a:p>
            <a:pPr marL="457200" indent="-457200">
              <a:lnSpc>
                <a:spcPct val="120000"/>
              </a:lnSpc>
              <a:spcBef>
                <a:spcPts val="1200"/>
              </a:spcBef>
              <a:buNone/>
            </a:pPr>
            <a:r>
              <a:rPr lang="en-US" sz="3500" dirty="0"/>
              <a:t>Neurons Have Three Major External Features</a:t>
            </a:r>
          </a:p>
          <a:p>
            <a:pPr marL="571500">
              <a:lnSpc>
                <a:spcPct val="110000"/>
              </a:lnSpc>
              <a:spcBef>
                <a:spcPts val="1800"/>
              </a:spcBef>
            </a:pPr>
            <a:r>
              <a:rPr lang="en-US" sz="2800" dirty="0"/>
              <a:t>Dendrites and soma have thousands of receptors that respond to chemical signals; effect may be excitatory or inhibitory</a:t>
            </a:r>
          </a:p>
          <a:p>
            <a:pPr marL="571500">
              <a:lnSpc>
                <a:spcPct val="110000"/>
              </a:lnSpc>
              <a:spcBef>
                <a:spcPts val="1800"/>
              </a:spcBef>
            </a:pPr>
            <a:r>
              <a:rPr lang="en-US" sz="2800" b="1" dirty="0"/>
              <a:t>Convergence</a:t>
            </a:r>
            <a:r>
              <a:rPr lang="en-US" sz="2800" dirty="0"/>
              <a:t>: each neuron receives/integrates information from many cells</a:t>
            </a:r>
          </a:p>
          <a:p>
            <a:pPr marL="571500">
              <a:lnSpc>
                <a:spcPct val="110000"/>
              </a:lnSpc>
              <a:spcBef>
                <a:spcPts val="1800"/>
              </a:spcBef>
            </a:pPr>
            <a:r>
              <a:rPr lang="en-US" sz="2800" b="1" dirty="0"/>
              <a:t>Divergence</a:t>
            </a:r>
            <a:r>
              <a:rPr lang="en-US" sz="2800" dirty="0"/>
              <a:t>: information may be transmitted to a few or thousands of other neurons</a:t>
            </a:r>
          </a:p>
          <a:p>
            <a:pPr marL="571500">
              <a:lnSpc>
                <a:spcPct val="110000"/>
              </a:lnSpc>
              <a:spcBef>
                <a:spcPts val="1800"/>
              </a:spcBef>
            </a:pPr>
            <a:r>
              <a:rPr lang="en-US" sz="2800" dirty="0"/>
              <a:t>Dendritic spines increase the receiving surface area</a:t>
            </a:r>
          </a:p>
        </p:txBody>
      </p:sp>
    </p:spTree>
    <p:extLst>
      <p:ext uri="{BB962C8B-B14F-4D97-AF65-F5344CB8AC3E}">
        <p14:creationId xmlns:p14="http://schemas.microsoft.com/office/powerpoint/2010/main" val="25334486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dirty="0"/>
              <a:t>Cells of the Nervous System </a:t>
            </a:r>
            <a:r>
              <a:rPr lang="en-US" sz="1200" dirty="0"/>
              <a:t>(5 of 13)</a:t>
            </a:r>
            <a:endParaRPr lang="en-US" dirty="0"/>
          </a:p>
        </p:txBody>
      </p:sp>
      <p:sp>
        <p:nvSpPr>
          <p:cNvPr id="3" name="Text Placeholder 2"/>
          <p:cNvSpPr>
            <a:spLocks noGrp="1"/>
          </p:cNvSpPr>
          <p:nvPr>
            <p:ph idx="1"/>
          </p:nvPr>
        </p:nvSpPr>
        <p:spPr>
          <a:xfrm>
            <a:off x="609600" y="1857781"/>
            <a:ext cx="10972800" cy="4525963"/>
          </a:xfrm>
        </p:spPr>
        <p:txBody>
          <a:bodyPr/>
          <a:lstStyle/>
          <a:p>
            <a:pPr marL="457200" indent="-457200">
              <a:lnSpc>
                <a:spcPct val="120000"/>
              </a:lnSpc>
              <a:spcBef>
                <a:spcPts val="1200"/>
              </a:spcBef>
              <a:buNone/>
            </a:pPr>
            <a:r>
              <a:rPr lang="en-US" dirty="0"/>
              <a:t>Neurons Have Three Major External Features</a:t>
            </a:r>
          </a:p>
          <a:p>
            <a:pPr marL="571500">
              <a:lnSpc>
                <a:spcPct val="110000"/>
              </a:lnSpc>
              <a:spcBef>
                <a:spcPts val="1800"/>
              </a:spcBef>
            </a:pPr>
            <a:r>
              <a:rPr lang="en-US" sz="2800" dirty="0"/>
              <a:t>Dendrites and spines are constantly modified and can change in size, shape and in response to changes in synaptic transmission.</a:t>
            </a:r>
          </a:p>
          <a:p>
            <a:pPr marL="571500">
              <a:lnSpc>
                <a:spcPct val="110000"/>
              </a:lnSpc>
              <a:spcBef>
                <a:spcPts val="1800"/>
              </a:spcBef>
            </a:pPr>
            <a:r>
              <a:rPr lang="en-US" sz="2800" dirty="0"/>
              <a:t>These changes occur throughout life and are essential for learning.</a:t>
            </a:r>
          </a:p>
          <a:p>
            <a:pPr marL="571500">
              <a:lnSpc>
                <a:spcPct val="110000"/>
              </a:lnSpc>
              <a:spcBef>
                <a:spcPts val="1800"/>
              </a:spcBef>
            </a:pPr>
            <a:r>
              <a:rPr lang="en-US" sz="2800" dirty="0"/>
              <a:t>Patients with mental impairments have fewer or smaller dendritic spines.</a:t>
            </a:r>
          </a:p>
          <a:p>
            <a:endParaRPr lang="en-US" dirty="0"/>
          </a:p>
        </p:txBody>
      </p:sp>
    </p:spTree>
    <p:extLst>
      <p:ext uri="{BB962C8B-B14F-4D97-AF65-F5344CB8AC3E}">
        <p14:creationId xmlns:p14="http://schemas.microsoft.com/office/powerpoint/2010/main" val="29521908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dirty="0"/>
              <a:t>Cells of the Nervous System </a:t>
            </a:r>
            <a:r>
              <a:rPr lang="en-US" sz="1200" dirty="0"/>
              <a:t>(6 of 13)</a:t>
            </a:r>
            <a:endParaRPr lang="en-US" dirty="0"/>
          </a:p>
        </p:txBody>
      </p:sp>
      <p:sp>
        <p:nvSpPr>
          <p:cNvPr id="3" name="Text Placeholder 2"/>
          <p:cNvSpPr>
            <a:spLocks noGrp="1"/>
          </p:cNvSpPr>
          <p:nvPr>
            <p:ph idx="1"/>
          </p:nvPr>
        </p:nvSpPr>
        <p:spPr>
          <a:xfrm>
            <a:off x="609600" y="1857781"/>
            <a:ext cx="10972800" cy="4525963"/>
          </a:xfrm>
        </p:spPr>
        <p:txBody>
          <a:bodyPr>
            <a:normAutofit fontScale="85000" lnSpcReduction="20000"/>
          </a:bodyPr>
          <a:lstStyle/>
          <a:p>
            <a:pPr marL="457200" indent="-457200">
              <a:lnSpc>
                <a:spcPct val="130000"/>
              </a:lnSpc>
              <a:spcBef>
                <a:spcPts val="1200"/>
              </a:spcBef>
              <a:buNone/>
            </a:pPr>
            <a:r>
              <a:rPr lang="en-US" sz="3800" dirty="0"/>
              <a:t>Neurons Have Three Major External Features</a:t>
            </a:r>
          </a:p>
          <a:p>
            <a:pPr marL="571500">
              <a:lnSpc>
                <a:spcPct val="120000"/>
              </a:lnSpc>
              <a:spcBef>
                <a:spcPts val="1800"/>
              </a:spcBef>
            </a:pPr>
            <a:r>
              <a:rPr lang="en-US" sz="3000" dirty="0"/>
              <a:t>Axons transmit electrical signals from the axon hillock to the terminals.</a:t>
            </a:r>
          </a:p>
          <a:p>
            <a:pPr marL="571500">
              <a:lnSpc>
                <a:spcPct val="120000"/>
              </a:lnSpc>
              <a:spcBef>
                <a:spcPts val="1800"/>
              </a:spcBef>
            </a:pPr>
            <a:r>
              <a:rPr lang="en-US" sz="3000" dirty="0"/>
              <a:t>Axons may branch to form </a:t>
            </a:r>
            <a:r>
              <a:rPr lang="en-US" sz="3000" b="1" dirty="0"/>
              <a:t>axon collaterals</a:t>
            </a:r>
            <a:r>
              <a:rPr lang="en-US" sz="3000" dirty="0"/>
              <a:t>.</a:t>
            </a:r>
          </a:p>
          <a:p>
            <a:pPr marL="571500">
              <a:lnSpc>
                <a:spcPct val="120000"/>
              </a:lnSpc>
              <a:spcBef>
                <a:spcPts val="1800"/>
              </a:spcBef>
            </a:pPr>
            <a:r>
              <a:rPr lang="en-US" sz="3000" dirty="0"/>
              <a:t>Terminal buttons have </a:t>
            </a:r>
            <a:r>
              <a:rPr lang="en-US" sz="3000" b="1" dirty="0"/>
              <a:t>synaptic vesicles </a:t>
            </a:r>
            <a:r>
              <a:rPr lang="en-US" sz="3000" dirty="0"/>
              <a:t>containing </a:t>
            </a:r>
            <a:r>
              <a:rPr lang="en-US" sz="3000" b="1" dirty="0"/>
              <a:t>neurotransmitter</a:t>
            </a:r>
            <a:r>
              <a:rPr lang="en-US" sz="3000" dirty="0"/>
              <a:t> chemicals.</a:t>
            </a:r>
          </a:p>
          <a:p>
            <a:pPr marL="571500">
              <a:lnSpc>
                <a:spcPct val="120000"/>
              </a:lnSpc>
              <a:spcBef>
                <a:spcPts val="1800"/>
              </a:spcBef>
            </a:pPr>
            <a:r>
              <a:rPr lang="en-US" sz="3000" dirty="0"/>
              <a:t>Most axons are wrapped with </a:t>
            </a:r>
            <a:r>
              <a:rPr lang="en-US" sz="3000" b="1" dirty="0"/>
              <a:t>myelin</a:t>
            </a:r>
            <a:r>
              <a:rPr lang="en-US" sz="3000" dirty="0"/>
              <a:t> sheath, a fatty insulating coating created by layers of glial cells. </a:t>
            </a:r>
            <a:r>
              <a:rPr lang="en-US" sz="3000" b="1" dirty="0"/>
              <a:t>Nodes of Ranvier </a:t>
            </a:r>
            <a:r>
              <a:rPr lang="en-US" sz="3000" dirty="0"/>
              <a:t>are breaks in the myelin sheath, where action potentials are regenerated.</a:t>
            </a:r>
          </a:p>
        </p:txBody>
      </p:sp>
    </p:spTree>
    <p:extLst>
      <p:ext uri="{BB962C8B-B14F-4D97-AF65-F5344CB8AC3E}">
        <p14:creationId xmlns:p14="http://schemas.microsoft.com/office/powerpoint/2010/main" val="428395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dirty="0"/>
              <a:t>Cells of the Nervous System </a:t>
            </a:r>
            <a:r>
              <a:rPr lang="en-US" sz="1200" dirty="0"/>
              <a:t>(7 of 13)</a:t>
            </a:r>
            <a:endParaRPr lang="en-US" dirty="0"/>
          </a:p>
        </p:txBody>
      </p:sp>
      <p:sp>
        <p:nvSpPr>
          <p:cNvPr id="3" name="Text Placeholder 2"/>
          <p:cNvSpPr>
            <a:spLocks noGrp="1"/>
          </p:cNvSpPr>
          <p:nvPr>
            <p:ph idx="1"/>
          </p:nvPr>
        </p:nvSpPr>
        <p:spPr>
          <a:xfrm>
            <a:off x="609600" y="1857781"/>
            <a:ext cx="10972800" cy="4525963"/>
          </a:xfrm>
        </p:spPr>
        <p:txBody>
          <a:bodyPr>
            <a:normAutofit/>
          </a:bodyPr>
          <a:lstStyle/>
          <a:p>
            <a:pPr marL="457200" indent="-457200">
              <a:lnSpc>
                <a:spcPct val="120000"/>
              </a:lnSpc>
              <a:spcBef>
                <a:spcPts val="1200"/>
              </a:spcBef>
              <a:buNone/>
            </a:pPr>
            <a:r>
              <a:rPr lang="en-US" dirty="0"/>
              <a:t>Neurons Have Three Major External Features</a:t>
            </a:r>
          </a:p>
          <a:p>
            <a:pPr marL="571500">
              <a:lnSpc>
                <a:spcPct val="110000"/>
              </a:lnSpc>
              <a:spcBef>
                <a:spcPts val="1800"/>
              </a:spcBef>
            </a:pPr>
            <a:r>
              <a:rPr lang="en-US" sz="2800" dirty="0"/>
              <a:t>Soma: performs most metabolic functions</a:t>
            </a:r>
          </a:p>
          <a:p>
            <a:pPr marL="571500">
              <a:lnSpc>
                <a:spcPct val="110000"/>
              </a:lnSpc>
              <a:spcBef>
                <a:spcPts val="1800"/>
              </a:spcBef>
            </a:pPr>
            <a:r>
              <a:rPr lang="en-US" altLang="en-US" sz="2800" dirty="0"/>
              <a:t>Nucleus contains pairs of </a:t>
            </a:r>
            <a:r>
              <a:rPr lang="en-US" altLang="en-US" sz="2800" b="1" dirty="0"/>
              <a:t>chromosomes</a:t>
            </a:r>
            <a:r>
              <a:rPr lang="en-US" altLang="en-US" sz="2800" dirty="0"/>
              <a:t> (strands of DNA); a </a:t>
            </a:r>
            <a:r>
              <a:rPr lang="en-US" altLang="en-US" sz="2800" b="1" dirty="0"/>
              <a:t>gene</a:t>
            </a:r>
            <a:r>
              <a:rPr lang="en-US" altLang="en-US" sz="2800" dirty="0"/>
              <a:t> is a section of chromosome that codes for a specific protein.</a:t>
            </a:r>
          </a:p>
          <a:p>
            <a:pPr marL="571500">
              <a:lnSpc>
                <a:spcPct val="110000"/>
              </a:lnSpc>
              <a:spcBef>
                <a:spcPts val="1800"/>
              </a:spcBef>
            </a:pPr>
            <a:r>
              <a:rPr lang="en-US" sz="2800" b="1" dirty="0"/>
              <a:t>Transcription factors</a:t>
            </a:r>
            <a:r>
              <a:rPr lang="en-US" sz="2800" dirty="0"/>
              <a:t>: proteins that promote or obstruct formation of mRNAs by binding to the </a:t>
            </a:r>
            <a:r>
              <a:rPr lang="en-US" sz="2800" b="1" dirty="0"/>
              <a:t>promoter region </a:t>
            </a:r>
            <a:r>
              <a:rPr lang="en-US" sz="2800" dirty="0"/>
              <a:t>of the gene, modifying its rate of transcription</a:t>
            </a:r>
            <a:endParaRPr lang="en-US" altLang="en-US" sz="2800" dirty="0"/>
          </a:p>
        </p:txBody>
      </p:sp>
    </p:spTree>
    <p:extLst>
      <p:ext uri="{BB962C8B-B14F-4D97-AF65-F5344CB8AC3E}">
        <p14:creationId xmlns:p14="http://schemas.microsoft.com/office/powerpoint/2010/main" val="10172047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dirty="0"/>
              <a:t>Cells of the Nervous System </a:t>
            </a:r>
            <a:r>
              <a:rPr lang="en-US" sz="1200" dirty="0"/>
              <a:t>(8 of 13)</a:t>
            </a:r>
            <a:endParaRPr lang="en-US" dirty="0"/>
          </a:p>
        </p:txBody>
      </p:sp>
      <p:sp>
        <p:nvSpPr>
          <p:cNvPr id="3" name="Text Placeholder 2"/>
          <p:cNvSpPr>
            <a:spLocks noGrp="1"/>
          </p:cNvSpPr>
          <p:nvPr>
            <p:ph idx="1"/>
          </p:nvPr>
        </p:nvSpPr>
        <p:spPr>
          <a:xfrm>
            <a:off x="609600" y="1857781"/>
            <a:ext cx="10972800" cy="4525963"/>
          </a:xfrm>
        </p:spPr>
        <p:txBody>
          <a:bodyPr/>
          <a:lstStyle/>
          <a:p>
            <a:pPr marL="457200" indent="-457200">
              <a:lnSpc>
                <a:spcPct val="120000"/>
              </a:lnSpc>
              <a:spcBef>
                <a:spcPts val="1200"/>
              </a:spcBef>
              <a:buNone/>
            </a:pPr>
            <a:r>
              <a:rPr lang="en-US" dirty="0"/>
              <a:t>Neurons Have Three Major External Features</a:t>
            </a:r>
          </a:p>
          <a:p>
            <a:pPr marL="571500">
              <a:lnSpc>
                <a:spcPct val="110000"/>
              </a:lnSpc>
              <a:spcBef>
                <a:spcPts val="1800"/>
              </a:spcBef>
            </a:pPr>
            <a:r>
              <a:rPr lang="en-US" sz="2800" b="1" dirty="0"/>
              <a:t>Transcription</a:t>
            </a:r>
            <a:r>
              <a:rPr lang="en-US" sz="2800" dirty="0"/>
              <a:t>: production of complementary mRNA from DNA; takes place in nucleus</a:t>
            </a:r>
          </a:p>
          <a:p>
            <a:pPr marL="571500">
              <a:lnSpc>
                <a:spcPct val="110000"/>
              </a:lnSpc>
              <a:spcBef>
                <a:spcPts val="1800"/>
              </a:spcBef>
            </a:pPr>
            <a:r>
              <a:rPr lang="en-US" sz="2800" b="1" dirty="0"/>
              <a:t>Translation</a:t>
            </a:r>
            <a:r>
              <a:rPr lang="en-US" sz="2800" dirty="0"/>
              <a:t>: building protein molecules by linking amino acids specified by mRNA; takes place on </a:t>
            </a:r>
            <a:r>
              <a:rPr lang="en-US" sz="2800" b="1" dirty="0"/>
              <a:t>ribosomes</a:t>
            </a:r>
            <a:r>
              <a:rPr lang="en-US" sz="2800" dirty="0"/>
              <a:t> in the cytoplasm</a:t>
            </a:r>
          </a:p>
          <a:p>
            <a:pPr marL="571500">
              <a:lnSpc>
                <a:spcPct val="110000"/>
              </a:lnSpc>
              <a:spcBef>
                <a:spcPts val="1800"/>
              </a:spcBef>
            </a:pPr>
            <a:r>
              <a:rPr lang="en-US" sz="2800" b="1" dirty="0"/>
              <a:t>Epigenetics</a:t>
            </a:r>
            <a:r>
              <a:rPr lang="en-US" sz="2800" dirty="0"/>
              <a:t>: control of gene expression by chromosome modifications that don’t </a:t>
            </a:r>
            <a:r>
              <a:rPr lang="en-US" altLang="ja-JP" sz="2800" dirty="0"/>
              <a:t>affect the DNA code</a:t>
            </a:r>
          </a:p>
        </p:txBody>
      </p:sp>
    </p:spTree>
    <p:extLst>
      <p:ext uri="{BB962C8B-B14F-4D97-AF65-F5344CB8AC3E}">
        <p14:creationId xmlns:p14="http://schemas.microsoft.com/office/powerpoint/2010/main" val="22251601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77D06-BC2E-8B4D-A705-0470FC816A3A}"/>
              </a:ext>
            </a:extLst>
          </p:cNvPr>
          <p:cNvSpPr>
            <a:spLocks noGrp="1"/>
          </p:cNvSpPr>
          <p:nvPr>
            <p:ph type="title"/>
          </p:nvPr>
        </p:nvSpPr>
        <p:spPr/>
        <p:txBody>
          <a:bodyPr/>
          <a:lstStyle/>
          <a:p>
            <a:r>
              <a:rPr lang="en-US" dirty="0"/>
              <a:t>FIGURE 2.5  Stages of protein synthesis </a:t>
            </a:r>
          </a:p>
        </p:txBody>
      </p:sp>
      <p:pic>
        <p:nvPicPr>
          <p:cNvPr id="8" name="Content Placeholder 7" descr="An illustration depicts the three consecutive phases of protein synthesis. The transcription factor binds to the promoter region of the DNA and stimulates the transcription of the gene's coding region in the first phase. The double strand of the DNA coding region unwinds in the second phase, allowing the mRNA to duplicate the nucleotide sequence. The assembly of the RNA molecule is depicted here. The mRNA leaves the nucleus and connects to ribosomes in the cytoplasm, where the amino acids are linked according to the formula to form the protein in the third phase.">
            <a:extLst>
              <a:ext uri="{FF2B5EF4-FFF2-40B4-BE49-F238E27FC236}">
                <a16:creationId xmlns:a16="http://schemas.microsoft.com/office/drawing/2014/main" id="{58537E67-A529-4743-97DF-89D0FF8A97CC}"/>
              </a:ext>
            </a:extLst>
          </p:cNvPr>
          <p:cNvPicPr>
            <a:picLocks noGrp="1" noChangeAspect="1"/>
          </p:cNvPicPr>
          <p:nvPr>
            <p:ph sz="quarter" idx="10"/>
          </p:nvPr>
        </p:nvPicPr>
        <p:blipFill>
          <a:blip r:embed="rId3"/>
          <a:stretch>
            <a:fillRect/>
          </a:stretch>
        </p:blipFill>
        <p:spPr>
          <a:xfrm>
            <a:off x="4647325" y="479425"/>
            <a:ext cx="2897350" cy="6300788"/>
          </a:xfrm>
        </p:spPr>
      </p:pic>
    </p:spTree>
    <p:extLst>
      <p:ext uri="{BB962C8B-B14F-4D97-AF65-F5344CB8AC3E}">
        <p14:creationId xmlns:p14="http://schemas.microsoft.com/office/powerpoint/2010/main" val="13008799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dirty="0"/>
              <a:t>Cells of the Nervous System </a:t>
            </a:r>
            <a:r>
              <a:rPr lang="en-US" sz="1200" dirty="0"/>
              <a:t>(9 of 13)</a:t>
            </a:r>
            <a:endParaRPr lang="en-US" dirty="0"/>
          </a:p>
        </p:txBody>
      </p:sp>
      <p:sp>
        <p:nvSpPr>
          <p:cNvPr id="3" name="Text Placeholder 2"/>
          <p:cNvSpPr>
            <a:spLocks noGrp="1"/>
          </p:cNvSpPr>
          <p:nvPr>
            <p:ph idx="1"/>
          </p:nvPr>
        </p:nvSpPr>
        <p:spPr>
          <a:xfrm>
            <a:off x="609600" y="1857781"/>
            <a:ext cx="10972800" cy="4525963"/>
          </a:xfrm>
        </p:spPr>
        <p:txBody>
          <a:bodyPr>
            <a:normAutofit fontScale="92500" lnSpcReduction="20000"/>
          </a:bodyPr>
          <a:lstStyle/>
          <a:p>
            <a:pPr marL="457200" indent="-457200">
              <a:lnSpc>
                <a:spcPct val="120000"/>
              </a:lnSpc>
              <a:spcBef>
                <a:spcPts val="1200"/>
              </a:spcBef>
              <a:buNone/>
            </a:pPr>
            <a:r>
              <a:rPr lang="en-US" dirty="0"/>
              <a:t>Neurons Have Three Major External Features</a:t>
            </a:r>
          </a:p>
          <a:p>
            <a:pPr marL="571500">
              <a:lnSpc>
                <a:spcPct val="110000"/>
              </a:lnSpc>
              <a:spcBef>
                <a:spcPts val="1800"/>
              </a:spcBef>
            </a:pPr>
            <a:r>
              <a:rPr lang="en-US" sz="3000" dirty="0"/>
              <a:t>Epigenetic modifications:</a:t>
            </a:r>
          </a:p>
          <a:p>
            <a:pPr marL="1263650" lvl="1" indent="-349250">
              <a:spcBef>
                <a:spcPts val="1800"/>
              </a:spcBef>
              <a:buFont typeface="Courier New" panose="02070309020205020404" pitchFamily="49" charset="0"/>
              <a:buChar char="o"/>
            </a:pPr>
            <a:r>
              <a:rPr lang="en-US" sz="3000" b="1" dirty="0"/>
              <a:t>DNA Methylation</a:t>
            </a:r>
            <a:r>
              <a:rPr lang="en-US" sz="3000" dirty="0"/>
              <a:t>: attachment of methyl groups</a:t>
            </a:r>
          </a:p>
          <a:p>
            <a:pPr marL="1263650" lvl="1" indent="-349250">
              <a:spcBef>
                <a:spcPts val="1800"/>
              </a:spcBef>
              <a:buFont typeface="Courier New" panose="02070309020205020404" pitchFamily="49" charset="0"/>
              <a:buChar char="o"/>
            </a:pPr>
            <a:r>
              <a:rPr lang="en-US" sz="3000" b="1" dirty="0"/>
              <a:t>Chromatin remodeling</a:t>
            </a:r>
            <a:r>
              <a:rPr lang="en-US" sz="3000" dirty="0"/>
              <a:t>: Chemical modification of histone tails promotes or prevents transcription and changes gene expression.</a:t>
            </a:r>
          </a:p>
          <a:p>
            <a:pPr marL="571500">
              <a:lnSpc>
                <a:spcPct val="120000"/>
              </a:lnSpc>
              <a:spcBef>
                <a:spcPts val="1800"/>
              </a:spcBef>
            </a:pPr>
            <a:r>
              <a:rPr lang="en-US" sz="2800" dirty="0"/>
              <a:t>Epigenetic modification can occur in response to environmental factors.</a:t>
            </a:r>
          </a:p>
          <a:p>
            <a:pPr marL="571500">
              <a:lnSpc>
                <a:spcPct val="120000"/>
              </a:lnSpc>
              <a:spcBef>
                <a:spcPts val="1800"/>
              </a:spcBef>
            </a:pPr>
            <a:r>
              <a:rPr lang="en-US" sz="2800" dirty="0"/>
              <a:t>Epigenetic changes may help explain addictions and aspects of neurological and psychiatric disorders.</a:t>
            </a:r>
          </a:p>
        </p:txBody>
      </p:sp>
    </p:spTree>
    <p:extLst>
      <p:ext uri="{BB962C8B-B14F-4D97-AF65-F5344CB8AC3E}">
        <p14:creationId xmlns:p14="http://schemas.microsoft.com/office/powerpoint/2010/main" val="6752817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42CC0-EF61-9D4F-ABE1-10D0D9A1F39F}"/>
              </a:ext>
            </a:extLst>
          </p:cNvPr>
          <p:cNvSpPr>
            <a:spLocks noGrp="1"/>
          </p:cNvSpPr>
          <p:nvPr>
            <p:ph type="title"/>
          </p:nvPr>
        </p:nvSpPr>
        <p:spPr/>
        <p:txBody>
          <a:bodyPr/>
          <a:lstStyle/>
          <a:p>
            <a:r>
              <a:rPr lang="en-US" dirty="0"/>
              <a:t>FIGURE 2.6  Epigenetic regulation of gene transcription </a:t>
            </a:r>
          </a:p>
        </p:txBody>
      </p:sp>
      <p:pic>
        <p:nvPicPr>
          <p:cNvPr id="6" name="Content Placeholder 5" descr="A figure depicts the structure of chromatin. A pair of binded H2A (Histone), H2B, H3, and H4 with histonic tails protruding out is illustrated. The double-helix DNA bundles these elements.&#10;&#10;A figure depicts the active state of histone, where the histones are interlinked with the binded DNA and histonic tails labeled. The transcription factor and co-activator are connected to the basal transcription complex, which is located among the histone molecules. Acetylation is more dominant in the active state, whereas methylation and phosphorylation are prevalent.&#10;&#10;A figure depicts the inactive state of histone, where the histones are interlinked with the repressor protein amidst the cluster. When compared to acetylation and phosphorylation, methylation is more evident in the inactive state."/>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2243410" y="479425"/>
            <a:ext cx="7705180" cy="6300788"/>
          </a:xfrm>
        </p:spPr>
      </p:pic>
    </p:spTree>
    <p:extLst>
      <p:ext uri="{BB962C8B-B14F-4D97-AF65-F5344CB8AC3E}">
        <p14:creationId xmlns:p14="http://schemas.microsoft.com/office/powerpoint/2010/main" val="27184282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dirty="0"/>
              <a:t>Cells of the Nervous System </a:t>
            </a:r>
            <a:r>
              <a:rPr lang="en-US" sz="1200" dirty="0"/>
              <a:t>(10 of 13)</a:t>
            </a:r>
            <a:endParaRPr lang="en-US" dirty="0"/>
          </a:p>
        </p:txBody>
      </p:sp>
      <p:sp>
        <p:nvSpPr>
          <p:cNvPr id="3" name="Text Placeholder 2"/>
          <p:cNvSpPr>
            <a:spLocks noGrp="1"/>
          </p:cNvSpPr>
          <p:nvPr>
            <p:ph idx="1"/>
          </p:nvPr>
        </p:nvSpPr>
        <p:spPr>
          <a:xfrm>
            <a:off x="609600" y="1857781"/>
            <a:ext cx="10972800" cy="4525963"/>
          </a:xfrm>
        </p:spPr>
        <p:txBody>
          <a:bodyPr>
            <a:normAutofit/>
          </a:bodyPr>
          <a:lstStyle/>
          <a:p>
            <a:pPr marL="457200" indent="-457200">
              <a:lnSpc>
                <a:spcPct val="110000"/>
              </a:lnSpc>
              <a:spcBef>
                <a:spcPts val="1200"/>
              </a:spcBef>
              <a:buNone/>
            </a:pPr>
            <a:r>
              <a:rPr lang="en-US" dirty="0"/>
              <a:t>Neurons Have Three Major External Features</a:t>
            </a:r>
          </a:p>
          <a:p>
            <a:pPr marL="571500">
              <a:spcBef>
                <a:spcPts val="1800"/>
              </a:spcBef>
            </a:pPr>
            <a:r>
              <a:rPr lang="en-US" altLang="en-US" sz="2800" b="1" dirty="0"/>
              <a:t>Axoplasmic transport</a:t>
            </a:r>
            <a:r>
              <a:rPr lang="en-US" altLang="en-US" sz="2800" dirty="0"/>
              <a:t>: proteins made in the soma must be transported to the axon terminals</a:t>
            </a:r>
          </a:p>
          <a:p>
            <a:pPr marL="571500">
              <a:spcBef>
                <a:spcPts val="1800"/>
              </a:spcBef>
            </a:pPr>
            <a:r>
              <a:rPr lang="en-US" altLang="en-US" sz="2800" dirty="0"/>
              <a:t>Depends on structures in the </a:t>
            </a:r>
            <a:r>
              <a:rPr lang="en-US" altLang="en-US" sz="2800" b="1" dirty="0"/>
              <a:t>cytoskeleton</a:t>
            </a:r>
            <a:r>
              <a:rPr lang="en-US" altLang="en-US" sz="2800" dirty="0"/>
              <a:t>—microtubules and neurofilaments that provide the cell shape</a:t>
            </a:r>
          </a:p>
          <a:p>
            <a:pPr marL="571500">
              <a:spcBef>
                <a:spcPts val="1800"/>
              </a:spcBef>
            </a:pPr>
            <a:r>
              <a:rPr lang="en-US" altLang="en-US" sz="2800" dirty="0"/>
              <a:t>Microtubules form a track for protein transport to the axon terminals, and back.</a:t>
            </a:r>
          </a:p>
        </p:txBody>
      </p:sp>
    </p:spTree>
    <p:extLst>
      <p:ext uri="{BB962C8B-B14F-4D97-AF65-F5344CB8AC3E}">
        <p14:creationId xmlns:p14="http://schemas.microsoft.com/office/powerpoint/2010/main" val="30552954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61BFF-F4B4-8B4E-841E-EFC94B37567E}"/>
              </a:ext>
            </a:extLst>
          </p:cNvPr>
          <p:cNvSpPr>
            <a:spLocks noGrp="1"/>
          </p:cNvSpPr>
          <p:nvPr>
            <p:ph type="title"/>
          </p:nvPr>
        </p:nvSpPr>
        <p:spPr/>
        <p:txBody>
          <a:bodyPr/>
          <a:lstStyle/>
          <a:p>
            <a:r>
              <a:rPr lang="en-US" dirty="0"/>
              <a:t>FIGURE 2.7  Axoplasmic transport </a:t>
            </a:r>
          </a:p>
        </p:txBody>
      </p:sp>
      <p:pic>
        <p:nvPicPr>
          <p:cNvPr id="6" name="Content Placeholder 5" descr="An illustration depicts the transport of synthesized protein in an axon. In the anterograde transport, the packet containing newly generated protein is carried through the axon on a microtubule to the terminal, where anterograde motor protein is activated and retrograde protein is inactivated. In the organelle containing waste material, it is carried from the terminal to the cell body via the microtubule of an axon, where the retrograde motor protein is activated and anterograde protein is inactivated."/>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673549"/>
            <a:ext cx="11376025" cy="5912539"/>
          </a:xfrm>
        </p:spPr>
      </p:pic>
    </p:spTree>
    <p:extLst>
      <p:ext uri="{BB962C8B-B14F-4D97-AF65-F5344CB8AC3E}">
        <p14:creationId xmlns:p14="http://schemas.microsoft.com/office/powerpoint/2010/main" val="38377860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dirty="0"/>
              <a:t>Cells of the Nervous System </a:t>
            </a:r>
            <a:r>
              <a:rPr lang="en-US" sz="1200" dirty="0"/>
              <a:t>(11 of 13)</a:t>
            </a:r>
            <a:endParaRPr lang="en-US" dirty="0"/>
          </a:p>
        </p:txBody>
      </p:sp>
      <p:sp>
        <p:nvSpPr>
          <p:cNvPr id="3" name="Text Placeholder 2"/>
          <p:cNvSpPr>
            <a:spLocks noGrp="1"/>
          </p:cNvSpPr>
          <p:nvPr>
            <p:ph idx="1"/>
          </p:nvPr>
        </p:nvSpPr>
        <p:spPr>
          <a:xfrm>
            <a:off x="609600" y="1857781"/>
            <a:ext cx="10972800" cy="4525963"/>
          </a:xfrm>
        </p:spPr>
        <p:txBody>
          <a:bodyPr>
            <a:normAutofit fontScale="92500" lnSpcReduction="10000"/>
          </a:bodyPr>
          <a:lstStyle/>
          <a:p>
            <a:pPr marL="457200" indent="-457200">
              <a:lnSpc>
                <a:spcPct val="120000"/>
              </a:lnSpc>
              <a:spcBef>
                <a:spcPts val="1200"/>
              </a:spcBef>
              <a:buNone/>
            </a:pPr>
            <a:r>
              <a:rPr lang="en-US" dirty="0"/>
              <a:t>Characteristics of the Cell Membrane Are Critical for Neuron Function</a:t>
            </a:r>
          </a:p>
          <a:p>
            <a:pPr marL="571500">
              <a:spcBef>
                <a:spcPts val="1800"/>
              </a:spcBef>
            </a:pPr>
            <a:r>
              <a:rPr lang="en-US" sz="3000" dirty="0"/>
              <a:t>Proteins in the cell membrane include </a:t>
            </a:r>
            <a:r>
              <a:rPr lang="en-US" sz="3000" b="1" dirty="0"/>
              <a:t>receptors</a:t>
            </a:r>
            <a:r>
              <a:rPr lang="en-US" sz="3000" dirty="0"/>
              <a:t>, enzymes, ion channels, and transporters</a:t>
            </a:r>
          </a:p>
          <a:p>
            <a:pPr marL="571500">
              <a:spcBef>
                <a:spcPts val="1800"/>
              </a:spcBef>
            </a:pPr>
            <a:r>
              <a:rPr lang="en-US" sz="3000" dirty="0"/>
              <a:t>Most ion channels are </a:t>
            </a:r>
            <a:r>
              <a:rPr lang="en-US" sz="3000" b="1" dirty="0"/>
              <a:t>gated channels</a:t>
            </a:r>
            <a:r>
              <a:rPr lang="en-US" sz="3000" dirty="0"/>
              <a:t>: </a:t>
            </a:r>
          </a:p>
          <a:p>
            <a:pPr marL="1263650" lvl="1" indent="-349250">
              <a:spcBef>
                <a:spcPts val="1800"/>
              </a:spcBef>
              <a:buFont typeface="Courier New" panose="02070309020205020404" pitchFamily="49" charset="0"/>
              <a:buChar char="o"/>
            </a:pPr>
            <a:r>
              <a:rPr lang="en-US" sz="3000" b="1" dirty="0"/>
              <a:t>Ligand-gated channel</a:t>
            </a:r>
            <a:r>
              <a:rPr lang="en-US" sz="3000" dirty="0"/>
              <a:t>:</a:t>
            </a:r>
            <a:r>
              <a:rPr lang="en-US" sz="3000" b="1" dirty="0"/>
              <a:t> </a:t>
            </a:r>
            <a:r>
              <a:rPr lang="en-US" sz="3000" dirty="0"/>
              <a:t>opens when a ligand binds to a receptor</a:t>
            </a:r>
          </a:p>
          <a:p>
            <a:pPr marL="1263650" lvl="1" indent="-349250">
              <a:spcBef>
                <a:spcPts val="1800"/>
              </a:spcBef>
              <a:buFont typeface="Courier New" panose="02070309020205020404" pitchFamily="49" charset="0"/>
              <a:buChar char="o"/>
            </a:pPr>
            <a:r>
              <a:rPr lang="en-US" sz="3000" b="1" dirty="0"/>
              <a:t>Voltage-gated channel</a:t>
            </a:r>
            <a:r>
              <a:rPr lang="en-US" sz="3000" dirty="0"/>
              <a:t>:</a:t>
            </a:r>
            <a:r>
              <a:rPr lang="en-US" sz="3000" b="1" dirty="0"/>
              <a:t> </a:t>
            </a:r>
            <a:r>
              <a:rPr lang="en-US" sz="3000" dirty="0"/>
              <a:t>opens when electrical potential across the membrane is altered</a:t>
            </a:r>
          </a:p>
          <a:p>
            <a:pPr marL="571500">
              <a:spcBef>
                <a:spcPts val="1800"/>
              </a:spcBef>
            </a:pPr>
            <a:r>
              <a:rPr lang="en-US" sz="3000" dirty="0"/>
              <a:t>Some ion channels are modified by second messengers</a:t>
            </a:r>
          </a:p>
        </p:txBody>
      </p:sp>
    </p:spTree>
    <p:extLst>
      <p:ext uri="{BB962C8B-B14F-4D97-AF65-F5344CB8AC3E}">
        <p14:creationId xmlns:p14="http://schemas.microsoft.com/office/powerpoint/2010/main" val="23974700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1780E-4CF4-E942-B3F1-2C0DCA52D961}"/>
              </a:ext>
            </a:extLst>
          </p:cNvPr>
          <p:cNvSpPr>
            <a:spLocks noGrp="1"/>
          </p:cNvSpPr>
          <p:nvPr>
            <p:ph type="title"/>
          </p:nvPr>
        </p:nvSpPr>
        <p:spPr/>
        <p:txBody>
          <a:bodyPr/>
          <a:lstStyle/>
          <a:p>
            <a:r>
              <a:rPr lang="en-US" dirty="0"/>
              <a:t>FIGURE 2.8  Ion channels </a:t>
            </a:r>
          </a:p>
        </p:txBody>
      </p:sp>
      <p:pic>
        <p:nvPicPr>
          <p:cNvPr id="6" name="Content Placeholder 5" descr="A two-part illustration depicts the binding of a ligand in an ion channel. In the absence of a ligand, the first part depicts a receptor with a closed channel. The second part depicts a receptor with an open channel, with the ligand bound to the receptor's extracellular side.&#10;&#10;A two-part illustration depicts the change in membrane potential. The receptor's channel is closed in the first part, with the extracellular side having a positive charge and the cytoplasmic side having a negative charge. The receptor's channel is open in the second part, with a negative charge on the extracellular side and a positive charge on the cytoplasmic side.&#10;&#10;A two-part illustration depicts the regulation of the channel by phosphorylation. When high-energy phosphate acts as a messenger, the receptor's channel is opened."/>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3894520" y="479425"/>
            <a:ext cx="4402960" cy="6300788"/>
          </a:xfrm>
        </p:spPr>
      </p:pic>
    </p:spTree>
    <p:extLst>
      <p:ext uri="{BB962C8B-B14F-4D97-AF65-F5344CB8AC3E}">
        <p14:creationId xmlns:p14="http://schemas.microsoft.com/office/powerpoint/2010/main" val="32312568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dirty="0"/>
              <a:t>Cells of the Nervous System </a:t>
            </a:r>
            <a:r>
              <a:rPr lang="en-US" sz="1200" dirty="0"/>
              <a:t>(12 of 13)</a:t>
            </a:r>
            <a:endParaRPr lang="en-US" dirty="0"/>
          </a:p>
        </p:txBody>
      </p:sp>
      <p:sp>
        <p:nvSpPr>
          <p:cNvPr id="3" name="Text Placeholder 2"/>
          <p:cNvSpPr>
            <a:spLocks noGrp="1"/>
          </p:cNvSpPr>
          <p:nvPr>
            <p:ph idx="1"/>
          </p:nvPr>
        </p:nvSpPr>
        <p:spPr>
          <a:xfrm>
            <a:off x="609600" y="1857781"/>
            <a:ext cx="10972800" cy="4525963"/>
          </a:xfrm>
        </p:spPr>
        <p:txBody>
          <a:bodyPr>
            <a:normAutofit fontScale="92500" lnSpcReduction="10000"/>
          </a:bodyPr>
          <a:lstStyle/>
          <a:p>
            <a:pPr marL="457200" indent="-457200">
              <a:lnSpc>
                <a:spcPct val="120000"/>
              </a:lnSpc>
              <a:spcBef>
                <a:spcPts val="1200"/>
              </a:spcBef>
              <a:buNone/>
            </a:pPr>
            <a:r>
              <a:rPr lang="en-US" sz="3500" dirty="0"/>
              <a:t>Glial Cells Provide Vital Support for Neurons</a:t>
            </a:r>
          </a:p>
          <a:p>
            <a:pPr marL="571500">
              <a:spcBef>
                <a:spcPts val="1800"/>
              </a:spcBef>
            </a:pPr>
            <a:r>
              <a:rPr lang="en-US" sz="3000" b="1" dirty="0"/>
              <a:t>Schwann cells</a:t>
            </a:r>
            <a:r>
              <a:rPr lang="en-US" sz="3000" dirty="0"/>
              <a:t>: form myelin sheaths in the PNS, wrap one axon, promote regeneration of damaged axons</a:t>
            </a:r>
          </a:p>
          <a:p>
            <a:pPr marL="571500">
              <a:spcBef>
                <a:spcPts val="1800"/>
              </a:spcBef>
            </a:pPr>
            <a:r>
              <a:rPr lang="en-US" sz="3000" b="1" dirty="0"/>
              <a:t>Oligodendroglia</a:t>
            </a:r>
            <a:r>
              <a:rPr lang="en-US" sz="3000" dirty="0"/>
              <a:t>: form myelin sheaths in the CNS; wrap many axons</a:t>
            </a:r>
          </a:p>
          <a:p>
            <a:pPr marL="571500">
              <a:spcBef>
                <a:spcPts val="1800"/>
              </a:spcBef>
            </a:pPr>
            <a:r>
              <a:rPr lang="en-US" sz="3000" b="1" dirty="0"/>
              <a:t>Astrocytes</a:t>
            </a:r>
            <a:r>
              <a:rPr lang="en-US" sz="3000" dirty="0"/>
              <a:t>: structural support for neurons; modulate the extracellular environment; take up excess neurotransmitters</a:t>
            </a:r>
          </a:p>
          <a:p>
            <a:pPr marL="571500">
              <a:spcBef>
                <a:spcPts val="1800"/>
              </a:spcBef>
            </a:pPr>
            <a:r>
              <a:rPr lang="en-US" sz="3000" b="1" dirty="0"/>
              <a:t>Microglia</a:t>
            </a:r>
            <a:r>
              <a:rPr lang="en-US" sz="3000" dirty="0"/>
              <a:t> remove dying cells by phagocytosis at sites of nerve damage; source of immune response in the CNS</a:t>
            </a:r>
          </a:p>
        </p:txBody>
      </p:sp>
    </p:spTree>
    <p:extLst>
      <p:ext uri="{BB962C8B-B14F-4D97-AF65-F5344CB8AC3E}">
        <p14:creationId xmlns:p14="http://schemas.microsoft.com/office/powerpoint/2010/main" val="26094360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dirty="0"/>
              <a:t>Cells of the Nervous System </a:t>
            </a:r>
            <a:r>
              <a:rPr lang="en-US" sz="1200" dirty="0"/>
              <a:t>(13 of 13)</a:t>
            </a:r>
            <a:endParaRPr lang="en-US" dirty="0"/>
          </a:p>
        </p:txBody>
      </p:sp>
      <p:sp>
        <p:nvSpPr>
          <p:cNvPr id="3" name="Text Placeholder 2"/>
          <p:cNvSpPr>
            <a:spLocks noGrp="1"/>
          </p:cNvSpPr>
          <p:nvPr>
            <p:ph idx="1"/>
          </p:nvPr>
        </p:nvSpPr>
        <p:spPr>
          <a:xfrm>
            <a:off x="609600" y="1857781"/>
            <a:ext cx="10972800" cy="4525963"/>
          </a:xfrm>
        </p:spPr>
        <p:txBody>
          <a:bodyPr>
            <a:normAutofit/>
          </a:bodyPr>
          <a:lstStyle/>
          <a:p>
            <a:pPr marL="0" indent="0">
              <a:buNone/>
            </a:pPr>
            <a:r>
              <a:rPr lang="en-US" sz="2400" u="sng" dirty="0"/>
              <a:t>CLICKER QUESTION 1</a:t>
            </a:r>
          </a:p>
          <a:p>
            <a:pPr marL="457200" indent="-457200">
              <a:spcBef>
                <a:spcPts val="2400"/>
              </a:spcBef>
              <a:buNone/>
            </a:pPr>
            <a:r>
              <a:rPr lang="en-US" dirty="0"/>
              <a:t>What is the correct sequence in describing neuronal transmission?</a:t>
            </a:r>
          </a:p>
          <a:p>
            <a:pPr marL="914400" indent="-457200">
              <a:spcBef>
                <a:spcPts val="1200"/>
              </a:spcBef>
              <a:buFont typeface="Arial" pitchFamily="34" charset="0"/>
              <a:buAutoNum type="alphaLcPeriod"/>
            </a:pPr>
            <a:r>
              <a:rPr lang="en-US" dirty="0"/>
              <a:t>Dendrites → axon → axon hillock → terminals → soma</a:t>
            </a:r>
          </a:p>
          <a:p>
            <a:pPr marL="914400" indent="-457200">
              <a:spcBef>
                <a:spcPts val="1200"/>
              </a:spcBef>
              <a:buFont typeface="Arial" pitchFamily="34" charset="0"/>
              <a:buAutoNum type="alphaLcPeriod"/>
            </a:pPr>
            <a:r>
              <a:rPr lang="en-US" dirty="0"/>
              <a:t>Axon → axon hillock → soma → dendrites → terminals</a:t>
            </a:r>
          </a:p>
          <a:p>
            <a:pPr marL="914400" indent="-457200">
              <a:spcBef>
                <a:spcPts val="1200"/>
              </a:spcBef>
              <a:buFont typeface="Arial" pitchFamily="34" charset="0"/>
              <a:buAutoNum type="alphaLcPeriod"/>
            </a:pPr>
            <a:r>
              <a:rPr lang="en-US" dirty="0"/>
              <a:t>Dendrites → soma → axon hillock → axon → terminals</a:t>
            </a:r>
          </a:p>
        </p:txBody>
      </p:sp>
    </p:spTree>
    <p:extLst>
      <p:ext uri="{BB962C8B-B14F-4D97-AF65-F5344CB8AC3E}">
        <p14:creationId xmlns:p14="http://schemas.microsoft.com/office/powerpoint/2010/main" val="22446861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Autofit/>
          </a:bodyPr>
          <a:lstStyle/>
          <a:p>
            <a:r>
              <a:rPr lang="en-US" dirty="0"/>
              <a:t>Review of Learning Objectives </a:t>
            </a:r>
            <a:r>
              <a:rPr lang="en-US" sz="1200" dirty="0"/>
              <a:t>(1 of 3)</a:t>
            </a:r>
            <a:endParaRPr lang="en-US" dirty="0"/>
          </a:p>
        </p:txBody>
      </p:sp>
      <p:sp>
        <p:nvSpPr>
          <p:cNvPr id="3" name="Text Placeholder 2"/>
          <p:cNvSpPr>
            <a:spLocks noGrp="1"/>
          </p:cNvSpPr>
          <p:nvPr>
            <p:ph idx="1"/>
          </p:nvPr>
        </p:nvSpPr>
        <p:spPr>
          <a:xfrm>
            <a:off x="609600" y="1857781"/>
            <a:ext cx="10972800" cy="4525963"/>
          </a:xfrm>
        </p:spPr>
        <p:txBody>
          <a:bodyPr>
            <a:noAutofit/>
          </a:bodyPr>
          <a:lstStyle/>
          <a:p>
            <a:pPr marL="914400" indent="-914400">
              <a:spcBef>
                <a:spcPts val="1200"/>
              </a:spcBef>
              <a:buNone/>
            </a:pPr>
            <a:r>
              <a:rPr lang="en-US" sz="2600" dirty="0"/>
              <a:t>2.1.1  Name the different types of cells in the nervous system, including the major types of neurons and glial cells.</a:t>
            </a:r>
          </a:p>
          <a:p>
            <a:pPr marL="914400" indent="-914400">
              <a:spcBef>
                <a:spcPts val="1200"/>
              </a:spcBef>
              <a:buNone/>
            </a:pPr>
            <a:r>
              <a:rPr lang="en-US" sz="2600" dirty="0"/>
              <a:t>2.1.2  List the three major components of a neuron and describe their functions.</a:t>
            </a:r>
          </a:p>
          <a:p>
            <a:pPr marL="914400" indent="-914400">
              <a:spcBef>
                <a:spcPts val="1200"/>
              </a:spcBef>
              <a:buNone/>
            </a:pPr>
            <a:r>
              <a:rPr lang="en-US" sz="2600" dirty="0"/>
              <a:t>2.1.3  Describe the role of myelin in neurotransmission.</a:t>
            </a:r>
          </a:p>
          <a:p>
            <a:pPr marL="914400" indent="-914400">
              <a:spcBef>
                <a:spcPts val="1200"/>
              </a:spcBef>
              <a:buNone/>
            </a:pPr>
            <a:r>
              <a:rPr lang="en-US" sz="2600" dirty="0"/>
              <a:t>2.1.4  Explain how epigenetic modifications can influence gene expression. </a:t>
            </a:r>
          </a:p>
          <a:p>
            <a:pPr marL="914400" indent="-914400">
              <a:spcBef>
                <a:spcPts val="1200"/>
              </a:spcBef>
              <a:buNone/>
            </a:pPr>
            <a:r>
              <a:rPr lang="en-US" sz="2600" dirty="0"/>
              <a:t>2.1.5  Describe how the internal and external structural features of a neuron (e.g., cytoskeleton, membrane) give rise to its functions (e.g., axoplasmic transport, membrane potential).</a:t>
            </a:r>
          </a:p>
        </p:txBody>
      </p:sp>
    </p:spTree>
    <p:extLst>
      <p:ext uri="{BB962C8B-B14F-4D97-AF65-F5344CB8AC3E}">
        <p14:creationId xmlns:p14="http://schemas.microsoft.com/office/powerpoint/2010/main" val="10756487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Electrical Transmission within a Neuron </a:t>
            </a:r>
            <a:r>
              <a:rPr lang="en-US" sz="1200" dirty="0"/>
              <a:t>(1 of 7)</a:t>
            </a:r>
          </a:p>
        </p:txBody>
      </p:sp>
      <p:sp>
        <p:nvSpPr>
          <p:cNvPr id="3" name="Text Placeholder 2"/>
          <p:cNvSpPr>
            <a:spLocks noGrp="1"/>
          </p:cNvSpPr>
          <p:nvPr>
            <p:ph idx="1"/>
          </p:nvPr>
        </p:nvSpPr>
        <p:spPr>
          <a:xfrm>
            <a:off x="609600" y="1857781"/>
            <a:ext cx="10972800" cy="4525963"/>
          </a:xfrm>
        </p:spPr>
        <p:txBody>
          <a:bodyPr>
            <a:normAutofit lnSpcReduction="10000"/>
          </a:bodyPr>
          <a:lstStyle/>
          <a:p>
            <a:pPr marL="457200" indent="-457200">
              <a:spcBef>
                <a:spcPts val="1200"/>
              </a:spcBef>
              <a:buNone/>
            </a:pPr>
            <a:r>
              <a:rPr lang="en-US" dirty="0"/>
              <a:t>Ion Distribution Is Responsible for the Cell’s Resting Potential</a:t>
            </a:r>
          </a:p>
          <a:p>
            <a:pPr marL="571500">
              <a:spcBef>
                <a:spcPts val="1800"/>
              </a:spcBef>
            </a:pPr>
            <a:r>
              <a:rPr lang="en-US" sz="2800" b="1" dirty="0"/>
              <a:t>Resting membrane potential</a:t>
            </a:r>
            <a:r>
              <a:rPr lang="en-US" sz="2800" dirty="0"/>
              <a:t>: inside of cell is more negative than outside: –70 millivolts (mV); it is </a:t>
            </a:r>
            <a:r>
              <a:rPr lang="en-US" sz="2800" b="1" dirty="0"/>
              <a:t>polarized</a:t>
            </a:r>
            <a:r>
              <a:rPr lang="en-US" sz="2800" dirty="0"/>
              <a:t>.</a:t>
            </a:r>
          </a:p>
          <a:p>
            <a:pPr marL="571500">
              <a:spcBef>
                <a:spcPts val="1800"/>
              </a:spcBef>
            </a:pPr>
            <a:r>
              <a:rPr lang="en-US" sz="2800" dirty="0"/>
              <a:t>Na</a:t>
            </a:r>
            <a:r>
              <a:rPr lang="en-US" sz="2800" baseline="30000" dirty="0"/>
              <a:t>+</a:t>
            </a:r>
            <a:r>
              <a:rPr lang="en-US" sz="2800" dirty="0"/>
              <a:t> and Cl</a:t>
            </a:r>
            <a:r>
              <a:rPr lang="en-US" sz="2800" baseline="30000" dirty="0"/>
              <a:t>−</a:t>
            </a:r>
            <a:r>
              <a:rPr lang="en-US" sz="2800" dirty="0"/>
              <a:t> are more concentrated outside the cell; some K</a:t>
            </a:r>
            <a:r>
              <a:rPr lang="en-US" sz="2800" baseline="30000" dirty="0"/>
              <a:t>+</a:t>
            </a:r>
            <a:r>
              <a:rPr lang="en-US" sz="2800" dirty="0"/>
              <a:t> channels are not gated; concentration of K</a:t>
            </a:r>
            <a:r>
              <a:rPr lang="en-US" sz="2800" baseline="30000" dirty="0"/>
              <a:t>+</a:t>
            </a:r>
            <a:r>
              <a:rPr lang="en-US" sz="2800" dirty="0"/>
              <a:t> forces it outward while electrostatic pressure pulls it in</a:t>
            </a:r>
          </a:p>
          <a:p>
            <a:pPr marL="571500">
              <a:spcBef>
                <a:spcPts val="1800"/>
              </a:spcBef>
            </a:pPr>
            <a:r>
              <a:rPr lang="en-US" sz="2800" dirty="0"/>
              <a:t>The </a:t>
            </a:r>
            <a:r>
              <a:rPr lang="en-US" sz="2800" b="1" dirty="0"/>
              <a:t>Na</a:t>
            </a:r>
            <a:r>
              <a:rPr lang="en-US" sz="2800" b="1" baseline="30000" dirty="0"/>
              <a:t>+</a:t>
            </a:r>
            <a:r>
              <a:rPr lang="en-US" sz="2800" b="1" dirty="0"/>
              <a:t>–K</a:t>
            </a:r>
            <a:r>
              <a:rPr lang="en-US" sz="2800" b="1" baseline="30000" dirty="0"/>
              <a:t>+</a:t>
            </a:r>
            <a:r>
              <a:rPr lang="en-US" sz="2800" b="1" dirty="0"/>
              <a:t> pump</a:t>
            </a:r>
            <a:r>
              <a:rPr lang="en-US" sz="2800" dirty="0"/>
              <a:t> helps maintain the ion distribution. </a:t>
            </a:r>
          </a:p>
          <a:p>
            <a:pPr marL="571500">
              <a:spcBef>
                <a:spcPts val="1800"/>
              </a:spcBef>
            </a:pPr>
            <a:r>
              <a:rPr lang="en-US" sz="2800" b="1" dirty="0"/>
              <a:t>Action potential</a:t>
            </a:r>
            <a:r>
              <a:rPr lang="en-US" sz="2800" dirty="0"/>
              <a:t>: rapid change in membrane potential that is propagated down the length of the axon</a:t>
            </a:r>
          </a:p>
        </p:txBody>
      </p:sp>
    </p:spTree>
    <p:extLst>
      <p:ext uri="{BB962C8B-B14F-4D97-AF65-F5344CB8AC3E}">
        <p14:creationId xmlns:p14="http://schemas.microsoft.com/office/powerpoint/2010/main" val="38455690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20AB1-30CE-B043-AE5D-02C390BF7553}"/>
              </a:ext>
            </a:extLst>
          </p:cNvPr>
          <p:cNvSpPr>
            <a:spLocks noGrp="1"/>
          </p:cNvSpPr>
          <p:nvPr>
            <p:ph type="title"/>
          </p:nvPr>
        </p:nvSpPr>
        <p:spPr/>
        <p:txBody>
          <a:bodyPr/>
          <a:lstStyle/>
          <a:p>
            <a:r>
              <a:rPr lang="en-US" dirty="0"/>
              <a:t>FIGURE 2.11  Distribution of ions inside and outside a neuron at resting potential  </a:t>
            </a:r>
            <a:r>
              <a:rPr lang="en-US" sz="1100" dirty="0"/>
              <a:t>(1)</a:t>
            </a:r>
          </a:p>
        </p:txBody>
      </p:sp>
      <p:pic>
        <p:nvPicPr>
          <p:cNvPr id="6" name="Content Placeholder 5" descr="The distribution of ions inside and outside a neuron is listed out in a table along with an illustration. The data for the concentration outside and inside cell inferred from the table is as follows. Na plus: 440 and 50. K plus: 20 and 400. Cl minus: 560 and 40 to 150. Ca 2 plus: 10 and 0.001. Protein: Few and Many. An illustration depicts a set of receivers with alternative open and closed channels. The K plus ions are transmitted to the inside cell on its electrostatic pressure and the outside cell on its concentration gradient via open channel receptors whereas the Na plus ions are transmitted to the outside cell via the closed channel receptors. The conversion of ATP to ADP takes place when there is a transmission of K plus ions to the inside cell and Na plus ions to the outside cell. The inside cell is filled with more amount of protein and the outside cell contains the Ca 2 plus ions."/>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2711541" y="479425"/>
            <a:ext cx="6768918" cy="6300788"/>
          </a:xfrm>
        </p:spPr>
      </p:pic>
    </p:spTree>
    <p:extLst>
      <p:ext uri="{BB962C8B-B14F-4D97-AF65-F5344CB8AC3E}">
        <p14:creationId xmlns:p14="http://schemas.microsoft.com/office/powerpoint/2010/main" val="37894550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Electrical Transmission within a Neuron </a:t>
            </a:r>
            <a:r>
              <a:rPr lang="en-US" sz="1200" dirty="0"/>
              <a:t>(2 of 7)</a:t>
            </a:r>
            <a:endParaRPr lang="en-US" dirty="0"/>
          </a:p>
        </p:txBody>
      </p:sp>
      <p:sp>
        <p:nvSpPr>
          <p:cNvPr id="3" name="Text Placeholder 2"/>
          <p:cNvSpPr>
            <a:spLocks noGrp="1"/>
          </p:cNvSpPr>
          <p:nvPr>
            <p:ph idx="1"/>
          </p:nvPr>
        </p:nvSpPr>
        <p:spPr>
          <a:xfrm>
            <a:off x="609600" y="1857781"/>
            <a:ext cx="10972800" cy="4525963"/>
          </a:xfrm>
        </p:spPr>
        <p:txBody>
          <a:bodyPr>
            <a:normAutofit/>
          </a:bodyPr>
          <a:lstStyle/>
          <a:p>
            <a:pPr marL="457200" indent="-457200">
              <a:lnSpc>
                <a:spcPct val="80000"/>
              </a:lnSpc>
              <a:spcBef>
                <a:spcPts val="1200"/>
              </a:spcBef>
              <a:buNone/>
            </a:pPr>
            <a:r>
              <a:rPr lang="en-US" b="1" dirty="0"/>
              <a:t>Local Potentials </a:t>
            </a:r>
            <a:r>
              <a:rPr lang="en-US" dirty="0"/>
              <a:t>Are Small, Transient Changes in Membrane Potential</a:t>
            </a:r>
          </a:p>
          <a:p>
            <a:pPr marL="571500">
              <a:lnSpc>
                <a:spcPct val="90000"/>
              </a:lnSpc>
              <a:spcBef>
                <a:spcPts val="1800"/>
              </a:spcBef>
            </a:pPr>
            <a:r>
              <a:rPr lang="en-US" sz="2800" b="1" dirty="0"/>
              <a:t>Depolarization</a:t>
            </a:r>
            <a:r>
              <a:rPr lang="en-US" sz="2800" dirty="0"/>
              <a:t>: a stimulus opens Na</a:t>
            </a:r>
            <a:r>
              <a:rPr lang="en-US" sz="2800" baseline="30000" dirty="0"/>
              <a:t>+</a:t>
            </a:r>
            <a:r>
              <a:rPr lang="en-US" sz="2800" dirty="0"/>
              <a:t> channels to allow a few ions into cell; inside of cell becomes slightly more positive (excitatory)</a:t>
            </a:r>
          </a:p>
          <a:p>
            <a:pPr marL="571500">
              <a:lnSpc>
                <a:spcPct val="90000"/>
              </a:lnSpc>
              <a:spcBef>
                <a:spcPts val="1800"/>
              </a:spcBef>
            </a:pPr>
            <a:r>
              <a:rPr lang="en-US" sz="2800" b="1" dirty="0"/>
              <a:t>Hyperpolarization</a:t>
            </a:r>
            <a:r>
              <a:rPr lang="en-US" sz="2800" dirty="0"/>
              <a:t>: a stimulus opens Cl</a:t>
            </a:r>
            <a:r>
              <a:rPr lang="en-US" sz="2800" baseline="30000" dirty="0"/>
              <a:t>–</a:t>
            </a:r>
            <a:r>
              <a:rPr lang="en-US" sz="2800" dirty="0"/>
              <a:t> channels to allow a few ions into cell; inside of cell becomes more negative (inhibitory)</a:t>
            </a:r>
          </a:p>
          <a:p>
            <a:pPr marL="571500">
              <a:lnSpc>
                <a:spcPct val="90000"/>
              </a:lnSpc>
              <a:spcBef>
                <a:spcPts val="1800"/>
              </a:spcBef>
            </a:pPr>
            <a:r>
              <a:rPr lang="en-US" sz="2800" dirty="0"/>
              <a:t>Neurotransmitters act on the postsynaptic membranes; effects are called </a:t>
            </a:r>
            <a:r>
              <a:rPr lang="en-US" sz="2800" b="1" dirty="0"/>
              <a:t>excitatory postsynaptic potentials (EPSPs) </a:t>
            </a:r>
            <a:r>
              <a:rPr lang="en-US" sz="2800" dirty="0"/>
              <a:t>or </a:t>
            </a:r>
            <a:r>
              <a:rPr lang="en-US" sz="2800" b="1" dirty="0"/>
              <a:t>inhibitory postsynaptic potentials (IPSPs)</a:t>
            </a:r>
            <a:r>
              <a:rPr lang="en-US" sz="2800" dirty="0"/>
              <a:t>.</a:t>
            </a:r>
          </a:p>
        </p:txBody>
      </p:sp>
    </p:spTree>
    <p:extLst>
      <p:ext uri="{BB962C8B-B14F-4D97-AF65-F5344CB8AC3E}">
        <p14:creationId xmlns:p14="http://schemas.microsoft.com/office/powerpoint/2010/main" val="38746202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Electrical Transmission within a Neuron </a:t>
            </a:r>
            <a:r>
              <a:rPr lang="en-US" sz="1200" dirty="0"/>
              <a:t>(3 of 7)</a:t>
            </a:r>
            <a:endParaRPr lang="en-US" dirty="0"/>
          </a:p>
        </p:txBody>
      </p:sp>
      <p:sp>
        <p:nvSpPr>
          <p:cNvPr id="3" name="Text Placeholder 2"/>
          <p:cNvSpPr>
            <a:spLocks noGrp="1"/>
          </p:cNvSpPr>
          <p:nvPr>
            <p:ph idx="1"/>
          </p:nvPr>
        </p:nvSpPr>
        <p:spPr>
          <a:xfrm>
            <a:off x="609600" y="1857781"/>
            <a:ext cx="10972800" cy="4525963"/>
          </a:xfrm>
        </p:spPr>
        <p:txBody>
          <a:bodyPr>
            <a:normAutofit fontScale="92500" lnSpcReduction="20000"/>
          </a:bodyPr>
          <a:lstStyle/>
          <a:p>
            <a:pPr marL="457200" indent="-457200">
              <a:spcBef>
                <a:spcPts val="1200"/>
              </a:spcBef>
              <a:buNone/>
            </a:pPr>
            <a:r>
              <a:rPr lang="en-US" sz="3500" dirty="0"/>
              <a:t>Local Potentials Are Small, Transient Changes in Membrane Potential</a:t>
            </a:r>
          </a:p>
          <a:p>
            <a:pPr marL="571500">
              <a:spcBef>
                <a:spcPts val="1800"/>
              </a:spcBef>
            </a:pPr>
            <a:r>
              <a:rPr lang="en-US" sz="3000" dirty="0"/>
              <a:t>Graded – the larger the stimulus, the greater the magnitude of hyperpolarization or depolarization.</a:t>
            </a:r>
          </a:p>
          <a:p>
            <a:pPr marL="571500">
              <a:spcBef>
                <a:spcPts val="1800"/>
              </a:spcBef>
            </a:pPr>
            <a:r>
              <a:rPr lang="en-US" sz="3000" dirty="0"/>
              <a:t>Decay rapidly</a:t>
            </a:r>
          </a:p>
          <a:p>
            <a:pPr marL="571500">
              <a:spcBef>
                <a:spcPts val="1800"/>
              </a:spcBef>
            </a:pPr>
            <a:r>
              <a:rPr lang="en-US" sz="3000" dirty="0"/>
              <a:t>Summation (</a:t>
            </a:r>
            <a:r>
              <a:rPr lang="en-US" sz="3000" b="1" dirty="0"/>
              <a:t>integration</a:t>
            </a:r>
            <a:r>
              <a:rPr lang="en-US" sz="3000" dirty="0"/>
              <a:t>): several small depolarizations or </a:t>
            </a:r>
            <a:r>
              <a:rPr lang="en-US" sz="3000" dirty="0" err="1"/>
              <a:t>hyperpolarizations</a:t>
            </a:r>
            <a:r>
              <a:rPr lang="en-US" sz="3000" dirty="0"/>
              <a:t> can add up to larger changes in membrane potential</a:t>
            </a:r>
          </a:p>
          <a:p>
            <a:pPr marL="571500">
              <a:spcBef>
                <a:spcPts val="1800"/>
              </a:spcBef>
            </a:pPr>
            <a:r>
              <a:rPr lang="en-US" sz="3000" dirty="0"/>
              <a:t>Integration of EPSPs and IPSPs occurs in the axon hillock</a:t>
            </a:r>
          </a:p>
        </p:txBody>
      </p:sp>
    </p:spTree>
    <p:extLst>
      <p:ext uri="{BB962C8B-B14F-4D97-AF65-F5344CB8AC3E}">
        <p14:creationId xmlns:p14="http://schemas.microsoft.com/office/powerpoint/2010/main" val="32011492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Electrical Transmission within a Neuron </a:t>
            </a:r>
            <a:r>
              <a:rPr lang="en-US" sz="1200" dirty="0"/>
              <a:t>(4 of 7)</a:t>
            </a:r>
            <a:endParaRPr lang="en-US" dirty="0"/>
          </a:p>
        </p:txBody>
      </p:sp>
      <p:sp>
        <p:nvSpPr>
          <p:cNvPr id="3" name="Text Placeholder 2"/>
          <p:cNvSpPr>
            <a:spLocks noGrp="1"/>
          </p:cNvSpPr>
          <p:nvPr>
            <p:ph idx="1"/>
          </p:nvPr>
        </p:nvSpPr>
        <p:spPr>
          <a:xfrm>
            <a:off x="609600" y="1857781"/>
            <a:ext cx="10972800" cy="4525963"/>
          </a:xfrm>
        </p:spPr>
        <p:txBody>
          <a:bodyPr>
            <a:normAutofit/>
          </a:bodyPr>
          <a:lstStyle/>
          <a:p>
            <a:pPr marL="457200" indent="-457200">
              <a:lnSpc>
                <a:spcPct val="90000"/>
              </a:lnSpc>
              <a:spcBef>
                <a:spcPts val="1200"/>
              </a:spcBef>
              <a:buNone/>
            </a:pPr>
            <a:r>
              <a:rPr lang="en-US" dirty="0"/>
              <a:t>Sufficient Depolarization at the Axon Hillock Opens Voltage-Gated Na</a:t>
            </a:r>
            <a:r>
              <a:rPr lang="en-US" baseline="30000" dirty="0"/>
              <a:t>+</a:t>
            </a:r>
            <a:r>
              <a:rPr lang="en-US" dirty="0"/>
              <a:t> Channels, Producing an Action Potential</a:t>
            </a:r>
          </a:p>
          <a:p>
            <a:pPr marL="571500">
              <a:spcBef>
                <a:spcPts val="1800"/>
              </a:spcBef>
            </a:pPr>
            <a:r>
              <a:rPr lang="en-US" sz="2800" dirty="0"/>
              <a:t>When summation of local potentials reaches the threshold of -50 mV, many voltage-gated Na</a:t>
            </a:r>
            <a:r>
              <a:rPr lang="en-US" sz="2800" baseline="30000" dirty="0"/>
              <a:t>+</a:t>
            </a:r>
            <a:r>
              <a:rPr lang="en-US" sz="2800" dirty="0"/>
              <a:t> channels open, Na+ rushes into the cell, and membrane potential jumps to +40 mV.</a:t>
            </a:r>
          </a:p>
          <a:p>
            <a:pPr marL="571500">
              <a:spcBef>
                <a:spcPts val="1800"/>
              </a:spcBef>
            </a:pPr>
            <a:r>
              <a:rPr lang="en-US" sz="2800" dirty="0"/>
              <a:t>Action potential lasts about 1 millisecond.</a:t>
            </a:r>
          </a:p>
          <a:p>
            <a:pPr marL="571500">
              <a:spcBef>
                <a:spcPts val="1800"/>
              </a:spcBef>
            </a:pPr>
            <a:r>
              <a:rPr lang="en-US" sz="2800" dirty="0"/>
              <a:t>Na</a:t>
            </a:r>
            <a:r>
              <a:rPr lang="en-US" sz="2800" baseline="30000" dirty="0"/>
              <a:t>+</a:t>
            </a:r>
            <a:r>
              <a:rPr lang="en-US" sz="2800" dirty="0"/>
              <a:t> channels close and cannot</a:t>
            </a:r>
            <a:r>
              <a:rPr lang="en-US" altLang="ja-JP" sz="2800" dirty="0"/>
              <a:t> be opened for a fixed period</a:t>
            </a:r>
            <a:r>
              <a:rPr lang="en-US" sz="2800" dirty="0"/>
              <a:t>—</a:t>
            </a:r>
            <a:r>
              <a:rPr lang="en-US" altLang="ja-JP" sz="2800" dirty="0"/>
              <a:t>the </a:t>
            </a:r>
            <a:r>
              <a:rPr lang="en-US" altLang="ja-JP" sz="2800" b="1" dirty="0"/>
              <a:t>absolute refractory period</a:t>
            </a:r>
            <a:r>
              <a:rPr lang="en-US" altLang="ja-JP" sz="2800" dirty="0"/>
              <a:t>.</a:t>
            </a:r>
          </a:p>
        </p:txBody>
      </p:sp>
    </p:spTree>
    <p:extLst>
      <p:ext uri="{BB962C8B-B14F-4D97-AF65-F5344CB8AC3E}">
        <p14:creationId xmlns:p14="http://schemas.microsoft.com/office/powerpoint/2010/main" val="14231781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3D89F-735F-1D45-8FDD-178F20610F24}"/>
              </a:ext>
            </a:extLst>
          </p:cNvPr>
          <p:cNvSpPr>
            <a:spLocks noGrp="1"/>
          </p:cNvSpPr>
          <p:nvPr>
            <p:ph type="title"/>
          </p:nvPr>
        </p:nvSpPr>
        <p:spPr/>
        <p:txBody>
          <a:bodyPr/>
          <a:lstStyle/>
          <a:p>
            <a:r>
              <a:rPr lang="en-US" dirty="0"/>
              <a:t>FIGURE 2.14  Stages of the action potential </a:t>
            </a:r>
            <a:r>
              <a:rPr lang="en-US" sz="1100" dirty="0"/>
              <a:t>(1)</a:t>
            </a:r>
          </a:p>
        </p:txBody>
      </p:sp>
      <p:pic>
        <p:nvPicPr>
          <p:cNvPr id="8" name="Content Placeholder 7" descr="A two-part illustration depicts the five different stages of action potential. The horizontal axis of the trend graph represents time, whereas the vertical axis represents the membrane potential in millivolts ranging between negative 70 and 40. The membrane potential remains constant at negative 70 where Na plus channel is closed and K plus channel is open creating the resting potential. The membrane potential increases to the threshold point of negative 50, where K plus channel is closed and Na plus channel is open in which local potentials depolarize the cell to threshold. At threshold, the voltage-gated Na plus channels open, causing a rapid change of polarity-the action potential. The membrane potential decreases below resting potential point of negative 70, where Na plus channels are inactivated, voltage gated K plus channels are open, repolarizing and even hyperpolarizing the cell. The membrane potential remains constant at the resting potential point of negative 70, where all gated channels are closed and the cell returns to its resting potential.">
            <a:extLst>
              <a:ext uri="{FF2B5EF4-FFF2-40B4-BE49-F238E27FC236}">
                <a16:creationId xmlns:a16="http://schemas.microsoft.com/office/drawing/2014/main" id="{83BB694D-EC02-E040-A685-6EBD3D01E60A}"/>
              </a:ext>
            </a:extLst>
          </p:cNvPr>
          <p:cNvPicPr>
            <a:picLocks noGrp="1" noChangeAspect="1"/>
          </p:cNvPicPr>
          <p:nvPr>
            <p:ph sz="quarter" idx="10"/>
          </p:nvPr>
        </p:nvPicPr>
        <p:blipFill>
          <a:blip r:embed="rId3"/>
          <a:stretch>
            <a:fillRect/>
          </a:stretch>
        </p:blipFill>
        <p:spPr>
          <a:xfrm>
            <a:off x="2066280" y="479425"/>
            <a:ext cx="8059441" cy="6300788"/>
          </a:xfrm>
        </p:spPr>
      </p:pic>
    </p:spTree>
    <p:extLst>
      <p:ext uri="{BB962C8B-B14F-4D97-AF65-F5344CB8AC3E}">
        <p14:creationId xmlns:p14="http://schemas.microsoft.com/office/powerpoint/2010/main" val="21513209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Electrical Transmission within a Neuron </a:t>
            </a:r>
            <a:r>
              <a:rPr lang="en-US" sz="1200" dirty="0"/>
              <a:t>(5 of 7)</a:t>
            </a:r>
            <a:endParaRPr lang="en-US" dirty="0"/>
          </a:p>
        </p:txBody>
      </p:sp>
      <p:sp>
        <p:nvSpPr>
          <p:cNvPr id="3" name="Text Placeholder 2"/>
          <p:cNvSpPr>
            <a:spLocks noGrp="1"/>
          </p:cNvSpPr>
          <p:nvPr>
            <p:ph idx="1"/>
          </p:nvPr>
        </p:nvSpPr>
        <p:spPr>
          <a:xfrm>
            <a:off x="609600" y="1857781"/>
            <a:ext cx="10972800" cy="4525963"/>
          </a:xfrm>
        </p:spPr>
        <p:txBody>
          <a:bodyPr>
            <a:normAutofit/>
          </a:bodyPr>
          <a:lstStyle/>
          <a:p>
            <a:pPr marL="457200" indent="-457200">
              <a:spcBef>
                <a:spcPts val="1200"/>
              </a:spcBef>
              <a:buNone/>
            </a:pPr>
            <a:r>
              <a:rPr lang="en-US" dirty="0"/>
              <a:t>Sufficient Depolarization at the Axon Hillock Opens Voltage-Gated Na</a:t>
            </a:r>
            <a:r>
              <a:rPr lang="en-US" baseline="30000" dirty="0"/>
              <a:t>+</a:t>
            </a:r>
            <a:r>
              <a:rPr lang="en-US" dirty="0"/>
              <a:t> Channels, Producing an Action Potential</a:t>
            </a:r>
          </a:p>
          <a:p>
            <a:pPr marL="571500">
              <a:spcBef>
                <a:spcPts val="1800"/>
              </a:spcBef>
            </a:pPr>
            <a:r>
              <a:rPr lang="en-US" sz="2800" dirty="0"/>
              <a:t>Rising membrane potential opens voltage-gated K</a:t>
            </a:r>
            <a:r>
              <a:rPr lang="en-US" sz="2800" baseline="30000" dirty="0"/>
              <a:t>+</a:t>
            </a:r>
            <a:r>
              <a:rPr lang="en-US" sz="2800" dirty="0"/>
              <a:t> channels; K</a:t>
            </a:r>
            <a:r>
              <a:rPr lang="en-US" sz="2800" baseline="30000" dirty="0"/>
              <a:t>+</a:t>
            </a:r>
            <a:r>
              <a:rPr lang="en-US" sz="2800" dirty="0"/>
              <a:t> moves out and membrane returns to resting potential. </a:t>
            </a:r>
          </a:p>
          <a:p>
            <a:pPr marL="571500">
              <a:spcBef>
                <a:spcPts val="1800"/>
              </a:spcBef>
            </a:pPr>
            <a:r>
              <a:rPr lang="en-US" sz="2800" dirty="0"/>
              <a:t>Membrane is briefly hyperpolarized—the </a:t>
            </a:r>
            <a:r>
              <a:rPr lang="en-US" sz="2800" b="1" dirty="0"/>
              <a:t>relative refractory period</a:t>
            </a:r>
          </a:p>
          <a:p>
            <a:pPr marL="571500">
              <a:spcBef>
                <a:spcPts val="1800"/>
              </a:spcBef>
            </a:pPr>
            <a:r>
              <a:rPr lang="en-US" sz="2800" b="1" dirty="0"/>
              <a:t>Saltatory conduction</a:t>
            </a:r>
            <a:r>
              <a:rPr lang="en-US" sz="2800" dirty="0"/>
              <a:t>: in myelinated axons, regeneration of the action potential occurs only at nodes of Ranvier; faster transmission; uses less energy for Na</a:t>
            </a:r>
            <a:r>
              <a:rPr lang="en-US" sz="2800" baseline="30000" dirty="0"/>
              <a:t>+</a:t>
            </a:r>
            <a:r>
              <a:rPr lang="en-US" sz="2800" dirty="0"/>
              <a:t>–K</a:t>
            </a:r>
            <a:r>
              <a:rPr lang="en-US" sz="2800" baseline="30000" dirty="0"/>
              <a:t>+</a:t>
            </a:r>
            <a:r>
              <a:rPr lang="en-US" sz="2800" dirty="0"/>
              <a:t> pumps </a:t>
            </a:r>
          </a:p>
        </p:txBody>
      </p:sp>
    </p:spTree>
    <p:extLst>
      <p:ext uri="{BB962C8B-B14F-4D97-AF65-F5344CB8AC3E}">
        <p14:creationId xmlns:p14="http://schemas.microsoft.com/office/powerpoint/2010/main" val="21084583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01DDE-6F6C-BD42-9081-AA4CB2EB07CA}"/>
              </a:ext>
            </a:extLst>
          </p:cNvPr>
          <p:cNvSpPr>
            <a:spLocks noGrp="1"/>
          </p:cNvSpPr>
          <p:nvPr>
            <p:ph type="title"/>
          </p:nvPr>
        </p:nvSpPr>
        <p:spPr/>
        <p:txBody>
          <a:bodyPr/>
          <a:lstStyle/>
          <a:p>
            <a:r>
              <a:rPr lang="en-US" dirty="0"/>
              <a:t>FIGURE 2.15  Conduction along myelinated axons </a:t>
            </a:r>
            <a:r>
              <a:rPr lang="en-US" sz="1100" dirty="0"/>
              <a:t>(1)</a:t>
            </a:r>
          </a:p>
        </p:txBody>
      </p:sp>
      <p:pic>
        <p:nvPicPr>
          <p:cNvPr id="6" name="Content Placeholder 5" descr="A two-part illustration depicts the conduction along the myelinated axons. The axons length is marked around 1 meter. In the first part, the voltage-gated Na plus channels in the nodes of Ranvier open, generating an action potential. Sodium spreads rapidly within the axon resulting in depolarization of the cell. In the second part, the following node is highlighted where the threshold is reached so an action potential is triggered at the new node."/>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718822" y="479425"/>
            <a:ext cx="10754357" cy="6300788"/>
          </a:xfrm>
        </p:spPr>
      </p:pic>
    </p:spTree>
    <p:extLst>
      <p:ext uri="{BB962C8B-B14F-4D97-AF65-F5344CB8AC3E}">
        <p14:creationId xmlns:p14="http://schemas.microsoft.com/office/powerpoint/2010/main" val="532103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Electrical Transmission within a Neuron </a:t>
            </a:r>
            <a:r>
              <a:rPr lang="en-US" sz="1200" dirty="0"/>
              <a:t>(6 of 7)</a:t>
            </a:r>
            <a:endParaRPr lang="en-US" dirty="0"/>
          </a:p>
        </p:txBody>
      </p:sp>
      <p:sp>
        <p:nvSpPr>
          <p:cNvPr id="3" name="Text Placeholder 2"/>
          <p:cNvSpPr>
            <a:spLocks noGrp="1"/>
          </p:cNvSpPr>
          <p:nvPr>
            <p:ph idx="1"/>
          </p:nvPr>
        </p:nvSpPr>
        <p:spPr>
          <a:xfrm>
            <a:off x="609600" y="1857781"/>
            <a:ext cx="10972800" cy="4525963"/>
          </a:xfrm>
        </p:spPr>
        <p:txBody>
          <a:bodyPr>
            <a:normAutofit/>
          </a:bodyPr>
          <a:lstStyle/>
          <a:p>
            <a:pPr marL="457200" indent="-457200">
              <a:spcBef>
                <a:spcPts val="1200"/>
              </a:spcBef>
              <a:buNone/>
            </a:pPr>
            <a:r>
              <a:rPr lang="en-US" dirty="0"/>
              <a:t>Drugs and Poisons Alter Axon Conduction</a:t>
            </a:r>
          </a:p>
          <a:p>
            <a:pPr marL="571500">
              <a:spcBef>
                <a:spcPts val="1800"/>
              </a:spcBef>
            </a:pPr>
            <a:r>
              <a:rPr lang="en-US" sz="2800" dirty="0"/>
              <a:t>Drugs used for local </a:t>
            </a:r>
            <a:r>
              <a:rPr lang="en-US" altLang="en-US" sz="2800" dirty="0"/>
              <a:t>anesthesia (e.g., </a:t>
            </a:r>
            <a:r>
              <a:rPr lang="en-US" altLang="en-US" sz="2800" dirty="0" err="1"/>
              <a:t>Novocaine</a:t>
            </a:r>
            <a:r>
              <a:rPr lang="en-US" altLang="en-US" sz="2800" dirty="0"/>
              <a:t>) block voltage-gated Na</a:t>
            </a:r>
            <a:r>
              <a:rPr lang="en-US" altLang="en-US" sz="2800" baseline="30000" dirty="0"/>
              <a:t>+</a:t>
            </a:r>
            <a:r>
              <a:rPr lang="en-US" altLang="en-US" sz="2800" dirty="0"/>
              <a:t> channels</a:t>
            </a:r>
          </a:p>
          <a:p>
            <a:pPr marL="571500">
              <a:spcBef>
                <a:spcPts val="1800"/>
              </a:spcBef>
            </a:pPr>
            <a:r>
              <a:rPr lang="en-US" altLang="en-US" sz="2800" dirty="0"/>
              <a:t>Some antiepileptic drugs bind to closed Na</a:t>
            </a:r>
            <a:r>
              <a:rPr lang="en-US" altLang="en-US" sz="2800" baseline="30000" dirty="0"/>
              <a:t>+</a:t>
            </a:r>
            <a:r>
              <a:rPr lang="en-US" altLang="en-US" sz="2800" dirty="0"/>
              <a:t> channels, prolonging the refractory state of the channel, slowing down the firing rate.</a:t>
            </a:r>
          </a:p>
          <a:p>
            <a:pPr marL="571500">
              <a:spcBef>
                <a:spcPts val="1800"/>
              </a:spcBef>
            </a:pPr>
            <a:r>
              <a:rPr lang="en-US" altLang="en-US" sz="2800" dirty="0"/>
              <a:t>Neurotoxins such as saxitoxin in shellfish exposed to red tides block Na+ channels throughout the nervous system, because the neurotoxin is ingested.</a:t>
            </a:r>
            <a:endParaRPr lang="en-US" sz="2800" dirty="0"/>
          </a:p>
        </p:txBody>
      </p:sp>
    </p:spTree>
    <p:extLst>
      <p:ext uri="{BB962C8B-B14F-4D97-AF65-F5344CB8AC3E}">
        <p14:creationId xmlns:p14="http://schemas.microsoft.com/office/powerpoint/2010/main" val="32373434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dirty="0"/>
              <a:t>Electrical Transmission within a Neuron </a:t>
            </a:r>
            <a:r>
              <a:rPr lang="en-US" sz="1200" dirty="0"/>
              <a:t>(7 of 7)</a:t>
            </a:r>
            <a:endParaRPr lang="en-US" dirty="0"/>
          </a:p>
        </p:txBody>
      </p:sp>
      <p:sp>
        <p:nvSpPr>
          <p:cNvPr id="3" name="Text Placeholder 2"/>
          <p:cNvSpPr>
            <a:spLocks noGrp="1"/>
          </p:cNvSpPr>
          <p:nvPr>
            <p:ph idx="1"/>
          </p:nvPr>
        </p:nvSpPr>
        <p:spPr>
          <a:xfrm>
            <a:off x="609600" y="1857781"/>
            <a:ext cx="10972800" cy="4525963"/>
          </a:xfrm>
        </p:spPr>
        <p:txBody>
          <a:bodyPr>
            <a:normAutofit fontScale="92500"/>
          </a:bodyPr>
          <a:lstStyle/>
          <a:p>
            <a:pPr marL="0" indent="0">
              <a:buNone/>
            </a:pPr>
            <a:r>
              <a:rPr lang="en-US" sz="2400" u="sng" dirty="0"/>
              <a:t>CLICKER QUESTION 2</a:t>
            </a:r>
          </a:p>
          <a:p>
            <a:pPr marL="457200" indent="-457200">
              <a:spcBef>
                <a:spcPts val="2400"/>
              </a:spcBef>
              <a:buNone/>
            </a:pPr>
            <a:r>
              <a:rPr lang="en-US" dirty="0"/>
              <a:t>In an experiment, a neuron is stimulated with electrical charges of increasing strength. With each stimulation, an action potential is generated, and the membrane potential reaches 40 mV. Which of the following statements does this illustrate?</a:t>
            </a:r>
          </a:p>
          <a:p>
            <a:pPr marL="914400" indent="-457200">
              <a:spcBef>
                <a:spcPts val="1200"/>
              </a:spcBef>
              <a:buFont typeface="Arial" pitchFamily="34" charset="0"/>
              <a:buAutoNum type="alphaLcPeriod"/>
            </a:pPr>
            <a:r>
              <a:rPr lang="en-US" dirty="0"/>
              <a:t>Anything above threshold produces an all-or-none response.</a:t>
            </a:r>
          </a:p>
          <a:p>
            <a:pPr marL="914400" indent="-457200">
              <a:spcBef>
                <a:spcPts val="1200"/>
              </a:spcBef>
              <a:buFont typeface="Arial" pitchFamily="34" charset="0"/>
              <a:buAutoNum type="alphaLcPeriod"/>
            </a:pPr>
            <a:r>
              <a:rPr lang="en-US" dirty="0"/>
              <a:t>The threshold potential is 40 mV.</a:t>
            </a:r>
          </a:p>
          <a:p>
            <a:pPr marL="914400" indent="-457200">
              <a:spcBef>
                <a:spcPts val="1200"/>
              </a:spcBef>
              <a:buFont typeface="Arial" pitchFamily="34" charset="0"/>
              <a:buAutoNum type="alphaLcPeriod"/>
            </a:pPr>
            <a:r>
              <a:rPr lang="en-US" dirty="0"/>
              <a:t>Depolarization is dependent on the strength of the stimulus.</a:t>
            </a:r>
          </a:p>
        </p:txBody>
      </p:sp>
    </p:spTree>
    <p:extLst>
      <p:ext uri="{BB962C8B-B14F-4D97-AF65-F5344CB8AC3E}">
        <p14:creationId xmlns:p14="http://schemas.microsoft.com/office/powerpoint/2010/main" val="18661000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Autofit/>
          </a:bodyPr>
          <a:lstStyle/>
          <a:p>
            <a:r>
              <a:rPr kumimoji="0" lang="en-US" sz="3600" b="0" i="0" u="none" strike="noStrike" kern="1200" cap="none" spc="0" normalizeH="0" baseline="0" noProof="0" dirty="0">
                <a:ln>
                  <a:noFill/>
                </a:ln>
                <a:solidFill>
                  <a:srgbClr val="1F497D"/>
                </a:solidFill>
                <a:effectLst/>
                <a:uLnTx/>
                <a:uFillTx/>
                <a:latin typeface="Calibri"/>
                <a:ea typeface="+mj-ea"/>
                <a:cs typeface="+mj-cs"/>
              </a:rPr>
              <a:t>Review of Learning Objectives </a:t>
            </a:r>
            <a:r>
              <a:rPr kumimoji="0" lang="en-US" sz="1200" b="0" i="0" u="none" strike="noStrike" kern="1200" cap="none" spc="0" normalizeH="0" baseline="0" noProof="0" dirty="0">
                <a:ln>
                  <a:noFill/>
                </a:ln>
                <a:solidFill>
                  <a:srgbClr val="1F497D"/>
                </a:solidFill>
                <a:effectLst/>
                <a:uLnTx/>
                <a:uFillTx/>
                <a:latin typeface="Calibri"/>
                <a:ea typeface="+mj-ea"/>
                <a:cs typeface="+mj-cs"/>
              </a:rPr>
              <a:t>(2 of 3)</a:t>
            </a:r>
            <a:endParaRPr lang="en-US" dirty="0"/>
          </a:p>
        </p:txBody>
      </p:sp>
      <p:sp>
        <p:nvSpPr>
          <p:cNvPr id="3" name="Text Placeholder 2"/>
          <p:cNvSpPr>
            <a:spLocks noGrp="1"/>
          </p:cNvSpPr>
          <p:nvPr>
            <p:ph idx="1"/>
          </p:nvPr>
        </p:nvSpPr>
        <p:spPr>
          <a:xfrm>
            <a:off x="609600" y="1857781"/>
            <a:ext cx="10972800" cy="4525963"/>
          </a:xfrm>
        </p:spPr>
        <p:txBody>
          <a:bodyPr>
            <a:normAutofit fontScale="77500" lnSpcReduction="20000"/>
          </a:bodyPr>
          <a:lstStyle/>
          <a:p>
            <a:pPr marL="914400" indent="-914400">
              <a:lnSpc>
                <a:spcPct val="120000"/>
              </a:lnSpc>
              <a:spcBef>
                <a:spcPts val="1200"/>
              </a:spcBef>
              <a:buNone/>
            </a:pPr>
            <a:r>
              <a:rPr lang="en-US" dirty="0"/>
              <a:t>2.2.1  Explain the mechanisms that give rise to resting membrane potential.</a:t>
            </a:r>
          </a:p>
          <a:p>
            <a:pPr marL="914400" indent="-914400">
              <a:lnSpc>
                <a:spcPct val="120000"/>
              </a:lnSpc>
              <a:spcBef>
                <a:spcPts val="1200"/>
              </a:spcBef>
              <a:buNone/>
            </a:pPr>
            <a:r>
              <a:rPr lang="en-US" dirty="0"/>
              <a:t>2.2.2  Describe how local inhibitory and excitatory postsynaptic potentials lead to states of hyperpolarization and depolarization, respectively.</a:t>
            </a:r>
          </a:p>
          <a:p>
            <a:pPr marL="914400" indent="-914400">
              <a:lnSpc>
                <a:spcPct val="120000"/>
              </a:lnSpc>
              <a:spcBef>
                <a:spcPts val="1200"/>
              </a:spcBef>
              <a:buNone/>
            </a:pPr>
            <a:r>
              <a:rPr lang="en-US" dirty="0"/>
              <a:t>2.2.3  Explain how local potentials from simultaneous inputs are integrated at the axon hillock.</a:t>
            </a:r>
          </a:p>
          <a:p>
            <a:pPr marL="914400" indent="-914400">
              <a:lnSpc>
                <a:spcPct val="120000"/>
              </a:lnSpc>
              <a:spcBef>
                <a:spcPts val="1200"/>
              </a:spcBef>
              <a:buNone/>
            </a:pPr>
            <a:r>
              <a:rPr lang="en-US" dirty="0"/>
              <a:t>2.2.4  Describe how the integration of sufficient excitatory postsynaptic potentials at the axon hillock can trigger an action potential.</a:t>
            </a:r>
          </a:p>
          <a:p>
            <a:pPr marL="914400" indent="-914400">
              <a:lnSpc>
                <a:spcPct val="120000"/>
              </a:lnSpc>
              <a:spcBef>
                <a:spcPts val="1200"/>
              </a:spcBef>
              <a:buNone/>
            </a:pPr>
            <a:r>
              <a:rPr lang="en-US" dirty="0"/>
              <a:t>2.2.5  Explain how the distribution of ions between the interior and exterior of the neuron interacts with voltage-gated ion channels to generate action potentials; describe how drugs can influence this process.</a:t>
            </a:r>
          </a:p>
        </p:txBody>
      </p:sp>
    </p:spTree>
    <p:extLst>
      <p:ext uri="{BB962C8B-B14F-4D97-AF65-F5344CB8AC3E}">
        <p14:creationId xmlns:p14="http://schemas.microsoft.com/office/powerpoint/2010/main" val="3830997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Organization of the Nervous System </a:t>
            </a:r>
            <a:r>
              <a:rPr lang="en-US" sz="1200" dirty="0"/>
              <a:t>(1 of 18)</a:t>
            </a:r>
          </a:p>
        </p:txBody>
      </p:sp>
      <p:sp>
        <p:nvSpPr>
          <p:cNvPr id="3" name="Text Placeholder 2"/>
          <p:cNvSpPr>
            <a:spLocks noGrp="1"/>
          </p:cNvSpPr>
          <p:nvPr>
            <p:ph idx="1"/>
          </p:nvPr>
        </p:nvSpPr>
        <p:spPr>
          <a:xfrm>
            <a:off x="609600" y="1857781"/>
            <a:ext cx="10972800" cy="4525963"/>
          </a:xfrm>
        </p:spPr>
        <p:txBody>
          <a:bodyPr>
            <a:normAutofit lnSpcReduction="10000"/>
          </a:bodyPr>
          <a:lstStyle/>
          <a:p>
            <a:pPr marL="457200" indent="-457200">
              <a:spcBef>
                <a:spcPts val="1200"/>
              </a:spcBef>
              <a:buNone/>
            </a:pPr>
            <a:r>
              <a:rPr lang="en-US" dirty="0"/>
              <a:t>The Nervous System Comprises the Central and Peripheral Divisions</a:t>
            </a:r>
          </a:p>
          <a:p>
            <a:pPr marL="571500">
              <a:spcBef>
                <a:spcPts val="1800"/>
              </a:spcBef>
            </a:pPr>
            <a:r>
              <a:rPr lang="en-US" sz="2800" dirty="0"/>
              <a:t>Central nervous system (CNS): brain and spinal cord</a:t>
            </a:r>
          </a:p>
          <a:p>
            <a:pPr marL="571500">
              <a:spcBef>
                <a:spcPts val="1800"/>
              </a:spcBef>
            </a:pPr>
            <a:r>
              <a:rPr lang="en-US" sz="2800" dirty="0"/>
              <a:t>Peripheral nervous system (PNS): all nerves outside CNS</a:t>
            </a:r>
          </a:p>
          <a:p>
            <a:pPr marL="1263650" lvl="1" indent="-349250">
              <a:spcBef>
                <a:spcPts val="1800"/>
              </a:spcBef>
              <a:buFont typeface="Courier New" panose="02070309020205020404" pitchFamily="49" charset="0"/>
              <a:buChar char="o"/>
            </a:pPr>
            <a:r>
              <a:rPr lang="en-US" dirty="0"/>
              <a:t>Somatic system controls voluntary muscles with spinal nerves and cranial nerves.</a:t>
            </a:r>
          </a:p>
          <a:p>
            <a:pPr marL="1263650" lvl="1" indent="-349250">
              <a:spcBef>
                <a:spcPts val="1800"/>
              </a:spcBef>
              <a:buFont typeface="Courier New" panose="02070309020205020404" pitchFamily="49" charset="0"/>
              <a:buChar char="o"/>
            </a:pPr>
            <a:r>
              <a:rPr lang="en-US" dirty="0"/>
              <a:t>Autonomic nervous system controls function of organs and glands with autonomic nerves and some cranial nerves.</a:t>
            </a:r>
          </a:p>
        </p:txBody>
      </p:sp>
    </p:spTree>
    <p:extLst>
      <p:ext uri="{BB962C8B-B14F-4D97-AF65-F5344CB8AC3E}">
        <p14:creationId xmlns:p14="http://schemas.microsoft.com/office/powerpoint/2010/main" val="17802772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C7064-0F4A-1F43-B2B0-C511C574EFEE}"/>
              </a:ext>
            </a:extLst>
          </p:cNvPr>
          <p:cNvSpPr>
            <a:spLocks noGrp="1"/>
          </p:cNvSpPr>
          <p:nvPr>
            <p:ph type="title"/>
          </p:nvPr>
        </p:nvSpPr>
        <p:spPr/>
        <p:txBody>
          <a:bodyPr/>
          <a:lstStyle/>
          <a:p>
            <a:r>
              <a:rPr lang="en-US" dirty="0"/>
              <a:t>FIGURE 2.16  The central and peripheral nervous systems </a:t>
            </a:r>
          </a:p>
        </p:txBody>
      </p:sp>
      <p:pic>
        <p:nvPicPr>
          <p:cNvPr id="6" name="Content Placeholder 5" descr="An illustration depicts the central nervous system and peripheral nervous system. The central nervous system where the brain and spine are highlighted. The peripheral nervous system where all the other parts of the body are highlighted.&#10;&#10;A flow diagram depicts the organization flow of the nervous system. The brain and spinal cord make up the central nervous system, which analyzes and integrates sensory and motor information from the peripheral nervous system. The autonomic and somatic nervous systems are both parts of the peripheral nervous system. The sympathetic nervous system includes the thoracic and lumbar autonomic nerves, while the parasympathetic nervous system includes the sacral autonomic nerves and cranial nerves. All of these neurons receive and transmit signals from the internal environment, including those from smooth muscle, cardiac muscle, glands, and organs. The somatic nervous system is made up of spinal and cranial nerves that branch out into motor and sensory nerves. The motor nerves deliver messages to the skeletal muscles, while the sensory nerves receive information from the outside environment."/>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1933432" y="479425"/>
            <a:ext cx="8325137" cy="6300788"/>
          </a:xfrm>
        </p:spPr>
      </p:pic>
    </p:spTree>
    <p:extLst>
      <p:ext uri="{BB962C8B-B14F-4D97-AF65-F5344CB8AC3E}">
        <p14:creationId xmlns:p14="http://schemas.microsoft.com/office/powerpoint/2010/main" val="28004916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Organization of the Nervous System </a:t>
            </a:r>
            <a:r>
              <a:rPr lang="en-US" sz="1200" dirty="0"/>
              <a:t>(2 of 18)</a:t>
            </a:r>
            <a:endParaRPr lang="en-US" dirty="0"/>
          </a:p>
        </p:txBody>
      </p:sp>
      <p:sp>
        <p:nvSpPr>
          <p:cNvPr id="3" name="Text Placeholder 2"/>
          <p:cNvSpPr>
            <a:spLocks noGrp="1"/>
          </p:cNvSpPr>
          <p:nvPr>
            <p:ph idx="1"/>
          </p:nvPr>
        </p:nvSpPr>
        <p:spPr>
          <a:xfrm>
            <a:off x="609600" y="1857781"/>
            <a:ext cx="10972800" cy="4525963"/>
          </a:xfrm>
        </p:spPr>
        <p:txBody>
          <a:bodyPr>
            <a:normAutofit fontScale="92500" lnSpcReduction="20000"/>
          </a:bodyPr>
          <a:lstStyle/>
          <a:p>
            <a:pPr marL="457200" indent="-457200">
              <a:spcBef>
                <a:spcPts val="1200"/>
              </a:spcBef>
              <a:buNone/>
            </a:pPr>
            <a:r>
              <a:rPr lang="en-US" sz="3500" dirty="0"/>
              <a:t>The Nervous System Comprises the Central and Peripheral Divisions</a:t>
            </a:r>
          </a:p>
          <a:p>
            <a:pPr marL="571500">
              <a:spcBef>
                <a:spcPts val="1800"/>
              </a:spcBef>
            </a:pPr>
            <a:r>
              <a:rPr lang="en-US" sz="3000" dirty="0"/>
              <a:t>Spinal nerves are mixed nerves:</a:t>
            </a:r>
          </a:p>
          <a:p>
            <a:pPr marL="1263650" lvl="1" indent="-349250">
              <a:spcBef>
                <a:spcPts val="1800"/>
              </a:spcBef>
              <a:buFont typeface="Courier New" panose="02070309020205020404" pitchFamily="49" charset="0"/>
              <a:buChar char="o"/>
            </a:pPr>
            <a:r>
              <a:rPr lang="en-US" sz="3000" b="1" dirty="0"/>
              <a:t>Sensory afferent</a:t>
            </a:r>
            <a:r>
              <a:rPr lang="en-US" sz="3000" dirty="0"/>
              <a:t> nerves carry information to the spinal cord; soma are in the dorsal root ganglia.</a:t>
            </a:r>
          </a:p>
          <a:p>
            <a:pPr marL="1263650" lvl="1" indent="-349250">
              <a:spcBef>
                <a:spcPts val="1800"/>
              </a:spcBef>
              <a:buFont typeface="Courier New" panose="02070309020205020404" pitchFamily="49" charset="0"/>
              <a:buChar char="o"/>
            </a:pPr>
            <a:r>
              <a:rPr lang="en-US" sz="3000" b="1" dirty="0"/>
              <a:t>Motor efferent </a:t>
            </a:r>
            <a:r>
              <a:rPr lang="en-US" sz="3000" dirty="0"/>
              <a:t>nerves result in voluntary movement; soma are in ventral horn.</a:t>
            </a:r>
          </a:p>
          <a:p>
            <a:pPr marL="571500">
              <a:spcBef>
                <a:spcPts val="1800"/>
              </a:spcBef>
            </a:pPr>
            <a:r>
              <a:rPr lang="en-US" sz="3000" dirty="0"/>
              <a:t>Cranial nerves serve head and neck; not all are mixed nerves; some innervate glands and organs</a:t>
            </a:r>
          </a:p>
        </p:txBody>
      </p:sp>
    </p:spTree>
    <p:extLst>
      <p:ext uri="{BB962C8B-B14F-4D97-AF65-F5344CB8AC3E}">
        <p14:creationId xmlns:p14="http://schemas.microsoft.com/office/powerpoint/2010/main" val="4216784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0EC69-F020-3845-8D42-A9778F050BD5}"/>
              </a:ext>
            </a:extLst>
          </p:cNvPr>
          <p:cNvSpPr>
            <a:spLocks noGrp="1"/>
          </p:cNvSpPr>
          <p:nvPr>
            <p:ph type="title"/>
          </p:nvPr>
        </p:nvSpPr>
        <p:spPr/>
        <p:txBody>
          <a:bodyPr/>
          <a:lstStyle/>
          <a:p>
            <a:r>
              <a:rPr lang="en-US" dirty="0"/>
              <a:t>FIGURE 2.17  Spinal nerves of the peripheral nervous system (PNS)  </a:t>
            </a:r>
          </a:p>
        </p:txBody>
      </p:sp>
      <p:pic>
        <p:nvPicPr>
          <p:cNvPr id="6" name="Content Placeholder 5" descr="A cross-section of the spinal cord depicts the spinal nerves of the peripheral nervous system. The sensory receptor's afferent and efferent vessels pass via the sensory neuron soma in the dorsal root ganglion on their path to the inter neuron and motor neuron in the ventral horn. The axons ascend to the medulla. On the surface, the dorsal and ventral horns are indicated. The dorsal and ventral roots of the mixed spinal nerves with afferents and efferents are branching."/>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997170" y="479425"/>
            <a:ext cx="10197660" cy="6300788"/>
          </a:xfrm>
        </p:spPr>
      </p:pic>
    </p:spTree>
    <p:extLst>
      <p:ext uri="{BB962C8B-B14F-4D97-AF65-F5344CB8AC3E}">
        <p14:creationId xmlns:p14="http://schemas.microsoft.com/office/powerpoint/2010/main" val="11850851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Organization of the Nervous System </a:t>
            </a:r>
            <a:r>
              <a:rPr lang="en-US" sz="1200" dirty="0"/>
              <a:t>(3 of 18)</a:t>
            </a:r>
            <a:endParaRPr lang="en-US" dirty="0"/>
          </a:p>
        </p:txBody>
      </p:sp>
      <p:sp>
        <p:nvSpPr>
          <p:cNvPr id="3" name="Text Placeholder 2"/>
          <p:cNvSpPr>
            <a:spLocks noGrp="1"/>
          </p:cNvSpPr>
          <p:nvPr>
            <p:ph idx="1"/>
          </p:nvPr>
        </p:nvSpPr>
        <p:spPr>
          <a:xfrm>
            <a:off x="609600" y="1857781"/>
            <a:ext cx="10972800" cy="4525963"/>
          </a:xfrm>
        </p:spPr>
        <p:txBody>
          <a:bodyPr>
            <a:normAutofit/>
          </a:bodyPr>
          <a:lstStyle/>
          <a:p>
            <a:pPr marL="457200" indent="-457200">
              <a:spcBef>
                <a:spcPts val="1200"/>
              </a:spcBef>
              <a:buNone/>
            </a:pPr>
            <a:r>
              <a:rPr lang="en-US" dirty="0"/>
              <a:t>The Nervous System Comprises the Central and Peripheral Divisions</a:t>
            </a:r>
          </a:p>
          <a:p>
            <a:pPr marL="571500">
              <a:spcBef>
                <a:spcPts val="1800"/>
              </a:spcBef>
            </a:pPr>
            <a:r>
              <a:rPr lang="en-US" sz="2800" dirty="0"/>
              <a:t>Autonomic nerves innervate smooth muscles; </a:t>
            </a:r>
            <a:r>
              <a:rPr lang="en-US" altLang="en-US" sz="2800" dirty="0"/>
              <a:t>control digestion, blood pressure, body temperature, and other functions.</a:t>
            </a:r>
          </a:p>
          <a:p>
            <a:pPr marL="571500">
              <a:spcBef>
                <a:spcPts val="1800"/>
              </a:spcBef>
            </a:pPr>
            <a:r>
              <a:rPr lang="en-US" altLang="en-US" sz="2800" b="1" dirty="0"/>
              <a:t>Sympathetic</a:t>
            </a:r>
            <a:r>
              <a:rPr lang="en-US" altLang="en-US" sz="2800" dirty="0"/>
              <a:t> division dominates during times of stress, excitement, and exertion; the “</a:t>
            </a:r>
            <a:r>
              <a:rPr lang="en-US" altLang="ja-JP" sz="2800" dirty="0"/>
              <a:t>fight-or-flight”</a:t>
            </a:r>
            <a:r>
              <a:rPr lang="ja-JP" altLang="en-US" sz="2800" dirty="0"/>
              <a:t> </a:t>
            </a:r>
            <a:r>
              <a:rPr lang="en-US" altLang="ja-JP" sz="2800" dirty="0"/>
              <a:t>system.</a:t>
            </a:r>
          </a:p>
          <a:p>
            <a:pPr marL="571500">
              <a:spcBef>
                <a:spcPts val="1800"/>
              </a:spcBef>
            </a:pPr>
            <a:r>
              <a:rPr lang="en-US" sz="2800" b="1" dirty="0"/>
              <a:t>Parasympathetic</a:t>
            </a:r>
            <a:r>
              <a:rPr lang="en-US" sz="2800" dirty="0"/>
              <a:t> division dominates when energy reserves can be conserved and stored for later use.</a:t>
            </a:r>
          </a:p>
        </p:txBody>
      </p:sp>
    </p:spTree>
    <p:extLst>
      <p:ext uri="{BB962C8B-B14F-4D97-AF65-F5344CB8AC3E}">
        <p14:creationId xmlns:p14="http://schemas.microsoft.com/office/powerpoint/2010/main" val="13760146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1F0A9-9400-D14C-BDFB-A957E92B95D3}"/>
              </a:ext>
            </a:extLst>
          </p:cNvPr>
          <p:cNvSpPr>
            <a:spLocks noGrp="1"/>
          </p:cNvSpPr>
          <p:nvPr>
            <p:ph type="title"/>
          </p:nvPr>
        </p:nvSpPr>
        <p:spPr/>
        <p:txBody>
          <a:bodyPr/>
          <a:lstStyle/>
          <a:p>
            <a:r>
              <a:rPr lang="en-US" dirty="0"/>
              <a:t>FIGURE 2.18  Autonomic nervous system (ANS) </a:t>
            </a:r>
          </a:p>
        </p:txBody>
      </p:sp>
      <p:pic>
        <p:nvPicPr>
          <p:cNvPr id="12" name="Content Placeholder 11" descr="An illustration depicts the autonomic nervous system associated with various organs. The sympathetic division connects the thoracic segment's noradrenergic neurons to the cervical ganglion, which then travels to other parts of the body. Cholinergic neurons from the cranial point of the brain and the sacral point of the spine are connected to numerous organs of the body in the parasympathetic division. Postganglionic synapses connect noradrenergic neurons to the axon terminal. Preganglionic and postganglionic synapses connect cholinergic neurons to the axon terminal.">
            <a:extLst>
              <a:ext uri="{FF2B5EF4-FFF2-40B4-BE49-F238E27FC236}">
                <a16:creationId xmlns:a16="http://schemas.microsoft.com/office/drawing/2014/main" id="{6E18DBE2-23EF-7B4C-9E4B-E6403DC0FF0F}"/>
              </a:ext>
            </a:extLst>
          </p:cNvPr>
          <p:cNvPicPr>
            <a:picLocks noGrp="1" noChangeAspect="1"/>
          </p:cNvPicPr>
          <p:nvPr>
            <p:ph sz="quarter" idx="10"/>
          </p:nvPr>
        </p:nvPicPr>
        <p:blipFill>
          <a:blip r:embed="rId3"/>
          <a:stretch>
            <a:fillRect/>
          </a:stretch>
        </p:blipFill>
        <p:spPr>
          <a:xfrm>
            <a:off x="3571890" y="479425"/>
            <a:ext cx="5048221" cy="6300788"/>
          </a:xfrm>
        </p:spPr>
      </p:pic>
    </p:spTree>
    <p:extLst>
      <p:ext uri="{BB962C8B-B14F-4D97-AF65-F5344CB8AC3E}">
        <p14:creationId xmlns:p14="http://schemas.microsoft.com/office/powerpoint/2010/main" val="13586384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Organization of the Nervous System </a:t>
            </a:r>
            <a:r>
              <a:rPr lang="en-US" sz="1200" dirty="0"/>
              <a:t>(4 of 18)</a:t>
            </a:r>
            <a:endParaRPr lang="en-US" dirty="0"/>
          </a:p>
        </p:txBody>
      </p:sp>
      <p:sp>
        <p:nvSpPr>
          <p:cNvPr id="3" name="Text Placeholder 2"/>
          <p:cNvSpPr>
            <a:spLocks noGrp="1"/>
          </p:cNvSpPr>
          <p:nvPr>
            <p:ph idx="1"/>
          </p:nvPr>
        </p:nvSpPr>
        <p:spPr>
          <a:xfrm>
            <a:off x="609600" y="1857781"/>
            <a:ext cx="10972800" cy="4525963"/>
          </a:xfrm>
        </p:spPr>
        <p:txBody>
          <a:bodyPr>
            <a:normAutofit/>
          </a:bodyPr>
          <a:lstStyle/>
          <a:p>
            <a:pPr marL="457200" indent="-457200">
              <a:spcBef>
                <a:spcPts val="1200"/>
              </a:spcBef>
              <a:buNone/>
            </a:pPr>
            <a:r>
              <a:rPr lang="en-US" dirty="0"/>
              <a:t>The Nervous System Comprises the Central and Peripheral Divisions</a:t>
            </a:r>
          </a:p>
          <a:p>
            <a:pPr marL="571500">
              <a:lnSpc>
                <a:spcPct val="90000"/>
              </a:lnSpc>
              <a:spcBef>
                <a:spcPts val="1800"/>
              </a:spcBef>
            </a:pPr>
            <a:r>
              <a:rPr lang="en-US" sz="2800" dirty="0"/>
              <a:t>Sympathetic nerves originate in the thoracic and lumbar spinal cord; release </a:t>
            </a:r>
            <a:r>
              <a:rPr lang="en-US" sz="2800" dirty="0" err="1"/>
              <a:t>acetycholine</a:t>
            </a:r>
            <a:r>
              <a:rPr lang="en-US" sz="2800" dirty="0"/>
              <a:t> in ganglia; release norepinephrine at the target organ; ganglia are next to spinal cord</a:t>
            </a:r>
          </a:p>
          <a:p>
            <a:pPr marL="571500">
              <a:lnSpc>
                <a:spcPct val="90000"/>
              </a:lnSpc>
              <a:spcBef>
                <a:spcPts val="1800"/>
              </a:spcBef>
            </a:pPr>
            <a:r>
              <a:rPr lang="en-US" sz="2800" dirty="0"/>
              <a:t>Parasympathetic nerves originate in the brain and sacral spinal cord; release acetylcholine; ganglia are near target organs</a:t>
            </a:r>
          </a:p>
        </p:txBody>
      </p:sp>
    </p:spTree>
    <p:extLst>
      <p:ext uri="{BB962C8B-B14F-4D97-AF65-F5344CB8AC3E}">
        <p14:creationId xmlns:p14="http://schemas.microsoft.com/office/powerpoint/2010/main" val="10037724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Organization of the Nervous System </a:t>
            </a:r>
            <a:r>
              <a:rPr lang="en-US" sz="1200" dirty="0"/>
              <a:t>(5 of 18)</a:t>
            </a:r>
            <a:endParaRPr lang="en-US" dirty="0"/>
          </a:p>
        </p:txBody>
      </p:sp>
      <p:sp>
        <p:nvSpPr>
          <p:cNvPr id="3" name="Text Placeholder 2"/>
          <p:cNvSpPr>
            <a:spLocks noGrp="1"/>
          </p:cNvSpPr>
          <p:nvPr>
            <p:ph idx="1"/>
          </p:nvPr>
        </p:nvSpPr>
        <p:spPr>
          <a:xfrm>
            <a:off x="609600" y="1857781"/>
            <a:ext cx="10972800" cy="4525963"/>
          </a:xfrm>
        </p:spPr>
        <p:txBody>
          <a:bodyPr>
            <a:normAutofit fontScale="92500" lnSpcReduction="10000"/>
          </a:bodyPr>
          <a:lstStyle/>
          <a:p>
            <a:pPr marL="457200" indent="-457200">
              <a:spcBef>
                <a:spcPts val="1200"/>
              </a:spcBef>
              <a:buNone/>
            </a:pPr>
            <a:r>
              <a:rPr lang="en-US" sz="3500" dirty="0"/>
              <a:t>CNS Functioning Is Dependent on Structural Features</a:t>
            </a:r>
          </a:p>
          <a:p>
            <a:pPr marL="571500">
              <a:spcBef>
                <a:spcPts val="1800"/>
              </a:spcBef>
            </a:pPr>
            <a:r>
              <a:rPr lang="en-US" sz="3000" b="1" dirty="0"/>
              <a:t>Meninges</a:t>
            </a:r>
            <a:r>
              <a:rPr lang="en-US" sz="3000" dirty="0"/>
              <a:t>: layers of tissue that cover and protect brain and spinal cord</a:t>
            </a:r>
          </a:p>
          <a:p>
            <a:pPr marL="1263650" lvl="1" indent="-349250">
              <a:spcBef>
                <a:spcPts val="1800"/>
              </a:spcBef>
              <a:buFont typeface="Courier New" panose="02070309020205020404" pitchFamily="49" charset="0"/>
              <a:buChar char="o"/>
            </a:pPr>
            <a:r>
              <a:rPr lang="en-US" sz="3000" b="1" dirty="0"/>
              <a:t>Dura mater</a:t>
            </a:r>
            <a:r>
              <a:rPr lang="en-US" sz="3000" dirty="0"/>
              <a:t>: outermost layer; toughest</a:t>
            </a:r>
          </a:p>
          <a:p>
            <a:pPr marL="1263650" lvl="1" indent="-349250">
              <a:spcBef>
                <a:spcPts val="1800"/>
              </a:spcBef>
              <a:buFont typeface="Courier New" panose="02070309020205020404" pitchFamily="49" charset="0"/>
              <a:buChar char="o"/>
            </a:pPr>
            <a:r>
              <a:rPr lang="en-US" sz="3000" b="1" dirty="0"/>
              <a:t>Arachnoid</a:t>
            </a:r>
            <a:r>
              <a:rPr lang="en-US" sz="3000" dirty="0"/>
              <a:t>: has a weblike sublayer (subarachnoid space) filled with cerebrospinal fluid (CSF)</a:t>
            </a:r>
          </a:p>
          <a:p>
            <a:pPr marL="1263650" lvl="1" indent="-349250">
              <a:spcBef>
                <a:spcPts val="1800"/>
              </a:spcBef>
              <a:buFont typeface="Courier New" panose="02070309020205020404" pitchFamily="49" charset="0"/>
              <a:buChar char="o"/>
            </a:pPr>
            <a:r>
              <a:rPr lang="en-US" sz="3000" b="1" dirty="0"/>
              <a:t>Pia mater</a:t>
            </a:r>
            <a:r>
              <a:rPr lang="en-US" sz="3000" dirty="0"/>
              <a:t>: thin layer on top of nerve tissue</a:t>
            </a:r>
          </a:p>
          <a:p>
            <a:pPr marL="571500">
              <a:spcBef>
                <a:spcPts val="1800"/>
              </a:spcBef>
            </a:pPr>
            <a:r>
              <a:rPr lang="en-US" sz="3000" dirty="0"/>
              <a:t>CSF surrounds brain and spinal cord, fills cerebral ventricles and central channel in the spinal cord; formed in the choroid plexus</a:t>
            </a:r>
          </a:p>
        </p:txBody>
      </p:sp>
    </p:spTree>
    <p:extLst>
      <p:ext uri="{BB962C8B-B14F-4D97-AF65-F5344CB8AC3E}">
        <p14:creationId xmlns:p14="http://schemas.microsoft.com/office/powerpoint/2010/main" val="4838781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Organization of the Nervous System </a:t>
            </a:r>
            <a:r>
              <a:rPr lang="en-US" sz="1200" dirty="0"/>
              <a:t>(6 of 18)</a:t>
            </a:r>
            <a:endParaRPr lang="en-US" dirty="0"/>
          </a:p>
        </p:txBody>
      </p:sp>
      <p:sp>
        <p:nvSpPr>
          <p:cNvPr id="3" name="Text Placeholder 2"/>
          <p:cNvSpPr>
            <a:spLocks noGrp="1"/>
          </p:cNvSpPr>
          <p:nvPr>
            <p:ph idx="1"/>
          </p:nvPr>
        </p:nvSpPr>
        <p:spPr>
          <a:xfrm>
            <a:off x="609600" y="1857781"/>
            <a:ext cx="10972800" cy="4525963"/>
          </a:xfrm>
        </p:spPr>
        <p:txBody>
          <a:bodyPr>
            <a:normAutofit lnSpcReduction="10000"/>
          </a:bodyPr>
          <a:lstStyle/>
          <a:p>
            <a:pPr marL="457200" indent="-457200">
              <a:spcBef>
                <a:spcPts val="1200"/>
              </a:spcBef>
              <a:buNone/>
            </a:pPr>
            <a:r>
              <a:rPr lang="en-US" dirty="0"/>
              <a:t>The CNS Has Six Distinct Regions Reflecting Embryological Development</a:t>
            </a:r>
          </a:p>
          <a:p>
            <a:pPr marL="571500">
              <a:spcBef>
                <a:spcPts val="1800"/>
              </a:spcBef>
            </a:pPr>
            <a:r>
              <a:rPr lang="en-US" sz="2800" dirty="0"/>
              <a:t>CNS begins as the neural tube; develops into forebrain, midbrain, hindbrain, and spinal cord</a:t>
            </a:r>
          </a:p>
          <a:p>
            <a:pPr marL="571500">
              <a:spcBef>
                <a:spcPts val="1800"/>
              </a:spcBef>
            </a:pPr>
            <a:r>
              <a:rPr lang="en-US" sz="2800" dirty="0"/>
              <a:t>Organization is hierarchical; levels have overlapping functions; higher levels partially replicate functions of lower ones but provide increased behavioral complexity and refined control.</a:t>
            </a:r>
          </a:p>
          <a:p>
            <a:pPr marL="571500">
              <a:spcBef>
                <a:spcPts val="1800"/>
              </a:spcBef>
            </a:pPr>
            <a:r>
              <a:rPr lang="en-US" sz="2800" dirty="0"/>
              <a:t>Each region is divided into clusters of cell bodies (</a:t>
            </a:r>
            <a:r>
              <a:rPr lang="en-US" sz="2800" b="1" dirty="0"/>
              <a:t>nuclei</a:t>
            </a:r>
            <a:r>
              <a:rPr lang="en-US" sz="2800" dirty="0"/>
              <a:t>), and their associated bundles of axons (</a:t>
            </a:r>
            <a:r>
              <a:rPr lang="en-US" sz="2800" b="1" dirty="0"/>
              <a:t>tracts</a:t>
            </a:r>
            <a:r>
              <a:rPr lang="en-US" sz="2800" dirty="0"/>
              <a:t>).</a:t>
            </a:r>
          </a:p>
        </p:txBody>
      </p:sp>
    </p:spTree>
    <p:extLst>
      <p:ext uri="{BB962C8B-B14F-4D97-AF65-F5344CB8AC3E}">
        <p14:creationId xmlns:p14="http://schemas.microsoft.com/office/powerpoint/2010/main" val="18937164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6399B-3E09-984E-A59B-E13C92C0478E}"/>
              </a:ext>
            </a:extLst>
          </p:cNvPr>
          <p:cNvSpPr>
            <a:spLocks noGrp="1"/>
          </p:cNvSpPr>
          <p:nvPr>
            <p:ph type="title"/>
          </p:nvPr>
        </p:nvSpPr>
        <p:spPr/>
        <p:txBody>
          <a:bodyPr/>
          <a:lstStyle/>
          <a:p>
            <a:r>
              <a:rPr lang="en-US" dirty="0"/>
              <a:t>FIGURE 2.19  Divisions of the central nervous system (CNS) </a:t>
            </a:r>
          </a:p>
        </p:txBody>
      </p:sp>
      <p:pic>
        <p:nvPicPr>
          <p:cNvPr id="6" name="Content Placeholder 5" descr="An illustration depicts the embryonic development of the human brain. The neural tube, midbrain, and forebrain all form an arch-like shape after 25 days. The neural tube is slightly twisted and the forebrain is enclosed inward after 35 days. The neural tube forms a u-shape after 40 days, from which the spinal cord emerges. The diencephalon forms above the telencephalon in the forebrain in 50 days. The telencephalon expands in 100 days to form the cerebral hemisphere, which is followed by the cerebellum, pons, and medulla.&#10;&#10;A flow diagram depicts the organization of the adult human brain. The spinal cord and brain are the two classification of the central nervous system. Hindbrain, mesencephalon (midbrain), and forebrain are the three parts of the brain. The myelencephalon (medulla) and Metencephalon are located in the hindbrain (cerebellum and pons). Diencephalon (thalamus and hypothalamus) and telencephalon (neocortex, basal ganglia, and limbic system) make up the forebrain. &#10;&#10;The neocortex, basal ganglia, limbic system, thalamus, hypothalamus, midbrain, cerebellum, pons, medulla, and spinal cord are all identified in this cross-section of an adult brain."/>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1351431" y="479425"/>
            <a:ext cx="9489138" cy="6300788"/>
          </a:xfrm>
        </p:spPr>
      </p:pic>
    </p:spTree>
    <p:extLst>
      <p:ext uri="{BB962C8B-B14F-4D97-AF65-F5344CB8AC3E}">
        <p14:creationId xmlns:p14="http://schemas.microsoft.com/office/powerpoint/2010/main" val="13324457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Organization of the Nervous System </a:t>
            </a:r>
            <a:r>
              <a:rPr lang="en-US" sz="1200" dirty="0"/>
              <a:t>(7 of 18)</a:t>
            </a:r>
            <a:endParaRPr lang="en-US" dirty="0"/>
          </a:p>
        </p:txBody>
      </p:sp>
      <p:sp>
        <p:nvSpPr>
          <p:cNvPr id="3" name="Text Placeholder 2"/>
          <p:cNvSpPr>
            <a:spLocks noGrp="1"/>
          </p:cNvSpPr>
          <p:nvPr>
            <p:ph idx="1"/>
          </p:nvPr>
        </p:nvSpPr>
        <p:spPr>
          <a:xfrm>
            <a:off x="609600" y="1857781"/>
            <a:ext cx="10972800" cy="4525963"/>
          </a:xfrm>
        </p:spPr>
        <p:txBody>
          <a:bodyPr>
            <a:normAutofit fontScale="85000" lnSpcReduction="20000"/>
          </a:bodyPr>
          <a:lstStyle/>
          <a:p>
            <a:pPr marL="457200" indent="-457200">
              <a:spcBef>
                <a:spcPts val="1200"/>
              </a:spcBef>
              <a:buNone/>
            </a:pPr>
            <a:r>
              <a:rPr lang="en-US" sz="3800" dirty="0"/>
              <a:t>The CNS Has Six Distinct Regions Reflecting Embryological Development</a:t>
            </a:r>
          </a:p>
          <a:p>
            <a:pPr marL="571500">
              <a:lnSpc>
                <a:spcPct val="110000"/>
              </a:lnSpc>
              <a:spcBef>
                <a:spcPts val="1200"/>
              </a:spcBef>
            </a:pPr>
            <a:r>
              <a:rPr lang="en-US" sz="2600" dirty="0"/>
              <a:t>Neurotrophic factors: proteins that influence growth, cell differentiation and survival, and synaptic connections</a:t>
            </a:r>
          </a:p>
          <a:p>
            <a:pPr marL="571500">
              <a:lnSpc>
                <a:spcPct val="110000"/>
              </a:lnSpc>
              <a:spcBef>
                <a:spcPts val="1200"/>
              </a:spcBef>
            </a:pPr>
            <a:r>
              <a:rPr lang="en-US" sz="2600" dirty="0"/>
              <a:t>NGF (nerve growth factor): secreted by peripheral organs; guides growth of axons to establish synapses at target organs</a:t>
            </a:r>
          </a:p>
          <a:p>
            <a:pPr marL="571500">
              <a:lnSpc>
                <a:spcPct val="110000"/>
              </a:lnSpc>
              <a:spcBef>
                <a:spcPts val="1200"/>
              </a:spcBef>
            </a:pPr>
            <a:r>
              <a:rPr lang="en-US" sz="2600" dirty="0"/>
              <a:t>BDNF (brain-derived neurotrophic factor): from skeletal muscle; guides motor neuron development and survival.</a:t>
            </a:r>
          </a:p>
          <a:p>
            <a:pPr marL="571500">
              <a:lnSpc>
                <a:spcPct val="110000"/>
              </a:lnSpc>
              <a:spcBef>
                <a:spcPts val="1200"/>
              </a:spcBef>
            </a:pPr>
            <a:r>
              <a:rPr lang="en-US" sz="2600" dirty="0"/>
              <a:t>Schwann cells release growth factor to regenerate damaged axons.</a:t>
            </a:r>
          </a:p>
          <a:p>
            <a:pPr marL="571500">
              <a:lnSpc>
                <a:spcPct val="110000"/>
              </a:lnSpc>
              <a:spcBef>
                <a:spcPts val="1200"/>
              </a:spcBef>
            </a:pPr>
            <a:r>
              <a:rPr lang="en-US" sz="2600" dirty="0"/>
              <a:t>Neurotrophic factors are potential therapeutic agents for neuro-degenerative diseases and psychiatric disorders.</a:t>
            </a:r>
          </a:p>
        </p:txBody>
      </p:sp>
    </p:spTree>
    <p:extLst>
      <p:ext uri="{BB962C8B-B14F-4D97-AF65-F5344CB8AC3E}">
        <p14:creationId xmlns:p14="http://schemas.microsoft.com/office/powerpoint/2010/main" val="31963529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Organization of the Nervous System </a:t>
            </a:r>
            <a:r>
              <a:rPr lang="en-US" sz="1200" dirty="0"/>
              <a:t>(8 of 18)</a:t>
            </a:r>
            <a:endParaRPr lang="en-US" dirty="0"/>
          </a:p>
        </p:txBody>
      </p:sp>
      <p:sp>
        <p:nvSpPr>
          <p:cNvPr id="3" name="Text Placeholder 2"/>
          <p:cNvSpPr>
            <a:spLocks noGrp="1"/>
          </p:cNvSpPr>
          <p:nvPr>
            <p:ph idx="1"/>
          </p:nvPr>
        </p:nvSpPr>
        <p:spPr>
          <a:xfrm>
            <a:off x="609600" y="1857781"/>
            <a:ext cx="10972800" cy="4525963"/>
          </a:xfrm>
        </p:spPr>
        <p:txBody>
          <a:bodyPr>
            <a:normAutofit/>
          </a:bodyPr>
          <a:lstStyle/>
          <a:p>
            <a:pPr marL="457200" indent="-457200">
              <a:lnSpc>
                <a:spcPct val="80000"/>
              </a:lnSpc>
              <a:spcBef>
                <a:spcPts val="1200"/>
              </a:spcBef>
              <a:buNone/>
            </a:pPr>
            <a:r>
              <a:rPr lang="en-US" dirty="0"/>
              <a:t>The CNS Has Six Distinct Regions Reflecting Embryological Development</a:t>
            </a:r>
          </a:p>
          <a:p>
            <a:pPr marL="571500">
              <a:lnSpc>
                <a:spcPct val="90000"/>
              </a:lnSpc>
              <a:spcBef>
                <a:spcPts val="1800"/>
              </a:spcBef>
            </a:pPr>
            <a:r>
              <a:rPr lang="en-US" sz="2800" dirty="0"/>
              <a:t>Spinal cord: gray matter contains neuron cell bodies; white matter is myelinated axons; enlarges into the </a:t>
            </a:r>
            <a:r>
              <a:rPr lang="en-US" sz="2800" b="1" dirty="0"/>
              <a:t>brain stem</a:t>
            </a:r>
            <a:r>
              <a:rPr lang="en-US" sz="2800" dirty="0"/>
              <a:t>—medulla, pons, and midbrain</a:t>
            </a:r>
          </a:p>
          <a:p>
            <a:pPr marL="1263650" lvl="1" indent="-349250">
              <a:spcBef>
                <a:spcPts val="1800"/>
              </a:spcBef>
              <a:buFont typeface="Courier New" panose="02070309020205020404" pitchFamily="49" charset="0"/>
              <a:buChar char="o"/>
            </a:pPr>
            <a:r>
              <a:rPr lang="en-US" dirty="0"/>
              <a:t>Many cranial nerves originate in the brain stem.</a:t>
            </a:r>
          </a:p>
          <a:p>
            <a:pPr marL="571500">
              <a:lnSpc>
                <a:spcPct val="90000"/>
              </a:lnSpc>
              <a:spcBef>
                <a:spcPts val="1800"/>
              </a:spcBef>
            </a:pPr>
            <a:r>
              <a:rPr lang="en-US" sz="2800" b="1" dirty="0"/>
              <a:t>Medulla</a:t>
            </a:r>
            <a:r>
              <a:rPr lang="en-US" sz="2800" dirty="0"/>
              <a:t> (myelencephalon): regulates heart rate, digestion, respiration, blood pressure, coughing, vomiting</a:t>
            </a:r>
          </a:p>
        </p:txBody>
      </p:sp>
    </p:spTree>
    <p:extLst>
      <p:ext uri="{BB962C8B-B14F-4D97-AF65-F5344CB8AC3E}">
        <p14:creationId xmlns:p14="http://schemas.microsoft.com/office/powerpoint/2010/main" val="41764281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Organization of the Nervous System </a:t>
            </a:r>
            <a:r>
              <a:rPr lang="en-US" sz="1200" dirty="0"/>
              <a:t>(9 of 18)</a:t>
            </a:r>
            <a:endParaRPr lang="en-US" dirty="0"/>
          </a:p>
        </p:txBody>
      </p:sp>
      <p:sp>
        <p:nvSpPr>
          <p:cNvPr id="3" name="Text Placeholder 2"/>
          <p:cNvSpPr>
            <a:spLocks noGrp="1"/>
          </p:cNvSpPr>
          <p:nvPr>
            <p:ph idx="1"/>
          </p:nvPr>
        </p:nvSpPr>
        <p:spPr>
          <a:xfrm>
            <a:off x="609600" y="1857781"/>
            <a:ext cx="10972800" cy="4525963"/>
          </a:xfrm>
        </p:spPr>
        <p:txBody>
          <a:bodyPr>
            <a:normAutofit fontScale="77500" lnSpcReduction="20000"/>
          </a:bodyPr>
          <a:lstStyle/>
          <a:p>
            <a:pPr marL="457200" indent="-457200">
              <a:spcBef>
                <a:spcPts val="1200"/>
              </a:spcBef>
              <a:buNone/>
            </a:pPr>
            <a:r>
              <a:rPr lang="en-US" sz="4100" dirty="0"/>
              <a:t>The CNS Has Six Distinct Regions Reflecting Embryological Development</a:t>
            </a:r>
          </a:p>
          <a:p>
            <a:pPr marL="571500">
              <a:spcBef>
                <a:spcPts val="1800"/>
              </a:spcBef>
            </a:pPr>
            <a:r>
              <a:rPr lang="en-US" sz="3100" dirty="0"/>
              <a:t>Metencephalon: pons and cerebellum</a:t>
            </a:r>
          </a:p>
          <a:p>
            <a:pPr marL="571500">
              <a:spcBef>
                <a:spcPts val="1800"/>
              </a:spcBef>
            </a:pPr>
            <a:r>
              <a:rPr lang="en-US" sz="3100" dirty="0"/>
              <a:t>Pons:</a:t>
            </a:r>
          </a:p>
          <a:p>
            <a:pPr marL="1263650" lvl="1" indent="-349250">
              <a:spcBef>
                <a:spcPts val="1200"/>
              </a:spcBef>
              <a:buFont typeface="Courier New" panose="02070309020205020404" pitchFamily="49" charset="0"/>
              <a:buChar char="o"/>
            </a:pPr>
            <a:r>
              <a:rPr lang="en-US" sz="3100" b="1" dirty="0"/>
              <a:t>Reticular formation</a:t>
            </a:r>
            <a:r>
              <a:rPr lang="en-US" sz="3100" dirty="0"/>
              <a:t>: collection of nuclei that influence arousal, attention, sleep, and muscle tone</a:t>
            </a:r>
          </a:p>
          <a:p>
            <a:pPr marL="1263650" lvl="1" indent="-349250">
              <a:spcBef>
                <a:spcPts val="1200"/>
              </a:spcBef>
              <a:buFont typeface="Courier New" panose="02070309020205020404" pitchFamily="49" charset="0"/>
              <a:buChar char="o"/>
            </a:pPr>
            <a:r>
              <a:rPr lang="en-US" sz="3100" b="1" dirty="0"/>
              <a:t>Locus coeruleus</a:t>
            </a:r>
            <a:r>
              <a:rPr lang="en-US" sz="3100" dirty="0"/>
              <a:t>: axons extend to many forebrain areas; neurons use norepinephrine; cause arousal, increased vigilance, and attention</a:t>
            </a:r>
          </a:p>
          <a:p>
            <a:pPr marL="1263650" lvl="1" indent="-349250">
              <a:spcBef>
                <a:spcPts val="1200"/>
              </a:spcBef>
              <a:buFont typeface="Courier New" panose="02070309020205020404" pitchFamily="49" charset="0"/>
              <a:buChar char="o"/>
            </a:pPr>
            <a:r>
              <a:rPr lang="en-US" sz="3100" b="1" dirty="0"/>
              <a:t>Dorsal</a:t>
            </a:r>
            <a:r>
              <a:rPr lang="en-US" sz="3100" dirty="0"/>
              <a:t> and </a:t>
            </a:r>
            <a:r>
              <a:rPr lang="en-US" sz="3100" b="1" dirty="0"/>
              <a:t>median raphe nuclei</a:t>
            </a:r>
            <a:r>
              <a:rPr lang="en-US" sz="3100" dirty="0"/>
              <a:t>: neurons use serotonin; axons reach all forebrain areas; regulate sleep, aggression, impulsiveness, emotion, etc.</a:t>
            </a:r>
          </a:p>
        </p:txBody>
      </p:sp>
    </p:spTree>
    <p:extLst>
      <p:ext uri="{BB962C8B-B14F-4D97-AF65-F5344CB8AC3E}">
        <p14:creationId xmlns:p14="http://schemas.microsoft.com/office/powerpoint/2010/main" val="284373906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Organization of the Nervous System </a:t>
            </a:r>
            <a:r>
              <a:rPr lang="en-US" sz="1200" dirty="0"/>
              <a:t>(10 of 18)</a:t>
            </a:r>
            <a:endParaRPr lang="en-US" dirty="0"/>
          </a:p>
        </p:txBody>
      </p:sp>
      <p:sp>
        <p:nvSpPr>
          <p:cNvPr id="3" name="Text Placeholder 2"/>
          <p:cNvSpPr>
            <a:spLocks noGrp="1"/>
          </p:cNvSpPr>
          <p:nvPr>
            <p:ph idx="1"/>
          </p:nvPr>
        </p:nvSpPr>
        <p:spPr>
          <a:xfrm>
            <a:off x="609600" y="1857781"/>
            <a:ext cx="10972800" cy="4525963"/>
          </a:xfrm>
        </p:spPr>
        <p:txBody>
          <a:bodyPr>
            <a:normAutofit fontScale="92500"/>
          </a:bodyPr>
          <a:lstStyle/>
          <a:p>
            <a:pPr marL="457200" indent="-457200">
              <a:lnSpc>
                <a:spcPct val="80000"/>
              </a:lnSpc>
              <a:spcBef>
                <a:spcPts val="1200"/>
              </a:spcBef>
              <a:buNone/>
            </a:pPr>
            <a:r>
              <a:rPr lang="en-US" sz="3500" dirty="0"/>
              <a:t>The CNS Has Six Distinct Regions Reflecting Embryological Development</a:t>
            </a:r>
          </a:p>
          <a:p>
            <a:pPr marL="571500">
              <a:spcBef>
                <a:spcPts val="1800"/>
              </a:spcBef>
            </a:pPr>
            <a:r>
              <a:rPr lang="en-US" sz="3000" dirty="0"/>
              <a:t>Cerebellum: sensorimotor center</a:t>
            </a:r>
          </a:p>
          <a:p>
            <a:pPr marL="571500">
              <a:spcBef>
                <a:spcPts val="1800"/>
              </a:spcBef>
            </a:pPr>
            <a:r>
              <a:rPr lang="en-US" sz="3000" dirty="0"/>
              <a:t>Connects to pons by axon bundles called </a:t>
            </a:r>
            <a:r>
              <a:rPr lang="en-US" sz="3000" b="1" dirty="0"/>
              <a:t>cerebellar peduncles</a:t>
            </a:r>
            <a:r>
              <a:rPr lang="en-US" sz="3000" dirty="0"/>
              <a:t> </a:t>
            </a:r>
          </a:p>
          <a:p>
            <a:pPr marL="571500">
              <a:spcBef>
                <a:spcPts val="1800"/>
              </a:spcBef>
            </a:pPr>
            <a:r>
              <a:rPr lang="en-US" sz="3000" dirty="0"/>
              <a:t>Receives visual, auditory, and somatosensory input, and information about body position and balance from the vestibular system</a:t>
            </a:r>
          </a:p>
          <a:p>
            <a:pPr marL="571500">
              <a:spcBef>
                <a:spcPts val="1800"/>
              </a:spcBef>
            </a:pPr>
            <a:r>
              <a:rPr lang="en-US" sz="3000" dirty="0"/>
              <a:t>Coordinates sensory information with motor information from the cerebral cortex</a:t>
            </a:r>
          </a:p>
        </p:txBody>
      </p:sp>
    </p:spTree>
    <p:extLst>
      <p:ext uri="{BB962C8B-B14F-4D97-AF65-F5344CB8AC3E}">
        <p14:creationId xmlns:p14="http://schemas.microsoft.com/office/powerpoint/2010/main" val="382199745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Organization of the Nervous System </a:t>
            </a:r>
            <a:r>
              <a:rPr lang="en-US" sz="1200" dirty="0"/>
              <a:t>(11 of 18)</a:t>
            </a:r>
            <a:endParaRPr lang="en-US" dirty="0"/>
          </a:p>
        </p:txBody>
      </p:sp>
      <p:sp>
        <p:nvSpPr>
          <p:cNvPr id="3" name="Text Placeholder 2"/>
          <p:cNvSpPr>
            <a:spLocks noGrp="1"/>
          </p:cNvSpPr>
          <p:nvPr>
            <p:ph idx="1"/>
          </p:nvPr>
        </p:nvSpPr>
        <p:spPr>
          <a:xfrm>
            <a:off x="609600" y="1857781"/>
            <a:ext cx="10972800" cy="4525963"/>
          </a:xfrm>
        </p:spPr>
        <p:txBody>
          <a:bodyPr>
            <a:normAutofit fontScale="77500" lnSpcReduction="20000"/>
          </a:bodyPr>
          <a:lstStyle/>
          <a:p>
            <a:pPr marL="457200" indent="-457200">
              <a:spcBef>
                <a:spcPts val="1200"/>
              </a:spcBef>
              <a:buNone/>
            </a:pPr>
            <a:r>
              <a:rPr lang="en-US" sz="4100" dirty="0"/>
              <a:t>The CNS Has Six Distinct Regions Reflecting Embryological Development</a:t>
            </a:r>
          </a:p>
          <a:p>
            <a:pPr marL="571500">
              <a:lnSpc>
                <a:spcPct val="110000"/>
              </a:lnSpc>
              <a:spcBef>
                <a:spcPts val="1800"/>
              </a:spcBef>
            </a:pPr>
            <a:r>
              <a:rPr lang="en-US" altLang="en-US" sz="3000" dirty="0"/>
              <a:t>Mesencephalon (midbrain) has two divisions: </a:t>
            </a:r>
            <a:r>
              <a:rPr lang="en-US" altLang="en-US" sz="3000" b="1" dirty="0"/>
              <a:t>tectum</a:t>
            </a:r>
            <a:r>
              <a:rPr lang="en-US" altLang="en-US" sz="3000" dirty="0"/>
              <a:t> contains parts of the visual and auditory systems</a:t>
            </a:r>
          </a:p>
          <a:p>
            <a:pPr marL="571500">
              <a:lnSpc>
                <a:spcPct val="110000"/>
              </a:lnSpc>
              <a:spcBef>
                <a:spcPts val="1800"/>
              </a:spcBef>
            </a:pPr>
            <a:r>
              <a:rPr lang="en-US" altLang="en-US" sz="3000" b="1" dirty="0"/>
              <a:t>Tegmentum</a:t>
            </a:r>
            <a:r>
              <a:rPr lang="en-US" altLang="en-US" sz="3000" dirty="0"/>
              <a:t>: </a:t>
            </a:r>
          </a:p>
          <a:p>
            <a:pPr marL="1263650" lvl="1" indent="-349250">
              <a:spcBef>
                <a:spcPts val="1200"/>
              </a:spcBef>
              <a:buFont typeface="Courier New" panose="02070309020205020404" pitchFamily="49" charset="0"/>
              <a:buChar char="o"/>
            </a:pPr>
            <a:r>
              <a:rPr lang="en-US" altLang="en-US" b="1" dirty="0"/>
              <a:t>Periaqueductal gray (PAG)</a:t>
            </a:r>
            <a:r>
              <a:rPr lang="en-US" altLang="en-US" dirty="0"/>
              <a:t>:</a:t>
            </a:r>
            <a:r>
              <a:rPr lang="en-US" altLang="en-US" b="1" dirty="0"/>
              <a:t> </a:t>
            </a:r>
            <a:r>
              <a:rPr lang="en-US" altLang="en-US" dirty="0"/>
              <a:t>modulation of pain; rich in opioid receptors; important site for morphine binding.</a:t>
            </a:r>
          </a:p>
          <a:p>
            <a:pPr marL="1263650" lvl="1" indent="-349250">
              <a:spcBef>
                <a:spcPts val="1200"/>
              </a:spcBef>
              <a:buFont typeface="Courier New" panose="02070309020205020404" pitchFamily="49" charset="0"/>
              <a:buChar char="o"/>
            </a:pPr>
            <a:r>
              <a:rPr lang="en-US" b="1" dirty="0"/>
              <a:t>Substantia nigra</a:t>
            </a:r>
            <a:r>
              <a:rPr lang="en-US" dirty="0"/>
              <a:t>:</a:t>
            </a:r>
            <a:r>
              <a:rPr lang="en-US" b="1" dirty="0"/>
              <a:t> </a:t>
            </a:r>
            <a:r>
              <a:rPr lang="en-US" dirty="0"/>
              <a:t>long axons innervate the striatum in the basal ganglia; use dopamine; critical for initiation and modulation of movement. </a:t>
            </a:r>
          </a:p>
          <a:p>
            <a:pPr marL="1263650" lvl="1" indent="-349250">
              <a:spcBef>
                <a:spcPts val="1200"/>
              </a:spcBef>
              <a:buFont typeface="Courier New" panose="02070309020205020404" pitchFamily="49" charset="0"/>
              <a:buChar char="o"/>
            </a:pPr>
            <a:r>
              <a:rPr lang="en-US" b="1" dirty="0"/>
              <a:t>Ventral tegmental area (VTA)</a:t>
            </a:r>
            <a:r>
              <a:rPr lang="en-US" dirty="0"/>
              <a:t>: use dopamine; some axons extend into limbic system—the mesolimbic tract.</a:t>
            </a:r>
          </a:p>
        </p:txBody>
      </p:sp>
    </p:spTree>
    <p:extLst>
      <p:ext uri="{BB962C8B-B14F-4D97-AF65-F5344CB8AC3E}">
        <p14:creationId xmlns:p14="http://schemas.microsoft.com/office/powerpoint/2010/main" val="28976604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Organization of the Nervous System </a:t>
            </a:r>
            <a:r>
              <a:rPr lang="en-US" sz="1200" dirty="0"/>
              <a:t>(12 of 18)</a:t>
            </a:r>
            <a:endParaRPr lang="en-US" dirty="0"/>
          </a:p>
        </p:txBody>
      </p:sp>
      <p:sp>
        <p:nvSpPr>
          <p:cNvPr id="3" name="Text Placeholder 2"/>
          <p:cNvSpPr>
            <a:spLocks noGrp="1"/>
          </p:cNvSpPr>
          <p:nvPr>
            <p:ph idx="1"/>
          </p:nvPr>
        </p:nvSpPr>
        <p:spPr>
          <a:xfrm>
            <a:off x="609600" y="1857781"/>
            <a:ext cx="10972800" cy="4525963"/>
          </a:xfrm>
        </p:spPr>
        <p:txBody>
          <a:bodyPr>
            <a:normAutofit/>
          </a:bodyPr>
          <a:lstStyle/>
          <a:p>
            <a:pPr marL="457200" indent="-457200">
              <a:lnSpc>
                <a:spcPct val="80000"/>
              </a:lnSpc>
              <a:spcBef>
                <a:spcPts val="1200"/>
              </a:spcBef>
              <a:buNone/>
            </a:pPr>
            <a:r>
              <a:rPr lang="en-US" dirty="0"/>
              <a:t>The CNS Has Six Distinct Regions Reflecting Embryological Development</a:t>
            </a:r>
          </a:p>
          <a:p>
            <a:pPr marL="571500">
              <a:lnSpc>
                <a:spcPct val="90000"/>
              </a:lnSpc>
              <a:spcBef>
                <a:spcPts val="1800"/>
              </a:spcBef>
            </a:pPr>
            <a:r>
              <a:rPr lang="en-US" sz="2800" dirty="0"/>
              <a:t>Diencephalon: thalamus and hypothalamus</a:t>
            </a:r>
          </a:p>
          <a:p>
            <a:pPr marL="571500">
              <a:lnSpc>
                <a:spcPct val="90000"/>
              </a:lnSpc>
              <a:spcBef>
                <a:spcPts val="1800"/>
              </a:spcBef>
            </a:pPr>
            <a:r>
              <a:rPr lang="en-US" sz="2800" b="1" dirty="0"/>
              <a:t>Thalamus</a:t>
            </a:r>
            <a:r>
              <a:rPr lang="en-US" sz="2800" dirty="0"/>
              <a:t> receives sensory and motor information and passes it on to the cortex.</a:t>
            </a:r>
          </a:p>
          <a:p>
            <a:pPr marL="571500">
              <a:lnSpc>
                <a:spcPct val="90000"/>
              </a:lnSpc>
              <a:spcBef>
                <a:spcPts val="1800"/>
              </a:spcBef>
            </a:pPr>
            <a:r>
              <a:rPr lang="en-US" sz="2800" b="1" dirty="0"/>
              <a:t>Hypothalamus</a:t>
            </a:r>
            <a:r>
              <a:rPr lang="en-US" sz="2800" dirty="0"/>
              <a:t> receives information about the internal environment and coordinates with the limbic system to maintain internal states (homeostasis).</a:t>
            </a:r>
          </a:p>
        </p:txBody>
      </p:sp>
    </p:spTree>
    <p:extLst>
      <p:ext uri="{BB962C8B-B14F-4D97-AF65-F5344CB8AC3E}">
        <p14:creationId xmlns:p14="http://schemas.microsoft.com/office/powerpoint/2010/main" val="180796407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dirty="0"/>
              <a:t>Organization of the Nervous System </a:t>
            </a:r>
            <a:r>
              <a:rPr lang="en-US" sz="1200" dirty="0"/>
              <a:t>(13 of 18)</a:t>
            </a:r>
            <a:endParaRPr lang="en-US" dirty="0"/>
          </a:p>
        </p:txBody>
      </p:sp>
      <p:sp>
        <p:nvSpPr>
          <p:cNvPr id="3" name="Text Placeholder 2"/>
          <p:cNvSpPr>
            <a:spLocks noGrp="1"/>
          </p:cNvSpPr>
          <p:nvPr>
            <p:ph idx="1"/>
          </p:nvPr>
        </p:nvSpPr>
        <p:spPr>
          <a:xfrm>
            <a:off x="609600" y="1857781"/>
            <a:ext cx="10972800" cy="4525963"/>
          </a:xfrm>
        </p:spPr>
        <p:txBody>
          <a:bodyPr>
            <a:normAutofit lnSpcReduction="10000"/>
          </a:bodyPr>
          <a:lstStyle/>
          <a:p>
            <a:pPr marL="0" indent="0">
              <a:buNone/>
            </a:pPr>
            <a:r>
              <a:rPr lang="en-US" sz="2400" u="sng" dirty="0"/>
              <a:t>BOX 2.5  OF SPECIAL INTEREST</a:t>
            </a:r>
          </a:p>
          <a:p>
            <a:pPr marL="0" indent="0">
              <a:spcBef>
                <a:spcPts val="1800"/>
              </a:spcBef>
              <a:buNone/>
            </a:pPr>
            <a:r>
              <a:rPr lang="en-GB" i="1" dirty="0"/>
              <a:t>Neuroendocrine Response to Stress</a:t>
            </a:r>
          </a:p>
          <a:p>
            <a:pPr marL="571500">
              <a:lnSpc>
                <a:spcPct val="90000"/>
              </a:lnSpc>
              <a:spcBef>
                <a:spcPts val="1800"/>
              </a:spcBef>
            </a:pPr>
            <a:r>
              <a:rPr lang="en-US" sz="2800" dirty="0"/>
              <a:t>HPA axis: stress response depends on interaction of the hypothalamus, pituitary gland, and adrenal gland</a:t>
            </a:r>
          </a:p>
          <a:p>
            <a:pPr marL="571500">
              <a:lnSpc>
                <a:spcPct val="90000"/>
              </a:lnSpc>
              <a:spcBef>
                <a:spcPts val="1800"/>
              </a:spcBef>
            </a:pPr>
            <a:r>
              <a:rPr lang="en-US" sz="2800" dirty="0"/>
              <a:t>Paraventricular nucleus in the hypothalamus secretes corticotropin-releasing factor (CRF), anterior pituitary secretes adrenocorticotropic hormone (ACTH); adrenal cortex increases secretion of cortisol</a:t>
            </a:r>
          </a:p>
          <a:p>
            <a:pPr marL="571500">
              <a:lnSpc>
                <a:spcPct val="90000"/>
              </a:lnSpc>
              <a:spcBef>
                <a:spcPts val="1800"/>
              </a:spcBef>
            </a:pPr>
            <a:r>
              <a:rPr lang="en-US" sz="2800" dirty="0"/>
              <a:t>Overuse of the stress response leads to damaging changes to brain and body.</a:t>
            </a:r>
          </a:p>
        </p:txBody>
      </p:sp>
    </p:spTree>
    <p:extLst>
      <p:ext uri="{BB962C8B-B14F-4D97-AF65-F5344CB8AC3E}">
        <p14:creationId xmlns:p14="http://schemas.microsoft.com/office/powerpoint/2010/main" val="115716918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5B35D-06AB-794B-9421-3A50E3729662}"/>
              </a:ext>
            </a:extLst>
          </p:cNvPr>
          <p:cNvSpPr>
            <a:spLocks noGrp="1"/>
          </p:cNvSpPr>
          <p:nvPr>
            <p:ph type="title"/>
          </p:nvPr>
        </p:nvSpPr>
        <p:spPr/>
        <p:txBody>
          <a:bodyPr/>
          <a:lstStyle/>
          <a:p>
            <a:r>
              <a:rPr lang="en-US" cap="all" dirty="0"/>
              <a:t>Box 2.5  </a:t>
            </a:r>
            <a:r>
              <a:rPr lang="en-US" dirty="0"/>
              <a:t>Of Special Interest: Neuroendocrine Response to Stress</a:t>
            </a:r>
          </a:p>
        </p:txBody>
      </p:sp>
      <p:pic>
        <p:nvPicPr>
          <p:cNvPr id="6" name="Content Placeholder 5" descr="An illustration depicts the response of neuroendocrine to stress. When the brain is stressed, corticotropin-releasing factor is secreted to the hypothalamic pituitary gland, from which adrenocorticotropic hormone is secreted to the adrenal gland, from which glucocorticoids, including cortisol, is transmitted to the hippocampus and hypothalamus via negative feedback."/>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40020" y="479425"/>
            <a:ext cx="4111960" cy="6300788"/>
          </a:xfrm>
        </p:spPr>
      </p:pic>
    </p:spTree>
    <p:extLst>
      <p:ext uri="{BB962C8B-B14F-4D97-AF65-F5344CB8AC3E}">
        <p14:creationId xmlns:p14="http://schemas.microsoft.com/office/powerpoint/2010/main" val="257641048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Organization of the Nervous System </a:t>
            </a:r>
            <a:r>
              <a:rPr lang="en-US" sz="1200" dirty="0"/>
              <a:t>(14 of 18)</a:t>
            </a:r>
            <a:endParaRPr lang="en-US" dirty="0"/>
          </a:p>
        </p:txBody>
      </p:sp>
      <p:sp>
        <p:nvSpPr>
          <p:cNvPr id="3" name="Text Placeholder 2"/>
          <p:cNvSpPr>
            <a:spLocks noGrp="1"/>
          </p:cNvSpPr>
          <p:nvPr>
            <p:ph idx="1"/>
          </p:nvPr>
        </p:nvSpPr>
        <p:spPr>
          <a:xfrm>
            <a:off x="609600" y="1857781"/>
            <a:ext cx="10972800" cy="4525963"/>
          </a:xfrm>
        </p:spPr>
        <p:txBody>
          <a:bodyPr>
            <a:normAutofit fontScale="92500" lnSpcReduction="20000"/>
          </a:bodyPr>
          <a:lstStyle/>
          <a:p>
            <a:pPr marL="457200" indent="-457200">
              <a:lnSpc>
                <a:spcPct val="90000"/>
              </a:lnSpc>
              <a:spcBef>
                <a:spcPts val="1200"/>
              </a:spcBef>
              <a:buNone/>
            </a:pPr>
            <a:r>
              <a:rPr lang="en-US" sz="3500" dirty="0"/>
              <a:t>The CNS Has Six Distinct Regions Reflecting Embryological Development</a:t>
            </a:r>
          </a:p>
          <a:p>
            <a:pPr marL="571500">
              <a:spcBef>
                <a:spcPts val="1800"/>
              </a:spcBef>
            </a:pPr>
            <a:r>
              <a:rPr lang="en-US" sz="3000" dirty="0"/>
              <a:t>Telencephalon: cerebral cortex, limbic system, basal ganglia.</a:t>
            </a:r>
          </a:p>
          <a:p>
            <a:pPr marL="571500">
              <a:spcBef>
                <a:spcPts val="1800"/>
              </a:spcBef>
            </a:pPr>
            <a:r>
              <a:rPr lang="en-US" sz="3000" b="1" dirty="0"/>
              <a:t>Limbic system</a:t>
            </a:r>
            <a:r>
              <a:rPr lang="en-US" sz="3000" dirty="0"/>
              <a:t> integrates emotional responses and regulates motivated behavior and learning.</a:t>
            </a:r>
          </a:p>
          <a:p>
            <a:pPr marL="1263650" lvl="1" indent="-349250">
              <a:spcBef>
                <a:spcPts val="1200"/>
              </a:spcBef>
              <a:buFont typeface="Courier New" panose="02070309020205020404" pitchFamily="49" charset="0"/>
              <a:buChar char="o"/>
            </a:pPr>
            <a:r>
              <a:rPr lang="en-US" sz="2600" b="1" dirty="0"/>
              <a:t>Hippocampus</a:t>
            </a:r>
            <a:r>
              <a:rPr lang="en-US" sz="2600" dirty="0"/>
              <a:t>: closely associated with establishment of new long-term memories and spatial memory</a:t>
            </a:r>
          </a:p>
          <a:p>
            <a:pPr marL="1263650" lvl="1" indent="-349250">
              <a:spcBef>
                <a:spcPts val="1200"/>
              </a:spcBef>
              <a:buFont typeface="Courier New" panose="02070309020205020404" pitchFamily="49" charset="0"/>
              <a:buChar char="o"/>
            </a:pPr>
            <a:r>
              <a:rPr lang="en-US" sz="2600" b="1" dirty="0"/>
              <a:t>Amygdala</a:t>
            </a:r>
            <a:r>
              <a:rPr lang="en-US" sz="2600" dirty="0"/>
              <a:t>: coordinates various components of emotional responses through profuse connections with other brain areas</a:t>
            </a:r>
          </a:p>
          <a:p>
            <a:pPr marL="571500">
              <a:spcBef>
                <a:spcPts val="1800"/>
              </a:spcBef>
            </a:pPr>
            <a:r>
              <a:rPr lang="en-US" sz="3000" b="1" dirty="0"/>
              <a:t>Basal ganglia </a:t>
            </a:r>
            <a:r>
              <a:rPr lang="en-US" sz="3000" dirty="0"/>
              <a:t>are involved in motor control.</a:t>
            </a:r>
          </a:p>
        </p:txBody>
      </p:sp>
    </p:spTree>
    <p:extLst>
      <p:ext uri="{BB962C8B-B14F-4D97-AF65-F5344CB8AC3E}">
        <p14:creationId xmlns:p14="http://schemas.microsoft.com/office/powerpoint/2010/main" val="89649171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Organization of the Nervous System </a:t>
            </a:r>
            <a:r>
              <a:rPr lang="en-US" sz="1200" dirty="0"/>
              <a:t>(15 of 18)</a:t>
            </a:r>
            <a:endParaRPr lang="en-US" dirty="0"/>
          </a:p>
        </p:txBody>
      </p:sp>
      <p:sp>
        <p:nvSpPr>
          <p:cNvPr id="3" name="Text Placeholder 2"/>
          <p:cNvSpPr>
            <a:spLocks noGrp="1"/>
          </p:cNvSpPr>
          <p:nvPr>
            <p:ph idx="1"/>
          </p:nvPr>
        </p:nvSpPr>
        <p:spPr>
          <a:xfrm>
            <a:off x="609600" y="1857781"/>
            <a:ext cx="10972800" cy="4525963"/>
          </a:xfrm>
        </p:spPr>
        <p:txBody>
          <a:bodyPr>
            <a:normAutofit fontScale="55000" lnSpcReduction="20000"/>
          </a:bodyPr>
          <a:lstStyle/>
          <a:p>
            <a:pPr marL="457200" indent="-457200">
              <a:spcBef>
                <a:spcPts val="1200"/>
              </a:spcBef>
              <a:buNone/>
            </a:pPr>
            <a:r>
              <a:rPr lang="en-US" sz="5800" dirty="0"/>
              <a:t>The Cerebral Cortex Is Divided into Four Lobes, Each Having Primary, Secondary, and Tertiary Areas</a:t>
            </a:r>
          </a:p>
          <a:p>
            <a:pPr marL="571500">
              <a:lnSpc>
                <a:spcPct val="110000"/>
              </a:lnSpc>
              <a:spcBef>
                <a:spcPts val="1800"/>
              </a:spcBef>
            </a:pPr>
            <a:r>
              <a:rPr lang="en-US" sz="4200" dirty="0"/>
              <a:t>Cerebral cortex: convoluted, with deep grooves (</a:t>
            </a:r>
            <a:r>
              <a:rPr lang="en-US" sz="4200" b="1" dirty="0"/>
              <a:t>fissures</a:t>
            </a:r>
            <a:r>
              <a:rPr lang="en-US" sz="4200" dirty="0"/>
              <a:t>), smaller grooves (</a:t>
            </a:r>
            <a:r>
              <a:rPr lang="en-US" sz="4200" b="1" dirty="0"/>
              <a:t>sulci</a:t>
            </a:r>
            <a:r>
              <a:rPr lang="en-US" sz="4200" dirty="0"/>
              <a:t>), and bulges (</a:t>
            </a:r>
            <a:r>
              <a:rPr lang="en-US" sz="4200" b="1" dirty="0"/>
              <a:t>gyri</a:t>
            </a:r>
            <a:r>
              <a:rPr lang="en-US" sz="4200" dirty="0"/>
              <a:t>). </a:t>
            </a:r>
          </a:p>
          <a:p>
            <a:pPr marL="571500">
              <a:lnSpc>
                <a:spcPct val="110000"/>
              </a:lnSpc>
              <a:spcBef>
                <a:spcPts val="1800"/>
              </a:spcBef>
            </a:pPr>
            <a:r>
              <a:rPr lang="en-US" sz="4200" b="1" dirty="0"/>
              <a:t>Corpus callosum</a:t>
            </a:r>
            <a:r>
              <a:rPr lang="en-US" sz="4200" dirty="0"/>
              <a:t>: neural pathway that connects the hemispheres.</a:t>
            </a:r>
          </a:p>
          <a:p>
            <a:pPr marL="571500">
              <a:lnSpc>
                <a:spcPct val="110000"/>
              </a:lnSpc>
              <a:spcBef>
                <a:spcPts val="1800"/>
              </a:spcBef>
            </a:pPr>
            <a:r>
              <a:rPr lang="en-US" sz="4200" dirty="0"/>
              <a:t>Each hemisphere has four lobes (</a:t>
            </a:r>
            <a:r>
              <a:rPr lang="en-US" sz="4200" b="1" dirty="0"/>
              <a:t>parietal</a:t>
            </a:r>
            <a:r>
              <a:rPr lang="en-US" sz="4200" dirty="0"/>
              <a:t>, </a:t>
            </a:r>
            <a:r>
              <a:rPr lang="en-US" sz="4200" b="1" dirty="0"/>
              <a:t>occipital</a:t>
            </a:r>
            <a:r>
              <a:rPr lang="en-US" sz="4200" dirty="0"/>
              <a:t>, </a:t>
            </a:r>
            <a:r>
              <a:rPr lang="en-US" sz="4200" b="1" dirty="0"/>
              <a:t>temporal</a:t>
            </a:r>
            <a:r>
              <a:rPr lang="en-US" sz="4200" dirty="0"/>
              <a:t>, </a:t>
            </a:r>
            <a:r>
              <a:rPr lang="en-US" sz="4200" b="1" dirty="0"/>
              <a:t>frontal</a:t>
            </a:r>
            <a:r>
              <a:rPr lang="en-US" sz="4200" dirty="0"/>
              <a:t>) Each lobe has:</a:t>
            </a:r>
          </a:p>
          <a:p>
            <a:pPr marL="1263650" lvl="1" indent="-349250">
              <a:spcBef>
                <a:spcPts val="1200"/>
              </a:spcBef>
              <a:buFont typeface="Courier New" panose="02070309020205020404" pitchFamily="49" charset="0"/>
              <a:buChar char="o"/>
            </a:pPr>
            <a:r>
              <a:rPr lang="en-US" sz="3400" b="1" dirty="0"/>
              <a:t>Primary cortex</a:t>
            </a:r>
            <a:r>
              <a:rPr lang="en-US" sz="3400" dirty="0"/>
              <a:t>: conscious awareness of sensory experience and initial processing</a:t>
            </a:r>
          </a:p>
          <a:p>
            <a:pPr marL="1263650" lvl="1" indent="-349250">
              <a:spcBef>
                <a:spcPts val="1200"/>
              </a:spcBef>
              <a:buFont typeface="Courier New" panose="02070309020205020404" pitchFamily="49" charset="0"/>
              <a:buChar char="o"/>
            </a:pPr>
            <a:r>
              <a:rPr lang="en-US" sz="3400" b="1" dirty="0"/>
              <a:t>Secondary cortex</a:t>
            </a:r>
            <a:r>
              <a:rPr lang="en-US" sz="3400" dirty="0"/>
              <a:t>: analyzes information from primary areas, providing perception of the stimulus. Also where memories are stored.</a:t>
            </a:r>
          </a:p>
          <a:p>
            <a:pPr marL="1263650" lvl="1" indent="-349250">
              <a:spcBef>
                <a:spcPts val="1200"/>
              </a:spcBef>
              <a:buFont typeface="Courier New" panose="02070309020205020404" pitchFamily="49" charset="0"/>
              <a:buChar char="o"/>
            </a:pPr>
            <a:r>
              <a:rPr lang="en-US" sz="3400" b="1" dirty="0"/>
              <a:t>Tertiary association areas</a:t>
            </a:r>
            <a:r>
              <a:rPr lang="en-US" sz="3400" dirty="0"/>
              <a:t>: higher-order perceptual functions needed for purposeful action</a:t>
            </a:r>
          </a:p>
        </p:txBody>
      </p:sp>
    </p:spTree>
    <p:extLst>
      <p:ext uri="{BB962C8B-B14F-4D97-AF65-F5344CB8AC3E}">
        <p14:creationId xmlns:p14="http://schemas.microsoft.com/office/powerpoint/2010/main" val="165929389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B9A63-25AE-F941-B330-E14A08BF0B00}"/>
              </a:ext>
            </a:extLst>
          </p:cNvPr>
          <p:cNvSpPr>
            <a:spLocks noGrp="1"/>
          </p:cNvSpPr>
          <p:nvPr>
            <p:ph type="title"/>
          </p:nvPr>
        </p:nvSpPr>
        <p:spPr/>
        <p:txBody>
          <a:bodyPr/>
          <a:lstStyle/>
          <a:p>
            <a:r>
              <a:rPr lang="en-US" dirty="0"/>
              <a:t>FIGURE 2.25  Lateral view of the exterior cerebral cortex </a:t>
            </a:r>
          </a:p>
        </p:txBody>
      </p:sp>
      <p:pic>
        <p:nvPicPr>
          <p:cNvPr id="6" name="Content Placeholder 5" descr="A figure depicts the lateral view of the exterior cerebral cortex. In the occipital lobe to the right, the primary visual cortex and visual association cortex are identified. In the parietal lobe, the somatosensory association cortex is indicated. Beside the parietal lobe are the primary somatosensory cortex, central sulcus, and primary motor cortex. In the frontal lobe to the left, the prefrontal association cortex and lateral fissure are identified. In the temporal lobe, the primary auditory cortex and auditory association cortex are identified."/>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1655084" y="479425"/>
            <a:ext cx="8881833" cy="6300788"/>
          </a:xfrm>
        </p:spPr>
      </p:pic>
    </p:spTree>
    <p:extLst>
      <p:ext uri="{BB962C8B-B14F-4D97-AF65-F5344CB8AC3E}">
        <p14:creationId xmlns:p14="http://schemas.microsoft.com/office/powerpoint/2010/main" val="13450894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Organization of the Nervous System </a:t>
            </a:r>
            <a:r>
              <a:rPr lang="en-US" sz="1200" dirty="0"/>
              <a:t>(16 of 18)</a:t>
            </a:r>
            <a:endParaRPr lang="en-US" dirty="0"/>
          </a:p>
        </p:txBody>
      </p:sp>
      <p:sp>
        <p:nvSpPr>
          <p:cNvPr id="3" name="Text Placeholder 2"/>
          <p:cNvSpPr>
            <a:spLocks noGrp="1"/>
          </p:cNvSpPr>
          <p:nvPr>
            <p:ph idx="1"/>
          </p:nvPr>
        </p:nvSpPr>
        <p:spPr>
          <a:xfrm>
            <a:off x="609600" y="1857781"/>
            <a:ext cx="10972800" cy="4525963"/>
          </a:xfrm>
        </p:spPr>
        <p:txBody>
          <a:bodyPr>
            <a:normAutofit/>
          </a:bodyPr>
          <a:lstStyle/>
          <a:p>
            <a:pPr marL="457200" indent="-457200">
              <a:lnSpc>
                <a:spcPct val="80000"/>
              </a:lnSpc>
              <a:spcBef>
                <a:spcPts val="1200"/>
              </a:spcBef>
              <a:buNone/>
            </a:pPr>
            <a:r>
              <a:rPr lang="en-US" dirty="0"/>
              <a:t>The Cerebral Cortex Is Divided into Four Lobes, Each Having Primary, Secondary, and Tertiary Areas</a:t>
            </a:r>
          </a:p>
          <a:p>
            <a:pPr marL="571500">
              <a:lnSpc>
                <a:spcPct val="90000"/>
              </a:lnSpc>
              <a:spcBef>
                <a:spcPts val="1800"/>
              </a:spcBef>
            </a:pPr>
            <a:r>
              <a:rPr lang="en-US" sz="2800" dirty="0"/>
              <a:t>Frontal lobe: primary motor cortex mediates voluntary muscle movements; secondary motor cortex stores memories for well-learned motor sequences</a:t>
            </a:r>
          </a:p>
          <a:p>
            <a:pPr marL="571500">
              <a:lnSpc>
                <a:spcPct val="90000"/>
              </a:lnSpc>
              <a:spcBef>
                <a:spcPts val="1800"/>
              </a:spcBef>
            </a:pPr>
            <a:r>
              <a:rPr lang="en-US" sz="2800" dirty="0"/>
              <a:t>Prefrontal cortex: critical for making decisions, planning actions, and evaluating optional strategies. This area is impaired in many psychiatric disorders.</a:t>
            </a:r>
          </a:p>
        </p:txBody>
      </p:sp>
    </p:spTree>
    <p:extLst>
      <p:ext uri="{BB962C8B-B14F-4D97-AF65-F5344CB8AC3E}">
        <p14:creationId xmlns:p14="http://schemas.microsoft.com/office/powerpoint/2010/main" val="335433537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Organization of the Nervous System </a:t>
            </a:r>
            <a:r>
              <a:rPr lang="en-US" sz="1200" dirty="0"/>
              <a:t>(17 of 18)</a:t>
            </a:r>
            <a:endParaRPr lang="en-US" dirty="0"/>
          </a:p>
        </p:txBody>
      </p:sp>
      <p:sp>
        <p:nvSpPr>
          <p:cNvPr id="3" name="Text Placeholder 2"/>
          <p:cNvSpPr>
            <a:spLocks noGrp="1"/>
          </p:cNvSpPr>
          <p:nvPr>
            <p:ph idx="1"/>
          </p:nvPr>
        </p:nvSpPr>
        <p:spPr>
          <a:xfrm>
            <a:off x="609600" y="1857781"/>
            <a:ext cx="10972800" cy="4525963"/>
          </a:xfrm>
        </p:spPr>
        <p:txBody>
          <a:bodyPr>
            <a:normAutofit lnSpcReduction="10000"/>
          </a:bodyPr>
          <a:lstStyle/>
          <a:p>
            <a:pPr marL="457200" indent="-457200">
              <a:lnSpc>
                <a:spcPct val="90000"/>
              </a:lnSpc>
              <a:spcBef>
                <a:spcPts val="1200"/>
              </a:spcBef>
              <a:buNone/>
            </a:pPr>
            <a:r>
              <a:rPr lang="en-US" dirty="0"/>
              <a:t>Rat and Human Brains Have Many Similarities and Some Differences</a:t>
            </a:r>
          </a:p>
          <a:p>
            <a:pPr marL="571500">
              <a:spcBef>
                <a:spcPts val="1800"/>
              </a:spcBef>
            </a:pPr>
            <a:r>
              <a:rPr lang="en-US" sz="2800" dirty="0"/>
              <a:t>All mammalian brains have the same major subdivisions, organized similarly.</a:t>
            </a:r>
          </a:p>
          <a:p>
            <a:pPr marL="571500">
              <a:spcBef>
                <a:spcPts val="1800"/>
              </a:spcBef>
            </a:pPr>
            <a:r>
              <a:rPr lang="en-US" sz="2800" dirty="0"/>
              <a:t>Relative size of the brain regions differs.</a:t>
            </a:r>
          </a:p>
          <a:p>
            <a:pPr marL="1263650" lvl="1" indent="-349250">
              <a:lnSpc>
                <a:spcPct val="90000"/>
              </a:lnSpc>
              <a:spcBef>
                <a:spcPts val="1200"/>
              </a:spcBef>
              <a:buFont typeface="Courier New" panose="02070309020205020404" pitchFamily="49" charset="0"/>
              <a:buChar char="o"/>
            </a:pPr>
            <a:r>
              <a:rPr lang="en-US" dirty="0"/>
              <a:t>Rats have larger olfactory bulbs - sense of smell is more important </a:t>
            </a:r>
          </a:p>
          <a:p>
            <a:pPr marL="1263650" lvl="1" indent="-349250">
              <a:lnSpc>
                <a:spcPct val="90000"/>
              </a:lnSpc>
              <a:spcBef>
                <a:spcPts val="1200"/>
              </a:spcBef>
              <a:buFont typeface="Courier New" panose="02070309020205020404" pitchFamily="49" charset="0"/>
              <a:buChar char="o"/>
            </a:pPr>
            <a:r>
              <a:rPr lang="en-US" dirty="0"/>
              <a:t>Cerebral hemispheres are much larger in humans; larger surface area because of convolutions. rat cerebral cortex is smooth and has no gyri or fissures</a:t>
            </a:r>
          </a:p>
        </p:txBody>
      </p:sp>
    </p:spTree>
    <p:extLst>
      <p:ext uri="{BB962C8B-B14F-4D97-AF65-F5344CB8AC3E}">
        <p14:creationId xmlns:p14="http://schemas.microsoft.com/office/powerpoint/2010/main" val="284339336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831B1-6833-7A4D-A172-F30B2F159543}"/>
              </a:ext>
            </a:extLst>
          </p:cNvPr>
          <p:cNvSpPr>
            <a:spLocks noGrp="1"/>
          </p:cNvSpPr>
          <p:nvPr>
            <p:ph type="title"/>
          </p:nvPr>
        </p:nvSpPr>
        <p:spPr/>
        <p:txBody>
          <a:bodyPr/>
          <a:lstStyle/>
          <a:p>
            <a:r>
              <a:rPr lang="en-US" dirty="0"/>
              <a:t>FIGURE 2.26  Comparison of human and rat brains </a:t>
            </a:r>
          </a:p>
        </p:txBody>
      </p:sp>
      <p:pic>
        <p:nvPicPr>
          <p:cNvPr id="8" name="Content Placeholder 7" descr="An illustration depicts the comparison of the human brain and a rat brain. When compared to the human brain, the rat's olfactory bulb is quite huge. In rats, the corpus callosum and cerebral hemisphere are flat, however in humans, it takes on an arch-like appearance. In the rat's brain, the pineal gland is quite extensive.">
            <a:extLst>
              <a:ext uri="{FF2B5EF4-FFF2-40B4-BE49-F238E27FC236}">
                <a16:creationId xmlns:a16="http://schemas.microsoft.com/office/drawing/2014/main" id="{68F195F2-A375-4741-AFA1-BC0CF0EF0515}"/>
              </a:ext>
            </a:extLst>
          </p:cNvPr>
          <p:cNvPicPr>
            <a:picLocks noGrp="1" noChangeAspect="1"/>
          </p:cNvPicPr>
          <p:nvPr>
            <p:ph sz="quarter" idx="10"/>
          </p:nvPr>
        </p:nvPicPr>
        <p:blipFill>
          <a:blip r:embed="rId3"/>
          <a:stretch>
            <a:fillRect/>
          </a:stretch>
        </p:blipFill>
        <p:spPr>
          <a:xfrm>
            <a:off x="2711541" y="479425"/>
            <a:ext cx="6768918" cy="6300788"/>
          </a:xfrm>
        </p:spPr>
      </p:pic>
    </p:spTree>
    <p:extLst>
      <p:ext uri="{BB962C8B-B14F-4D97-AF65-F5344CB8AC3E}">
        <p14:creationId xmlns:p14="http://schemas.microsoft.com/office/powerpoint/2010/main" val="106665801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dirty="0"/>
              <a:t>Organization of the Nervous System </a:t>
            </a:r>
            <a:r>
              <a:rPr lang="en-US" sz="1200" dirty="0"/>
              <a:t>(18 of 18)</a:t>
            </a:r>
            <a:endParaRPr lang="en-US" dirty="0"/>
          </a:p>
        </p:txBody>
      </p:sp>
      <p:sp>
        <p:nvSpPr>
          <p:cNvPr id="3" name="Text Placeholder 2"/>
          <p:cNvSpPr>
            <a:spLocks noGrp="1"/>
          </p:cNvSpPr>
          <p:nvPr>
            <p:ph idx="1"/>
          </p:nvPr>
        </p:nvSpPr>
        <p:spPr>
          <a:xfrm>
            <a:off x="609600" y="1857781"/>
            <a:ext cx="10972800" cy="4525963"/>
          </a:xfrm>
        </p:spPr>
        <p:txBody>
          <a:bodyPr>
            <a:normAutofit/>
          </a:bodyPr>
          <a:lstStyle/>
          <a:p>
            <a:pPr marL="0" indent="0">
              <a:buNone/>
            </a:pPr>
            <a:r>
              <a:rPr lang="en-US" sz="2400" u="sng" dirty="0"/>
              <a:t>CLICKER QUESTION 3</a:t>
            </a:r>
          </a:p>
          <a:p>
            <a:pPr marL="457200" indent="-457200">
              <a:spcBef>
                <a:spcPts val="2400"/>
              </a:spcBef>
              <a:buNone/>
            </a:pPr>
            <a:r>
              <a:rPr lang="en-US" dirty="0"/>
              <a:t>Which part of the nervous system is responsible for conserving energy and regulating body functions at rest?</a:t>
            </a:r>
          </a:p>
          <a:p>
            <a:pPr marL="914400" indent="-457200">
              <a:spcBef>
                <a:spcPts val="1200"/>
              </a:spcBef>
              <a:buFont typeface="Arial" pitchFamily="34" charset="0"/>
              <a:buAutoNum type="alphaLcPeriod"/>
            </a:pPr>
            <a:r>
              <a:rPr lang="en-US" dirty="0"/>
              <a:t>Sympathetic nervous system</a:t>
            </a:r>
          </a:p>
          <a:p>
            <a:pPr marL="914400" indent="-457200">
              <a:spcBef>
                <a:spcPts val="1200"/>
              </a:spcBef>
              <a:buFont typeface="Arial" pitchFamily="34" charset="0"/>
              <a:buAutoNum type="alphaLcPeriod"/>
            </a:pPr>
            <a:r>
              <a:rPr lang="en-US" dirty="0"/>
              <a:t>Parasympathetic nervous system</a:t>
            </a:r>
          </a:p>
          <a:p>
            <a:pPr marL="914400" indent="-457200">
              <a:spcBef>
                <a:spcPts val="1200"/>
              </a:spcBef>
              <a:buFont typeface="Arial" pitchFamily="34" charset="0"/>
              <a:buAutoNum type="alphaLcPeriod"/>
            </a:pPr>
            <a:r>
              <a:rPr lang="en-US" dirty="0"/>
              <a:t>Limbic system</a:t>
            </a:r>
          </a:p>
        </p:txBody>
      </p:sp>
    </p:spTree>
    <p:extLst>
      <p:ext uri="{BB962C8B-B14F-4D97-AF65-F5344CB8AC3E}">
        <p14:creationId xmlns:p14="http://schemas.microsoft.com/office/powerpoint/2010/main" val="279783557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Autofit/>
          </a:bodyPr>
          <a:lstStyle/>
          <a:p>
            <a:r>
              <a:rPr kumimoji="0" lang="en-US" sz="3600" b="0" i="0" u="none" strike="noStrike" kern="1200" cap="none" spc="0" normalizeH="0" baseline="0" noProof="0" dirty="0">
                <a:ln>
                  <a:noFill/>
                </a:ln>
                <a:solidFill>
                  <a:srgbClr val="1F497D"/>
                </a:solidFill>
                <a:effectLst/>
                <a:uLnTx/>
                <a:uFillTx/>
                <a:latin typeface="Calibri"/>
                <a:ea typeface="+mj-ea"/>
                <a:cs typeface="+mj-cs"/>
              </a:rPr>
              <a:t>Review of Learning Objectives </a:t>
            </a:r>
            <a:r>
              <a:rPr kumimoji="0" lang="en-US" sz="1200" b="0" i="0" u="none" strike="noStrike" kern="1200" cap="none" spc="0" normalizeH="0" baseline="0" noProof="0" dirty="0">
                <a:ln>
                  <a:noFill/>
                </a:ln>
                <a:solidFill>
                  <a:srgbClr val="1F497D"/>
                </a:solidFill>
                <a:effectLst/>
                <a:uLnTx/>
                <a:uFillTx/>
                <a:latin typeface="Calibri"/>
                <a:ea typeface="+mj-ea"/>
                <a:cs typeface="+mj-cs"/>
              </a:rPr>
              <a:t>(3 of 3)</a:t>
            </a:r>
            <a:endParaRPr lang="en-US" dirty="0"/>
          </a:p>
        </p:txBody>
      </p:sp>
      <p:sp>
        <p:nvSpPr>
          <p:cNvPr id="3" name="Text Placeholder 2"/>
          <p:cNvSpPr>
            <a:spLocks noGrp="1"/>
          </p:cNvSpPr>
          <p:nvPr>
            <p:ph idx="1"/>
          </p:nvPr>
        </p:nvSpPr>
        <p:spPr>
          <a:xfrm>
            <a:off x="609600" y="1857781"/>
            <a:ext cx="10972800" cy="4525963"/>
          </a:xfrm>
        </p:spPr>
        <p:txBody>
          <a:bodyPr>
            <a:noAutofit/>
          </a:bodyPr>
          <a:lstStyle/>
          <a:p>
            <a:pPr marL="914400" indent="-914400">
              <a:spcBef>
                <a:spcPts val="600"/>
              </a:spcBef>
              <a:buNone/>
            </a:pPr>
            <a:r>
              <a:rPr lang="en-US" sz="2400" dirty="0"/>
              <a:t>2.3.1  Identify and describe the major divisions of the nervous system.</a:t>
            </a:r>
          </a:p>
          <a:p>
            <a:pPr marL="914400" indent="-914400">
              <a:spcBef>
                <a:spcPts val="600"/>
              </a:spcBef>
              <a:buNone/>
            </a:pPr>
            <a:r>
              <a:rPr lang="en-US" sz="2400" dirty="0"/>
              <a:t>2.3.2  Describe the structural features of the CNS that provide protection from injury and exchange nutrients and waste products between the brain and its blood supply.</a:t>
            </a:r>
          </a:p>
          <a:p>
            <a:pPr marL="914400" indent="-914400">
              <a:spcBef>
                <a:spcPts val="600"/>
              </a:spcBef>
              <a:buNone/>
            </a:pPr>
            <a:r>
              <a:rPr lang="en-US" sz="2400" dirty="0"/>
              <a:t>2.3.3  Describe the cellular components that make up the gray and white matter of the spinal cord, and how these components transmit information between the brain and the periphery.</a:t>
            </a:r>
          </a:p>
          <a:p>
            <a:pPr marL="914400" indent="-914400">
              <a:spcBef>
                <a:spcPts val="600"/>
              </a:spcBef>
              <a:buNone/>
            </a:pPr>
            <a:r>
              <a:rPr lang="en-US" sz="2400" dirty="0"/>
              <a:t>2.3.4  Describe the main biological functions of, and the primary structures within, the following anatomical subdivisions of the CNS: myelencephalon, metencephalon, mesencephalon, diencephalon, telencephalon.</a:t>
            </a:r>
          </a:p>
          <a:p>
            <a:pPr marL="914400" indent="-914400">
              <a:spcBef>
                <a:spcPts val="600"/>
              </a:spcBef>
              <a:buNone/>
            </a:pPr>
            <a:r>
              <a:rPr lang="en-US" sz="2400" dirty="0"/>
              <a:t>2.3.5  Name the lobes of the cerebral cortex and discuss the functions associated with each.</a:t>
            </a:r>
          </a:p>
        </p:txBody>
      </p:sp>
    </p:spTree>
    <p:extLst>
      <p:ext uri="{BB962C8B-B14F-4D97-AF65-F5344CB8AC3E}">
        <p14:creationId xmlns:p14="http://schemas.microsoft.com/office/powerpoint/2010/main" val="1852614053"/>
      </p:ext>
    </p:extLst>
  </p:cSld>
  <p:clrMapOvr>
    <a:masterClrMapping/>
  </p:clrMapOvr>
</p:sld>
</file>

<file path=ppt/theme/theme1.xml><?xml version="1.0" encoding="utf-8"?>
<a:theme xmlns:a="http://schemas.openxmlformats.org/drawingml/2006/main" name="Text Content Templat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UP US HE Widescreen Template 3.1 (TH).pptx" id="{38592676-3FE0-4EA4-B873-8CD03AA7ACBC}" vid="{4464F53A-3550-4D7A-B3C8-5443B75EFB8E}"/>
    </a:ext>
  </a:extLst>
</a:theme>
</file>

<file path=ppt/theme/theme2.xml><?xml version="1.0" encoding="utf-8"?>
<a:theme xmlns:a="http://schemas.openxmlformats.org/drawingml/2006/main" name="Figure-Only Templates">
  <a:themeElements>
    <a:clrScheme name="Custom 91">
      <a:dk1>
        <a:srgbClr val="000000"/>
      </a:dk1>
      <a:lt1>
        <a:srgbClr val="FFFFFF"/>
      </a:lt1>
      <a:dk2>
        <a:srgbClr val="1F497D"/>
      </a:dk2>
      <a:lt2>
        <a:srgbClr val="EEECE1"/>
      </a:lt2>
      <a:accent1>
        <a:srgbClr val="001A47"/>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xford Template 2020-05-05" id="{B78F6A64-C076-4E15-90E5-9A59F0E29698}" vid="{18DFF3BF-7F46-4B14-BD35-A03A2976456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034735E286A8A478CDABE780C9EC78F" ma:contentTypeVersion="13" ma:contentTypeDescription="Create a new document." ma:contentTypeScope="" ma:versionID="9b8825675e62d57985c81b74d5b14a7f">
  <xsd:schema xmlns:xsd="http://www.w3.org/2001/XMLSchema" xmlns:xs="http://www.w3.org/2001/XMLSchema" xmlns:p="http://schemas.microsoft.com/office/2006/metadata/properties" xmlns:ns3="fd39d560-5c7d-4158-98a0-f420f8fdebce" xmlns:ns4="a6c716b4-9090-4de7-aadc-2aa5f812ad24" targetNamespace="http://schemas.microsoft.com/office/2006/metadata/properties" ma:root="true" ma:fieldsID="bdbc9fd47a72f6438c4442bb9222e145" ns3:_="" ns4:_="">
    <xsd:import namespace="fd39d560-5c7d-4158-98a0-f420f8fdebce"/>
    <xsd:import namespace="a6c716b4-9090-4de7-aadc-2aa5f812ad24"/>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DateTaken" minOccurs="0"/>
                <xsd:element ref="ns3:MediaServiceGenerationTime" minOccurs="0"/>
                <xsd:element ref="ns3:MediaServiceEventHashCode" minOccurs="0"/>
                <xsd:element ref="ns3:MediaServiceAutoKeyPoints" minOccurs="0"/>
                <xsd:element ref="ns3:MediaServiceKeyPoints" minOccurs="0"/>
                <xsd:element ref="ns4:SharedWithUsers" minOccurs="0"/>
                <xsd:element ref="ns4:SharedWithDetails" minOccurs="0"/>
                <xsd:element ref="ns4:SharingHintHash"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d39d560-5c7d-4158-98a0-f420f8fdebc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6c716b4-9090-4de7-aadc-2aa5f812ad24"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E307B2A-FA70-43CE-A010-B3D8154DEA0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d39d560-5c7d-4158-98a0-f420f8fdebce"/>
    <ds:schemaRef ds:uri="a6c716b4-9090-4de7-aadc-2aa5f812ad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856919D-3723-464B-9967-427A087CBD61}">
  <ds:schemaRefs>
    <ds:schemaRef ds:uri="http://purl.org/dc/dcmitype/"/>
    <ds:schemaRef ds:uri="http://schemas.microsoft.com/office/infopath/2007/PartnerControls"/>
    <ds:schemaRef ds:uri="http://schemas.microsoft.com/office/2006/documentManagement/types"/>
    <ds:schemaRef ds:uri="http://purl.org/dc/elements/1.1/"/>
    <ds:schemaRef ds:uri="http://schemas.microsoft.com/office/2006/metadata/properties"/>
    <ds:schemaRef ds:uri="fd39d560-5c7d-4158-98a0-f420f8fdebce"/>
    <ds:schemaRef ds:uri="http://purl.org/dc/terms/"/>
    <ds:schemaRef ds:uri="http://schemas.openxmlformats.org/package/2006/metadata/core-properties"/>
    <ds:schemaRef ds:uri="a6c716b4-9090-4de7-aadc-2aa5f812ad24"/>
    <ds:schemaRef ds:uri="http://www.w3.org/XML/1998/namespace"/>
  </ds:schemaRefs>
</ds:datastoreItem>
</file>

<file path=customXml/itemProps3.xml><?xml version="1.0" encoding="utf-8"?>
<ds:datastoreItem xmlns:ds="http://schemas.openxmlformats.org/officeDocument/2006/customXml" ds:itemID="{6B57C1AB-C2BF-4446-AECB-681D5785527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OUP US HE Widescreen Template 3.1 (TH)</Template>
  <TotalTime>3309</TotalTime>
  <Words>4976</Words>
  <Application>Microsoft Office PowerPoint</Application>
  <PresentationFormat>Widescreen</PresentationFormat>
  <Paragraphs>439</Paragraphs>
  <Slides>61</Slides>
  <Notes>54</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61</vt:i4>
      </vt:variant>
    </vt:vector>
  </HeadingPairs>
  <TitlesOfParts>
    <vt:vector size="71" baseType="lpstr">
      <vt:lpstr>ＭＳ Ｐゴシック</vt:lpstr>
      <vt:lpstr>Arial</vt:lpstr>
      <vt:lpstr>Calibri</vt:lpstr>
      <vt:lpstr>Courier New</vt:lpstr>
      <vt:lpstr>DINPro-Bold</vt:lpstr>
      <vt:lpstr>PalatinoLTStd-Italic</vt:lpstr>
      <vt:lpstr>PalatinoLTStd-Roman</vt:lpstr>
      <vt:lpstr>Symbol</vt:lpstr>
      <vt:lpstr>Text Content Templates</vt:lpstr>
      <vt:lpstr>Figure-Only Templates</vt:lpstr>
      <vt:lpstr>Psychopharmacology: Drugs, the Brain, and Behavior</vt:lpstr>
      <vt:lpstr>Chapter 2 Structure and Function of the Nervous System</vt:lpstr>
      <vt:lpstr>Chapter 2 Learning Objectives (1 of 3)</vt:lpstr>
      <vt:lpstr>Chapter 2 Learning Objectives (2 of 3)</vt:lpstr>
      <vt:lpstr>Chapter 2 Learning Objectives (3 of 3)</vt:lpstr>
      <vt:lpstr>Cells of the Nervous System (1 of 13)</vt:lpstr>
      <vt:lpstr>Cells of the Nervous System (2 of 13)</vt:lpstr>
      <vt:lpstr>Cells of the Nervous System (3 of 13)</vt:lpstr>
      <vt:lpstr>FIGURE 2.2  Principal parts of neurons  </vt:lpstr>
      <vt:lpstr>Cells of the Nervous System (4 of 13)</vt:lpstr>
      <vt:lpstr>Cells of the Nervous System (5 of 13)</vt:lpstr>
      <vt:lpstr>Cells of the Nervous System (6 of 13)</vt:lpstr>
      <vt:lpstr>Cells of the Nervous System (7 of 13)</vt:lpstr>
      <vt:lpstr>Cells of the Nervous System (8 of 13)</vt:lpstr>
      <vt:lpstr>FIGURE 2.5  Stages of protein synthesis </vt:lpstr>
      <vt:lpstr>Cells of the Nervous System (9 of 13)</vt:lpstr>
      <vt:lpstr>FIGURE 2.6  Epigenetic regulation of gene transcription </vt:lpstr>
      <vt:lpstr>Cells of the Nervous System (10 of 13)</vt:lpstr>
      <vt:lpstr>FIGURE 2.7  Axoplasmic transport </vt:lpstr>
      <vt:lpstr>Cells of the Nervous System (11 of 13)</vt:lpstr>
      <vt:lpstr>FIGURE 2.8  Ion channels </vt:lpstr>
      <vt:lpstr>Cells of the Nervous System (12 of 13)</vt:lpstr>
      <vt:lpstr>Cells of the Nervous System (13 of 13)</vt:lpstr>
      <vt:lpstr>Review of Learning Objectives (1 of 3)</vt:lpstr>
      <vt:lpstr>Electrical Transmission within a Neuron (1 of 7)</vt:lpstr>
      <vt:lpstr>FIGURE 2.11  Distribution of ions inside and outside a neuron at resting potential  (1)</vt:lpstr>
      <vt:lpstr>Electrical Transmission within a Neuron (2 of 7)</vt:lpstr>
      <vt:lpstr>Electrical Transmission within a Neuron (3 of 7)</vt:lpstr>
      <vt:lpstr>Electrical Transmission within a Neuron (4 of 7)</vt:lpstr>
      <vt:lpstr>FIGURE 2.14  Stages of the action potential (1)</vt:lpstr>
      <vt:lpstr>Electrical Transmission within a Neuron (5 of 7)</vt:lpstr>
      <vt:lpstr>FIGURE 2.15  Conduction along myelinated axons (1)</vt:lpstr>
      <vt:lpstr>Electrical Transmission within a Neuron (6 of 7)</vt:lpstr>
      <vt:lpstr>Electrical Transmission within a Neuron (7 of 7)</vt:lpstr>
      <vt:lpstr>Review of Learning Objectives (2 of 3)</vt:lpstr>
      <vt:lpstr>Organization of the Nervous System (1 of 18)</vt:lpstr>
      <vt:lpstr>FIGURE 2.16  The central and peripheral nervous systems </vt:lpstr>
      <vt:lpstr>Organization of the Nervous System (2 of 18)</vt:lpstr>
      <vt:lpstr>FIGURE 2.17  Spinal nerves of the peripheral nervous system (PNS)  </vt:lpstr>
      <vt:lpstr>Organization of the Nervous System (3 of 18)</vt:lpstr>
      <vt:lpstr>FIGURE 2.18  Autonomic nervous system (ANS) </vt:lpstr>
      <vt:lpstr>Organization of the Nervous System (4 of 18)</vt:lpstr>
      <vt:lpstr>Organization of the Nervous System (5 of 18)</vt:lpstr>
      <vt:lpstr>Organization of the Nervous System (6 of 18)</vt:lpstr>
      <vt:lpstr>FIGURE 2.19  Divisions of the central nervous system (CNS) </vt:lpstr>
      <vt:lpstr>Organization of the Nervous System (7 of 18)</vt:lpstr>
      <vt:lpstr>Organization of the Nervous System (8 of 18)</vt:lpstr>
      <vt:lpstr>Organization of the Nervous System (9 of 18)</vt:lpstr>
      <vt:lpstr>Organization of the Nervous System (10 of 18)</vt:lpstr>
      <vt:lpstr>Organization of the Nervous System (11 of 18)</vt:lpstr>
      <vt:lpstr>Organization of the Nervous System (12 of 18)</vt:lpstr>
      <vt:lpstr>Organization of the Nervous System (13 of 18)</vt:lpstr>
      <vt:lpstr>Box 2.5  Of Special Interest: Neuroendocrine Response to Stress</vt:lpstr>
      <vt:lpstr>Organization of the Nervous System (14 of 18)</vt:lpstr>
      <vt:lpstr>Organization of the Nervous System (15 of 18)</vt:lpstr>
      <vt:lpstr>FIGURE 2.25  Lateral view of the exterior cerebral cortex </vt:lpstr>
      <vt:lpstr>Organization of the Nervous System (16 of 18)</vt:lpstr>
      <vt:lpstr>Organization of the Nervous System (17 of 18)</vt:lpstr>
      <vt:lpstr>FIGURE 2.26  Comparison of human and rat brains </vt:lpstr>
      <vt:lpstr>Organization of the Nervous System (18 of 18)</vt:lpstr>
      <vt:lpstr>Review of Learning Objectives (3 of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Psychopharmacology: Drugs, the Brain, and Behavior</dc:title>
  <dc:creator>OUP</dc:creator>
  <cp:lastModifiedBy>Carter, Suzanne</cp:lastModifiedBy>
  <cp:revision>72</cp:revision>
  <dcterms:created xsi:type="dcterms:W3CDTF">2021-11-13T04:08:54Z</dcterms:created>
  <dcterms:modified xsi:type="dcterms:W3CDTF">2022-02-28T21:48:09Z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9f61502-7731-4690-a118-333634878cc9_Enabled">
    <vt:lpwstr>true</vt:lpwstr>
  </property>
  <property fmtid="{D5CDD505-2E9C-101B-9397-08002B2CF9AE}" pid="3" name="MSIP_Label_89f61502-7731-4690-a118-333634878cc9_SetDate">
    <vt:lpwstr>2020-04-27T21:10:48Z</vt:lpwstr>
  </property>
  <property fmtid="{D5CDD505-2E9C-101B-9397-08002B2CF9AE}" pid="4" name="MSIP_Label_89f61502-7731-4690-a118-333634878cc9_Method">
    <vt:lpwstr>Standard</vt:lpwstr>
  </property>
  <property fmtid="{D5CDD505-2E9C-101B-9397-08002B2CF9AE}" pid="5" name="MSIP_Label_89f61502-7731-4690-a118-333634878cc9_Name">
    <vt:lpwstr>Internal</vt:lpwstr>
  </property>
  <property fmtid="{D5CDD505-2E9C-101B-9397-08002B2CF9AE}" pid="6" name="MSIP_Label_89f61502-7731-4690-a118-333634878cc9_SiteId">
    <vt:lpwstr>91761b62-4c45-43f5-9f0e-be8ad9b551ff</vt:lpwstr>
  </property>
  <property fmtid="{D5CDD505-2E9C-101B-9397-08002B2CF9AE}" pid="7" name="MSIP_Label_89f61502-7731-4690-a118-333634878cc9_ActionId">
    <vt:lpwstr>69912cf1-8f32-4f1f-9ade-00009ae8a75a</vt:lpwstr>
  </property>
  <property fmtid="{D5CDD505-2E9C-101B-9397-08002B2CF9AE}" pid="8" name="MSIP_Label_89f61502-7731-4690-a118-333634878cc9_ContentBits">
    <vt:lpwstr>0</vt:lpwstr>
  </property>
  <property fmtid="{D5CDD505-2E9C-101B-9397-08002B2CF9AE}" pid="9" name="ContentTypeId">
    <vt:lpwstr>0x0101006034735E286A8A478CDABE780C9EC78F</vt:lpwstr>
  </property>
</Properties>
</file>