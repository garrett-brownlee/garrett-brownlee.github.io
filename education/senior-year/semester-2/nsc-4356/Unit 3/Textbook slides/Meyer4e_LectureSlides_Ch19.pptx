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 ContentType="image/tif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80" r:id="rId5"/>
  </p:sldMasterIdLst>
  <p:notesMasterIdLst>
    <p:notesMasterId r:id="rId67"/>
  </p:notesMasterIdLst>
  <p:handoutMasterIdLst>
    <p:handoutMasterId r:id="rId68"/>
  </p:handoutMasterIdLst>
  <p:sldIdLst>
    <p:sldId id="345" r:id="rId6"/>
    <p:sldId id="270" r:id="rId7"/>
    <p:sldId id="320" r:id="rId8"/>
    <p:sldId id="288" r:id="rId9"/>
    <p:sldId id="289" r:id="rId10"/>
    <p:sldId id="290" r:id="rId11"/>
    <p:sldId id="271" r:id="rId12"/>
    <p:sldId id="350" r:id="rId13"/>
    <p:sldId id="291" r:id="rId14"/>
    <p:sldId id="292" r:id="rId15"/>
    <p:sldId id="293" r:id="rId16"/>
    <p:sldId id="346" r:id="rId17"/>
    <p:sldId id="295" r:id="rId18"/>
    <p:sldId id="351" r:id="rId19"/>
    <p:sldId id="352" r:id="rId20"/>
    <p:sldId id="298" r:id="rId21"/>
    <p:sldId id="299" r:id="rId22"/>
    <p:sldId id="300" r:id="rId23"/>
    <p:sldId id="353" r:id="rId24"/>
    <p:sldId id="286" r:id="rId25"/>
    <p:sldId id="303" r:id="rId26"/>
    <p:sldId id="304" r:id="rId27"/>
    <p:sldId id="354" r:id="rId28"/>
    <p:sldId id="307" r:id="rId29"/>
    <p:sldId id="355" r:id="rId30"/>
    <p:sldId id="309" r:id="rId31"/>
    <p:sldId id="310" r:id="rId32"/>
    <p:sldId id="311" r:id="rId33"/>
    <p:sldId id="312" r:id="rId34"/>
    <p:sldId id="285" r:id="rId35"/>
    <p:sldId id="347" r:id="rId36"/>
    <p:sldId id="314" r:id="rId37"/>
    <p:sldId id="315" r:id="rId38"/>
    <p:sldId id="316" r:id="rId39"/>
    <p:sldId id="317" r:id="rId40"/>
    <p:sldId id="356" r:id="rId41"/>
    <p:sldId id="322" r:id="rId42"/>
    <p:sldId id="348" r:id="rId43"/>
    <p:sldId id="319" r:id="rId44"/>
    <p:sldId id="323" r:id="rId45"/>
    <p:sldId id="357" r:id="rId46"/>
    <p:sldId id="325" r:id="rId47"/>
    <p:sldId id="326" r:id="rId48"/>
    <p:sldId id="358" r:id="rId49"/>
    <p:sldId id="328" r:id="rId50"/>
    <p:sldId id="359" r:id="rId51"/>
    <p:sldId id="330" r:id="rId52"/>
    <p:sldId id="331" r:id="rId53"/>
    <p:sldId id="332" r:id="rId54"/>
    <p:sldId id="360" r:id="rId55"/>
    <p:sldId id="334" r:id="rId56"/>
    <p:sldId id="361" r:id="rId57"/>
    <p:sldId id="335" r:id="rId58"/>
    <p:sldId id="336" r:id="rId59"/>
    <p:sldId id="337" r:id="rId60"/>
    <p:sldId id="338" r:id="rId61"/>
    <p:sldId id="339" r:id="rId62"/>
    <p:sldId id="362" r:id="rId63"/>
    <p:sldId id="342" r:id="rId64"/>
    <p:sldId id="344" r:id="rId65"/>
    <p:sldId id="349"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95" autoAdjust="0"/>
    <p:restoredTop sz="90662" autoAdjust="0"/>
  </p:normalViewPr>
  <p:slideViewPr>
    <p:cSldViewPr snapToGrid="0" snapToObjects="1">
      <p:cViewPr varScale="1">
        <p:scale>
          <a:sx n="71" d="100"/>
          <a:sy n="71" d="100"/>
        </p:scale>
        <p:origin x="84" y="1392"/>
      </p:cViewPr>
      <p:guideLst>
        <p:guide orient="horz" pos="2160"/>
        <p:guide pos="3840"/>
      </p:guideLst>
    </p:cSldViewPr>
  </p:slideViewPr>
  <p:outlineViewPr>
    <p:cViewPr>
      <p:scale>
        <a:sx n="33" d="100"/>
        <a:sy n="33" d="100"/>
      </p:scale>
      <p:origin x="0" y="-46830"/>
    </p:cViewPr>
  </p:outlineViewPr>
  <p:notesTextViewPr>
    <p:cViewPr>
      <p:scale>
        <a:sx n="100" d="100"/>
        <a:sy n="100" d="100"/>
      </p:scale>
      <p:origin x="0" y="0"/>
    </p:cViewPr>
  </p:notesTextViewPr>
  <p:sorterViewPr>
    <p:cViewPr>
      <p:scale>
        <a:sx n="100" d="100"/>
        <a:sy n="100" d="100"/>
      </p:scale>
      <p:origin x="0" y="-6908"/>
    </p:cViewPr>
  </p:sorterViewPr>
  <p:notesViewPr>
    <p:cSldViewPr snapToGrid="0" snapToObject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handoutMaster" Target="handoutMasters/handoutMaster1.xml"/><Relationship Id="rId7" Type="http://schemas.openxmlformats.org/officeDocument/2006/relationships/slide" Target="slides/slide2.xml"/><Relationship Id="rId71"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685613-ADFF-4141-B66C-A45235623B50}" type="datetimeFigureOut">
              <a:rPr lang="en-US" smtClean="0"/>
              <a:t>3/25/2022</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92E8A8-05A8-499B-9FC4-E546163481AE}" type="slidenum">
              <a:rPr lang="en-US" smtClean="0"/>
              <a:t>‹#›</a:t>
            </a:fld>
            <a:endParaRPr lang="en-US"/>
          </a:p>
        </p:txBody>
      </p:sp>
    </p:spTree>
    <p:extLst>
      <p:ext uri="{BB962C8B-B14F-4D97-AF65-F5344CB8AC3E}">
        <p14:creationId xmlns:p14="http://schemas.microsoft.com/office/powerpoint/2010/main" val="10491195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1F5199-F7F4-4FB2-A2CD-22A2CFC87608}" type="datetimeFigureOut">
              <a:rPr lang="en-US" smtClean="0"/>
              <a:t>3/25/2022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56C0744-2FEF-4441-821D-70180A370937}" type="slidenum">
              <a:rPr lang="en-US" smtClean="0"/>
              <a:t>‹#›</a:t>
            </a:fld>
            <a:endParaRPr lang="en-US"/>
          </a:p>
        </p:txBody>
      </p:sp>
    </p:spTree>
    <p:extLst>
      <p:ext uri="{BB962C8B-B14F-4D97-AF65-F5344CB8AC3E}">
        <p14:creationId xmlns:p14="http://schemas.microsoft.com/office/powerpoint/2010/main" val="1271703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56C0744-2FEF-4441-821D-70180A370937}"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86279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7</a:t>
            </a:fld>
            <a:endParaRPr lang="en-US"/>
          </a:p>
        </p:txBody>
      </p:sp>
    </p:spTree>
    <p:extLst>
      <p:ext uri="{BB962C8B-B14F-4D97-AF65-F5344CB8AC3E}">
        <p14:creationId xmlns:p14="http://schemas.microsoft.com/office/powerpoint/2010/main" val="766032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19.1</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Sex differences in age at onset of schizophrenia 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Although both sexes show peak onset of symptoms between 16 and 25 years of age, this sample of 470 patients shows that more women than men experience their first episode after age 36, a difference that continues in every age bracket through old age. (After I. E. Sommer et al. 2020. </a:t>
            </a:r>
            <a:r>
              <a:rPr lang="en-US" sz="1200" i="1" kern="1200" dirty="0" err="1">
                <a:solidFill>
                  <a:schemeClr val="tx1"/>
                </a:solidFill>
                <a:effectLst/>
                <a:latin typeface="+mn-lt"/>
                <a:ea typeface="+mn-ea"/>
                <a:cs typeface="+mn-cs"/>
              </a:rPr>
              <a:t>npj</a:t>
            </a:r>
            <a:r>
              <a:rPr lang="en-US" sz="1200" i="1" kern="1200" dirty="0">
                <a:solidFill>
                  <a:schemeClr val="tx1"/>
                </a:solidFill>
                <a:effectLst/>
                <a:latin typeface="+mn-lt"/>
                <a:ea typeface="+mn-ea"/>
                <a:cs typeface="+mn-cs"/>
              </a:rPr>
              <a:t> </a:t>
            </a:r>
            <a:r>
              <a:rPr lang="en-US" sz="1200" i="1" kern="1200" dirty="0" err="1">
                <a:solidFill>
                  <a:schemeClr val="tx1"/>
                </a:solidFill>
                <a:effectLst/>
                <a:latin typeface="+mn-lt"/>
                <a:ea typeface="+mn-ea"/>
                <a:cs typeface="+mn-cs"/>
              </a:rPr>
              <a:t>Schizophr</a:t>
            </a:r>
            <a:r>
              <a:rPr lang="en-US" sz="1200" kern="1200" dirty="0">
                <a:solidFill>
                  <a:schemeClr val="tx1"/>
                </a:solidFill>
                <a:effectLst/>
                <a:latin typeface="+mn-lt"/>
                <a:ea typeface="+mn-ea"/>
                <a:cs typeface="+mn-cs"/>
              </a:rPr>
              <a:t> 6: 1–7. </a:t>
            </a:r>
            <a:r>
              <a:rPr lang="en-US" sz="1200" kern="1200" dirty="0" err="1">
                <a:solidFill>
                  <a:schemeClr val="tx1"/>
                </a:solidFill>
                <a:effectLst/>
                <a:latin typeface="+mn-lt"/>
                <a:ea typeface="+mn-ea"/>
                <a:cs typeface="+mn-cs"/>
              </a:rPr>
              <a:t>doi.org</a:t>
            </a:r>
            <a:r>
              <a:rPr lang="en-US" sz="1200" kern="1200" dirty="0">
                <a:solidFill>
                  <a:schemeClr val="tx1"/>
                </a:solidFill>
                <a:effectLst/>
                <a:latin typeface="+mn-lt"/>
                <a:ea typeface="+mn-ea"/>
                <a:cs typeface="+mn-cs"/>
              </a:rPr>
              <a:t>/10.1038/s41537-020-0102-z.; CC BY 4.0, </a:t>
            </a:r>
            <a:r>
              <a:rPr lang="en-US" sz="1200" kern="1200" dirty="0" err="1">
                <a:solidFill>
                  <a:schemeClr val="tx1"/>
                </a:solidFill>
                <a:effectLst/>
                <a:latin typeface="+mn-lt"/>
                <a:ea typeface="+mn-ea"/>
                <a:cs typeface="+mn-cs"/>
              </a:rPr>
              <a:t>creativecommons.org</a:t>
            </a:r>
            <a:r>
              <a:rPr lang="en-US" sz="1200" kern="1200" dirty="0">
                <a:solidFill>
                  <a:schemeClr val="tx1"/>
                </a:solidFill>
                <a:effectLst/>
                <a:latin typeface="+mn-lt"/>
                <a:ea typeface="+mn-ea"/>
                <a:cs typeface="+mn-cs"/>
              </a:rPr>
              <a:t>/licenses/by/4.0/)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8</a:t>
            </a:fld>
            <a:endParaRPr lang="en-US"/>
          </a:p>
        </p:txBody>
      </p:sp>
    </p:spTree>
    <p:extLst>
      <p:ext uri="{BB962C8B-B14F-4D97-AF65-F5344CB8AC3E}">
        <p14:creationId xmlns:p14="http://schemas.microsoft.com/office/powerpoint/2010/main" val="3091837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9</a:t>
            </a:fld>
            <a:endParaRPr lang="en-US"/>
          </a:p>
        </p:txBody>
      </p:sp>
    </p:spTree>
    <p:extLst>
      <p:ext uri="{BB962C8B-B14F-4D97-AF65-F5344CB8AC3E}">
        <p14:creationId xmlns:p14="http://schemas.microsoft.com/office/powerpoint/2010/main" val="1905406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10</a:t>
            </a:fld>
            <a:endParaRPr lang="en-US"/>
          </a:p>
        </p:txBody>
      </p:sp>
    </p:spTree>
    <p:extLst>
      <p:ext uri="{BB962C8B-B14F-4D97-AF65-F5344CB8AC3E}">
        <p14:creationId xmlns:p14="http://schemas.microsoft.com/office/powerpoint/2010/main" val="3221773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11</a:t>
            </a:fld>
            <a:endParaRPr lang="en-US"/>
          </a:p>
        </p:txBody>
      </p:sp>
    </p:spTree>
    <p:extLst>
      <p:ext uri="{BB962C8B-B14F-4D97-AF65-F5344CB8AC3E}">
        <p14:creationId xmlns:p14="http://schemas.microsoft.com/office/powerpoint/2010/main" val="41619347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13</a:t>
            </a:fld>
            <a:endParaRPr lang="en-US"/>
          </a:p>
        </p:txBody>
      </p:sp>
    </p:spTree>
    <p:extLst>
      <p:ext uri="{BB962C8B-B14F-4D97-AF65-F5344CB8AC3E}">
        <p14:creationId xmlns:p14="http://schemas.microsoft.com/office/powerpoint/2010/main" val="3403980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19.2</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Brain images of twins not concordant for schizophrenia</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arrows in the figure point to the ventricles filled with cerebrospinal fluid. The healthy twin has normal-sized ventricles, and his schizophrenic twin has ventricles that are much enlarged.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14</a:t>
            </a:fld>
            <a:endParaRPr lang="en-US"/>
          </a:p>
        </p:txBody>
      </p:sp>
    </p:spTree>
    <p:extLst>
      <p:ext uri="{BB962C8B-B14F-4D97-AF65-F5344CB8AC3E}">
        <p14:creationId xmlns:p14="http://schemas.microsoft.com/office/powerpoint/2010/main" val="648997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19.3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Disorganization of cells in the hippocampus 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Histological cross-sections of hippocampus showing the disorganized cells in the brain of a patient with schizophrenia (A) compared with the brain of a healthy control (B). Corresponding schematic diagrams show the haphazard arrangement of pyramidal cells in the hippocampus of patients with schizophrenia and the normal parallel organization in controls. (After J. A. </a:t>
            </a:r>
            <a:r>
              <a:rPr lang="en-US" sz="1200" kern="1200" dirty="0" err="1">
                <a:solidFill>
                  <a:schemeClr val="tx1"/>
                </a:solidFill>
                <a:effectLst/>
                <a:latin typeface="+mn-lt"/>
                <a:ea typeface="+mn-ea"/>
                <a:cs typeface="+mn-cs"/>
              </a:rPr>
              <a:t>Kovelman</a:t>
            </a:r>
            <a:r>
              <a:rPr lang="en-US" sz="1200" kern="1200" dirty="0">
                <a:solidFill>
                  <a:schemeClr val="tx1"/>
                </a:solidFill>
                <a:effectLst/>
                <a:latin typeface="+mn-lt"/>
                <a:ea typeface="+mn-ea"/>
                <a:cs typeface="+mn-cs"/>
              </a:rPr>
              <a:t> and A. B. </a:t>
            </a:r>
            <a:r>
              <a:rPr lang="en-US" sz="1200" kern="1200" dirty="0" err="1">
                <a:solidFill>
                  <a:schemeClr val="tx1"/>
                </a:solidFill>
                <a:effectLst/>
                <a:latin typeface="+mn-lt"/>
                <a:ea typeface="+mn-ea"/>
                <a:cs typeface="+mn-cs"/>
              </a:rPr>
              <a:t>Scheibel</a:t>
            </a:r>
            <a:r>
              <a:rPr lang="en-US" sz="1200" kern="1200" dirty="0">
                <a:solidFill>
                  <a:schemeClr val="tx1"/>
                </a:solidFill>
                <a:effectLst/>
                <a:latin typeface="+mn-lt"/>
                <a:ea typeface="+mn-ea"/>
                <a:cs typeface="+mn-cs"/>
              </a:rPr>
              <a:t>. 1984. </a:t>
            </a:r>
            <a:r>
              <a:rPr lang="en-US" sz="1200" i="1" kern="1200" dirty="0">
                <a:solidFill>
                  <a:schemeClr val="tx1"/>
                </a:solidFill>
                <a:effectLst/>
                <a:latin typeface="+mn-lt"/>
                <a:ea typeface="+mn-ea"/>
                <a:cs typeface="+mn-cs"/>
              </a:rPr>
              <a:t>Bio Psychiatry</a:t>
            </a:r>
            <a:r>
              <a:rPr lang="en-US" sz="1200" kern="1200" dirty="0">
                <a:solidFill>
                  <a:schemeClr val="tx1"/>
                </a:solidFill>
                <a:effectLst/>
                <a:latin typeface="+mn-lt"/>
                <a:ea typeface="+mn-ea"/>
                <a:cs typeface="+mn-cs"/>
              </a:rPr>
              <a:t> 19: 1601–1621.)</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15</a:t>
            </a:fld>
            <a:endParaRPr lang="en-US"/>
          </a:p>
        </p:txBody>
      </p:sp>
    </p:spTree>
    <p:extLst>
      <p:ext uri="{BB962C8B-B14F-4D97-AF65-F5344CB8AC3E}">
        <p14:creationId xmlns:p14="http://schemas.microsoft.com/office/powerpoint/2010/main" val="21726620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16</a:t>
            </a:fld>
            <a:endParaRPr lang="en-US"/>
          </a:p>
        </p:txBody>
      </p:sp>
    </p:spTree>
    <p:extLst>
      <p:ext uri="{BB962C8B-B14F-4D97-AF65-F5344CB8AC3E}">
        <p14:creationId xmlns:p14="http://schemas.microsoft.com/office/powerpoint/2010/main" val="3293915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p:txBody>
      </p:sp>
      <p:sp>
        <p:nvSpPr>
          <p:cNvPr id="4" name="Slide Number Placeholder 3"/>
          <p:cNvSpPr>
            <a:spLocks noGrp="1"/>
          </p:cNvSpPr>
          <p:nvPr>
            <p:ph type="sldNum" sz="quarter" idx="5"/>
          </p:nvPr>
        </p:nvSpPr>
        <p:spPr/>
        <p:txBody>
          <a:bodyPr/>
          <a:lstStyle/>
          <a:p>
            <a:fld id="{556C0744-2FEF-4441-821D-70180A370937}" type="slidenum">
              <a:rPr lang="en-US" smtClean="0"/>
              <a:t>17</a:t>
            </a:fld>
            <a:endParaRPr lang="en-US"/>
          </a:p>
        </p:txBody>
      </p:sp>
    </p:spTree>
    <p:extLst>
      <p:ext uri="{BB962C8B-B14F-4D97-AF65-F5344CB8AC3E}">
        <p14:creationId xmlns:p14="http://schemas.microsoft.com/office/powerpoint/2010/main" val="2345718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Technology such as </a:t>
            </a:r>
            <a:r>
              <a:rPr lang="en-US" sz="1800" b="1" i="0" u="none" strike="noStrike" baseline="0" dirty="0">
                <a:latin typeface="DINPro-Bold"/>
              </a:rPr>
              <a:t>DNA microarray </a:t>
            </a:r>
            <a:r>
              <a:rPr lang="en-US" sz="1800" b="0" i="0" u="none" strike="noStrike" baseline="0" dirty="0">
                <a:latin typeface="PalatinoLTStd-Roman"/>
              </a:rPr>
              <a:t>and GWAS allow rapid screening of large quantities of genomic data.</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18</a:t>
            </a:fld>
            <a:endParaRPr lang="en-US"/>
          </a:p>
        </p:txBody>
      </p:sp>
    </p:spTree>
    <p:extLst>
      <p:ext uri="{BB962C8B-B14F-4D97-AF65-F5344CB8AC3E}">
        <p14:creationId xmlns:p14="http://schemas.microsoft.com/office/powerpoint/2010/main" val="4229063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19.5</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Lifetime risks of developing schizophrenia among relatives of an affected individual 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Data are summarized from about 40 family and twin studies conducted between 1920 and 1987. Compared with a 1% risk of developing schizophrenia in the general population, second-degree relatives have an average risk of 4%, first-degree relatives have a 6% to 17% risk, monozygotic twins have a 48% risk, and children having two parents with schizophrenia have an average 47% risk. (After I. I. Gottesman 1991. </a:t>
            </a:r>
            <a:r>
              <a:rPr lang="en-US" sz="1200" i="1" kern="1200" dirty="0">
                <a:solidFill>
                  <a:schemeClr val="tx1"/>
                </a:solidFill>
                <a:effectLst/>
                <a:latin typeface="+mn-lt"/>
                <a:ea typeface="+mn-ea"/>
                <a:cs typeface="+mn-cs"/>
              </a:rPr>
              <a:t>Schizophrenia Genesis</a:t>
            </a:r>
            <a:r>
              <a:rPr lang="en-US" sz="1200" kern="1200" dirty="0">
                <a:solidFill>
                  <a:schemeClr val="tx1"/>
                </a:solidFill>
                <a:effectLst/>
                <a:latin typeface="+mn-lt"/>
                <a:ea typeface="+mn-ea"/>
                <a:cs typeface="+mn-cs"/>
              </a:rPr>
              <a:t>. W. H. Freeman: New York.)</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19</a:t>
            </a:fld>
            <a:endParaRPr lang="en-US"/>
          </a:p>
        </p:txBody>
      </p:sp>
    </p:spTree>
    <p:extLst>
      <p:ext uri="{BB962C8B-B14F-4D97-AF65-F5344CB8AC3E}">
        <p14:creationId xmlns:p14="http://schemas.microsoft.com/office/powerpoint/2010/main" val="23383548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20</a:t>
            </a:fld>
            <a:endParaRPr lang="en-US"/>
          </a:p>
        </p:txBody>
      </p:sp>
    </p:spTree>
    <p:extLst>
      <p:ext uri="{BB962C8B-B14F-4D97-AF65-F5344CB8AC3E}">
        <p14:creationId xmlns:p14="http://schemas.microsoft.com/office/powerpoint/2010/main" val="24791111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21</a:t>
            </a:fld>
            <a:endParaRPr lang="en-US"/>
          </a:p>
        </p:txBody>
      </p:sp>
    </p:spTree>
    <p:extLst>
      <p:ext uri="{BB962C8B-B14F-4D97-AF65-F5344CB8AC3E}">
        <p14:creationId xmlns:p14="http://schemas.microsoft.com/office/powerpoint/2010/main" val="2208665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22</a:t>
            </a:fld>
            <a:endParaRPr lang="en-US"/>
          </a:p>
        </p:txBody>
      </p:sp>
    </p:spTree>
    <p:extLst>
      <p:ext uri="{BB962C8B-B14F-4D97-AF65-F5344CB8AC3E}">
        <p14:creationId xmlns:p14="http://schemas.microsoft.com/office/powerpoint/2010/main" val="3705071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19.6</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Cortical gray matter loss 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Three-dimensional maps of brain changes show the average annual rate of loss of cortical gray matter in healthy adolescents (left) and in adolescents with schizophrenia (right).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23</a:t>
            </a:fld>
            <a:endParaRPr lang="en-US"/>
          </a:p>
        </p:txBody>
      </p:sp>
    </p:spTree>
    <p:extLst>
      <p:ext uri="{BB962C8B-B14F-4D97-AF65-F5344CB8AC3E}">
        <p14:creationId xmlns:p14="http://schemas.microsoft.com/office/powerpoint/2010/main" val="39106603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24</a:t>
            </a:fld>
            <a:endParaRPr lang="en-US"/>
          </a:p>
        </p:txBody>
      </p:sp>
    </p:spTree>
    <p:extLst>
      <p:ext uri="{BB962C8B-B14F-4D97-AF65-F5344CB8AC3E}">
        <p14:creationId xmlns:p14="http://schemas.microsoft.com/office/powerpoint/2010/main" val="9336727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19.7</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Etiology of schizophrenia</a:t>
            </a:r>
            <a:r>
              <a:rPr lang="en-US" sz="1200" kern="1200" dirty="0">
                <a:solidFill>
                  <a:schemeClr val="tx1"/>
                </a:solidFill>
                <a:effectLst/>
                <a:latin typeface="+mn-lt"/>
                <a:ea typeface="+mn-ea"/>
                <a:cs typeface="+mn-cs"/>
              </a:rPr>
              <a:t>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schematic diagram shows the importance of the interaction of genes and environmental factors in the development of schizophrenia, based on material presented in the text. Genes and environment interact to cause abnormal development of the nervous system. The neurodevelop­mental abnormalities, such as errors in connectivity, make the individual susceptible to later environmental events at adolescence, which exacerbates the cognitive deficits and negative symptoms and elicits the positive symptoms leading to diagnosis.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25</a:t>
            </a:fld>
            <a:endParaRPr lang="en-US"/>
          </a:p>
        </p:txBody>
      </p:sp>
    </p:spTree>
    <p:extLst>
      <p:ext uri="{BB962C8B-B14F-4D97-AF65-F5344CB8AC3E}">
        <p14:creationId xmlns:p14="http://schemas.microsoft.com/office/powerpoint/2010/main" val="2858469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26</a:t>
            </a:fld>
            <a:endParaRPr lang="en-US"/>
          </a:p>
        </p:txBody>
      </p:sp>
    </p:spTree>
    <p:extLst>
      <p:ext uri="{BB962C8B-B14F-4D97-AF65-F5344CB8AC3E}">
        <p14:creationId xmlns:p14="http://schemas.microsoft.com/office/powerpoint/2010/main" val="10901507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27</a:t>
            </a:fld>
            <a:endParaRPr lang="en-US"/>
          </a:p>
        </p:txBody>
      </p:sp>
    </p:spTree>
    <p:extLst>
      <p:ext uri="{BB962C8B-B14F-4D97-AF65-F5344CB8AC3E}">
        <p14:creationId xmlns:p14="http://schemas.microsoft.com/office/powerpoint/2010/main" val="27244051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28</a:t>
            </a:fld>
            <a:endParaRPr lang="en-US"/>
          </a:p>
        </p:txBody>
      </p:sp>
    </p:spTree>
    <p:extLst>
      <p:ext uri="{BB962C8B-B14F-4D97-AF65-F5344CB8AC3E}">
        <p14:creationId xmlns:p14="http://schemas.microsoft.com/office/powerpoint/2010/main" val="41629320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29</a:t>
            </a:fld>
            <a:endParaRPr lang="en-US"/>
          </a:p>
        </p:txBody>
      </p:sp>
    </p:spTree>
    <p:extLst>
      <p:ext uri="{BB962C8B-B14F-4D97-AF65-F5344CB8AC3E}">
        <p14:creationId xmlns:p14="http://schemas.microsoft.com/office/powerpoint/2010/main" val="19096456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endParaRPr lang="en-US" u="none" dirty="0"/>
          </a:p>
          <a:p>
            <a:r>
              <a:rPr lang="en-US" dirty="0"/>
              <a:t>Correct answer: b</a:t>
            </a:r>
          </a:p>
        </p:txBody>
      </p:sp>
      <p:sp>
        <p:nvSpPr>
          <p:cNvPr id="4" name="Slide Number Placeholder 3"/>
          <p:cNvSpPr>
            <a:spLocks noGrp="1"/>
          </p:cNvSpPr>
          <p:nvPr>
            <p:ph type="sldNum" sz="quarter" idx="5"/>
          </p:nvPr>
        </p:nvSpPr>
        <p:spPr/>
        <p:txBody>
          <a:bodyPr/>
          <a:lstStyle/>
          <a:p>
            <a:fld id="{556C0744-2FEF-4441-821D-70180A370937}" type="slidenum">
              <a:rPr lang="en-US" smtClean="0"/>
              <a:t>30</a:t>
            </a:fld>
            <a:endParaRPr lang="en-US"/>
          </a:p>
        </p:txBody>
      </p:sp>
    </p:spTree>
    <p:extLst>
      <p:ext uri="{BB962C8B-B14F-4D97-AF65-F5344CB8AC3E}">
        <p14:creationId xmlns:p14="http://schemas.microsoft.com/office/powerpoint/2010/main" val="25842292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32</a:t>
            </a:fld>
            <a:endParaRPr lang="en-US"/>
          </a:p>
        </p:txBody>
      </p:sp>
    </p:spTree>
    <p:extLst>
      <p:ext uri="{BB962C8B-B14F-4D97-AF65-F5344CB8AC3E}">
        <p14:creationId xmlns:p14="http://schemas.microsoft.com/office/powerpoint/2010/main" val="17663162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33</a:t>
            </a:fld>
            <a:endParaRPr lang="en-US"/>
          </a:p>
        </p:txBody>
      </p:sp>
    </p:spTree>
    <p:extLst>
      <p:ext uri="{BB962C8B-B14F-4D97-AF65-F5344CB8AC3E}">
        <p14:creationId xmlns:p14="http://schemas.microsoft.com/office/powerpoint/2010/main" val="42766856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34</a:t>
            </a:fld>
            <a:endParaRPr lang="en-US"/>
          </a:p>
        </p:txBody>
      </p:sp>
    </p:spTree>
    <p:extLst>
      <p:ext uri="{BB962C8B-B14F-4D97-AF65-F5344CB8AC3E}">
        <p14:creationId xmlns:p14="http://schemas.microsoft.com/office/powerpoint/2010/main" val="33921353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35</a:t>
            </a:fld>
            <a:endParaRPr lang="en-US"/>
          </a:p>
        </p:txBody>
      </p:sp>
    </p:spTree>
    <p:extLst>
      <p:ext uri="{BB962C8B-B14F-4D97-AF65-F5344CB8AC3E}">
        <p14:creationId xmlns:p14="http://schemas.microsoft.com/office/powerpoint/2010/main" val="2683047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19.8</a:t>
            </a:r>
            <a:r>
              <a:rPr lang="en-US" sz="1200"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Hypoglutamate</a:t>
            </a:r>
            <a:r>
              <a:rPr lang="en-US" sz="1200" b="1" kern="1200" dirty="0">
                <a:solidFill>
                  <a:schemeClr val="tx1"/>
                </a:solidFill>
                <a:effectLst/>
                <a:latin typeface="+mn-lt"/>
                <a:ea typeface="+mn-ea"/>
                <a:cs typeface="+mn-cs"/>
              </a:rPr>
              <a:t> hypothesis of schizophrenia 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Midsagittal view showing nigrostriatal (yellow), mesolimbic (blue), and </a:t>
            </a:r>
            <a:r>
              <a:rPr lang="en-US" sz="1200" kern="1200" dirty="0" err="1">
                <a:solidFill>
                  <a:schemeClr val="tx1"/>
                </a:solidFill>
                <a:effectLst/>
                <a:latin typeface="+mn-lt"/>
                <a:ea typeface="+mn-ea"/>
                <a:cs typeface="+mn-cs"/>
              </a:rPr>
              <a:t>mesocortical</a:t>
            </a:r>
            <a:r>
              <a:rPr lang="en-US" sz="1200" kern="1200" dirty="0">
                <a:solidFill>
                  <a:schemeClr val="tx1"/>
                </a:solidFill>
                <a:effectLst/>
                <a:latin typeface="+mn-lt"/>
                <a:ea typeface="+mn-ea"/>
                <a:cs typeface="+mn-cs"/>
              </a:rPr>
              <a:t> (black) dopaminergic neurons as well as a descending glutamatergic neuron (green) originating in the prefrontal cortex (PFC). (B) Since descending glutama­tergic neurons (green) excite </a:t>
            </a:r>
            <a:r>
              <a:rPr lang="en-US" sz="1200" kern="1200" dirty="0" err="1">
                <a:solidFill>
                  <a:schemeClr val="tx1"/>
                </a:solidFill>
                <a:effectLst/>
                <a:latin typeface="+mn-lt"/>
                <a:ea typeface="+mn-ea"/>
                <a:cs typeface="+mn-cs"/>
              </a:rPr>
              <a:t>mesocortical</a:t>
            </a:r>
            <a:r>
              <a:rPr lang="en-US" sz="1200" kern="1200" dirty="0">
                <a:solidFill>
                  <a:schemeClr val="tx1"/>
                </a:solidFill>
                <a:effectLst/>
                <a:latin typeface="+mn-lt"/>
                <a:ea typeface="+mn-ea"/>
                <a:cs typeface="+mn-cs"/>
              </a:rPr>
              <a:t> DA neurons (black), poor glutamate signaling would produce low DA release in PFC, exacerbating negative and cognitive symptoms. Other glutamatergic neurons (green) excite inhibitory GABA neurons (red) that subsequently inhibit the dopaminergic mesolimbic pathway. (These tiny neurons within the VTA could not be depicted in part A.) In this case, low glutamate signaling would fail to inhibit mesolimbic firing, leading to excess DA release in the nucleus </a:t>
            </a:r>
            <a:r>
              <a:rPr lang="en-US" sz="1200" kern="1200" dirty="0" err="1">
                <a:solidFill>
                  <a:schemeClr val="tx1"/>
                </a:solidFill>
                <a:effectLst/>
                <a:latin typeface="+mn-lt"/>
                <a:ea typeface="+mn-ea"/>
                <a:cs typeface="+mn-cs"/>
              </a:rPr>
              <a:t>accumbens</a:t>
            </a:r>
            <a:r>
              <a:rPr lang="en-US" sz="1200" kern="1200" dirty="0">
                <a:solidFill>
                  <a:schemeClr val="tx1"/>
                </a:solidFill>
                <a:effectLst/>
                <a:latin typeface="+mn-lt"/>
                <a:ea typeface="+mn-ea"/>
                <a:cs typeface="+mn-cs"/>
              </a:rPr>
              <a:t> and positive symptoms. (B after G. Winterer and D. R. Weinberger. 2004. </a:t>
            </a:r>
            <a:r>
              <a:rPr lang="en-US" sz="1200" i="1" kern="1200" dirty="0">
                <a:solidFill>
                  <a:schemeClr val="tx1"/>
                </a:solidFill>
                <a:effectLst/>
                <a:latin typeface="+mn-lt"/>
                <a:ea typeface="+mn-ea"/>
                <a:cs typeface="+mn-cs"/>
              </a:rPr>
              <a:t>Trends </a:t>
            </a:r>
            <a:r>
              <a:rPr lang="en-US" sz="1200" i="1" kern="1200" dirty="0" err="1">
                <a:solidFill>
                  <a:schemeClr val="tx1"/>
                </a:solidFill>
                <a:effectLst/>
                <a:latin typeface="+mn-lt"/>
                <a:ea typeface="+mn-ea"/>
                <a:cs typeface="+mn-cs"/>
              </a:rPr>
              <a:t>Neurosci</a:t>
            </a:r>
            <a:r>
              <a:rPr lang="en-US" sz="1200" kern="1200" dirty="0">
                <a:solidFill>
                  <a:schemeClr val="tx1"/>
                </a:solidFill>
                <a:effectLst/>
                <a:latin typeface="+mn-lt"/>
                <a:ea typeface="+mn-ea"/>
                <a:cs typeface="+mn-cs"/>
              </a:rPr>
              <a:t> 27: 683–690.)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36</a:t>
            </a:fld>
            <a:endParaRPr lang="en-US"/>
          </a:p>
        </p:txBody>
      </p:sp>
    </p:spTree>
    <p:extLst>
      <p:ext uri="{BB962C8B-B14F-4D97-AF65-F5344CB8AC3E}">
        <p14:creationId xmlns:p14="http://schemas.microsoft.com/office/powerpoint/2010/main" val="34427830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 answer: a</a:t>
            </a:r>
          </a:p>
        </p:txBody>
      </p:sp>
      <p:sp>
        <p:nvSpPr>
          <p:cNvPr id="4" name="Slide Number Placeholder 3"/>
          <p:cNvSpPr>
            <a:spLocks noGrp="1"/>
          </p:cNvSpPr>
          <p:nvPr>
            <p:ph type="sldNum" sz="quarter" idx="5"/>
          </p:nvPr>
        </p:nvSpPr>
        <p:spPr/>
        <p:txBody>
          <a:bodyPr/>
          <a:lstStyle/>
          <a:p>
            <a:fld id="{556C0744-2FEF-4441-821D-70180A370937}" type="slidenum">
              <a:rPr lang="en-US" smtClean="0"/>
              <a:t>37</a:t>
            </a:fld>
            <a:endParaRPr lang="en-US"/>
          </a:p>
        </p:txBody>
      </p:sp>
    </p:spTree>
    <p:extLst>
      <p:ext uri="{BB962C8B-B14F-4D97-AF65-F5344CB8AC3E}">
        <p14:creationId xmlns:p14="http://schemas.microsoft.com/office/powerpoint/2010/main" val="3657674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1" i="0" u="none" strike="noStrike" baseline="0" dirty="0">
                <a:latin typeface="DINPro-Bold"/>
              </a:rPr>
              <a:t>Neuroleptics</a:t>
            </a:r>
            <a:r>
              <a:rPr lang="en-US" sz="1800" b="0" i="0" u="none" strike="noStrike" baseline="0" dirty="0">
                <a:latin typeface="PalatinoLTStd-Roman"/>
              </a:rPr>
              <a:t>: older term for antipsychotic drugs</a:t>
            </a:r>
            <a:endParaRPr lang="en-US" u="none" dirty="0"/>
          </a:p>
        </p:txBody>
      </p:sp>
      <p:sp>
        <p:nvSpPr>
          <p:cNvPr id="4" name="Slide Number Placeholder 3"/>
          <p:cNvSpPr>
            <a:spLocks noGrp="1"/>
          </p:cNvSpPr>
          <p:nvPr>
            <p:ph type="sldNum" sz="quarter" idx="5"/>
          </p:nvPr>
        </p:nvSpPr>
        <p:spPr/>
        <p:txBody>
          <a:bodyPr/>
          <a:lstStyle/>
          <a:p>
            <a:fld id="{556C0744-2FEF-4441-821D-70180A370937}" type="slidenum">
              <a:rPr lang="en-US" smtClean="0"/>
              <a:t>39</a:t>
            </a:fld>
            <a:endParaRPr lang="en-US"/>
          </a:p>
        </p:txBody>
      </p:sp>
    </p:spTree>
    <p:extLst>
      <p:ext uri="{BB962C8B-B14F-4D97-AF65-F5344CB8AC3E}">
        <p14:creationId xmlns:p14="http://schemas.microsoft.com/office/powerpoint/2010/main" val="35039541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40</a:t>
            </a:fld>
            <a:endParaRPr lang="en-US"/>
          </a:p>
        </p:txBody>
      </p:sp>
    </p:spTree>
    <p:extLst>
      <p:ext uri="{BB962C8B-B14F-4D97-AF65-F5344CB8AC3E}">
        <p14:creationId xmlns:p14="http://schemas.microsoft.com/office/powerpoint/2010/main" val="410146631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19.9</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Phenothiazine nucleus and related compounds 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Minor molecular modifications determine the three major subgroups of phenothiazines and change drug potency, pharmacological activity, and side effects.</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41</a:t>
            </a:fld>
            <a:endParaRPr lang="en-US"/>
          </a:p>
        </p:txBody>
      </p:sp>
    </p:spTree>
    <p:extLst>
      <p:ext uri="{BB962C8B-B14F-4D97-AF65-F5344CB8AC3E}">
        <p14:creationId xmlns:p14="http://schemas.microsoft.com/office/powerpoint/2010/main" val="29152099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42</a:t>
            </a:fld>
            <a:endParaRPr lang="en-US"/>
          </a:p>
        </p:txBody>
      </p:sp>
    </p:spTree>
    <p:extLst>
      <p:ext uri="{BB962C8B-B14F-4D97-AF65-F5344CB8AC3E}">
        <p14:creationId xmlns:p14="http://schemas.microsoft.com/office/powerpoint/2010/main" val="26948758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43</a:t>
            </a:fld>
            <a:endParaRPr lang="en-US"/>
          </a:p>
        </p:txBody>
      </p:sp>
    </p:spTree>
    <p:extLst>
      <p:ext uri="{BB962C8B-B14F-4D97-AF65-F5344CB8AC3E}">
        <p14:creationId xmlns:p14="http://schemas.microsoft.com/office/powerpoint/2010/main" val="18666791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19.10</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Correlation between antipsychotic drug binding to neurotransmitter receptors and clinical effectiveness 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receptor binding studies were accomplished by first labeling the receptors with an appropriate radioactive ligand for each neurotransmitter. The antipsychotic drug was added in increasing concentrations until it competed successfully for half of the labeled sites. That value (</a:t>
            </a:r>
            <a:r>
              <a:rPr lang="en-US" sz="1200" i="1" kern="1200" dirty="0">
                <a:solidFill>
                  <a:schemeClr val="tx1"/>
                </a:solidFill>
                <a:effectLst/>
                <a:latin typeface="+mn-lt"/>
                <a:ea typeface="+mn-ea"/>
                <a:cs typeface="+mn-cs"/>
              </a:rPr>
              <a:t>K</a:t>
            </a:r>
            <a:r>
              <a:rPr lang="en-US" sz="1200" kern="1200" baseline="-25000" dirty="0">
                <a:solidFill>
                  <a:schemeClr val="tx1"/>
                </a:solidFill>
                <a:effectLst/>
                <a:latin typeface="+mn-lt"/>
                <a:ea typeface="+mn-ea"/>
                <a:cs typeface="+mn-cs"/>
              </a:rPr>
              <a:t>i</a:t>
            </a:r>
            <a:r>
              <a:rPr lang="en-US" sz="1200" kern="1200" dirty="0">
                <a:solidFill>
                  <a:schemeClr val="tx1"/>
                </a:solidFill>
                <a:effectLst/>
                <a:latin typeface="+mn-lt"/>
                <a:ea typeface="+mn-ea"/>
                <a:cs typeface="+mn-cs"/>
              </a:rPr>
              <a:t>) is plotted along the </a:t>
            </a:r>
            <a:r>
              <a:rPr lang="en-US" sz="1200" i="1" kern="1200" dirty="0">
                <a:solidFill>
                  <a:schemeClr val="tx1"/>
                </a:solidFill>
                <a:effectLst/>
                <a:latin typeface="+mn-lt"/>
                <a:ea typeface="+mn-ea"/>
                <a:cs typeface="+mn-cs"/>
              </a:rPr>
              <a:t>x</a:t>
            </a:r>
            <a:r>
              <a:rPr lang="en-US" sz="1200" kern="1200" dirty="0">
                <a:solidFill>
                  <a:schemeClr val="tx1"/>
                </a:solidFill>
                <a:effectLst/>
                <a:latin typeface="+mn-lt"/>
                <a:ea typeface="+mn-ea"/>
                <a:cs typeface="+mn-cs"/>
              </a:rPr>
              <a:t>-axis, and the corresponding average clinical daily dose for that drug is plotted on the </a:t>
            </a:r>
            <a:r>
              <a:rPr lang="en-US" sz="1200" i="1" kern="1200" dirty="0">
                <a:solidFill>
                  <a:schemeClr val="tx1"/>
                </a:solidFill>
                <a:effectLst/>
                <a:latin typeface="+mn-lt"/>
                <a:ea typeface="+mn-ea"/>
                <a:cs typeface="+mn-cs"/>
              </a:rPr>
              <a:t>y</a:t>
            </a:r>
            <a:r>
              <a:rPr lang="en-US" sz="1200" kern="1200" dirty="0">
                <a:solidFill>
                  <a:schemeClr val="tx1"/>
                </a:solidFill>
                <a:effectLst/>
                <a:latin typeface="+mn-lt"/>
                <a:ea typeface="+mn-ea"/>
                <a:cs typeface="+mn-cs"/>
              </a:rPr>
              <a:t>-axis. A clear positive correlation is found for dopamine receptor binding (A), but serotonin receptor binding shows no apparent correlation with effectiveness (B). Further experiments found no correlation between clinical effects and binding to either </a:t>
            </a:r>
            <a:r>
              <a:rPr lang="en-US" sz="1200" u="none" strike="noStrike" kern="1200" dirty="0">
                <a:solidFill>
                  <a:schemeClr val="tx1"/>
                </a:solidFill>
                <a:effectLst/>
                <a:latin typeface="+mn-lt"/>
                <a:ea typeface="+mn-ea"/>
                <a:cs typeface="+mn-cs"/>
              </a:rPr>
              <a:t>α</a:t>
            </a:r>
            <a:r>
              <a:rPr lang="en-US" sz="1200" kern="1200" dirty="0">
                <a:solidFill>
                  <a:schemeClr val="tx1"/>
                </a:solidFill>
                <a:effectLst/>
                <a:latin typeface="+mn-lt"/>
                <a:ea typeface="+mn-ea"/>
                <a:cs typeface="+mn-cs"/>
              </a:rPr>
              <a:t>-adrenergic or histamine receptors. (After S. H. Snyder. 1996. </a:t>
            </a:r>
            <a:r>
              <a:rPr lang="en-US" sz="1200" i="1" kern="1200" dirty="0">
                <a:solidFill>
                  <a:schemeClr val="tx1"/>
                </a:solidFill>
                <a:effectLst/>
                <a:latin typeface="+mn-lt"/>
                <a:ea typeface="+mn-ea"/>
                <a:cs typeface="+mn-cs"/>
              </a:rPr>
              <a:t>Drugs and the Brain</a:t>
            </a:r>
            <a:r>
              <a:rPr lang="en-US" sz="1200" kern="1200" dirty="0">
                <a:solidFill>
                  <a:schemeClr val="tx1"/>
                </a:solidFill>
                <a:effectLst/>
                <a:latin typeface="+mn-lt"/>
                <a:ea typeface="+mn-ea"/>
                <a:cs typeface="+mn-cs"/>
              </a:rPr>
              <a:t>, p. 80. Scientific American Library: New York.)</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44</a:t>
            </a:fld>
            <a:endParaRPr lang="en-US"/>
          </a:p>
        </p:txBody>
      </p:sp>
    </p:spTree>
    <p:extLst>
      <p:ext uri="{BB962C8B-B14F-4D97-AF65-F5344CB8AC3E}">
        <p14:creationId xmlns:p14="http://schemas.microsoft.com/office/powerpoint/2010/main" val="8587116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45</a:t>
            </a:fld>
            <a:endParaRPr lang="en-US"/>
          </a:p>
        </p:txBody>
      </p:sp>
    </p:spTree>
    <p:extLst>
      <p:ext uri="{BB962C8B-B14F-4D97-AF65-F5344CB8AC3E}">
        <p14:creationId xmlns:p14="http://schemas.microsoft.com/office/powerpoint/2010/main" val="28577799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19.11  </a:t>
            </a:r>
            <a:r>
              <a:rPr lang="en-US" sz="1200" b="1" kern="1200" dirty="0">
                <a:solidFill>
                  <a:schemeClr val="tx1"/>
                </a:solidFill>
                <a:effectLst/>
                <a:latin typeface="+mn-lt"/>
                <a:ea typeface="+mn-ea"/>
                <a:cs typeface="+mn-cs"/>
              </a:rPr>
              <a:t>D</a:t>
            </a:r>
            <a:r>
              <a:rPr lang="en-US" sz="1200" b="1" kern="1200" baseline="-25000" dirty="0">
                <a:solidFill>
                  <a:schemeClr val="tx1"/>
                </a:solidFill>
                <a:effectLst/>
                <a:latin typeface="+mn-lt"/>
                <a:ea typeface="+mn-ea"/>
                <a:cs typeface="+mn-cs"/>
              </a:rPr>
              <a:t>2</a:t>
            </a:r>
            <a:r>
              <a:rPr lang="en-US" sz="1200" b="1" kern="1200" dirty="0">
                <a:solidFill>
                  <a:schemeClr val="tx1"/>
                </a:solidFill>
                <a:effectLst/>
                <a:latin typeface="+mn-lt"/>
                <a:ea typeface="+mn-ea"/>
                <a:cs typeface="+mn-cs"/>
              </a:rPr>
              <a:t> receptor occupancy by antipsychotic drugs 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PET scans of a healthy, untreated male (control) and three patients with schizophrenia treated with the classic neuroleptic haloperidol or with an atypical antipsychotic drug (clozapine or risperidone). In all individuals, striatal D</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receptors were labeled with [</a:t>
            </a:r>
            <a:r>
              <a:rPr lang="en-US" sz="1200" kern="1200" baseline="30000" dirty="0">
                <a:solidFill>
                  <a:schemeClr val="tx1"/>
                </a:solidFill>
                <a:effectLst/>
                <a:latin typeface="+mn-lt"/>
                <a:ea typeface="+mn-ea"/>
                <a:cs typeface="+mn-cs"/>
              </a:rPr>
              <a:t>11</a:t>
            </a:r>
            <a:r>
              <a:rPr lang="en-US" sz="1200" kern="1200" dirty="0">
                <a:solidFill>
                  <a:schemeClr val="tx1"/>
                </a:solidFill>
                <a:effectLst/>
                <a:latin typeface="+mn-lt"/>
                <a:ea typeface="+mn-ea"/>
                <a:cs typeface="+mn-cs"/>
              </a:rPr>
              <a:t>C]raclopride. The scans show that the radioactive label of striatal D</a:t>
            </a:r>
            <a:r>
              <a:rPr lang="en-US" sz="1200" kern="1200" baseline="-25000" dirty="0">
                <a:solidFill>
                  <a:schemeClr val="tx1"/>
                </a:solidFill>
                <a:effectLst/>
                <a:latin typeface="+mn-lt"/>
                <a:ea typeface="+mn-ea"/>
                <a:cs typeface="+mn-cs"/>
              </a:rPr>
              <a:t>2</a:t>
            </a:r>
            <a:r>
              <a:rPr lang="en-US" sz="1200" kern="1200" dirty="0">
                <a:solidFill>
                  <a:schemeClr val="tx1"/>
                </a:solidFill>
                <a:effectLst/>
                <a:latin typeface="+mn-lt"/>
                <a:ea typeface="+mn-ea"/>
                <a:cs typeface="+mn-cs"/>
              </a:rPr>
              <a:t> receptors was displaced almost completely by haloperidol and risperidone binding but less effectively by clozapine. These and other differences in receptor antagonism are thought to be responsible for the ability of the clozapine-like neuroleptics to reduce symptoms without producing serious motor side effects. </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46</a:t>
            </a:fld>
            <a:endParaRPr lang="en-US"/>
          </a:p>
        </p:txBody>
      </p:sp>
    </p:spTree>
    <p:extLst>
      <p:ext uri="{BB962C8B-B14F-4D97-AF65-F5344CB8AC3E}">
        <p14:creationId xmlns:p14="http://schemas.microsoft.com/office/powerpoint/2010/main" val="2259232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47</a:t>
            </a:fld>
            <a:endParaRPr lang="en-US"/>
          </a:p>
        </p:txBody>
      </p:sp>
    </p:spTree>
    <p:extLst>
      <p:ext uri="{BB962C8B-B14F-4D97-AF65-F5344CB8AC3E}">
        <p14:creationId xmlns:p14="http://schemas.microsoft.com/office/powerpoint/2010/main" val="38061927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48</a:t>
            </a:fld>
            <a:endParaRPr lang="en-US"/>
          </a:p>
        </p:txBody>
      </p:sp>
    </p:spTree>
    <p:extLst>
      <p:ext uri="{BB962C8B-B14F-4D97-AF65-F5344CB8AC3E}">
        <p14:creationId xmlns:p14="http://schemas.microsoft.com/office/powerpoint/2010/main" val="38430111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49</a:t>
            </a:fld>
            <a:endParaRPr lang="en-US"/>
          </a:p>
        </p:txBody>
      </p:sp>
    </p:spTree>
    <p:extLst>
      <p:ext uri="{BB962C8B-B14F-4D97-AF65-F5344CB8AC3E}">
        <p14:creationId xmlns:p14="http://schemas.microsoft.com/office/powerpoint/2010/main" val="17497544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19.12  </a:t>
            </a:r>
            <a:r>
              <a:rPr lang="en-US" sz="1200" b="1" kern="1200" dirty="0">
                <a:solidFill>
                  <a:schemeClr val="tx1"/>
                </a:solidFill>
                <a:effectLst/>
                <a:latin typeface="+mn-lt"/>
                <a:ea typeface="+mn-ea"/>
                <a:cs typeface="+mn-cs"/>
              </a:rPr>
              <a:t>Schematic diagram showing the neurotransmitters involved in parkinsonian symptoms 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Parkinson’s disease is caused by degeneration of the nigrostriatal dopaminergic neurons, which originate in the substantia </a:t>
            </a:r>
            <a:r>
              <a:rPr lang="en-US" sz="1200" kern="1200" dirty="0" err="1">
                <a:solidFill>
                  <a:schemeClr val="tx1"/>
                </a:solidFill>
                <a:effectLst/>
                <a:latin typeface="+mn-lt"/>
                <a:ea typeface="+mn-ea"/>
                <a:cs typeface="+mn-cs"/>
              </a:rPr>
              <a:t>nigra</a:t>
            </a:r>
            <a:r>
              <a:rPr lang="en-US" sz="1200" kern="1200" dirty="0">
                <a:solidFill>
                  <a:schemeClr val="tx1"/>
                </a:solidFill>
                <a:effectLst/>
                <a:latin typeface="+mn-lt"/>
                <a:ea typeface="+mn-ea"/>
                <a:cs typeface="+mn-cs"/>
              </a:rPr>
              <a:t>. The reduced dopaminergic cell function causes a loss of inhibitory control of the cholinergic cells in the striatum, so the cholinergic cells fire at higher rates. Drug-induced parkinsonian symptoms follow DA receptor blockade in the striatum and subsequent excess acetylcholine activity, which is functionally similar to the loss of dopaminergic cells in Parkinson’s disease. Anticholinergic drugs reduce the symptoms of Parkinson’s disease and the side effects of antipsychotic drug treatment.</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50</a:t>
            </a:fld>
            <a:endParaRPr lang="en-US"/>
          </a:p>
        </p:txBody>
      </p:sp>
    </p:spTree>
    <p:extLst>
      <p:ext uri="{BB962C8B-B14F-4D97-AF65-F5344CB8AC3E}">
        <p14:creationId xmlns:p14="http://schemas.microsoft.com/office/powerpoint/2010/main" val="3422234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VMAT2 inhibitors:</a:t>
            </a:r>
            <a:r>
              <a:rPr lang="en-US" sz="1200" b="0" i="0" u="none" strike="noStrike" baseline="0" dirty="0">
                <a:latin typeface="PalatinoLTStd-Roman"/>
              </a:rPr>
              <a:t> </a:t>
            </a:r>
            <a:r>
              <a:rPr lang="en-US" sz="1200" b="0" i="0" u="none" strike="noStrike" baseline="0" dirty="0" err="1">
                <a:latin typeface="PalatinoLTStd-Roman"/>
              </a:rPr>
              <a:t>valbenazine</a:t>
            </a:r>
            <a:r>
              <a:rPr lang="en-US" sz="1200" b="0" i="0" u="none" strike="noStrike" baseline="0" dirty="0">
                <a:latin typeface="PalatinoLTStd-Roman"/>
              </a:rPr>
              <a:t> and </a:t>
            </a:r>
            <a:r>
              <a:rPr lang="en-US" sz="1200" b="0" i="0" u="none" strike="noStrike" baseline="0" dirty="0" err="1">
                <a:latin typeface="PalatinoLTStd-Roman"/>
              </a:rPr>
              <a:t>deutetrabenazine</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51</a:t>
            </a:fld>
            <a:endParaRPr lang="en-US"/>
          </a:p>
        </p:txBody>
      </p:sp>
    </p:spTree>
    <p:extLst>
      <p:ext uri="{BB962C8B-B14F-4D97-AF65-F5344CB8AC3E}">
        <p14:creationId xmlns:p14="http://schemas.microsoft.com/office/powerpoint/2010/main" val="17582244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cap="all" dirty="0">
                <a:solidFill>
                  <a:schemeClr val="tx1"/>
                </a:solidFill>
                <a:effectLst/>
                <a:latin typeface="+mn-lt"/>
                <a:ea typeface="+mn-ea"/>
                <a:cs typeface="+mn-cs"/>
              </a:rPr>
              <a:t>FIGURE 19.13</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Effect of VMAT2 inhibition on tardive dyskinesia</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Results from a Phase 3 clinical trial showed that ongoing treatment with the VMAT2 inhibitor </a:t>
            </a:r>
            <a:r>
              <a:rPr lang="en-US" sz="1200" kern="1200" dirty="0" err="1">
                <a:solidFill>
                  <a:schemeClr val="tx1"/>
                </a:solidFill>
                <a:effectLst/>
                <a:latin typeface="+mn-lt"/>
                <a:ea typeface="+mn-ea"/>
                <a:cs typeface="+mn-cs"/>
              </a:rPr>
              <a:t>valbenazine</a:t>
            </a:r>
            <a:r>
              <a:rPr lang="en-US" sz="1200" kern="1200" dirty="0">
                <a:solidFill>
                  <a:schemeClr val="tx1"/>
                </a:solidFill>
                <a:effectLst/>
                <a:latin typeface="+mn-lt"/>
                <a:ea typeface="+mn-ea"/>
                <a:cs typeface="+mn-cs"/>
              </a:rPr>
              <a:t> significantly decreased abnormal movements associated with TD, as measured by the Abnormal Involuntary Movement Scale (AIMS). This effect was dose-dependent, with the 80-mg dose showing the largest effect. (After R. A. Hauser et al. 2017. </a:t>
            </a:r>
            <a:r>
              <a:rPr lang="en-US" sz="1200" i="1" kern="1200" dirty="0">
                <a:solidFill>
                  <a:schemeClr val="tx1"/>
                </a:solidFill>
                <a:effectLst/>
                <a:latin typeface="+mn-lt"/>
                <a:ea typeface="+mn-ea"/>
                <a:cs typeface="+mn-cs"/>
              </a:rPr>
              <a:t>Am J Psychiatry</a:t>
            </a:r>
            <a:r>
              <a:rPr lang="en-US" sz="1200" kern="1200" dirty="0">
                <a:solidFill>
                  <a:schemeClr val="tx1"/>
                </a:solidFill>
                <a:effectLst/>
                <a:latin typeface="+mn-lt"/>
                <a:ea typeface="+mn-ea"/>
                <a:cs typeface="+mn-cs"/>
              </a:rPr>
              <a:t> 174: 476-484. © 2017. American Psychiatric Association. All Rights Reserved.)</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52</a:t>
            </a:fld>
            <a:endParaRPr lang="en-US"/>
          </a:p>
        </p:txBody>
      </p:sp>
    </p:spTree>
    <p:extLst>
      <p:ext uri="{BB962C8B-B14F-4D97-AF65-F5344CB8AC3E}">
        <p14:creationId xmlns:p14="http://schemas.microsoft.com/office/powerpoint/2010/main" val="32956369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53</a:t>
            </a:fld>
            <a:endParaRPr lang="en-US"/>
          </a:p>
        </p:txBody>
      </p:sp>
    </p:spTree>
    <p:extLst>
      <p:ext uri="{BB962C8B-B14F-4D97-AF65-F5344CB8AC3E}">
        <p14:creationId xmlns:p14="http://schemas.microsoft.com/office/powerpoint/2010/main" val="16386264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54</a:t>
            </a:fld>
            <a:endParaRPr lang="en-US"/>
          </a:p>
        </p:txBody>
      </p:sp>
    </p:spTree>
    <p:extLst>
      <p:ext uri="{BB962C8B-B14F-4D97-AF65-F5344CB8AC3E}">
        <p14:creationId xmlns:p14="http://schemas.microsoft.com/office/powerpoint/2010/main" val="16787808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a:p>
            <a:pPr algn="l"/>
            <a:r>
              <a:rPr lang="en-US" sz="1800" b="0" i="0" u="none" strike="noStrike" baseline="0" dirty="0">
                <a:latin typeface="PalatinoLTStd-Roman"/>
              </a:rPr>
              <a:t>Atypical drugs: </a:t>
            </a:r>
            <a:r>
              <a:rPr lang="it-IT" sz="1800" b="0" i="0" u="none" strike="noStrike" baseline="0" dirty="0">
                <a:latin typeface="PalatinoLTStd-Roman"/>
              </a:rPr>
              <a:t>include risperidone, olanzapine, quetiapine, </a:t>
            </a:r>
            <a:r>
              <a:rPr lang="en-US" sz="1800" b="0" i="0" u="none" strike="noStrike" baseline="0" dirty="0">
                <a:latin typeface="PalatinoLTStd-Roman"/>
              </a:rPr>
              <a:t>ziprasidone, </a:t>
            </a:r>
            <a:r>
              <a:rPr lang="en-US" sz="1800" b="0" i="0" u="none" strike="noStrike" baseline="0" dirty="0" err="1">
                <a:latin typeface="PalatinoLTStd-Roman"/>
              </a:rPr>
              <a:t>sertindole</a:t>
            </a:r>
            <a:endParaRPr lang="en-US" u="sng" dirty="0"/>
          </a:p>
        </p:txBody>
      </p:sp>
      <p:sp>
        <p:nvSpPr>
          <p:cNvPr id="4" name="Slide Number Placeholder 3"/>
          <p:cNvSpPr>
            <a:spLocks noGrp="1"/>
          </p:cNvSpPr>
          <p:nvPr>
            <p:ph type="sldNum" sz="quarter" idx="5"/>
          </p:nvPr>
        </p:nvSpPr>
        <p:spPr/>
        <p:txBody>
          <a:bodyPr/>
          <a:lstStyle/>
          <a:p>
            <a:fld id="{556C0744-2FEF-4441-821D-70180A370937}" type="slidenum">
              <a:rPr lang="en-US" smtClean="0"/>
              <a:t>55</a:t>
            </a:fld>
            <a:endParaRPr lang="en-US"/>
          </a:p>
        </p:txBody>
      </p:sp>
    </p:spTree>
    <p:extLst>
      <p:ext uri="{BB962C8B-B14F-4D97-AF65-F5344CB8AC3E}">
        <p14:creationId xmlns:p14="http://schemas.microsoft.com/office/powerpoint/2010/main" val="8121437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56</a:t>
            </a:fld>
            <a:endParaRPr lang="en-US"/>
          </a:p>
        </p:txBody>
      </p:sp>
    </p:spTree>
    <p:extLst>
      <p:ext uri="{BB962C8B-B14F-4D97-AF65-F5344CB8AC3E}">
        <p14:creationId xmlns:p14="http://schemas.microsoft.com/office/powerpoint/2010/main" val="6899153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57</a:t>
            </a:fld>
            <a:endParaRPr lang="en-US"/>
          </a:p>
        </p:txBody>
      </p:sp>
    </p:spTree>
    <p:extLst>
      <p:ext uri="{BB962C8B-B14F-4D97-AF65-F5344CB8AC3E}">
        <p14:creationId xmlns:p14="http://schemas.microsoft.com/office/powerpoint/2010/main" val="13927409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cap="all" dirty="0">
                <a:solidFill>
                  <a:schemeClr val="tx1"/>
                </a:solidFill>
                <a:effectLst/>
                <a:latin typeface="+mn-lt"/>
                <a:ea typeface="+mn-ea"/>
                <a:cs typeface="+mn-cs"/>
              </a:rPr>
              <a:t>FIGURE 19.15  </a:t>
            </a:r>
            <a:r>
              <a:rPr lang="en-US" sz="1200" b="1" kern="1200" dirty="0">
                <a:solidFill>
                  <a:schemeClr val="tx1"/>
                </a:solidFill>
                <a:effectLst/>
                <a:latin typeface="+mn-lt"/>
                <a:ea typeface="+mn-ea"/>
                <a:cs typeface="+mn-cs"/>
              </a:rPr>
              <a:t>Effects of PAMs on novel object recognition </a:t>
            </a:r>
            <a:br>
              <a:rPr lang="en-US" sz="1200" b="1"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discrimination index represents the animals’ ability to remember an object that was presented on day 1 and to spend more time investigating a novel object when both the old object and the new object are presented on day 2. Both bar graphs show that 20 mg/kg of ketamine dramatically reduced the cognitive function in the absence of either PAM. As PAM (PNU-120596 and CCMI) dosages increased, the ability to discriminate increased to approximately control levels. (After A. </a:t>
            </a:r>
            <a:r>
              <a:rPr lang="en-US" sz="1200" kern="1200" dirty="0" err="1">
                <a:solidFill>
                  <a:schemeClr val="tx1"/>
                </a:solidFill>
                <a:effectLst/>
                <a:latin typeface="+mn-lt"/>
                <a:ea typeface="+mn-ea"/>
                <a:cs typeface="+mn-cs"/>
              </a:rPr>
              <a:t>Nikiforuk</a:t>
            </a:r>
            <a:r>
              <a:rPr lang="en-US" sz="1200" kern="1200" dirty="0">
                <a:solidFill>
                  <a:schemeClr val="tx1"/>
                </a:solidFill>
                <a:effectLst/>
                <a:latin typeface="+mn-lt"/>
                <a:ea typeface="+mn-ea"/>
                <a:cs typeface="+mn-cs"/>
              </a:rPr>
              <a:t> et al. 2016. </a:t>
            </a:r>
            <a:r>
              <a:rPr lang="en-US" sz="1200" i="1" kern="1200" dirty="0" err="1">
                <a:solidFill>
                  <a:schemeClr val="tx1"/>
                </a:solidFill>
                <a:effectLst/>
                <a:latin typeface="+mn-lt"/>
                <a:ea typeface="+mn-ea"/>
                <a:cs typeface="+mn-cs"/>
              </a:rPr>
              <a:t>Neuropharmacol</a:t>
            </a:r>
            <a:r>
              <a:rPr lang="en-US" sz="1200"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101: 389–400.)</a:t>
            </a:r>
          </a:p>
          <a:p>
            <a:endParaRPr lang="en-US" dirty="0"/>
          </a:p>
        </p:txBody>
      </p:sp>
      <p:sp>
        <p:nvSpPr>
          <p:cNvPr id="4" name="Slide Number Placeholder 3"/>
          <p:cNvSpPr>
            <a:spLocks noGrp="1"/>
          </p:cNvSpPr>
          <p:nvPr>
            <p:ph type="sldNum" sz="quarter" idx="5"/>
          </p:nvPr>
        </p:nvSpPr>
        <p:spPr/>
        <p:txBody>
          <a:bodyPr/>
          <a:lstStyle/>
          <a:p>
            <a:fld id="{556C0744-2FEF-4441-821D-70180A370937}" type="slidenum">
              <a:rPr lang="en-US" smtClean="0"/>
              <a:t>58</a:t>
            </a:fld>
            <a:endParaRPr lang="en-US"/>
          </a:p>
        </p:txBody>
      </p:sp>
    </p:spTree>
    <p:extLst>
      <p:ext uri="{BB962C8B-B14F-4D97-AF65-F5344CB8AC3E}">
        <p14:creationId xmlns:p14="http://schemas.microsoft.com/office/powerpoint/2010/main" val="8393194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 </a:t>
            </a:r>
          </a:p>
        </p:txBody>
      </p:sp>
      <p:sp>
        <p:nvSpPr>
          <p:cNvPr id="4" name="Slide Number Placeholder 3"/>
          <p:cNvSpPr>
            <a:spLocks noGrp="1"/>
          </p:cNvSpPr>
          <p:nvPr>
            <p:ph type="sldNum" sz="quarter" idx="5"/>
          </p:nvPr>
        </p:nvSpPr>
        <p:spPr/>
        <p:txBody>
          <a:bodyPr/>
          <a:lstStyle/>
          <a:p>
            <a:fld id="{556C0744-2FEF-4441-821D-70180A370937}" type="slidenum">
              <a:rPr lang="en-US" smtClean="0"/>
              <a:t>59</a:t>
            </a:fld>
            <a:endParaRPr lang="en-US"/>
          </a:p>
        </p:txBody>
      </p:sp>
    </p:spTree>
    <p:extLst>
      <p:ext uri="{BB962C8B-B14F-4D97-AF65-F5344CB8AC3E}">
        <p14:creationId xmlns:p14="http://schemas.microsoft.com/office/powerpoint/2010/main" val="28654071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dirty="0"/>
              <a:t>Instructor Notes:</a:t>
            </a:r>
          </a:p>
          <a:p>
            <a:r>
              <a:rPr lang="en-US" dirty="0"/>
              <a:t>Correct answer: c</a:t>
            </a:r>
          </a:p>
        </p:txBody>
      </p:sp>
      <p:sp>
        <p:nvSpPr>
          <p:cNvPr id="4" name="Slide Number Placeholder 3"/>
          <p:cNvSpPr>
            <a:spLocks noGrp="1"/>
          </p:cNvSpPr>
          <p:nvPr>
            <p:ph type="sldNum" sz="quarter" idx="5"/>
          </p:nvPr>
        </p:nvSpPr>
        <p:spPr/>
        <p:txBody>
          <a:bodyPr/>
          <a:lstStyle/>
          <a:p>
            <a:fld id="{556C0744-2FEF-4441-821D-70180A370937}" type="slidenum">
              <a:rPr lang="en-US" smtClean="0"/>
              <a:t>60</a:t>
            </a:fld>
            <a:endParaRPr lang="en-US"/>
          </a:p>
        </p:txBody>
      </p:sp>
    </p:spTree>
    <p:extLst>
      <p:ext uri="{BB962C8B-B14F-4D97-AF65-F5344CB8AC3E}">
        <p14:creationId xmlns:p14="http://schemas.microsoft.com/office/powerpoint/2010/main" val="7925292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Title Placeholder 1"/>
          <p:cNvSpPr>
            <a:spLocks noGrp="1"/>
          </p:cNvSpPr>
          <p:nvPr>
            <p:ph type="title" hasCustomPrompt="1"/>
          </p:nvPr>
        </p:nvSpPr>
        <p:spPr>
          <a:xfrm>
            <a:off x="450575" y="586409"/>
            <a:ext cx="11317356" cy="566530"/>
          </a:xfrm>
          <a:prstGeom prst="rect">
            <a:avLst/>
          </a:prstGeom>
        </p:spPr>
        <p:txBody>
          <a:bodyPr vert="horz" lIns="91440" tIns="45720" rIns="91440" bIns="45720" rtlCol="0" anchor="t">
            <a:normAutofit/>
          </a:bodyPr>
          <a:lstStyle>
            <a:lvl1pPr algn="ctr">
              <a:defRPr sz="3600" b="1" i="1"/>
            </a:lvl1pPr>
          </a:lstStyle>
          <a:p>
            <a:r>
              <a:rPr lang="en-US" dirty="0"/>
              <a:t>Title</a:t>
            </a:r>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a:lstStyle/>
          <a:p>
            <a:r>
              <a:rPr lang="en-US"/>
              <a:t>Click icon to add picture</a:t>
            </a:r>
            <a:endParaRPr lang="en-US" dirty="0"/>
          </a:p>
        </p:txBody>
      </p:sp>
      <p:pic>
        <p:nvPicPr>
          <p:cNvPr id="5" name="Picture 4" descr="Oxford University Press logo">
            <a:extLst>
              <a:ext uri="{FF2B5EF4-FFF2-40B4-BE49-F238E27FC236}">
                <a16:creationId xmlns:a16="http://schemas.microsoft.com/office/drawing/2014/main" id="{8590439F-3AAE-4FE6-B28E-69B3789AD63F}"/>
              </a:ext>
            </a:extLst>
          </p:cNvPr>
          <p:cNvPicPr>
            <a:picLocks noChangeAspect="1"/>
          </p:cNvPicPr>
          <p:nvPr userDrawn="1"/>
        </p:nvPicPr>
        <p:blipFill>
          <a:blip r:embed="rId2"/>
          <a:stretch>
            <a:fillRect/>
          </a:stretch>
        </p:blipFill>
        <p:spPr>
          <a:xfrm>
            <a:off x="0" y="5976152"/>
            <a:ext cx="2505812" cy="881848"/>
          </a:xfrm>
          <a:prstGeom prst="rect">
            <a:avLst/>
          </a:prstGeom>
        </p:spPr>
      </p:pic>
    </p:spTree>
    <p:extLst>
      <p:ext uri="{BB962C8B-B14F-4D97-AF65-F5344CB8AC3E}">
        <p14:creationId xmlns:p14="http://schemas.microsoft.com/office/powerpoint/2010/main" val="1804650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571500" indent="-342900" algn="l" defTabSz="914400" rtl="0" eaLnBrk="1" latinLnBrk="0" hangingPunct="1">
              <a:spcBef>
                <a:spcPts val="1800"/>
              </a:spcBef>
              <a:buFont typeface="Arial" pitchFamily="34" charset="0"/>
              <a:buChar char="•"/>
              <a:defRPr lang="en-US" sz="2800" kern="1200" baseline="0" dirty="0">
                <a:solidFill>
                  <a:schemeClr val="tx1"/>
                </a:solidFill>
                <a:latin typeface="+mn-lt"/>
                <a:ea typeface="+mn-ea"/>
                <a:cs typeface="+mn-cs"/>
              </a:defRPr>
            </a:lvl1pPr>
            <a:lvl2pPr marL="1263650" indent="-349250" algn="l" defTabSz="914400" rtl="0" eaLnBrk="1" latinLnBrk="0" hangingPunct="1">
              <a:spcBef>
                <a:spcPts val="1800"/>
              </a:spcBef>
              <a:buFont typeface="Courier New" panose="02070309020205020404" pitchFamily="49" charset="0"/>
              <a:buChar char="o"/>
              <a:defRPr lang="en-US" sz="2800" kern="1200" baseline="0" dirty="0">
                <a:solidFill>
                  <a:schemeClr val="tx1"/>
                </a:solidFill>
                <a:latin typeface="+mn-lt"/>
                <a:ea typeface="+mn-ea"/>
                <a:cs typeface="+mn-cs"/>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88875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384048"/>
          </a:xfrm>
        </p:spPr>
        <p:txBody>
          <a:bodyPr/>
          <a:lstStyle>
            <a:lvl1pPr>
              <a:defRPr sz="1800"/>
            </a:lvl1pPr>
          </a:lstStyle>
          <a:p>
            <a:r>
              <a:rPr lang="en-US" dirty="0"/>
              <a:t>Click to edit Master title style</a:t>
            </a:r>
          </a:p>
        </p:txBody>
      </p:sp>
      <p:sp>
        <p:nvSpPr>
          <p:cNvPr id="5" name="Content Placeholder 4">
            <a:extLst>
              <a:ext uri="{FF2B5EF4-FFF2-40B4-BE49-F238E27FC236}">
                <a16:creationId xmlns:a16="http://schemas.microsoft.com/office/drawing/2014/main" id="{C12606DF-F2AC-0D4C-A2DC-B85399E449B6}"/>
              </a:ext>
            </a:extLst>
          </p:cNvPr>
          <p:cNvSpPr>
            <a:spLocks noGrp="1"/>
          </p:cNvSpPr>
          <p:nvPr>
            <p:ph sz="quarter" idx="10"/>
          </p:nvPr>
        </p:nvSpPr>
        <p:spPr>
          <a:xfrm>
            <a:off x="408432" y="479776"/>
            <a:ext cx="11375136" cy="6300216"/>
          </a:xfrm>
          <a:prstGeom prst="rect">
            <a:avLst/>
          </a:prstGeo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28342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ti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0E61D60-431D-4A54-BAD5-CA1C8D6D754C}"/>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822" y="2792"/>
            <a:ext cx="12191178" cy="6858137"/>
          </a:xfrm>
          <a:prstGeom prst="rect">
            <a:avLst/>
          </a:prstGeom>
        </p:spPr>
      </p:pic>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857781"/>
            <a:ext cx="10972800" cy="4525963"/>
          </a:xfrm>
          <a:prstGeom prst="rect">
            <a:avLst/>
          </a:prstGeom>
        </p:spPr>
        <p:txBody>
          <a:bodyPr vert="horz" lIns="91440" tIns="45720" rIns="91440" bIns="45720" rtlCol="0">
            <a:normAutofit/>
          </a:bodyPr>
          <a:lstStyle/>
          <a:p>
            <a:pPr lvl="0"/>
            <a:r>
              <a:rPr lang="en-US" dirty="0"/>
              <a:t>Click to edit Master text styles</a:t>
            </a:r>
          </a:p>
          <a:p>
            <a:pPr lvl="0"/>
            <a:r>
              <a:rPr lang="en-US" dirty="0"/>
              <a:t>Click to edit Master text styles</a:t>
            </a:r>
          </a:p>
        </p:txBody>
      </p:sp>
      <p:sp>
        <p:nvSpPr>
          <p:cNvPr id="9" name="TextBox 8"/>
          <p:cNvSpPr txBox="1">
            <a:spLocks noChangeArrowheads="1"/>
          </p:cNvSpPr>
          <p:nvPr userDrawn="1"/>
        </p:nvSpPr>
        <p:spPr bwMode="auto">
          <a:xfrm>
            <a:off x="10363435" y="6605739"/>
            <a:ext cx="1827743" cy="246221"/>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hangingPunct="1">
              <a:defRPr/>
            </a:pPr>
            <a:r>
              <a:rPr lang="en-US" altLang="en-US" sz="1000" b="0" dirty="0">
                <a:solidFill>
                  <a:schemeClr val="tx1"/>
                </a:solidFill>
                <a:latin typeface="+mj-lt"/>
                <a:cs typeface="Arial" panose="020B0604020202020204" pitchFamily="34" charset="0"/>
              </a:rPr>
              <a:t>© 2023 Oxford University Press</a:t>
            </a:r>
          </a:p>
        </p:txBody>
      </p:sp>
    </p:spTree>
    <p:extLst>
      <p:ext uri="{BB962C8B-B14F-4D97-AF65-F5344CB8AC3E}">
        <p14:creationId xmlns:p14="http://schemas.microsoft.com/office/powerpoint/2010/main" val="839490661"/>
      </p:ext>
    </p:extLst>
  </p:cSld>
  <p:clrMap bg1="lt1" tx1="dk1" bg2="lt2" tx2="dk2" accent1="accent1" accent2="accent2" accent3="accent3" accent4="accent4" accent5="accent5" accent6="accent6" hlink="hlink" folHlink="folHlink"/>
  <p:sldLayoutIdLst>
    <p:sldLayoutId id="2147483673" r:id="rId1"/>
    <p:sldLayoutId id="2147483652" r:id="rId2"/>
  </p:sldLayoutIdLst>
  <p:txStyles>
    <p:titleStyle>
      <a:lvl1pPr algn="ctr" defTabSz="914400" rtl="0" eaLnBrk="1" latinLnBrk="0" hangingPunct="1">
        <a:spcBef>
          <a:spcPct val="0"/>
        </a:spcBef>
        <a:buNone/>
        <a:defRPr sz="3600" kern="1200">
          <a:solidFill>
            <a:schemeClr val="tx2"/>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2192000" cy="369332"/>
          </a:xfrm>
          <a:prstGeom prst="rect">
            <a:avLst/>
          </a:prstGeom>
          <a:solidFill>
            <a:srgbClr val="001A47"/>
          </a:solidFill>
        </p:spPr>
        <p:txBody>
          <a:bodyPr vert="horz" lIns="91440" tIns="45720" rIns="91440" bIns="45720" rtlCol="0" anchor="t" anchorCtr="0">
            <a:noAutofit/>
          </a:bodyPr>
          <a:lstStyle/>
          <a:p>
            <a:r>
              <a:rPr lang="en-US" dirty="0"/>
              <a:t>Click to edit Master title style</a:t>
            </a:r>
          </a:p>
        </p:txBody>
      </p:sp>
      <p:sp>
        <p:nvSpPr>
          <p:cNvPr id="4" name="Text Placeholder 3">
            <a:extLst>
              <a:ext uri="{FF2B5EF4-FFF2-40B4-BE49-F238E27FC236}">
                <a16:creationId xmlns:a16="http://schemas.microsoft.com/office/drawing/2014/main" id="{98CCD7AE-E6DE-4592-894F-F3E075B9E6C8}"/>
              </a:ext>
            </a:extLst>
          </p:cNvPr>
          <p:cNvSpPr>
            <a:spLocks noGrp="1"/>
          </p:cNvSpPr>
          <p:nvPr>
            <p:ph type="body" idx="1"/>
          </p:nvPr>
        </p:nvSpPr>
        <p:spPr>
          <a:xfrm>
            <a:off x="838200" y="952107"/>
            <a:ext cx="10515600" cy="52248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9565259"/>
      </p:ext>
    </p:extLst>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spcBef>
          <a:spcPct val="0"/>
        </a:spcBef>
        <a:buNone/>
        <a:defRPr sz="18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baseline="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Psychopharmacology: Drugs, the Brain, and </a:t>
            </a:r>
            <a:r>
              <a:rPr lang="en-GB" dirty="0" err="1"/>
              <a:t>Behavior</a:t>
            </a:r>
            <a:endParaRPr lang="en-US" b="1" i="0" dirty="0"/>
          </a:p>
        </p:txBody>
      </p:sp>
      <p:sp>
        <p:nvSpPr>
          <p:cNvPr id="4" name="Text Placeholder 3"/>
          <p:cNvSpPr>
            <a:spLocks noGrp="1"/>
          </p:cNvSpPr>
          <p:nvPr>
            <p:ph type="body" sz="quarter" idx="11"/>
          </p:nvPr>
        </p:nvSpPr>
        <p:spPr/>
        <p:txBody>
          <a:bodyPr/>
          <a:lstStyle/>
          <a:p>
            <a:r>
              <a:rPr lang="en-US"/>
              <a:t>by Meyer, Farrar, Biezonski, Yates</a:t>
            </a:r>
            <a:endParaRPr lang="en-US" dirty="0"/>
          </a:p>
        </p:txBody>
      </p:sp>
      <p:pic>
        <p:nvPicPr>
          <p:cNvPr id="8" name="Picture Placeholder 7" descr="Cover image for Psychopharmacology, Fourth Edition.">
            <a:extLst>
              <a:ext uri="{FF2B5EF4-FFF2-40B4-BE49-F238E27FC236}">
                <a16:creationId xmlns:a16="http://schemas.microsoft.com/office/drawing/2014/main" id="{3C56F26D-84E7-4578-9ED6-ACB6F71FF233}"/>
              </a:ext>
            </a:extLst>
          </p:cNvPr>
          <p:cNvPicPr>
            <a:picLocks noGrp="1" noChangeAspect="1"/>
          </p:cNvPicPr>
          <p:nvPr>
            <p:ph type="pic" sz="quarter" idx="10"/>
          </p:nvPr>
        </p:nvPicPr>
        <p:blipFill>
          <a:blip r:embed="rId3"/>
          <a:stretch>
            <a:fillRect/>
          </a:stretch>
        </p:blipFill>
        <p:spPr>
          <a:xfrm>
            <a:off x="4267824" y="1818587"/>
            <a:ext cx="3656351" cy="4413095"/>
          </a:xfrm>
          <a:prstGeom prst="rect">
            <a:avLst/>
          </a:prstGeom>
        </p:spPr>
      </p:pic>
    </p:spTree>
    <p:extLst>
      <p:ext uri="{BB962C8B-B14F-4D97-AF65-F5344CB8AC3E}">
        <p14:creationId xmlns:p14="http://schemas.microsoft.com/office/powerpoint/2010/main" val="734634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19</a:t>
            </a:r>
            <a:br>
              <a:rPr lang="en-US" dirty="0"/>
            </a:br>
            <a:r>
              <a:rPr lang="en-US" sz="4000" i="1" dirty="0"/>
              <a:t>Schizophrenia: Antipsychotic Drugs</a:t>
            </a:r>
            <a:endParaRPr lang="en-US" i="1" dirty="0"/>
          </a:p>
        </p:txBody>
      </p:sp>
      <p:sp>
        <p:nvSpPr>
          <p:cNvPr id="3" name="Text Placeholder 2"/>
          <p:cNvSpPr>
            <a:spLocks noGrp="1"/>
          </p:cNvSpPr>
          <p:nvPr>
            <p:ph idx="1"/>
          </p:nvPr>
        </p:nvSpPr>
        <p:spPr/>
        <p:txBody>
          <a:bodyPr/>
          <a:lstStyle/>
          <a:p>
            <a:pPr marL="914400" indent="-914400">
              <a:spcBef>
                <a:spcPts val="2400"/>
              </a:spcBef>
              <a:buNone/>
            </a:pPr>
            <a:r>
              <a:rPr lang="en-US" dirty="0"/>
              <a:t>19.1  Characteristics of Schizophrenia</a:t>
            </a:r>
          </a:p>
          <a:p>
            <a:pPr marL="914400" indent="-914400">
              <a:spcBef>
                <a:spcPts val="2400"/>
              </a:spcBef>
              <a:buNone/>
            </a:pPr>
            <a:r>
              <a:rPr lang="en-US" dirty="0"/>
              <a:t>19.2  Etiology of Schizophrenia</a:t>
            </a:r>
          </a:p>
          <a:p>
            <a:pPr marL="914400" indent="-914400">
              <a:spcBef>
                <a:spcPts val="2400"/>
              </a:spcBef>
              <a:buNone/>
            </a:pPr>
            <a:r>
              <a:rPr lang="en-US" dirty="0"/>
              <a:t>19.3  Neurochemical Models of Schizophrenia</a:t>
            </a:r>
          </a:p>
          <a:p>
            <a:pPr marL="914400" indent="-914400">
              <a:spcBef>
                <a:spcPts val="2400"/>
              </a:spcBef>
              <a:buNone/>
            </a:pPr>
            <a:r>
              <a:rPr lang="en-US" dirty="0"/>
              <a:t>19.4  Classic Neuroleptics and Atypical Antipsychotics</a:t>
            </a:r>
          </a:p>
        </p:txBody>
      </p:sp>
    </p:spTree>
    <p:extLst>
      <p:ext uri="{BB962C8B-B14F-4D97-AF65-F5344CB8AC3E}">
        <p14:creationId xmlns:p14="http://schemas.microsoft.com/office/powerpoint/2010/main" val="729111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Chapter 19</a:t>
            </a:r>
            <a:br>
              <a:rPr lang="en-US" dirty="0"/>
            </a:br>
            <a:r>
              <a:rPr lang="en-US" sz="4000" dirty="0"/>
              <a:t>Learning Objectives </a:t>
            </a:r>
            <a:r>
              <a:rPr lang="en-US" sz="1300" dirty="0"/>
              <a:t>(1 of 4)</a:t>
            </a:r>
          </a:p>
        </p:txBody>
      </p:sp>
      <p:sp>
        <p:nvSpPr>
          <p:cNvPr id="3" name="Text Placeholder 2"/>
          <p:cNvSpPr>
            <a:spLocks noGrp="1"/>
          </p:cNvSpPr>
          <p:nvPr>
            <p:ph idx="1"/>
          </p:nvPr>
        </p:nvSpPr>
        <p:spPr/>
        <p:txBody>
          <a:bodyPr>
            <a:normAutofit/>
          </a:bodyPr>
          <a:lstStyle/>
          <a:p>
            <a:pPr marL="1143000" indent="-1143000">
              <a:lnSpc>
                <a:spcPct val="110000"/>
              </a:lnSpc>
              <a:spcBef>
                <a:spcPts val="1800"/>
              </a:spcBef>
              <a:buNone/>
            </a:pPr>
            <a:r>
              <a:rPr lang="en-US" sz="2600" dirty="0"/>
              <a:t>19.1.1  Describe the impacts of schizophrenia in terms of lifetime incidence and societal cost.</a:t>
            </a:r>
          </a:p>
          <a:p>
            <a:pPr marL="1143000" indent="-1143000">
              <a:lnSpc>
                <a:spcPct val="110000"/>
              </a:lnSpc>
              <a:spcBef>
                <a:spcPts val="1800"/>
              </a:spcBef>
              <a:buNone/>
            </a:pPr>
            <a:r>
              <a:rPr lang="en-US" sz="2600" dirty="0"/>
              <a:t>19.1.2  Describe how the symptoms of schizophrenia are framed in terms of positive, negative, and cognitive domains.</a:t>
            </a:r>
          </a:p>
        </p:txBody>
      </p:sp>
    </p:spTree>
    <p:extLst>
      <p:ext uri="{BB962C8B-B14F-4D97-AF65-F5344CB8AC3E}">
        <p14:creationId xmlns:p14="http://schemas.microsoft.com/office/powerpoint/2010/main" val="1447128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19</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(2 of 4)</a:t>
            </a:r>
            <a:endParaRPr lang="en-US" dirty="0"/>
          </a:p>
        </p:txBody>
      </p:sp>
      <p:sp>
        <p:nvSpPr>
          <p:cNvPr id="3" name="Text Placeholder 2"/>
          <p:cNvSpPr>
            <a:spLocks noGrp="1"/>
          </p:cNvSpPr>
          <p:nvPr>
            <p:ph idx="1"/>
          </p:nvPr>
        </p:nvSpPr>
        <p:spPr/>
        <p:txBody>
          <a:bodyPr>
            <a:normAutofit fontScale="92500" lnSpcReduction="20000"/>
          </a:bodyPr>
          <a:lstStyle/>
          <a:p>
            <a:pPr marL="1143000" indent="-1143000">
              <a:lnSpc>
                <a:spcPct val="120000"/>
              </a:lnSpc>
              <a:spcBef>
                <a:spcPts val="1800"/>
              </a:spcBef>
              <a:buNone/>
            </a:pPr>
            <a:r>
              <a:rPr lang="en-US" sz="2800" dirty="0"/>
              <a:t>19.2.1  Explain how irregularities in brain structure and function, coupled with neuroinflammation, combine to suggest altered developmental processes in schizophrenia.</a:t>
            </a:r>
          </a:p>
          <a:p>
            <a:pPr marL="1143000" indent="-1143000">
              <a:lnSpc>
                <a:spcPct val="120000"/>
              </a:lnSpc>
              <a:spcBef>
                <a:spcPts val="1800"/>
              </a:spcBef>
              <a:buNone/>
            </a:pPr>
            <a:r>
              <a:rPr lang="en-US" sz="2800" dirty="0"/>
              <a:t>19.2.2  Describe the role of genetics in the etiology of schizophrenia.</a:t>
            </a:r>
          </a:p>
          <a:p>
            <a:pPr marL="1143000" indent="-1143000">
              <a:lnSpc>
                <a:spcPct val="120000"/>
              </a:lnSpc>
              <a:spcBef>
                <a:spcPts val="1800"/>
              </a:spcBef>
              <a:buNone/>
            </a:pPr>
            <a:r>
              <a:rPr lang="en-US" sz="2800" dirty="0"/>
              <a:t>19.2.3  Explain how genetic risk may combine with perinatal complications to contribute to elevated risk of schizophrenia.</a:t>
            </a:r>
          </a:p>
          <a:p>
            <a:pPr marL="1143000" indent="-1143000">
              <a:lnSpc>
                <a:spcPct val="120000"/>
              </a:lnSpc>
              <a:spcBef>
                <a:spcPts val="1800"/>
              </a:spcBef>
              <a:buNone/>
            </a:pPr>
            <a:r>
              <a:rPr lang="en-US" sz="2800" dirty="0"/>
              <a:t>19.2.4  Describe the main categories of preclinical animal models for schizophrenia, including drug-induced, prenatal inflammation, and genetic models.</a:t>
            </a:r>
          </a:p>
        </p:txBody>
      </p:sp>
    </p:spTree>
    <p:extLst>
      <p:ext uri="{BB962C8B-B14F-4D97-AF65-F5344CB8AC3E}">
        <p14:creationId xmlns:p14="http://schemas.microsoft.com/office/powerpoint/2010/main" val="1532748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19</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(3 of 4)</a:t>
            </a:r>
            <a:endParaRPr lang="en-US" dirty="0"/>
          </a:p>
        </p:txBody>
      </p:sp>
      <p:sp>
        <p:nvSpPr>
          <p:cNvPr id="3" name="Text Placeholder 2"/>
          <p:cNvSpPr>
            <a:spLocks noGrp="1"/>
          </p:cNvSpPr>
          <p:nvPr>
            <p:ph idx="1"/>
          </p:nvPr>
        </p:nvSpPr>
        <p:spPr/>
        <p:txBody>
          <a:bodyPr>
            <a:normAutofit fontScale="85000" lnSpcReduction="20000"/>
          </a:bodyPr>
          <a:lstStyle/>
          <a:p>
            <a:pPr marL="1143000" indent="-1143000">
              <a:lnSpc>
                <a:spcPct val="120000"/>
              </a:lnSpc>
              <a:spcBef>
                <a:spcPts val="1800"/>
              </a:spcBef>
              <a:buNone/>
            </a:pPr>
            <a:r>
              <a:rPr lang="en-US" sz="3000" dirty="0"/>
              <a:t>19.3.1  Describe the evidence in support of the dopamine hypothesis of schizophrenia.</a:t>
            </a:r>
          </a:p>
          <a:p>
            <a:pPr marL="1143000" indent="-1143000">
              <a:lnSpc>
                <a:spcPct val="120000"/>
              </a:lnSpc>
              <a:spcBef>
                <a:spcPts val="1800"/>
              </a:spcBef>
              <a:buNone/>
            </a:pPr>
            <a:r>
              <a:rPr lang="en-US" sz="3000" dirty="0"/>
              <a:t>19.3.2  Explain the respective roles of abnormal mesolimbic and </a:t>
            </a:r>
            <a:r>
              <a:rPr lang="en-US" sz="3000" dirty="0" err="1"/>
              <a:t>mesocortical</a:t>
            </a:r>
            <a:r>
              <a:rPr lang="en-US" sz="3000" dirty="0"/>
              <a:t> dopamine neurotransmission in the positive and negative symptoms of schizophrenia.</a:t>
            </a:r>
          </a:p>
          <a:p>
            <a:pPr marL="1143000" indent="-1143000">
              <a:lnSpc>
                <a:spcPct val="120000"/>
              </a:lnSpc>
              <a:spcBef>
                <a:spcPts val="1800"/>
              </a:spcBef>
              <a:buNone/>
            </a:pPr>
            <a:r>
              <a:rPr lang="en-US" sz="3000" dirty="0"/>
              <a:t>19.3.3  Describe the evidence in support of the role for altered glutamate neurotransmission in schizophrenia.</a:t>
            </a:r>
          </a:p>
          <a:p>
            <a:pPr marL="1143000" indent="-1143000">
              <a:lnSpc>
                <a:spcPct val="120000"/>
              </a:lnSpc>
              <a:spcBef>
                <a:spcPts val="1800"/>
              </a:spcBef>
              <a:buNone/>
            </a:pPr>
            <a:r>
              <a:rPr lang="en-US" sz="3000" dirty="0"/>
              <a:t>19.3.4  Explain how glutamate and dopamine systems are thought to interact, thereby producing the symptoms of schizophrenia</a:t>
            </a:r>
            <a:r>
              <a:rPr lang="en-US" sz="3100" dirty="0"/>
              <a:t>.</a:t>
            </a:r>
          </a:p>
        </p:txBody>
      </p:sp>
    </p:spTree>
    <p:extLst>
      <p:ext uri="{BB962C8B-B14F-4D97-AF65-F5344CB8AC3E}">
        <p14:creationId xmlns:p14="http://schemas.microsoft.com/office/powerpoint/2010/main" val="1619922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kumimoji="0" lang="en-US" sz="3600" b="0" i="0" u="none" strike="noStrike" kern="1200" cap="none" spc="0" normalizeH="0" baseline="0" noProof="0" dirty="0">
                <a:ln>
                  <a:noFill/>
                </a:ln>
                <a:solidFill>
                  <a:srgbClr val="1F497D"/>
                </a:solidFill>
                <a:effectLst/>
                <a:uLnTx/>
                <a:uFillTx/>
                <a:latin typeface="Calibri"/>
                <a:ea typeface="+mj-ea"/>
                <a:cs typeface="+mj-cs"/>
              </a:rPr>
              <a:t>Chapter 19</a:t>
            </a:r>
            <a:br>
              <a:rPr kumimoji="0" lang="en-US" sz="3600" b="0" i="0" u="none" strike="noStrike" kern="1200" cap="none" spc="0" normalizeH="0" baseline="0" noProof="0" dirty="0">
                <a:ln>
                  <a:noFill/>
                </a:ln>
                <a:solidFill>
                  <a:srgbClr val="1F497D"/>
                </a:solidFill>
                <a:effectLst/>
                <a:uLnTx/>
                <a:uFillTx/>
                <a:latin typeface="Calibri"/>
                <a:ea typeface="+mj-ea"/>
                <a:cs typeface="+mj-cs"/>
              </a:rPr>
            </a:br>
            <a:r>
              <a:rPr kumimoji="0" lang="en-US" sz="4000" b="0" i="0" u="none" strike="noStrike" kern="1200" cap="none" spc="0" normalizeH="0" baseline="0" noProof="0" dirty="0">
                <a:ln>
                  <a:noFill/>
                </a:ln>
                <a:solidFill>
                  <a:srgbClr val="1F497D"/>
                </a:solidFill>
                <a:effectLst/>
                <a:uLnTx/>
                <a:uFillTx/>
                <a:latin typeface="Calibri"/>
                <a:ea typeface="+mj-ea"/>
                <a:cs typeface="+mj-cs"/>
              </a:rPr>
              <a:t>Learning Objectives </a:t>
            </a:r>
            <a:r>
              <a:rPr kumimoji="0" lang="en-US" sz="1300" b="0" i="0" u="none" strike="noStrike" kern="1200" cap="none" spc="0" normalizeH="0" baseline="0" noProof="0" dirty="0">
                <a:ln>
                  <a:noFill/>
                </a:ln>
                <a:solidFill>
                  <a:srgbClr val="1F497D"/>
                </a:solidFill>
                <a:effectLst/>
                <a:uLnTx/>
                <a:uFillTx/>
                <a:latin typeface="Calibri"/>
                <a:ea typeface="+mj-ea"/>
                <a:cs typeface="+mj-cs"/>
              </a:rPr>
              <a:t>(4 of 4)</a:t>
            </a:r>
            <a:endParaRPr lang="en-US" dirty="0"/>
          </a:p>
        </p:txBody>
      </p:sp>
      <p:sp>
        <p:nvSpPr>
          <p:cNvPr id="3" name="Text Placeholder 2"/>
          <p:cNvSpPr>
            <a:spLocks noGrp="1"/>
          </p:cNvSpPr>
          <p:nvPr>
            <p:ph idx="1"/>
          </p:nvPr>
        </p:nvSpPr>
        <p:spPr/>
        <p:txBody>
          <a:bodyPr>
            <a:normAutofit fontScale="92500" lnSpcReduction="20000"/>
          </a:bodyPr>
          <a:lstStyle/>
          <a:p>
            <a:pPr marL="1143000" indent="-1143000">
              <a:lnSpc>
                <a:spcPct val="120000"/>
              </a:lnSpc>
              <a:spcBef>
                <a:spcPts val="1800"/>
              </a:spcBef>
              <a:buNone/>
            </a:pPr>
            <a:r>
              <a:rPr lang="en-US" sz="2800" dirty="0"/>
              <a:t>19.4.1  Identify the common neural mechanism that likely accounts for the clinical efficacy of antipsychotics in reducing the positive symptoms of schizophrenia.</a:t>
            </a:r>
          </a:p>
          <a:p>
            <a:pPr marL="1143000" indent="-1143000">
              <a:lnSpc>
                <a:spcPct val="120000"/>
              </a:lnSpc>
              <a:spcBef>
                <a:spcPts val="1800"/>
              </a:spcBef>
              <a:buNone/>
            </a:pPr>
            <a:r>
              <a:rPr lang="en-US" sz="2800" dirty="0"/>
              <a:t>19.4.2  Describe the neural basis for the motor (parkinsonism, tardive dyskinesia) and neuroendocrine side effects of most antipsychotic drugs.</a:t>
            </a:r>
          </a:p>
          <a:p>
            <a:pPr marL="1143000" indent="-1143000">
              <a:lnSpc>
                <a:spcPct val="120000"/>
              </a:lnSpc>
              <a:spcBef>
                <a:spcPts val="1800"/>
              </a:spcBef>
              <a:buNone/>
            </a:pPr>
            <a:r>
              <a:rPr lang="en-US" sz="2800" dirty="0"/>
              <a:t>19.4.3  Explain how first- and second-generation antipsychotics differ in terms of mechanism of action, therapeutic efficacy, and side effects.</a:t>
            </a:r>
          </a:p>
          <a:p>
            <a:pPr marL="1143000" indent="-1143000">
              <a:lnSpc>
                <a:spcPct val="120000"/>
              </a:lnSpc>
              <a:spcBef>
                <a:spcPts val="1800"/>
              </a:spcBef>
              <a:buNone/>
            </a:pPr>
            <a:r>
              <a:rPr lang="en-US" sz="2800" dirty="0"/>
              <a:t>19.4.4  Identify dopaminergic and non-dopaminergic strategies for treating the cognitive symptoms of schizophrenia.</a:t>
            </a:r>
          </a:p>
        </p:txBody>
      </p:sp>
    </p:spTree>
    <p:extLst>
      <p:ext uri="{BB962C8B-B14F-4D97-AF65-F5344CB8AC3E}">
        <p14:creationId xmlns:p14="http://schemas.microsoft.com/office/powerpoint/2010/main" val="709414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Schizophrenia </a:t>
            </a:r>
            <a:r>
              <a:rPr lang="en-US" sz="1200" dirty="0"/>
              <a:t>(1 of 4)</a:t>
            </a:r>
            <a:endParaRPr lang="en-US" dirty="0"/>
          </a:p>
        </p:txBody>
      </p:sp>
      <p:sp>
        <p:nvSpPr>
          <p:cNvPr id="3" name="Text Placeholder 2"/>
          <p:cNvSpPr>
            <a:spLocks noGrp="1"/>
          </p:cNvSpPr>
          <p:nvPr>
            <p:ph idx="1"/>
          </p:nvPr>
        </p:nvSpPr>
        <p:spPr>
          <a:xfrm>
            <a:off x="609600" y="1823055"/>
            <a:ext cx="10972800" cy="4525963"/>
          </a:xfrm>
        </p:spPr>
        <p:txBody>
          <a:bodyPr>
            <a:normAutofit/>
          </a:bodyPr>
          <a:lstStyle/>
          <a:p>
            <a:pPr>
              <a:spcBef>
                <a:spcPts val="1800"/>
              </a:spcBef>
            </a:pPr>
            <a:r>
              <a:rPr lang="en-US" dirty="0"/>
              <a:t>Schizophrenia is a chronic psychosis; a form of the psychiatric diseases known as schizophrenia spectrum and other psychotic disorders</a:t>
            </a:r>
          </a:p>
          <a:p>
            <a:pPr>
              <a:spcBef>
                <a:spcPts val="1800"/>
              </a:spcBef>
            </a:pPr>
            <a:r>
              <a:rPr lang="en-US" dirty="0"/>
              <a:t>Individuals demonstrate many different symptoms</a:t>
            </a:r>
          </a:p>
          <a:p>
            <a:pPr>
              <a:spcBef>
                <a:spcPts val="1800"/>
              </a:spcBef>
            </a:pPr>
            <a:r>
              <a:rPr lang="en-US" dirty="0"/>
              <a:t>At this time, it can not be cured or prevented</a:t>
            </a:r>
          </a:p>
          <a:p>
            <a:pPr>
              <a:spcBef>
                <a:spcPts val="1800"/>
              </a:spcBef>
            </a:pPr>
            <a:r>
              <a:rPr lang="en-US" dirty="0"/>
              <a:t>Symptoms most often begin during the late teenage years and early twenties</a:t>
            </a:r>
          </a:p>
        </p:txBody>
      </p:sp>
    </p:spTree>
    <p:extLst>
      <p:ext uri="{BB962C8B-B14F-4D97-AF65-F5344CB8AC3E}">
        <p14:creationId xmlns:p14="http://schemas.microsoft.com/office/powerpoint/2010/main" val="2666009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C25FD-DD15-7B4C-A8FC-0256E6A89F3F}"/>
              </a:ext>
            </a:extLst>
          </p:cNvPr>
          <p:cNvSpPr>
            <a:spLocks noGrp="1"/>
          </p:cNvSpPr>
          <p:nvPr>
            <p:ph type="title"/>
          </p:nvPr>
        </p:nvSpPr>
        <p:spPr/>
        <p:txBody>
          <a:bodyPr/>
          <a:lstStyle/>
          <a:p>
            <a:r>
              <a:rPr lang="en-US" cap="all" dirty="0"/>
              <a:t>FIGURE 19.1</a:t>
            </a:r>
            <a:r>
              <a:rPr lang="en-US" dirty="0"/>
              <a:t>  Sex differences in age at onset of schizophrenia </a:t>
            </a:r>
          </a:p>
        </p:txBody>
      </p:sp>
      <p:pic>
        <p:nvPicPr>
          <p:cNvPr id="6" name="Content Placeholder 5" descr=" A bar graph displays the sex difference in age at onset of schizophrenia. The horizontal axis is labeled as age at initial schizophrenia spectrum disorder diagnosis. The vertical axis is labeled as the annual percentage diagnosed with schizophrenia Spectrum disorder. Approximate data from the graph presented in the format, Age at initial Schizophrenia Spectrum Disorder diagnosis: Annual percentage diagnosed men, annual percentage diagnosed women, are as follows. 15: 0.7, 1.3. 20: 3.3, 2.7. 25: 4.1, 2.7. 30: 3, 2.3. 35: 2.4, 2.3. 40: 1.7, 2.4. 45: 1.48, 2.3. 50: 1.49, 1.9. 55: 1.3, 1.7. 60: 0.7, 1.2. 65: 0.7, 1.3."/>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754628"/>
            <a:ext cx="11376025" cy="5750381"/>
          </a:xfrm>
        </p:spPr>
      </p:pic>
    </p:spTree>
    <p:extLst>
      <p:ext uri="{BB962C8B-B14F-4D97-AF65-F5344CB8AC3E}">
        <p14:creationId xmlns:p14="http://schemas.microsoft.com/office/powerpoint/2010/main" val="21349565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Schizophrenia </a:t>
            </a:r>
            <a:r>
              <a:rPr lang="en-US" sz="1200" dirty="0"/>
              <a:t>(2 of 4)</a:t>
            </a:r>
            <a:endParaRPr lang="en-US" dirty="0"/>
          </a:p>
        </p:txBody>
      </p:sp>
      <p:sp>
        <p:nvSpPr>
          <p:cNvPr id="3" name="Text Placeholder 2"/>
          <p:cNvSpPr>
            <a:spLocks noGrp="1"/>
          </p:cNvSpPr>
          <p:nvPr>
            <p:ph idx="1"/>
          </p:nvPr>
        </p:nvSpPr>
        <p:spPr>
          <a:xfrm>
            <a:off x="609600" y="1823055"/>
            <a:ext cx="10972800" cy="4525963"/>
          </a:xfrm>
        </p:spPr>
        <p:txBody>
          <a:bodyPr>
            <a:normAutofit lnSpcReduction="10000"/>
          </a:bodyPr>
          <a:lstStyle/>
          <a:p>
            <a:pPr marL="457200" indent="-457200">
              <a:lnSpc>
                <a:spcPct val="120000"/>
              </a:lnSpc>
              <a:spcBef>
                <a:spcPts val="1200"/>
              </a:spcBef>
              <a:buNone/>
            </a:pPr>
            <a:r>
              <a:rPr lang="en-US" sz="3200" dirty="0"/>
              <a:t>Schizophrenia is a heterogeneous disorder</a:t>
            </a:r>
          </a:p>
          <a:p>
            <a:pPr>
              <a:spcBef>
                <a:spcPts val="1800"/>
              </a:spcBef>
            </a:pPr>
            <a:r>
              <a:rPr lang="en-US" dirty="0"/>
              <a:t>DSM-5 defines schizophrenia with delusions, hallucinations, or disorganized thought</a:t>
            </a:r>
          </a:p>
          <a:p>
            <a:pPr lvl="1">
              <a:spcBef>
                <a:spcPts val="1800"/>
              </a:spcBef>
            </a:pPr>
            <a:r>
              <a:rPr lang="en-US" dirty="0"/>
              <a:t>Delusions of persecution and auditory hallucinations are common</a:t>
            </a:r>
          </a:p>
          <a:p>
            <a:pPr lvl="1">
              <a:spcBef>
                <a:spcPts val="1800"/>
              </a:spcBef>
            </a:pPr>
            <a:r>
              <a:rPr lang="en-US" dirty="0"/>
              <a:t>Grossly disorganized or abnormal motor behavior</a:t>
            </a:r>
          </a:p>
          <a:p>
            <a:pPr lvl="1">
              <a:spcBef>
                <a:spcPts val="1800"/>
              </a:spcBef>
            </a:pPr>
            <a:r>
              <a:rPr lang="en-US" dirty="0"/>
              <a:t>Language, particularly speech, often disorganized or incoherent</a:t>
            </a:r>
          </a:p>
          <a:p>
            <a:pPr lvl="1">
              <a:spcBef>
                <a:spcPts val="1800"/>
              </a:spcBef>
            </a:pPr>
            <a:r>
              <a:rPr lang="en-US" dirty="0"/>
              <a:t>Negative symptoms: reduced emotional expression, lack of volition, social withdrawal, apathy, cognitive defects</a:t>
            </a:r>
          </a:p>
        </p:txBody>
      </p:sp>
    </p:spTree>
    <p:extLst>
      <p:ext uri="{BB962C8B-B14F-4D97-AF65-F5344CB8AC3E}">
        <p14:creationId xmlns:p14="http://schemas.microsoft.com/office/powerpoint/2010/main" val="3542579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Schizophrenia </a:t>
            </a:r>
            <a:r>
              <a:rPr lang="en-US" sz="1200" dirty="0"/>
              <a:t>(3 of 4)</a:t>
            </a:r>
            <a:endParaRPr lang="en-US" dirty="0"/>
          </a:p>
        </p:txBody>
      </p:sp>
      <p:sp>
        <p:nvSpPr>
          <p:cNvPr id="3" name="Text Placeholder 2"/>
          <p:cNvSpPr>
            <a:spLocks noGrp="1"/>
          </p:cNvSpPr>
          <p:nvPr>
            <p:ph idx="1"/>
          </p:nvPr>
        </p:nvSpPr>
        <p:spPr>
          <a:xfrm>
            <a:off x="609600" y="1823055"/>
            <a:ext cx="10972800" cy="4525963"/>
          </a:xfrm>
        </p:spPr>
        <p:txBody>
          <a:bodyPr>
            <a:normAutofit/>
          </a:bodyPr>
          <a:lstStyle/>
          <a:p>
            <a:pPr marL="457200" indent="-457200">
              <a:lnSpc>
                <a:spcPct val="110000"/>
              </a:lnSpc>
              <a:spcBef>
                <a:spcPts val="1200"/>
              </a:spcBef>
              <a:buNone/>
            </a:pPr>
            <a:r>
              <a:rPr lang="en-US" sz="3200" dirty="0"/>
              <a:t>Diagnosing schizophrenia can be challenging</a:t>
            </a:r>
          </a:p>
          <a:p>
            <a:pPr>
              <a:spcBef>
                <a:spcPts val="1800"/>
              </a:spcBef>
            </a:pPr>
            <a:r>
              <a:rPr lang="en-US" dirty="0"/>
              <a:t>No two individuals show the same pattern of symptoms</a:t>
            </a:r>
          </a:p>
          <a:p>
            <a:pPr>
              <a:spcBef>
                <a:spcPts val="1800"/>
              </a:spcBef>
            </a:pPr>
            <a:r>
              <a:rPr lang="en-US" dirty="0"/>
              <a:t>No single symptom occurs in every patient</a:t>
            </a:r>
          </a:p>
          <a:p>
            <a:pPr>
              <a:spcBef>
                <a:spcPts val="1800"/>
              </a:spcBef>
            </a:pPr>
            <a:r>
              <a:rPr lang="en-US" dirty="0"/>
              <a:t>Symptoms increase and decrease over time</a:t>
            </a:r>
          </a:p>
          <a:p>
            <a:pPr>
              <a:spcBef>
                <a:spcPts val="1800"/>
              </a:spcBef>
            </a:pPr>
            <a:r>
              <a:rPr lang="en-US" dirty="0"/>
              <a:t>Type of symptoms may change over time in one individual</a:t>
            </a:r>
          </a:p>
        </p:txBody>
      </p:sp>
    </p:spTree>
    <p:extLst>
      <p:ext uri="{BB962C8B-B14F-4D97-AF65-F5344CB8AC3E}">
        <p14:creationId xmlns:p14="http://schemas.microsoft.com/office/powerpoint/2010/main" val="25234294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Schizophrenia </a:t>
            </a:r>
            <a:r>
              <a:rPr lang="en-US" sz="1200" dirty="0"/>
              <a:t>(4 of 4)</a:t>
            </a:r>
            <a:endParaRPr lang="en-US" dirty="0"/>
          </a:p>
        </p:txBody>
      </p:sp>
      <p:sp>
        <p:nvSpPr>
          <p:cNvPr id="3" name="Text Placeholder 2"/>
          <p:cNvSpPr>
            <a:spLocks noGrp="1"/>
          </p:cNvSpPr>
          <p:nvPr>
            <p:ph idx="1"/>
          </p:nvPr>
        </p:nvSpPr>
        <p:spPr>
          <a:xfrm>
            <a:off x="609600" y="1823055"/>
            <a:ext cx="10972800" cy="4525963"/>
          </a:xfrm>
        </p:spPr>
        <p:txBody>
          <a:bodyPr>
            <a:normAutofit fontScale="85000" lnSpcReduction="20000"/>
          </a:bodyPr>
          <a:lstStyle/>
          <a:p>
            <a:pPr marL="457200" indent="-457200">
              <a:lnSpc>
                <a:spcPct val="120000"/>
              </a:lnSpc>
              <a:spcBef>
                <a:spcPts val="1200"/>
              </a:spcBef>
              <a:buNone/>
            </a:pPr>
            <a:r>
              <a:rPr lang="en-US" sz="3800" dirty="0"/>
              <a:t>Diagnosing schizophrenia can be challenging</a:t>
            </a:r>
          </a:p>
          <a:p>
            <a:pPr>
              <a:spcBef>
                <a:spcPts val="1800"/>
              </a:spcBef>
            </a:pPr>
            <a:r>
              <a:rPr lang="en-US" dirty="0"/>
              <a:t>Positive symptoms dominant: delusions and hallucinations, disorganized speech and thinking, bizarre behavior</a:t>
            </a:r>
          </a:p>
          <a:p>
            <a:pPr lvl="1">
              <a:spcBef>
                <a:spcPts val="1800"/>
              </a:spcBef>
            </a:pPr>
            <a:r>
              <a:rPr lang="en-US" dirty="0"/>
              <a:t>Patients tend to be older at onset, respond well to antipsychotic medication</a:t>
            </a:r>
          </a:p>
          <a:p>
            <a:pPr>
              <a:spcBef>
                <a:spcPts val="1800"/>
              </a:spcBef>
            </a:pPr>
            <a:r>
              <a:rPr lang="en-US" dirty="0"/>
              <a:t>Negative symptoms dominant: reduced speech, flat affect, loss of motivation, social withdrawal</a:t>
            </a:r>
          </a:p>
          <a:p>
            <a:pPr lvl="1">
              <a:spcBef>
                <a:spcPts val="1800"/>
              </a:spcBef>
            </a:pPr>
            <a:r>
              <a:rPr lang="en-US" dirty="0"/>
              <a:t>Symptoms easily mistaken for other disorders (e.g., depression)</a:t>
            </a:r>
          </a:p>
          <a:p>
            <a:pPr>
              <a:spcBef>
                <a:spcPts val="1800"/>
              </a:spcBef>
            </a:pPr>
            <a:r>
              <a:rPr lang="en-US" dirty="0"/>
              <a:t>Cognitive symptoms: impaired working memory, executive function, etc.</a:t>
            </a:r>
          </a:p>
          <a:p>
            <a:pPr lvl="1">
              <a:spcBef>
                <a:spcPts val="1800"/>
              </a:spcBef>
            </a:pPr>
            <a:r>
              <a:rPr lang="en-US" dirty="0"/>
              <a:t>Negative and cognitive symptoms are resistant to current treatments</a:t>
            </a:r>
          </a:p>
        </p:txBody>
      </p:sp>
    </p:spTree>
    <p:extLst>
      <p:ext uri="{BB962C8B-B14F-4D97-AF65-F5344CB8AC3E}">
        <p14:creationId xmlns:p14="http://schemas.microsoft.com/office/powerpoint/2010/main" val="3427977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Review of Learning Objectives </a:t>
            </a:r>
            <a:r>
              <a:rPr lang="en-US" sz="1200" dirty="0"/>
              <a:t>(1 of 4)</a:t>
            </a:r>
          </a:p>
        </p:txBody>
      </p:sp>
      <p:sp>
        <p:nvSpPr>
          <p:cNvPr id="3" name="Text Placeholder 2"/>
          <p:cNvSpPr>
            <a:spLocks noGrp="1"/>
          </p:cNvSpPr>
          <p:nvPr>
            <p:ph idx="1"/>
          </p:nvPr>
        </p:nvSpPr>
        <p:spPr/>
        <p:txBody>
          <a:bodyPr>
            <a:normAutofit/>
          </a:bodyPr>
          <a:lstStyle/>
          <a:p>
            <a:pPr marL="1143000" indent="-1143000">
              <a:lnSpc>
                <a:spcPct val="110000"/>
              </a:lnSpc>
              <a:spcBef>
                <a:spcPts val="1800"/>
              </a:spcBef>
              <a:buNone/>
            </a:pPr>
            <a:r>
              <a:rPr lang="en-US" sz="2800" dirty="0"/>
              <a:t>19.1.1  Describe the impacts of schizophrenia in terms of lifetime incidence and societal cost.</a:t>
            </a:r>
          </a:p>
          <a:p>
            <a:pPr marL="1143000" indent="-1143000">
              <a:lnSpc>
                <a:spcPct val="110000"/>
              </a:lnSpc>
              <a:spcBef>
                <a:spcPts val="1800"/>
              </a:spcBef>
              <a:buNone/>
            </a:pPr>
            <a:r>
              <a:rPr lang="en-US" sz="2800" dirty="0"/>
              <a:t>19.1.2  Describe how the symptoms of schizophrenia are framed in terms of positive, negative, and cognitive domains.</a:t>
            </a:r>
          </a:p>
        </p:txBody>
      </p:sp>
    </p:spTree>
    <p:extLst>
      <p:ext uri="{BB962C8B-B14F-4D97-AF65-F5344CB8AC3E}">
        <p14:creationId xmlns:p14="http://schemas.microsoft.com/office/powerpoint/2010/main" val="3591082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(1 of 13)</a:t>
            </a:r>
            <a:endParaRPr lang="en-US" dirty="0"/>
          </a:p>
        </p:txBody>
      </p:sp>
      <p:sp>
        <p:nvSpPr>
          <p:cNvPr id="3" name="Text Placeholder 2"/>
          <p:cNvSpPr>
            <a:spLocks noGrp="1"/>
          </p:cNvSpPr>
          <p:nvPr>
            <p:ph idx="1"/>
          </p:nvPr>
        </p:nvSpPr>
        <p:spPr>
          <a:xfrm>
            <a:off x="609600" y="1823055"/>
            <a:ext cx="10972800" cy="4525963"/>
          </a:xfrm>
        </p:spPr>
        <p:txBody>
          <a:bodyPr>
            <a:normAutofit lnSpcReduction="10000"/>
          </a:bodyPr>
          <a:lstStyle/>
          <a:p>
            <a:pPr marL="457200" indent="-457200">
              <a:lnSpc>
                <a:spcPct val="110000"/>
              </a:lnSpc>
              <a:spcBef>
                <a:spcPts val="1200"/>
              </a:spcBef>
              <a:buNone/>
            </a:pPr>
            <a:r>
              <a:rPr lang="en-US" sz="3200" dirty="0"/>
              <a:t>Abnormalities of brain structure and function occur in individuals with schizophrenia</a:t>
            </a:r>
          </a:p>
          <a:p>
            <a:pPr>
              <a:spcBef>
                <a:spcPts val="1800"/>
              </a:spcBef>
            </a:pPr>
            <a:r>
              <a:rPr lang="en-US" dirty="0"/>
              <a:t>Brain imaging shows cerebral atrophy and ventricle enlargement</a:t>
            </a:r>
          </a:p>
          <a:p>
            <a:pPr>
              <a:spcBef>
                <a:spcPts val="1800"/>
              </a:spcBef>
            </a:pPr>
            <a:r>
              <a:rPr lang="en-US" dirty="0"/>
              <a:t>Post-mortem studies: reduced brain volume due to small nerve cell somas, reduced dendritic trees and spine density</a:t>
            </a:r>
          </a:p>
          <a:p>
            <a:pPr>
              <a:spcBef>
                <a:spcPts val="1800"/>
              </a:spcBef>
            </a:pPr>
            <a:r>
              <a:rPr lang="en-US" dirty="0"/>
              <a:t>Hippocampal cells disorganized</a:t>
            </a:r>
          </a:p>
          <a:p>
            <a:pPr>
              <a:spcBef>
                <a:spcPts val="1800"/>
              </a:spcBef>
            </a:pPr>
            <a:r>
              <a:rPr lang="en-US" dirty="0"/>
              <a:t>Abnormal myelination and organization of white matter tracts reduces connectivity between brain regions</a:t>
            </a:r>
          </a:p>
        </p:txBody>
      </p:sp>
    </p:spTree>
    <p:extLst>
      <p:ext uri="{BB962C8B-B14F-4D97-AF65-F5344CB8AC3E}">
        <p14:creationId xmlns:p14="http://schemas.microsoft.com/office/powerpoint/2010/main" val="2451061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08A20-E1BE-F84A-A090-0C62FDD5ABFF}"/>
              </a:ext>
            </a:extLst>
          </p:cNvPr>
          <p:cNvSpPr>
            <a:spLocks noGrp="1"/>
          </p:cNvSpPr>
          <p:nvPr>
            <p:ph type="title"/>
          </p:nvPr>
        </p:nvSpPr>
        <p:spPr/>
        <p:txBody>
          <a:bodyPr/>
          <a:lstStyle/>
          <a:p>
            <a:r>
              <a:rPr lang="en-US" cap="all" dirty="0"/>
              <a:t>FIGURE 19.2</a:t>
            </a:r>
            <a:r>
              <a:rPr lang="en-US" dirty="0"/>
              <a:t>  Brain images of twins not concordant for schizophrenia </a:t>
            </a:r>
          </a:p>
        </p:txBody>
      </p:sp>
      <p:pic>
        <p:nvPicPr>
          <p:cNvPr id="6" name="Content Placeholder 5" descr=" Two M R I scan showing the brain image of a healthy twin on the left compared with a twin with schizophrenia on the right of a 28-year-old male. An arrow mark on the left image indicates normal-sized ventricles, and the arrow mark on the right image indicates enlarged ventricle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1990367" y="479425"/>
            <a:ext cx="8211267" cy="6300788"/>
          </a:xfrm>
        </p:spPr>
      </p:pic>
    </p:spTree>
    <p:extLst>
      <p:ext uri="{BB962C8B-B14F-4D97-AF65-F5344CB8AC3E}">
        <p14:creationId xmlns:p14="http://schemas.microsoft.com/office/powerpoint/2010/main" val="1868907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F9316-18CA-E74F-B445-7FD7173CDD6D}"/>
              </a:ext>
            </a:extLst>
          </p:cNvPr>
          <p:cNvSpPr>
            <a:spLocks noGrp="1"/>
          </p:cNvSpPr>
          <p:nvPr>
            <p:ph type="title"/>
          </p:nvPr>
        </p:nvSpPr>
        <p:spPr/>
        <p:txBody>
          <a:bodyPr/>
          <a:lstStyle/>
          <a:p>
            <a:r>
              <a:rPr lang="en-US" cap="all" dirty="0"/>
              <a:t>FIGURE 19.3</a:t>
            </a:r>
            <a:r>
              <a:rPr lang="en-US" dirty="0"/>
              <a:t>  Disorganization of cells in the hippocampus </a:t>
            </a:r>
          </a:p>
        </p:txBody>
      </p:sp>
      <p:pic>
        <p:nvPicPr>
          <p:cNvPr id="6" name="Content Placeholder 5" descr=" A photomicrograph accompanied by an illustration depicts the organization of hippocampal cells in the patient with schizophrenia. A photomicrograph of the schizophrenic hippocampal section on the top displays the disorganized cells in the hippocampus. An illustration at the bottom depicts the schematic representation of the disorganized haphazard arrangement of pyramidal cells in the hippocampus of the patient with schizophrenia.&#10;&#10; A photomicrograph accompanied by an illustration depicts the organization of hippocampal cells in a healthy patient. A photomicrograph of the hippocampal section of a healthy patient on the top displays the organized cells in the hippocampus. An illustration at the bottom depicts the schematic representation of the organized haphazard arrangement of pyramidal cells in the hippocampus of the healthy patien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325172" y="479425"/>
            <a:ext cx="5541656" cy="6300788"/>
          </a:xfrm>
        </p:spPr>
      </p:pic>
    </p:spTree>
    <p:extLst>
      <p:ext uri="{BB962C8B-B14F-4D97-AF65-F5344CB8AC3E}">
        <p14:creationId xmlns:p14="http://schemas.microsoft.com/office/powerpoint/2010/main" val="11158615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(2 of 13)</a:t>
            </a:r>
            <a:endParaRPr lang="en-US" dirty="0"/>
          </a:p>
        </p:txBody>
      </p:sp>
      <p:sp>
        <p:nvSpPr>
          <p:cNvPr id="3" name="Text Placeholder 2"/>
          <p:cNvSpPr>
            <a:spLocks noGrp="1"/>
          </p:cNvSpPr>
          <p:nvPr>
            <p:ph idx="1"/>
          </p:nvPr>
        </p:nvSpPr>
        <p:spPr>
          <a:xfrm>
            <a:off x="609600" y="1823055"/>
            <a:ext cx="10972800" cy="4525963"/>
          </a:xfrm>
        </p:spPr>
        <p:txBody>
          <a:bodyPr>
            <a:normAutofit/>
          </a:bodyPr>
          <a:lstStyle/>
          <a:p>
            <a:pPr marL="457200" indent="-457200">
              <a:lnSpc>
                <a:spcPct val="110000"/>
              </a:lnSpc>
              <a:spcBef>
                <a:spcPts val="1200"/>
              </a:spcBef>
              <a:buNone/>
            </a:pPr>
            <a:r>
              <a:rPr lang="en-US" sz="3200" dirty="0"/>
              <a:t>Abnormalities of brain structure and function occur in individuals with schizophrenia</a:t>
            </a:r>
          </a:p>
          <a:p>
            <a:pPr>
              <a:spcBef>
                <a:spcPts val="1800"/>
              </a:spcBef>
            </a:pPr>
            <a:r>
              <a:rPr lang="en-US" dirty="0"/>
              <a:t>Brain function abnormalities:</a:t>
            </a:r>
          </a:p>
          <a:p>
            <a:pPr lvl="1">
              <a:spcBef>
                <a:spcPts val="1800"/>
              </a:spcBef>
            </a:pPr>
            <a:r>
              <a:rPr lang="en-US" dirty="0"/>
              <a:t>Reduced function of PFC (</a:t>
            </a:r>
            <a:r>
              <a:rPr lang="en-US" dirty="0" err="1"/>
              <a:t>hypofrontality</a:t>
            </a:r>
            <a:r>
              <a:rPr lang="en-US" dirty="0"/>
              <a:t>) – </a:t>
            </a:r>
            <a:r>
              <a:rPr lang="en-US" altLang="en-US" dirty="0"/>
              <a:t>PET scans show less blood flow to the frontal cortex when performing cognitive tasks</a:t>
            </a:r>
          </a:p>
          <a:p>
            <a:pPr lvl="1">
              <a:spcBef>
                <a:spcPts val="1800"/>
              </a:spcBef>
            </a:pPr>
            <a:r>
              <a:rPr lang="en-US" dirty="0"/>
              <a:t>Some brain areas show more activation, other brain areas show less, than in controls</a:t>
            </a:r>
          </a:p>
        </p:txBody>
      </p:sp>
    </p:spTree>
    <p:extLst>
      <p:ext uri="{BB962C8B-B14F-4D97-AF65-F5344CB8AC3E}">
        <p14:creationId xmlns:p14="http://schemas.microsoft.com/office/powerpoint/2010/main" val="4081248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(3 of 13)</a:t>
            </a:r>
            <a:endParaRPr lang="en-US" dirty="0"/>
          </a:p>
        </p:txBody>
      </p:sp>
      <p:sp>
        <p:nvSpPr>
          <p:cNvPr id="3" name="Text Placeholder 2"/>
          <p:cNvSpPr>
            <a:spLocks noGrp="1"/>
          </p:cNvSpPr>
          <p:nvPr>
            <p:ph idx="1"/>
          </p:nvPr>
        </p:nvSpPr>
        <p:spPr>
          <a:xfrm>
            <a:off x="609600" y="1823055"/>
            <a:ext cx="10972800" cy="4525963"/>
          </a:xfrm>
        </p:spPr>
        <p:txBody>
          <a:bodyPr>
            <a:normAutofit fontScale="92500" lnSpcReduction="20000"/>
          </a:bodyPr>
          <a:lstStyle/>
          <a:p>
            <a:pPr marL="457200" indent="-457200">
              <a:lnSpc>
                <a:spcPct val="120000"/>
              </a:lnSpc>
              <a:spcBef>
                <a:spcPts val="1200"/>
              </a:spcBef>
              <a:buNone/>
            </a:pPr>
            <a:r>
              <a:rPr lang="en-US" sz="3500" dirty="0"/>
              <a:t>Abnormalities of brain structure and function occur in individuals with schizophrenia</a:t>
            </a:r>
          </a:p>
          <a:p>
            <a:pPr>
              <a:spcBef>
                <a:spcPts val="1800"/>
              </a:spcBef>
            </a:pPr>
            <a:r>
              <a:rPr lang="en-US" altLang="en-US" dirty="0"/>
              <a:t>Association between immune dysfunction and schizophrenia:</a:t>
            </a:r>
          </a:p>
          <a:p>
            <a:pPr lvl="1">
              <a:spcBef>
                <a:spcPts val="1800"/>
              </a:spcBef>
            </a:pPr>
            <a:r>
              <a:rPr lang="en-US" altLang="en-US" dirty="0"/>
              <a:t>Blood levels of pro-inflammatory cytokines are elevated and anti-inflammatory cytokines are reduced; levels return to normal after successful antipsychotic drug treatment.</a:t>
            </a:r>
          </a:p>
          <a:p>
            <a:pPr lvl="1">
              <a:spcBef>
                <a:spcPts val="1800"/>
              </a:spcBef>
            </a:pPr>
            <a:r>
              <a:rPr lang="en-US" altLang="en-US" dirty="0"/>
              <a:t>Unclear whether cytokines cause, or are a result of, the symptoms</a:t>
            </a:r>
          </a:p>
          <a:p>
            <a:pPr lvl="1">
              <a:spcBef>
                <a:spcPts val="1800"/>
              </a:spcBef>
            </a:pPr>
            <a:r>
              <a:rPr lang="en-US" dirty="0"/>
              <a:t>Prenatal inflammation may cause abnormal neurodevelopment that increases the risk for schizophrenia.</a:t>
            </a:r>
          </a:p>
        </p:txBody>
      </p:sp>
    </p:spTree>
    <p:extLst>
      <p:ext uri="{BB962C8B-B14F-4D97-AF65-F5344CB8AC3E}">
        <p14:creationId xmlns:p14="http://schemas.microsoft.com/office/powerpoint/2010/main" val="760068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(4 of 13)</a:t>
            </a:r>
            <a:endParaRPr lang="en-US" dirty="0"/>
          </a:p>
        </p:txBody>
      </p:sp>
      <p:sp>
        <p:nvSpPr>
          <p:cNvPr id="3" name="Text Placeholder 2"/>
          <p:cNvSpPr>
            <a:spLocks noGrp="1"/>
          </p:cNvSpPr>
          <p:nvPr>
            <p:ph idx="1"/>
          </p:nvPr>
        </p:nvSpPr>
        <p:spPr>
          <a:xfrm>
            <a:off x="609600" y="1823055"/>
            <a:ext cx="10972800" cy="4525963"/>
          </a:xfrm>
        </p:spPr>
        <p:txBody>
          <a:bodyPr>
            <a:normAutofit/>
          </a:bodyPr>
          <a:lstStyle/>
          <a:p>
            <a:pPr marL="457200" indent="-457200">
              <a:lnSpc>
                <a:spcPct val="110000"/>
              </a:lnSpc>
              <a:spcBef>
                <a:spcPts val="1200"/>
              </a:spcBef>
              <a:buNone/>
            </a:pPr>
            <a:r>
              <a:rPr lang="en-US" sz="3200" dirty="0"/>
              <a:t>Genetic, environmental, and developmental factors interact</a:t>
            </a:r>
          </a:p>
          <a:p>
            <a:pPr>
              <a:spcBef>
                <a:spcPts val="1800"/>
              </a:spcBef>
            </a:pPr>
            <a:r>
              <a:rPr lang="en-US" altLang="en-US" dirty="0"/>
              <a:t>A strong genetic component is shown by family, twin, and adoption studies; but identical twin concordance is not 100%</a:t>
            </a:r>
          </a:p>
          <a:p>
            <a:pPr>
              <a:spcBef>
                <a:spcPts val="1800"/>
              </a:spcBef>
            </a:pPr>
            <a:r>
              <a:rPr lang="en-US" dirty="0"/>
              <a:t>Identification of specific genes difficult – many genes at different loci are involved; 145 loci have been identified as likely sites</a:t>
            </a:r>
          </a:p>
        </p:txBody>
      </p:sp>
    </p:spTree>
    <p:extLst>
      <p:ext uri="{BB962C8B-B14F-4D97-AF65-F5344CB8AC3E}">
        <p14:creationId xmlns:p14="http://schemas.microsoft.com/office/powerpoint/2010/main" val="13463791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773D2-8D0C-5341-B017-82EBAAAA3105}"/>
              </a:ext>
            </a:extLst>
          </p:cNvPr>
          <p:cNvSpPr>
            <a:spLocks noGrp="1"/>
          </p:cNvSpPr>
          <p:nvPr>
            <p:ph type="title"/>
          </p:nvPr>
        </p:nvSpPr>
        <p:spPr/>
        <p:txBody>
          <a:bodyPr/>
          <a:lstStyle/>
          <a:p>
            <a:r>
              <a:rPr lang="en-US" cap="all" dirty="0"/>
              <a:t>FIGURE 19.5</a:t>
            </a:r>
            <a:r>
              <a:rPr lang="en-US" dirty="0"/>
              <a:t>  Lifetime risks of developing schizophrenia among relatives of an affected individual </a:t>
            </a:r>
          </a:p>
        </p:txBody>
      </p:sp>
      <p:pic>
        <p:nvPicPr>
          <p:cNvPr id="6" name="Content Placeholder 5" descr=" A bar graph displays the lifetime risks of developing schizophrenia among relatives of an affected individual. Data from the graph presented in the format, relatives of an affected individual: Percentage of lifetime risk of developing schizophrenia, are as follows. General population: 1, Spouses of patients: 2, First cousins: 2, Uncles and aunts: 2, Nephews and nieces: 4, grandchildren: 5, Half-siblings: 6, children: 13, siblings with one parent has schizophrenia: 17, parents: 6, dizygotic twins: 17, monozygotic twins: 48, children of two parents with schizophrenia: 46. First-degree relatives are children, siblings, siblings when one parent has schizophrenia, dizygotic twins; who share 50 percent of genes. Second-degree relatives are uncles and aunts, nephews and nieces, grandchildren, half-siblings; who share 25 percent of genes. Third-degree relatives are first cousins; who share 12.5 percent of gene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629302" y="479425"/>
            <a:ext cx="6933397" cy="6300788"/>
          </a:xfrm>
        </p:spPr>
      </p:pic>
    </p:spTree>
    <p:extLst>
      <p:ext uri="{BB962C8B-B14F-4D97-AF65-F5344CB8AC3E}">
        <p14:creationId xmlns:p14="http://schemas.microsoft.com/office/powerpoint/2010/main" val="26082104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Etiology of Schizophrenia </a:t>
            </a:r>
            <a:r>
              <a:rPr lang="en-US" sz="1200" dirty="0"/>
              <a:t>(5 of 13)</a:t>
            </a:r>
            <a:endParaRPr lang="en-US" dirty="0"/>
          </a:p>
        </p:txBody>
      </p:sp>
      <p:sp>
        <p:nvSpPr>
          <p:cNvPr id="3" name="Text Placeholder 2"/>
          <p:cNvSpPr>
            <a:spLocks noGrp="1"/>
          </p:cNvSpPr>
          <p:nvPr>
            <p:ph idx="1"/>
          </p:nvPr>
        </p:nvSpPr>
        <p:spPr/>
        <p:txBody>
          <a:bodyPr>
            <a:normAutofit fontScale="92500" lnSpcReduction="20000"/>
          </a:bodyPr>
          <a:lstStyle/>
          <a:p>
            <a:pPr marL="0" indent="0">
              <a:spcBef>
                <a:spcPts val="1800"/>
              </a:spcBef>
              <a:buNone/>
            </a:pPr>
            <a:r>
              <a:rPr lang="en-US" sz="2600" u="sng" dirty="0"/>
              <a:t>BOX 19.1  THE CUTTING EDGE</a:t>
            </a:r>
          </a:p>
          <a:p>
            <a:pPr marL="0" indent="0">
              <a:buNone/>
            </a:pPr>
            <a:r>
              <a:rPr lang="en-US" sz="3500" i="1" dirty="0"/>
              <a:t>Epigenetic Modifications and Risk for Schizophrenia</a:t>
            </a:r>
            <a:endParaRPr lang="en-GB" sz="3500" i="1" dirty="0"/>
          </a:p>
          <a:p>
            <a:pPr>
              <a:spcBef>
                <a:spcPts val="1800"/>
              </a:spcBef>
            </a:pPr>
            <a:r>
              <a:rPr lang="en-US" dirty="0"/>
              <a:t>Early life stress produces epigenetic modifications that alter neurodevelopment</a:t>
            </a:r>
          </a:p>
          <a:p>
            <a:pPr>
              <a:spcBef>
                <a:spcPts val="1800"/>
              </a:spcBef>
            </a:pPr>
            <a:r>
              <a:rPr lang="en-US" dirty="0"/>
              <a:t>Reelin, a glycoprotein secreted by neurons, guides neuron positioning during fetal brain development</a:t>
            </a:r>
          </a:p>
          <a:p>
            <a:pPr>
              <a:spcBef>
                <a:spcPts val="1800"/>
              </a:spcBef>
            </a:pPr>
            <a:r>
              <a:rPr lang="en-US" dirty="0"/>
              <a:t>Reduced reelin expression is due to methylation of the </a:t>
            </a:r>
            <a:r>
              <a:rPr lang="en-US" i="1" dirty="0"/>
              <a:t>RELN</a:t>
            </a:r>
            <a:r>
              <a:rPr lang="en-US" dirty="0"/>
              <a:t> gene; could explain cell disorganization and morphological abnormalities in schizophrenic brains</a:t>
            </a:r>
          </a:p>
          <a:p>
            <a:pPr lvl="1">
              <a:spcBef>
                <a:spcPts val="1800"/>
              </a:spcBef>
            </a:pPr>
            <a:r>
              <a:rPr lang="en-US" dirty="0"/>
              <a:t>Supported by research with animal models</a:t>
            </a:r>
          </a:p>
        </p:txBody>
      </p:sp>
    </p:spTree>
    <p:extLst>
      <p:ext uri="{BB962C8B-B14F-4D97-AF65-F5344CB8AC3E}">
        <p14:creationId xmlns:p14="http://schemas.microsoft.com/office/powerpoint/2010/main" val="3563405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(6 of 13)</a:t>
            </a:r>
            <a:endParaRPr lang="en-US" dirty="0"/>
          </a:p>
        </p:txBody>
      </p:sp>
      <p:sp>
        <p:nvSpPr>
          <p:cNvPr id="3" name="Text Placeholder 2"/>
          <p:cNvSpPr>
            <a:spLocks noGrp="1"/>
          </p:cNvSpPr>
          <p:nvPr>
            <p:ph idx="1"/>
          </p:nvPr>
        </p:nvSpPr>
        <p:spPr>
          <a:xfrm>
            <a:off x="609600" y="1823055"/>
            <a:ext cx="10972800" cy="4525963"/>
          </a:xfrm>
        </p:spPr>
        <p:txBody>
          <a:bodyPr>
            <a:normAutofit/>
          </a:bodyPr>
          <a:lstStyle/>
          <a:p>
            <a:pPr marL="457200" indent="-457200">
              <a:lnSpc>
                <a:spcPct val="110000"/>
              </a:lnSpc>
              <a:spcBef>
                <a:spcPts val="1200"/>
              </a:spcBef>
              <a:buNone/>
            </a:pPr>
            <a:r>
              <a:rPr lang="en-US" sz="3200" dirty="0"/>
              <a:t>Genetic, environmental, and developmental factors interact</a:t>
            </a:r>
          </a:p>
          <a:p>
            <a:r>
              <a:rPr lang="en-US" dirty="0"/>
              <a:t>Mutations of the </a:t>
            </a:r>
            <a:r>
              <a:rPr lang="en-US" b="1" i="1" dirty="0"/>
              <a:t>DISC1</a:t>
            </a:r>
            <a:r>
              <a:rPr lang="en-US" b="1" dirty="0"/>
              <a:t> gene</a:t>
            </a:r>
            <a:r>
              <a:rPr lang="en-US" dirty="0"/>
              <a:t> may contribute to risk of schizophrenia</a:t>
            </a:r>
          </a:p>
          <a:p>
            <a:r>
              <a:rPr lang="en-US" dirty="0"/>
              <a:t>It codes for proteins essential in neural development and can be disrupted by a chromosome translocation</a:t>
            </a:r>
          </a:p>
          <a:p>
            <a:r>
              <a:rPr lang="en-US" dirty="0"/>
              <a:t>Various </a:t>
            </a:r>
            <a:r>
              <a:rPr lang="en-US" i="1" dirty="0"/>
              <a:t>DISC1</a:t>
            </a:r>
            <a:r>
              <a:rPr lang="en-US" dirty="0"/>
              <a:t> polymorphisms are also implicated in other psychiatric disorders</a:t>
            </a:r>
          </a:p>
        </p:txBody>
      </p:sp>
    </p:spTree>
    <p:extLst>
      <p:ext uri="{BB962C8B-B14F-4D97-AF65-F5344CB8AC3E}">
        <p14:creationId xmlns:p14="http://schemas.microsoft.com/office/powerpoint/2010/main" val="35849474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(7 of 13)</a:t>
            </a:r>
            <a:endParaRPr lang="en-US" dirty="0"/>
          </a:p>
        </p:txBody>
      </p:sp>
      <p:sp>
        <p:nvSpPr>
          <p:cNvPr id="3" name="Text Placeholder 2"/>
          <p:cNvSpPr>
            <a:spLocks noGrp="1"/>
          </p:cNvSpPr>
          <p:nvPr>
            <p:ph idx="1"/>
          </p:nvPr>
        </p:nvSpPr>
        <p:spPr>
          <a:xfrm>
            <a:off x="609600" y="1823055"/>
            <a:ext cx="10972800" cy="4525963"/>
          </a:xfrm>
        </p:spPr>
        <p:txBody>
          <a:bodyPr>
            <a:normAutofit fontScale="85000" lnSpcReduction="20000"/>
          </a:bodyPr>
          <a:lstStyle/>
          <a:p>
            <a:pPr marL="457200" indent="-457200">
              <a:lnSpc>
                <a:spcPct val="130000"/>
              </a:lnSpc>
              <a:spcBef>
                <a:spcPts val="1200"/>
              </a:spcBef>
              <a:buNone/>
            </a:pPr>
            <a:r>
              <a:rPr lang="en-US" sz="3800" dirty="0"/>
              <a:t>Genetic, environmental, and developmental factors interact</a:t>
            </a:r>
          </a:p>
          <a:p>
            <a:pPr>
              <a:spcBef>
                <a:spcPts val="1800"/>
              </a:spcBef>
            </a:pPr>
            <a:r>
              <a:rPr lang="en-US" dirty="0"/>
              <a:t>Genetic vulnerability may increase probability that events during perinatal brain development will contribute to risk</a:t>
            </a:r>
          </a:p>
          <a:p>
            <a:pPr lvl="1">
              <a:spcBef>
                <a:spcPts val="1800"/>
              </a:spcBef>
            </a:pPr>
            <a:r>
              <a:rPr lang="en-US" dirty="0"/>
              <a:t>Exposure to viral infections and ensuing inflammatory response – cytokines can affect neurogenesis</a:t>
            </a:r>
          </a:p>
          <a:p>
            <a:pPr lvl="1">
              <a:spcBef>
                <a:spcPts val="1800"/>
              </a:spcBef>
            </a:pPr>
            <a:r>
              <a:rPr lang="en-US" dirty="0"/>
              <a:t>Other prenatal assaults can also cause inflammation</a:t>
            </a:r>
          </a:p>
          <a:p>
            <a:pPr lvl="1">
              <a:spcBef>
                <a:spcPts val="1800"/>
              </a:spcBef>
            </a:pPr>
            <a:r>
              <a:rPr lang="en-US" dirty="0"/>
              <a:t>Behavioral abnormalities apparent in young children who later develop schizophrenia suggest early developmental errors</a:t>
            </a:r>
          </a:p>
          <a:p>
            <a:pPr lvl="1">
              <a:spcBef>
                <a:spcPts val="1800"/>
              </a:spcBef>
            </a:pPr>
            <a:r>
              <a:rPr lang="en-US" dirty="0"/>
              <a:t>Developmental errors during adolescence cause twice the cortical cell loss compared with that seen in healthy teens</a:t>
            </a:r>
          </a:p>
        </p:txBody>
      </p:sp>
    </p:spTree>
    <p:extLst>
      <p:ext uri="{BB962C8B-B14F-4D97-AF65-F5344CB8AC3E}">
        <p14:creationId xmlns:p14="http://schemas.microsoft.com/office/powerpoint/2010/main" val="9844675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0F573-D4E3-3F49-87F3-1DFC49EB4910}"/>
              </a:ext>
            </a:extLst>
          </p:cNvPr>
          <p:cNvSpPr>
            <a:spLocks noGrp="1"/>
          </p:cNvSpPr>
          <p:nvPr>
            <p:ph type="title"/>
          </p:nvPr>
        </p:nvSpPr>
        <p:spPr/>
        <p:txBody>
          <a:bodyPr/>
          <a:lstStyle/>
          <a:p>
            <a:r>
              <a:rPr lang="en-US" cap="all" dirty="0"/>
              <a:t>FIGURE 19.6</a:t>
            </a:r>
            <a:r>
              <a:rPr lang="en-US" dirty="0"/>
              <a:t>  Cortical gray matter loss </a:t>
            </a:r>
          </a:p>
        </p:txBody>
      </p:sp>
      <p:pic>
        <p:nvPicPr>
          <p:cNvPr id="6" name="Content Placeholder 5" descr=" A three-dimensional cortical map of the brain displays the average annual loss of cortical gray matter of healthy adolescents and adolescents with schizophrenia. The color bar on the right-hand side represents the percentage of average annual loss. The average annual loss of cortical gray matter of healthy adolescents on the left shows 0 to 1 percent. The average annual loss of cortical gray matter of adolescents with schizophrenia on the right shows 2 to 3 percent."/>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894998" y="479425"/>
            <a:ext cx="6402005" cy="6300788"/>
          </a:xfrm>
        </p:spPr>
      </p:pic>
    </p:spTree>
    <p:extLst>
      <p:ext uri="{BB962C8B-B14F-4D97-AF65-F5344CB8AC3E}">
        <p14:creationId xmlns:p14="http://schemas.microsoft.com/office/powerpoint/2010/main" val="14200168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(8 of 13)</a:t>
            </a:r>
            <a:endParaRPr lang="en-US" dirty="0"/>
          </a:p>
        </p:txBody>
      </p:sp>
      <p:sp>
        <p:nvSpPr>
          <p:cNvPr id="3" name="Text Placeholder 2"/>
          <p:cNvSpPr>
            <a:spLocks noGrp="1"/>
          </p:cNvSpPr>
          <p:nvPr>
            <p:ph idx="1"/>
          </p:nvPr>
        </p:nvSpPr>
        <p:spPr>
          <a:xfrm>
            <a:off x="609600" y="1823055"/>
            <a:ext cx="10972800" cy="4525963"/>
          </a:xfrm>
        </p:spPr>
        <p:txBody>
          <a:bodyPr>
            <a:normAutofit/>
          </a:bodyPr>
          <a:lstStyle/>
          <a:p>
            <a:pPr marL="457200" indent="-457200">
              <a:lnSpc>
                <a:spcPct val="110000"/>
              </a:lnSpc>
              <a:spcBef>
                <a:spcPts val="1200"/>
              </a:spcBef>
              <a:buNone/>
            </a:pPr>
            <a:r>
              <a:rPr lang="en-US" sz="3200" dirty="0"/>
              <a:t>Genetic, environmental, and developmental factors interact</a:t>
            </a:r>
          </a:p>
          <a:p>
            <a:r>
              <a:rPr lang="en-US" altLang="en-US" dirty="0"/>
              <a:t>The “two-hit” model of schizophrenia development:</a:t>
            </a:r>
          </a:p>
          <a:p>
            <a:pPr lvl="1"/>
            <a:r>
              <a:rPr lang="en-US" altLang="en-US" dirty="0"/>
              <a:t>Perinatal events in a genetically vulnerable individual cause altered brain development </a:t>
            </a:r>
          </a:p>
          <a:p>
            <a:pPr lvl="1"/>
            <a:r>
              <a:rPr lang="en-US" altLang="en-US" dirty="0"/>
              <a:t>In adolescence neurodevelopmental errors plus environmental events produce diagnosable symptoms</a:t>
            </a:r>
          </a:p>
        </p:txBody>
      </p:sp>
    </p:spTree>
    <p:extLst>
      <p:ext uri="{BB962C8B-B14F-4D97-AF65-F5344CB8AC3E}">
        <p14:creationId xmlns:p14="http://schemas.microsoft.com/office/powerpoint/2010/main" val="45867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279C8-6710-F340-BE57-17B09CF2B2E9}"/>
              </a:ext>
            </a:extLst>
          </p:cNvPr>
          <p:cNvSpPr>
            <a:spLocks noGrp="1"/>
          </p:cNvSpPr>
          <p:nvPr>
            <p:ph type="title"/>
          </p:nvPr>
        </p:nvSpPr>
        <p:spPr/>
        <p:txBody>
          <a:bodyPr/>
          <a:lstStyle/>
          <a:p>
            <a:r>
              <a:rPr lang="en-US" cap="all" dirty="0"/>
              <a:t>FIGURE 19.7</a:t>
            </a:r>
            <a:r>
              <a:rPr lang="en-US" dirty="0"/>
              <a:t>  Etiology of schizophrenia </a:t>
            </a:r>
          </a:p>
        </p:txBody>
      </p:sp>
      <p:pic>
        <p:nvPicPr>
          <p:cNvPr id="6" name="Content Placeholder 5" descr=" A conceptual framework summarizes the three stages in the development of schizophrenia. Early stage “first hit”: Genetic predisposition and gene expression plus Environmental insults including viruses, toxins, poor nutrition, birth complications, activated immune system leads to Neurodevelopmental abnormalities from conception to early adulthood including neuron formation, migration, synaptogenesis, pruning, apoptosis. Latent stage: Early subtle signs predicting schizophrenia including motor abnormalities, apathy, social withdrawal, deficits in attentional and information-processing tasks. Late stage “second hit”: Excessive synaptic pruning in adolescence leading to abnormal neuronal connectivity and function plus Later environmental insults such as stress, substance use, and H P A axis dysfunction leads to Greater impairment of cognitive function including deficits in attention, memory, executive function. Positive symptoms including hallucinations, delusions, disorganization Worsening of negative symptoms including deficits in motivation and emotion, isolation, anhedonia"/>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287693" y="479425"/>
            <a:ext cx="7616615" cy="6300788"/>
          </a:xfrm>
        </p:spPr>
      </p:pic>
    </p:spTree>
    <p:extLst>
      <p:ext uri="{BB962C8B-B14F-4D97-AF65-F5344CB8AC3E}">
        <p14:creationId xmlns:p14="http://schemas.microsoft.com/office/powerpoint/2010/main" val="18211153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(9 of 13)</a:t>
            </a:r>
            <a:endParaRPr lang="en-US" dirty="0"/>
          </a:p>
        </p:txBody>
      </p:sp>
      <p:sp>
        <p:nvSpPr>
          <p:cNvPr id="3" name="Text Placeholder 2"/>
          <p:cNvSpPr>
            <a:spLocks noGrp="1"/>
          </p:cNvSpPr>
          <p:nvPr>
            <p:ph idx="1"/>
          </p:nvPr>
        </p:nvSpPr>
        <p:spPr>
          <a:xfrm>
            <a:off x="609600" y="1823055"/>
            <a:ext cx="10972800" cy="4525963"/>
          </a:xfrm>
        </p:spPr>
        <p:txBody>
          <a:bodyPr>
            <a:normAutofit/>
          </a:bodyPr>
          <a:lstStyle/>
          <a:p>
            <a:pPr marL="457200" indent="-457200">
              <a:lnSpc>
                <a:spcPct val="110000"/>
              </a:lnSpc>
              <a:spcBef>
                <a:spcPts val="1200"/>
              </a:spcBef>
              <a:buNone/>
            </a:pPr>
            <a:r>
              <a:rPr lang="en-US" sz="3200" dirty="0"/>
              <a:t>Preclinical models of schizophrenia</a:t>
            </a:r>
          </a:p>
          <a:p>
            <a:pPr>
              <a:spcBef>
                <a:spcPts val="1800"/>
              </a:spcBef>
            </a:pPr>
            <a:r>
              <a:rPr lang="en-US" altLang="en-US" dirty="0"/>
              <a:t>Animal models </a:t>
            </a:r>
            <a:r>
              <a:rPr lang="en-US" dirty="0"/>
              <a:t>focus on one aspect of the disorder to experimentally induce similar changes in animal behavior</a:t>
            </a:r>
            <a:endParaRPr lang="en-US" altLang="en-US" dirty="0"/>
          </a:p>
          <a:p>
            <a:r>
              <a:rPr lang="en-US" dirty="0"/>
              <a:t>Potential new drugs: models often depend on neurochemically induced behaviors known to respond to currently useful drugs.</a:t>
            </a:r>
          </a:p>
          <a:p>
            <a:pPr lvl="1"/>
            <a:r>
              <a:rPr lang="en-US" dirty="0"/>
              <a:t>Often fails to identify novel drugs</a:t>
            </a:r>
          </a:p>
          <a:p>
            <a:r>
              <a:rPr lang="en-US" dirty="0"/>
              <a:t>CNS stimulants produce symptoms similar to schizophrenia</a:t>
            </a:r>
          </a:p>
        </p:txBody>
      </p:sp>
    </p:spTree>
    <p:extLst>
      <p:ext uri="{BB962C8B-B14F-4D97-AF65-F5344CB8AC3E}">
        <p14:creationId xmlns:p14="http://schemas.microsoft.com/office/powerpoint/2010/main" val="26539312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(10 of 13)</a:t>
            </a:r>
            <a:endParaRPr lang="en-US" dirty="0"/>
          </a:p>
        </p:txBody>
      </p:sp>
      <p:sp>
        <p:nvSpPr>
          <p:cNvPr id="3" name="Text Placeholder 2"/>
          <p:cNvSpPr>
            <a:spLocks noGrp="1"/>
          </p:cNvSpPr>
          <p:nvPr>
            <p:ph idx="1"/>
          </p:nvPr>
        </p:nvSpPr>
        <p:spPr>
          <a:xfrm>
            <a:off x="609600" y="1823055"/>
            <a:ext cx="10972800" cy="4525963"/>
          </a:xfrm>
        </p:spPr>
        <p:txBody>
          <a:bodyPr>
            <a:normAutofit fontScale="77500" lnSpcReduction="20000"/>
          </a:bodyPr>
          <a:lstStyle/>
          <a:p>
            <a:pPr marL="457200" indent="-457200">
              <a:lnSpc>
                <a:spcPct val="130000"/>
              </a:lnSpc>
              <a:spcBef>
                <a:spcPts val="1200"/>
              </a:spcBef>
              <a:buNone/>
            </a:pPr>
            <a:r>
              <a:rPr lang="en-US" sz="3800" dirty="0"/>
              <a:t>Preclinical models of schizophrenia</a:t>
            </a:r>
          </a:p>
          <a:p>
            <a:pPr>
              <a:spcBef>
                <a:spcPts val="1800"/>
              </a:spcBef>
            </a:pPr>
            <a:r>
              <a:rPr lang="en-US" b="1" dirty="0"/>
              <a:t>Amphetamine-induced stereotypy</a:t>
            </a:r>
            <a:r>
              <a:rPr lang="en-US" dirty="0"/>
              <a:t>: the compulsive repetitions of meaningless behavior seen in schizophrenia</a:t>
            </a:r>
          </a:p>
          <a:p>
            <a:pPr>
              <a:spcBef>
                <a:spcPts val="1800"/>
              </a:spcBef>
            </a:pPr>
            <a:r>
              <a:rPr lang="en-US" b="1" dirty="0" err="1"/>
              <a:t>Hypoglutamate</a:t>
            </a:r>
            <a:r>
              <a:rPr lang="en-US" b="1" dirty="0"/>
              <a:t> model</a:t>
            </a:r>
            <a:r>
              <a:rPr lang="en-US" dirty="0"/>
              <a:t>: NMDA receptor antagonists PCP and ketamine produce behaviors similar to symptoms of schizophrenia</a:t>
            </a:r>
          </a:p>
          <a:p>
            <a:pPr>
              <a:spcBef>
                <a:spcPts val="1800"/>
              </a:spcBef>
            </a:pPr>
            <a:r>
              <a:rPr lang="en-US" b="1" dirty="0"/>
              <a:t>Vacuous chewing movements test</a:t>
            </a:r>
            <a:r>
              <a:rPr lang="en-US" dirty="0"/>
              <a:t>: mouth and facial dyskinesias similar to the tardive dyskinesia that occurs in some patients</a:t>
            </a:r>
          </a:p>
          <a:p>
            <a:pPr>
              <a:spcBef>
                <a:spcPts val="1800"/>
              </a:spcBef>
            </a:pPr>
            <a:r>
              <a:rPr lang="en-US" altLang="en-US" b="1" dirty="0"/>
              <a:t>Attentional set-shifting task</a:t>
            </a:r>
            <a:r>
              <a:rPr lang="en-US" altLang="en-US" dirty="0"/>
              <a:t>:</a:t>
            </a:r>
            <a:r>
              <a:rPr lang="en-US" altLang="en-US" b="1" dirty="0"/>
              <a:t> </a:t>
            </a:r>
            <a:r>
              <a:rPr lang="en-US" altLang="en-US" dirty="0"/>
              <a:t>rodent version of the WCST</a:t>
            </a:r>
          </a:p>
          <a:p>
            <a:pPr>
              <a:spcBef>
                <a:spcPts val="1800"/>
              </a:spcBef>
            </a:pPr>
            <a:r>
              <a:rPr lang="en-US" altLang="en-US" b="1" dirty="0" err="1"/>
              <a:t>Prepulse</a:t>
            </a:r>
            <a:r>
              <a:rPr lang="en-US" altLang="en-US" b="1" dirty="0"/>
              <a:t> inhibition of startle</a:t>
            </a:r>
            <a:r>
              <a:rPr lang="en-US" altLang="en-US" dirty="0"/>
              <a:t> (</a:t>
            </a:r>
            <a:r>
              <a:rPr lang="en-US" altLang="en-US" b="1" dirty="0"/>
              <a:t>PPI</a:t>
            </a:r>
            <a:r>
              <a:rPr lang="en-US" altLang="en-US" dirty="0"/>
              <a:t>): models used to study sensory-filtering deficits</a:t>
            </a:r>
          </a:p>
          <a:p>
            <a:pPr>
              <a:spcBef>
                <a:spcPts val="1800"/>
              </a:spcBef>
            </a:pPr>
            <a:r>
              <a:rPr lang="en-US" altLang="en-US" b="1" dirty="0"/>
              <a:t>Neonatal ventral hippocampal lesion model </a:t>
            </a:r>
            <a:r>
              <a:rPr lang="en-US" altLang="en-US" dirty="0"/>
              <a:t>(</a:t>
            </a:r>
            <a:r>
              <a:rPr lang="en-US" altLang="en-US" b="1" dirty="0"/>
              <a:t>NVHL</a:t>
            </a:r>
            <a:r>
              <a:rPr lang="en-US" altLang="en-US" dirty="0"/>
              <a:t>)</a:t>
            </a:r>
          </a:p>
        </p:txBody>
      </p:sp>
    </p:spTree>
    <p:extLst>
      <p:ext uri="{BB962C8B-B14F-4D97-AF65-F5344CB8AC3E}">
        <p14:creationId xmlns:p14="http://schemas.microsoft.com/office/powerpoint/2010/main" val="34845568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Etiology of Schizophrenia </a:t>
            </a:r>
            <a:r>
              <a:rPr lang="en-US" sz="1200" dirty="0"/>
              <a:t>(11 of 13)</a:t>
            </a:r>
            <a:endParaRPr lang="en-US" dirty="0"/>
          </a:p>
        </p:txBody>
      </p:sp>
      <p:sp>
        <p:nvSpPr>
          <p:cNvPr id="3" name="Text Placeholder 2"/>
          <p:cNvSpPr>
            <a:spLocks noGrp="1"/>
          </p:cNvSpPr>
          <p:nvPr>
            <p:ph idx="1"/>
          </p:nvPr>
        </p:nvSpPr>
        <p:spPr/>
        <p:txBody>
          <a:bodyPr>
            <a:normAutofit fontScale="85000" lnSpcReduction="20000"/>
          </a:bodyPr>
          <a:lstStyle/>
          <a:p>
            <a:pPr marL="0" indent="0">
              <a:spcBef>
                <a:spcPts val="1800"/>
              </a:spcBef>
              <a:buNone/>
            </a:pPr>
            <a:r>
              <a:rPr lang="en-US" u="sng" dirty="0"/>
              <a:t>BOX 19.2  PHARMACOLOGY IN ACTION</a:t>
            </a:r>
          </a:p>
          <a:p>
            <a:pPr marL="0" indent="0">
              <a:buNone/>
            </a:pPr>
            <a:r>
              <a:rPr lang="en-US" sz="3800" i="1" dirty="0"/>
              <a:t>The Prenatal Inflammation Model of Schizophrenia</a:t>
            </a:r>
          </a:p>
          <a:p>
            <a:pPr>
              <a:spcBef>
                <a:spcPts val="1800"/>
              </a:spcBef>
            </a:pPr>
            <a:r>
              <a:rPr lang="en-US" dirty="0"/>
              <a:t>Rodent models using maternal immune activation:</a:t>
            </a:r>
          </a:p>
          <a:p>
            <a:pPr lvl="1">
              <a:spcBef>
                <a:spcPts val="1800"/>
              </a:spcBef>
            </a:pPr>
            <a:r>
              <a:rPr lang="en-US" dirty="0"/>
              <a:t>The inflammatory agent </a:t>
            </a:r>
            <a:r>
              <a:rPr lang="en-US" dirty="0" err="1"/>
              <a:t>polyI:C</a:t>
            </a:r>
            <a:r>
              <a:rPr lang="en-US" dirty="0"/>
              <a:t> mimics the acute response to viral infection</a:t>
            </a:r>
          </a:p>
          <a:p>
            <a:pPr lvl="1">
              <a:spcBef>
                <a:spcPts val="1800"/>
              </a:spcBef>
            </a:pPr>
            <a:r>
              <a:rPr lang="en-GB" dirty="0"/>
              <a:t>Lipopolysaccharide, a bacterial endotoxin</a:t>
            </a:r>
          </a:p>
          <a:p>
            <a:pPr>
              <a:spcBef>
                <a:spcPts val="1800"/>
              </a:spcBef>
            </a:pPr>
            <a:r>
              <a:rPr lang="en-US" dirty="0"/>
              <a:t>Levels of pro-inflammatory cytokines are elevated in the fetal brain, placenta, and amniotic fluid</a:t>
            </a:r>
          </a:p>
          <a:p>
            <a:pPr>
              <a:spcBef>
                <a:spcPts val="1800"/>
              </a:spcBef>
            </a:pPr>
            <a:r>
              <a:rPr lang="en-US" dirty="0"/>
              <a:t>The agents produce brain structural, neurochemical, cognitive, and behavioral outcomes that resemble components of schizophrenia</a:t>
            </a:r>
            <a:endParaRPr lang="en-GB" dirty="0"/>
          </a:p>
        </p:txBody>
      </p:sp>
    </p:spTree>
    <p:extLst>
      <p:ext uri="{BB962C8B-B14F-4D97-AF65-F5344CB8AC3E}">
        <p14:creationId xmlns:p14="http://schemas.microsoft.com/office/powerpoint/2010/main" val="35259885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Etiology of Schizophrenia </a:t>
            </a:r>
            <a:r>
              <a:rPr lang="en-US" sz="1200" dirty="0"/>
              <a:t>(12 of 13)</a:t>
            </a:r>
            <a:endParaRPr lang="en-US" dirty="0"/>
          </a:p>
        </p:txBody>
      </p:sp>
      <p:sp>
        <p:nvSpPr>
          <p:cNvPr id="3" name="Text Placeholder 2"/>
          <p:cNvSpPr>
            <a:spLocks noGrp="1"/>
          </p:cNvSpPr>
          <p:nvPr>
            <p:ph idx="1"/>
          </p:nvPr>
        </p:nvSpPr>
        <p:spPr>
          <a:xfrm>
            <a:off x="609600" y="1823055"/>
            <a:ext cx="10972800" cy="4525963"/>
          </a:xfrm>
        </p:spPr>
        <p:txBody>
          <a:bodyPr>
            <a:normAutofit/>
          </a:bodyPr>
          <a:lstStyle/>
          <a:p>
            <a:pPr marL="457200" indent="-457200">
              <a:lnSpc>
                <a:spcPct val="110000"/>
              </a:lnSpc>
              <a:spcBef>
                <a:spcPts val="1200"/>
              </a:spcBef>
              <a:buNone/>
            </a:pPr>
            <a:r>
              <a:rPr lang="en-US" sz="3200" dirty="0"/>
              <a:t>Preclinical models of schizophrenia</a:t>
            </a:r>
          </a:p>
          <a:p>
            <a:pPr>
              <a:spcBef>
                <a:spcPts val="1800"/>
              </a:spcBef>
            </a:pPr>
            <a:r>
              <a:rPr lang="en-US" dirty="0"/>
              <a:t>Genetic models: modifications of </a:t>
            </a:r>
            <a:r>
              <a:rPr lang="en-US" altLang="en-US" dirty="0"/>
              <a:t>schizophrenia susceptibility genes</a:t>
            </a:r>
          </a:p>
          <a:p>
            <a:r>
              <a:rPr lang="en-US" altLang="en-US" dirty="0"/>
              <a:t>DA reuptake transporter knockout mice show hyperactivity, deficits in PPI, stereotyped movements, and spatial learning impairments</a:t>
            </a:r>
          </a:p>
          <a:p>
            <a:r>
              <a:rPr lang="en-US" altLang="en-US" dirty="0"/>
              <a:t>Newer models also manipulate environmental factors, prenatal inflammation, postnatal stress, vitamin D deficiency, exposure to drugs of abuse.</a:t>
            </a:r>
          </a:p>
        </p:txBody>
      </p:sp>
    </p:spTree>
    <p:extLst>
      <p:ext uri="{BB962C8B-B14F-4D97-AF65-F5344CB8AC3E}">
        <p14:creationId xmlns:p14="http://schemas.microsoft.com/office/powerpoint/2010/main" val="2761255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Etiology of Schizophrenia </a:t>
            </a:r>
            <a:r>
              <a:rPr lang="en-US" sz="1200" dirty="0"/>
              <a:t>(13 of 13)</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1</a:t>
            </a:r>
          </a:p>
          <a:p>
            <a:pPr marL="457200" indent="-457200">
              <a:spcBef>
                <a:spcPts val="2400"/>
              </a:spcBef>
              <a:buNone/>
            </a:pPr>
            <a:r>
              <a:rPr lang="en-US" sz="3200" dirty="0"/>
              <a:t>Which of the following is </a:t>
            </a:r>
            <a:r>
              <a:rPr lang="en-US" sz="3200" i="1" dirty="0"/>
              <a:t>not</a:t>
            </a:r>
            <a:r>
              <a:rPr lang="en-US" sz="3200" dirty="0"/>
              <a:t> an abnormality found in the brain of schizophrenic patients?</a:t>
            </a:r>
          </a:p>
          <a:p>
            <a:pPr marL="914400" indent="-457200">
              <a:spcBef>
                <a:spcPts val="1200"/>
              </a:spcBef>
              <a:buFont typeface="Arial" pitchFamily="34" charset="0"/>
              <a:buAutoNum type="alphaLcPeriod"/>
            </a:pPr>
            <a:r>
              <a:rPr lang="en-US" sz="3200" dirty="0"/>
              <a:t>Cerebral atrophy</a:t>
            </a:r>
          </a:p>
          <a:p>
            <a:pPr marL="914400" indent="-457200">
              <a:spcBef>
                <a:spcPts val="1200"/>
              </a:spcBef>
              <a:buFont typeface="Arial" pitchFamily="34" charset="0"/>
              <a:buAutoNum type="alphaLcPeriod"/>
            </a:pPr>
            <a:r>
              <a:rPr lang="en-US" sz="3200" dirty="0"/>
              <a:t>Increased connectivity between brain regions</a:t>
            </a:r>
          </a:p>
          <a:p>
            <a:pPr marL="914400" indent="-457200">
              <a:spcBef>
                <a:spcPts val="1200"/>
              </a:spcBef>
              <a:buFont typeface="Arial" pitchFamily="34" charset="0"/>
              <a:buAutoNum type="alphaLcPeriod"/>
            </a:pPr>
            <a:r>
              <a:rPr lang="en-US" sz="3200" dirty="0"/>
              <a:t>Disorganized hippocampal cells</a:t>
            </a:r>
          </a:p>
          <a:p>
            <a:pPr marL="914400" indent="-457200">
              <a:spcBef>
                <a:spcPts val="1200"/>
              </a:spcBef>
              <a:buFont typeface="Arial" pitchFamily="34" charset="0"/>
              <a:buAutoNum type="alphaLcPeriod"/>
            </a:pPr>
            <a:r>
              <a:rPr lang="en-US" sz="3200" dirty="0"/>
              <a:t>Ventricle enlargement</a:t>
            </a:r>
          </a:p>
        </p:txBody>
      </p:sp>
    </p:spTree>
    <p:extLst>
      <p:ext uri="{BB962C8B-B14F-4D97-AF65-F5344CB8AC3E}">
        <p14:creationId xmlns:p14="http://schemas.microsoft.com/office/powerpoint/2010/main" val="2244686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(2 of 4)</a:t>
            </a:r>
            <a:endParaRPr lang="en-US" sz="3200" dirty="0"/>
          </a:p>
        </p:txBody>
      </p:sp>
      <p:sp>
        <p:nvSpPr>
          <p:cNvPr id="3" name="Text Placeholder 2"/>
          <p:cNvSpPr>
            <a:spLocks noGrp="1"/>
          </p:cNvSpPr>
          <p:nvPr>
            <p:ph idx="1"/>
          </p:nvPr>
        </p:nvSpPr>
        <p:spPr/>
        <p:txBody>
          <a:bodyPr>
            <a:normAutofit fontScale="92500" lnSpcReduction="20000"/>
          </a:bodyPr>
          <a:lstStyle/>
          <a:p>
            <a:pPr marL="1143000" indent="-1143000">
              <a:lnSpc>
                <a:spcPct val="120000"/>
              </a:lnSpc>
              <a:spcBef>
                <a:spcPts val="1800"/>
              </a:spcBef>
              <a:buNone/>
            </a:pPr>
            <a:r>
              <a:rPr lang="en-US" sz="2800" dirty="0"/>
              <a:t>19.2.1  Explain how irregularities in brain structure and function, coupled with neuroinflammation, combine to suggest altered developmental processes in schizophrenia.</a:t>
            </a:r>
          </a:p>
          <a:p>
            <a:pPr marL="1143000" indent="-1143000">
              <a:lnSpc>
                <a:spcPct val="120000"/>
              </a:lnSpc>
              <a:spcBef>
                <a:spcPts val="1800"/>
              </a:spcBef>
              <a:buNone/>
            </a:pPr>
            <a:r>
              <a:rPr lang="en-US" sz="2800" dirty="0"/>
              <a:t>19.2.2  Describe the role of genetics in the etiology of schizophrenia.</a:t>
            </a:r>
          </a:p>
          <a:p>
            <a:pPr marL="1143000" indent="-1143000">
              <a:lnSpc>
                <a:spcPct val="120000"/>
              </a:lnSpc>
              <a:spcBef>
                <a:spcPts val="1800"/>
              </a:spcBef>
              <a:buNone/>
            </a:pPr>
            <a:r>
              <a:rPr lang="en-US" sz="2800" dirty="0"/>
              <a:t>19.2.3  Explain how genetic risk may combine with perinatal complications to contribute to elevated risk of schizophrenia.</a:t>
            </a:r>
          </a:p>
          <a:p>
            <a:pPr marL="1143000" indent="-1143000">
              <a:lnSpc>
                <a:spcPct val="120000"/>
              </a:lnSpc>
              <a:spcBef>
                <a:spcPts val="1800"/>
              </a:spcBef>
              <a:buNone/>
            </a:pPr>
            <a:r>
              <a:rPr lang="en-US" sz="2800" dirty="0"/>
              <a:t>19.2.4  Describe the main categories of preclinical animal models for schizophrenia, including drug-induced, prenatal inflammation, and genetic models.</a:t>
            </a:r>
          </a:p>
        </p:txBody>
      </p:sp>
    </p:spTree>
    <p:extLst>
      <p:ext uri="{BB962C8B-B14F-4D97-AF65-F5344CB8AC3E}">
        <p14:creationId xmlns:p14="http://schemas.microsoft.com/office/powerpoint/2010/main" val="25313417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Models of Schizophrenia </a:t>
            </a:r>
            <a:r>
              <a:rPr lang="en-US" sz="1200" dirty="0"/>
              <a:t>(1 of 5)</a:t>
            </a:r>
            <a:endParaRPr lang="en-US" dirty="0"/>
          </a:p>
        </p:txBody>
      </p:sp>
      <p:sp>
        <p:nvSpPr>
          <p:cNvPr id="3" name="Text Placeholder 2"/>
          <p:cNvSpPr>
            <a:spLocks noGrp="1"/>
          </p:cNvSpPr>
          <p:nvPr>
            <p:ph idx="1"/>
          </p:nvPr>
        </p:nvSpPr>
        <p:spPr>
          <a:xfrm>
            <a:off x="609600" y="1672584"/>
            <a:ext cx="10972800" cy="4624044"/>
          </a:xfrm>
        </p:spPr>
        <p:txBody>
          <a:bodyPr>
            <a:normAutofit fontScale="77500" lnSpcReduction="20000"/>
          </a:bodyPr>
          <a:lstStyle/>
          <a:p>
            <a:pPr marL="457200" indent="-457200">
              <a:lnSpc>
                <a:spcPct val="130000"/>
              </a:lnSpc>
              <a:spcBef>
                <a:spcPts val="1200"/>
              </a:spcBef>
              <a:buNone/>
            </a:pPr>
            <a:r>
              <a:rPr lang="en-US" sz="3800" dirty="0"/>
              <a:t>Abnormal DA function contributes to schizophrenic symptoms</a:t>
            </a:r>
          </a:p>
          <a:p>
            <a:pPr>
              <a:spcBef>
                <a:spcPts val="1800"/>
              </a:spcBef>
            </a:pPr>
            <a:r>
              <a:rPr lang="en-US" b="1" dirty="0"/>
              <a:t>Dopamine hypothesis of schizophrenia</a:t>
            </a:r>
            <a:r>
              <a:rPr lang="en-US" dirty="0"/>
              <a:t>: positive symptoms are caused by excessive mesolimbic DA activity</a:t>
            </a:r>
          </a:p>
          <a:p>
            <a:pPr lvl="1">
              <a:spcBef>
                <a:spcPts val="1800"/>
              </a:spcBef>
            </a:pPr>
            <a:r>
              <a:rPr lang="en-US" dirty="0"/>
              <a:t>Amphetamine produces positive symptoms in healthy individuals that can be reversed by DA antagonists</a:t>
            </a:r>
          </a:p>
          <a:p>
            <a:pPr lvl="1">
              <a:spcBef>
                <a:spcPts val="1800"/>
              </a:spcBef>
            </a:pPr>
            <a:r>
              <a:rPr lang="en-US" dirty="0"/>
              <a:t>Amphetamines make symptoms worse in patients with schizophrenia</a:t>
            </a:r>
          </a:p>
          <a:p>
            <a:pPr lvl="1">
              <a:spcBef>
                <a:spcPts val="1800"/>
              </a:spcBef>
            </a:pPr>
            <a:r>
              <a:rPr lang="en-US" dirty="0"/>
              <a:t>Strong correlation between D</a:t>
            </a:r>
            <a:r>
              <a:rPr lang="en-US" baseline="-25000" dirty="0"/>
              <a:t>2</a:t>
            </a:r>
            <a:r>
              <a:rPr lang="en-US" dirty="0"/>
              <a:t> receptor blockade and reduction of symptoms</a:t>
            </a:r>
          </a:p>
          <a:p>
            <a:pPr lvl="1">
              <a:spcBef>
                <a:spcPts val="1800"/>
              </a:spcBef>
            </a:pPr>
            <a:r>
              <a:rPr lang="en-US" dirty="0"/>
              <a:t>Schizophrenic individuals show exaggerated DA release after amphetamine challenge as well as in basal conditions</a:t>
            </a:r>
          </a:p>
          <a:p>
            <a:pPr lvl="1">
              <a:spcBef>
                <a:spcPts val="1800"/>
              </a:spcBef>
            </a:pPr>
            <a:r>
              <a:rPr lang="en-US" dirty="0"/>
              <a:t>Some evidence for increased D</a:t>
            </a:r>
            <a:r>
              <a:rPr lang="en-US" baseline="-25000" dirty="0"/>
              <a:t>2</a:t>
            </a:r>
            <a:r>
              <a:rPr lang="en-US" dirty="0"/>
              <a:t> receptors in schizophrenia</a:t>
            </a:r>
          </a:p>
        </p:txBody>
      </p:sp>
    </p:spTree>
    <p:extLst>
      <p:ext uri="{BB962C8B-B14F-4D97-AF65-F5344CB8AC3E}">
        <p14:creationId xmlns:p14="http://schemas.microsoft.com/office/powerpoint/2010/main" val="6863356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Models of Schizophrenia </a:t>
            </a:r>
            <a:r>
              <a:rPr lang="en-US" sz="1200" dirty="0"/>
              <a:t>(2 of 5)</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Abnormal DA function contributes to schizophrenic symptoms</a:t>
            </a:r>
          </a:p>
          <a:p>
            <a:pPr>
              <a:spcBef>
                <a:spcPts val="1800"/>
              </a:spcBef>
            </a:pPr>
            <a:r>
              <a:rPr lang="en-US" b="1" dirty="0"/>
              <a:t>DA imbalance hypothesis:</a:t>
            </a:r>
            <a:r>
              <a:rPr lang="en-US" dirty="0"/>
              <a:t> symptoms are due to reduced DA function in </a:t>
            </a:r>
            <a:r>
              <a:rPr lang="en-US" dirty="0" err="1"/>
              <a:t>mesocortical</a:t>
            </a:r>
            <a:r>
              <a:rPr lang="en-US" dirty="0"/>
              <a:t> neurons along with excess DA function in mesolimbic neurons</a:t>
            </a:r>
          </a:p>
          <a:p>
            <a:pPr lvl="1">
              <a:spcBef>
                <a:spcPts val="1800"/>
              </a:spcBef>
            </a:pPr>
            <a:r>
              <a:rPr lang="en-US" dirty="0"/>
              <a:t>Negative symptoms and impaired thinking explained by impaired PFC function (low </a:t>
            </a:r>
            <a:r>
              <a:rPr lang="en-US" dirty="0" err="1"/>
              <a:t>mesocortical</a:t>
            </a:r>
            <a:r>
              <a:rPr lang="en-US" dirty="0"/>
              <a:t> activity)</a:t>
            </a:r>
          </a:p>
          <a:p>
            <a:pPr lvl="1">
              <a:spcBef>
                <a:spcPts val="1800"/>
              </a:spcBef>
            </a:pPr>
            <a:r>
              <a:rPr lang="en-US" dirty="0"/>
              <a:t>Positive symptoms improved by reducing DA function in mesolimbic neurons</a:t>
            </a:r>
          </a:p>
        </p:txBody>
      </p:sp>
    </p:spTree>
    <p:extLst>
      <p:ext uri="{BB962C8B-B14F-4D97-AF65-F5344CB8AC3E}">
        <p14:creationId xmlns:p14="http://schemas.microsoft.com/office/powerpoint/2010/main" val="529816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Models of Schizophrenia </a:t>
            </a:r>
            <a:r>
              <a:rPr lang="en-US" sz="1200" dirty="0"/>
              <a:t>(3 of 5)</a:t>
            </a:r>
            <a:endParaRPr lang="en-US" dirty="0"/>
          </a:p>
        </p:txBody>
      </p:sp>
      <p:sp>
        <p:nvSpPr>
          <p:cNvPr id="3" name="Text Placeholder 2"/>
          <p:cNvSpPr>
            <a:spLocks noGrp="1"/>
          </p:cNvSpPr>
          <p:nvPr>
            <p:ph idx="1"/>
          </p:nvPr>
        </p:nvSpPr>
        <p:spPr>
          <a:xfrm>
            <a:off x="609600" y="1672584"/>
            <a:ext cx="10972800" cy="4624044"/>
          </a:xfrm>
        </p:spPr>
        <p:txBody>
          <a:bodyPr>
            <a:normAutofit lnSpcReduction="10000"/>
          </a:bodyPr>
          <a:lstStyle/>
          <a:p>
            <a:pPr marL="457200" indent="-457200">
              <a:lnSpc>
                <a:spcPct val="110000"/>
              </a:lnSpc>
              <a:spcBef>
                <a:spcPts val="1200"/>
              </a:spcBef>
              <a:buNone/>
            </a:pPr>
            <a:r>
              <a:rPr lang="en-US" sz="3200" dirty="0"/>
              <a:t>The neurodevelopmental model integrates anatomical and neurochemical evidence</a:t>
            </a:r>
          </a:p>
          <a:p>
            <a:pPr>
              <a:spcBef>
                <a:spcPts val="1800"/>
              </a:spcBef>
            </a:pPr>
            <a:r>
              <a:rPr lang="en-US" dirty="0"/>
              <a:t>Negative and cognitive symptoms are associated with reduced frontal lobe function</a:t>
            </a:r>
          </a:p>
          <a:p>
            <a:pPr>
              <a:spcBef>
                <a:spcPts val="1800"/>
              </a:spcBef>
            </a:pPr>
            <a:r>
              <a:rPr lang="en-US" dirty="0"/>
              <a:t>Excessive mesolimbic DA activity following early </a:t>
            </a:r>
            <a:r>
              <a:rPr lang="en-US" dirty="0" err="1"/>
              <a:t>mesocortical</a:t>
            </a:r>
            <a:r>
              <a:rPr lang="en-US" dirty="0"/>
              <a:t> cell loss can explain the positive symptoms</a:t>
            </a:r>
          </a:p>
          <a:p>
            <a:pPr>
              <a:spcBef>
                <a:spcPts val="1800"/>
              </a:spcBef>
            </a:pPr>
            <a:r>
              <a:rPr lang="en-US" altLang="en-US" dirty="0"/>
              <a:t>Early </a:t>
            </a:r>
            <a:r>
              <a:rPr lang="en-US" altLang="en-US" dirty="0" err="1"/>
              <a:t>mesocortical</a:t>
            </a:r>
            <a:r>
              <a:rPr lang="en-US" altLang="en-US" dirty="0"/>
              <a:t> cell loss due to genetics or environmental events that alter brain development are followed by loss of inhibitory control of mesolimbic cells and onset of positive symptoms</a:t>
            </a:r>
          </a:p>
        </p:txBody>
      </p:sp>
    </p:spTree>
    <p:extLst>
      <p:ext uri="{BB962C8B-B14F-4D97-AF65-F5344CB8AC3E}">
        <p14:creationId xmlns:p14="http://schemas.microsoft.com/office/powerpoint/2010/main" val="5810492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Neurochemical Models of Schizophrenia </a:t>
            </a:r>
            <a:r>
              <a:rPr lang="en-US" sz="1200" dirty="0"/>
              <a:t>(4 of 5)</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Glutamate and other neurotransmitters contribute to symptoms</a:t>
            </a:r>
          </a:p>
          <a:p>
            <a:pPr>
              <a:spcBef>
                <a:spcPts val="1800"/>
              </a:spcBef>
            </a:pPr>
            <a:r>
              <a:rPr lang="en-US" dirty="0"/>
              <a:t>Inadequate glutamate may explain the apparent increase in mesolimbic DA and decrease in PFC.</a:t>
            </a:r>
          </a:p>
          <a:p>
            <a:pPr>
              <a:spcBef>
                <a:spcPts val="1800"/>
              </a:spcBef>
            </a:pPr>
            <a:r>
              <a:rPr lang="en-US" dirty="0"/>
              <a:t>Descending glutamatergic neurons influence both </a:t>
            </a:r>
            <a:r>
              <a:rPr lang="en-US" dirty="0" err="1"/>
              <a:t>mesocortical</a:t>
            </a:r>
            <a:r>
              <a:rPr lang="en-US" dirty="0"/>
              <a:t> and mesolimbic DA pathways.</a:t>
            </a:r>
          </a:p>
          <a:p>
            <a:pPr>
              <a:spcBef>
                <a:spcPts val="1800"/>
              </a:spcBef>
            </a:pPr>
            <a:r>
              <a:rPr lang="en-US" dirty="0"/>
              <a:t>Evidence for the importance of NMDA receptors comes from challenge studies, rodent studies, receptor subunit studies, and genetics – suggesting that NMDA hypofunction is central to schizophrenia</a:t>
            </a:r>
          </a:p>
        </p:txBody>
      </p:sp>
    </p:spTree>
    <p:extLst>
      <p:ext uri="{BB962C8B-B14F-4D97-AF65-F5344CB8AC3E}">
        <p14:creationId xmlns:p14="http://schemas.microsoft.com/office/powerpoint/2010/main" val="36632351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1683B3-D584-F545-B7DB-3A6564321882}"/>
              </a:ext>
            </a:extLst>
          </p:cNvPr>
          <p:cNvSpPr>
            <a:spLocks noGrp="1"/>
          </p:cNvSpPr>
          <p:nvPr>
            <p:ph type="title"/>
          </p:nvPr>
        </p:nvSpPr>
        <p:spPr/>
        <p:txBody>
          <a:bodyPr/>
          <a:lstStyle/>
          <a:p>
            <a:r>
              <a:rPr lang="en-US" cap="all" dirty="0"/>
              <a:t>FIGURE 19.8</a:t>
            </a:r>
            <a:r>
              <a:rPr lang="en-US" dirty="0"/>
              <a:t>  </a:t>
            </a:r>
            <a:r>
              <a:rPr lang="en-US" dirty="0" err="1"/>
              <a:t>Hypoglutamate</a:t>
            </a:r>
            <a:r>
              <a:rPr lang="en-US" dirty="0"/>
              <a:t> hypothesis of schizophrenia </a:t>
            </a:r>
          </a:p>
        </p:txBody>
      </p:sp>
      <p:pic>
        <p:nvPicPr>
          <p:cNvPr id="6" name="Content Placeholder 5" descr=" An illustration of a midsagittal section of the brain with labels depicting the nigrostriatal, mesolimbic, and mesocortical dopaminergic neurons as well as a descending glutamatergic neuron originating in the prefrontal cortex. The labels are as follows. Ventral tegmental area, mesocortical neuron, prefrontal cortex, glutamatergic neuron, dorsal striatum, nucleus accumbens, mesolimbic neuron, nigrostriatal neuron, and substantia nigra.&#10;&#10; An illustration depicts the schematic representation of the glutamate–dopamine interaction which shows the glutamatergic neurons from the prefrontal cortex activate N M D A receptors on mesocortical D A cells in the ventral tegmental area. These mesocortical D A cells reciprocally project back to the cortex. In contrast, other prefrontal cortex glutamatergic neurons acting on N M D A receptors have indirect inhibitory control of mesolimbic D A neurons that project to limbic region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723444"/>
            <a:ext cx="11376025" cy="5812749"/>
          </a:xfrm>
        </p:spPr>
      </p:pic>
    </p:spTree>
    <p:extLst>
      <p:ext uri="{BB962C8B-B14F-4D97-AF65-F5344CB8AC3E}">
        <p14:creationId xmlns:p14="http://schemas.microsoft.com/office/powerpoint/2010/main" val="6362745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Neurochemical Models of Schizophrenia </a:t>
            </a:r>
            <a:r>
              <a:rPr lang="en-US" sz="1200" dirty="0"/>
              <a:t>(5 of 5)</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2</a:t>
            </a:r>
          </a:p>
          <a:p>
            <a:pPr marL="457200" indent="-457200">
              <a:spcBef>
                <a:spcPts val="2400"/>
              </a:spcBef>
              <a:buNone/>
            </a:pPr>
            <a:r>
              <a:rPr lang="en-US" sz="3200" dirty="0"/>
              <a:t>Which model of schizophrenia was suggested by the fact that amphetamine users experience psychotic symptoms that could be reversed by DA antagonists?</a:t>
            </a:r>
          </a:p>
          <a:p>
            <a:pPr marL="914400" indent="-457200">
              <a:buFont typeface="Arial" pitchFamily="34" charset="0"/>
              <a:buAutoNum type="alphaLcPeriod"/>
            </a:pPr>
            <a:r>
              <a:rPr lang="en-US" sz="3200" dirty="0"/>
              <a:t>Dopamine hypothesis</a:t>
            </a:r>
          </a:p>
          <a:p>
            <a:pPr marL="914400" indent="-457200">
              <a:buFont typeface="Arial" pitchFamily="34" charset="0"/>
              <a:buAutoNum type="alphaLcPeriod"/>
            </a:pPr>
            <a:r>
              <a:rPr lang="en-US" sz="3200" dirty="0"/>
              <a:t>DA imbalance hypothesis</a:t>
            </a:r>
          </a:p>
          <a:p>
            <a:pPr marL="914400" indent="-457200">
              <a:buFont typeface="Arial" pitchFamily="34" charset="0"/>
              <a:buAutoNum type="alphaLcPeriod"/>
            </a:pPr>
            <a:r>
              <a:rPr lang="en-US" sz="3200" dirty="0" err="1"/>
              <a:t>Neurodevelopomental</a:t>
            </a:r>
            <a:r>
              <a:rPr lang="en-US" sz="3200" dirty="0"/>
              <a:t> model</a:t>
            </a:r>
          </a:p>
        </p:txBody>
      </p:sp>
    </p:spTree>
    <p:extLst>
      <p:ext uri="{BB962C8B-B14F-4D97-AF65-F5344CB8AC3E}">
        <p14:creationId xmlns:p14="http://schemas.microsoft.com/office/powerpoint/2010/main" val="412270110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(3 of 4)</a:t>
            </a:r>
            <a:endParaRPr lang="en-US" sz="3200" dirty="0"/>
          </a:p>
        </p:txBody>
      </p:sp>
      <p:sp>
        <p:nvSpPr>
          <p:cNvPr id="3" name="Text Placeholder 2"/>
          <p:cNvSpPr>
            <a:spLocks noGrp="1"/>
          </p:cNvSpPr>
          <p:nvPr>
            <p:ph idx="1"/>
          </p:nvPr>
        </p:nvSpPr>
        <p:spPr/>
        <p:txBody>
          <a:bodyPr>
            <a:normAutofit fontScale="85000" lnSpcReduction="20000"/>
          </a:bodyPr>
          <a:lstStyle/>
          <a:p>
            <a:pPr marL="1143000" indent="-1143000">
              <a:lnSpc>
                <a:spcPct val="120000"/>
              </a:lnSpc>
              <a:spcBef>
                <a:spcPts val="1800"/>
              </a:spcBef>
              <a:buNone/>
            </a:pPr>
            <a:r>
              <a:rPr lang="en-US" sz="3000" dirty="0"/>
              <a:t>19.3.1  Describe the evidence in support of the dopamine hypothesis of schizophrenia.</a:t>
            </a:r>
          </a:p>
          <a:p>
            <a:pPr marL="1143000" indent="-1143000">
              <a:lnSpc>
                <a:spcPct val="120000"/>
              </a:lnSpc>
              <a:spcBef>
                <a:spcPts val="1800"/>
              </a:spcBef>
              <a:buNone/>
            </a:pPr>
            <a:r>
              <a:rPr lang="en-US" sz="3000" dirty="0"/>
              <a:t>19.3.2  Explain the respective roles of abnormal mesolimbic and </a:t>
            </a:r>
            <a:r>
              <a:rPr lang="en-US" sz="3000" dirty="0" err="1"/>
              <a:t>mesocortical</a:t>
            </a:r>
            <a:r>
              <a:rPr lang="en-US" sz="3000" dirty="0"/>
              <a:t> dopamine neurotransmission in the positive and negative symptoms of schizophrenia.</a:t>
            </a:r>
          </a:p>
          <a:p>
            <a:pPr marL="1143000" indent="-1143000">
              <a:lnSpc>
                <a:spcPct val="120000"/>
              </a:lnSpc>
              <a:spcBef>
                <a:spcPts val="1800"/>
              </a:spcBef>
              <a:buNone/>
            </a:pPr>
            <a:r>
              <a:rPr lang="en-US" sz="3000" dirty="0"/>
              <a:t>19.3.3  Describe the evidence in support of the role for altered glutamate neurotransmission in schizophrenia.</a:t>
            </a:r>
          </a:p>
          <a:p>
            <a:pPr marL="1143000" indent="-1143000">
              <a:lnSpc>
                <a:spcPct val="120000"/>
              </a:lnSpc>
              <a:spcBef>
                <a:spcPts val="1800"/>
              </a:spcBef>
              <a:buNone/>
            </a:pPr>
            <a:r>
              <a:rPr lang="en-US" sz="3000" dirty="0"/>
              <a:t>19.3.4  Explain how glutamate and dopamine systems are thought to interact, thereby producing the symptoms of schizophrenia</a:t>
            </a:r>
            <a:r>
              <a:rPr lang="en-US" sz="3100" dirty="0"/>
              <a:t>.</a:t>
            </a:r>
          </a:p>
        </p:txBody>
      </p:sp>
    </p:spTree>
    <p:extLst>
      <p:ext uri="{BB962C8B-B14F-4D97-AF65-F5344CB8AC3E}">
        <p14:creationId xmlns:p14="http://schemas.microsoft.com/office/powerpoint/2010/main" val="610479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(1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a:spcBef>
                <a:spcPts val="1800"/>
              </a:spcBef>
            </a:pPr>
            <a:r>
              <a:rPr lang="en-US" dirty="0"/>
              <a:t>None of the drugs are consistently more effective than the others; individuals may respond better to one drug than to another</a:t>
            </a:r>
          </a:p>
          <a:p>
            <a:pPr>
              <a:spcBef>
                <a:spcPts val="1800"/>
              </a:spcBef>
            </a:pPr>
            <a:r>
              <a:rPr lang="en-US" dirty="0"/>
              <a:t>Classic: phenothiazines and butyrophenones</a:t>
            </a:r>
          </a:p>
          <a:p>
            <a:pPr>
              <a:spcBef>
                <a:spcPts val="1800"/>
              </a:spcBef>
            </a:pPr>
            <a:r>
              <a:rPr lang="en-US" dirty="0"/>
              <a:t>Second generation: clozapine, risperidone, and aripiprazole; produce fewer side effects</a:t>
            </a:r>
          </a:p>
        </p:txBody>
      </p:sp>
    </p:spTree>
    <p:extLst>
      <p:ext uri="{BB962C8B-B14F-4D97-AF65-F5344CB8AC3E}">
        <p14:creationId xmlns:p14="http://schemas.microsoft.com/office/powerpoint/2010/main" val="3643178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(2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Phenothiazines and butyrophenones are classic neuroleptics</a:t>
            </a:r>
          </a:p>
          <a:p>
            <a:pPr>
              <a:spcBef>
                <a:spcPts val="1800"/>
              </a:spcBef>
            </a:pPr>
            <a:r>
              <a:rPr lang="en-US" dirty="0"/>
              <a:t>Chlorpromazine was the first phenothiazine; has had many modifications</a:t>
            </a:r>
          </a:p>
          <a:p>
            <a:pPr>
              <a:spcBef>
                <a:spcPts val="1800"/>
              </a:spcBef>
            </a:pPr>
            <a:r>
              <a:rPr lang="en-US" dirty="0"/>
              <a:t>Molecular modifications affect ability of drug to bind to specific receptors and alter their potency and side effects</a:t>
            </a:r>
          </a:p>
        </p:txBody>
      </p:sp>
    </p:spTree>
    <p:extLst>
      <p:ext uri="{BB962C8B-B14F-4D97-AF65-F5344CB8AC3E}">
        <p14:creationId xmlns:p14="http://schemas.microsoft.com/office/powerpoint/2010/main" val="38837443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6C30D-C9E2-A44E-B51F-0404DBE1D36D}"/>
              </a:ext>
            </a:extLst>
          </p:cNvPr>
          <p:cNvSpPr>
            <a:spLocks noGrp="1"/>
          </p:cNvSpPr>
          <p:nvPr>
            <p:ph type="title"/>
          </p:nvPr>
        </p:nvSpPr>
        <p:spPr/>
        <p:txBody>
          <a:bodyPr/>
          <a:lstStyle/>
          <a:p>
            <a:r>
              <a:rPr lang="en-US" cap="all" dirty="0"/>
              <a:t>FIGURE 19.9</a:t>
            </a:r>
            <a:r>
              <a:rPr lang="en-US" dirty="0"/>
              <a:t>  Phenothiazine nucleus and related compounds </a:t>
            </a:r>
          </a:p>
        </p:txBody>
      </p:sp>
      <p:pic>
        <p:nvPicPr>
          <p:cNvPr id="6" name="Content Placeholder 5" descr=" The chemical structure of phenothiazine consists of two six-membered rings fused with a thiazine ring. The R 1 is attached to the thiazine ring and R 2 is attached to one of the six-membered ring."/>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635628" y="479425"/>
            <a:ext cx="6920745" cy="6300788"/>
          </a:xfrm>
        </p:spPr>
      </p:pic>
    </p:spTree>
    <p:extLst>
      <p:ext uri="{BB962C8B-B14F-4D97-AF65-F5344CB8AC3E}">
        <p14:creationId xmlns:p14="http://schemas.microsoft.com/office/powerpoint/2010/main" val="26687246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(3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Phenothiazines and butyrophenones are classic neuroleptics</a:t>
            </a:r>
          </a:p>
          <a:p>
            <a:pPr>
              <a:spcBef>
                <a:spcPts val="1800"/>
              </a:spcBef>
            </a:pPr>
            <a:r>
              <a:rPr lang="en-US" dirty="0"/>
              <a:t>Effectiveness:</a:t>
            </a:r>
          </a:p>
          <a:p>
            <a:pPr lvl="1">
              <a:spcBef>
                <a:spcPts val="1800"/>
              </a:spcBef>
            </a:pPr>
            <a:r>
              <a:rPr lang="en-US" dirty="0"/>
              <a:t>Law of thirds</a:t>
            </a:r>
          </a:p>
          <a:p>
            <a:pPr lvl="1"/>
            <a:r>
              <a:rPr lang="en-US" dirty="0"/>
              <a:t>Antipsychotic drugs are prescribed as maintenance therapy to prevent relapse</a:t>
            </a:r>
          </a:p>
          <a:p>
            <a:pPr lvl="1"/>
            <a:r>
              <a:rPr lang="en-US" dirty="0"/>
              <a:t>Unpleasant side effects cause many patients to stop treatment</a:t>
            </a:r>
          </a:p>
          <a:p>
            <a:pPr lvl="1"/>
            <a:r>
              <a:rPr lang="en-US" dirty="0"/>
              <a:t>Psychotherapy and group therapy are important additions</a:t>
            </a:r>
          </a:p>
        </p:txBody>
      </p:sp>
    </p:spTree>
    <p:extLst>
      <p:ext uri="{BB962C8B-B14F-4D97-AF65-F5344CB8AC3E}">
        <p14:creationId xmlns:p14="http://schemas.microsoft.com/office/powerpoint/2010/main" val="37873322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(4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Dopamine receptor antagonism is responsible for antipsychotic action</a:t>
            </a:r>
          </a:p>
          <a:p>
            <a:pPr>
              <a:spcBef>
                <a:spcPts val="1800"/>
              </a:spcBef>
            </a:pPr>
            <a:r>
              <a:rPr lang="en-US" dirty="0"/>
              <a:t>There is a strong correlation between drug binding affinity and dose required to achieve clinical effectiveness</a:t>
            </a:r>
          </a:p>
          <a:p>
            <a:pPr>
              <a:spcBef>
                <a:spcPts val="1800"/>
              </a:spcBef>
            </a:pPr>
            <a:r>
              <a:rPr lang="en-US" dirty="0"/>
              <a:t>Antipsychotic drugs bind to other neurotransmitter receptors, but no clear relationship to effectiveness</a:t>
            </a:r>
          </a:p>
          <a:p>
            <a:pPr>
              <a:spcBef>
                <a:spcPts val="1800"/>
              </a:spcBef>
            </a:pPr>
            <a:r>
              <a:rPr lang="en-US" dirty="0"/>
              <a:t>Correlation with D</a:t>
            </a:r>
            <a:r>
              <a:rPr lang="en-US" baseline="-25000" dirty="0"/>
              <a:t>2</a:t>
            </a:r>
            <a:r>
              <a:rPr lang="en-US" dirty="0"/>
              <a:t> receptor binding clearly establishes the mechanism</a:t>
            </a:r>
          </a:p>
        </p:txBody>
      </p:sp>
    </p:spTree>
    <p:extLst>
      <p:ext uri="{BB962C8B-B14F-4D97-AF65-F5344CB8AC3E}">
        <p14:creationId xmlns:p14="http://schemas.microsoft.com/office/powerpoint/2010/main" val="13553633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56BD5-312D-1A4F-AC52-91BDABFE24B1}"/>
              </a:ext>
            </a:extLst>
          </p:cNvPr>
          <p:cNvSpPr>
            <a:spLocks noGrp="1"/>
          </p:cNvSpPr>
          <p:nvPr>
            <p:ph type="title"/>
          </p:nvPr>
        </p:nvSpPr>
        <p:spPr/>
        <p:txBody>
          <a:bodyPr/>
          <a:lstStyle/>
          <a:p>
            <a:r>
              <a:rPr lang="en-US" cap="all" dirty="0"/>
              <a:t>FIGURE 19.10</a:t>
            </a:r>
            <a:r>
              <a:rPr lang="en-US" dirty="0"/>
              <a:t>  Correlation between antipsychotic drug binding to neurotransmitter receptors and clinical effectiveness </a:t>
            </a:r>
          </a:p>
        </p:txBody>
      </p:sp>
      <p:pic>
        <p:nvPicPr>
          <p:cNvPr id="6" name="Content Placeholder 5" descr=" A scatter plot displays the correlation of the dopamine receptors binding. The horizontal axis is labeled drug concentration needed to displace 50 percent of the labeled receptors. The vertical axis is labeled as the average clinical daily dose given in micromole per kilogram. The scatter plot shows a positive correlation and the best fit line slopes upward from (1.0, 0.1) through (1000, 100). The labels of antipsychotic drugs involved in binding are as follows. Spiroperidol, benperidol, bromperidol, betaclamol, droperidol, trifluoperazine, thiothixene, moperone, fluanisone, chlorpromazine, thioridazine, promazine, clozapine, pipamperone, penfluridol, fluphenazine, haloperidol, pimozide, alpha-flupenthixol, trifluperidol, clofuperol, and fluspirilene.&#10;&#10; A scatter plot displays the correlation of the serotonin receptors binding. The horizontal axis is labeled drug concentration needed to displace 50 percent of the labeled receptors. The vertical axis is labeled as the average clinical daily dose given in micromole per kilogram. The scatter plot shows no apparent correlation. The labels of antipsychotic drugs involved in binding are as follows. Spiroperidol, benperidol, bromperidol, betaclamol, droperidol, trifluoperazine, thiothixene, moperone, fluanisone, chlorpromazine, thioridazine, promazine, clozapine, pipamperone, penfluridol, fluphenazine, haloperidol, pimozide, alpha-flupenthixol, trifluperidol, clofuperol, and fluspirilen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503735" y="479425"/>
            <a:ext cx="11184531" cy="6300788"/>
          </a:xfrm>
        </p:spPr>
      </p:pic>
    </p:spTree>
    <p:extLst>
      <p:ext uri="{BB962C8B-B14F-4D97-AF65-F5344CB8AC3E}">
        <p14:creationId xmlns:p14="http://schemas.microsoft.com/office/powerpoint/2010/main" val="9048796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(5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Dopamine receptor antagonism is responsible for antipsychotic action</a:t>
            </a:r>
          </a:p>
          <a:p>
            <a:r>
              <a:rPr lang="en-US" dirty="0"/>
              <a:t>D</a:t>
            </a:r>
            <a:r>
              <a:rPr lang="en-US" baseline="-25000" dirty="0"/>
              <a:t>2</a:t>
            </a:r>
            <a:r>
              <a:rPr lang="en-US" dirty="0"/>
              <a:t> receptors are located in the basal ganglia, </a:t>
            </a:r>
            <a:r>
              <a:rPr lang="en-US" dirty="0" err="1"/>
              <a:t>NAcc</a:t>
            </a:r>
            <a:r>
              <a:rPr lang="en-US" dirty="0"/>
              <a:t>, amygdala, hippocampus, cerebral cortex</a:t>
            </a:r>
          </a:p>
          <a:p>
            <a:r>
              <a:rPr lang="en-US" dirty="0"/>
              <a:t>Blockade of D</a:t>
            </a:r>
            <a:r>
              <a:rPr lang="en-US" baseline="-25000" dirty="0"/>
              <a:t>2</a:t>
            </a:r>
            <a:r>
              <a:rPr lang="en-US" dirty="0"/>
              <a:t> </a:t>
            </a:r>
            <a:r>
              <a:rPr lang="en-US" dirty="0" err="1"/>
              <a:t>autoreceptors</a:t>
            </a:r>
            <a:r>
              <a:rPr lang="en-US" dirty="0"/>
              <a:t> causes initial increase in DA neuron firing and increased turnover of DA, followed by gradual decrease as </a:t>
            </a:r>
            <a:r>
              <a:rPr lang="en-US" dirty="0" err="1"/>
              <a:t>autoreceptors</a:t>
            </a:r>
            <a:r>
              <a:rPr lang="en-US" dirty="0"/>
              <a:t> up-regulate</a:t>
            </a:r>
          </a:p>
          <a:p>
            <a:r>
              <a:rPr lang="en-US" dirty="0"/>
              <a:t>Depolarization block may contribute to the decrease in turnover</a:t>
            </a:r>
          </a:p>
        </p:txBody>
      </p:sp>
    </p:spTree>
    <p:extLst>
      <p:ext uri="{BB962C8B-B14F-4D97-AF65-F5344CB8AC3E}">
        <p14:creationId xmlns:p14="http://schemas.microsoft.com/office/powerpoint/2010/main" val="28130699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426CA-0EEA-B740-B1DB-7C02DF5D20C3}"/>
              </a:ext>
            </a:extLst>
          </p:cNvPr>
          <p:cNvSpPr>
            <a:spLocks noGrp="1"/>
          </p:cNvSpPr>
          <p:nvPr>
            <p:ph type="title"/>
          </p:nvPr>
        </p:nvSpPr>
        <p:spPr/>
        <p:txBody>
          <a:bodyPr/>
          <a:lstStyle/>
          <a:p>
            <a:r>
              <a:rPr lang="en-US" cap="all" dirty="0"/>
              <a:t>FIGURE 19.11  </a:t>
            </a:r>
            <a:r>
              <a:rPr lang="en-US" dirty="0"/>
              <a:t>D</a:t>
            </a:r>
            <a:r>
              <a:rPr lang="en-US" baseline="-25000" dirty="0"/>
              <a:t>2</a:t>
            </a:r>
            <a:r>
              <a:rPr lang="en-US" dirty="0"/>
              <a:t> receptor occupancy by antipsychotic drugs </a:t>
            </a:r>
          </a:p>
        </p:txBody>
      </p:sp>
      <p:pic>
        <p:nvPicPr>
          <p:cNvPr id="6" name="Content Placeholder 5" descr=" A series of positron emission tomographic images of the brain displaying the binding of the antipsychotic drug to D 2 receptors in the basal ganglia. The brain image labeled from left to right is as follows. Control, Haloperidol, Clozapine, and Risperidon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290998"/>
            <a:ext cx="11376025" cy="4677641"/>
          </a:xfrm>
        </p:spPr>
      </p:pic>
    </p:spTree>
    <p:extLst>
      <p:ext uri="{BB962C8B-B14F-4D97-AF65-F5344CB8AC3E}">
        <p14:creationId xmlns:p14="http://schemas.microsoft.com/office/powerpoint/2010/main" val="8683302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(6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Dopamine receptor antagonism is responsible for antipsychotic action</a:t>
            </a:r>
          </a:p>
          <a:p>
            <a:pPr>
              <a:spcBef>
                <a:spcPts val="1800"/>
              </a:spcBef>
            </a:pPr>
            <a:r>
              <a:rPr lang="en-US" dirty="0"/>
              <a:t>Normally, DA inhibits prolactin release from the pituitary</a:t>
            </a:r>
          </a:p>
          <a:p>
            <a:pPr>
              <a:spcBef>
                <a:spcPts val="1800"/>
              </a:spcBef>
            </a:pPr>
            <a:r>
              <a:rPr lang="en-US" dirty="0"/>
              <a:t>By blocking D</a:t>
            </a:r>
            <a:r>
              <a:rPr lang="en-US" baseline="-25000" dirty="0"/>
              <a:t>2</a:t>
            </a:r>
            <a:r>
              <a:rPr lang="en-US" dirty="0"/>
              <a:t> receptors in the pituitary gland, antipsychotics stimulate secretion of prolactin, leading to lactation and breast enlargement</a:t>
            </a:r>
          </a:p>
          <a:p>
            <a:pPr>
              <a:spcBef>
                <a:spcPts val="1800"/>
              </a:spcBef>
            </a:pPr>
            <a:r>
              <a:rPr lang="en-US" dirty="0"/>
              <a:t>Measuring serum prolactin levels provides an easy measure of D</a:t>
            </a:r>
            <a:r>
              <a:rPr lang="en-US" baseline="-25000" dirty="0"/>
              <a:t>2</a:t>
            </a:r>
            <a:r>
              <a:rPr lang="en-US" dirty="0"/>
              <a:t> receptor function in the CNS</a:t>
            </a:r>
          </a:p>
        </p:txBody>
      </p:sp>
    </p:spTree>
    <p:extLst>
      <p:ext uri="{BB962C8B-B14F-4D97-AF65-F5344CB8AC3E}">
        <p14:creationId xmlns:p14="http://schemas.microsoft.com/office/powerpoint/2010/main" val="827887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(7 of 16)</a:t>
            </a:r>
            <a:endParaRPr lang="en-US" dirty="0"/>
          </a:p>
        </p:txBody>
      </p:sp>
      <p:sp>
        <p:nvSpPr>
          <p:cNvPr id="3" name="Text Placeholder 2"/>
          <p:cNvSpPr>
            <a:spLocks noGrp="1"/>
          </p:cNvSpPr>
          <p:nvPr>
            <p:ph idx="1"/>
          </p:nvPr>
        </p:nvSpPr>
        <p:spPr>
          <a:xfrm>
            <a:off x="609600" y="1672584"/>
            <a:ext cx="10972800" cy="4624044"/>
          </a:xfrm>
        </p:spPr>
        <p:txBody>
          <a:bodyPr>
            <a:normAutofit lnSpcReduction="10000"/>
          </a:bodyPr>
          <a:lstStyle/>
          <a:p>
            <a:pPr marL="457200" indent="-457200">
              <a:lnSpc>
                <a:spcPct val="120000"/>
              </a:lnSpc>
              <a:spcBef>
                <a:spcPts val="1200"/>
              </a:spcBef>
              <a:buNone/>
            </a:pPr>
            <a:r>
              <a:rPr lang="en-US" sz="3200" dirty="0"/>
              <a:t>Side effects are directly related to neurochemical action</a:t>
            </a:r>
          </a:p>
          <a:p>
            <a:pPr>
              <a:spcBef>
                <a:spcPts val="1800"/>
              </a:spcBef>
            </a:pPr>
            <a:r>
              <a:rPr lang="en-US" dirty="0"/>
              <a:t>Four DA pathways in the brain are important for understanding drug action:</a:t>
            </a:r>
          </a:p>
          <a:p>
            <a:pPr lvl="1">
              <a:spcBef>
                <a:spcPts val="1800"/>
              </a:spcBef>
            </a:pPr>
            <a:r>
              <a:rPr lang="en-US" dirty="0"/>
              <a:t>Mesolimbic pathway—affects positive symptoms</a:t>
            </a:r>
          </a:p>
          <a:p>
            <a:pPr lvl="1">
              <a:spcBef>
                <a:spcPts val="1800"/>
              </a:spcBef>
            </a:pPr>
            <a:r>
              <a:rPr lang="en-US" dirty="0" err="1"/>
              <a:t>Mesocortical</a:t>
            </a:r>
            <a:r>
              <a:rPr lang="en-US" dirty="0"/>
              <a:t> pathway—cognitive and negative symptoms</a:t>
            </a:r>
          </a:p>
          <a:p>
            <a:pPr lvl="1">
              <a:spcBef>
                <a:spcPts val="1800"/>
              </a:spcBef>
            </a:pPr>
            <a:r>
              <a:rPr lang="en-US" dirty="0"/>
              <a:t>Nigrostriatal pathway—motor side effects</a:t>
            </a:r>
          </a:p>
          <a:p>
            <a:pPr lvl="1">
              <a:spcBef>
                <a:spcPts val="1800"/>
              </a:spcBef>
            </a:pPr>
            <a:r>
              <a:rPr lang="en-US" dirty="0" err="1"/>
              <a:t>Tuberohypophyseal</a:t>
            </a:r>
            <a:r>
              <a:rPr lang="en-US" dirty="0"/>
              <a:t> pathway—regulates pituitary hormone secretion; neuroendocrine effects</a:t>
            </a:r>
          </a:p>
        </p:txBody>
      </p:sp>
    </p:spTree>
    <p:extLst>
      <p:ext uri="{BB962C8B-B14F-4D97-AF65-F5344CB8AC3E}">
        <p14:creationId xmlns:p14="http://schemas.microsoft.com/office/powerpoint/2010/main" val="40730882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(8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Side effects are directly related to neurochemical action</a:t>
            </a:r>
          </a:p>
          <a:p>
            <a:pPr>
              <a:spcBef>
                <a:spcPts val="1800"/>
              </a:spcBef>
            </a:pPr>
            <a:r>
              <a:rPr lang="en-US" b="1" dirty="0"/>
              <a:t>Parkinsonian symptoms </a:t>
            </a:r>
            <a:r>
              <a:rPr lang="en-US" dirty="0"/>
              <a:t>involve the extrapyramidal motor system (EPS)</a:t>
            </a:r>
          </a:p>
          <a:p>
            <a:r>
              <a:rPr lang="en-US" altLang="en-US" dirty="0"/>
              <a:t>Some antipsychotics have anticholinergic action, such as thioridazine</a:t>
            </a:r>
          </a:p>
          <a:p>
            <a:r>
              <a:rPr lang="en-US" altLang="en-US" dirty="0"/>
              <a:t>Alternatively, antipsychotic drugs are combined with an anticholinergic drug such as benztropine (Cogentin)</a:t>
            </a:r>
            <a:endParaRPr lang="en-US" dirty="0"/>
          </a:p>
        </p:txBody>
      </p:sp>
    </p:spTree>
    <p:extLst>
      <p:ext uri="{BB962C8B-B14F-4D97-AF65-F5344CB8AC3E}">
        <p14:creationId xmlns:p14="http://schemas.microsoft.com/office/powerpoint/2010/main" val="22095156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7EEC1-1C36-A24D-8915-5B8454D602ED}"/>
              </a:ext>
            </a:extLst>
          </p:cNvPr>
          <p:cNvSpPr>
            <a:spLocks noGrp="1"/>
          </p:cNvSpPr>
          <p:nvPr>
            <p:ph type="title"/>
          </p:nvPr>
        </p:nvSpPr>
        <p:spPr/>
        <p:txBody>
          <a:bodyPr/>
          <a:lstStyle/>
          <a:p>
            <a:r>
              <a:rPr lang="en-US" cap="all" dirty="0"/>
              <a:t>FIGURE 19.12  </a:t>
            </a:r>
            <a:r>
              <a:rPr lang="en-US" dirty="0"/>
              <a:t>Schematic diagram showing the neurotransmitters involved in parkinsonian symptoms </a:t>
            </a:r>
            <a:r>
              <a:rPr lang="en-US" sz="1100" dirty="0"/>
              <a:t>(1)</a:t>
            </a:r>
          </a:p>
        </p:txBody>
      </p:sp>
      <p:pic>
        <p:nvPicPr>
          <p:cNvPr id="6" name="Content Placeholder 5" descr=" An illustration depicts the schematic representation of the activity of cholinergic striatal interneuron in the Parkinsonian symptoms. 1. Degeneration of D A cells in Parkinson’s disease removes the inhibitory influence on the cholinergic neuron so it fires more often, causing the movement disorder. 2. Dopamine binding to D A receptors normally inhibits the cholinergic cell. Blocking these receptors leads to the same motor effects as degeneration of the cells in Parkinson’s disease. 3. Anticholinergic drugs block A Ch receptors and reduce parkinsonian symptoms."/>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3053150" y="479425"/>
            <a:ext cx="6085700" cy="6300788"/>
          </a:xfrm>
        </p:spPr>
      </p:pic>
    </p:spTree>
    <p:extLst>
      <p:ext uri="{BB962C8B-B14F-4D97-AF65-F5344CB8AC3E}">
        <p14:creationId xmlns:p14="http://schemas.microsoft.com/office/powerpoint/2010/main" val="21925498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(9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Side effects are directly related to neurochemical action</a:t>
            </a:r>
          </a:p>
          <a:p>
            <a:pPr>
              <a:spcBef>
                <a:spcPts val="1800"/>
              </a:spcBef>
            </a:pPr>
            <a:r>
              <a:rPr lang="en-US" altLang="en-US" dirty="0"/>
              <a:t>Incidence of </a:t>
            </a:r>
            <a:r>
              <a:rPr lang="en-US" altLang="en-US" b="1" dirty="0"/>
              <a:t>tardive dyskinesia</a:t>
            </a:r>
            <a:r>
              <a:rPr lang="en-US" altLang="en-US" dirty="0"/>
              <a:t> (</a:t>
            </a:r>
            <a:r>
              <a:rPr lang="en-US" altLang="en-US" b="1" dirty="0"/>
              <a:t>TD</a:t>
            </a:r>
            <a:r>
              <a:rPr lang="en-US" altLang="en-US" dirty="0"/>
              <a:t>) increases with duration of treatment</a:t>
            </a:r>
          </a:p>
          <a:p>
            <a:pPr>
              <a:spcBef>
                <a:spcPts val="1800"/>
              </a:spcBef>
            </a:pPr>
            <a:r>
              <a:rPr lang="en-US" dirty="0"/>
              <a:t>VMAT2 inhibitors have been approved for treatment of TD that selectively interfere with ability of dopamine neurons to package DA into vesicles, reducing amount of DA that can be released</a:t>
            </a:r>
          </a:p>
        </p:txBody>
      </p:sp>
    </p:spTree>
    <p:extLst>
      <p:ext uri="{BB962C8B-B14F-4D97-AF65-F5344CB8AC3E}">
        <p14:creationId xmlns:p14="http://schemas.microsoft.com/office/powerpoint/2010/main" val="33413083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99B84-92F0-1944-BAFB-DD4510EDED96}"/>
              </a:ext>
            </a:extLst>
          </p:cNvPr>
          <p:cNvSpPr>
            <a:spLocks noGrp="1"/>
          </p:cNvSpPr>
          <p:nvPr>
            <p:ph type="title"/>
          </p:nvPr>
        </p:nvSpPr>
        <p:spPr/>
        <p:txBody>
          <a:bodyPr/>
          <a:lstStyle/>
          <a:p>
            <a:r>
              <a:rPr lang="en-US" cap="all" dirty="0"/>
              <a:t>FIGURE 19.13</a:t>
            </a:r>
            <a:r>
              <a:rPr lang="en-US" dirty="0"/>
              <a:t>  Effect of VMAT2 inhibition on tardive dyskinesia </a:t>
            </a:r>
          </a:p>
        </p:txBody>
      </p:sp>
      <p:pic>
        <p:nvPicPr>
          <p:cNvPr id="6" name="Content Placeholder 5" descr=" An error graph displays the effect of V M A T 2 inhibition on tardive dyskinesia. The horizontal axis is labeled assessment and the vertical axis is labeled as AIMS score: least-squares change from baseline. Data from the graph presented in the format, V M A T 2 inhibitors: AIMS score at baseline, week 2, week 4, and week 6 are as follows. placebo (N equals 76): 0, negative 0.3, negative 0.4, negative 0.4. Valbenazine, 40 milligrams per day (N equals 70): 0, negative 1.55, negative 1.49, negative 2.0. Valbenazine, 40 milligrams per day (N equals 70): 0, negative 1.9, negative 2.25, negative 3.25."/>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2977237" y="479425"/>
            <a:ext cx="6237527" cy="6300788"/>
          </a:xfrm>
        </p:spPr>
      </p:pic>
    </p:spTree>
    <p:extLst>
      <p:ext uri="{BB962C8B-B14F-4D97-AF65-F5344CB8AC3E}">
        <p14:creationId xmlns:p14="http://schemas.microsoft.com/office/powerpoint/2010/main" val="17899537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(10 of 16)</a:t>
            </a:r>
            <a:endParaRPr lang="en-US" dirty="0"/>
          </a:p>
        </p:txBody>
      </p:sp>
      <p:sp>
        <p:nvSpPr>
          <p:cNvPr id="3" name="Text Placeholder 2"/>
          <p:cNvSpPr>
            <a:spLocks noGrp="1"/>
          </p:cNvSpPr>
          <p:nvPr>
            <p:ph idx="1"/>
          </p:nvPr>
        </p:nvSpPr>
        <p:spPr>
          <a:xfrm>
            <a:off x="609600" y="1672584"/>
            <a:ext cx="10972800" cy="4624044"/>
          </a:xfrm>
        </p:spPr>
        <p:txBody>
          <a:bodyPr>
            <a:normAutofit lnSpcReduction="10000"/>
          </a:bodyPr>
          <a:lstStyle/>
          <a:p>
            <a:pPr marL="457200" indent="-457200">
              <a:lnSpc>
                <a:spcPct val="120000"/>
              </a:lnSpc>
              <a:spcBef>
                <a:spcPts val="1200"/>
              </a:spcBef>
              <a:buNone/>
            </a:pPr>
            <a:r>
              <a:rPr lang="en-US" sz="3200" dirty="0"/>
              <a:t>Side effects are directly related to neurochemical action</a:t>
            </a:r>
          </a:p>
          <a:p>
            <a:r>
              <a:rPr lang="en-US" altLang="en-US" dirty="0"/>
              <a:t>Blockade of receptors in the DA pathway that regulate pituitary function produces neuroendocrine effects:</a:t>
            </a:r>
          </a:p>
          <a:p>
            <a:pPr lvl="1"/>
            <a:r>
              <a:rPr lang="en-US" altLang="en-US" dirty="0"/>
              <a:t>Decreased sex drive, no menstruation, increased prolactin, inhibition of growth hormone, weight gain, inability to regulate body temperature</a:t>
            </a:r>
          </a:p>
          <a:p>
            <a:r>
              <a:rPr lang="en-US" b="1" dirty="0"/>
              <a:t>Neuroleptic malignant syndrome</a:t>
            </a:r>
            <a:r>
              <a:rPr lang="en-US" dirty="0"/>
              <a:t> (</a:t>
            </a:r>
            <a:r>
              <a:rPr lang="en-US" b="1" dirty="0"/>
              <a:t>NMS</a:t>
            </a:r>
            <a:r>
              <a:rPr lang="en-US" dirty="0"/>
              <a:t>): life-threatening</a:t>
            </a:r>
          </a:p>
          <a:p>
            <a:pPr lvl="1"/>
            <a:r>
              <a:rPr lang="en-US" dirty="0"/>
              <a:t>Fever, rigidity, altered consciousness, and ANS instability (including rapid heart rate and fluctuations in blood pressure). </a:t>
            </a:r>
          </a:p>
        </p:txBody>
      </p:sp>
    </p:spTree>
    <p:extLst>
      <p:ext uri="{BB962C8B-B14F-4D97-AF65-F5344CB8AC3E}">
        <p14:creationId xmlns:p14="http://schemas.microsoft.com/office/powerpoint/2010/main" val="21248370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(11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Atypical antipsychotics are distinctive in several ways</a:t>
            </a:r>
          </a:p>
          <a:p>
            <a:pPr>
              <a:spcBef>
                <a:spcPts val="1800"/>
              </a:spcBef>
            </a:pPr>
            <a:r>
              <a:rPr lang="en-US" dirty="0"/>
              <a:t>Atypical or second generation antipsychotics reduce positive symptoms without causing significant EPS and other side effects</a:t>
            </a:r>
          </a:p>
          <a:p>
            <a:pPr lvl="1">
              <a:spcBef>
                <a:spcPts val="1800"/>
              </a:spcBef>
            </a:pPr>
            <a:r>
              <a:rPr lang="en-US" b="1" dirty="0"/>
              <a:t>Selective D</a:t>
            </a:r>
            <a:r>
              <a:rPr lang="en-US" b="1" baseline="-25000" dirty="0"/>
              <a:t>2</a:t>
            </a:r>
            <a:r>
              <a:rPr lang="en-US" b="1" dirty="0"/>
              <a:t> receptor antagonists</a:t>
            </a:r>
          </a:p>
          <a:p>
            <a:pPr lvl="1">
              <a:spcBef>
                <a:spcPts val="1800"/>
              </a:spcBef>
            </a:pPr>
            <a:r>
              <a:rPr lang="en-US" dirty="0"/>
              <a:t>DA partial receptor agonists (DA system stabilizers)</a:t>
            </a:r>
          </a:p>
          <a:p>
            <a:pPr lvl="1">
              <a:spcBef>
                <a:spcPts val="1800"/>
              </a:spcBef>
            </a:pPr>
            <a:r>
              <a:rPr lang="en-US" b="1" dirty="0"/>
              <a:t>Broad-spectrum antipsychotics</a:t>
            </a:r>
            <a:r>
              <a:rPr lang="en-US" dirty="0"/>
              <a:t> block other receptor types in addition to D</a:t>
            </a:r>
            <a:r>
              <a:rPr lang="en-US" baseline="-25000" dirty="0"/>
              <a:t>2</a:t>
            </a:r>
            <a:r>
              <a:rPr lang="en-US" dirty="0"/>
              <a:t> receptors</a:t>
            </a:r>
          </a:p>
        </p:txBody>
      </p:sp>
    </p:spTree>
    <p:extLst>
      <p:ext uri="{BB962C8B-B14F-4D97-AF65-F5344CB8AC3E}">
        <p14:creationId xmlns:p14="http://schemas.microsoft.com/office/powerpoint/2010/main" val="25024856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(12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Atypical antipsychotics are distinctive in several ways</a:t>
            </a:r>
          </a:p>
          <a:p>
            <a:pPr>
              <a:spcBef>
                <a:spcPts val="1800"/>
              </a:spcBef>
            </a:pPr>
            <a:r>
              <a:rPr lang="en-US" dirty="0"/>
              <a:t>Clozapine has weak affinities for D</a:t>
            </a:r>
            <a:r>
              <a:rPr lang="en-US" baseline="-25000" dirty="0"/>
              <a:t>1</a:t>
            </a:r>
            <a:r>
              <a:rPr lang="en-US" dirty="0"/>
              <a:t> and D</a:t>
            </a:r>
            <a:r>
              <a:rPr lang="en-US" baseline="-25000" dirty="0"/>
              <a:t>2</a:t>
            </a:r>
            <a:r>
              <a:rPr lang="en-US" dirty="0"/>
              <a:t> and strong affinities for serotonergic, muscarinic, histaminergic, and D</a:t>
            </a:r>
            <a:r>
              <a:rPr lang="en-US" baseline="-25000" dirty="0"/>
              <a:t>4</a:t>
            </a:r>
            <a:r>
              <a:rPr lang="en-US" dirty="0"/>
              <a:t> receptors</a:t>
            </a:r>
          </a:p>
          <a:p>
            <a:pPr lvl="1">
              <a:spcBef>
                <a:spcPts val="1800"/>
              </a:spcBef>
            </a:pPr>
            <a:r>
              <a:rPr lang="en-US" dirty="0"/>
              <a:t>Reduces some of negative and cognitive symptoms but has many side effects </a:t>
            </a:r>
            <a:r>
              <a:rPr lang="en-US" altLang="en-US" dirty="0"/>
              <a:t>because of its action on multiple receptors</a:t>
            </a:r>
            <a:endParaRPr lang="en-US" dirty="0"/>
          </a:p>
          <a:p>
            <a:pPr>
              <a:spcBef>
                <a:spcPts val="1800"/>
              </a:spcBef>
            </a:pPr>
            <a:r>
              <a:rPr lang="en-US" dirty="0"/>
              <a:t>Newer atypical drugs bind with varying affinities for multiple receptor subtypes</a:t>
            </a:r>
          </a:p>
          <a:p>
            <a:pPr lvl="1">
              <a:spcBef>
                <a:spcPts val="1800"/>
              </a:spcBef>
            </a:pPr>
            <a:r>
              <a:rPr lang="en-US" dirty="0"/>
              <a:t>Side effects can be predicted on the basis of receptor affinity</a:t>
            </a:r>
          </a:p>
        </p:txBody>
      </p:sp>
    </p:spTree>
    <p:extLst>
      <p:ext uri="{BB962C8B-B14F-4D97-AF65-F5344CB8AC3E}">
        <p14:creationId xmlns:p14="http://schemas.microsoft.com/office/powerpoint/2010/main" val="20719824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(13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Practical clinical trials help clinicians make decisions about drugs</a:t>
            </a:r>
          </a:p>
          <a:p>
            <a:pPr>
              <a:spcBef>
                <a:spcPts val="1800"/>
              </a:spcBef>
            </a:pPr>
            <a:r>
              <a:rPr lang="en-US" dirty="0">
                <a:ea typeface="Geneva" pitchFamily="121" charset="-128"/>
              </a:rPr>
              <a:t>A practical clinical trial (CATIE) using 1500 patients (2001 – 2004):</a:t>
            </a:r>
          </a:p>
          <a:p>
            <a:pPr lvl="1">
              <a:spcBef>
                <a:spcPts val="1800"/>
              </a:spcBef>
            </a:pPr>
            <a:r>
              <a:rPr lang="en-US" altLang="ja-JP" dirty="0">
                <a:ea typeface="Geneva" pitchFamily="121" charset="-128"/>
              </a:rPr>
              <a:t>Atypical drugs were no more effective than the classical drug perphenazine in reducing positive, negative, or cognitive symptoms</a:t>
            </a:r>
          </a:p>
          <a:p>
            <a:pPr lvl="1">
              <a:spcBef>
                <a:spcPts val="1800"/>
              </a:spcBef>
            </a:pPr>
            <a:r>
              <a:rPr lang="en-US" dirty="0">
                <a:ea typeface="Geneva" pitchFamily="121" charset="-128"/>
              </a:rPr>
              <a:t>Occurrence of EPS was similar for all drugs tested</a:t>
            </a:r>
            <a:endParaRPr lang="en-US" dirty="0"/>
          </a:p>
        </p:txBody>
      </p:sp>
    </p:spTree>
    <p:extLst>
      <p:ext uri="{BB962C8B-B14F-4D97-AF65-F5344CB8AC3E}">
        <p14:creationId xmlns:p14="http://schemas.microsoft.com/office/powerpoint/2010/main" val="30726286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(14 of 16)</a:t>
            </a:r>
            <a:endParaRPr lang="en-US" dirty="0"/>
          </a:p>
        </p:txBody>
      </p:sp>
      <p:sp>
        <p:nvSpPr>
          <p:cNvPr id="3" name="Text Placeholder 2"/>
          <p:cNvSpPr>
            <a:spLocks noGrp="1"/>
          </p:cNvSpPr>
          <p:nvPr>
            <p:ph idx="1"/>
          </p:nvPr>
        </p:nvSpPr>
        <p:spPr>
          <a:xfrm>
            <a:off x="609600" y="1672584"/>
            <a:ext cx="10972800" cy="4624044"/>
          </a:xfrm>
        </p:spPr>
        <p:txBody>
          <a:bodyPr>
            <a:normAutofit fontScale="92500" lnSpcReduction="10000"/>
          </a:bodyPr>
          <a:lstStyle/>
          <a:p>
            <a:pPr marL="457200" indent="-457200">
              <a:lnSpc>
                <a:spcPct val="120000"/>
              </a:lnSpc>
              <a:spcBef>
                <a:spcPts val="1200"/>
              </a:spcBef>
              <a:buNone/>
            </a:pPr>
            <a:r>
              <a:rPr lang="en-US" sz="3500" dirty="0"/>
              <a:t>There are renewed efforts to treat the cognitive symptoms</a:t>
            </a:r>
          </a:p>
          <a:p>
            <a:pPr>
              <a:spcBef>
                <a:spcPts val="1800"/>
              </a:spcBef>
            </a:pPr>
            <a:r>
              <a:rPr lang="en-US" dirty="0"/>
              <a:t>Potential new approaches to improving cognitive impairments:</a:t>
            </a:r>
          </a:p>
          <a:p>
            <a:pPr lvl="1">
              <a:spcBef>
                <a:spcPts val="1800"/>
              </a:spcBef>
            </a:pPr>
            <a:r>
              <a:rPr lang="en-US" dirty="0"/>
              <a:t>Enhancing </a:t>
            </a:r>
            <a:r>
              <a:rPr lang="en-US" dirty="0" err="1"/>
              <a:t>ACh</a:t>
            </a:r>
            <a:r>
              <a:rPr lang="en-US" dirty="0"/>
              <a:t> with subtype-selective nicotinic agonists or positive allosteric modulators (PAMs)</a:t>
            </a:r>
          </a:p>
          <a:p>
            <a:pPr lvl="1">
              <a:spcBef>
                <a:spcPts val="1800"/>
              </a:spcBef>
            </a:pPr>
            <a:r>
              <a:rPr lang="en-US" altLang="en-US" dirty="0"/>
              <a:t>Selectively enhance D</a:t>
            </a:r>
            <a:r>
              <a:rPr lang="en-US" altLang="en-US" baseline="-25000" dirty="0"/>
              <a:t>1</a:t>
            </a:r>
            <a:r>
              <a:rPr lang="en-US" altLang="en-US" dirty="0"/>
              <a:t> receptor signaling in PFC with D</a:t>
            </a:r>
            <a:r>
              <a:rPr lang="en-US" altLang="en-US" baseline="-25000" dirty="0"/>
              <a:t>1</a:t>
            </a:r>
            <a:r>
              <a:rPr lang="en-US" altLang="en-US" dirty="0"/>
              <a:t> agonists</a:t>
            </a:r>
          </a:p>
          <a:p>
            <a:pPr lvl="1">
              <a:spcBef>
                <a:spcPts val="1800"/>
              </a:spcBef>
            </a:pPr>
            <a:r>
              <a:rPr lang="en-US" altLang="en-US" dirty="0"/>
              <a:t>Inhibit the enzyme (COMT) that degrades DA in the synapse</a:t>
            </a:r>
          </a:p>
          <a:p>
            <a:pPr lvl="1">
              <a:spcBef>
                <a:spcPts val="1800"/>
              </a:spcBef>
            </a:pPr>
            <a:r>
              <a:rPr lang="en-US" dirty="0"/>
              <a:t>Glycine agonists; glycine transporter inhibitors</a:t>
            </a:r>
          </a:p>
          <a:p>
            <a:pPr lvl="1">
              <a:spcBef>
                <a:spcPts val="1800"/>
              </a:spcBef>
            </a:pPr>
            <a:r>
              <a:rPr lang="en-US" dirty="0"/>
              <a:t>Anti-inflammatory agents</a:t>
            </a:r>
          </a:p>
        </p:txBody>
      </p:sp>
    </p:spTree>
    <p:extLst>
      <p:ext uri="{BB962C8B-B14F-4D97-AF65-F5344CB8AC3E}">
        <p14:creationId xmlns:p14="http://schemas.microsoft.com/office/powerpoint/2010/main" val="31728113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E2C65-9AF1-F242-A840-263704A7E751}"/>
              </a:ext>
            </a:extLst>
          </p:cNvPr>
          <p:cNvSpPr>
            <a:spLocks noGrp="1"/>
          </p:cNvSpPr>
          <p:nvPr>
            <p:ph type="title"/>
          </p:nvPr>
        </p:nvSpPr>
        <p:spPr/>
        <p:txBody>
          <a:bodyPr/>
          <a:lstStyle/>
          <a:p>
            <a:r>
              <a:rPr lang="en-US" cap="all" dirty="0"/>
              <a:t>FIGURE 19.15  </a:t>
            </a:r>
            <a:r>
              <a:rPr lang="en-US" dirty="0"/>
              <a:t>Effects of PAMs on novel object recognition  </a:t>
            </a:r>
          </a:p>
        </p:txBody>
      </p:sp>
      <p:pic>
        <p:nvPicPr>
          <p:cNvPr id="6" name="Content Placeholder 5" descr=" A bar graph displays the relation of discrimination index and P N U-120596 dose. Data from the graph presented in the format, P N U dose: Discrimination index are as follows. Vehicle: 0.58, 0: negative 0.1, 1: 0.4, 3: 0.5. All data are approximate.&#10;&#10; A bar graph displays the relation of the discrimination index and C C M I dose. Data from the graph presented in the format, P N U dose: Discrimination index are as follows. Vehicle: 0.58, 0: negative 0.0, 1: 0.2, 3: 0.5. All data are approximate."/>
          <p:cNvPicPr>
            <a:picLocks noGrp="1" noChangeAspect="1"/>
          </p:cNvPicPr>
          <p:nvPr>
            <p:ph sz="quarter" idx="10"/>
          </p:nvPr>
        </p:nvPicPr>
        <p:blipFill>
          <a:blip r:embed="rId3">
            <a:extLst>
              <a:ext uri="{28A0092B-C50C-407E-A947-70E740481C1C}">
                <a14:useLocalDpi xmlns:a14="http://schemas.microsoft.com/office/drawing/2010/main" val="0"/>
              </a:ext>
            </a:extLst>
          </a:blip>
          <a:stretch>
            <a:fillRect/>
          </a:stretch>
        </p:blipFill>
        <p:spPr>
          <a:xfrm>
            <a:off x="407988" y="1552946"/>
            <a:ext cx="11376025" cy="4153745"/>
          </a:xfrm>
        </p:spPr>
      </p:pic>
    </p:spTree>
    <p:extLst>
      <p:ext uri="{BB962C8B-B14F-4D97-AF65-F5344CB8AC3E}">
        <p14:creationId xmlns:p14="http://schemas.microsoft.com/office/powerpoint/2010/main" val="3461187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Classic Neuroleptics and Atypical Antipsychotics </a:t>
            </a:r>
            <a:r>
              <a:rPr lang="en-US" sz="1200" dirty="0"/>
              <a:t>(15 of 16)</a:t>
            </a:r>
            <a:endParaRPr lang="en-US" dirty="0"/>
          </a:p>
        </p:txBody>
      </p:sp>
      <p:sp>
        <p:nvSpPr>
          <p:cNvPr id="3" name="Text Placeholder 2"/>
          <p:cNvSpPr>
            <a:spLocks noGrp="1"/>
          </p:cNvSpPr>
          <p:nvPr>
            <p:ph idx="1"/>
          </p:nvPr>
        </p:nvSpPr>
        <p:spPr>
          <a:xfrm>
            <a:off x="609600" y="1672584"/>
            <a:ext cx="10972800" cy="4624044"/>
          </a:xfrm>
        </p:spPr>
        <p:txBody>
          <a:bodyPr>
            <a:normAutofit/>
          </a:bodyPr>
          <a:lstStyle/>
          <a:p>
            <a:pPr marL="457200" indent="-457200">
              <a:lnSpc>
                <a:spcPct val="110000"/>
              </a:lnSpc>
              <a:spcBef>
                <a:spcPts val="1200"/>
              </a:spcBef>
              <a:buNone/>
            </a:pPr>
            <a:r>
              <a:rPr lang="en-US" sz="3200" dirty="0"/>
              <a:t>There are renewed efforts to treat the cognitive symptoms</a:t>
            </a:r>
          </a:p>
          <a:p>
            <a:pPr>
              <a:spcBef>
                <a:spcPts val="1800"/>
              </a:spcBef>
            </a:pPr>
            <a:r>
              <a:rPr lang="en-US" dirty="0"/>
              <a:t>NAVIGATE: a comprehensive multimodal, multidisciplinary, team-based approach </a:t>
            </a:r>
          </a:p>
          <a:p>
            <a:pPr>
              <a:spcBef>
                <a:spcPts val="1800"/>
              </a:spcBef>
            </a:pPr>
            <a:r>
              <a:rPr lang="en-US" dirty="0"/>
              <a:t>Includes education, social support, one-on-one therapy, and individualized, low-dose medications</a:t>
            </a:r>
          </a:p>
          <a:p>
            <a:pPr>
              <a:spcBef>
                <a:spcPts val="1800"/>
              </a:spcBef>
            </a:pPr>
            <a:r>
              <a:rPr lang="en-US" dirty="0"/>
              <a:t>Family and patient are included in decision making</a:t>
            </a:r>
          </a:p>
        </p:txBody>
      </p:sp>
    </p:spTree>
    <p:extLst>
      <p:ext uri="{BB962C8B-B14F-4D97-AF65-F5344CB8AC3E}">
        <p14:creationId xmlns:p14="http://schemas.microsoft.com/office/powerpoint/2010/main" val="4831357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 Neuroleptics and Atypical Antipsychotics </a:t>
            </a:r>
            <a:r>
              <a:rPr lang="en-US" sz="1200" dirty="0"/>
              <a:t>(16 of 16)</a:t>
            </a:r>
            <a:endParaRPr lang="en-US" dirty="0"/>
          </a:p>
        </p:txBody>
      </p:sp>
      <p:sp>
        <p:nvSpPr>
          <p:cNvPr id="3" name="Text Placeholder 2"/>
          <p:cNvSpPr>
            <a:spLocks noGrp="1"/>
          </p:cNvSpPr>
          <p:nvPr>
            <p:ph idx="1"/>
          </p:nvPr>
        </p:nvSpPr>
        <p:spPr/>
        <p:txBody>
          <a:bodyPr/>
          <a:lstStyle/>
          <a:p>
            <a:pPr marL="0" indent="0">
              <a:spcBef>
                <a:spcPts val="1200"/>
              </a:spcBef>
              <a:buNone/>
            </a:pPr>
            <a:r>
              <a:rPr lang="en-US" sz="2400" u="sng" dirty="0"/>
              <a:t>CLICKER QUESTION 3</a:t>
            </a:r>
          </a:p>
          <a:p>
            <a:pPr marL="457200" indent="-457200">
              <a:spcBef>
                <a:spcPts val="2400"/>
              </a:spcBef>
              <a:buNone/>
            </a:pPr>
            <a:r>
              <a:rPr lang="en-US" sz="3200" dirty="0"/>
              <a:t>The effectiveness of antipsychotic drugs is due to</a:t>
            </a:r>
          </a:p>
          <a:p>
            <a:pPr marL="914400" indent="-457200">
              <a:buFont typeface="Arial" pitchFamily="34" charset="0"/>
              <a:buAutoNum type="alphaLcPeriod"/>
            </a:pPr>
            <a:r>
              <a:rPr lang="en-US" sz="3200" dirty="0"/>
              <a:t>blockage of many different receptor types.</a:t>
            </a:r>
          </a:p>
          <a:p>
            <a:pPr marL="914400" indent="-457200">
              <a:buFont typeface="Arial" pitchFamily="34" charset="0"/>
              <a:buAutoNum type="alphaLcPeriod"/>
            </a:pPr>
            <a:r>
              <a:rPr lang="en-US" sz="3200" dirty="0"/>
              <a:t>anticholinergic action.</a:t>
            </a:r>
          </a:p>
          <a:p>
            <a:pPr marL="914400" indent="-457200">
              <a:buFont typeface="Arial" pitchFamily="34" charset="0"/>
              <a:buAutoNum type="alphaLcPeriod"/>
            </a:pPr>
            <a:r>
              <a:rPr lang="en-US" sz="3200" dirty="0"/>
              <a:t>dopamine receptor antagonism.</a:t>
            </a:r>
          </a:p>
        </p:txBody>
      </p:sp>
    </p:spTree>
    <p:extLst>
      <p:ext uri="{BB962C8B-B14F-4D97-AF65-F5344CB8AC3E}">
        <p14:creationId xmlns:p14="http://schemas.microsoft.com/office/powerpoint/2010/main" val="291979410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0" lang="en-US" b="0" i="0" u="none" strike="noStrike" kern="1200" cap="none" spc="0" normalizeH="0" baseline="0" noProof="0" dirty="0">
                <a:ln>
                  <a:noFill/>
                </a:ln>
                <a:solidFill>
                  <a:srgbClr val="1F497D"/>
                </a:solidFill>
                <a:effectLst/>
                <a:uLnTx/>
                <a:uFillTx/>
                <a:latin typeface="Calibri"/>
                <a:ea typeface="+mj-ea"/>
                <a:cs typeface="+mj-cs"/>
              </a:rPr>
              <a:t>Review of Learning Objectives </a:t>
            </a:r>
            <a:r>
              <a:rPr kumimoji="0" lang="en-US" sz="1200" b="0" i="0" u="none" strike="noStrike" kern="1200" cap="none" spc="0" normalizeH="0" baseline="0" noProof="0" dirty="0">
                <a:ln>
                  <a:noFill/>
                </a:ln>
                <a:solidFill>
                  <a:srgbClr val="1F497D"/>
                </a:solidFill>
                <a:effectLst/>
                <a:uLnTx/>
                <a:uFillTx/>
                <a:latin typeface="Calibri"/>
                <a:ea typeface="+mj-ea"/>
                <a:cs typeface="+mj-cs"/>
              </a:rPr>
              <a:t>(4 of 4)</a:t>
            </a:r>
            <a:endParaRPr lang="en-US" sz="3200" dirty="0"/>
          </a:p>
        </p:txBody>
      </p:sp>
      <p:sp>
        <p:nvSpPr>
          <p:cNvPr id="3" name="Text Placeholder 2"/>
          <p:cNvSpPr>
            <a:spLocks noGrp="1"/>
          </p:cNvSpPr>
          <p:nvPr>
            <p:ph idx="1"/>
          </p:nvPr>
        </p:nvSpPr>
        <p:spPr/>
        <p:txBody>
          <a:bodyPr>
            <a:normAutofit fontScale="92500" lnSpcReduction="20000"/>
          </a:bodyPr>
          <a:lstStyle/>
          <a:p>
            <a:pPr marL="1143000" indent="-1143000">
              <a:lnSpc>
                <a:spcPct val="120000"/>
              </a:lnSpc>
              <a:spcBef>
                <a:spcPts val="1800"/>
              </a:spcBef>
              <a:buNone/>
            </a:pPr>
            <a:r>
              <a:rPr lang="en-US" sz="2800" dirty="0"/>
              <a:t>19.4.1  Identify the common neural mechanism that likely accounts for the clinical efficacy of antipsychotics in reducing the positive symptoms of schizophrenia.</a:t>
            </a:r>
          </a:p>
          <a:p>
            <a:pPr marL="1143000" indent="-1143000">
              <a:lnSpc>
                <a:spcPct val="120000"/>
              </a:lnSpc>
              <a:spcBef>
                <a:spcPts val="1800"/>
              </a:spcBef>
              <a:buNone/>
            </a:pPr>
            <a:r>
              <a:rPr lang="en-US" sz="2800" dirty="0"/>
              <a:t>19.4.2  Describe the neural basis for the motor (parkinsonism, tardive dyskinesia) and neuroendocrine side effects of most antipsychotic drugs.</a:t>
            </a:r>
          </a:p>
          <a:p>
            <a:pPr marL="1143000" indent="-1143000">
              <a:lnSpc>
                <a:spcPct val="120000"/>
              </a:lnSpc>
              <a:spcBef>
                <a:spcPts val="1800"/>
              </a:spcBef>
              <a:buNone/>
            </a:pPr>
            <a:r>
              <a:rPr lang="en-US" sz="2800" dirty="0"/>
              <a:t>19.4.3  Explain how first- and second-generation antipsychotics differ in terms of mechanism of action, therapeutic efficacy, and side effects.</a:t>
            </a:r>
          </a:p>
          <a:p>
            <a:pPr marL="1143000" indent="-1143000">
              <a:lnSpc>
                <a:spcPct val="120000"/>
              </a:lnSpc>
              <a:spcBef>
                <a:spcPts val="1800"/>
              </a:spcBef>
              <a:buNone/>
            </a:pPr>
            <a:r>
              <a:rPr lang="en-US" sz="2800" dirty="0"/>
              <a:t>19.4.4  Identify dopaminergic and non-dopaminergic strategies for treating the cognitive symptoms of schizophrenia.</a:t>
            </a:r>
          </a:p>
        </p:txBody>
      </p:sp>
    </p:spTree>
    <p:extLst>
      <p:ext uri="{BB962C8B-B14F-4D97-AF65-F5344CB8AC3E}">
        <p14:creationId xmlns:p14="http://schemas.microsoft.com/office/powerpoint/2010/main" val="1082445818"/>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UP US HE Widescreen Template 3.1 (TH).pptx" id="{38592676-3FE0-4EA4-B873-8CD03AA7ACBC}" vid="{4464F53A-3550-4D7A-B3C8-5443B75EFB8E}"/>
    </a:ext>
  </a:extLst>
</a:theme>
</file>

<file path=ppt/theme/theme2.xml><?xml version="1.0" encoding="utf-8"?>
<a:theme xmlns:a="http://schemas.openxmlformats.org/drawingml/2006/main" name="Figure-Only Templates">
  <a:themeElements>
    <a:clrScheme name="Custom 107">
      <a:dk1>
        <a:srgbClr val="000000"/>
      </a:dk1>
      <a:lt1>
        <a:srgbClr val="FFFFFF"/>
      </a:lt1>
      <a:dk2>
        <a:srgbClr val="1F497D"/>
      </a:dk2>
      <a:lt2>
        <a:srgbClr val="EEECE1"/>
      </a:lt2>
      <a:accent1>
        <a:srgbClr val="001A47"/>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034735E286A8A478CDABE780C9EC78F" ma:contentTypeVersion="13" ma:contentTypeDescription="Create a new document." ma:contentTypeScope="" ma:versionID="9b8825675e62d57985c81b74d5b14a7f">
  <xsd:schema xmlns:xsd="http://www.w3.org/2001/XMLSchema" xmlns:xs="http://www.w3.org/2001/XMLSchema" xmlns:p="http://schemas.microsoft.com/office/2006/metadata/properties" xmlns:ns3="fd39d560-5c7d-4158-98a0-f420f8fdebce" xmlns:ns4="a6c716b4-9090-4de7-aadc-2aa5f812ad24" targetNamespace="http://schemas.microsoft.com/office/2006/metadata/properties" ma:root="true" ma:fieldsID="bdbc9fd47a72f6438c4442bb9222e145" ns3:_="" ns4:_="">
    <xsd:import namespace="fd39d560-5c7d-4158-98a0-f420f8fdebce"/>
    <xsd:import namespace="a6c716b4-9090-4de7-aadc-2aa5f812ad24"/>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d39d560-5c7d-4158-98a0-f420f8fdeb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c716b4-9090-4de7-aadc-2aa5f812ad24"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856919D-3723-464B-9967-427A087CBD61}">
  <ds:schemaRefs>
    <ds:schemaRef ds:uri="http://purl.org/dc/elements/1.1/"/>
    <ds:schemaRef ds:uri="http://schemas.microsoft.com/office/2006/documentManagement/types"/>
    <ds:schemaRef ds:uri="http://schemas.openxmlformats.org/package/2006/metadata/core-properties"/>
    <ds:schemaRef ds:uri="a6c716b4-9090-4de7-aadc-2aa5f812ad24"/>
    <ds:schemaRef ds:uri="http://purl.org/dc/dcmitype/"/>
    <ds:schemaRef ds:uri="http://schemas.microsoft.com/office/infopath/2007/PartnerControls"/>
    <ds:schemaRef ds:uri="http://schemas.microsoft.com/office/2006/metadata/properties"/>
    <ds:schemaRef ds:uri="fd39d560-5c7d-4158-98a0-f420f8fdebce"/>
    <ds:schemaRef ds:uri="http://www.w3.org/XML/1998/namespace"/>
    <ds:schemaRef ds:uri="http://purl.org/dc/terms/"/>
  </ds:schemaRefs>
</ds:datastoreItem>
</file>

<file path=customXml/itemProps2.xml><?xml version="1.0" encoding="utf-8"?>
<ds:datastoreItem xmlns:ds="http://schemas.openxmlformats.org/officeDocument/2006/customXml" ds:itemID="{6B57C1AB-C2BF-4446-AECB-681D5785527F}">
  <ds:schemaRefs>
    <ds:schemaRef ds:uri="http://schemas.microsoft.com/sharepoint/v3/contenttype/forms"/>
  </ds:schemaRefs>
</ds:datastoreItem>
</file>

<file path=customXml/itemProps3.xml><?xml version="1.0" encoding="utf-8"?>
<ds:datastoreItem xmlns:ds="http://schemas.openxmlformats.org/officeDocument/2006/customXml" ds:itemID="{7E307B2A-FA70-43CE-A010-B3D8154DEA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d39d560-5c7d-4158-98a0-f420f8fdebce"/>
    <ds:schemaRef ds:uri="a6c716b4-9090-4de7-aadc-2aa5f812ad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OUP US HE Widescreen Template 3.1 (TH)</Template>
  <TotalTime>11873</TotalTime>
  <Words>3428</Words>
  <Application>Microsoft Office PowerPoint</Application>
  <PresentationFormat>Widescreen</PresentationFormat>
  <Paragraphs>394</Paragraphs>
  <Slides>61</Slides>
  <Notes>52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61</vt:i4>
      </vt:variant>
    </vt:vector>
  </HeadingPairs>
  <TitlesOfParts>
    <vt:vector size="70" baseType="lpstr">
      <vt:lpstr>ＭＳ Ｐゴシック</vt:lpstr>
      <vt:lpstr>Arial</vt:lpstr>
      <vt:lpstr>Calibri</vt:lpstr>
      <vt:lpstr>Courier New</vt:lpstr>
      <vt:lpstr>DINPro-Bold</vt:lpstr>
      <vt:lpstr>Geneva</vt:lpstr>
      <vt:lpstr>PalatinoLTStd-Roman</vt:lpstr>
      <vt:lpstr>Text Content Templates</vt:lpstr>
      <vt:lpstr>Figure-Only Templates</vt:lpstr>
      <vt:lpstr>Psychopharmacology: Drugs, the Brain, and Behavior</vt:lpstr>
      <vt:lpstr>Chapter 19 Schizophrenia: Antipsychotic Drugs</vt:lpstr>
      <vt:lpstr>Chapter 19 Learning Objectives (1 of 4)</vt:lpstr>
      <vt:lpstr>Chapter 19 Learning Objectives (2 of 4)</vt:lpstr>
      <vt:lpstr>Chapter 19 Learning Objectives (3 of 4)</vt:lpstr>
      <vt:lpstr>Chapter 19 Learning Objectives (4 of 4)</vt:lpstr>
      <vt:lpstr>Characteristics of Schizophrenia (1 of 4)</vt:lpstr>
      <vt:lpstr>FIGURE 19.1  Sex differences in age at onset of schizophrenia </vt:lpstr>
      <vt:lpstr>Characteristics of Schizophrenia (2 of 4)</vt:lpstr>
      <vt:lpstr>Characteristics of Schizophrenia (3 of 4)</vt:lpstr>
      <vt:lpstr>Characteristics of Schizophrenia (4 of 4)</vt:lpstr>
      <vt:lpstr>Review of Learning Objectives (1 of 4)</vt:lpstr>
      <vt:lpstr>Etiology of Schizophrenia (1 of 13)</vt:lpstr>
      <vt:lpstr>FIGURE 19.2  Brain images of twins not concordant for schizophrenia </vt:lpstr>
      <vt:lpstr>FIGURE 19.3  Disorganization of cells in the hippocampus </vt:lpstr>
      <vt:lpstr>Etiology of Schizophrenia (2 of 13)</vt:lpstr>
      <vt:lpstr>Etiology of Schizophrenia (3 of 13)</vt:lpstr>
      <vt:lpstr>Etiology of Schizophrenia (4 of 13)</vt:lpstr>
      <vt:lpstr>FIGURE 19.5  Lifetime risks of developing schizophrenia among relatives of an affected individual </vt:lpstr>
      <vt:lpstr>Etiology of Schizophrenia (5 of 13)</vt:lpstr>
      <vt:lpstr>Etiology of Schizophrenia (6 of 13)</vt:lpstr>
      <vt:lpstr>Etiology of Schizophrenia (7 of 13)</vt:lpstr>
      <vt:lpstr>FIGURE 19.6  Cortical gray matter loss </vt:lpstr>
      <vt:lpstr>Etiology of Schizophrenia (8 of 13)</vt:lpstr>
      <vt:lpstr>FIGURE 19.7  Etiology of schizophrenia </vt:lpstr>
      <vt:lpstr>Etiology of Schizophrenia (9 of 13)</vt:lpstr>
      <vt:lpstr>Etiology of Schizophrenia (10 of 13)</vt:lpstr>
      <vt:lpstr>Etiology of Schizophrenia (11 of 13)</vt:lpstr>
      <vt:lpstr>Etiology of Schizophrenia (12 of 13)</vt:lpstr>
      <vt:lpstr>Etiology of Schizophrenia (13 of 13)</vt:lpstr>
      <vt:lpstr>Review of Learning Objectives (2 of 4)</vt:lpstr>
      <vt:lpstr>Neurochemical Models of Schizophrenia (1 of 5)</vt:lpstr>
      <vt:lpstr>Neurochemical Models of Schizophrenia (2 of 5)</vt:lpstr>
      <vt:lpstr>Neurochemical Models of Schizophrenia (3 of 5)</vt:lpstr>
      <vt:lpstr>Neurochemical Models of Schizophrenia (4 of 5)</vt:lpstr>
      <vt:lpstr>FIGURE 19.8  Hypoglutamate hypothesis of schizophrenia </vt:lpstr>
      <vt:lpstr>Neurochemical Models of Schizophrenia (5 of 5)</vt:lpstr>
      <vt:lpstr>Review of Learning Objectives (3 of 4)</vt:lpstr>
      <vt:lpstr>Classic Neuroleptics and Atypical Antipsychotics (1 of 16)</vt:lpstr>
      <vt:lpstr>Classic Neuroleptics and Atypical Antipsychotics (2 of 16)</vt:lpstr>
      <vt:lpstr>FIGURE 19.9  Phenothiazine nucleus and related compounds </vt:lpstr>
      <vt:lpstr>Classic Neuroleptics and Atypical Antipsychotics (3 of 16)</vt:lpstr>
      <vt:lpstr>Classic Neuroleptics and Atypical Antipsychotics (4 of 16)</vt:lpstr>
      <vt:lpstr>FIGURE 19.10  Correlation between antipsychotic drug binding to neurotransmitter receptors and clinical effectiveness </vt:lpstr>
      <vt:lpstr>Classic Neuroleptics and Atypical Antipsychotics (5 of 16)</vt:lpstr>
      <vt:lpstr>FIGURE 19.11  D2 receptor occupancy by antipsychotic drugs </vt:lpstr>
      <vt:lpstr>Classic Neuroleptics and Atypical Antipsychotics (6 of 16)</vt:lpstr>
      <vt:lpstr>Classic Neuroleptics and Atypical Antipsychotics (7 of 16)</vt:lpstr>
      <vt:lpstr>Classic Neuroleptics and Atypical Antipsychotics (8 of 16)</vt:lpstr>
      <vt:lpstr>FIGURE 19.12  Schematic diagram showing the neurotransmitters involved in parkinsonian symptoms (1)</vt:lpstr>
      <vt:lpstr>Classic Neuroleptics and Atypical Antipsychotics (9 of 16)</vt:lpstr>
      <vt:lpstr>FIGURE 19.13  Effect of VMAT2 inhibition on tardive dyskinesia </vt:lpstr>
      <vt:lpstr>Classic Neuroleptics and Atypical Antipsychotics (10 of 16)</vt:lpstr>
      <vt:lpstr>Classic Neuroleptics and Atypical Antipsychotics (11 of 16)</vt:lpstr>
      <vt:lpstr>Classic Neuroleptics and Atypical Antipsychotics (12 of 16)</vt:lpstr>
      <vt:lpstr>Classic Neuroleptics and Atypical Antipsychotics (13 of 16)</vt:lpstr>
      <vt:lpstr>Classic Neuroleptics and Atypical Antipsychotics (14 of 16)</vt:lpstr>
      <vt:lpstr>FIGURE 19.15  Effects of PAMs on novel object recognition  </vt:lpstr>
      <vt:lpstr>Classic Neuroleptics and Atypical Antipsychotics (15 of 16)</vt:lpstr>
      <vt:lpstr>Classic Neuroleptics and Atypical Antipsychotics (16 of 16)</vt:lpstr>
      <vt:lpstr>Review of Learning Objectives (4 of 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Psychopharmacology: Drugs, the Brain, and Behavior</dc:title>
  <dc:creator>OUP</dc:creator>
  <cp:lastModifiedBy>Carter, Suzanne</cp:lastModifiedBy>
  <cp:revision>57</cp:revision>
  <dcterms:created xsi:type="dcterms:W3CDTF">2021-11-13T04:08:54Z</dcterms:created>
  <dcterms:modified xsi:type="dcterms:W3CDTF">2022-03-25T19:57:41Z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0x0101006034735E286A8A478CDABE780C9EC78F</vt:lpwstr>
  </property>
</Properties>
</file>