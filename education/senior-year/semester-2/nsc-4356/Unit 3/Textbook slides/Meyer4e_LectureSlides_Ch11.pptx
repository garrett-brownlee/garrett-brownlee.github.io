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74"/>
  </p:notesMasterIdLst>
  <p:handoutMasterIdLst>
    <p:handoutMasterId r:id="rId75"/>
  </p:handoutMasterIdLst>
  <p:sldIdLst>
    <p:sldId id="350" r:id="rId6"/>
    <p:sldId id="270" r:id="rId7"/>
    <p:sldId id="274" r:id="rId8"/>
    <p:sldId id="288" r:id="rId9"/>
    <p:sldId id="289" r:id="rId10"/>
    <p:sldId id="271" r:id="rId11"/>
    <p:sldId id="290" r:id="rId12"/>
    <p:sldId id="291" r:id="rId13"/>
    <p:sldId id="354" r:id="rId14"/>
    <p:sldId id="292" r:id="rId15"/>
    <p:sldId id="355" r:id="rId16"/>
    <p:sldId id="293" r:id="rId17"/>
    <p:sldId id="295" r:id="rId18"/>
    <p:sldId id="296" r:id="rId19"/>
    <p:sldId id="297" r:id="rId20"/>
    <p:sldId id="298" r:id="rId21"/>
    <p:sldId id="299" r:id="rId22"/>
    <p:sldId id="356" r:id="rId23"/>
    <p:sldId id="300" r:id="rId24"/>
    <p:sldId id="303" r:id="rId25"/>
    <p:sldId id="304" r:id="rId26"/>
    <p:sldId id="357" r:id="rId27"/>
    <p:sldId id="358" r:id="rId28"/>
    <p:sldId id="286" r:id="rId29"/>
    <p:sldId id="360" r:id="rId30"/>
    <p:sldId id="361" r:id="rId31"/>
    <p:sldId id="362" r:id="rId32"/>
    <p:sldId id="363" r:id="rId33"/>
    <p:sldId id="364" r:id="rId34"/>
    <p:sldId id="305" r:id="rId35"/>
    <p:sldId id="365" r:id="rId36"/>
    <p:sldId id="306" r:id="rId37"/>
    <p:sldId id="366" r:id="rId38"/>
    <p:sldId id="311" r:id="rId39"/>
    <p:sldId id="367" r:id="rId40"/>
    <p:sldId id="285" r:id="rId41"/>
    <p:sldId id="353" r:id="rId42"/>
    <p:sldId id="312" r:id="rId43"/>
    <p:sldId id="368" r:id="rId44"/>
    <p:sldId id="318" r:id="rId45"/>
    <p:sldId id="369" r:id="rId46"/>
    <p:sldId id="317" r:id="rId47"/>
    <p:sldId id="370" r:id="rId48"/>
    <p:sldId id="371" r:id="rId49"/>
    <p:sldId id="322" r:id="rId50"/>
    <p:sldId id="372" r:id="rId51"/>
    <p:sldId id="323" r:id="rId52"/>
    <p:sldId id="330" r:id="rId53"/>
    <p:sldId id="328" r:id="rId54"/>
    <p:sldId id="352" r:id="rId55"/>
    <p:sldId id="326" r:id="rId56"/>
    <p:sldId id="331" r:id="rId57"/>
    <p:sldId id="332" r:id="rId58"/>
    <p:sldId id="373" r:id="rId59"/>
    <p:sldId id="333" r:id="rId60"/>
    <p:sldId id="335" r:id="rId61"/>
    <p:sldId id="337" r:id="rId62"/>
    <p:sldId id="338" r:id="rId63"/>
    <p:sldId id="340" r:id="rId64"/>
    <p:sldId id="374" r:id="rId65"/>
    <p:sldId id="341" r:id="rId66"/>
    <p:sldId id="342" r:id="rId67"/>
    <p:sldId id="343" r:id="rId68"/>
    <p:sldId id="344" r:id="rId69"/>
    <p:sldId id="345" r:id="rId70"/>
    <p:sldId id="349" r:id="rId71"/>
    <p:sldId id="347" r:id="rId72"/>
    <p:sldId id="351"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46" autoAdjust="0"/>
    <p:restoredTop sz="83333" autoAdjust="0"/>
  </p:normalViewPr>
  <p:slideViewPr>
    <p:cSldViewPr snapToGrid="0" snapToObjects="1">
      <p:cViewPr>
        <p:scale>
          <a:sx n="80" d="100"/>
          <a:sy n="80" d="100"/>
        </p:scale>
        <p:origin x="306" y="88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8978"/>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3/11/2022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3/11/2022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1" i="0" u="none" strike="noStrike" baseline="0" dirty="0">
                <a:latin typeface="DINPro-Bold"/>
              </a:rPr>
              <a:t>Anesthetics </a:t>
            </a:r>
            <a:r>
              <a:rPr lang="en-US" sz="1800" b="0" i="0" u="none" strike="noStrike" baseline="0" dirty="0">
                <a:latin typeface="PalatinoLTStd-Roman"/>
              </a:rPr>
              <a:t>reduce all sensations by depressing the central nervous system (CNS) and produce unconsciousness.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1" u="none" strike="noStrike" baseline="0" dirty="0">
                <a:latin typeface="PalatinoLTStd-Italic"/>
              </a:rPr>
              <a:t>Opiate </a:t>
            </a:r>
            <a:r>
              <a:rPr lang="en-US" sz="1800" b="0" i="0" u="none" strike="noStrike" baseline="0" dirty="0">
                <a:latin typeface="PalatinoLTStd-Roman"/>
              </a:rPr>
              <a:t>refers to substances derived directly from the opium poppy. </a:t>
            </a:r>
          </a:p>
          <a:p>
            <a:pPr algn="l"/>
            <a:r>
              <a:rPr lang="en-US" sz="1800" b="0" i="1" u="none" strike="noStrike" baseline="0" dirty="0">
                <a:latin typeface="PalatinoLTStd-Italic"/>
              </a:rPr>
              <a:t>Opioid </a:t>
            </a:r>
            <a:r>
              <a:rPr lang="en-US" sz="1800" b="0" i="0" u="none" strike="noStrike" baseline="0" dirty="0">
                <a:latin typeface="PalatinoLTStd-Roman"/>
              </a:rPr>
              <a:t>is a broader term that includes opiates, synthetic substances, and endogenous peptides that bind to opioid receptors.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474678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26604226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Molecular structure of morphine, codeine, heroin, and naloxone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It is easy to see the similarities in structure. The minor differences contribute to effectiveness and side effects.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282159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757588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Relationship of selected natural and synthetic opioid drugs</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720754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3091261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2291017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599153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538006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802793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1126114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Opioid receptor binding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 Binding of [</a:t>
            </a:r>
            <a:r>
              <a:rPr lang="en-US" sz="1200" kern="1200" baseline="30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H]naloxone to rat brain shows the saturation of opioid receptors. As the concentration of the opioid ligand (naloxone) increases, binding to the receptors increases steadily until the receptors are filled at </a:t>
            </a:r>
            <a:r>
              <a:rPr lang="en-US" sz="1200" i="1" kern="1200" dirty="0" err="1">
                <a:solidFill>
                  <a:schemeClr val="tx1"/>
                </a:solidFill>
                <a:effectLst/>
                <a:latin typeface="+mn-lt"/>
                <a:ea typeface="+mn-ea"/>
                <a:cs typeface="+mn-cs"/>
              </a:rPr>
              <a:t>B</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(B) There is a strong positive correlation between the concentration of opioid drugs needed to inhibit electrically induced contraction of the intestine (IC</a:t>
            </a:r>
            <a:r>
              <a:rPr lang="en-US" sz="1200" kern="1200" baseline="-25000" dirty="0">
                <a:solidFill>
                  <a:schemeClr val="tx1"/>
                </a:solidFill>
                <a:effectLst/>
                <a:latin typeface="+mn-lt"/>
                <a:ea typeface="+mn-ea"/>
                <a:cs typeface="+mn-cs"/>
              </a:rPr>
              <a:t>50</a:t>
            </a:r>
            <a:r>
              <a:rPr lang="en-US" sz="1200" kern="1200" dirty="0">
                <a:solidFill>
                  <a:schemeClr val="tx1"/>
                </a:solidFill>
                <a:effectLst/>
                <a:latin typeface="+mn-lt"/>
                <a:ea typeface="+mn-ea"/>
                <a:cs typeface="+mn-cs"/>
              </a:rPr>
              <a:t>) and the concentration needed to bind to opioid receptors in the same tissue. The results show clearly that drugs that bind readily at low concentrations of ligand (e.g., etorphine) also are effective in inhibiting the intestinal contraction at low doses. Drugs that bind less well (e.g., codeine) also require higher concentrations to inhibit the contraction. (A after C. B. Pert and S. H. Snyder. 1973.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70: 2243–2247; B after S. H. Snyder. 1977. </a:t>
            </a:r>
            <a:r>
              <a:rPr lang="en-US" sz="1200" i="1" kern="1200" dirty="0">
                <a:solidFill>
                  <a:schemeClr val="tx1"/>
                </a:solidFill>
                <a:effectLst/>
                <a:latin typeface="+mn-lt"/>
                <a:ea typeface="+mn-ea"/>
                <a:cs typeface="+mn-cs"/>
              </a:rPr>
              <a:t>Sci Am</a:t>
            </a:r>
            <a:r>
              <a:rPr lang="en-US" sz="1200" kern="1200" dirty="0">
                <a:solidFill>
                  <a:schemeClr val="tx1"/>
                </a:solidFill>
                <a:effectLst/>
                <a:latin typeface="+mn-lt"/>
                <a:ea typeface="+mn-ea"/>
                <a:cs typeface="+mn-cs"/>
              </a:rPr>
              <a:t> 236: 44–56. Reproduced with permission. © 1977 SCIENTIFIC AMERICAN, Inc. All rights reserved.)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871495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284199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636982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dirty="0"/>
              <a:t>Receptor cloning: genetic material is isolated and inserted into a cell (</a:t>
            </a:r>
            <a:r>
              <a:rPr lang="en-US" b="1" dirty="0"/>
              <a:t>transfectio</a:t>
            </a:r>
            <a:r>
              <a:rPr lang="en-US" dirty="0"/>
              <a:t>n), maintained in culture to produce identical cells </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590883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Autoradiograms of opioid receptor subtype binding in rat brain</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Notice the distinct locations of (A) </a:t>
            </a:r>
            <a:r>
              <a:rPr lang="en-US" sz="1200" kern="1200" dirty="0" err="1">
                <a:solidFill>
                  <a:schemeClr val="tx1"/>
                </a:solidFill>
                <a:effectLst/>
                <a:latin typeface="+mn-lt"/>
                <a:ea typeface="+mn-ea"/>
                <a:cs typeface="+mn-cs"/>
              </a:rPr>
              <a:t>μ</a:t>
            </a:r>
            <a:r>
              <a:rPr lang="en-US" sz="1200" kern="1200" dirty="0">
                <a:solidFill>
                  <a:schemeClr val="tx1"/>
                </a:solidFill>
                <a:effectLst/>
                <a:latin typeface="+mn-lt"/>
                <a:ea typeface="+mn-ea"/>
                <a:cs typeface="+mn-cs"/>
              </a:rPr>
              <a:t>-, (B) </a:t>
            </a:r>
            <a:r>
              <a:rPr lang="en-US" sz="1200" kern="1200" dirty="0" err="1">
                <a:solidFill>
                  <a:schemeClr val="tx1"/>
                </a:solidFill>
                <a:effectLst/>
                <a:latin typeface="+mn-lt"/>
                <a:ea typeface="+mn-ea"/>
                <a:cs typeface="+mn-cs"/>
              </a:rPr>
              <a:t>δ</a:t>
            </a:r>
            <a:r>
              <a:rPr lang="en-US" sz="1200" u="none" strike="noStrike"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and (C) </a:t>
            </a:r>
            <a:r>
              <a:rPr lang="en-US" sz="1200" kern="1200" dirty="0" err="1">
                <a:solidFill>
                  <a:schemeClr val="tx1"/>
                </a:solidFill>
                <a:effectLst/>
                <a:latin typeface="+mn-lt"/>
                <a:ea typeface="+mn-ea"/>
                <a:cs typeface="+mn-cs"/>
              </a:rPr>
              <a:t>κ</a:t>
            </a:r>
            <a:r>
              <a:rPr lang="en-US" sz="1200" kern="1200" dirty="0">
                <a:solidFill>
                  <a:schemeClr val="tx1"/>
                </a:solidFill>
                <a:effectLst/>
                <a:latin typeface="+mn-lt"/>
                <a:ea typeface="+mn-ea"/>
                <a:cs typeface="+mn-cs"/>
              </a:rPr>
              <a:t>-receptors.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42019416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Proposed structure of the </a:t>
            </a:r>
            <a:r>
              <a:rPr lang="en-US" sz="1200" b="1" kern="1200" dirty="0" err="1">
                <a:solidFill>
                  <a:schemeClr val="tx1"/>
                </a:solidFill>
                <a:effectLst/>
                <a:latin typeface="+mn-lt"/>
                <a:ea typeface="+mn-ea"/>
                <a:cs typeface="+mn-cs"/>
              </a:rPr>
              <a:t>δ</a:t>
            </a:r>
            <a:r>
              <a:rPr lang="en-US" sz="1200" b="1" kern="1200" dirty="0">
                <a:solidFill>
                  <a:schemeClr val="tx1"/>
                </a:solidFill>
                <a:effectLst/>
                <a:latin typeface="+mn-lt"/>
                <a:ea typeface="+mn-ea"/>
                <a:cs typeface="+mn-cs"/>
              </a:rPr>
              <a:t>-opioid receptor</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Each circle represents an identified amino acid. The seven regions spanning the cell membrane are typical for receptors that are coupled to G proteins.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1525193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11.1  </a:t>
            </a:r>
            <a:r>
              <a:rPr lang="en-US" sz="1200" b="1" kern="1200" dirty="0">
                <a:solidFill>
                  <a:schemeClr val="tx1"/>
                </a:solidFill>
                <a:effectLst/>
                <a:latin typeface="+mn-lt"/>
                <a:ea typeface="+mn-ea"/>
                <a:cs typeface="+mn-cs"/>
              </a:rPr>
              <a:t>The Cutting Edge: Science in Action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PZM21 is an effective analgesic with reduced side effects 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Dose–response curves for PZM21-induced analgesia (left) and morphine-induced analgesia (right). Latency to withdraw from a heated surface in the hotplate test is expressed as a percentage of the maximal possible effect (% MPE).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represents the time after subcutaneous administration of drug or saline (vehicle). The analgesic effect of 40 mg/kg of PZM21 was comparable to the effect of 10 mg/kg of morphine. (After A. </a:t>
            </a:r>
            <a:r>
              <a:rPr lang="en-US" sz="1200" kern="1200" dirty="0" err="1">
                <a:solidFill>
                  <a:schemeClr val="tx1"/>
                </a:solidFill>
                <a:effectLst/>
                <a:latin typeface="+mn-lt"/>
                <a:ea typeface="+mn-ea"/>
                <a:cs typeface="+mn-cs"/>
              </a:rPr>
              <a:t>Manglik</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537: 185–190.)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1033970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11.1  </a:t>
            </a:r>
            <a:r>
              <a:rPr lang="en-US" sz="1200" b="1" kern="1200" dirty="0">
                <a:solidFill>
                  <a:schemeClr val="tx1"/>
                </a:solidFill>
                <a:effectLst/>
                <a:latin typeface="+mn-lt"/>
                <a:ea typeface="+mn-ea"/>
                <a:cs typeface="+mn-cs"/>
              </a:rPr>
              <a:t>The Cutting Edge: Science in Action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PZM21 is an effective analgesic with reduced side effects 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Dose–response curves for PZM21-induced analgesia (left) and morphine-induced analgesia (right). Latency to withdraw from a heated surface in the hotplate test is expressed as a percentage of the maximal possible effect (% MPE).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represents the time after subcutaneous administration of drug or saline (vehicle). The analgesic effect of 40 mg/kg of PZM21 was comparable to the effect of 10 mg/kg of morphine. (After A. </a:t>
            </a:r>
            <a:r>
              <a:rPr lang="en-US" sz="1200" kern="1200" dirty="0" err="1">
                <a:solidFill>
                  <a:schemeClr val="tx1"/>
                </a:solidFill>
                <a:effectLst/>
                <a:latin typeface="+mn-lt"/>
                <a:ea typeface="+mn-ea"/>
                <a:cs typeface="+mn-cs"/>
              </a:rPr>
              <a:t>Manglik</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Nature</a:t>
            </a:r>
            <a:r>
              <a:rPr lang="en-US" sz="1200" kern="1200" dirty="0">
                <a:solidFill>
                  <a:schemeClr val="tx1"/>
                </a:solidFill>
                <a:effectLst/>
                <a:latin typeface="+mn-lt"/>
                <a:ea typeface="+mn-ea"/>
                <a:cs typeface="+mn-cs"/>
              </a:rPr>
              <a:t> 537: 185–190.)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3858116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11.1  </a:t>
            </a:r>
            <a:r>
              <a:rPr lang="en-US" sz="1200" b="1" kern="1200" dirty="0">
                <a:solidFill>
                  <a:schemeClr val="tx1"/>
                </a:solidFill>
                <a:effectLst/>
                <a:latin typeface="+mn-lt"/>
                <a:ea typeface="+mn-ea"/>
                <a:cs typeface="+mn-cs"/>
              </a:rPr>
              <a:t>The Cutting Edge: Science in Action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B-D  PZM21 is an effective analgesic with reduced side effects 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 Defecation (mg of fecal </a:t>
            </a:r>
            <a:r>
              <a:rPr lang="en-US" sz="1200" kern="1200" dirty="0" err="1">
                <a:solidFill>
                  <a:schemeClr val="tx1"/>
                </a:solidFill>
                <a:effectLst/>
                <a:latin typeface="+mn-lt"/>
                <a:ea typeface="+mn-ea"/>
                <a:cs typeface="+mn-cs"/>
              </a:rPr>
              <a:t>boli</a:t>
            </a:r>
            <a:r>
              <a:rPr lang="en-US" sz="1200" kern="1200" dirty="0">
                <a:solidFill>
                  <a:schemeClr val="tx1"/>
                </a:solidFill>
                <a:effectLst/>
                <a:latin typeface="+mn-lt"/>
                <a:ea typeface="+mn-ea"/>
                <a:cs typeface="+mn-cs"/>
              </a:rPr>
              <a:t>) was less after PZM21 administration than with saline, indicating constipation, but not as severe as with morphine. (C) About 20 minutes after administration, respiration frequency was significantly lower in subjects treated with morphine than in those receiving saline, while an equally analgesic dose of PZM21 did not impair respiration frequency. (D) Animals conditioned to associate a particular chamber with morphine rather than saline administration showed a preference for that chamber. Animals trained with PZM21 and saline failed to show such a place preference. (After A. </a:t>
            </a:r>
            <a:r>
              <a:rPr lang="en-US" sz="1200" kern="1200" dirty="0" err="1">
                <a:solidFill>
                  <a:schemeClr val="tx1"/>
                </a:solidFill>
                <a:effectLst/>
                <a:latin typeface="+mn-lt"/>
                <a:ea typeface="+mn-ea"/>
                <a:cs typeface="+mn-cs"/>
              </a:rPr>
              <a:t>Manglik</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Nature </a:t>
            </a:r>
            <a:r>
              <a:rPr lang="en-US" sz="1200" kern="1200" dirty="0">
                <a:solidFill>
                  <a:schemeClr val="tx1"/>
                </a:solidFill>
                <a:effectLst/>
                <a:latin typeface="+mn-lt"/>
                <a:ea typeface="+mn-ea"/>
                <a:cs typeface="+mn-cs"/>
              </a:rPr>
              <a:t>537: 185–190.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/10.1038/nature19112.)</a:t>
            </a:r>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2162495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11.1  </a:t>
            </a:r>
            <a:r>
              <a:rPr lang="en-US" sz="1200" b="1" kern="1200" dirty="0">
                <a:solidFill>
                  <a:schemeClr val="tx1"/>
                </a:solidFill>
                <a:effectLst/>
                <a:latin typeface="+mn-lt"/>
                <a:ea typeface="+mn-ea"/>
                <a:cs typeface="+mn-cs"/>
              </a:rPr>
              <a:t>The Cutting Edge: Science in Action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B-D  PZM21 is an effective analgesic with reduced side effects 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 Defecation (mg of fecal </a:t>
            </a:r>
            <a:r>
              <a:rPr lang="en-US" sz="1200" kern="1200" dirty="0" err="1">
                <a:solidFill>
                  <a:schemeClr val="tx1"/>
                </a:solidFill>
                <a:effectLst/>
                <a:latin typeface="+mn-lt"/>
                <a:ea typeface="+mn-ea"/>
                <a:cs typeface="+mn-cs"/>
              </a:rPr>
              <a:t>boli</a:t>
            </a:r>
            <a:r>
              <a:rPr lang="en-US" sz="1200" kern="1200" dirty="0">
                <a:solidFill>
                  <a:schemeClr val="tx1"/>
                </a:solidFill>
                <a:effectLst/>
                <a:latin typeface="+mn-lt"/>
                <a:ea typeface="+mn-ea"/>
                <a:cs typeface="+mn-cs"/>
              </a:rPr>
              <a:t>) was less after PZM21 administration than with saline, indicating constipation, but not as severe as with morphine. (C) About 20 minutes after administration, respiration frequency was significantly lower in subjects treated with morphine than in those receiving saline, while an equally analgesic dose of PZM21 did not impair respiration frequency. (D) Animals conditioned to associate a particular chamber with morphine rather than saline administration showed a preference for that chamber. Animals trained with PZM21 and saline failed to show such a place preference. (After A. </a:t>
            </a:r>
            <a:r>
              <a:rPr lang="en-US" sz="1200" kern="1200" dirty="0" err="1">
                <a:solidFill>
                  <a:schemeClr val="tx1"/>
                </a:solidFill>
                <a:effectLst/>
                <a:latin typeface="+mn-lt"/>
                <a:ea typeface="+mn-ea"/>
                <a:cs typeface="+mn-cs"/>
              </a:rPr>
              <a:t>Manglik</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Nature </a:t>
            </a:r>
            <a:r>
              <a:rPr lang="en-US" sz="1200" kern="1200" dirty="0">
                <a:solidFill>
                  <a:schemeClr val="tx1"/>
                </a:solidFill>
                <a:effectLst/>
                <a:latin typeface="+mn-lt"/>
                <a:ea typeface="+mn-ea"/>
                <a:cs typeface="+mn-cs"/>
              </a:rPr>
              <a:t>537: 185–190.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/10.1038/nature19112.)</a:t>
            </a:r>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9892972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11.1  </a:t>
            </a:r>
            <a:r>
              <a:rPr lang="en-US" sz="1200" b="1" kern="1200" dirty="0">
                <a:solidFill>
                  <a:schemeClr val="tx1"/>
                </a:solidFill>
                <a:effectLst/>
                <a:latin typeface="+mn-lt"/>
                <a:ea typeface="+mn-ea"/>
                <a:cs typeface="+mn-cs"/>
              </a:rPr>
              <a:t>The Cutting Edge: Science in Action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B-D  PZM21 is an effective analgesic with reduced side effects 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 Defecation (mg of fecal </a:t>
            </a:r>
            <a:r>
              <a:rPr lang="en-US" sz="1200" kern="1200" dirty="0" err="1">
                <a:solidFill>
                  <a:schemeClr val="tx1"/>
                </a:solidFill>
                <a:effectLst/>
                <a:latin typeface="+mn-lt"/>
                <a:ea typeface="+mn-ea"/>
                <a:cs typeface="+mn-cs"/>
              </a:rPr>
              <a:t>boli</a:t>
            </a:r>
            <a:r>
              <a:rPr lang="en-US" sz="1200" kern="1200" dirty="0">
                <a:solidFill>
                  <a:schemeClr val="tx1"/>
                </a:solidFill>
                <a:effectLst/>
                <a:latin typeface="+mn-lt"/>
                <a:ea typeface="+mn-ea"/>
                <a:cs typeface="+mn-cs"/>
              </a:rPr>
              <a:t>) was less after PZM21 administration than with saline, indicating constipation, but not as severe as with morphine. (C) About 20 minutes after administration, respiration frequency was significantly lower in subjects treated with morphine than in those receiving saline, while an equally analgesic dose of PZM21 did not impair respiration frequency. (D) Animals conditioned to associate a particular chamber with morphine rather than saline administration showed a preference for that chamber. Animals trained with PZM21 and saline failed to show such a place preference. (After A. </a:t>
            </a:r>
            <a:r>
              <a:rPr lang="en-US" sz="1200" kern="1200" dirty="0" err="1">
                <a:solidFill>
                  <a:schemeClr val="tx1"/>
                </a:solidFill>
                <a:effectLst/>
                <a:latin typeface="+mn-lt"/>
                <a:ea typeface="+mn-ea"/>
                <a:cs typeface="+mn-cs"/>
              </a:rPr>
              <a:t>Manglik</a:t>
            </a:r>
            <a:r>
              <a:rPr lang="en-US" sz="1200" kern="1200" dirty="0">
                <a:solidFill>
                  <a:schemeClr val="tx1"/>
                </a:solidFill>
                <a:effectLst/>
                <a:latin typeface="+mn-lt"/>
                <a:ea typeface="+mn-ea"/>
                <a:cs typeface="+mn-cs"/>
              </a:rPr>
              <a:t> et al. 2016. </a:t>
            </a:r>
            <a:r>
              <a:rPr lang="en-US" sz="1200" i="1" kern="1200" dirty="0">
                <a:solidFill>
                  <a:schemeClr val="tx1"/>
                </a:solidFill>
                <a:effectLst/>
                <a:latin typeface="+mn-lt"/>
                <a:ea typeface="+mn-ea"/>
                <a:cs typeface="+mn-cs"/>
              </a:rPr>
              <a:t>Nature </a:t>
            </a:r>
            <a:r>
              <a:rPr lang="en-US" sz="1200" kern="1200" dirty="0">
                <a:solidFill>
                  <a:schemeClr val="tx1"/>
                </a:solidFill>
                <a:effectLst/>
                <a:latin typeface="+mn-lt"/>
                <a:ea typeface="+mn-ea"/>
                <a:cs typeface="+mn-cs"/>
              </a:rPr>
              <a:t>537: 185–190.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/10.1038/nature19112.)</a:t>
            </a:r>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29655620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b="1" u="none" dirty="0" err="1"/>
              <a:t>Endomorphins</a:t>
            </a:r>
            <a:r>
              <a:rPr lang="en-US" u="none" dirty="0"/>
              <a:t>: </a:t>
            </a:r>
            <a:r>
              <a:rPr lang="en-US" sz="1800" b="0" i="0" u="none" strike="noStrike" baseline="0" dirty="0">
                <a:latin typeface="PalatinoLTStd-Roman"/>
              </a:rPr>
              <a:t>peptides with a distinct structure and distribution in the CNS; bind selectively to the </a:t>
            </a:r>
            <a:r>
              <a:rPr lang="en-US" sz="1800" b="0" i="0" u="none" strike="noStrike" baseline="0" dirty="0">
                <a:latin typeface="STIXTwoText"/>
              </a:rPr>
              <a:t>μ</a:t>
            </a:r>
            <a:r>
              <a:rPr lang="en-US" sz="1800" b="0" i="0" u="none" strike="noStrike" baseline="0" dirty="0">
                <a:latin typeface="PalatinoLTStd-Roman"/>
              </a:rPr>
              <a:t>-receptor and are as potent as morphine in relieving pain. The </a:t>
            </a:r>
            <a:r>
              <a:rPr lang="en-US" sz="1800" b="0" i="0" u="none" strike="noStrike" baseline="0" dirty="0" err="1">
                <a:latin typeface="PalatinoLTStd-Roman"/>
              </a:rPr>
              <a:t>propeptide</a:t>
            </a:r>
            <a:r>
              <a:rPr lang="en-US" sz="1800" b="0" i="0" u="none" strike="noStrike" baseline="0" dirty="0">
                <a:latin typeface="PalatinoLTStd-Roman"/>
              </a:rPr>
              <a:t> has not been identified.</a:t>
            </a:r>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3474426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The four opioid </a:t>
            </a:r>
            <a:r>
              <a:rPr lang="en-US" sz="1200" b="1" kern="1200" dirty="0" err="1">
                <a:solidFill>
                  <a:schemeClr val="tx1"/>
                </a:solidFill>
                <a:effectLst/>
                <a:latin typeface="+mn-lt"/>
                <a:ea typeface="+mn-ea"/>
                <a:cs typeface="+mn-cs"/>
              </a:rPr>
              <a:t>propeptides</a:t>
            </a:r>
            <a:r>
              <a:rPr lang="en-US" sz="1200" b="1" kern="1200" dirty="0">
                <a:solidFill>
                  <a:schemeClr val="tx1"/>
                </a:solidFill>
                <a:effectLst/>
                <a:latin typeface="+mn-lt"/>
                <a:ea typeface="+mn-ea"/>
                <a:cs typeface="+mn-cs"/>
              </a:rPr>
              <a:t> and some of their possible products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POMC is cleaved into β-endorphin (β-END) and a number of other peptides, including </a:t>
            </a:r>
            <a:r>
              <a:rPr lang="en-US" sz="1200" kern="1200" dirty="0" err="1">
                <a:solidFill>
                  <a:schemeClr val="tx1"/>
                </a:solidFill>
                <a:effectLst/>
                <a:latin typeface="+mn-lt"/>
                <a:ea typeface="+mn-ea"/>
                <a:cs typeface="+mn-cs"/>
              </a:rPr>
              <a:t>γ</a:t>
            </a:r>
            <a:r>
              <a:rPr lang="en-US" sz="1200" kern="1200" dirty="0">
                <a:solidFill>
                  <a:schemeClr val="tx1"/>
                </a:solidFill>
                <a:effectLst/>
                <a:latin typeface="+mn-lt"/>
                <a:ea typeface="+mn-ea"/>
                <a:cs typeface="+mn-cs"/>
              </a:rPr>
              <a:t>- and α-melanocyte-stimulating hormone (MSH), β-MSH, adrenocorticotropic hormone (ACTH), and several forms of </a:t>
            </a:r>
            <a:r>
              <a:rPr lang="en-US" sz="1200" kern="1200" dirty="0" err="1">
                <a:solidFill>
                  <a:schemeClr val="tx1"/>
                </a:solidFill>
                <a:effectLst/>
                <a:latin typeface="+mn-lt"/>
                <a:ea typeface="+mn-ea"/>
                <a:cs typeface="+mn-cs"/>
              </a:rPr>
              <a:t>lipotropin</a:t>
            </a:r>
            <a:r>
              <a:rPr lang="en-US" sz="1200" kern="1200" dirty="0">
                <a:solidFill>
                  <a:schemeClr val="tx1"/>
                </a:solidFill>
                <a:effectLst/>
                <a:latin typeface="+mn-lt"/>
                <a:ea typeface="+mn-ea"/>
                <a:cs typeface="+mn-cs"/>
              </a:rPr>
              <a:t> (LPH). Pro­enkephalin cleavage produces several copies of met- and leu-enkephalin (ENK). Prodynorphin contains </a:t>
            </a:r>
            <a:r>
              <a:rPr lang="en-US" sz="1200" u="none" strike="noStrike"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 and β-neoendorphin, as well as dynorphin (DYN) A and B. </a:t>
            </a:r>
            <a:r>
              <a:rPr lang="en-US" sz="1200" kern="1200" dirty="0" err="1">
                <a:solidFill>
                  <a:schemeClr val="tx1"/>
                </a:solidFill>
                <a:effectLst/>
                <a:latin typeface="+mn-lt"/>
                <a:ea typeface="+mn-ea"/>
                <a:cs typeface="+mn-cs"/>
              </a:rPr>
              <a:t>Pronociceptin</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orphanin</a:t>
            </a:r>
            <a:r>
              <a:rPr lang="en-US" sz="1200" kern="1200" dirty="0">
                <a:solidFill>
                  <a:schemeClr val="tx1"/>
                </a:solidFill>
                <a:effectLst/>
                <a:latin typeface="+mn-lt"/>
                <a:ea typeface="+mn-ea"/>
                <a:cs typeface="+mn-cs"/>
              </a:rPr>
              <a:t> FQ cleavage produces one copy each of </a:t>
            </a:r>
            <a:r>
              <a:rPr lang="en-US" sz="1200" kern="1200" dirty="0" err="1">
                <a:solidFill>
                  <a:schemeClr val="tx1"/>
                </a:solidFill>
                <a:effectLst/>
                <a:latin typeface="+mn-lt"/>
                <a:ea typeface="+mn-ea"/>
                <a:cs typeface="+mn-cs"/>
              </a:rPr>
              <a:t>orphanin</a:t>
            </a:r>
            <a:r>
              <a:rPr lang="en-US" sz="1200" kern="1200" dirty="0">
                <a:solidFill>
                  <a:schemeClr val="tx1"/>
                </a:solidFill>
                <a:effectLst/>
                <a:latin typeface="+mn-lt"/>
                <a:ea typeface="+mn-ea"/>
                <a:cs typeface="+mn-cs"/>
              </a:rPr>
              <a:t> FQ, orphanin-2, and </a:t>
            </a:r>
            <a:r>
              <a:rPr lang="en-US" sz="1200" kern="1200" dirty="0" err="1">
                <a:solidFill>
                  <a:schemeClr val="tx1"/>
                </a:solidFill>
                <a:effectLst/>
                <a:latin typeface="+mn-lt"/>
                <a:ea typeface="+mn-ea"/>
                <a:cs typeface="+mn-cs"/>
              </a:rPr>
              <a:t>nocistatin</a:t>
            </a:r>
            <a:r>
              <a:rPr lang="en-US" sz="1200" kern="1200" dirty="0">
                <a:solidFill>
                  <a:schemeClr val="tx1"/>
                </a:solidFill>
                <a:effectLst/>
                <a:latin typeface="+mn-lt"/>
                <a:ea typeface="+mn-ea"/>
                <a:cs typeface="+mn-cs"/>
              </a:rPr>
              <a:t>. Tiny enkephalin peptides are also frequently found within the larger peptide fragments.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11541541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CRF: </a:t>
            </a:r>
            <a:r>
              <a:rPr lang="en-US" dirty="0"/>
              <a:t>Corticotropin-releasing factor</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1059136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11.11  </a:t>
            </a:r>
            <a:r>
              <a:rPr lang="en-US" sz="1200" b="1" kern="1200" dirty="0">
                <a:solidFill>
                  <a:schemeClr val="tx1"/>
                </a:solidFill>
                <a:effectLst/>
                <a:latin typeface="+mn-lt"/>
                <a:ea typeface="+mn-ea"/>
                <a:cs typeface="+mn-cs"/>
              </a:rPr>
              <a:t>Hypothalamic control of ACTH and β-endorphin release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hypothalamus releases CRF, which causes the anterior pituitary to secrete ACTH, which in turn acts on the adrenal gland to prepare the individual to deal with stress. CRF also influences β-endorphin synthesis and release from the pituitary in response to stress. Notice in Figure 11.10 that ACTH and β-endorphin come from the same </a:t>
            </a:r>
            <a:r>
              <a:rPr lang="en-US" sz="1200" kern="1200" dirty="0" err="1">
                <a:solidFill>
                  <a:schemeClr val="tx1"/>
                </a:solidFill>
                <a:effectLst/>
                <a:latin typeface="+mn-lt"/>
                <a:ea typeface="+mn-ea"/>
                <a:cs typeface="+mn-cs"/>
              </a:rPr>
              <a:t>propeptide</a:t>
            </a:r>
            <a:r>
              <a:rPr lang="en-US" sz="1200" kern="1200" dirty="0">
                <a:solidFill>
                  <a:schemeClr val="tx1"/>
                </a:solidFill>
                <a:effectLst/>
                <a:latin typeface="+mn-lt"/>
                <a:ea typeface="+mn-ea"/>
                <a:cs typeface="+mn-cs"/>
              </a:rPr>
              <a:t>, POMC.</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683737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1936754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11.12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Inhibitory actions of endogenous opioids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Opioids inhibit nerve activity in several ways. (A) Opioids bind to receptors that activate a G protein that opens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channels to hyperpolarize the postsynaptic cells, thereby reducing the rate of firing. (B) Opioid receptors on nerve terminals (axo­axonic) activate G proteins that close Ca</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channels, reducing the release of the neurotransmitter. (C) Presynaptic </a:t>
            </a:r>
            <a:r>
              <a:rPr lang="en-US" sz="1200" kern="1200" dirty="0" err="1">
                <a:solidFill>
                  <a:schemeClr val="tx1"/>
                </a:solidFill>
                <a:effectLst/>
                <a:latin typeface="+mn-lt"/>
                <a:ea typeface="+mn-ea"/>
                <a:cs typeface="+mn-cs"/>
              </a:rPr>
              <a:t>autoreceptors</a:t>
            </a:r>
            <a:r>
              <a:rPr lang="en-US" sz="1200" kern="1200" dirty="0">
                <a:solidFill>
                  <a:schemeClr val="tx1"/>
                </a:solidFill>
                <a:effectLst/>
                <a:latin typeface="+mn-lt"/>
                <a:ea typeface="+mn-ea"/>
                <a:cs typeface="+mn-cs"/>
              </a:rPr>
              <a:t> activate G proteins and reduce the release of a co-localized neurotransmitter. The mechanism may involve closing Ca</a:t>
            </a:r>
            <a:r>
              <a:rPr lang="en-US" sz="1200" kern="1200" baseline="30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channels or opening K</a:t>
            </a:r>
            <a:r>
              <a:rPr lang="en-US" sz="1200" kern="1200" baseline="300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channels that hyperpolarize the presynaptic cell.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36003533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d</a:t>
            </a:r>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Nociceptors: networks of free nerve endings that are sensitive to intense pressure, extreme temperature including heat and cold, electrical impulses, cuts, chemical irritants, and inflammation.</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18277712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Ascending pain pathways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Sensory neurons (</a:t>
            </a:r>
            <a:r>
              <a:rPr lang="en-US" sz="1200" kern="1200" dirty="0" err="1">
                <a:solidFill>
                  <a:schemeClr val="tx1"/>
                </a:solidFill>
                <a:effectLst/>
                <a:latin typeface="+mn-lt"/>
                <a:ea typeface="+mn-ea"/>
                <a:cs typeface="+mn-cs"/>
              </a:rPr>
              <a:t>Aδ</a:t>
            </a:r>
            <a:r>
              <a:rPr lang="en-US" sz="1200" kern="1200" dirty="0">
                <a:solidFill>
                  <a:schemeClr val="tx1"/>
                </a:solidFill>
                <a:effectLst/>
                <a:latin typeface="+mn-lt"/>
                <a:ea typeface="+mn-ea"/>
                <a:cs typeface="+mn-cs"/>
              </a:rPr>
              <a:t> and C fibers) activated by noxious stimuli enter the dorsal horn of the spinal cord. Dorsal horn neurons travel up the spinal cord on the contralateral side and ultimately reach various nuclei in the thalamus. Neurons transmitting “early” (first) pain end first in the primary somatosensory cortex for well-localized sensory discrimination, before the information is transferred to the secondary somatosensory cortex, where pain recognition occurs. The slower-conducting neurons transmit information (second pain) to a variety of limbic areas, including the anterior cingulate cortex, which is important for the emotional or suffering aspect of pain.</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17088324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38661454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11.14</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Location and time course of pain-evoked neural activity in humans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Sequential MEG tracings of the changes in cortical magnetic fields over 3 seconds following the initiation of the painful stimulus. (B) Brain areas that are active at corresponding points in time are shown as light-shaded areas that have been superimposed on magnetic resonance images. (C) Adjacent areas of primary somatosensory cortex are responsive to application of correspondingly adjacent painful stimuli on the body. (A from M. </a:t>
            </a:r>
            <a:r>
              <a:rPr lang="en-US" sz="1200" kern="1200" dirty="0" err="1">
                <a:solidFill>
                  <a:schemeClr val="tx1"/>
                </a:solidFill>
                <a:effectLst/>
                <a:latin typeface="+mn-lt"/>
                <a:ea typeface="+mn-ea"/>
                <a:cs typeface="+mn-cs"/>
              </a:rPr>
              <a:t>Ploner</a:t>
            </a:r>
            <a:r>
              <a:rPr lang="en-US" sz="1200" kern="1200" dirty="0">
                <a:solidFill>
                  <a:schemeClr val="tx1"/>
                </a:solidFill>
                <a:effectLst/>
                <a:latin typeface="+mn-lt"/>
                <a:ea typeface="+mn-ea"/>
                <a:cs typeface="+mn-cs"/>
              </a:rPr>
              <a:t> et al. 2002. </a:t>
            </a:r>
            <a:r>
              <a:rPr lang="en-US" sz="1200" i="1" kern="1200" dirty="0">
                <a:solidFill>
                  <a:schemeClr val="tx1"/>
                </a:solidFill>
                <a:effectLst/>
                <a:latin typeface="+mn-lt"/>
                <a:ea typeface="+mn-ea"/>
                <a:cs typeface="+mn-cs"/>
              </a:rPr>
              <a:t>Proc Natl </a:t>
            </a:r>
            <a:r>
              <a:rPr lang="en-US" sz="1200" i="1" kern="1200" dirty="0" err="1">
                <a:solidFill>
                  <a:schemeClr val="tx1"/>
                </a:solidFill>
                <a:effectLst/>
                <a:latin typeface="+mn-lt"/>
                <a:ea typeface="+mn-ea"/>
                <a:cs typeface="+mn-cs"/>
              </a:rPr>
              <a:t>Acad</a:t>
            </a:r>
            <a:r>
              <a:rPr lang="en-US" sz="1200" i="1" kern="1200" dirty="0">
                <a:solidFill>
                  <a:schemeClr val="tx1"/>
                </a:solidFill>
                <a:effectLst/>
                <a:latin typeface="+mn-lt"/>
                <a:ea typeface="+mn-ea"/>
                <a:cs typeface="+mn-cs"/>
              </a:rPr>
              <a:t> Sci USA</a:t>
            </a:r>
            <a:r>
              <a:rPr lang="en-US" sz="1200" kern="1200" dirty="0">
                <a:solidFill>
                  <a:schemeClr val="tx1"/>
                </a:solidFill>
                <a:effectLst/>
                <a:latin typeface="+mn-lt"/>
                <a:ea typeface="+mn-ea"/>
                <a:cs typeface="+mn-cs"/>
              </a:rPr>
              <a:t> 99: 12444–12448. © 2002 National Academy of Sciences, U.S.A.)</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42274748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PAG: </a:t>
            </a:r>
            <a:r>
              <a:rPr lang="en-US" sz="1800" b="0" i="0" u="none" strike="noStrike" baseline="0" dirty="0">
                <a:latin typeface="DINPro-Light"/>
              </a:rPr>
              <a:t>periaqueductal gray</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20589600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Pain transmission in the spinal cord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Descending modulatory neurons modify transmission via (A) inhibition of the projection neuron, (B) inhibition of an excitatory interneuron, and (C) excitation of an inhibitory opioid interneuron. Opioid drugs can influence the activity of the descending pathways and can act directly on opioid receptors in the spinal cord.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0582428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11.16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Descending pain modulation pathways</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Neurons from the periaqueductal gray descend to the brainstem nucleus of the raphe (serotonergic neurons) and the locus coeruleus (adrenergic neurons). The neurons in both pathways descend to the spinal cord to modulate the transmission of the pain signal at that level.</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157490607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5976306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PET scans showing endogenous opioid activation during sustained pain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study participants injected with [</a:t>
            </a:r>
            <a:r>
              <a:rPr lang="en-US" sz="1200" kern="1200" baseline="30000" dirty="0">
                <a:solidFill>
                  <a:schemeClr val="tx1"/>
                </a:solidFill>
                <a:effectLst/>
                <a:latin typeface="+mn-lt"/>
                <a:ea typeface="+mn-ea"/>
                <a:cs typeface="+mn-cs"/>
              </a:rPr>
              <a:t>11</a:t>
            </a:r>
            <a:r>
              <a:rPr lang="en-US" sz="1200" kern="1200" dirty="0">
                <a:solidFill>
                  <a:schemeClr val="tx1"/>
                </a:solidFill>
                <a:effectLst/>
                <a:latin typeface="+mn-lt"/>
                <a:ea typeface="+mn-ea"/>
                <a:cs typeface="+mn-cs"/>
              </a:rPr>
              <a:t>C]</a:t>
            </a:r>
            <a:r>
              <a:rPr lang="en-US" sz="1200" kern="1200" dirty="0" err="1">
                <a:solidFill>
                  <a:schemeClr val="tx1"/>
                </a:solidFill>
                <a:effectLst/>
                <a:latin typeface="+mn-lt"/>
                <a:ea typeface="+mn-ea"/>
                <a:cs typeface="+mn-cs"/>
              </a:rPr>
              <a:t>carfentanil</a:t>
            </a:r>
            <a:r>
              <a:rPr lang="en-US" sz="1200" kern="1200" dirty="0">
                <a:solidFill>
                  <a:schemeClr val="tx1"/>
                </a:solidFill>
                <a:effectLst/>
                <a:latin typeface="+mn-lt"/>
                <a:ea typeface="+mn-ea"/>
                <a:cs typeface="+mn-cs"/>
              </a:rPr>
              <a:t>, endogenous opioid action is shown by the ability of the endogenous opioid to displace the radiolabeled </a:t>
            </a:r>
            <a:r>
              <a:rPr lang="en-US" sz="1200" u="none" strike="noStrike" kern="1200" dirty="0" err="1">
                <a:solidFill>
                  <a:schemeClr val="tx1"/>
                </a:solidFill>
                <a:effectLst/>
                <a:latin typeface="+mn-lt"/>
                <a:ea typeface="+mn-ea"/>
                <a:cs typeface="+mn-cs"/>
              </a:rPr>
              <a:t>μ</a:t>
            </a:r>
            <a:r>
              <a:rPr lang="en-US" sz="1200" kern="1200" dirty="0">
                <a:solidFill>
                  <a:schemeClr val="tx1"/>
                </a:solidFill>
                <a:effectLst/>
                <a:latin typeface="+mn-lt"/>
                <a:ea typeface="+mn-ea"/>
                <a:cs typeface="+mn-cs"/>
              </a:rPr>
              <a:t>-receptor ligand from the receptors. Pain was induced by continuous infusion of hypertonic saline in the masseter muscle and was compared with a control condition of isotonic saline infusion. (A) Activation of the </a:t>
            </a:r>
            <a:r>
              <a:rPr lang="en-US" sz="1200" kern="1200" dirty="0" err="1">
                <a:solidFill>
                  <a:schemeClr val="tx1"/>
                </a:solidFill>
                <a:effectLst/>
                <a:latin typeface="+mn-lt"/>
                <a:ea typeface="+mn-ea"/>
                <a:cs typeface="+mn-cs"/>
              </a:rPr>
              <a:t>μ</a:t>
            </a:r>
            <a:r>
              <a:rPr lang="en-US" sz="1200" kern="1200" dirty="0">
                <a:solidFill>
                  <a:schemeClr val="tx1"/>
                </a:solidFill>
                <a:effectLst/>
                <a:latin typeface="+mn-lt"/>
                <a:ea typeface="+mn-ea"/>
                <a:cs typeface="+mn-cs"/>
              </a:rPr>
              <a:t>-opioid system in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amygdala (Amy), and anterior thalamus (</a:t>
            </a:r>
            <a:r>
              <a:rPr lang="en-US" sz="1200" kern="1200" dirty="0" err="1">
                <a:solidFill>
                  <a:schemeClr val="tx1"/>
                </a:solidFill>
                <a:effectLst/>
                <a:latin typeface="+mn-lt"/>
                <a:ea typeface="+mn-ea"/>
                <a:cs typeface="+mn-cs"/>
              </a:rPr>
              <a:t>Thal</a:t>
            </a:r>
            <a:r>
              <a:rPr lang="en-US" sz="1200" kern="1200" dirty="0">
                <a:solidFill>
                  <a:schemeClr val="tx1"/>
                </a:solidFill>
                <a:effectLst/>
                <a:latin typeface="+mn-lt"/>
                <a:ea typeface="+mn-ea"/>
                <a:cs typeface="+mn-cs"/>
              </a:rPr>
              <a:t>) after the participants were exposed to the prolonged noxious stimulus. The warmer colors indicate greater activation. These increases were negatively correlated with the participants’ </a:t>
            </a:r>
            <a:r>
              <a:rPr lang="en-US" sz="1200" i="1" kern="1200" dirty="0">
                <a:solidFill>
                  <a:schemeClr val="tx1"/>
                </a:solidFill>
                <a:effectLst/>
                <a:latin typeface="+mn-lt"/>
                <a:ea typeface="+mn-ea"/>
                <a:cs typeface="+mn-cs"/>
              </a:rPr>
              <a:t>sensory</a:t>
            </a:r>
            <a:r>
              <a:rPr lang="en-US" sz="1200" kern="1200" dirty="0">
                <a:solidFill>
                  <a:schemeClr val="tx1"/>
                </a:solidFill>
                <a:effectLst/>
                <a:latin typeface="+mn-lt"/>
                <a:ea typeface="+mn-ea"/>
                <a:cs typeface="+mn-cs"/>
              </a:rPr>
              <a:t> scores of pain. (B) </a:t>
            </a:r>
            <a:r>
              <a:rPr lang="en-US" sz="1200" kern="1200" dirty="0" err="1">
                <a:solidFill>
                  <a:schemeClr val="tx1"/>
                </a:solidFill>
                <a:effectLst/>
                <a:latin typeface="+mn-lt"/>
                <a:ea typeface="+mn-ea"/>
                <a:cs typeface="+mn-cs"/>
              </a:rPr>
              <a:t>μ</a:t>
            </a:r>
            <a:r>
              <a:rPr lang="en-US" sz="1200" kern="1200" dirty="0">
                <a:solidFill>
                  <a:schemeClr val="tx1"/>
                </a:solidFill>
                <a:effectLst/>
                <a:latin typeface="+mn-lt"/>
                <a:ea typeface="+mn-ea"/>
                <a:cs typeface="+mn-cs"/>
              </a:rPr>
              <a:t>-Opioid activity in the bilateral anterior cingulate cortex (ACC) and anterior thalamus and unilaterally in the </a:t>
            </a:r>
            <a:r>
              <a:rPr lang="en-US" sz="1200" kern="1200" dirty="0" err="1">
                <a:solidFill>
                  <a:schemeClr val="tx1"/>
                </a:solidFill>
                <a:effectLst/>
                <a:latin typeface="+mn-lt"/>
                <a:ea typeface="+mn-ea"/>
                <a:cs typeface="+mn-cs"/>
              </a:rPr>
              <a:t>NAcc</a:t>
            </a:r>
            <a:r>
              <a:rPr lang="en-US" sz="1200" kern="1200" dirty="0">
                <a:solidFill>
                  <a:schemeClr val="tx1"/>
                </a:solidFill>
                <a:effectLst/>
                <a:latin typeface="+mn-lt"/>
                <a:ea typeface="+mn-ea"/>
                <a:cs typeface="+mn-cs"/>
              </a:rPr>
              <a:t>. These increases were negatively correlated with pain </a:t>
            </a:r>
            <a:r>
              <a:rPr lang="en-US" sz="1200" i="1" kern="1200" dirty="0">
                <a:solidFill>
                  <a:schemeClr val="tx1"/>
                </a:solidFill>
                <a:effectLst/>
                <a:latin typeface="+mn-lt"/>
                <a:ea typeface="+mn-ea"/>
                <a:cs typeface="+mn-cs"/>
              </a:rPr>
              <a:t>affect</a:t>
            </a:r>
            <a:r>
              <a:rPr lang="en-US" sz="1200" kern="1200" dirty="0">
                <a:solidFill>
                  <a:schemeClr val="tx1"/>
                </a:solidFill>
                <a:effectLst/>
                <a:latin typeface="+mn-lt"/>
                <a:ea typeface="+mn-ea"/>
                <a:cs typeface="+mn-cs"/>
              </a:rPr>
              <a:t> scores. Therefore, the greater the </a:t>
            </a:r>
            <a:r>
              <a:rPr lang="en-US" sz="1200" kern="1200" dirty="0" err="1">
                <a:solidFill>
                  <a:schemeClr val="tx1"/>
                </a:solidFill>
                <a:effectLst/>
                <a:latin typeface="+mn-lt"/>
                <a:ea typeface="+mn-ea"/>
                <a:cs typeface="+mn-cs"/>
              </a:rPr>
              <a:t>μ</a:t>
            </a:r>
            <a:r>
              <a:rPr lang="en-US" sz="1200" kern="1200" dirty="0">
                <a:solidFill>
                  <a:schemeClr val="tx1"/>
                </a:solidFill>
                <a:effectLst/>
                <a:latin typeface="+mn-lt"/>
                <a:ea typeface="+mn-ea"/>
                <a:cs typeface="+mn-cs"/>
              </a:rPr>
              <a:t>-opioid activation in these areas, the lower was the emotional component of pain. Areas in red indicate greatest activity.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37865656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3599114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37757443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1655902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36342715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13021518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VTA: ventral tegmental area</a:t>
            </a:r>
          </a:p>
          <a:p>
            <a:r>
              <a:rPr lang="en-US" u="none" dirty="0" err="1"/>
              <a:t>NAcc</a:t>
            </a:r>
            <a:r>
              <a:rPr lang="en-US" u="none" dirty="0"/>
              <a:t>: nucleus </a:t>
            </a:r>
            <a:r>
              <a:rPr lang="en-US" u="none" dirty="0" err="1"/>
              <a:t>accumbens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17462537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11.18</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Model of the effects of opioids on mesolimbic dopaminergic cells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β</a:t>
            </a:r>
            <a:r>
              <a:rPr lang="en-US" sz="1200" u="none" strike="noStrike"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endorphin cell has an inhibitory effect on the normally inhibitory GABAergic cell, allowing the firing rate of the mesolimbic dopaminergic cells to increase and the cells to release more dopamine (DA) in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In contrast, the axoaxonic dynorphin cell inhibits the release of dopamine from the mesolimbic cell by preventing calcium entry.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22434242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25876268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8788037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r>
              <a:rPr lang="en-US" dirty="0" err="1"/>
              <a:t>sdsdfsd</a:t>
            </a:r>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2867725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u="none" dirty="0"/>
              <a:t>LC: locus coeruleus</a:t>
            </a:r>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0663158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171661687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11.20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Model of tolerance and withdrawal</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Himmelsbach’s</a:t>
            </a:r>
            <a:r>
              <a:rPr lang="en-US" sz="1200" kern="1200" dirty="0">
                <a:solidFill>
                  <a:schemeClr val="tx1"/>
                </a:solidFill>
                <a:effectLst/>
                <a:latin typeface="+mn-lt"/>
                <a:ea typeface="+mn-ea"/>
                <a:cs typeface="+mn-cs"/>
              </a:rPr>
              <a:t> theoretical model suggests that the nervous system adapts to the disturbing presence of a drug, so tolerance develops, but if the drug is suddenly withdrawn, the adaptive mechanism continues to function, causing a rebound in physiological effects (withdrawal). (B) Morphine acutely inhibits the synthesis of cAMP, but the effect becomes less as tolerance develops and neural adaptation occurs. If morphine is suddenly withdrawn, a far larger than normal amount of cAMP is produced, suggesting that the adaptive mechanism is still operating. With time, the cells once again adapt, now to the absence of the drug.</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997443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Many researchers feel that learning is </a:t>
            </a:r>
            <a:r>
              <a:rPr lang="en-US" sz="1800" b="0" i="0" u="none" strike="noStrike" baseline="0" dirty="0">
                <a:latin typeface="PalatinoLTStd-Roman"/>
              </a:rPr>
              <a:t>a critical factor in opioid use disorder.</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22127523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62</a:t>
            </a:fld>
            <a:endParaRPr lang="en-US"/>
          </a:p>
        </p:txBody>
      </p:sp>
    </p:spTree>
    <p:extLst>
      <p:ext uri="{BB962C8B-B14F-4D97-AF65-F5344CB8AC3E}">
        <p14:creationId xmlns:p14="http://schemas.microsoft.com/office/powerpoint/2010/main" val="25997575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63</a:t>
            </a:fld>
            <a:endParaRPr lang="en-US"/>
          </a:p>
        </p:txBody>
      </p:sp>
    </p:spTree>
    <p:extLst>
      <p:ext uri="{BB962C8B-B14F-4D97-AF65-F5344CB8AC3E}">
        <p14:creationId xmlns:p14="http://schemas.microsoft.com/office/powerpoint/2010/main" val="35919716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64</a:t>
            </a:fld>
            <a:endParaRPr lang="en-US"/>
          </a:p>
        </p:txBody>
      </p:sp>
    </p:spTree>
    <p:extLst>
      <p:ext uri="{BB962C8B-B14F-4D97-AF65-F5344CB8AC3E}">
        <p14:creationId xmlns:p14="http://schemas.microsoft.com/office/powerpoint/2010/main" val="32201579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sz="1800" b="0" i="0" u="none" strike="noStrike" baseline="0" dirty="0">
                <a:latin typeface="PalatinoLTStd-Roman"/>
              </a:rPr>
              <a:t>Suboxone: </a:t>
            </a:r>
            <a:r>
              <a:rPr lang="en-US" b="0" dirty="0"/>
              <a:t>Buprenorphine plus naloxone. </a:t>
            </a:r>
            <a:r>
              <a:rPr lang="en-US" dirty="0"/>
              <a:t>When taken sublingually, the buprenorphine is absorbed but the naloxone is not. If the tablet is crushed and injected, the naloxone blocks buprenorphine</a:t>
            </a:r>
            <a:r>
              <a:rPr lang="ja-JP" altLang="en-US" dirty="0"/>
              <a:t>’</a:t>
            </a:r>
            <a:r>
              <a:rPr lang="en-US" altLang="ja-JP" dirty="0"/>
              <a:t>s euphoric effects.</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65</a:t>
            </a:fld>
            <a:endParaRPr lang="en-US"/>
          </a:p>
        </p:txBody>
      </p:sp>
    </p:spTree>
    <p:extLst>
      <p:ext uri="{BB962C8B-B14F-4D97-AF65-F5344CB8AC3E}">
        <p14:creationId xmlns:p14="http://schemas.microsoft.com/office/powerpoint/2010/main" val="42159118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66</a:t>
            </a:fld>
            <a:endParaRPr lang="en-US"/>
          </a:p>
        </p:txBody>
      </p:sp>
    </p:spTree>
    <p:extLst>
      <p:ext uri="{BB962C8B-B14F-4D97-AF65-F5344CB8AC3E}">
        <p14:creationId xmlns:p14="http://schemas.microsoft.com/office/powerpoint/2010/main" val="242421460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67</a:t>
            </a:fld>
            <a:endParaRPr lang="en-US"/>
          </a:p>
        </p:txBody>
      </p:sp>
    </p:spTree>
    <p:extLst>
      <p:ext uri="{BB962C8B-B14F-4D97-AF65-F5344CB8AC3E}">
        <p14:creationId xmlns:p14="http://schemas.microsoft.com/office/powerpoint/2010/main" val="24481321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2490240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11</a:t>
            </a:r>
            <a:br>
              <a:rPr lang="en-US" dirty="0"/>
            </a:br>
            <a:r>
              <a:rPr lang="en-US" sz="4000" i="1" dirty="0"/>
              <a:t>The Opioids</a:t>
            </a:r>
            <a:endParaRPr lang="en-US" i="1" dirty="0"/>
          </a:p>
        </p:txBody>
      </p:sp>
      <p:sp>
        <p:nvSpPr>
          <p:cNvPr id="3" name="Text Placeholder 2"/>
          <p:cNvSpPr>
            <a:spLocks noGrp="1"/>
          </p:cNvSpPr>
          <p:nvPr>
            <p:ph idx="1"/>
          </p:nvPr>
        </p:nvSpPr>
        <p:spPr/>
        <p:txBody>
          <a:bodyPr/>
          <a:lstStyle/>
          <a:p>
            <a:pPr marL="914400" indent="-914400">
              <a:spcBef>
                <a:spcPts val="2400"/>
              </a:spcBef>
              <a:buNone/>
            </a:pPr>
            <a:r>
              <a:rPr lang="en-US" sz="3200" dirty="0"/>
              <a:t>11.1  Narcotic Analgesics</a:t>
            </a:r>
          </a:p>
          <a:p>
            <a:pPr marL="914400" indent="-914400">
              <a:spcBef>
                <a:spcPts val="2400"/>
              </a:spcBef>
              <a:buNone/>
            </a:pPr>
            <a:r>
              <a:rPr lang="en-US" sz="3200" dirty="0"/>
              <a:t>11.2  Opioids and Pain</a:t>
            </a:r>
          </a:p>
          <a:p>
            <a:pPr marL="914400" indent="-914400">
              <a:spcBef>
                <a:spcPts val="2400"/>
              </a:spcBef>
              <a:buNone/>
            </a:pPr>
            <a:r>
              <a:rPr lang="en-GB" sz="3200" dirty="0"/>
              <a:t>11.3  Opioid Reinforcement, Tolerance, and Dependence</a:t>
            </a:r>
            <a:endParaRPr lang="en-US" sz="3200" dirty="0"/>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11</a:t>
            </a:r>
            <a:br>
              <a:rPr lang="en-US" dirty="0"/>
            </a:br>
            <a:r>
              <a:rPr lang="en-US" sz="4000" dirty="0"/>
              <a:t>Learning Objectives </a:t>
            </a:r>
            <a:r>
              <a:rPr lang="en-US" sz="1300" dirty="0"/>
              <a:t>(1 of 3)</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11.1.1  Describe how opiates are cultivated and explain the distinction between opiates and opioids.</a:t>
            </a:r>
          </a:p>
          <a:p>
            <a:pPr marL="1371600" indent="-1371600">
              <a:lnSpc>
                <a:spcPct val="110000"/>
              </a:lnSpc>
              <a:buNone/>
            </a:pPr>
            <a:r>
              <a:rPr lang="en-US" dirty="0"/>
              <a:t>11.1.2  Describe the behavioral and physiological effects of opioids at therapeutic and toxic doses.</a:t>
            </a:r>
          </a:p>
          <a:p>
            <a:pPr marL="1371600" indent="-1371600">
              <a:lnSpc>
                <a:spcPct val="110000"/>
              </a:lnSpc>
              <a:buNone/>
            </a:pPr>
            <a:r>
              <a:rPr lang="en-US" dirty="0"/>
              <a:t>11.1.3  Identify and briefly describe the four types of opioid receptors.</a:t>
            </a:r>
          </a:p>
          <a:p>
            <a:pPr marL="1371600" indent="-1371600">
              <a:lnSpc>
                <a:spcPct val="110000"/>
              </a:lnSpc>
              <a:buNone/>
            </a:pPr>
            <a:r>
              <a:rPr lang="en-US" dirty="0"/>
              <a:t>11.1.4  Describe the endogenous opioids and identify the </a:t>
            </a:r>
            <a:r>
              <a:rPr lang="en-US" dirty="0" err="1"/>
              <a:t>propeptides</a:t>
            </a:r>
            <a:r>
              <a:rPr lang="en-US" dirty="0"/>
              <a:t> that they are derived from.</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11</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11.2.1  Describe how pain is initially perceived and explain how early and late pain signals are transmitted to the brain.</a:t>
            </a:r>
          </a:p>
          <a:p>
            <a:pPr marL="1371600" indent="-1371600">
              <a:lnSpc>
                <a:spcPct val="110000"/>
              </a:lnSpc>
              <a:buNone/>
            </a:pPr>
            <a:r>
              <a:rPr lang="en-US" dirty="0"/>
              <a:t>11.2.2  Explain how opioids interfere with neural pain signals to produce analgesia.</a:t>
            </a:r>
          </a:p>
          <a:p>
            <a:pPr marL="1371600" indent="-1371600">
              <a:lnSpc>
                <a:spcPct val="110000"/>
              </a:lnSpc>
              <a:buNone/>
            </a:pPr>
            <a:r>
              <a:rPr lang="en-US" dirty="0"/>
              <a:t>11.2.3  Describe other forms of pain control that rely on the endogenous opioid system.</a:t>
            </a:r>
          </a:p>
        </p:txBody>
      </p:sp>
    </p:spTree>
    <p:extLst>
      <p:ext uri="{BB962C8B-B14F-4D97-AF65-F5344CB8AC3E}">
        <p14:creationId xmlns:p14="http://schemas.microsoft.com/office/powerpoint/2010/main" val="3665130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11</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Autofit/>
          </a:bodyPr>
          <a:lstStyle/>
          <a:p>
            <a:pPr marL="1371600" indent="-1371600">
              <a:spcBef>
                <a:spcPts val="1200"/>
              </a:spcBef>
              <a:buNone/>
            </a:pPr>
            <a:r>
              <a:rPr lang="en-US" sz="2400" dirty="0"/>
              <a:t>11.3.1  Describe the evidence showing that opioid drugs exert highly reinforcing effects in both humans and non-human animals.</a:t>
            </a:r>
          </a:p>
          <a:p>
            <a:pPr marL="1371600" indent="-1371600">
              <a:spcBef>
                <a:spcPts val="1200"/>
              </a:spcBef>
              <a:buNone/>
            </a:pPr>
            <a:r>
              <a:rPr lang="en-US" sz="2400" dirty="0"/>
              <a:t>11.3.2  Describe the neural circuitry that underlies the reinforcing effects of opioids.</a:t>
            </a:r>
          </a:p>
          <a:p>
            <a:pPr marL="1371600" indent="-1371600">
              <a:spcBef>
                <a:spcPts val="1200"/>
              </a:spcBef>
              <a:buNone/>
            </a:pPr>
            <a:r>
              <a:rPr lang="en-US" sz="2400" dirty="0"/>
              <a:t>11.3.3  Explain how tolerance and physical dependence develop and describe the neural mechanisms that explain these phenomena.</a:t>
            </a:r>
          </a:p>
          <a:p>
            <a:pPr marL="1371600" indent="-1371600">
              <a:spcBef>
                <a:spcPts val="1200"/>
              </a:spcBef>
              <a:buNone/>
            </a:pPr>
            <a:r>
              <a:rPr lang="en-US" sz="2400" dirty="0"/>
              <a:t>11.3.4  Describe how pharmacotherapy with methadone or buprenorphine works to help individuals with opioid use disorder remain abstinent.</a:t>
            </a:r>
          </a:p>
          <a:p>
            <a:pPr marL="1371600" indent="-1371600">
              <a:spcBef>
                <a:spcPts val="1200"/>
              </a:spcBef>
              <a:buNone/>
            </a:pPr>
            <a:r>
              <a:rPr lang="en-US" sz="2400" dirty="0"/>
              <a:t>11.3.5  Explain how new approaches to preventing and treating opioid use disorder, such as compounding opioids with antagonists, or opioid vaccines, may be effective.</a:t>
            </a:r>
          </a:p>
        </p:txBody>
      </p:sp>
    </p:spTree>
    <p:extLst>
      <p:ext uri="{BB962C8B-B14F-4D97-AF65-F5344CB8AC3E}">
        <p14:creationId xmlns:p14="http://schemas.microsoft.com/office/powerpoint/2010/main" val="1199906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 of 18)</a:t>
            </a:r>
            <a:endParaRPr lang="en-US" dirty="0"/>
          </a:p>
        </p:txBody>
      </p:sp>
      <p:sp>
        <p:nvSpPr>
          <p:cNvPr id="3" name="Text Placeholder 2"/>
          <p:cNvSpPr>
            <a:spLocks noGrp="1"/>
          </p:cNvSpPr>
          <p:nvPr>
            <p:ph idx="1"/>
          </p:nvPr>
        </p:nvSpPr>
        <p:spPr/>
        <p:txBody>
          <a:bodyPr/>
          <a:lstStyle/>
          <a:p>
            <a:pPr>
              <a:spcBef>
                <a:spcPts val="1800"/>
              </a:spcBef>
            </a:pPr>
            <a:r>
              <a:rPr lang="en-US" dirty="0">
                <a:ea typeface="Geneva" pitchFamily="121" charset="-128"/>
              </a:rPr>
              <a:t>Opioid drugs are </a:t>
            </a:r>
            <a:r>
              <a:rPr lang="en-US" b="1" dirty="0">
                <a:ea typeface="Geneva" pitchFamily="121" charset="-128"/>
              </a:rPr>
              <a:t>narcotic analgesics</a:t>
            </a:r>
            <a:r>
              <a:rPr lang="en-US" dirty="0">
                <a:ea typeface="Geneva" pitchFamily="121" charset="-128"/>
              </a:rPr>
              <a:t>; reduce pain without producing unconsciousness </a:t>
            </a:r>
          </a:p>
          <a:p>
            <a:pPr>
              <a:defRPr/>
            </a:pPr>
            <a:r>
              <a:rPr lang="en-US" dirty="0">
                <a:ea typeface="Geneva" pitchFamily="121" charset="-128"/>
              </a:rPr>
              <a:t>Create a sense of relaxation and sleep; at high doses can lead to coma and death.</a:t>
            </a:r>
          </a:p>
          <a:p>
            <a:pPr>
              <a:defRPr/>
            </a:pPr>
            <a:r>
              <a:rPr lang="en-US" dirty="0">
                <a:ea typeface="Geneva" pitchFamily="121" charset="-128"/>
              </a:rPr>
              <a:t>They are the best painkillers known; also produce a sense of euphoria that may lead to increased use </a:t>
            </a:r>
          </a:p>
          <a:p>
            <a:pPr>
              <a:defRPr/>
            </a:pPr>
            <a:r>
              <a:rPr lang="en-US" dirty="0">
                <a:ea typeface="Geneva" pitchFamily="121" charset="-128"/>
              </a:rPr>
              <a:t>Continued use leads to tolerance and sometimes physical dependence</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(2 of 18)</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The opium poppy has a long history of use</a:t>
            </a:r>
          </a:p>
          <a:p>
            <a:pPr>
              <a:spcBef>
                <a:spcPts val="1800"/>
              </a:spcBef>
            </a:pPr>
            <a:r>
              <a:rPr lang="en-US" dirty="0"/>
              <a:t>Opium: extract of poppy plants; source of the opiate or opioid family of drugs</a:t>
            </a:r>
          </a:p>
          <a:p>
            <a:pPr>
              <a:spcBef>
                <a:spcPts val="1800"/>
              </a:spcBef>
            </a:pPr>
            <a:r>
              <a:rPr lang="en-US" altLang="en-US" dirty="0">
                <a:ea typeface="Geneva" pitchFamily="121" charset="-128"/>
              </a:rPr>
              <a:t>Opiates have been used recreationally and in medicine for thousands of years.</a:t>
            </a:r>
          </a:p>
          <a:p>
            <a:pPr>
              <a:defRPr/>
            </a:pPr>
            <a:r>
              <a:rPr lang="en-US" dirty="0"/>
              <a:t>Laudanum, an opium-based medicinal drink, was introduced in 1680 in England.</a:t>
            </a:r>
          </a:p>
          <a:p>
            <a:pPr>
              <a:defRPr/>
            </a:pPr>
            <a:r>
              <a:rPr lang="en-US" dirty="0"/>
              <a:t>Up to the twentieth century, opiates were common in popular remedies.</a:t>
            </a:r>
          </a:p>
        </p:txBody>
      </p:sp>
    </p:spTree>
    <p:extLst>
      <p:ext uri="{BB962C8B-B14F-4D97-AF65-F5344CB8AC3E}">
        <p14:creationId xmlns:p14="http://schemas.microsoft.com/office/powerpoint/2010/main" val="33492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(3 of 18)</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Minor differences in molecular structure determine behavioral effects</a:t>
            </a:r>
          </a:p>
          <a:p>
            <a:pPr>
              <a:spcBef>
                <a:spcPts val="1800"/>
              </a:spcBef>
            </a:pPr>
            <a:r>
              <a:rPr lang="en-US" dirty="0">
                <a:ea typeface="Geneva" pitchFamily="121" charset="-128"/>
              </a:rPr>
              <a:t>Morphine: principle active ingredient in opium; </a:t>
            </a:r>
            <a:r>
              <a:rPr lang="en-US" dirty="0"/>
              <a:t>also contains codeine, thebaine, </a:t>
            </a:r>
            <a:r>
              <a:rPr lang="en-US" dirty="0" err="1"/>
              <a:t>narcotine</a:t>
            </a:r>
            <a:endParaRPr lang="en-US" dirty="0"/>
          </a:p>
          <a:p>
            <a:pPr>
              <a:spcBef>
                <a:spcPts val="1800"/>
              </a:spcBef>
            </a:pPr>
            <a:r>
              <a:rPr lang="en-US" dirty="0">
                <a:ea typeface="Geneva" pitchFamily="121" charset="-128"/>
              </a:rPr>
              <a:t>Simple modifications of the morphine molecule produce great variations in potency, duration of action, and oral effectiveness – often due to pharmacokinetics</a:t>
            </a:r>
          </a:p>
          <a:p>
            <a:pPr>
              <a:spcBef>
                <a:spcPts val="1800"/>
              </a:spcBef>
            </a:pPr>
            <a:r>
              <a:rPr lang="en-US" dirty="0"/>
              <a:t>Heroin is converted to morphine in the brain; when injected it’s more potent because it’s more lipid soluble and reaches the brain faster</a:t>
            </a:r>
          </a:p>
        </p:txBody>
      </p:sp>
    </p:spTree>
    <p:extLst>
      <p:ext uri="{BB962C8B-B14F-4D97-AF65-F5344CB8AC3E}">
        <p14:creationId xmlns:p14="http://schemas.microsoft.com/office/powerpoint/2010/main" val="2600085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459A-245E-F242-BEBE-54139FBF650D}"/>
              </a:ext>
            </a:extLst>
          </p:cNvPr>
          <p:cNvSpPr>
            <a:spLocks noGrp="1"/>
          </p:cNvSpPr>
          <p:nvPr>
            <p:ph type="title"/>
          </p:nvPr>
        </p:nvSpPr>
        <p:spPr/>
        <p:txBody>
          <a:bodyPr/>
          <a:lstStyle/>
          <a:p>
            <a:r>
              <a:rPr lang="en-US" cap="all" dirty="0"/>
              <a:t>FIGURE 11.3</a:t>
            </a:r>
            <a:r>
              <a:rPr lang="en-US" dirty="0"/>
              <a:t>  Molecular structure of morphine, codeine, heroin, and naloxone </a:t>
            </a:r>
          </a:p>
        </p:txBody>
      </p:sp>
      <p:pic>
        <p:nvPicPr>
          <p:cNvPr id="6" name="Content Placeholder 5" descr="A set of 4 illustrations depicting the molecular structures of morphine, codeine, heroin, and naloxone respectively. All of them are similar with 4 structures each and have minor variations in bond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46991" y="384048"/>
            <a:ext cx="6642396" cy="6300788"/>
          </a:xfrm>
        </p:spPr>
      </p:pic>
    </p:spTree>
    <p:extLst>
      <p:ext uri="{BB962C8B-B14F-4D97-AF65-F5344CB8AC3E}">
        <p14:creationId xmlns:p14="http://schemas.microsoft.com/office/powerpoint/2010/main" val="4220554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(4 of 18)</a:t>
            </a:r>
            <a:endParaRPr lang="en-US" dirty="0"/>
          </a:p>
        </p:txBody>
      </p:sp>
      <p:sp>
        <p:nvSpPr>
          <p:cNvPr id="3" name="Text Placeholder 2"/>
          <p:cNvSpPr>
            <a:spLocks noGrp="1"/>
          </p:cNvSpPr>
          <p:nvPr>
            <p:ph idx="1"/>
          </p:nvPr>
        </p:nvSpPr>
        <p:spPr/>
        <p:txBody>
          <a:bodyPr/>
          <a:lstStyle/>
          <a:p>
            <a:pPr marL="457200" indent="-457200">
              <a:spcBef>
                <a:spcPts val="1200"/>
              </a:spcBef>
              <a:buNone/>
            </a:pPr>
            <a:r>
              <a:rPr lang="en-US" sz="3200" dirty="0"/>
              <a:t>Minor differences in molecular structure determine behavioral effects</a:t>
            </a:r>
          </a:p>
          <a:p>
            <a:pPr>
              <a:spcBef>
                <a:spcPts val="1800"/>
              </a:spcBef>
            </a:pPr>
            <a:r>
              <a:rPr lang="en-US" altLang="en-US" dirty="0">
                <a:ea typeface="Geneva" pitchFamily="121" charset="-128"/>
              </a:rPr>
              <a:t>Some modifications produce </a:t>
            </a:r>
            <a:r>
              <a:rPr lang="en-US" altLang="en-US" b="1" dirty="0">
                <a:ea typeface="Geneva" pitchFamily="121" charset="-128"/>
              </a:rPr>
              <a:t>partial agonists</a:t>
            </a:r>
            <a:r>
              <a:rPr lang="en-US" altLang="en-US" dirty="0">
                <a:ea typeface="Geneva" pitchFamily="121" charset="-128"/>
              </a:rPr>
              <a:t> – have less analgesic effect, but reduced risk of dependence</a:t>
            </a:r>
          </a:p>
          <a:p>
            <a:r>
              <a:rPr lang="en-US" altLang="en-US" dirty="0">
                <a:ea typeface="Geneva" pitchFamily="121" charset="-128"/>
              </a:rPr>
              <a:t>Other modifications produce </a:t>
            </a:r>
            <a:r>
              <a:rPr lang="en-US" altLang="en-US" b="1" dirty="0">
                <a:ea typeface="Geneva" pitchFamily="121" charset="-128"/>
              </a:rPr>
              <a:t>neutral antagonists </a:t>
            </a:r>
            <a:r>
              <a:rPr lang="en-US" altLang="en-US" dirty="0">
                <a:ea typeface="Geneva" pitchFamily="121" charset="-128"/>
              </a:rPr>
              <a:t>such as naloxone and nalorphine; can prevent or reverse the effect of opioids</a:t>
            </a:r>
          </a:p>
          <a:p>
            <a:r>
              <a:rPr lang="en-US" altLang="en-US" dirty="0">
                <a:ea typeface="Geneva" pitchFamily="121" charset="-128"/>
              </a:rPr>
              <a:t>Entirely synthetic opioids may have distinct structures</a:t>
            </a:r>
            <a:endParaRPr lang="en-US" dirty="0">
              <a:ea typeface="Geneva" pitchFamily="121" charset="-128"/>
            </a:endParaRPr>
          </a:p>
        </p:txBody>
      </p:sp>
    </p:spTree>
    <p:extLst>
      <p:ext uri="{BB962C8B-B14F-4D97-AF65-F5344CB8AC3E}">
        <p14:creationId xmlns:p14="http://schemas.microsoft.com/office/powerpoint/2010/main" val="1750153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D020F-EA15-E740-B6C7-FF35455992E8}"/>
              </a:ext>
            </a:extLst>
          </p:cNvPr>
          <p:cNvSpPr>
            <a:spLocks noGrp="1"/>
          </p:cNvSpPr>
          <p:nvPr>
            <p:ph type="title"/>
          </p:nvPr>
        </p:nvSpPr>
        <p:spPr/>
        <p:txBody>
          <a:bodyPr/>
          <a:lstStyle/>
          <a:p>
            <a:r>
              <a:rPr lang="en-US" cap="all" dirty="0"/>
              <a:t>FIGURE 11.5</a:t>
            </a:r>
            <a:r>
              <a:rPr lang="en-US" dirty="0"/>
              <a:t>  Relationship of selected natural and synthetic opioid drugs </a:t>
            </a:r>
          </a:p>
        </p:txBody>
      </p:sp>
      <p:pic>
        <p:nvPicPr>
          <p:cNvPr id="6" name="Content Placeholder 5" descr="A flow chart depicts the relationship of selected natural and synthetic opioid drugs from top to bottom. Row 1: Opium leading to: Morphine, Codeine, Thebaine. Row 2: Semisynthetic narcotics: Morphine leads to Heroin and Hydromorphone, Dilaudid. Thebaine leading to Oxycodone, Percodan; Buprenorphine, Buprenex. Row 3: Totally synthetic narcotics: Pentazocine, Talwin; Meperidine, Demerol; Fentanyl, Sublimaze; Methadone, Dolophine; L A A M; Propoxyphene, Darvon. Row 4: Endogenous neuropeptides: Enkephalins, Endorphins, Dynorphins, Endomorphins, and Nociceptin or orphanin F Q."/>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259814"/>
            <a:ext cx="11376025" cy="4740010"/>
          </a:xfrm>
        </p:spPr>
      </p:pic>
    </p:spTree>
    <p:extLst>
      <p:ext uri="{BB962C8B-B14F-4D97-AF65-F5344CB8AC3E}">
        <p14:creationId xmlns:p14="http://schemas.microsoft.com/office/powerpoint/2010/main" val="2760725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(5 of 18)</a:t>
            </a:r>
            <a:endParaRPr lang="en-US" dirty="0"/>
          </a:p>
        </p:txBody>
      </p:sp>
      <p:sp>
        <p:nvSpPr>
          <p:cNvPr id="3" name="Text Placeholder 2"/>
          <p:cNvSpPr>
            <a:spLocks noGrp="1"/>
          </p:cNvSpPr>
          <p:nvPr>
            <p:ph idx="1"/>
          </p:nvPr>
        </p:nvSpPr>
        <p:spPr/>
        <p:txBody>
          <a:bodyPr/>
          <a:lstStyle/>
          <a:p>
            <a:pPr marL="457200" indent="-457200">
              <a:spcBef>
                <a:spcPts val="1200"/>
              </a:spcBef>
              <a:buNone/>
            </a:pPr>
            <a:r>
              <a:rPr lang="en-US" sz="3200" dirty="0"/>
              <a:t>Bioavailability predicts both physiological and behavioral effects</a:t>
            </a:r>
          </a:p>
          <a:p>
            <a:pPr>
              <a:defRPr/>
            </a:pPr>
            <a:r>
              <a:rPr lang="en-US" dirty="0"/>
              <a:t>Only a small fraction of morphine crosses the blood–brain barrier.</a:t>
            </a:r>
          </a:p>
          <a:p>
            <a:pPr>
              <a:defRPr/>
            </a:pPr>
            <a:r>
              <a:rPr lang="en-US" dirty="0"/>
              <a:t>Opioids easily cross the placenta. Newborns can suffer withdrawal symptoms but can be stabilized with low doses of opioids.</a:t>
            </a:r>
          </a:p>
          <a:p>
            <a:pPr>
              <a:defRPr/>
            </a:pPr>
            <a:r>
              <a:rPr lang="en-US" dirty="0"/>
              <a:t>After metabolism in the liver, most opioid metabolites are excreted in the urine within 24 hours.</a:t>
            </a:r>
            <a:endParaRPr lang="en-US" dirty="0">
              <a:ea typeface="Geneva" pitchFamily="121" charset="-128"/>
            </a:endParaRPr>
          </a:p>
        </p:txBody>
      </p:sp>
    </p:spTree>
    <p:extLst>
      <p:ext uri="{BB962C8B-B14F-4D97-AF65-F5344CB8AC3E}">
        <p14:creationId xmlns:p14="http://schemas.microsoft.com/office/powerpoint/2010/main" val="553334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(6 of 18)</a:t>
            </a:r>
            <a:endParaRPr lang="en-US" dirty="0"/>
          </a:p>
        </p:txBody>
      </p:sp>
      <p:sp>
        <p:nvSpPr>
          <p:cNvPr id="3" name="Text Placeholder 2"/>
          <p:cNvSpPr>
            <a:spLocks noGrp="1"/>
          </p:cNvSpPr>
          <p:nvPr>
            <p:ph idx="1"/>
          </p:nvPr>
        </p:nvSpPr>
        <p:spPr>
          <a:xfrm>
            <a:off x="609600" y="1683607"/>
            <a:ext cx="10972800" cy="4826048"/>
          </a:xfrm>
        </p:spPr>
        <p:txBody>
          <a:bodyPr>
            <a:normAutofit lnSpcReduction="10000"/>
          </a:bodyPr>
          <a:lstStyle/>
          <a:p>
            <a:pPr marL="457200" indent="-457200">
              <a:spcBef>
                <a:spcPts val="1200"/>
              </a:spcBef>
              <a:buNone/>
            </a:pPr>
            <a:r>
              <a:rPr lang="en-US" sz="3200" dirty="0"/>
              <a:t>Opioids have their most important effects on the CNS and on the gastrointestinal tract</a:t>
            </a:r>
          </a:p>
          <a:p>
            <a:r>
              <a:rPr lang="en-US" dirty="0"/>
              <a:t>Effects of opioids on the CNS depend on dose and rate of absorption.</a:t>
            </a:r>
          </a:p>
          <a:p>
            <a:r>
              <a:rPr lang="en-US" dirty="0"/>
              <a:t>Low to moderate doses result in pain relief, constricted pupils, drowsiness, inability to concentrate, dreamy sleep</a:t>
            </a:r>
          </a:p>
          <a:p>
            <a:pPr>
              <a:spcBef>
                <a:spcPts val="1800"/>
              </a:spcBef>
            </a:pPr>
            <a:r>
              <a:rPr lang="en-US" dirty="0"/>
              <a:t>Some researchers suggest morphine relieves anxiety, aggressiveness, and feelings of inadequacy, which may lead to more drug use.</a:t>
            </a:r>
          </a:p>
          <a:p>
            <a:pPr>
              <a:spcBef>
                <a:spcPts val="1800"/>
              </a:spcBef>
            </a:pPr>
            <a:r>
              <a:rPr lang="en-US" dirty="0">
                <a:ea typeface="Geneva" pitchFamily="121" charset="-128"/>
              </a:rPr>
              <a:t>At higher doses, there is an abnormal state of elation or euphoria, which</a:t>
            </a:r>
            <a:r>
              <a:rPr lang="ja-JP" altLang="en-US" dirty="0">
                <a:ea typeface="Geneva" pitchFamily="121" charset="-128"/>
              </a:rPr>
              <a:t> </a:t>
            </a:r>
            <a:r>
              <a:rPr lang="en-US" altLang="ja-JP" dirty="0">
                <a:ea typeface="Geneva" pitchFamily="121" charset="-128"/>
              </a:rPr>
              <a:t>acts as a powerful reinforcer </a:t>
            </a:r>
            <a:endParaRPr lang="en-US" dirty="0"/>
          </a:p>
        </p:txBody>
      </p:sp>
    </p:spTree>
    <p:extLst>
      <p:ext uri="{BB962C8B-B14F-4D97-AF65-F5344CB8AC3E}">
        <p14:creationId xmlns:p14="http://schemas.microsoft.com/office/powerpoint/2010/main" val="2228859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(7 of 18)</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Opioids have their most important effects on the CNS and on the gastrointestinal tract</a:t>
            </a:r>
          </a:p>
          <a:p>
            <a:r>
              <a:rPr lang="en-US" altLang="en-US" dirty="0">
                <a:ea typeface="Geneva" pitchFamily="121" charset="-128"/>
              </a:rPr>
              <a:t>Adverse effects: dysphoria, restlessness and anxiety, nausea and vomiting; morphine affects the area postrema in the brainstem that elicits vomiting.</a:t>
            </a:r>
          </a:p>
          <a:p>
            <a:pPr>
              <a:defRPr/>
            </a:pPr>
            <a:r>
              <a:rPr lang="en-US" dirty="0">
                <a:ea typeface="Geneva" pitchFamily="121" charset="-128"/>
              </a:rPr>
              <a:t>At highest doses, sedative effects may lead to unconsciousness; body temperature and blood pressure fall; pupils become very constricted. </a:t>
            </a:r>
          </a:p>
          <a:p>
            <a:pPr>
              <a:defRPr/>
            </a:pPr>
            <a:r>
              <a:rPr lang="en-US" dirty="0">
                <a:ea typeface="Geneva" pitchFamily="121" charset="-128"/>
              </a:rPr>
              <a:t>Morphine acts on the brainstem</a:t>
            </a:r>
            <a:r>
              <a:rPr lang="ja-JP" altLang="en-US" dirty="0">
                <a:ea typeface="Geneva" pitchFamily="121" charset="-128"/>
              </a:rPr>
              <a:t>’</a:t>
            </a:r>
            <a:r>
              <a:rPr lang="en-US" altLang="ja-JP" dirty="0">
                <a:ea typeface="Geneva" pitchFamily="121" charset="-128"/>
              </a:rPr>
              <a:t>s respiratory center; respiratory failure is the ultimate cause of death in overdose.</a:t>
            </a:r>
            <a:endParaRPr lang="en-US" dirty="0">
              <a:ea typeface="Geneva" pitchFamily="121" charset="-128"/>
            </a:endParaRPr>
          </a:p>
        </p:txBody>
      </p:sp>
    </p:spTree>
    <p:extLst>
      <p:ext uri="{BB962C8B-B14F-4D97-AF65-F5344CB8AC3E}">
        <p14:creationId xmlns:p14="http://schemas.microsoft.com/office/powerpoint/2010/main" val="3114127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(8 of 18)</a:t>
            </a:r>
            <a:endParaRPr lang="en-US" dirty="0"/>
          </a:p>
        </p:txBody>
      </p:sp>
      <p:sp>
        <p:nvSpPr>
          <p:cNvPr id="3" name="Text Placeholder 2"/>
          <p:cNvSpPr>
            <a:spLocks noGrp="1"/>
          </p:cNvSpPr>
          <p:nvPr>
            <p:ph idx="1"/>
          </p:nvPr>
        </p:nvSpPr>
        <p:spPr>
          <a:xfrm>
            <a:off x="609600" y="1661837"/>
            <a:ext cx="10972800" cy="4725581"/>
          </a:xfrm>
        </p:spPr>
        <p:txBody>
          <a:bodyPr>
            <a:normAutofit fontScale="92500" lnSpcReduction="20000"/>
          </a:bodyPr>
          <a:lstStyle/>
          <a:p>
            <a:pPr marL="457200" indent="-457200">
              <a:spcBef>
                <a:spcPts val="1200"/>
              </a:spcBef>
              <a:buNone/>
            </a:pPr>
            <a:r>
              <a:rPr lang="en-US" sz="3500" dirty="0"/>
              <a:t>Opioids have their most important effects on the CNS and on the gastrointestinal tract</a:t>
            </a:r>
          </a:p>
          <a:p>
            <a:pPr>
              <a:spcBef>
                <a:spcPts val="1800"/>
              </a:spcBef>
            </a:pPr>
            <a:r>
              <a:rPr lang="en-US" dirty="0"/>
              <a:t>Opium and morphine have been used to treat diarrhea and can be life-saving in severe bacterial and parasitic diseases.</a:t>
            </a:r>
          </a:p>
          <a:p>
            <a:pPr>
              <a:spcBef>
                <a:spcPts val="1800"/>
              </a:spcBef>
            </a:pPr>
            <a:r>
              <a:rPr lang="en-US" dirty="0"/>
              <a:t>When opioids are used for pain management, constipation is a common side effect.</a:t>
            </a:r>
          </a:p>
          <a:p>
            <a:pPr>
              <a:spcBef>
                <a:spcPts val="1800"/>
              </a:spcBef>
            </a:pPr>
            <a:r>
              <a:rPr lang="en-US" altLang="en-US" dirty="0"/>
              <a:t>Modified opioid molecules such as loperamide are now used to treat diarrhea</a:t>
            </a:r>
          </a:p>
          <a:p>
            <a:pPr>
              <a:spcBef>
                <a:spcPts val="1800"/>
              </a:spcBef>
            </a:pPr>
            <a:r>
              <a:rPr lang="en-US" altLang="en-US" dirty="0"/>
              <a:t>Opioid addicts take very high doses of loperamide to produce euphoria and reduce withdrawal symptoms</a:t>
            </a:r>
            <a:endParaRPr lang="en-US" b="1" dirty="0"/>
          </a:p>
        </p:txBody>
      </p:sp>
    </p:spTree>
    <p:extLst>
      <p:ext uri="{BB962C8B-B14F-4D97-AF65-F5344CB8AC3E}">
        <p14:creationId xmlns:p14="http://schemas.microsoft.com/office/powerpoint/2010/main" val="433380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(9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Opioid receptors and endogenous neuropeptides</a:t>
            </a:r>
          </a:p>
          <a:p>
            <a:pPr>
              <a:spcBef>
                <a:spcPts val="1800"/>
              </a:spcBef>
            </a:pPr>
            <a:r>
              <a:rPr lang="en-US" dirty="0"/>
              <a:t>Molecular structure of morphine and its derivatives indicated probable structural features of opioid receptors</a:t>
            </a:r>
          </a:p>
          <a:p>
            <a:pPr>
              <a:spcBef>
                <a:spcPts val="1800"/>
              </a:spcBef>
            </a:pPr>
            <a:r>
              <a:rPr lang="en-US" dirty="0"/>
              <a:t>Naloxone’s blocking effects can be overcome by increasing concentrations of morphine, showing competition for the receptor</a:t>
            </a:r>
          </a:p>
          <a:p>
            <a:pPr>
              <a:spcBef>
                <a:spcPts val="1800"/>
              </a:spcBef>
            </a:pPr>
            <a:r>
              <a:rPr lang="en-US" dirty="0"/>
              <a:t>Not long after opioid receptors were identified, the natural neuropeptide ligands that act at the receptors were characterized</a:t>
            </a:r>
          </a:p>
        </p:txBody>
      </p:sp>
    </p:spTree>
    <p:extLst>
      <p:ext uri="{BB962C8B-B14F-4D97-AF65-F5344CB8AC3E}">
        <p14:creationId xmlns:p14="http://schemas.microsoft.com/office/powerpoint/2010/main" val="2605037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(10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Receptor binding studies identified and localized opioid receptors</a:t>
            </a:r>
          </a:p>
          <a:p>
            <a:pPr>
              <a:spcBef>
                <a:spcPts val="1800"/>
              </a:spcBef>
            </a:pPr>
            <a:r>
              <a:rPr lang="en-US" dirty="0"/>
              <a:t>Opioid receptors were identified by radioligand binding methods </a:t>
            </a:r>
          </a:p>
          <a:p>
            <a:pPr>
              <a:spcBef>
                <a:spcPts val="1800"/>
              </a:spcBef>
            </a:pPr>
            <a:r>
              <a:rPr lang="en-US" dirty="0"/>
              <a:t>Receptors identified met the criteria for identification: specificity, saturability, reversibility and high affinity, and biological relevance</a:t>
            </a:r>
          </a:p>
          <a:p>
            <a:pPr>
              <a:spcBef>
                <a:spcPts val="1800"/>
              </a:spcBef>
            </a:pPr>
            <a:r>
              <a:rPr lang="en-US" dirty="0"/>
              <a:t>The relative potency of various opioids in competition experiments paralleled their relative potencies in pharmacological effects on the intestine</a:t>
            </a:r>
          </a:p>
        </p:txBody>
      </p:sp>
    </p:spTree>
    <p:extLst>
      <p:ext uri="{BB962C8B-B14F-4D97-AF65-F5344CB8AC3E}">
        <p14:creationId xmlns:p14="http://schemas.microsoft.com/office/powerpoint/2010/main" val="2362654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6E47-CA04-0C4D-8A6D-64E5C370209F}"/>
              </a:ext>
            </a:extLst>
          </p:cNvPr>
          <p:cNvSpPr>
            <a:spLocks noGrp="1"/>
          </p:cNvSpPr>
          <p:nvPr>
            <p:ph type="title"/>
          </p:nvPr>
        </p:nvSpPr>
        <p:spPr/>
        <p:txBody>
          <a:bodyPr/>
          <a:lstStyle/>
          <a:p>
            <a:r>
              <a:rPr lang="en-US" cap="all" dirty="0"/>
              <a:t>FIGURE 11.6</a:t>
            </a:r>
            <a:r>
              <a:rPr lang="en-US" dirty="0"/>
              <a:t>  Opioid receptor binding </a:t>
            </a:r>
          </a:p>
        </p:txBody>
      </p:sp>
      <p:pic>
        <p:nvPicPr>
          <p:cNvPr id="6" name="Content Placeholder 5" descr="A line graph depicts the amount of naloxone. The X axis measures superset 3 H naloxone in M times 10 raised to negative 8. Values range from 0 through 16 with increments of 4. The Y axis measures amount of superset 3 H nalozone binding from 200 through 2200 with increments of 400. The graph starts near the origin and moves steeply upward to touch 4, 1600 and then tapers off toward the top right and ends at about 17, 2100. The final end is marked as B subscript max.&#10;&#10;A line graph results of an experiment using relative potency of various opiods. The X axis measures inhibition of electrically induced contraction of intestine, I C subscript 50. The Y axis measures binding in genuine pig intestine, K subscript d. Both axes measure values from 10 raised to negative 10 to 10 raised to negative 4 with decrements of 1. A line graph flows from left bottom toward the top right at a 45 degree incline. A point is marked at the beginning for Etorphine. Some more points are clustered in the middle named as follows: Levorphanol. Oxymorphone, Dihydromorphine, Morphine, Pentazocine, Normorphine, Methadone, and Phenazocine. Some points are clustered at the top: Propoxyphene, Meperidine, and Codei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560670" y="479425"/>
            <a:ext cx="11070661" cy="6300788"/>
          </a:xfrm>
        </p:spPr>
      </p:pic>
    </p:spTree>
    <p:extLst>
      <p:ext uri="{BB962C8B-B14F-4D97-AF65-F5344CB8AC3E}">
        <p14:creationId xmlns:p14="http://schemas.microsoft.com/office/powerpoint/2010/main" val="1681439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(11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Four opioid receptor subtypes exist</a:t>
            </a:r>
          </a:p>
          <a:p>
            <a:pPr>
              <a:spcBef>
                <a:spcPts val="1800"/>
              </a:spcBef>
            </a:pPr>
            <a:r>
              <a:rPr lang="en-US" dirty="0">
                <a:ea typeface="Geneva" pitchFamily="121" charset="-128"/>
              </a:rPr>
              <a:t>Selective radioligands were used to identify receptor subtypes: </a:t>
            </a:r>
            <a:r>
              <a:rPr lang="el-GR" dirty="0">
                <a:latin typeface="Times New Roman" pitchFamily="18" charset="0"/>
                <a:ea typeface="Geneva" pitchFamily="121" charset="-128"/>
                <a:cs typeface="Times New Roman" pitchFamily="18" charset="0"/>
              </a:rPr>
              <a:t>μ</a:t>
            </a:r>
            <a:r>
              <a:rPr lang="en-US" dirty="0">
                <a:latin typeface="Times New Roman" pitchFamily="18" charset="0"/>
                <a:ea typeface="Geneva" pitchFamily="121" charset="-128"/>
                <a:cs typeface="Times New Roman" pitchFamily="18" charset="0"/>
              </a:rPr>
              <a:t>, </a:t>
            </a:r>
            <a:r>
              <a:rPr lang="el-GR" dirty="0">
                <a:latin typeface="Times New Roman" pitchFamily="18" charset="0"/>
                <a:ea typeface="Geneva" pitchFamily="121" charset="-128"/>
                <a:cs typeface="Times New Roman" pitchFamily="18" charset="0"/>
              </a:rPr>
              <a:t>δ</a:t>
            </a:r>
            <a:r>
              <a:rPr lang="en-US" dirty="0">
                <a:latin typeface="Times New Roman" pitchFamily="18" charset="0"/>
                <a:ea typeface="Geneva" pitchFamily="121" charset="-128"/>
                <a:cs typeface="Times New Roman" pitchFamily="18" charset="0"/>
              </a:rPr>
              <a:t>, </a:t>
            </a:r>
            <a:r>
              <a:rPr lang="el-GR" dirty="0">
                <a:latin typeface="Times New Roman" pitchFamily="18" charset="0"/>
                <a:ea typeface="Geneva" pitchFamily="121" charset="-128"/>
                <a:cs typeface="Times New Roman" pitchFamily="18" charset="0"/>
              </a:rPr>
              <a:t>κ</a:t>
            </a:r>
            <a:r>
              <a:rPr lang="en-US" dirty="0">
                <a:latin typeface="Times New Roman" pitchFamily="18" charset="0"/>
                <a:ea typeface="Geneva" pitchFamily="121" charset="-128"/>
                <a:cs typeface="Times New Roman" pitchFamily="18" charset="0"/>
              </a:rPr>
              <a:t>, </a:t>
            </a:r>
            <a:r>
              <a:rPr lang="en-US" dirty="0">
                <a:ea typeface="Geneva" pitchFamily="121" charset="-128"/>
                <a:cs typeface="Times New Roman" pitchFamily="18" charset="0"/>
              </a:rPr>
              <a:t>and the </a:t>
            </a:r>
            <a:r>
              <a:rPr lang="en-US" dirty="0" err="1">
                <a:ea typeface="Geneva" pitchFamily="121" charset="-128"/>
                <a:cs typeface="Times New Roman" pitchFamily="18" charset="0"/>
              </a:rPr>
              <a:t>nociceptin</a:t>
            </a:r>
            <a:r>
              <a:rPr lang="en-US" dirty="0">
                <a:ea typeface="Geneva" pitchFamily="121" charset="-128"/>
                <a:cs typeface="Times New Roman" pitchFamily="18" charset="0"/>
              </a:rPr>
              <a:t>/</a:t>
            </a:r>
            <a:r>
              <a:rPr lang="en-US" dirty="0" err="1">
                <a:ea typeface="Geneva" pitchFamily="121" charset="-128"/>
                <a:cs typeface="Times New Roman" pitchFamily="18" charset="0"/>
              </a:rPr>
              <a:t>orphanin</a:t>
            </a:r>
            <a:r>
              <a:rPr lang="en-US" dirty="0">
                <a:ea typeface="Geneva" pitchFamily="121" charset="-128"/>
                <a:cs typeface="Times New Roman" pitchFamily="18" charset="0"/>
              </a:rPr>
              <a:t> FQ receptor (NOP-R)</a:t>
            </a:r>
          </a:p>
          <a:p>
            <a:pPr>
              <a:spcBef>
                <a:spcPts val="1800"/>
              </a:spcBef>
            </a:pPr>
            <a:r>
              <a:rPr lang="en-US" altLang="en-US" dirty="0">
                <a:ea typeface="Geneva" pitchFamily="121" charset="-128"/>
              </a:rPr>
              <a:t>Opioids don’t bind to NOP-R, nor does </a:t>
            </a:r>
            <a:r>
              <a:rPr lang="en-US" altLang="en-US" dirty="0" err="1">
                <a:ea typeface="Geneva" pitchFamily="121" charset="-128"/>
              </a:rPr>
              <a:t>nociceptin</a:t>
            </a:r>
            <a:r>
              <a:rPr lang="en-US" altLang="en-US" dirty="0">
                <a:ea typeface="Geneva" pitchFamily="121" charset="-128"/>
              </a:rPr>
              <a:t>/</a:t>
            </a:r>
            <a:r>
              <a:rPr lang="en-US" altLang="en-US" dirty="0" err="1">
                <a:ea typeface="Geneva" pitchFamily="121" charset="-128"/>
              </a:rPr>
              <a:t>orphanin</a:t>
            </a:r>
            <a:r>
              <a:rPr lang="en-US" altLang="en-US" dirty="0">
                <a:ea typeface="Geneva" pitchFamily="121" charset="-128"/>
              </a:rPr>
              <a:t> FQ bind to classical opioid receptors</a:t>
            </a:r>
          </a:p>
          <a:p>
            <a:pPr>
              <a:spcBef>
                <a:spcPts val="1800"/>
              </a:spcBef>
            </a:pPr>
            <a:r>
              <a:rPr lang="el-GR" b="1" dirty="0">
                <a:latin typeface="PalatinoLT-Roman"/>
              </a:rPr>
              <a:t>μ</a:t>
            </a:r>
            <a:r>
              <a:rPr lang="en-US" b="1" dirty="0"/>
              <a:t>-receptor</a:t>
            </a:r>
            <a:r>
              <a:rPr lang="en-US" dirty="0"/>
              <a:t> has a high affinity for morphine</a:t>
            </a:r>
            <a:r>
              <a:rPr lang="en-US" dirty="0">
                <a:ea typeface="Geneva" pitchFamily="121" charset="-128"/>
              </a:rPr>
              <a:t>; have wide distribution in the brain and spinal cord</a:t>
            </a:r>
            <a:endParaRPr lang="en-US" altLang="en-US" dirty="0">
              <a:ea typeface="Geneva" pitchFamily="121" charset="-128"/>
            </a:endParaRPr>
          </a:p>
        </p:txBody>
      </p:sp>
    </p:spTree>
    <p:extLst>
      <p:ext uri="{BB962C8B-B14F-4D97-AF65-F5344CB8AC3E}">
        <p14:creationId xmlns:p14="http://schemas.microsoft.com/office/powerpoint/2010/main" val="1963301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(12 of 18)</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Four opioid receptor subtypes exist</a:t>
            </a:r>
          </a:p>
          <a:p>
            <a:pPr>
              <a:spcBef>
                <a:spcPts val="1800"/>
              </a:spcBef>
            </a:pPr>
            <a:r>
              <a:rPr lang="el-GR" b="1" dirty="0">
                <a:latin typeface="Times New Roman" pitchFamily="18" charset="0"/>
                <a:ea typeface="Geneva" pitchFamily="121" charset="-128"/>
                <a:cs typeface="Times New Roman" pitchFamily="18" charset="0"/>
              </a:rPr>
              <a:t>δ</a:t>
            </a:r>
            <a:r>
              <a:rPr lang="en-US" b="1" dirty="0">
                <a:latin typeface="Times New Roman" pitchFamily="18" charset="0"/>
                <a:ea typeface="Geneva" pitchFamily="121" charset="-128"/>
                <a:cs typeface="Times New Roman" pitchFamily="18" charset="0"/>
              </a:rPr>
              <a:t>-</a:t>
            </a:r>
            <a:r>
              <a:rPr lang="en-US" b="1" dirty="0">
                <a:ea typeface="Geneva" pitchFamily="121" charset="-128"/>
              </a:rPr>
              <a:t>receptors</a:t>
            </a:r>
            <a:r>
              <a:rPr lang="en-US" dirty="0">
                <a:ea typeface="Geneva" pitchFamily="121" charset="-128"/>
              </a:rPr>
              <a:t> are predominantly found in forebrain structures; consistent with roles in modulating olfaction, motor integration, reinforcement, and cognitive function</a:t>
            </a:r>
          </a:p>
          <a:p>
            <a:pPr>
              <a:spcBef>
                <a:spcPts val="1800"/>
              </a:spcBef>
            </a:pPr>
            <a:r>
              <a:rPr lang="el-GR" b="1" dirty="0">
                <a:latin typeface="Times New Roman" pitchFamily="18" charset="0"/>
                <a:ea typeface="Geneva" pitchFamily="121" charset="-128"/>
                <a:cs typeface="Times New Roman" pitchFamily="18" charset="0"/>
              </a:rPr>
              <a:t>κ</a:t>
            </a:r>
            <a:r>
              <a:rPr lang="en-US" b="1" dirty="0">
                <a:latin typeface="Times New Roman" pitchFamily="18" charset="0"/>
                <a:ea typeface="Geneva" pitchFamily="121" charset="-128"/>
                <a:cs typeface="Times New Roman" pitchFamily="18" charset="0"/>
              </a:rPr>
              <a:t>-</a:t>
            </a:r>
            <a:r>
              <a:rPr lang="en-US" b="1" dirty="0">
                <a:ea typeface="Geneva" pitchFamily="121" charset="-128"/>
              </a:rPr>
              <a:t>receptors </a:t>
            </a:r>
            <a:r>
              <a:rPr lang="en-US" dirty="0">
                <a:ea typeface="Geneva" pitchFamily="121" charset="-128"/>
              </a:rPr>
              <a:t>are found in the striatum and amygdala, hypothalamus and pituitary; may participate in regulation of pain perception, gut motility, and dysphoria.</a:t>
            </a:r>
          </a:p>
        </p:txBody>
      </p:sp>
    </p:spTree>
    <p:extLst>
      <p:ext uri="{BB962C8B-B14F-4D97-AF65-F5344CB8AC3E}">
        <p14:creationId xmlns:p14="http://schemas.microsoft.com/office/powerpoint/2010/main" val="2265793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(13 of 18)</a:t>
            </a:r>
            <a:endParaRPr lang="en-US" dirty="0"/>
          </a:p>
        </p:txBody>
      </p:sp>
      <p:sp>
        <p:nvSpPr>
          <p:cNvPr id="3" name="Text Placeholder 2"/>
          <p:cNvSpPr>
            <a:spLocks noGrp="1"/>
          </p:cNvSpPr>
          <p:nvPr>
            <p:ph idx="1"/>
          </p:nvPr>
        </p:nvSpPr>
        <p:spPr>
          <a:xfrm>
            <a:off x="609600" y="1814237"/>
            <a:ext cx="10972800" cy="4725581"/>
          </a:xfrm>
        </p:spPr>
        <p:txBody>
          <a:bodyPr>
            <a:normAutofit fontScale="92500"/>
          </a:bodyPr>
          <a:lstStyle/>
          <a:p>
            <a:pPr marL="457200" indent="-457200">
              <a:spcBef>
                <a:spcPts val="1200"/>
              </a:spcBef>
              <a:buNone/>
            </a:pPr>
            <a:r>
              <a:rPr lang="en-US" sz="3500" dirty="0"/>
              <a:t>Four opioid receptor subtypes exist</a:t>
            </a:r>
          </a:p>
          <a:p>
            <a:pPr>
              <a:spcBef>
                <a:spcPts val="1800"/>
              </a:spcBef>
            </a:pPr>
            <a:r>
              <a:rPr lang="en-US" b="1" dirty="0"/>
              <a:t>NOP-R</a:t>
            </a:r>
            <a:r>
              <a:rPr lang="en-US" dirty="0"/>
              <a:t> are widely distributed in the CNS and PNS; receptor localization suggests a role in analgesia, feeding, learning, motor function, and neuroendocrine regulation</a:t>
            </a:r>
            <a:endParaRPr lang="en-US" dirty="0">
              <a:ea typeface="Geneva" pitchFamily="121" charset="-128"/>
            </a:endParaRPr>
          </a:p>
          <a:p>
            <a:pPr>
              <a:spcBef>
                <a:spcPts val="1800"/>
              </a:spcBef>
            </a:pPr>
            <a:r>
              <a:rPr lang="en-US" dirty="0"/>
              <a:t>Receptor cloning and molecular sequencing established DNA and amino acid sequences.</a:t>
            </a:r>
          </a:p>
          <a:p>
            <a:pPr>
              <a:spcBef>
                <a:spcPts val="1800"/>
              </a:spcBef>
            </a:pPr>
            <a:r>
              <a:rPr lang="en-US" dirty="0"/>
              <a:t>In situ hybridization with radiolabeled genetic material shows localization of receptor types in the brain.</a:t>
            </a:r>
          </a:p>
          <a:p>
            <a:pPr>
              <a:spcBef>
                <a:spcPts val="1800"/>
              </a:spcBef>
            </a:pPr>
            <a:r>
              <a:rPr lang="en-US" dirty="0"/>
              <a:t>All four receptors are similar to proteins linked to G proteins (metabotropic)</a:t>
            </a:r>
          </a:p>
        </p:txBody>
      </p:sp>
    </p:spTree>
    <p:extLst>
      <p:ext uri="{BB962C8B-B14F-4D97-AF65-F5344CB8AC3E}">
        <p14:creationId xmlns:p14="http://schemas.microsoft.com/office/powerpoint/2010/main" val="170785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1AF38-89C5-A346-B054-E5975EC038EE}"/>
              </a:ext>
            </a:extLst>
          </p:cNvPr>
          <p:cNvSpPr>
            <a:spLocks noGrp="1"/>
          </p:cNvSpPr>
          <p:nvPr>
            <p:ph type="title"/>
          </p:nvPr>
        </p:nvSpPr>
        <p:spPr/>
        <p:txBody>
          <a:bodyPr/>
          <a:lstStyle/>
          <a:p>
            <a:r>
              <a:rPr lang="en-US" cap="all" dirty="0"/>
              <a:t>FIGURE 11.8</a:t>
            </a:r>
            <a:r>
              <a:rPr lang="en-US" dirty="0"/>
              <a:t>  Autoradiograms of opioid receptor subtype binding in rat brain </a:t>
            </a:r>
          </a:p>
        </p:txBody>
      </p:sp>
      <p:pic>
        <p:nvPicPr>
          <p:cNvPr id="6" name="Content Placeholder 5" descr="An autoradiogram depicts opioid receptor subtype bindings in a rat brain. Parts named are: striatum at top left, olfactory areas at the very top, cortex at top right, thalamus in the middle, locus at coeruleus at bottom left, and raphe nuclei at bottom right.&#10;&#10;An autoradiogram depicts opioid receptor subtype bindings in a rat brain. Parts named are: striatum at top left, olfactory areas at the very top, and the cortex at top right. These 3 are shown as glowing.&#10;&#10;An autoradiogram depicts opioid receptor subtype bindings in a rat brain. Parts highlighted and shown are as follows: striatum at top left, cortex at top right, thalamus in the middle, locus at coeruleus at bottom left, and raphe nuclei at bottom righ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49235" y="479425"/>
            <a:ext cx="10893531" cy="6300788"/>
          </a:xfrm>
        </p:spPr>
      </p:pic>
    </p:spTree>
    <p:extLst>
      <p:ext uri="{BB962C8B-B14F-4D97-AF65-F5344CB8AC3E}">
        <p14:creationId xmlns:p14="http://schemas.microsoft.com/office/powerpoint/2010/main" val="1865858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CB2CF-0D63-9242-95EB-ABB6B3AD699C}"/>
              </a:ext>
            </a:extLst>
          </p:cNvPr>
          <p:cNvSpPr>
            <a:spLocks noGrp="1"/>
          </p:cNvSpPr>
          <p:nvPr>
            <p:ph type="title"/>
          </p:nvPr>
        </p:nvSpPr>
        <p:spPr/>
        <p:txBody>
          <a:bodyPr/>
          <a:lstStyle/>
          <a:p>
            <a:r>
              <a:rPr lang="en-US" cap="all" dirty="0"/>
              <a:t>FIGURE 11.9</a:t>
            </a:r>
            <a:r>
              <a:rPr lang="en-US" dirty="0"/>
              <a:t>  Proposed structure of the </a:t>
            </a:r>
            <a:r>
              <a:rPr lang="en-US" dirty="0" err="1"/>
              <a:t>δ</a:t>
            </a:r>
            <a:r>
              <a:rPr lang="en-US" dirty="0"/>
              <a:t>-opioid receptor </a:t>
            </a:r>
          </a:p>
        </p:txBody>
      </p:sp>
      <p:pic>
        <p:nvPicPr>
          <p:cNvPr id="6" name="Content Placeholder 5" descr="An illustration of a delta opioid receptor has N H subscript 2 amino acids at the top, above the cellular level. The acids range from right to left and moving down to form two and a half loops that end with C O O H at the end below the cellular leve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584542" y="479425"/>
            <a:ext cx="5022917" cy="6300788"/>
          </a:xfrm>
        </p:spPr>
      </p:pic>
    </p:spTree>
    <p:extLst>
      <p:ext uri="{BB962C8B-B14F-4D97-AF65-F5344CB8AC3E}">
        <p14:creationId xmlns:p14="http://schemas.microsoft.com/office/powerpoint/2010/main" val="1146174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(14 of 18)</a:t>
            </a:r>
            <a:endParaRPr lang="en-US" dirty="0"/>
          </a:p>
        </p:txBody>
      </p:sp>
      <p:sp>
        <p:nvSpPr>
          <p:cNvPr id="3" name="Text Placeholder 2"/>
          <p:cNvSpPr>
            <a:spLocks noGrp="1"/>
          </p:cNvSpPr>
          <p:nvPr>
            <p:ph idx="1"/>
          </p:nvPr>
        </p:nvSpPr>
        <p:spPr/>
        <p:txBody>
          <a:bodyPr>
            <a:normAutofit lnSpcReduction="10000"/>
          </a:bodyPr>
          <a:lstStyle/>
          <a:p>
            <a:pPr marL="0" indent="0">
              <a:spcBef>
                <a:spcPts val="1800"/>
              </a:spcBef>
              <a:buNone/>
            </a:pPr>
            <a:r>
              <a:rPr lang="en-US" sz="2400" u="sng" dirty="0"/>
              <a:t>BOX 11.1  THE CUTTING EDGE</a:t>
            </a:r>
          </a:p>
          <a:p>
            <a:pPr marL="0" indent="0">
              <a:buNone/>
            </a:pPr>
            <a:r>
              <a:rPr lang="en-GB" sz="3200" i="1" dirty="0"/>
              <a:t>Science in Action</a:t>
            </a:r>
            <a:endParaRPr lang="en-US" sz="3200" i="1" dirty="0"/>
          </a:p>
          <a:p>
            <a:pPr>
              <a:spcBef>
                <a:spcPts val="1800"/>
              </a:spcBef>
            </a:pPr>
            <a:r>
              <a:rPr lang="en-US" altLang="en-US" dirty="0">
                <a:ea typeface="Geneva" pitchFamily="121" charset="-128"/>
              </a:rPr>
              <a:t>Membrane protein crystallization technology has determined the crystal structure of all four opioid receptor types.</a:t>
            </a:r>
          </a:p>
          <a:p>
            <a:pPr>
              <a:spcBef>
                <a:spcPts val="1800"/>
              </a:spcBef>
            </a:pPr>
            <a:r>
              <a:rPr lang="en-US" altLang="en-US" dirty="0">
                <a:ea typeface="Geneva" pitchFamily="121" charset="-128"/>
              </a:rPr>
              <a:t>Understanding the details of receptor structure and ligand-receptor binding will result in structure-based drug design.</a:t>
            </a:r>
          </a:p>
          <a:p>
            <a:pPr>
              <a:spcBef>
                <a:spcPts val="1800"/>
              </a:spcBef>
            </a:pPr>
            <a:r>
              <a:rPr lang="en-US" altLang="en-US" dirty="0">
                <a:ea typeface="Geneva" pitchFamily="121" charset="-128"/>
              </a:rPr>
              <a:t>PZM21 was found to act on the </a:t>
            </a:r>
            <a:r>
              <a:rPr lang="en-US" altLang="en-US" dirty="0">
                <a:latin typeface="PalatinoLT-Roman"/>
                <a:ea typeface="Geneva" pitchFamily="121" charset="-128"/>
              </a:rPr>
              <a:t>μ</a:t>
            </a:r>
            <a:r>
              <a:rPr lang="en-US" altLang="en-US" dirty="0">
                <a:ea typeface="Geneva" pitchFamily="121" charset="-128"/>
              </a:rPr>
              <a:t>-opioid receptor and had analgesic effect in mice. Effects lasted longer than morphine, with fewer side effects.</a:t>
            </a:r>
          </a:p>
        </p:txBody>
      </p:sp>
    </p:spTree>
    <p:extLst>
      <p:ext uri="{BB962C8B-B14F-4D97-AF65-F5344CB8AC3E}">
        <p14:creationId xmlns:p14="http://schemas.microsoft.com/office/powerpoint/2010/main" val="3563405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9B87B-2317-0D46-B2EF-B6CA854F2695}"/>
              </a:ext>
            </a:extLst>
          </p:cNvPr>
          <p:cNvSpPr>
            <a:spLocks noGrp="1"/>
          </p:cNvSpPr>
          <p:nvPr>
            <p:ph type="title"/>
          </p:nvPr>
        </p:nvSpPr>
        <p:spPr/>
        <p:txBody>
          <a:bodyPr/>
          <a:lstStyle/>
          <a:p>
            <a:r>
              <a:rPr lang="en-US" cap="all" dirty="0"/>
              <a:t>Box 11.1  </a:t>
            </a:r>
            <a:r>
              <a:rPr lang="en-US" dirty="0"/>
              <a:t>The Cutting Edge: Science in Action (Part 1)</a:t>
            </a:r>
          </a:p>
        </p:txBody>
      </p:sp>
      <p:pic>
        <p:nvPicPr>
          <p:cNvPr id="6" name="Content Placeholder 5" descr="A set of 4 line graphs depict hotplate analgesia. The X axis measures time in minutes from 0 through 120 and the Y axis measures analgesia percentage as M P E. Approximate values follow. For Vehicle: 0, 0; 15, 6; 30, 8; 60, 5; 90, 5; 120, 5. For P Z M 21, 10 milligrams per kg: 0, 0; 15, 25; 30, 35; 60, 40; 90, 40; 120, 20. For P Z M 21, 20 milligrams per kg: 0, 0; 15, 60; 30, 65; 60, 65; 90, 70; 120, 50. For P Z M 21, 40 milligrams per kg: 0,0; 15, 85; 30, 70; 60, 75; 90, 60, 120, 60.&#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67258" y="479425"/>
            <a:ext cx="6857484" cy="6300788"/>
          </a:xfrm>
        </p:spPr>
      </p:pic>
    </p:spTree>
    <p:extLst>
      <p:ext uri="{BB962C8B-B14F-4D97-AF65-F5344CB8AC3E}">
        <p14:creationId xmlns:p14="http://schemas.microsoft.com/office/powerpoint/2010/main" val="3368015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CEF03-7ED6-6B41-A3B1-2DABD7CEAF81}"/>
              </a:ext>
            </a:extLst>
          </p:cNvPr>
          <p:cNvSpPr>
            <a:spLocks noGrp="1"/>
          </p:cNvSpPr>
          <p:nvPr>
            <p:ph type="title"/>
          </p:nvPr>
        </p:nvSpPr>
        <p:spPr/>
        <p:txBody>
          <a:bodyPr/>
          <a:lstStyle/>
          <a:p>
            <a:r>
              <a:rPr lang="en-US" cap="all" dirty="0"/>
              <a:t>Box 11.1  </a:t>
            </a:r>
            <a:r>
              <a:rPr lang="en-US" dirty="0"/>
              <a:t>The Cutting Edge: Science in Action (Part 2)</a:t>
            </a:r>
          </a:p>
        </p:txBody>
      </p:sp>
      <p:pic>
        <p:nvPicPr>
          <p:cNvPr id="6" name="Content Placeholder 5" descr="A set of 3 line graphs depict hotplate analgesia. The X axis measures time in minutes from 0 through 120 and the Y axis measures analgesia percentage as M P E. Approximate values follow. For Vehicle: 0, 0; 15, 6; 30, 8; 60, 5; 90, 5; 120, 4. For morphine, 5 milligrams per kg: 0, 0; 15, 65; 30, 70; 60, 58; 90, 40; 120, 10. For morphine, 10 milligrams per kg: 0, 0; 15, 85; 30, 95; 60, 77; 90, 50; 120, 15.&#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79911" y="479425"/>
            <a:ext cx="6832179" cy="6300788"/>
          </a:xfrm>
        </p:spPr>
      </p:pic>
    </p:spTree>
    <p:extLst>
      <p:ext uri="{BB962C8B-B14F-4D97-AF65-F5344CB8AC3E}">
        <p14:creationId xmlns:p14="http://schemas.microsoft.com/office/powerpoint/2010/main" val="1735462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7D38-7F47-8449-B64B-8229757FBA85}"/>
              </a:ext>
            </a:extLst>
          </p:cNvPr>
          <p:cNvSpPr>
            <a:spLocks noGrp="1"/>
          </p:cNvSpPr>
          <p:nvPr>
            <p:ph type="title"/>
          </p:nvPr>
        </p:nvSpPr>
        <p:spPr/>
        <p:txBody>
          <a:bodyPr/>
          <a:lstStyle/>
          <a:p>
            <a:r>
              <a:rPr lang="en-US" cap="all" dirty="0"/>
              <a:t>Box 11.1  </a:t>
            </a:r>
            <a:r>
              <a:rPr lang="en-US" dirty="0"/>
              <a:t>The Cutting Edge: Science in Action (Part 3)</a:t>
            </a:r>
          </a:p>
        </p:txBody>
      </p:sp>
      <p:pic>
        <p:nvPicPr>
          <p:cNvPr id="6" name="Content Placeholder 5" descr="A set of 3 line graphs depict constipation. The X axis measures time in hours from 0 through 6 and the Y axis measures accumulated fecal boli in milligrams. Approximate values follow. For Vehicle: 0, 0; 1, 125; 2, 150; 3, 155; 4, 160; 5, 160; 6, 165. For P Z M 21, 20 milligrams per kg: 0, 0; 1, 50; 2, 55; 3, 60; 4, 75; 5, 80; 6, 105. For morphine, 10 milligrams per kg: 0, 0; 1, 10; 2, 10; 3, 15; 4, 25; 5, 40; 6, 80.&#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560192" y="479425"/>
            <a:ext cx="9071616" cy="6300788"/>
          </a:xfrm>
        </p:spPr>
      </p:pic>
    </p:spTree>
    <p:extLst>
      <p:ext uri="{BB962C8B-B14F-4D97-AF65-F5344CB8AC3E}">
        <p14:creationId xmlns:p14="http://schemas.microsoft.com/office/powerpoint/2010/main" val="3390201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E281F-7B3C-4245-A6CD-D6A848EE0F30}"/>
              </a:ext>
            </a:extLst>
          </p:cNvPr>
          <p:cNvSpPr>
            <a:spLocks noGrp="1"/>
          </p:cNvSpPr>
          <p:nvPr>
            <p:ph type="title"/>
          </p:nvPr>
        </p:nvSpPr>
        <p:spPr/>
        <p:txBody>
          <a:bodyPr/>
          <a:lstStyle/>
          <a:p>
            <a:r>
              <a:rPr lang="en-US" cap="all" dirty="0"/>
              <a:t>Box 11.1  </a:t>
            </a:r>
            <a:r>
              <a:rPr lang="en-US" dirty="0"/>
              <a:t>The Cutting Edge: Science in Action (Part 4)</a:t>
            </a:r>
          </a:p>
        </p:txBody>
      </p:sp>
      <p:pic>
        <p:nvPicPr>
          <p:cNvPr id="6" name="Content Placeholder 5" descr="A set of 3 line graphs depict respiratory depression. The X axis measures time after administration in minutes from 0 through 100 with increments of 10 and the Y axis measures respiratory frequency from 100 through 450 with increments of 50. Approximate trends follow. For Vehicle: The graph starts about 400, raises to 425 about 10, falls slowly and reaches about 300 at 30 and moves steadily to end about 225 at 100. For P Z M 21, 40 milligrams per kg: The graph starts about 425 at origin, moves to 420 at 10, gradually descends to about 150 at 25 and stays the course and ends at 175 at 100.&#10;&#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439997" y="479425"/>
            <a:ext cx="9312007" cy="6300788"/>
          </a:xfrm>
        </p:spPr>
      </p:pic>
    </p:spTree>
    <p:extLst>
      <p:ext uri="{BB962C8B-B14F-4D97-AF65-F5344CB8AC3E}">
        <p14:creationId xmlns:p14="http://schemas.microsoft.com/office/powerpoint/2010/main" val="21542037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FC379-FF61-EF4D-B3B3-9F2384CD8892}"/>
              </a:ext>
            </a:extLst>
          </p:cNvPr>
          <p:cNvSpPr>
            <a:spLocks noGrp="1"/>
          </p:cNvSpPr>
          <p:nvPr>
            <p:ph type="title"/>
          </p:nvPr>
        </p:nvSpPr>
        <p:spPr/>
        <p:txBody>
          <a:bodyPr/>
          <a:lstStyle/>
          <a:p>
            <a:r>
              <a:rPr lang="en-US" cap="all" dirty="0"/>
              <a:t>Box 11.1  </a:t>
            </a:r>
            <a:r>
              <a:rPr lang="en-US" dirty="0"/>
              <a:t>The Cutting Edge: Science in Action (Part 5)</a:t>
            </a:r>
          </a:p>
        </p:txBody>
      </p:sp>
      <p:pic>
        <p:nvPicPr>
          <p:cNvPr id="6" name="Content Placeholder 5" descr="A pair of two bar graphs depicts the conditional place preference test results. The X axis measures the substances and the Y axis measures place preference in percentage from 0 through 80 with increments of 20. Approximate values follow. For Morphine 10 milligrams per kilogram: Vehicle chamber, 38; drug chamber, 65. For non-significance, P Z M 21, 20 milligrams per kilogram: vehicle chamber, 53; drug chamber, 4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515432" y="479425"/>
            <a:ext cx="7161136" cy="6300788"/>
          </a:xfrm>
        </p:spPr>
      </p:pic>
    </p:spTree>
    <p:extLst>
      <p:ext uri="{BB962C8B-B14F-4D97-AF65-F5344CB8AC3E}">
        <p14:creationId xmlns:p14="http://schemas.microsoft.com/office/powerpoint/2010/main" val="22097811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(15 of 18)</a:t>
            </a:r>
            <a:endParaRPr lang="en-US" dirty="0"/>
          </a:p>
        </p:txBody>
      </p:sp>
      <p:sp>
        <p:nvSpPr>
          <p:cNvPr id="3" name="Text Placeholder 2"/>
          <p:cNvSpPr>
            <a:spLocks noGrp="1"/>
          </p:cNvSpPr>
          <p:nvPr>
            <p:ph idx="1"/>
          </p:nvPr>
        </p:nvSpPr>
        <p:spPr/>
        <p:txBody>
          <a:bodyPr>
            <a:normAutofit fontScale="85000" lnSpcReduction="20000"/>
          </a:bodyPr>
          <a:lstStyle/>
          <a:p>
            <a:pPr marL="457200" indent="-457200">
              <a:spcBef>
                <a:spcPts val="1200"/>
              </a:spcBef>
              <a:buNone/>
            </a:pPr>
            <a:r>
              <a:rPr lang="en-US" sz="3500" dirty="0"/>
              <a:t>Several families of naturally occurring opioid peptides bind to these receptors</a:t>
            </a:r>
          </a:p>
          <a:p>
            <a:r>
              <a:rPr lang="en-US" dirty="0"/>
              <a:t>Endogenous opioids (</a:t>
            </a:r>
            <a:r>
              <a:rPr lang="en-US" b="1" dirty="0"/>
              <a:t>endorphins</a:t>
            </a:r>
            <a:r>
              <a:rPr lang="en-US" dirty="0"/>
              <a:t>) plus non-opioid peptides are formed from larger </a:t>
            </a:r>
            <a:r>
              <a:rPr lang="en-US" dirty="0" err="1"/>
              <a:t>propeptides</a:t>
            </a:r>
            <a:r>
              <a:rPr lang="en-US" dirty="0"/>
              <a:t> (precursor peptides): </a:t>
            </a:r>
          </a:p>
          <a:p>
            <a:pPr lvl="1"/>
            <a:r>
              <a:rPr lang="en-US" b="1" dirty="0"/>
              <a:t>Prodynorphin </a:t>
            </a:r>
          </a:p>
          <a:p>
            <a:pPr lvl="1"/>
            <a:r>
              <a:rPr lang="en-US" b="1" dirty="0"/>
              <a:t>Pro-opiomelanocortin or POMC </a:t>
            </a:r>
          </a:p>
          <a:p>
            <a:pPr lvl="1"/>
            <a:r>
              <a:rPr lang="en-US" b="1" dirty="0"/>
              <a:t>Proenkephalin </a:t>
            </a:r>
          </a:p>
          <a:p>
            <a:pPr lvl="1"/>
            <a:r>
              <a:rPr lang="en-US" b="1" dirty="0" err="1"/>
              <a:t>Pronociceptin</a:t>
            </a:r>
            <a:r>
              <a:rPr lang="en-US" b="1" dirty="0"/>
              <a:t>/</a:t>
            </a:r>
            <a:r>
              <a:rPr lang="en-US" b="1" dirty="0" err="1"/>
              <a:t>orphanin</a:t>
            </a:r>
            <a:r>
              <a:rPr lang="en-US" b="1" dirty="0"/>
              <a:t> FQ</a:t>
            </a:r>
            <a:r>
              <a:rPr lang="en-US" dirty="0"/>
              <a:t> </a:t>
            </a:r>
            <a:endParaRPr lang="en-US" dirty="0">
              <a:ea typeface="Geneva" pitchFamily="121" charset="-128"/>
            </a:endParaRPr>
          </a:p>
          <a:p>
            <a:r>
              <a:rPr lang="en-US" dirty="0"/>
              <a:t>The </a:t>
            </a:r>
            <a:r>
              <a:rPr lang="en-US" dirty="0" err="1"/>
              <a:t>propeptides</a:t>
            </a:r>
            <a:r>
              <a:rPr lang="en-US" dirty="0"/>
              <a:t> are concentrated in areas related to pain modulation and mood.</a:t>
            </a:r>
          </a:p>
        </p:txBody>
      </p:sp>
    </p:spTree>
    <p:extLst>
      <p:ext uri="{BB962C8B-B14F-4D97-AF65-F5344CB8AC3E}">
        <p14:creationId xmlns:p14="http://schemas.microsoft.com/office/powerpoint/2010/main" val="787981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DA933-EC75-C94C-9667-65BE4F1C8D75}"/>
              </a:ext>
            </a:extLst>
          </p:cNvPr>
          <p:cNvSpPr>
            <a:spLocks noGrp="1"/>
          </p:cNvSpPr>
          <p:nvPr>
            <p:ph type="title"/>
          </p:nvPr>
        </p:nvSpPr>
        <p:spPr/>
        <p:txBody>
          <a:bodyPr/>
          <a:lstStyle/>
          <a:p>
            <a:r>
              <a:rPr lang="en-US" cap="all" dirty="0"/>
              <a:t>FIGURE 11.10</a:t>
            </a:r>
            <a:r>
              <a:rPr lang="en-US" dirty="0"/>
              <a:t>  The four opioid </a:t>
            </a:r>
            <a:r>
              <a:rPr lang="en-US" dirty="0" err="1"/>
              <a:t>propeptides</a:t>
            </a:r>
            <a:r>
              <a:rPr lang="en-US" dirty="0"/>
              <a:t> and some of their possible products </a:t>
            </a:r>
          </a:p>
        </p:txBody>
      </p:sp>
      <p:pic>
        <p:nvPicPr>
          <p:cNvPr id="6" name="Content Placeholder 5" descr="An illustration depicts the four opioid propeptides in four layers. The topmost one has pro-opiomelanocortin, P O M C. Three areas marked are gamma M S H, alpha M S H, and beta M S H at the top. Alpha and Beta M S H combine below to form A C T H and alpha L P H. The area beyond that is beta E N D. Alpha L P H and beta E N D are combinedly marked as beta L P H. The second layer is named proenkephalin. The left side has met E N K and the right side has leu E N K. The third layer is named, prodynorphin. Three portions are named as alpha neoendorphin, D Y N A, and D Y N B. Alpha neoendorphin is marked and named as beta neoendorphin below. The final layer is named pronociceptin or orphanin F Q. The final segment at right is marked as orphanin F Q or nociceptin. The areas below are named, nocistatin and orphanin 2."/>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00106" y="479425"/>
            <a:ext cx="6591788" cy="6300788"/>
          </a:xfrm>
        </p:spPr>
      </p:pic>
    </p:spTree>
    <p:extLst>
      <p:ext uri="{BB962C8B-B14F-4D97-AF65-F5344CB8AC3E}">
        <p14:creationId xmlns:p14="http://schemas.microsoft.com/office/powerpoint/2010/main" val="3187520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(16 of 18)</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sz="3500" dirty="0"/>
              <a:t>Several families of naturally occurring opioid peptides bind to these receptors</a:t>
            </a:r>
          </a:p>
          <a:p>
            <a:pPr>
              <a:spcBef>
                <a:spcPts val="1800"/>
              </a:spcBef>
            </a:pPr>
            <a:r>
              <a:rPr lang="en-US" dirty="0"/>
              <a:t>POMC is concentrated in the pituitary gland.</a:t>
            </a:r>
          </a:p>
          <a:p>
            <a:pPr>
              <a:spcBef>
                <a:spcPts val="1800"/>
              </a:spcBef>
            </a:pPr>
            <a:r>
              <a:rPr lang="en-US" dirty="0"/>
              <a:t>CRF is released from the hypothalamus in response to stress;  increases ACTH release from the pituitary and ultimately glucocorticoids from the adrenal cortex.</a:t>
            </a:r>
          </a:p>
          <a:p>
            <a:r>
              <a:rPr lang="en-US" dirty="0"/>
              <a:t>CRF also causes rapid increase in POMC mRNA and subsequent increase in release of </a:t>
            </a:r>
            <a:r>
              <a:rPr lang="el-GR" dirty="0">
                <a:latin typeface="PalatinoLT-Roman"/>
              </a:rPr>
              <a:t>β</a:t>
            </a:r>
            <a:r>
              <a:rPr lang="en-US" dirty="0"/>
              <a:t>-endorphin from the pituitary.</a:t>
            </a:r>
          </a:p>
          <a:p>
            <a:r>
              <a:rPr lang="en-US" dirty="0"/>
              <a:t>Many types of stressors increase both CRF and POMC, suggesting a link between pain and stress regulation. </a:t>
            </a:r>
          </a:p>
        </p:txBody>
      </p:sp>
    </p:spTree>
    <p:extLst>
      <p:ext uri="{BB962C8B-B14F-4D97-AF65-F5344CB8AC3E}">
        <p14:creationId xmlns:p14="http://schemas.microsoft.com/office/powerpoint/2010/main" val="3905895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7EB4-EA4B-FE41-8C2B-7246AF793566}"/>
              </a:ext>
            </a:extLst>
          </p:cNvPr>
          <p:cNvSpPr>
            <a:spLocks noGrp="1"/>
          </p:cNvSpPr>
          <p:nvPr>
            <p:ph type="title"/>
          </p:nvPr>
        </p:nvSpPr>
        <p:spPr/>
        <p:txBody>
          <a:bodyPr/>
          <a:lstStyle/>
          <a:p>
            <a:r>
              <a:rPr lang="en-US" cap="all" dirty="0"/>
              <a:t>FIGURE 11.11  </a:t>
            </a:r>
            <a:r>
              <a:rPr lang="en-US" dirty="0"/>
              <a:t>Hypothalamic control of ACTH and β-endorphin release </a:t>
            </a:r>
            <a:r>
              <a:rPr lang="en-US" sz="1100" dirty="0"/>
              <a:t>(1)</a:t>
            </a:r>
          </a:p>
        </p:txBody>
      </p:sp>
      <p:pic>
        <p:nvPicPr>
          <p:cNvPr id="6" name="Content Placeholder 5" descr="An illustration depicts the hypothalamic control of A C T H and beta endorphin release. Neuroendocrine cell bodies in the hypothalamus produce corticotropin-releasing factors, C R F. They are released from axon terminals that synapse on the primary plexus of the portal system. C R F travels via the portal veins to the anterior pituitary. The hypophyseal artery, median eminence, primary plexus, and the hypophyseal portal veins are marked in the middle. At the bottom, the posterior pituitary, anterior pituitary, and cells that produce anterior pituitary hormones are marked and shown. Hormone producing cells in the anterior pituitary respond to the hypothalamic signals by releasing A C T H and beta endorphin. The A C T H and beta endorphin travel through the bloodstream and regulate endorphin glands and are released at the end of the anterior pituitar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679433" y="479425"/>
            <a:ext cx="4833134" cy="6300788"/>
          </a:xfrm>
        </p:spPr>
      </p:pic>
    </p:spTree>
    <p:extLst>
      <p:ext uri="{BB962C8B-B14F-4D97-AF65-F5344CB8AC3E}">
        <p14:creationId xmlns:p14="http://schemas.microsoft.com/office/powerpoint/2010/main" val="2298945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(17 of 18)</a:t>
            </a:r>
            <a:endParaRPr lang="en-US" dirty="0"/>
          </a:p>
        </p:txBody>
      </p:sp>
      <p:sp>
        <p:nvSpPr>
          <p:cNvPr id="3" name="Text Placeholder 2"/>
          <p:cNvSpPr>
            <a:spLocks noGrp="1"/>
          </p:cNvSpPr>
          <p:nvPr>
            <p:ph idx="1"/>
          </p:nvPr>
        </p:nvSpPr>
        <p:spPr>
          <a:xfrm>
            <a:off x="609600" y="1836009"/>
            <a:ext cx="10972800" cy="4725581"/>
          </a:xfrm>
        </p:spPr>
        <p:txBody>
          <a:bodyPr>
            <a:normAutofit/>
          </a:bodyPr>
          <a:lstStyle/>
          <a:p>
            <a:pPr marL="457200" indent="-457200">
              <a:spcBef>
                <a:spcPts val="1200"/>
              </a:spcBef>
              <a:buNone/>
            </a:pPr>
            <a:r>
              <a:rPr lang="en-US" sz="3200" dirty="0"/>
              <a:t>Opioid receptor–mediated cellular changes are inhibitory</a:t>
            </a:r>
          </a:p>
          <a:p>
            <a:pPr>
              <a:spcBef>
                <a:spcPts val="1800"/>
              </a:spcBef>
            </a:pPr>
            <a:r>
              <a:rPr lang="en-US" dirty="0">
                <a:ea typeface="Geneva" pitchFamily="121" charset="-128"/>
              </a:rPr>
              <a:t>Opioids and N/OFQ work through G proteins and second messengers to reduce synaptic transmission </a:t>
            </a:r>
          </a:p>
          <a:p>
            <a:pPr>
              <a:spcBef>
                <a:spcPts val="1800"/>
              </a:spcBef>
            </a:pPr>
            <a:r>
              <a:rPr lang="en-US" dirty="0">
                <a:ea typeface="Geneva" pitchFamily="121" charset="-128"/>
              </a:rPr>
              <a:t>Postsynaptic inhibition: opens K</a:t>
            </a:r>
            <a:r>
              <a:rPr lang="en-US" baseline="30000" dirty="0">
                <a:ea typeface="Geneva" pitchFamily="121" charset="-128"/>
              </a:rPr>
              <a:t>+</a:t>
            </a:r>
            <a:r>
              <a:rPr lang="en-US" dirty="0">
                <a:ea typeface="Geneva" pitchFamily="121" charset="-128"/>
              </a:rPr>
              <a:t> channels - hyperpolarization</a:t>
            </a:r>
          </a:p>
          <a:p>
            <a:pPr>
              <a:spcBef>
                <a:spcPts val="1800"/>
              </a:spcBef>
            </a:pPr>
            <a:r>
              <a:rPr lang="en-US" dirty="0">
                <a:ea typeface="Geneva" pitchFamily="121" charset="-128"/>
              </a:rPr>
              <a:t>Axoaxonic inhibition: closes calcium Ca</a:t>
            </a:r>
            <a:r>
              <a:rPr lang="en-US" baseline="30000" dirty="0">
                <a:ea typeface="Geneva" pitchFamily="121" charset="-128"/>
              </a:rPr>
              <a:t>2+</a:t>
            </a:r>
            <a:r>
              <a:rPr lang="en-US" dirty="0">
                <a:ea typeface="Geneva" pitchFamily="121" charset="-128"/>
              </a:rPr>
              <a:t> channels – decreases amount of transmitter released</a:t>
            </a:r>
          </a:p>
          <a:p>
            <a:pPr>
              <a:spcBef>
                <a:spcPts val="1800"/>
              </a:spcBef>
            </a:pPr>
            <a:r>
              <a:rPr lang="en-US" dirty="0">
                <a:ea typeface="Geneva" pitchFamily="121" charset="-128"/>
              </a:rPr>
              <a:t>Presynaptic </a:t>
            </a:r>
            <a:r>
              <a:rPr lang="en-US" dirty="0" err="1">
                <a:ea typeface="Geneva" pitchFamily="121" charset="-128"/>
              </a:rPr>
              <a:t>autoreceptors</a:t>
            </a:r>
            <a:r>
              <a:rPr lang="en-US" dirty="0">
                <a:ea typeface="Geneva" pitchFamily="121" charset="-128"/>
              </a:rPr>
              <a:t>: reduce release of a co-localized transmitter</a:t>
            </a:r>
          </a:p>
          <a:p>
            <a:pPr>
              <a:spcBef>
                <a:spcPts val="1800"/>
              </a:spcBef>
            </a:pPr>
            <a:r>
              <a:rPr lang="en-US" dirty="0">
                <a:ea typeface="Geneva" pitchFamily="121" charset="-128"/>
              </a:rPr>
              <a:t>Inhibition of adenylyl cyclase </a:t>
            </a:r>
          </a:p>
        </p:txBody>
      </p:sp>
    </p:spTree>
    <p:extLst>
      <p:ext uri="{BB962C8B-B14F-4D97-AF65-F5344CB8AC3E}">
        <p14:creationId xmlns:p14="http://schemas.microsoft.com/office/powerpoint/2010/main" val="2198748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574A-12E6-F849-AC76-E451D5B8F1F5}"/>
              </a:ext>
            </a:extLst>
          </p:cNvPr>
          <p:cNvSpPr>
            <a:spLocks noGrp="1"/>
          </p:cNvSpPr>
          <p:nvPr>
            <p:ph type="title"/>
          </p:nvPr>
        </p:nvSpPr>
        <p:spPr/>
        <p:txBody>
          <a:bodyPr/>
          <a:lstStyle/>
          <a:p>
            <a:r>
              <a:rPr lang="en-US" cap="all" dirty="0"/>
              <a:t>FIGURE 11.12</a:t>
            </a:r>
            <a:r>
              <a:rPr lang="en-US" dirty="0"/>
              <a:t>  Inhibitory actions of endogenous opioids </a:t>
            </a:r>
            <a:r>
              <a:rPr lang="en-US" sz="1100" dirty="0"/>
              <a:t>(1) </a:t>
            </a:r>
          </a:p>
        </p:txBody>
      </p:sp>
      <p:pic>
        <p:nvPicPr>
          <p:cNvPr id="6" name="Content Placeholder 5" descr="An illustration depicts postsynaptic inhibition in open K superscript plus channels. The opioid neuron is at the top. Opioid receptors produce G protein modulation of K superscript positive open channels. Hyperpolarization occurs and causes decreased firing in another neuron below.&#10;&#10;An illustration depicts axoaxonic inhibition in close calcium superscript 2 plus channels. The opioid neuron is at the top left and flows downward. Opioid receptors on terminal produce G protein modulation of calcium superscript 2 plus close channels. Decreased release of neurotransmitters happens below.&#10;&#10;An illustration depicts presynaptic autoreceptors reducing transmitter release. The neuron with co-localized neurotransmitter and opioid flows downward. Endorphin autoreceptors decrease release of cell's neurotransmitters. Reduced postsynaptic effects are seen below."/>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174301" y="479425"/>
            <a:ext cx="9843399" cy="6300788"/>
          </a:xfrm>
        </p:spPr>
      </p:pic>
    </p:spTree>
    <p:extLst>
      <p:ext uri="{BB962C8B-B14F-4D97-AF65-F5344CB8AC3E}">
        <p14:creationId xmlns:p14="http://schemas.microsoft.com/office/powerpoint/2010/main" val="3526996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Narcotic Analgesics </a:t>
            </a:r>
            <a:r>
              <a:rPr lang="en-US" sz="1200" dirty="0"/>
              <a:t>(18 of 18)</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What method was used to determine the 3-dimensional structure of the opioid receptors?</a:t>
            </a:r>
          </a:p>
          <a:p>
            <a:pPr marL="914400" indent="-457200">
              <a:spcBef>
                <a:spcPts val="1200"/>
              </a:spcBef>
              <a:buFont typeface="Arial" pitchFamily="34" charset="0"/>
              <a:buAutoNum type="alphaLcPeriod"/>
            </a:pPr>
            <a:r>
              <a:rPr lang="en-US" sz="3200" dirty="0"/>
              <a:t>Receptor cloning</a:t>
            </a:r>
          </a:p>
          <a:p>
            <a:pPr marL="914400" indent="-457200">
              <a:spcBef>
                <a:spcPts val="1200"/>
              </a:spcBef>
              <a:buFont typeface="Arial" pitchFamily="34" charset="0"/>
              <a:buAutoNum type="alphaLcPeriod"/>
            </a:pPr>
            <a:r>
              <a:rPr lang="en-US" sz="3200" dirty="0"/>
              <a:t>Autoradiography </a:t>
            </a:r>
          </a:p>
          <a:p>
            <a:pPr marL="914400" indent="-457200">
              <a:spcBef>
                <a:spcPts val="1200"/>
              </a:spcBef>
              <a:buFont typeface="Arial" pitchFamily="34" charset="0"/>
              <a:buAutoNum type="alphaLcPeriod"/>
            </a:pPr>
            <a:r>
              <a:rPr lang="en-US" sz="3200" dirty="0"/>
              <a:t>Receptor binding studies</a:t>
            </a:r>
          </a:p>
          <a:p>
            <a:pPr marL="914400" indent="-457200">
              <a:spcBef>
                <a:spcPts val="1200"/>
              </a:spcBef>
              <a:buFont typeface="Arial" pitchFamily="34" charset="0"/>
              <a:buAutoNum type="alphaLcPeriod"/>
            </a:pPr>
            <a:r>
              <a:rPr lang="en-US" sz="3200" dirty="0"/>
              <a:t>Membrane protein crystallization</a:t>
            </a:r>
          </a:p>
        </p:txBody>
      </p:sp>
    </p:spTree>
    <p:extLst>
      <p:ext uri="{BB962C8B-B14F-4D97-AF65-F5344CB8AC3E}">
        <p14:creationId xmlns:p14="http://schemas.microsoft.com/office/powerpoint/2010/main" val="2244686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3)</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11.1.1  Describe how opiates are cultivated and explain the distinction between opiates and opioids.</a:t>
            </a:r>
          </a:p>
          <a:p>
            <a:pPr marL="1371600" indent="-1371600">
              <a:lnSpc>
                <a:spcPct val="110000"/>
              </a:lnSpc>
              <a:buNone/>
            </a:pPr>
            <a:r>
              <a:rPr lang="en-US" dirty="0"/>
              <a:t>11.1.2  Describe the behavioral and physiological effects of opioids at therapeutic and toxic doses.</a:t>
            </a:r>
          </a:p>
          <a:p>
            <a:pPr marL="1371600" indent="-1371600">
              <a:lnSpc>
                <a:spcPct val="110000"/>
              </a:lnSpc>
              <a:buNone/>
            </a:pPr>
            <a:r>
              <a:rPr lang="en-US" dirty="0"/>
              <a:t>11.1.3  Identify and briefly describe the four types of opioid receptors.</a:t>
            </a:r>
          </a:p>
          <a:p>
            <a:pPr marL="1371600" indent="-1371600">
              <a:lnSpc>
                <a:spcPct val="110000"/>
              </a:lnSpc>
              <a:buNone/>
            </a:pPr>
            <a:r>
              <a:rPr lang="en-US" dirty="0"/>
              <a:t>11.1.4  Describe the endogenous opioids and identify the </a:t>
            </a:r>
            <a:r>
              <a:rPr lang="en-US" dirty="0" err="1"/>
              <a:t>propeptides</a:t>
            </a:r>
            <a:r>
              <a:rPr lang="en-US" dirty="0"/>
              <a:t> that they are derived from.</a:t>
            </a:r>
          </a:p>
        </p:txBody>
      </p:sp>
    </p:spTree>
    <p:extLst>
      <p:ext uri="{BB962C8B-B14F-4D97-AF65-F5344CB8AC3E}">
        <p14:creationId xmlns:p14="http://schemas.microsoft.com/office/powerpoint/2010/main" val="36048928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(1 of 7)</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The two components of pain have distinct features</a:t>
            </a:r>
          </a:p>
          <a:p>
            <a:pPr>
              <a:spcBef>
                <a:spcPts val="1800"/>
              </a:spcBef>
            </a:pPr>
            <a:r>
              <a:rPr lang="en-US" altLang="en-US" dirty="0"/>
              <a:t>First (early) pain—immediate, sensory component; signal carried by myelinated A</a:t>
            </a:r>
            <a:r>
              <a:rPr lang="el-GR" altLang="en-US" dirty="0">
                <a:latin typeface="PalatinoLT-Roman"/>
              </a:rPr>
              <a:t>δ</a:t>
            </a:r>
            <a:r>
              <a:rPr lang="en-US" altLang="en-US" dirty="0"/>
              <a:t> neurons – conduct action potentials rapidly; </a:t>
            </a:r>
            <a:r>
              <a:rPr lang="en-US" dirty="0"/>
              <a:t>transmitted from spinal cord via spinothalamic tract to PVL nucleus of the thalamus, then the somatosensory cortex</a:t>
            </a:r>
            <a:endParaRPr lang="en-US" altLang="en-US" dirty="0"/>
          </a:p>
          <a:p>
            <a:pPr>
              <a:spcBef>
                <a:spcPts val="1800"/>
              </a:spcBef>
            </a:pPr>
            <a:r>
              <a:rPr lang="en-US" altLang="en-US" dirty="0"/>
              <a:t>Second (late) pain—emotional component; signal carried by thin, unmyelinated C fibers; transmission is slower; </a:t>
            </a:r>
            <a:r>
              <a:rPr lang="en-US" dirty="0"/>
              <a:t>goes to the thalamus, but gives off collaterals to a several limbic structures and the anterior cingulate cortex.</a:t>
            </a:r>
            <a:endParaRPr lang="en-US" altLang="en-US" dirty="0"/>
          </a:p>
        </p:txBody>
      </p:sp>
    </p:spTree>
    <p:extLst>
      <p:ext uri="{BB962C8B-B14F-4D97-AF65-F5344CB8AC3E}">
        <p14:creationId xmlns:p14="http://schemas.microsoft.com/office/powerpoint/2010/main" val="2912697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2AAB8-F652-8E43-9594-3F48BA135E4E}"/>
              </a:ext>
            </a:extLst>
          </p:cNvPr>
          <p:cNvSpPr>
            <a:spLocks noGrp="1"/>
          </p:cNvSpPr>
          <p:nvPr>
            <p:ph type="title"/>
          </p:nvPr>
        </p:nvSpPr>
        <p:spPr/>
        <p:txBody>
          <a:bodyPr/>
          <a:lstStyle/>
          <a:p>
            <a:r>
              <a:rPr lang="en-US" cap="all" dirty="0"/>
              <a:t>FIGURE 11.13</a:t>
            </a:r>
            <a:r>
              <a:rPr lang="en-US" dirty="0"/>
              <a:t>  Ascending pain pathways</a:t>
            </a:r>
            <a:endParaRPr lang="en-US" sz="1100" dirty="0"/>
          </a:p>
        </p:txBody>
      </p:sp>
      <p:pic>
        <p:nvPicPr>
          <p:cNvPr id="6" name="Content Placeholder 5" descr="A multi-part illustration depicts the ascending pain pathways in a brain. The brain's whole view is present at the bottom left. Various parts are blown up and shown on the right side with text pointers as follows. Forebrain: Early pain signals go to primary and secondary somatosensory cortex. Thalamic nuclei are marked. Anterior cingulate cortex and other limbic areas are especially activated by late pain information. Pain information is distributed to many thalamic and cortical areas via nerves. Early pain and late pain nerves are distinguished and depicted. Midbrain: Periaqueductal gray area is depicted. Pain information is provided to various brainstem sites, which control pain-related behavior such as vocalization. Reticular formation connects midbrain with pons. Axons of dorsal horn neurons, projection neurons, cross the midline and ascend the spinal cord to the brain. The medulla and spinal cord are at the bottom. Pain information is carried by rapidly conducting myelinated fibers and slowly conducting unmyelinated C fibers that end in the dorsal horn. C and A fibers are seen at the en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58259" y="479425"/>
            <a:ext cx="6275483" cy="6300788"/>
          </a:xfrm>
        </p:spPr>
      </p:pic>
    </p:spTree>
    <p:extLst>
      <p:ext uri="{BB962C8B-B14F-4D97-AF65-F5344CB8AC3E}">
        <p14:creationId xmlns:p14="http://schemas.microsoft.com/office/powerpoint/2010/main" val="1247761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(2 of 7)</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The two components of pain have distinct features</a:t>
            </a:r>
          </a:p>
          <a:p>
            <a:pPr>
              <a:spcBef>
                <a:spcPts val="1800"/>
              </a:spcBef>
            </a:pPr>
            <a:r>
              <a:rPr lang="en-US" dirty="0">
                <a:ea typeface="Geneva" pitchFamily="121" charset="-128"/>
              </a:rPr>
              <a:t>Location and time course of pain-evoked neural activity in humans is studied using magnetoencephalography (MEG)</a:t>
            </a:r>
          </a:p>
          <a:p>
            <a:r>
              <a:rPr lang="en-US" altLang="en-US" dirty="0">
                <a:ea typeface="Geneva" pitchFamily="121" charset="-128"/>
              </a:rPr>
              <a:t>First pain (pain recognition) was temporally related to activation of the primary somatosensory cortex.</a:t>
            </a:r>
          </a:p>
          <a:p>
            <a:r>
              <a:rPr lang="en-US" altLang="en-US" dirty="0">
                <a:ea typeface="Geneva" pitchFamily="121" charset="-128"/>
              </a:rPr>
              <a:t>Second pain was strongly associated with anterior cingulate activation.</a:t>
            </a:r>
          </a:p>
          <a:p>
            <a:r>
              <a:rPr lang="en-US" altLang="en-US" dirty="0">
                <a:ea typeface="Geneva" pitchFamily="121" charset="-128"/>
              </a:rPr>
              <a:t>Both types were associated with activity in the secondary somatosensory cortex.</a:t>
            </a:r>
          </a:p>
        </p:txBody>
      </p:sp>
    </p:spTree>
    <p:extLst>
      <p:ext uri="{BB962C8B-B14F-4D97-AF65-F5344CB8AC3E}">
        <p14:creationId xmlns:p14="http://schemas.microsoft.com/office/powerpoint/2010/main" val="582686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454FA-2E2C-B14E-8FB6-06379A1017F5}"/>
              </a:ext>
            </a:extLst>
          </p:cNvPr>
          <p:cNvSpPr>
            <a:spLocks noGrp="1"/>
          </p:cNvSpPr>
          <p:nvPr>
            <p:ph type="title"/>
          </p:nvPr>
        </p:nvSpPr>
        <p:spPr/>
        <p:txBody>
          <a:bodyPr/>
          <a:lstStyle/>
          <a:p>
            <a:r>
              <a:rPr lang="en-US" cap="all" dirty="0"/>
              <a:t>FIGURE 11.14</a:t>
            </a:r>
            <a:r>
              <a:rPr lang="en-US" dirty="0"/>
              <a:t>  Location and time course of pain-evoked neural activity in humans </a:t>
            </a:r>
          </a:p>
        </p:txBody>
      </p:sp>
      <p:pic>
        <p:nvPicPr>
          <p:cNvPr id="8" name="Content Placeholder 7" descr="A four-part line graph depicts time course of pain-evoked neural activity in humans. The X axis measures time in seconds from 0 through 3 with increments of 1. The Y axis measures pain from 0 through 80 with increments of 40. The first graph reads, Neural activity associated with early pain is recorded in the cortex; little indication of late pain. The graph starts and is at 0 for the first third portion, after which it spikes and then moves back to 0 and stays around that region. The mid-one-third area is marked as Late in all graphs. The region before that is marked as Early. The second graph reads, early pain is maximal but late pain also occurs. Here, the graph stay above around 30 for late pain and falls later on to touch 0 at the end. The third graph reads, early pain signals are decreasing but late pain is increasing. The graph's second half has more presence in the late pain area and it is increasing and falls toward the end. The fourth graph reads, maximum late pain is recorded. Here, the graph spikes greatly to touch about 70 at the beginning of late pain, and remains around 60 until 1.5 seconds, after which the graph falls slowly and touches 0 about 2.5 seconds and rises to end about 40 at 3 seconds.&#10;&#10;A set of six images with two images in each part, depict the brain's areas that are active at corresponding points in time with shaded areas. Set 1: Early pain activates primary somatosensory cortex contralaterally. Set 2: Both early and late pain bilaterally activate the secondary somatosensory cortex. Set 3: Late pain activates anterior cingulate cortex.&#10;&#10;A set of two images depict adjacent areas of somatosensory cortices in the brain that are responsive to application of correspondingly adjacent painful stimuli on the body. The first set depicts primary somatosensory cortex in 4 subjects having n equal to 8. Various areas like face, neck, back, elbow, wrist, hand, finger, knee, and foot are marked in a longitudinally spread fashion. The second set of 4 images depicts the posterior parietal cortex. The areas are clustered and shown. Subject 1 through 4 has the following n values, 4, 5, 7, and 2.">
            <a:extLst>
              <a:ext uri="{FF2B5EF4-FFF2-40B4-BE49-F238E27FC236}">
                <a16:creationId xmlns:a16="http://schemas.microsoft.com/office/drawing/2014/main" id="{7529E689-29B0-D649-A7F5-88CCDA8C6E19}"/>
              </a:ext>
            </a:extLst>
          </p:cNvPr>
          <p:cNvPicPr>
            <a:picLocks noGrp="1" noChangeAspect="1"/>
          </p:cNvPicPr>
          <p:nvPr>
            <p:ph sz="quarter" idx="10"/>
          </p:nvPr>
        </p:nvPicPr>
        <p:blipFill>
          <a:blip r:embed="rId3"/>
          <a:stretch>
            <a:fillRect/>
          </a:stretch>
        </p:blipFill>
        <p:spPr>
          <a:xfrm>
            <a:off x="1205931" y="479425"/>
            <a:ext cx="9780138" cy="6300788"/>
          </a:xfrm>
        </p:spPr>
      </p:pic>
    </p:spTree>
    <p:extLst>
      <p:ext uri="{BB962C8B-B14F-4D97-AF65-F5344CB8AC3E}">
        <p14:creationId xmlns:p14="http://schemas.microsoft.com/office/powerpoint/2010/main" val="4036140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(3 of 7)</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sz="3200" dirty="0"/>
              <a:t>Opioids inhibit pain transmission at spinal and supraspinal levels</a:t>
            </a:r>
          </a:p>
          <a:p>
            <a:pPr>
              <a:spcBef>
                <a:spcPts val="1800"/>
              </a:spcBef>
            </a:pPr>
            <a:r>
              <a:rPr lang="en-US" dirty="0"/>
              <a:t>Opioid drugs mimic the inhibitory action of endogenous opioids</a:t>
            </a:r>
            <a:endParaRPr lang="en-US" b="1" dirty="0">
              <a:ea typeface="Geneva" pitchFamily="121" charset="-128"/>
            </a:endParaRPr>
          </a:p>
          <a:p>
            <a:pPr>
              <a:spcBef>
                <a:spcPts val="1800"/>
              </a:spcBef>
            </a:pPr>
            <a:r>
              <a:rPr lang="en-US" dirty="0">
                <a:ea typeface="Geneva" pitchFamily="121" charset="-128"/>
              </a:rPr>
              <a:t>Opioids reduce transmission of pain signals at the spinal cord in two ways:</a:t>
            </a:r>
          </a:p>
          <a:p>
            <a:pPr lvl="1">
              <a:spcBef>
                <a:spcPts val="1800"/>
              </a:spcBef>
            </a:pPr>
            <a:r>
              <a:rPr lang="en-US" dirty="0">
                <a:ea typeface="Geneva" pitchFamily="121" charset="-128"/>
              </a:rPr>
              <a:t>Inhibitory </a:t>
            </a:r>
            <a:r>
              <a:rPr lang="en-US" b="1" dirty="0">
                <a:ea typeface="Geneva" pitchFamily="121" charset="-128"/>
              </a:rPr>
              <a:t>spinal interneurons </a:t>
            </a:r>
            <a:r>
              <a:rPr lang="en-US" dirty="0">
                <a:ea typeface="Geneva" pitchFamily="121" charset="-128"/>
              </a:rPr>
              <a:t>release endorphins that inhibit activation of spinal projection neurons</a:t>
            </a:r>
          </a:p>
          <a:p>
            <a:pPr lvl="1">
              <a:spcBef>
                <a:spcPts val="1800"/>
              </a:spcBef>
            </a:pPr>
            <a:r>
              <a:rPr lang="en-US" b="1" dirty="0">
                <a:ea typeface="Geneva" pitchFamily="121" charset="-128"/>
              </a:rPr>
              <a:t>Descending modulatory pathways </a:t>
            </a:r>
            <a:r>
              <a:rPr lang="en-US" dirty="0">
                <a:ea typeface="Geneva" pitchFamily="121" charset="-128"/>
              </a:rPr>
              <a:t>- inhibit projection neuron or excitatory interneuron, or excite inhibitory opioid neuron; most important pathway originates in the PAG in the midbrain</a:t>
            </a:r>
          </a:p>
        </p:txBody>
      </p:sp>
    </p:spTree>
    <p:extLst>
      <p:ext uri="{BB962C8B-B14F-4D97-AF65-F5344CB8AC3E}">
        <p14:creationId xmlns:p14="http://schemas.microsoft.com/office/powerpoint/2010/main" val="25918568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ED23-AE0E-F547-A667-C2053F695621}"/>
              </a:ext>
            </a:extLst>
          </p:cNvPr>
          <p:cNvSpPr>
            <a:spLocks noGrp="1"/>
          </p:cNvSpPr>
          <p:nvPr>
            <p:ph type="title"/>
          </p:nvPr>
        </p:nvSpPr>
        <p:spPr/>
        <p:txBody>
          <a:bodyPr/>
          <a:lstStyle/>
          <a:p>
            <a:r>
              <a:rPr lang="en-US" cap="all" dirty="0"/>
              <a:t>FIGURE 11.15</a:t>
            </a:r>
            <a:r>
              <a:rPr lang="en-US" dirty="0"/>
              <a:t>  Pain transmission in the spinal cord </a:t>
            </a:r>
          </a:p>
        </p:txBody>
      </p:sp>
      <p:pic>
        <p:nvPicPr>
          <p:cNvPr id="6" name="Content Placeholder 5" descr="An illustration depicts the descending inhibitory pathway. Free nerve endings flow via sensory afferent to the dorsal root ganglion and are connected with the projectory neuron which moves upward at right.&#10;&#10;An illustration of the descending modulatory pathway has the free nerve endings leading via sensory afferent to an excitatory interneuron which leads to a projection neuron at right bottom and the right top afterward.&#10;&#10;An illustration of a descending excitatory pathway leads via free nerve endings to sensory afferent to a projection neuron at right and then to top right. An opioid neuron is connected to the excitatory interneuron from abov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52673" y="479425"/>
            <a:ext cx="4086655" cy="6300788"/>
          </a:xfrm>
        </p:spPr>
      </p:pic>
    </p:spTree>
    <p:extLst>
      <p:ext uri="{BB962C8B-B14F-4D97-AF65-F5344CB8AC3E}">
        <p14:creationId xmlns:p14="http://schemas.microsoft.com/office/powerpoint/2010/main" val="583484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8189-5B19-AA4F-8766-F3483AA18E39}"/>
              </a:ext>
            </a:extLst>
          </p:cNvPr>
          <p:cNvSpPr>
            <a:spLocks noGrp="1"/>
          </p:cNvSpPr>
          <p:nvPr>
            <p:ph type="title"/>
          </p:nvPr>
        </p:nvSpPr>
        <p:spPr/>
        <p:txBody>
          <a:bodyPr/>
          <a:lstStyle/>
          <a:p>
            <a:r>
              <a:rPr lang="en-US" cap="all" dirty="0"/>
              <a:t>FIGURE 11.16</a:t>
            </a:r>
            <a:r>
              <a:rPr lang="en-US" dirty="0"/>
              <a:t>  Descending pain modulation pathways </a:t>
            </a:r>
          </a:p>
        </p:txBody>
      </p:sp>
      <p:pic>
        <p:nvPicPr>
          <p:cNvPr id="6" name="Content Placeholder 5" descr="A multi-part illustration depicts the descending modulation pathways in a brain. The brain's whole view is present at the bottom left. Various parts are blown up and shown on the right side with text pointers as follows. Forebrain: Frontal cortex and hypothalamus are marked above. The neural pathway flows below to the midbrain. Periaqueductal gray area is marked in the midbrain. Locus coeruleus is marked in the pons. Raphe nuclei is marked in the medulla. Spinal cord is at the bottom. Skin is at the final end and pain signals are flowing via nerves to the spinal cord abov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742694" y="479425"/>
            <a:ext cx="4706612" cy="6300788"/>
          </a:xfrm>
        </p:spPr>
      </p:pic>
    </p:spTree>
    <p:extLst>
      <p:ext uri="{BB962C8B-B14F-4D97-AF65-F5344CB8AC3E}">
        <p14:creationId xmlns:p14="http://schemas.microsoft.com/office/powerpoint/2010/main" val="30815100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(4 of 7)</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Opioids inhibit pain transmission at spinal and supraspinal levels</a:t>
            </a:r>
          </a:p>
          <a:p>
            <a:pPr>
              <a:defRPr/>
            </a:pPr>
            <a:r>
              <a:rPr lang="en-US" dirty="0"/>
              <a:t>Opioid activity also occurs in </a:t>
            </a:r>
            <a:r>
              <a:rPr lang="en-US" b="1" dirty="0"/>
              <a:t>supraspinal</a:t>
            </a:r>
            <a:r>
              <a:rPr lang="en-US" dirty="0"/>
              <a:t> locations, including sensory areas, limbic structures, and hypothalamus; may be responsible for the emotional component of pain</a:t>
            </a:r>
          </a:p>
          <a:p>
            <a:pPr>
              <a:defRPr/>
            </a:pPr>
            <a:r>
              <a:rPr lang="en-US" dirty="0">
                <a:ea typeface="Geneva" pitchFamily="121" charset="-128"/>
              </a:rPr>
              <a:t>PET imaging showed significant negative correlation between </a:t>
            </a:r>
            <a:r>
              <a:rPr lang="el-GR" dirty="0">
                <a:latin typeface="Times New Roman" pitchFamily="18" charset="0"/>
                <a:ea typeface="Geneva" pitchFamily="121" charset="-128"/>
                <a:cs typeface="Times New Roman" pitchFamily="18" charset="0"/>
              </a:rPr>
              <a:t>μ</a:t>
            </a:r>
            <a:r>
              <a:rPr lang="en-US" dirty="0">
                <a:ea typeface="Geneva" pitchFamily="121" charset="-128"/>
              </a:rPr>
              <a:t>-opioid activity in the </a:t>
            </a:r>
            <a:r>
              <a:rPr lang="en-US" dirty="0" err="1">
                <a:ea typeface="Geneva" pitchFamily="121" charset="-128"/>
              </a:rPr>
              <a:t>NAcc</a:t>
            </a:r>
            <a:r>
              <a:rPr lang="en-US" dirty="0">
                <a:ea typeface="Geneva" pitchFamily="121" charset="-128"/>
              </a:rPr>
              <a:t>, amygdala, and thalamus and reported sensory pain scores.</a:t>
            </a:r>
          </a:p>
        </p:txBody>
      </p:sp>
    </p:spTree>
    <p:extLst>
      <p:ext uri="{BB962C8B-B14F-4D97-AF65-F5344CB8AC3E}">
        <p14:creationId xmlns:p14="http://schemas.microsoft.com/office/powerpoint/2010/main" val="1982057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F147-1DCE-5548-9D2C-FC17B0C562B6}"/>
              </a:ext>
            </a:extLst>
          </p:cNvPr>
          <p:cNvSpPr>
            <a:spLocks noGrp="1"/>
          </p:cNvSpPr>
          <p:nvPr>
            <p:ph type="title"/>
          </p:nvPr>
        </p:nvSpPr>
        <p:spPr/>
        <p:txBody>
          <a:bodyPr/>
          <a:lstStyle/>
          <a:p>
            <a:r>
              <a:rPr lang="en-US" cap="all" dirty="0"/>
              <a:t>FIGURE 11.17</a:t>
            </a:r>
            <a:r>
              <a:rPr lang="en-US" dirty="0"/>
              <a:t>  PET scans showing endogenous opioid activation during sustained pain </a:t>
            </a:r>
          </a:p>
        </p:txBody>
      </p:sp>
      <p:pic>
        <p:nvPicPr>
          <p:cNvPr id="6" name="Content Placeholder 5" descr="A PET scan depicts endogenous opioid activation during sustained pain in 3 brain areas. The first one has N A c c area with a score of 4, Amy with a score of 3, and Thal with a score of 4 and surrounding areas with a score of 3.&#10;&#10;A PET scan depicts endogenous opioid activation during sustained pain in 3 brain areas. The first one has A C C area with a score of 4 and N A c c score of 3; the second has A C C score of 3 and surrounding areas with a score of 2; and Thal with a score of 4 and above areas with a score of 3 and 2 respectively."/>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792050"/>
            <a:ext cx="11376025" cy="5675538"/>
          </a:xfrm>
        </p:spPr>
      </p:pic>
    </p:spTree>
    <p:extLst>
      <p:ext uri="{BB962C8B-B14F-4D97-AF65-F5344CB8AC3E}">
        <p14:creationId xmlns:p14="http://schemas.microsoft.com/office/powerpoint/2010/main" val="39438141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(5 of 7)</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Opioids inhibit pain transmission at spinal and supraspinal levels</a:t>
            </a:r>
          </a:p>
          <a:p>
            <a:r>
              <a:rPr lang="en-US" dirty="0">
                <a:ea typeface="Geneva" pitchFamily="121" charset="-128"/>
              </a:rPr>
              <a:t>Several forms of pain control depend on opioids:</a:t>
            </a:r>
          </a:p>
          <a:p>
            <a:pPr lvl="1"/>
            <a:r>
              <a:rPr lang="en-US" dirty="0">
                <a:ea typeface="Geneva" pitchFamily="121" charset="-128"/>
              </a:rPr>
              <a:t>Acupuncture: releases endogenous opioids</a:t>
            </a:r>
          </a:p>
          <a:p>
            <a:pPr lvl="1"/>
            <a:r>
              <a:rPr lang="en-US" dirty="0">
                <a:ea typeface="Geneva" pitchFamily="121" charset="-128"/>
              </a:rPr>
              <a:t>Dual inhibition of peptidases: inhibit two enzymes that degrade </a:t>
            </a:r>
            <a:r>
              <a:rPr lang="en-US" altLang="en-US" dirty="0">
                <a:ea typeface="Geneva" pitchFamily="121" charset="-128"/>
              </a:rPr>
              <a:t>enkephalin</a:t>
            </a:r>
            <a:endParaRPr lang="en-US" dirty="0">
              <a:ea typeface="Geneva" pitchFamily="121" charset="-128"/>
            </a:endParaRPr>
          </a:p>
          <a:p>
            <a:pPr lvl="1"/>
            <a:r>
              <a:rPr lang="en-US" dirty="0">
                <a:ea typeface="Geneva" pitchFamily="121" charset="-128"/>
              </a:rPr>
              <a:t>Gene therapy: </a:t>
            </a:r>
            <a:r>
              <a:rPr lang="en-US" dirty="0"/>
              <a:t>gene for proenkephalin is introduced using a modified virus vector</a:t>
            </a:r>
            <a:endParaRPr lang="en-US" dirty="0">
              <a:ea typeface="Geneva" pitchFamily="121" charset="-128"/>
            </a:endParaRPr>
          </a:p>
        </p:txBody>
      </p:sp>
    </p:spTree>
    <p:extLst>
      <p:ext uri="{BB962C8B-B14F-4D97-AF65-F5344CB8AC3E}">
        <p14:creationId xmlns:p14="http://schemas.microsoft.com/office/powerpoint/2010/main" val="42547094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(6 of 7)</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sz="3200" dirty="0"/>
              <a:t>Opioids inhibit pain transmission at spinal and supraspinal levels</a:t>
            </a:r>
          </a:p>
          <a:p>
            <a:r>
              <a:rPr lang="en-US" dirty="0">
                <a:ea typeface="Geneva" pitchFamily="121" charset="-128"/>
              </a:rPr>
              <a:t>Several forms of pain control depend on opioids:</a:t>
            </a:r>
          </a:p>
          <a:p>
            <a:pPr lvl="1"/>
            <a:r>
              <a:rPr lang="en-US" dirty="0">
                <a:ea typeface="Geneva" pitchFamily="121" charset="-128"/>
              </a:rPr>
              <a:t>Dual </a:t>
            </a:r>
            <a:r>
              <a:rPr lang="el-GR" dirty="0">
                <a:ea typeface="Geneva" pitchFamily="121" charset="-128"/>
              </a:rPr>
              <a:t>μ-</a:t>
            </a:r>
            <a:r>
              <a:rPr lang="en-US" dirty="0">
                <a:ea typeface="Geneva" pitchFamily="121" charset="-128"/>
              </a:rPr>
              <a:t>receptor/NOP-R agonists: NOP-R stimulation will reduce some of the pain so less μ-receptor stimulation will be needed; fewer side effects</a:t>
            </a:r>
          </a:p>
          <a:p>
            <a:pPr lvl="1"/>
            <a:r>
              <a:rPr lang="en-US" dirty="0">
                <a:ea typeface="Geneva" pitchFamily="121" charset="-128"/>
              </a:rPr>
              <a:t>Biased opioid agonists: drugs selectively target opioid receptors in different constitutive states or in peripheral tissue; induces analgesia without side effects mediated by the CNS</a:t>
            </a:r>
          </a:p>
        </p:txBody>
      </p:sp>
    </p:spTree>
    <p:extLst>
      <p:ext uri="{BB962C8B-B14F-4D97-AF65-F5344CB8AC3E}">
        <p14:creationId xmlns:p14="http://schemas.microsoft.com/office/powerpoint/2010/main" val="39790651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Opioids and Pain </a:t>
            </a:r>
            <a:r>
              <a:rPr lang="en-US" sz="1200" dirty="0"/>
              <a:t>(7 of 7)</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sz="3200" dirty="0"/>
              <a:t>The main descending pathway that modifies pain information from the spinal cord originates in which structure?</a:t>
            </a:r>
          </a:p>
          <a:p>
            <a:pPr marL="914400" indent="-457200">
              <a:spcBef>
                <a:spcPts val="1200"/>
              </a:spcBef>
              <a:buFont typeface="Arial" pitchFamily="34" charset="0"/>
              <a:buAutoNum type="alphaLcPeriod"/>
            </a:pPr>
            <a:r>
              <a:rPr lang="en-US" sz="3200" dirty="0" err="1"/>
              <a:t>NAcc</a:t>
            </a:r>
            <a:endParaRPr lang="en-US" sz="3200" dirty="0"/>
          </a:p>
          <a:p>
            <a:pPr marL="914400" indent="-457200">
              <a:spcBef>
                <a:spcPts val="1200"/>
              </a:spcBef>
              <a:buFont typeface="Arial" pitchFamily="34" charset="0"/>
              <a:buAutoNum type="alphaLcPeriod"/>
            </a:pPr>
            <a:r>
              <a:rPr lang="en-US" sz="3200" dirty="0"/>
              <a:t>Thalamus </a:t>
            </a:r>
          </a:p>
          <a:p>
            <a:pPr marL="914400" indent="-457200">
              <a:spcBef>
                <a:spcPts val="1200"/>
              </a:spcBef>
              <a:buFont typeface="Arial" pitchFamily="34" charset="0"/>
              <a:buAutoNum type="alphaLcPeriod"/>
            </a:pPr>
            <a:r>
              <a:rPr lang="en-US" sz="3200" dirty="0"/>
              <a:t>PAG</a:t>
            </a:r>
          </a:p>
          <a:p>
            <a:pPr marL="914400" indent="-457200">
              <a:spcBef>
                <a:spcPts val="1200"/>
              </a:spcBef>
              <a:buFont typeface="Arial" pitchFamily="34" charset="0"/>
              <a:buAutoNum type="alphaLcPeriod"/>
            </a:pPr>
            <a:r>
              <a:rPr lang="en-US" sz="3200" dirty="0"/>
              <a:t>Anterior cingulate cortex</a:t>
            </a:r>
          </a:p>
        </p:txBody>
      </p:sp>
    </p:spTree>
    <p:extLst>
      <p:ext uri="{BB962C8B-B14F-4D97-AF65-F5344CB8AC3E}">
        <p14:creationId xmlns:p14="http://schemas.microsoft.com/office/powerpoint/2010/main" val="9121848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11.2.1  Describe how pain is initially perceived and explain how early and late pain signals are transmitted to the brain.</a:t>
            </a:r>
          </a:p>
          <a:p>
            <a:pPr marL="1371600" indent="-1371600">
              <a:lnSpc>
                <a:spcPct val="110000"/>
              </a:lnSpc>
              <a:buNone/>
            </a:pPr>
            <a:r>
              <a:rPr lang="en-US" dirty="0"/>
              <a:t>11.2.2  Explain how opioids interfere with neural pain signals to produce analgesia.</a:t>
            </a:r>
          </a:p>
          <a:p>
            <a:pPr marL="1371600" indent="-1371600">
              <a:lnSpc>
                <a:spcPct val="110000"/>
              </a:lnSpc>
              <a:buNone/>
            </a:pPr>
            <a:r>
              <a:rPr lang="en-US" dirty="0"/>
              <a:t>11.2.3  Describe other forms of pain control that rely on the endogenous opioid system.</a:t>
            </a:r>
          </a:p>
        </p:txBody>
      </p:sp>
    </p:spTree>
    <p:extLst>
      <p:ext uri="{BB962C8B-B14F-4D97-AF65-F5344CB8AC3E}">
        <p14:creationId xmlns:p14="http://schemas.microsoft.com/office/powerpoint/2010/main" val="2004085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 of 15)</a:t>
            </a:r>
            <a:endParaRPr lang="en-US" dirty="0"/>
          </a:p>
        </p:txBody>
      </p:sp>
      <p:sp>
        <p:nvSpPr>
          <p:cNvPr id="3" name="Text Placeholder 2"/>
          <p:cNvSpPr>
            <a:spLocks noGrp="1"/>
          </p:cNvSpPr>
          <p:nvPr>
            <p:ph idx="1"/>
          </p:nvPr>
        </p:nvSpPr>
        <p:spPr/>
        <p:txBody>
          <a:bodyPr>
            <a:normAutofit/>
          </a:bodyPr>
          <a:lstStyle/>
          <a:p>
            <a:r>
              <a:rPr lang="en-US" altLang="en-US" dirty="0">
                <a:ea typeface="Geneva" pitchFamily="121" charset="-128"/>
              </a:rPr>
              <a:t>Opioids have significant reinforcing properties and chronic use leads to tolerance and physical dependence.</a:t>
            </a:r>
          </a:p>
          <a:p>
            <a:r>
              <a:rPr lang="en-US" altLang="en-US" dirty="0">
                <a:ea typeface="Geneva" pitchFamily="121" charset="-128"/>
              </a:rPr>
              <a:t>Predicting which patients might become addicted is difficult; in future, pharmacogenetic testing may provide answers</a:t>
            </a:r>
          </a:p>
          <a:p>
            <a:r>
              <a:rPr lang="en-US" altLang="en-US" dirty="0">
                <a:ea typeface="Geneva" pitchFamily="121" charset="-128"/>
              </a:rPr>
              <a:t>CDC guidelines that limit use of opioids for pain control are aimed at reducing opioid misuse and deaths that often begin with prescription drugs</a:t>
            </a:r>
          </a:p>
        </p:txBody>
      </p:sp>
    </p:spTree>
    <p:extLst>
      <p:ext uri="{BB962C8B-B14F-4D97-AF65-F5344CB8AC3E}">
        <p14:creationId xmlns:p14="http://schemas.microsoft.com/office/powerpoint/2010/main" val="2885435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(2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Animal testing shows significant reinforcing properties</a:t>
            </a:r>
          </a:p>
          <a:p>
            <a:r>
              <a:rPr lang="en-US" altLang="en-US" dirty="0">
                <a:ea typeface="Geneva" pitchFamily="121" charset="-128"/>
              </a:rPr>
              <a:t>In animal studies, opioids lower the electrical current threshold for self-stimulation, indicating that the drugs enhance the brain reward mechanism.</a:t>
            </a:r>
          </a:p>
          <a:p>
            <a:r>
              <a:rPr lang="en-US" altLang="en-US" dirty="0">
                <a:ea typeface="Geneva" pitchFamily="121" charset="-128"/>
              </a:rPr>
              <a:t>Animals can learn to maintain stable blood levels by self-administration.</a:t>
            </a:r>
          </a:p>
          <a:p>
            <a:r>
              <a:rPr lang="en-US" altLang="en-US" dirty="0">
                <a:ea typeface="Geneva" pitchFamily="121" charset="-128"/>
              </a:rPr>
              <a:t>Reinforcement value and the pattern of opioid use in animals are quite similar to those seen in humans.</a:t>
            </a:r>
          </a:p>
        </p:txBody>
      </p:sp>
    </p:spTree>
    <p:extLst>
      <p:ext uri="{BB962C8B-B14F-4D97-AF65-F5344CB8AC3E}">
        <p14:creationId xmlns:p14="http://schemas.microsoft.com/office/powerpoint/2010/main" val="4889871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(3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Dopaminergic and nondopaminergic components contribute to opioid reinforcement</a:t>
            </a:r>
          </a:p>
          <a:p>
            <a:r>
              <a:rPr lang="en-US" dirty="0"/>
              <a:t>Dopaminergic mesolimbic pathway:</a:t>
            </a:r>
            <a:r>
              <a:rPr lang="en-US" dirty="0">
                <a:ea typeface="Geneva" pitchFamily="121" charset="-128"/>
              </a:rPr>
              <a:t> </a:t>
            </a:r>
            <a:r>
              <a:rPr lang="en-US" dirty="0"/>
              <a:t>originates in the VTA of the midbrain and projects to limbic areas, including the </a:t>
            </a:r>
            <a:r>
              <a:rPr lang="en-US" dirty="0" err="1"/>
              <a:t>NAcc</a:t>
            </a:r>
            <a:endParaRPr lang="en-US" dirty="0"/>
          </a:p>
          <a:p>
            <a:r>
              <a:rPr lang="en-US" dirty="0"/>
              <a:t>Opioid drugs inhibit inhibitory GABA cells, increasing mesolimbic cell firing and DA release in the </a:t>
            </a:r>
            <a:r>
              <a:rPr lang="en-US" dirty="0" err="1"/>
              <a:t>NAcc</a:t>
            </a:r>
            <a:r>
              <a:rPr lang="en-US" dirty="0"/>
              <a:t>.</a:t>
            </a:r>
          </a:p>
          <a:p>
            <a:r>
              <a:rPr lang="en-US" dirty="0"/>
              <a:t>The mesolimbic DA system may mediate aversive effects of opioids, as well as their reinforcing properties</a:t>
            </a:r>
          </a:p>
        </p:txBody>
      </p:sp>
    </p:spTree>
    <p:extLst>
      <p:ext uri="{BB962C8B-B14F-4D97-AF65-F5344CB8AC3E}">
        <p14:creationId xmlns:p14="http://schemas.microsoft.com/office/powerpoint/2010/main" val="666753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E58BE-1F4E-554F-82E3-73BF7BAE773A}"/>
              </a:ext>
            </a:extLst>
          </p:cNvPr>
          <p:cNvSpPr>
            <a:spLocks noGrp="1"/>
          </p:cNvSpPr>
          <p:nvPr>
            <p:ph type="title"/>
          </p:nvPr>
        </p:nvSpPr>
        <p:spPr/>
        <p:txBody>
          <a:bodyPr/>
          <a:lstStyle/>
          <a:p>
            <a:r>
              <a:rPr lang="en-US" cap="all" dirty="0"/>
              <a:t>FIGURE 11.18</a:t>
            </a:r>
            <a:r>
              <a:rPr lang="en-US" dirty="0"/>
              <a:t>  Model of the effects of opioids on mesolimbic dopaminergic cells </a:t>
            </a:r>
          </a:p>
        </p:txBody>
      </p:sp>
      <p:pic>
        <p:nvPicPr>
          <p:cNvPr id="6" name="Content Placeholder 5" descr="A three-part illustration depicts the model of the effects of opioids on mesolimbic dopaminergic cells. The first part depicts ventral tegmental area, VTA, having a GABA cell and a beta endorphin cell. The VTA is connected via a mesolimbic cell to the nucleus accumbens in the second part where a dynorphin connects with a D A. This leads to the ventral pallidum in the third par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503051"/>
            <a:ext cx="11376025" cy="4253535"/>
          </a:xfrm>
        </p:spPr>
      </p:pic>
    </p:spTree>
    <p:extLst>
      <p:ext uri="{BB962C8B-B14F-4D97-AF65-F5344CB8AC3E}">
        <p14:creationId xmlns:p14="http://schemas.microsoft.com/office/powerpoint/2010/main" val="14081651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(4 of 15)</a:t>
            </a:r>
            <a:endParaRPr lang="en-US" dirty="0"/>
          </a:p>
        </p:txBody>
      </p:sp>
      <p:sp>
        <p:nvSpPr>
          <p:cNvPr id="3" name="Text Placeholder 2"/>
          <p:cNvSpPr>
            <a:spLocks noGrp="1"/>
          </p:cNvSpPr>
          <p:nvPr>
            <p:ph idx="1"/>
          </p:nvPr>
        </p:nvSpPr>
        <p:spPr/>
        <p:txBody>
          <a:bodyPr>
            <a:normAutofit lnSpcReduction="10000"/>
          </a:bodyPr>
          <a:lstStyle/>
          <a:p>
            <a:pPr marL="457200" indent="-457200">
              <a:spcBef>
                <a:spcPts val="1200"/>
              </a:spcBef>
              <a:buNone/>
            </a:pPr>
            <a:r>
              <a:rPr lang="en-US" altLang="en-US" sz="3200" dirty="0"/>
              <a:t>Long-term opioid use produces tolerance, sensitization, and dependence</a:t>
            </a:r>
          </a:p>
          <a:p>
            <a:r>
              <a:rPr lang="en-US" b="1" dirty="0"/>
              <a:t>Tolerance</a:t>
            </a:r>
            <a:r>
              <a:rPr lang="en-US" dirty="0"/>
              <a:t>: diminishing effects of a drug with repeated use.</a:t>
            </a:r>
          </a:p>
          <a:p>
            <a:r>
              <a:rPr lang="en-US" b="1" dirty="0"/>
              <a:t>Cross-tolerance</a:t>
            </a:r>
            <a:r>
              <a:rPr lang="en-US" dirty="0"/>
              <a:t>: related drugs also show reduced effectiveness</a:t>
            </a:r>
          </a:p>
          <a:p>
            <a:r>
              <a:rPr lang="en-US" b="1" dirty="0"/>
              <a:t>Sensitization</a:t>
            </a:r>
            <a:r>
              <a:rPr lang="en-US" dirty="0"/>
              <a:t>: increase in drug effects with repeated administration; craving increases while liking may decrease</a:t>
            </a:r>
          </a:p>
          <a:p>
            <a:r>
              <a:rPr lang="en-US" b="1" dirty="0">
                <a:ea typeface="Geneva" pitchFamily="121" charset="-128"/>
              </a:rPr>
              <a:t>Physical dependence</a:t>
            </a:r>
            <a:r>
              <a:rPr lang="en-US" dirty="0">
                <a:ea typeface="Geneva" pitchFamily="121" charset="-128"/>
              </a:rPr>
              <a:t>: neuroadaptive state in response to long-term occupation of opioid receptors</a:t>
            </a:r>
          </a:p>
        </p:txBody>
      </p:sp>
    </p:spTree>
    <p:extLst>
      <p:ext uri="{BB962C8B-B14F-4D97-AF65-F5344CB8AC3E}">
        <p14:creationId xmlns:p14="http://schemas.microsoft.com/office/powerpoint/2010/main" val="30554554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(5 of 15)</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altLang="en-US" sz="3200" dirty="0"/>
              <a:t>Long-term opioid use produces tolerance, sensitization, and dependence</a:t>
            </a:r>
          </a:p>
          <a:p>
            <a:r>
              <a:rPr lang="en-US" altLang="en-US" b="1" dirty="0">
                <a:ea typeface="Geneva" pitchFamily="121" charset="-128"/>
              </a:rPr>
              <a:t>Withdrawal</a:t>
            </a:r>
            <a:r>
              <a:rPr lang="en-US" altLang="en-US" dirty="0">
                <a:ea typeface="Geneva" pitchFamily="121" charset="-128"/>
              </a:rPr>
              <a:t> or </a:t>
            </a:r>
            <a:r>
              <a:rPr lang="en-US" altLang="en-US" b="1" dirty="0">
                <a:ea typeface="Geneva" pitchFamily="121" charset="-128"/>
              </a:rPr>
              <a:t>abstinence syndrome</a:t>
            </a:r>
          </a:p>
          <a:p>
            <a:r>
              <a:rPr lang="en-US" altLang="en-US" dirty="0">
                <a:ea typeface="Geneva" pitchFamily="121" charset="-128"/>
              </a:rPr>
              <a:t>When the drug is no longer present, cell function returns to normal but also overshoots basal levels</a:t>
            </a:r>
          </a:p>
          <a:p>
            <a:r>
              <a:rPr lang="en-US" dirty="0"/>
              <a:t>Opioids in general depress CNS function; opioid withdrawal is rebound hyperactivity.</a:t>
            </a:r>
          </a:p>
          <a:p>
            <a:r>
              <a:rPr lang="en-US" altLang="en-US" b="1" dirty="0">
                <a:ea typeface="Geneva" pitchFamily="121" charset="-128"/>
              </a:rPr>
              <a:t>Cross-dependence</a:t>
            </a:r>
            <a:r>
              <a:rPr lang="en-US" altLang="en-US" dirty="0">
                <a:ea typeface="Geneva" pitchFamily="121" charset="-128"/>
              </a:rPr>
              <a:t>: administering any other opioid drug will stop or reduce withdrawal symptoms</a:t>
            </a:r>
          </a:p>
        </p:txBody>
      </p:sp>
    </p:spTree>
    <p:extLst>
      <p:ext uri="{BB962C8B-B14F-4D97-AF65-F5344CB8AC3E}">
        <p14:creationId xmlns:p14="http://schemas.microsoft.com/office/powerpoint/2010/main" val="1065029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Opioid Reinforcement, Tolerance, and Dependence </a:t>
            </a:r>
            <a:r>
              <a:rPr lang="en-US" sz="1200"/>
              <a:t>(6 of 15)</a:t>
            </a:r>
            <a:endParaRPr lang="en-US" dirty="0"/>
          </a:p>
        </p:txBody>
      </p:sp>
      <p:sp>
        <p:nvSpPr>
          <p:cNvPr id="3" name="Text Placeholder 2"/>
          <p:cNvSpPr>
            <a:spLocks noGrp="1"/>
          </p:cNvSpPr>
          <p:nvPr>
            <p:ph idx="1"/>
          </p:nvPr>
        </p:nvSpPr>
        <p:spPr/>
        <p:txBody>
          <a:bodyPr>
            <a:normAutofit/>
          </a:bodyPr>
          <a:lstStyle/>
          <a:p>
            <a:pPr marL="0" indent="0">
              <a:spcBef>
                <a:spcPts val="1800"/>
              </a:spcBef>
              <a:buNone/>
            </a:pPr>
            <a:r>
              <a:rPr lang="en-US" sz="2400" u="sng" dirty="0"/>
              <a:t>BOX 11.2  OF SPECIAL INTEREST</a:t>
            </a:r>
          </a:p>
          <a:p>
            <a:pPr marL="0" indent="0">
              <a:buNone/>
            </a:pPr>
            <a:r>
              <a:rPr lang="en-GB" sz="3200" i="1" dirty="0"/>
              <a:t>The Opioid Epidemic</a:t>
            </a:r>
          </a:p>
          <a:p>
            <a:r>
              <a:rPr lang="en-US" altLang="en-US" dirty="0"/>
              <a:t>The most significant factor: misleading and aggressive marketing of OxyContin to doctors and patients by the maker, Perdue Pharma</a:t>
            </a:r>
          </a:p>
          <a:p>
            <a:r>
              <a:rPr lang="en-US" altLang="en-US" dirty="0"/>
              <a:t>OxyContin became a popular street drug, and abuse and overdoses spread around the country</a:t>
            </a:r>
          </a:p>
          <a:p>
            <a:r>
              <a:rPr lang="en-US" altLang="en-US" dirty="0"/>
              <a:t>Heroin and counterfeit pills are now being adulterated with illicitly manufactured fentanyl, 50 times more potent than heroin</a:t>
            </a:r>
          </a:p>
        </p:txBody>
      </p:sp>
    </p:spTree>
    <p:extLst>
      <p:ext uri="{BB962C8B-B14F-4D97-AF65-F5344CB8AC3E}">
        <p14:creationId xmlns:p14="http://schemas.microsoft.com/office/powerpoint/2010/main" val="2568262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(7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Several brain areas contribute to the opioid abstinence syndrome</a:t>
            </a:r>
          </a:p>
          <a:p>
            <a:r>
              <a:rPr lang="en-US" dirty="0"/>
              <a:t>Animal models are used to determine which areas of the brain are involved in withdrawal signs.</a:t>
            </a:r>
            <a:endParaRPr lang="en-US" dirty="0">
              <a:ea typeface="Geneva" pitchFamily="121" charset="-128"/>
            </a:endParaRPr>
          </a:p>
          <a:p>
            <a:r>
              <a:rPr lang="en-US" dirty="0"/>
              <a:t>The LC and PAG are particularly sensitive to opioid antagonists in terms of precipitating withdrawal</a:t>
            </a:r>
          </a:p>
          <a:p>
            <a:r>
              <a:rPr lang="en-US" dirty="0" err="1"/>
              <a:t>NAcc</a:t>
            </a:r>
            <a:r>
              <a:rPr lang="en-US" dirty="0"/>
              <a:t> is important in reinforcement; may be important in aversive stimulus effects or motivational aspects of withdrawal</a:t>
            </a:r>
          </a:p>
        </p:txBody>
      </p:sp>
    </p:spTree>
    <p:extLst>
      <p:ext uri="{BB962C8B-B14F-4D97-AF65-F5344CB8AC3E}">
        <p14:creationId xmlns:p14="http://schemas.microsoft.com/office/powerpoint/2010/main" val="2749445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(8 of 15)</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ts val="1200"/>
              </a:spcBef>
              <a:buNone/>
            </a:pPr>
            <a:r>
              <a:rPr lang="en-US" altLang="en-US" sz="3500" dirty="0"/>
              <a:t>Neurobiological adaptation and rebound constitute tolerance and withdrawal</a:t>
            </a:r>
          </a:p>
          <a:p>
            <a:r>
              <a:rPr lang="en-US" dirty="0"/>
              <a:t>Classic hypothesis of opioid tolerance and dependence (1943): nervous system adapts to a drug; tolerance develops; when drug is withdrawn, adaptation causes rebound effects.</a:t>
            </a:r>
          </a:p>
          <a:p>
            <a:r>
              <a:rPr lang="en-US" dirty="0">
                <a:ea typeface="Geneva" pitchFamily="121" charset="-128"/>
              </a:rPr>
              <a:t>Opioids acutely inhibit adenylyl cyclase and cAMP production but cAMP returns to normal (tolerance), at withdrawal, cAMP levels increase dramatically</a:t>
            </a:r>
          </a:p>
          <a:p>
            <a:r>
              <a:rPr lang="en-US" dirty="0">
                <a:ea typeface="Geneva" pitchFamily="121" charset="-128"/>
              </a:rPr>
              <a:t>Multiple cellular mechanisms are likely responsible for tolerance development</a:t>
            </a:r>
          </a:p>
        </p:txBody>
      </p:sp>
    </p:spTree>
    <p:extLst>
      <p:ext uri="{BB962C8B-B14F-4D97-AF65-F5344CB8AC3E}">
        <p14:creationId xmlns:p14="http://schemas.microsoft.com/office/powerpoint/2010/main" val="2811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E5699-CE56-C044-9068-F853D31535EC}"/>
              </a:ext>
            </a:extLst>
          </p:cNvPr>
          <p:cNvSpPr>
            <a:spLocks noGrp="1"/>
          </p:cNvSpPr>
          <p:nvPr>
            <p:ph type="title"/>
          </p:nvPr>
        </p:nvSpPr>
        <p:spPr/>
        <p:txBody>
          <a:bodyPr/>
          <a:lstStyle/>
          <a:p>
            <a:r>
              <a:rPr lang="en-US" cap="all" dirty="0"/>
              <a:t>FIGURE 11.20</a:t>
            </a:r>
            <a:r>
              <a:rPr lang="en-US" dirty="0"/>
              <a:t>  Model of tolerance and withdrawal </a:t>
            </a:r>
          </a:p>
        </p:txBody>
      </p:sp>
      <p:pic>
        <p:nvPicPr>
          <p:cNvPr id="6" name="Content Placeholder 5" descr="An illustration depicts the flow of events in homeostasis. The flow is as follows from left to right: Homeostasis leading to an injection, disturbed homeostasis, an injection to the brain, homeostasis, no injection to the brain, ending with disturbed homeostasis.&#10;&#10;A line graph depicts the model of tolerance and withdrawal. The X axis measures Time and the Y axis, percentage of normal c A M P from 0 through 400 with increments of 100. The graph starts at 100 and is named Normal. It drops sharply due to beginning of morphine treatment, where it is named acute, then gradually moves up to 100 named as tolerance, then moves parallel to the X axis, named as dependence, then sharply rushes up to about 350 due to withdraw morphine abstinence, then tapers via withdrawal to 100 and goes parallel to the X axis, named as norma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420063" y="479425"/>
            <a:ext cx="5351874" cy="6300788"/>
          </a:xfrm>
        </p:spPr>
      </p:pic>
    </p:spTree>
    <p:extLst>
      <p:ext uri="{BB962C8B-B14F-4D97-AF65-F5344CB8AC3E}">
        <p14:creationId xmlns:p14="http://schemas.microsoft.com/office/powerpoint/2010/main" val="37445876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(9 of 15)</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ts val="1200"/>
              </a:spcBef>
              <a:buNone/>
            </a:pPr>
            <a:r>
              <a:rPr lang="en-US" altLang="en-US" sz="3500" dirty="0"/>
              <a:t>Environmental cues have a role in tolerance, drug abuse, and relapse</a:t>
            </a:r>
          </a:p>
          <a:p>
            <a:pPr>
              <a:spcBef>
                <a:spcPct val="45000"/>
              </a:spcBef>
              <a:defRPr/>
            </a:pPr>
            <a:r>
              <a:rPr lang="en-US" dirty="0"/>
              <a:t>Environmental cues can be classically conditioned to drug taking.</a:t>
            </a:r>
          </a:p>
          <a:p>
            <a:pPr>
              <a:spcBef>
                <a:spcPct val="45000"/>
              </a:spcBef>
              <a:defRPr/>
            </a:pPr>
            <a:r>
              <a:rPr lang="en-US" dirty="0"/>
              <a:t>After repeated administration in the same environment, animals show physiological signs of anticipation in that environment.</a:t>
            </a:r>
          </a:p>
          <a:p>
            <a:pPr>
              <a:spcBef>
                <a:spcPct val="45000"/>
              </a:spcBef>
              <a:defRPr/>
            </a:pPr>
            <a:r>
              <a:rPr lang="en-US" dirty="0"/>
              <a:t>Euphoria may be associated with </a:t>
            </a:r>
            <a:r>
              <a:rPr lang="en-US" altLang="en-US" dirty="0">
                <a:ea typeface="Geneva" pitchFamily="121" charset="-128"/>
              </a:rPr>
              <a:t>camaraderie of the drug-using subculture, drug acquisition activities and drug injection rituals, which become secondary reinforcers and act as </a:t>
            </a:r>
            <a:r>
              <a:rPr lang="en-US" altLang="en-US" b="1" dirty="0">
                <a:ea typeface="Geneva" pitchFamily="121" charset="-128"/>
              </a:rPr>
              <a:t>triggers</a:t>
            </a:r>
            <a:r>
              <a:rPr lang="en-US" altLang="en-US" dirty="0">
                <a:ea typeface="Geneva" pitchFamily="121" charset="-128"/>
              </a:rPr>
              <a:t> that promote drug taking</a:t>
            </a:r>
          </a:p>
          <a:p>
            <a:pPr>
              <a:spcBef>
                <a:spcPct val="45000"/>
              </a:spcBef>
              <a:defRPr/>
            </a:pPr>
            <a:r>
              <a:rPr lang="en-US" dirty="0"/>
              <a:t>A drug addict may find that tolerance is lowered in a new environment, which may contribute to overdosing.</a:t>
            </a:r>
          </a:p>
        </p:txBody>
      </p:sp>
    </p:spTree>
    <p:extLst>
      <p:ext uri="{BB962C8B-B14F-4D97-AF65-F5344CB8AC3E}">
        <p14:creationId xmlns:p14="http://schemas.microsoft.com/office/powerpoint/2010/main" val="7325365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(10 of 15)</a:t>
            </a:r>
            <a:endParaRPr lang="en-US" dirty="0"/>
          </a:p>
        </p:txBody>
      </p:sp>
      <p:sp>
        <p:nvSpPr>
          <p:cNvPr id="3" name="Text Placeholder 2"/>
          <p:cNvSpPr>
            <a:spLocks noGrp="1"/>
          </p:cNvSpPr>
          <p:nvPr>
            <p:ph idx="1"/>
          </p:nvPr>
        </p:nvSpPr>
        <p:spPr/>
        <p:txBody>
          <a:bodyPr>
            <a:normAutofit fontScale="92500"/>
          </a:bodyPr>
          <a:lstStyle/>
          <a:p>
            <a:pPr marL="457200" indent="-457200">
              <a:spcBef>
                <a:spcPts val="1200"/>
              </a:spcBef>
              <a:buNone/>
            </a:pPr>
            <a:r>
              <a:rPr lang="en-US" altLang="en-US" sz="3500" dirty="0"/>
              <a:t>Treatment programs for opioid use disorder</a:t>
            </a:r>
          </a:p>
          <a:p>
            <a:r>
              <a:rPr lang="en-US" altLang="en-US" dirty="0">
                <a:ea typeface="Geneva" pitchFamily="121" charset="-128"/>
              </a:rPr>
              <a:t>Treatment requires understanding the multiple contributors to the problem</a:t>
            </a:r>
          </a:p>
          <a:p>
            <a:r>
              <a:rPr lang="en-US" altLang="en-US" dirty="0">
                <a:ea typeface="Geneva" pitchFamily="121" charset="-128"/>
              </a:rPr>
              <a:t>Most drug treatment programs utilize a biopsychosocial model as the basis for therapy, into account the multidimensional nature of chronic drug use:</a:t>
            </a:r>
          </a:p>
          <a:p>
            <a:pPr lvl="1"/>
            <a:r>
              <a:rPr lang="en-US" altLang="en-US" dirty="0">
                <a:ea typeface="Geneva" pitchFamily="121" charset="-128"/>
              </a:rPr>
              <a:t>Physiological effects of the drug</a:t>
            </a:r>
          </a:p>
          <a:p>
            <a:pPr lvl="1"/>
            <a:r>
              <a:rPr lang="en-US" altLang="en-US" dirty="0">
                <a:ea typeface="Geneva" pitchFamily="121" charset="-128"/>
              </a:rPr>
              <a:t>Psychological status and history of drug use</a:t>
            </a:r>
          </a:p>
          <a:p>
            <a:pPr lvl="1"/>
            <a:r>
              <a:rPr lang="en-US" altLang="en-US" dirty="0">
                <a:ea typeface="Geneva" pitchFamily="121" charset="-128"/>
              </a:rPr>
              <a:t>Environmental factors that act as cues </a:t>
            </a:r>
          </a:p>
        </p:txBody>
      </p:sp>
    </p:spTree>
    <p:extLst>
      <p:ext uri="{BB962C8B-B14F-4D97-AF65-F5344CB8AC3E}">
        <p14:creationId xmlns:p14="http://schemas.microsoft.com/office/powerpoint/2010/main" val="42324823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(11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Detoxification is the first step in the therapeutic process</a:t>
            </a:r>
          </a:p>
          <a:p>
            <a:pPr eaLnBrk="1" hangingPunct="1"/>
            <a:r>
              <a:rPr lang="en-US" altLang="en-US" dirty="0">
                <a:ea typeface="Geneva" pitchFamily="121" charset="-128"/>
              </a:rPr>
              <a:t>Can be assisted by long-acting opioids, e.g., </a:t>
            </a:r>
            <a:r>
              <a:rPr lang="en-US" altLang="en-US" b="1" dirty="0">
                <a:ea typeface="Geneva" pitchFamily="121" charset="-128"/>
              </a:rPr>
              <a:t>methadone</a:t>
            </a:r>
            <a:r>
              <a:rPr lang="en-US" altLang="en-US" dirty="0">
                <a:ea typeface="Geneva" pitchFamily="121" charset="-128"/>
              </a:rPr>
              <a:t> – reduces symptoms to a comfortable level</a:t>
            </a:r>
          </a:p>
          <a:p>
            <a:pPr eaLnBrk="1" hangingPunct="1"/>
            <a:r>
              <a:rPr lang="en-US" b="1" dirty="0"/>
              <a:t>Clonidine:</a:t>
            </a:r>
            <a:r>
              <a:rPr lang="en-US" dirty="0"/>
              <a:t> (</a:t>
            </a:r>
            <a:r>
              <a:rPr lang="el-GR" dirty="0">
                <a:latin typeface="PalatinoLT-Roman"/>
              </a:rPr>
              <a:t>α</a:t>
            </a:r>
            <a:r>
              <a:rPr lang="en-US" dirty="0"/>
              <a:t>2-adrenergic agonist), acts on noradrenergic </a:t>
            </a:r>
            <a:r>
              <a:rPr lang="en-US" dirty="0" err="1"/>
              <a:t>autoreceptors</a:t>
            </a:r>
            <a:r>
              <a:rPr lang="en-US" dirty="0"/>
              <a:t> to reduce NE activity in the locus coeruleus</a:t>
            </a:r>
          </a:p>
          <a:p>
            <a:pPr eaLnBrk="1" hangingPunct="1"/>
            <a:r>
              <a:rPr lang="en-US" altLang="en-US" dirty="0">
                <a:ea typeface="Geneva" pitchFamily="121" charset="-128"/>
              </a:rPr>
              <a:t>Electroacupuncture is an alternative</a:t>
            </a:r>
          </a:p>
        </p:txBody>
      </p:sp>
    </p:spTree>
    <p:extLst>
      <p:ext uri="{BB962C8B-B14F-4D97-AF65-F5344CB8AC3E}">
        <p14:creationId xmlns:p14="http://schemas.microsoft.com/office/powerpoint/2010/main" val="8099054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(12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Treatment goals and programs rely on pharmacological support and counseling</a:t>
            </a:r>
          </a:p>
          <a:p>
            <a:r>
              <a:rPr lang="en-US" b="1" dirty="0"/>
              <a:t>Methadone maintenance program</a:t>
            </a:r>
            <a:r>
              <a:rPr lang="en-US" dirty="0"/>
              <a:t>: most common and effective treatment for heroin addiction </a:t>
            </a:r>
          </a:p>
          <a:p>
            <a:pPr>
              <a:defRPr/>
            </a:pPr>
            <a:r>
              <a:rPr lang="en-US" dirty="0"/>
              <a:t>Methadone has cross-dependence with heroin – prevents severe withdrawal symptoms; reduces euphoric effect of heroin.</a:t>
            </a:r>
          </a:p>
          <a:p>
            <a:r>
              <a:rPr lang="en-US" dirty="0"/>
              <a:t>Programs require daily supervised oral administration; reduces use of the needle and its ritual; reduces risk of unsterile needles </a:t>
            </a:r>
          </a:p>
        </p:txBody>
      </p:sp>
    </p:spTree>
    <p:extLst>
      <p:ext uri="{BB962C8B-B14F-4D97-AF65-F5344CB8AC3E}">
        <p14:creationId xmlns:p14="http://schemas.microsoft.com/office/powerpoint/2010/main" val="15904459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(13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Treatment goals and programs rely on pharmacological support and counseling</a:t>
            </a:r>
          </a:p>
          <a:p>
            <a:r>
              <a:rPr lang="en-US" b="1" dirty="0"/>
              <a:t>Buprenorphine</a:t>
            </a:r>
            <a:r>
              <a:rPr lang="en-US" dirty="0"/>
              <a:t> (</a:t>
            </a:r>
            <a:r>
              <a:rPr lang="en-US" b="1" dirty="0" err="1"/>
              <a:t>Buprenex</a:t>
            </a:r>
            <a:r>
              <a:rPr lang="en-US" dirty="0"/>
              <a:t>): opioid partial agonist used in the same way as methadone</a:t>
            </a:r>
          </a:p>
          <a:p>
            <a:r>
              <a:rPr lang="en-US" dirty="0"/>
              <a:t>Compared with psychological treatments alone or managed tapering off of opiate use, long-term maintenance with opioid agonists produces better treatment outcomes</a:t>
            </a:r>
          </a:p>
        </p:txBody>
      </p:sp>
    </p:spTree>
    <p:extLst>
      <p:ext uri="{BB962C8B-B14F-4D97-AF65-F5344CB8AC3E}">
        <p14:creationId xmlns:p14="http://schemas.microsoft.com/office/powerpoint/2010/main" val="968867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Opioid Reinforcement, Tolerance, and Dependence </a:t>
            </a:r>
            <a:r>
              <a:rPr lang="en-US" sz="1200" dirty="0"/>
              <a:t>(14 of 15)</a:t>
            </a:r>
            <a:endParaRPr lang="en-US" dirty="0"/>
          </a:p>
        </p:txBody>
      </p:sp>
      <p:sp>
        <p:nvSpPr>
          <p:cNvPr id="3" name="Text Placeholder 2"/>
          <p:cNvSpPr>
            <a:spLocks noGrp="1"/>
          </p:cNvSpPr>
          <p:nvPr>
            <p:ph idx="1"/>
          </p:nvPr>
        </p:nvSpPr>
        <p:spPr/>
        <p:txBody>
          <a:bodyPr>
            <a:normAutofit/>
          </a:bodyPr>
          <a:lstStyle/>
          <a:p>
            <a:pPr marL="457200" indent="-457200">
              <a:spcBef>
                <a:spcPts val="1200"/>
              </a:spcBef>
              <a:buNone/>
            </a:pPr>
            <a:r>
              <a:rPr lang="en-US" altLang="en-US" sz="3200" dirty="0"/>
              <a:t>Treatment goals and programs rely on pharmacological support and counseling</a:t>
            </a:r>
          </a:p>
          <a:p>
            <a:r>
              <a:rPr lang="en-US" altLang="en-US" dirty="0">
                <a:ea typeface="Geneva" pitchFamily="121" charset="-128"/>
              </a:rPr>
              <a:t>Narcotic antagonists such as Naltrexone (</a:t>
            </a:r>
            <a:r>
              <a:rPr lang="en-US" altLang="en-US" dirty="0" err="1">
                <a:ea typeface="Geneva" pitchFamily="121" charset="-128"/>
              </a:rPr>
              <a:t>Trexan</a:t>
            </a:r>
            <a:r>
              <a:rPr lang="en-US" altLang="en-US" dirty="0">
                <a:ea typeface="Geneva" pitchFamily="121" charset="-128"/>
              </a:rPr>
              <a:t>) and </a:t>
            </a:r>
            <a:r>
              <a:rPr lang="en-US" altLang="en-US" dirty="0" err="1">
                <a:ea typeface="Geneva" pitchFamily="121" charset="-128"/>
              </a:rPr>
              <a:t>Nalmefene</a:t>
            </a:r>
            <a:r>
              <a:rPr lang="en-US" altLang="en-US" dirty="0">
                <a:ea typeface="Geneva" pitchFamily="121" charset="-128"/>
              </a:rPr>
              <a:t> (</a:t>
            </a:r>
            <a:r>
              <a:rPr lang="en-US" altLang="en-US" dirty="0" err="1">
                <a:ea typeface="Geneva" pitchFamily="121" charset="-128"/>
              </a:rPr>
              <a:t>Revex</a:t>
            </a:r>
            <a:r>
              <a:rPr lang="en-US" altLang="en-US" dirty="0">
                <a:ea typeface="Geneva" pitchFamily="121" charset="-128"/>
              </a:rPr>
              <a:t>) are used in some programs; requires a great deal of motivation</a:t>
            </a:r>
          </a:p>
          <a:p>
            <a:r>
              <a:rPr lang="en-US" altLang="en-US" dirty="0">
                <a:ea typeface="Geneva" pitchFamily="121" charset="-128"/>
              </a:rPr>
              <a:t>Vaccines would produce antibodies to bind to the drug and prevent entry to the brain; no clinical trials yet</a:t>
            </a:r>
          </a:p>
          <a:p>
            <a:r>
              <a:rPr lang="en-US" altLang="en-US" b="1" dirty="0">
                <a:ea typeface="Geneva" pitchFamily="121" charset="-128"/>
              </a:rPr>
              <a:t>Medication-assisted treatment</a:t>
            </a:r>
            <a:r>
              <a:rPr lang="en-US" altLang="en-US" dirty="0">
                <a:ea typeface="Geneva" pitchFamily="121" charset="-128"/>
              </a:rPr>
              <a:t>:</a:t>
            </a:r>
            <a:r>
              <a:rPr lang="en-US" altLang="en-US" b="1" dirty="0">
                <a:ea typeface="Geneva" pitchFamily="121" charset="-128"/>
              </a:rPr>
              <a:t> </a:t>
            </a:r>
            <a:r>
              <a:rPr lang="en-US" altLang="en-US" dirty="0">
                <a:ea typeface="Geneva" pitchFamily="121" charset="-128"/>
              </a:rPr>
              <a:t>a combination of detoxification, pharmacological support, and group or individual counseling</a:t>
            </a:r>
          </a:p>
        </p:txBody>
      </p:sp>
    </p:spTree>
    <p:extLst>
      <p:ext uri="{BB962C8B-B14F-4D97-AF65-F5344CB8AC3E}">
        <p14:creationId xmlns:p14="http://schemas.microsoft.com/office/powerpoint/2010/main" val="24536164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Opioid Reinforcement, Tolerance, and Dependence </a:t>
            </a:r>
            <a:r>
              <a:rPr lang="en-US" sz="1200" dirty="0"/>
              <a:t>(15 of 15)</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3</a:t>
            </a:r>
          </a:p>
          <a:p>
            <a:pPr marL="457200" indent="-457200">
              <a:spcBef>
                <a:spcPts val="2400"/>
              </a:spcBef>
              <a:buNone/>
            </a:pPr>
            <a:r>
              <a:rPr lang="en-US" sz="3200" dirty="0"/>
              <a:t>Studies of reinforcement suggest that opioid drugs produce their effects by inhibiting </a:t>
            </a:r>
          </a:p>
          <a:p>
            <a:pPr marL="914400" indent="-457200">
              <a:spcBef>
                <a:spcPts val="1200"/>
              </a:spcBef>
              <a:buFont typeface="Arial" pitchFamily="34" charset="0"/>
              <a:buAutoNum type="alphaLcPeriod"/>
            </a:pPr>
            <a:r>
              <a:rPr lang="en-US" sz="3200" dirty="0"/>
              <a:t>dynorphin.</a:t>
            </a:r>
          </a:p>
          <a:p>
            <a:pPr marL="914400" indent="-457200">
              <a:spcBef>
                <a:spcPts val="1200"/>
              </a:spcBef>
              <a:buFont typeface="Arial" pitchFamily="34" charset="0"/>
              <a:buAutoNum type="alphaLcPeriod"/>
            </a:pPr>
            <a:r>
              <a:rPr lang="en-US" sz="3200" dirty="0"/>
              <a:t>dopamine.</a:t>
            </a:r>
          </a:p>
          <a:p>
            <a:pPr marL="914400" indent="-457200">
              <a:spcBef>
                <a:spcPts val="1200"/>
              </a:spcBef>
              <a:buFont typeface="Arial" pitchFamily="34" charset="0"/>
              <a:buAutoNum type="alphaLcPeriod"/>
            </a:pPr>
            <a:r>
              <a:rPr lang="en-US" sz="3200" dirty="0"/>
              <a:t>GABA.</a:t>
            </a:r>
          </a:p>
          <a:p>
            <a:pPr marL="914400" indent="-457200">
              <a:spcBef>
                <a:spcPts val="1200"/>
              </a:spcBef>
              <a:buFont typeface="Arial" pitchFamily="34" charset="0"/>
              <a:buAutoNum type="alphaLcPeriod"/>
            </a:pPr>
            <a:r>
              <a:rPr lang="el-GR" sz="3200" dirty="0"/>
              <a:t>β-</a:t>
            </a:r>
            <a:r>
              <a:rPr lang="en-US" sz="3200" dirty="0"/>
              <a:t>endorphin.</a:t>
            </a:r>
          </a:p>
        </p:txBody>
      </p:sp>
    </p:spTree>
    <p:extLst>
      <p:ext uri="{BB962C8B-B14F-4D97-AF65-F5344CB8AC3E}">
        <p14:creationId xmlns:p14="http://schemas.microsoft.com/office/powerpoint/2010/main" val="7007047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fontScale="92500" lnSpcReduction="20000"/>
          </a:bodyPr>
          <a:lstStyle/>
          <a:p>
            <a:pPr marL="1371600" indent="-1371600">
              <a:lnSpc>
                <a:spcPct val="120000"/>
              </a:lnSpc>
              <a:spcBef>
                <a:spcPts val="600"/>
              </a:spcBef>
              <a:buNone/>
            </a:pPr>
            <a:r>
              <a:rPr lang="en-US" dirty="0"/>
              <a:t>11.3.1  Describe the evidence showing that opioid drugs exert highly reinforcing effects in both humans and non-human animals.</a:t>
            </a:r>
          </a:p>
          <a:p>
            <a:pPr marL="1371600" indent="-1371600">
              <a:lnSpc>
                <a:spcPct val="120000"/>
              </a:lnSpc>
              <a:spcBef>
                <a:spcPts val="600"/>
              </a:spcBef>
              <a:buNone/>
            </a:pPr>
            <a:r>
              <a:rPr lang="en-US" dirty="0"/>
              <a:t>11.3.2  Describe the neural circuitry that underlies the reinforcing effects of opioids.</a:t>
            </a:r>
          </a:p>
          <a:p>
            <a:pPr marL="1371600" indent="-1371600">
              <a:lnSpc>
                <a:spcPct val="120000"/>
              </a:lnSpc>
              <a:spcBef>
                <a:spcPts val="600"/>
              </a:spcBef>
              <a:buNone/>
            </a:pPr>
            <a:r>
              <a:rPr lang="en-US" dirty="0"/>
              <a:t>11.3.3  Explain how tolerance and physical dependence develop and describe the neural mechanisms that explain these phenomena.</a:t>
            </a:r>
          </a:p>
          <a:p>
            <a:pPr marL="1371600" indent="-1371600">
              <a:lnSpc>
                <a:spcPct val="120000"/>
              </a:lnSpc>
              <a:spcBef>
                <a:spcPts val="600"/>
              </a:spcBef>
              <a:buNone/>
            </a:pPr>
            <a:r>
              <a:rPr lang="en-US" dirty="0"/>
              <a:t>11.3.4  Describe how pharmacotherapy with methadone or buprenorphine works to help individuals with opioid use disorder remain abstinent.</a:t>
            </a:r>
          </a:p>
          <a:p>
            <a:pPr marL="1371600" indent="-1371600">
              <a:lnSpc>
                <a:spcPct val="120000"/>
              </a:lnSpc>
              <a:spcBef>
                <a:spcPts val="600"/>
              </a:spcBef>
              <a:buNone/>
            </a:pPr>
            <a:r>
              <a:rPr lang="en-US" dirty="0"/>
              <a:t>11.3.5  Explain how new approaches to preventing and treating opioid use disorder, such as compounding opioids with antagonists, or opioid vaccines, may be effective.</a:t>
            </a:r>
          </a:p>
        </p:txBody>
      </p:sp>
    </p:spTree>
    <p:extLst>
      <p:ext uri="{BB962C8B-B14F-4D97-AF65-F5344CB8AC3E}">
        <p14:creationId xmlns:p14="http://schemas.microsoft.com/office/powerpoint/2010/main" val="669038242"/>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99">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56919D-3723-464B-9967-427A087CBD61}">
  <ds:schemaRefs>
    <ds:schemaRef ds:uri="http://schemas.microsoft.com/office/2006/metadata/properties"/>
    <ds:schemaRef ds:uri="fd39d560-5c7d-4158-98a0-f420f8fdebce"/>
    <ds:schemaRef ds:uri="http://schemas.microsoft.com/office/2006/documentManagement/type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3449</TotalTime>
  <Words>4144</Words>
  <Application>Microsoft Office PowerPoint</Application>
  <PresentationFormat>Widescreen</PresentationFormat>
  <Paragraphs>429</Paragraphs>
  <Slides>68</Slides>
  <Notes>61</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68</vt:i4>
      </vt:variant>
    </vt:vector>
  </HeadingPairs>
  <TitlesOfParts>
    <vt:vector size="82" baseType="lpstr">
      <vt:lpstr>ＭＳ Ｐゴシック</vt:lpstr>
      <vt:lpstr>Arial</vt:lpstr>
      <vt:lpstr>Calibri</vt:lpstr>
      <vt:lpstr>Courier New</vt:lpstr>
      <vt:lpstr>DINPro-Bold</vt:lpstr>
      <vt:lpstr>DINPro-Light</vt:lpstr>
      <vt:lpstr>Geneva</vt:lpstr>
      <vt:lpstr>PalatinoLT-Roman</vt:lpstr>
      <vt:lpstr>PalatinoLTStd-Italic</vt:lpstr>
      <vt:lpstr>PalatinoLTStd-Roman</vt:lpstr>
      <vt:lpstr>STIXTwoText</vt:lpstr>
      <vt:lpstr>Times New Roman</vt:lpstr>
      <vt:lpstr>Text Content Templates</vt:lpstr>
      <vt:lpstr>Figure-Only Templates</vt:lpstr>
      <vt:lpstr>Psychopharmacology: Drugs, the Brain, and Behavior</vt:lpstr>
      <vt:lpstr>Chapter 11 The Opioids</vt:lpstr>
      <vt:lpstr>Chapter 11 Learning Objectives (1 of 3)</vt:lpstr>
      <vt:lpstr>Chapter 11 Learning Objectives (2 of 3)</vt:lpstr>
      <vt:lpstr>Chapter 11 Learning Objectives (3 of 3)</vt:lpstr>
      <vt:lpstr>Narcotic Analgesics (1 of 18)</vt:lpstr>
      <vt:lpstr>Narcotic Analgesics (2 of 18)</vt:lpstr>
      <vt:lpstr>Narcotic Analgesics (3 of 18)</vt:lpstr>
      <vt:lpstr>FIGURE 11.3  Molecular structure of morphine, codeine, heroin, and naloxone </vt:lpstr>
      <vt:lpstr>Narcotic Analgesics (4 of 18)</vt:lpstr>
      <vt:lpstr>FIGURE 11.5  Relationship of selected natural and synthetic opioid drugs </vt:lpstr>
      <vt:lpstr>Narcotic Analgesics (5 of 18)</vt:lpstr>
      <vt:lpstr>Narcotic Analgesics (6 of 18)</vt:lpstr>
      <vt:lpstr>Narcotic Analgesics (7 of 18)</vt:lpstr>
      <vt:lpstr>Narcotic Analgesics (8 of 18)</vt:lpstr>
      <vt:lpstr>Narcotic Analgesics (9 of 18)</vt:lpstr>
      <vt:lpstr>Narcotic Analgesics (10 of 18)</vt:lpstr>
      <vt:lpstr>FIGURE 11.6  Opioid receptor binding </vt:lpstr>
      <vt:lpstr>Narcotic Analgesics (11 of 18)</vt:lpstr>
      <vt:lpstr>Narcotic Analgesics (12 of 18)</vt:lpstr>
      <vt:lpstr>Narcotic Analgesics (13 of 18)</vt:lpstr>
      <vt:lpstr>FIGURE 11.8  Autoradiograms of opioid receptor subtype binding in rat brain </vt:lpstr>
      <vt:lpstr>FIGURE 11.9  Proposed structure of the δ-opioid receptor </vt:lpstr>
      <vt:lpstr>Narcotic Analgesics (14 of 18)</vt:lpstr>
      <vt:lpstr>Box 11.1  The Cutting Edge: Science in Action (Part 1)</vt:lpstr>
      <vt:lpstr>Box 11.1  The Cutting Edge: Science in Action (Part 2)</vt:lpstr>
      <vt:lpstr>Box 11.1  The Cutting Edge: Science in Action (Part 3)</vt:lpstr>
      <vt:lpstr>Box 11.1  The Cutting Edge: Science in Action (Part 4)</vt:lpstr>
      <vt:lpstr>Box 11.1  The Cutting Edge: Science in Action (Part 5)</vt:lpstr>
      <vt:lpstr>Narcotic Analgesics (15 of 18)</vt:lpstr>
      <vt:lpstr>FIGURE 11.10  The four opioid propeptides and some of their possible products </vt:lpstr>
      <vt:lpstr>Narcotic Analgesics (16 of 18)</vt:lpstr>
      <vt:lpstr>FIGURE 11.11  Hypothalamic control of ACTH and β-endorphin release (1)</vt:lpstr>
      <vt:lpstr>Narcotic Analgesics (17 of 18)</vt:lpstr>
      <vt:lpstr>FIGURE 11.12  Inhibitory actions of endogenous opioids (1) </vt:lpstr>
      <vt:lpstr>Narcotic Analgesics (18 of 18)</vt:lpstr>
      <vt:lpstr>Review of Learning Objectives (1 of 3)</vt:lpstr>
      <vt:lpstr>Opioids and Pain (1 of 7)</vt:lpstr>
      <vt:lpstr>FIGURE 11.13  Ascending pain pathways</vt:lpstr>
      <vt:lpstr>Opioids and Pain (2 of 7)</vt:lpstr>
      <vt:lpstr>FIGURE 11.14  Location and time course of pain-evoked neural activity in humans </vt:lpstr>
      <vt:lpstr>Opioids and Pain (3 of 7)</vt:lpstr>
      <vt:lpstr>FIGURE 11.15  Pain transmission in the spinal cord </vt:lpstr>
      <vt:lpstr>FIGURE 11.16  Descending pain modulation pathways </vt:lpstr>
      <vt:lpstr>Opioids and Pain (4 of 7)</vt:lpstr>
      <vt:lpstr>FIGURE 11.17  PET scans showing endogenous opioid activation during sustained pain </vt:lpstr>
      <vt:lpstr>Opioids and Pain (5 of 7)</vt:lpstr>
      <vt:lpstr>Opioids and Pain (6 of 7)</vt:lpstr>
      <vt:lpstr>Opioids and Pain (7 of 7)</vt:lpstr>
      <vt:lpstr>Review of Learning Objectives (2 of 3)</vt:lpstr>
      <vt:lpstr>Opioid Reinforcement, Tolerance, and Dependence (1 of 15)</vt:lpstr>
      <vt:lpstr>Opioid Reinforcement, Tolerance, and Dependence (2 of 15)</vt:lpstr>
      <vt:lpstr>Opioid Reinforcement, Tolerance, and Dependence (3 of 15)</vt:lpstr>
      <vt:lpstr>FIGURE 11.18  Model of the effects of opioids on mesolimbic dopaminergic cells </vt:lpstr>
      <vt:lpstr>Opioid Reinforcement, Tolerance, and Dependence (4 of 15)</vt:lpstr>
      <vt:lpstr>Opioid Reinforcement, Tolerance, and Dependence (5 of 15)</vt:lpstr>
      <vt:lpstr>Opioid Reinforcement, Tolerance, and Dependence (6 of 15)</vt:lpstr>
      <vt:lpstr>Opioid Reinforcement, Tolerance, and Dependence (7 of 15)</vt:lpstr>
      <vt:lpstr>Opioid Reinforcement, Tolerance, and Dependence (8 of 15)</vt:lpstr>
      <vt:lpstr>FIGURE 11.20  Model of tolerance and withdrawal </vt:lpstr>
      <vt:lpstr>Opioid Reinforcement, Tolerance, and Dependence (9 of 15)</vt:lpstr>
      <vt:lpstr>Opioid Reinforcement, Tolerance, and Dependence (10 of 15)</vt:lpstr>
      <vt:lpstr>Opioid Reinforcement, Tolerance, and Dependence (11 of 15)</vt:lpstr>
      <vt:lpstr>Opioid Reinforcement, Tolerance, and Dependence (12 of 15)</vt:lpstr>
      <vt:lpstr>Opioid Reinforcement, Tolerance, and Dependence (13 of 15)</vt:lpstr>
      <vt:lpstr>Opioid Reinforcement, Tolerance, and Dependence (14 of 15)</vt:lpstr>
      <vt:lpstr>Opioid Reinforcement, Tolerance, and Dependence (15 of 15)</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34</cp:revision>
  <dcterms:created xsi:type="dcterms:W3CDTF">2021-11-13T04:08:54Z</dcterms:created>
  <dcterms:modified xsi:type="dcterms:W3CDTF">2022-03-11T22:15:15Z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