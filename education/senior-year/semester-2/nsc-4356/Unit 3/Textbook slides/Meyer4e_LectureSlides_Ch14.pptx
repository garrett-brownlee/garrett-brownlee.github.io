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1" r:id="rId5"/>
  </p:sldMasterIdLst>
  <p:notesMasterIdLst>
    <p:notesMasterId r:id="rId66"/>
  </p:notesMasterIdLst>
  <p:handoutMasterIdLst>
    <p:handoutMasterId r:id="rId67"/>
  </p:handoutMasterIdLst>
  <p:sldIdLst>
    <p:sldId id="341" r:id="rId6"/>
    <p:sldId id="270" r:id="rId7"/>
    <p:sldId id="274" r:id="rId8"/>
    <p:sldId id="342" r:id="rId9"/>
    <p:sldId id="288" r:id="rId10"/>
    <p:sldId id="343" r:id="rId11"/>
    <p:sldId id="271" r:id="rId12"/>
    <p:sldId id="289" r:id="rId13"/>
    <p:sldId id="290" r:id="rId14"/>
    <p:sldId id="348" r:id="rId15"/>
    <p:sldId id="349" r:id="rId16"/>
    <p:sldId id="291" r:id="rId17"/>
    <p:sldId id="350" r:id="rId18"/>
    <p:sldId id="344" r:id="rId19"/>
    <p:sldId id="296" r:id="rId20"/>
    <p:sldId id="351" r:id="rId21"/>
    <p:sldId id="297" r:id="rId22"/>
    <p:sldId id="299" r:id="rId23"/>
    <p:sldId id="300" r:id="rId24"/>
    <p:sldId id="352" r:id="rId25"/>
    <p:sldId id="293" r:id="rId26"/>
    <p:sldId id="301" r:id="rId27"/>
    <p:sldId id="303" r:id="rId28"/>
    <p:sldId id="353" r:id="rId29"/>
    <p:sldId id="354" r:id="rId30"/>
    <p:sldId id="307" r:id="rId31"/>
    <p:sldId id="355" r:id="rId32"/>
    <p:sldId id="286" r:id="rId33"/>
    <p:sldId id="285" r:id="rId34"/>
    <p:sldId id="345" r:id="rId35"/>
    <p:sldId id="306" r:id="rId36"/>
    <p:sldId id="310" r:id="rId37"/>
    <p:sldId id="356" r:id="rId38"/>
    <p:sldId id="311" r:id="rId39"/>
    <p:sldId id="357" r:id="rId40"/>
    <p:sldId id="313" r:id="rId41"/>
    <p:sldId id="358" r:id="rId42"/>
    <p:sldId id="315" r:id="rId43"/>
    <p:sldId id="319" r:id="rId44"/>
    <p:sldId id="346" r:id="rId45"/>
    <p:sldId id="317" r:id="rId46"/>
    <p:sldId id="359" r:id="rId47"/>
    <p:sldId id="321" r:id="rId48"/>
    <p:sldId id="360" r:id="rId49"/>
    <p:sldId id="361" r:id="rId50"/>
    <p:sldId id="322" r:id="rId51"/>
    <p:sldId id="323" r:id="rId52"/>
    <p:sldId id="362" r:id="rId53"/>
    <p:sldId id="324" r:id="rId54"/>
    <p:sldId id="328" r:id="rId55"/>
    <p:sldId id="329" r:id="rId56"/>
    <p:sldId id="363" r:id="rId57"/>
    <p:sldId id="330" r:id="rId58"/>
    <p:sldId id="364" r:id="rId59"/>
    <p:sldId id="365" r:id="rId60"/>
    <p:sldId id="333" r:id="rId61"/>
    <p:sldId id="338" r:id="rId62"/>
    <p:sldId id="366" r:id="rId63"/>
    <p:sldId id="337" r:id="rId64"/>
    <p:sldId id="347"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66" autoAdjust="0"/>
    <p:restoredTop sz="83350" autoAdjust="0"/>
  </p:normalViewPr>
  <p:slideViewPr>
    <p:cSldViewPr snapToGrid="0" snapToObjects="1">
      <p:cViewPr varScale="1">
        <p:scale>
          <a:sx n="75" d="100"/>
          <a:sy n="75" d="100"/>
        </p:scale>
        <p:origin x="90" y="840"/>
      </p:cViewPr>
      <p:guideLst>
        <p:guide orient="horz" pos="2160"/>
        <p:guide pos="3840"/>
      </p:guideLst>
    </p:cSldViewPr>
  </p:slideViewPr>
  <p:outlineViewPr>
    <p:cViewPr>
      <p:scale>
        <a:sx n="33" d="100"/>
        <a:sy n="33" d="100"/>
      </p:scale>
      <p:origin x="0" y="-50334"/>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3/25/2022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3/25/2022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6C0744-2FEF-4441-821D-70180A3709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THC content of cannabis has increased recently, attributed to a shift of production from “regular” marijuana to sinsemilla.</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3874675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200" b="0" i="0" u="none" strike="noStrike" baseline="0" dirty="0">
                <a:latin typeface="PalatinoLTStd-Roman"/>
              </a:rPr>
              <a:t>The strains of hemp that are used for fiber and other non-recreational purposes have very low, non-intoxicating levels of THC. This helps explain why Washington and other hemp farmers</a:t>
            </a:r>
          </a:p>
          <a:p>
            <a:pPr algn="l"/>
            <a:r>
              <a:rPr lang="en-US" sz="1200" b="0" i="0" u="none" strike="noStrike" baseline="0" dirty="0">
                <a:latin typeface="PalatinoLTStd-Roman"/>
              </a:rPr>
              <a:t>of that period were ignorant of the psychoactive effects associated with high-THC strains of the plant.</a:t>
            </a:r>
            <a:endParaRPr lang="en-US" u="sng" dirty="0"/>
          </a:p>
          <a:p>
            <a:endParaRPr lang="en-US" u="sng" dirty="0"/>
          </a:p>
          <a:p>
            <a:pPr algn="l"/>
            <a:r>
              <a:rPr lang="en-US" sz="1800" b="0" i="0" u="none" strike="noStrike" baseline="0" dirty="0">
                <a:latin typeface="PalatinoLTStd-Roman"/>
              </a:rPr>
              <a:t>Marijuana Tax Act: instituted a national registration and taxation system aimed at discouraging all use of cannabis for commercial, recreational, and medical purposes</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500444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14.4  An 8000-year timeline of cannabis use around the world 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After S. R. Childers and C. S. </a:t>
            </a:r>
            <a:r>
              <a:rPr lang="en-US" sz="1200" kern="1200" dirty="0" err="1">
                <a:solidFill>
                  <a:schemeClr val="tx1"/>
                </a:solidFill>
                <a:effectLst/>
                <a:latin typeface="+mn-lt"/>
                <a:ea typeface="+mn-ea"/>
                <a:cs typeface="+mn-cs"/>
              </a:rPr>
              <a:t>Breivogel</a:t>
            </a:r>
            <a:r>
              <a:rPr lang="en-US" sz="1200" kern="1200" dirty="0">
                <a:solidFill>
                  <a:schemeClr val="tx1"/>
                </a:solidFill>
                <a:effectLst/>
                <a:latin typeface="+mn-lt"/>
                <a:ea typeface="+mn-ea"/>
                <a:cs typeface="+mn-cs"/>
              </a:rPr>
              <a:t>. 1998. </a:t>
            </a:r>
            <a:r>
              <a:rPr lang="en-US" sz="1200" i="1" kern="1200" dirty="0">
                <a:solidFill>
                  <a:schemeClr val="tx1"/>
                </a:solidFill>
                <a:effectLst/>
                <a:latin typeface="+mn-lt"/>
                <a:ea typeface="+mn-ea"/>
                <a:cs typeface="+mn-cs"/>
              </a:rPr>
              <a:t>Drug Alcohol Depend</a:t>
            </a:r>
            <a:r>
              <a:rPr lang="en-US" sz="1200" kern="1200" dirty="0">
                <a:solidFill>
                  <a:schemeClr val="tx1"/>
                </a:solidFill>
                <a:effectLst/>
                <a:latin typeface="+mn-lt"/>
                <a:ea typeface="+mn-ea"/>
                <a:cs typeface="+mn-cs"/>
              </a:rPr>
              <a:t> 51: 173–187. © 1998 Elsevier Science Ireland Ltd.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23340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14.5  Poster advertising the 1936 film </a:t>
            </a:r>
            <a:r>
              <a:rPr lang="en-US" sz="1200" b="1" i="1" kern="1200" dirty="0">
                <a:solidFill>
                  <a:schemeClr val="tx1"/>
                </a:solidFill>
                <a:effectLst/>
                <a:latin typeface="+mn-lt"/>
                <a:ea typeface="+mn-ea"/>
                <a:cs typeface="+mn-cs"/>
              </a:rPr>
              <a:t>Reefer Madness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50410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9222442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14.7  Mean time course of plasma THC concentrations</a:t>
            </a:r>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Data were obtained from individuals who smoked a marijuana cigarette containing approximately 9 mg of THC at the two time points indicated by the arrows. (After S. </a:t>
            </a:r>
            <a:r>
              <a:rPr lang="en-US" sz="1200" kern="1200" dirty="0" err="1">
                <a:solidFill>
                  <a:schemeClr val="tx1"/>
                </a:solidFill>
                <a:effectLst/>
                <a:latin typeface="+mn-lt"/>
                <a:ea typeface="+mn-ea"/>
                <a:cs typeface="+mn-cs"/>
              </a:rPr>
              <a:t>Agurell</a:t>
            </a:r>
            <a:r>
              <a:rPr lang="en-US" sz="1200" kern="1200" dirty="0">
                <a:solidFill>
                  <a:schemeClr val="tx1"/>
                </a:solidFill>
                <a:effectLst/>
                <a:latin typeface="+mn-lt"/>
                <a:ea typeface="+mn-ea"/>
                <a:cs typeface="+mn-cs"/>
              </a:rPr>
              <a:t> et al. 1986. </a:t>
            </a:r>
            <a:r>
              <a:rPr lang="en-US" sz="1200" i="1" kern="1200" dirty="0" err="1">
                <a:solidFill>
                  <a:schemeClr val="tx1"/>
                </a:solidFill>
                <a:effectLst/>
                <a:latin typeface="+mn-lt"/>
                <a:ea typeface="+mn-ea"/>
                <a:cs typeface="+mn-cs"/>
              </a:rPr>
              <a:t>Pharmacol</a:t>
            </a:r>
            <a:r>
              <a:rPr lang="en-US" sz="1200" i="1" kern="1200" dirty="0">
                <a:solidFill>
                  <a:schemeClr val="tx1"/>
                </a:solidFill>
                <a:effectLst/>
                <a:latin typeface="+mn-lt"/>
                <a:ea typeface="+mn-ea"/>
                <a:cs typeface="+mn-cs"/>
              </a:rPr>
              <a:t> Rev</a:t>
            </a:r>
            <a:r>
              <a:rPr lang="en-US" sz="1200" kern="1200" dirty="0">
                <a:solidFill>
                  <a:schemeClr val="tx1"/>
                </a:solidFill>
                <a:effectLst/>
                <a:latin typeface="+mn-lt"/>
                <a:ea typeface="+mn-ea"/>
                <a:cs typeface="+mn-cs"/>
              </a:rPr>
              <a:t> 38: 21–43; and G. Barnet et al. 1982.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Pharmacokinet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Biopharm</a:t>
            </a:r>
            <a:r>
              <a:rPr lang="en-US" sz="1200" kern="1200" dirty="0">
                <a:solidFill>
                  <a:schemeClr val="tx1"/>
                </a:solidFill>
                <a:effectLst/>
                <a:latin typeface="+mn-lt"/>
                <a:ea typeface="+mn-ea"/>
                <a:cs typeface="+mn-cs"/>
              </a:rPr>
              <a:t> 10: 495–506.)</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3677165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CB receptors are </a:t>
            </a:r>
            <a:r>
              <a:rPr lang="en-US" sz="1800" b="0" i="0" u="none" strike="noStrike" baseline="0" dirty="0" err="1">
                <a:latin typeface="PalatinoLTStd-Roman"/>
              </a:rPr>
              <a:t>metabatropic</a:t>
            </a:r>
            <a:r>
              <a:rPr lang="en-US" sz="1800" b="0" i="0" u="none" strike="noStrike" baseline="0" dirty="0">
                <a:latin typeface="PalatinoLTStd-Roman"/>
              </a:rPr>
              <a:t>: coupling to G proteins G</a:t>
            </a:r>
            <a:r>
              <a:rPr lang="en-US" sz="1800" b="0" i="0" u="none" strike="noStrike" baseline="-25000" dirty="0">
                <a:latin typeface="PalatinoLTStd-Roman"/>
              </a:rPr>
              <a:t>i</a:t>
            </a:r>
            <a:r>
              <a:rPr lang="en-US" sz="1800" b="0" i="0" u="none" strike="noStrike" baseline="0" dirty="0">
                <a:latin typeface="PalatinoLTStd-Roman"/>
              </a:rPr>
              <a:t> and G</a:t>
            </a:r>
            <a:r>
              <a:rPr lang="en-US" sz="1800" b="0" i="0" u="none" strike="noStrike" baseline="-25000" dirty="0">
                <a:latin typeface="PalatinoLTStd-Roman"/>
              </a:rPr>
              <a:t>o</a:t>
            </a:r>
            <a:r>
              <a:rPr lang="en-US" sz="1800" b="0" i="0" u="none" strike="noStrike" baseline="0" dirty="0">
                <a:latin typeface="PalatinoLTStd-Roman"/>
              </a:rPr>
              <a:t>,  leads to inhibition of cyclic adenosine monophosphate (cAMP) formation, inhibition of voltage-sensitive Ca</a:t>
            </a:r>
            <a:r>
              <a:rPr lang="en-US" sz="1800" b="0" i="0" u="none" strike="noStrike" baseline="30000" dirty="0">
                <a:latin typeface="PalatinoLTStd-Roman"/>
              </a:rPr>
              <a:t>2+</a:t>
            </a:r>
            <a:r>
              <a:rPr lang="en-US" sz="1800" b="0" i="0" u="none" strike="noStrike" baseline="0" dirty="0">
                <a:latin typeface="PalatinoLTStd-Roman"/>
              </a:rPr>
              <a:t> channels, and activation</a:t>
            </a:r>
          </a:p>
          <a:p>
            <a:pPr algn="l"/>
            <a:r>
              <a:rPr lang="en-US" sz="1800" b="0" i="0" u="none" strike="noStrike" baseline="0" dirty="0">
                <a:latin typeface="PalatinoLTStd-Roman"/>
              </a:rPr>
              <a:t>of K</a:t>
            </a:r>
            <a:r>
              <a:rPr lang="en-US" sz="1800" b="0" i="0" u="none" strike="noStrike" baseline="30000" dirty="0">
                <a:latin typeface="PalatinoLTStd-Roman"/>
              </a:rPr>
              <a:t>+</a:t>
            </a:r>
            <a:r>
              <a:rPr lang="en-US" sz="1800" b="0" i="0" u="none" strike="noStrike" baseline="0" dirty="0">
                <a:latin typeface="PalatinoLTStd-Roman"/>
              </a:rPr>
              <a:t> channel opening</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1410721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14.8  Areas of high and medium cannabinoid (CB</a:t>
            </a:r>
            <a:r>
              <a:rPr lang="en-US" sz="1200" b="1" kern="1200" baseline="-25000" dirty="0">
                <a:solidFill>
                  <a:schemeClr val="tx1"/>
                </a:solidFill>
                <a:effectLst/>
                <a:latin typeface="+mn-lt"/>
                <a:ea typeface="+mn-ea"/>
                <a:cs typeface="+mn-cs"/>
              </a:rPr>
              <a:t>1</a:t>
            </a:r>
            <a:r>
              <a:rPr lang="en-US" sz="1200" b="1" kern="1200" dirty="0">
                <a:solidFill>
                  <a:schemeClr val="tx1"/>
                </a:solidFill>
                <a:effectLst/>
                <a:latin typeface="+mn-lt"/>
                <a:ea typeface="+mn-ea"/>
                <a:cs typeface="+mn-cs"/>
              </a:rPr>
              <a:t>) receptor levels in the human brain 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CB</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receptor levels determined by quantitative autoradiography were characterized as high or medium based on the relative amount of radioligand binding. Color-coded representations of these categories were then superimposed on axial/horizontal (left), coronal (middle), and sagittal (right) MRI images of the human brain. The coordinate shown above each image refers to the position of the MRI “slice” in a standard human brain atlas. Labels point to several brain areas expressing high or medium receptor levels that are known to play important roles in cannabinoid behavioral effects. Within the neocortex, the cingulate gyrus had a high level of receptor expression whereas other cortical areas had medium receptor levels. Not shown on any of the images is the amygdala, which had a high level of receptor expression. </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1081881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2518421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19728065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3973144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14.9  Hippocampal CB</a:t>
            </a:r>
            <a:r>
              <a:rPr lang="en-US" sz="1200" b="1" kern="1200" baseline="-25000" dirty="0">
                <a:solidFill>
                  <a:schemeClr val="tx1"/>
                </a:solidFill>
                <a:effectLst/>
                <a:latin typeface="+mn-lt"/>
                <a:ea typeface="+mn-ea"/>
                <a:cs typeface="+mn-cs"/>
              </a:rPr>
              <a:t>1</a:t>
            </a:r>
            <a:r>
              <a:rPr lang="en-US" sz="1200" b="1" kern="1200" dirty="0">
                <a:solidFill>
                  <a:schemeClr val="tx1"/>
                </a:solidFill>
                <a:effectLst/>
                <a:latin typeface="+mn-lt"/>
                <a:ea typeface="+mn-ea"/>
                <a:cs typeface="+mn-cs"/>
              </a:rPr>
              <a:t> receptors are responsible for cannabinoid-induced memory impairment 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Rats were trained to a high degree of performance on an eight-arm radial arm maze (see Chapter 4). After training was completed, intraperitoneal injection of the cannabinoid agonist CP-55,940 (0.05 mg/kg) along with a vehicle microinjection into the hippocampus (V-CP) produced a significant number of errors on the task compared with the control group (V-V), indicating an impairment in working memory. This effect was completely blocked by microinjection of rimonabant (0.06 </a:t>
            </a:r>
            <a:r>
              <a:rPr lang="en-US" sz="1200" kern="1200" dirty="0" err="1">
                <a:solidFill>
                  <a:schemeClr val="tx1"/>
                </a:solidFill>
                <a:effectLst/>
                <a:latin typeface="+mn-lt"/>
                <a:ea typeface="+mn-ea"/>
                <a:cs typeface="+mn-cs"/>
              </a:rPr>
              <a:t>μg</a:t>
            </a:r>
            <a:r>
              <a:rPr lang="en-US" sz="1200" kern="1200" dirty="0">
                <a:solidFill>
                  <a:schemeClr val="tx1"/>
                </a:solidFill>
                <a:effectLst/>
                <a:latin typeface="+mn-lt"/>
                <a:ea typeface="+mn-ea"/>
                <a:cs typeface="+mn-cs"/>
              </a:rPr>
              <a:t>) into the dorsal hippocampus (Rim-CP), whereas rimonabant by itself had no effect on maze performance (Rim-V). (After L. E. Wise et al. 2009. </a:t>
            </a:r>
            <a:r>
              <a:rPr lang="en-US" sz="1200" i="1" kern="1200" dirty="0">
                <a:solidFill>
                  <a:schemeClr val="tx1"/>
                </a:solidFill>
                <a:effectLst/>
                <a:latin typeface="+mn-lt"/>
                <a:ea typeface="+mn-ea"/>
                <a:cs typeface="+mn-cs"/>
              </a:rPr>
              <a:t>Neuropsychopharmacology</a:t>
            </a:r>
            <a:r>
              <a:rPr lang="en-US" sz="1200" kern="1200" dirty="0">
                <a:solidFill>
                  <a:schemeClr val="tx1"/>
                </a:solidFill>
                <a:effectLst/>
                <a:latin typeface="+mn-lt"/>
                <a:ea typeface="+mn-ea"/>
                <a:cs typeface="+mn-cs"/>
              </a:rPr>
              <a:t> 34: 2072–2080.)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1929065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3549328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Anandamide = </a:t>
            </a:r>
            <a:r>
              <a:rPr lang="en-US" altLang="en-US" b="1" dirty="0"/>
              <a:t>Arachidonoyl </a:t>
            </a:r>
            <a:r>
              <a:rPr lang="en-US" altLang="en-US" b="1" dirty="0" err="1"/>
              <a:t>ethanolamide</a:t>
            </a:r>
            <a:r>
              <a:rPr lang="en-US" altLang="en-US" dirty="0"/>
              <a:t> (</a:t>
            </a:r>
            <a:r>
              <a:rPr lang="en-US" altLang="en-US" b="1" dirty="0"/>
              <a:t>AEA</a:t>
            </a:r>
            <a:r>
              <a:rPr lang="en-US" altLang="en-US" dirty="0"/>
              <a:t>); 2-AG = </a:t>
            </a:r>
            <a:r>
              <a:rPr lang="en-US" altLang="en-US" b="1" dirty="0"/>
              <a:t>2-arachidonoylglycerol</a:t>
            </a:r>
          </a:p>
          <a:p>
            <a:endParaRPr lang="en-US" b="1" u="none" dirty="0"/>
          </a:p>
          <a:p>
            <a:pPr algn="l"/>
            <a:r>
              <a:rPr lang="en-US" altLang="en-US" dirty="0"/>
              <a:t>Both can also be metabolized by </a:t>
            </a:r>
            <a:r>
              <a:rPr lang="en-US" altLang="en-US" b="1" dirty="0"/>
              <a:t>cyclooxygenase-2</a:t>
            </a:r>
            <a:r>
              <a:rPr lang="en-US" altLang="en-US" dirty="0"/>
              <a:t> (</a:t>
            </a:r>
            <a:r>
              <a:rPr lang="en-US" altLang="en-US" b="1" dirty="0"/>
              <a:t>COX-2</a:t>
            </a:r>
            <a:r>
              <a:rPr lang="en-US" altLang="en-US" dirty="0"/>
              <a:t>), an enzyme important in the process of inflammation. R</a:t>
            </a:r>
            <a:r>
              <a:rPr lang="en-US" sz="1200" b="0" i="0" u="none" strike="noStrike" baseline="0" dirty="0">
                <a:latin typeface="PalatinoLTStd-Roman"/>
              </a:rPr>
              <a:t>epeated use of COX-2 inhibitors (</a:t>
            </a:r>
            <a:r>
              <a:rPr lang="en-US" sz="1200" b="1" i="0" u="none" strike="noStrike" baseline="0" dirty="0">
                <a:latin typeface="DINPro-Bold"/>
              </a:rPr>
              <a:t>nonsteroidal anti-inflammatory drugs</a:t>
            </a:r>
            <a:r>
              <a:rPr lang="en-US" sz="1200" b="0" i="0" u="none" strike="noStrike" baseline="0" dirty="0">
                <a:latin typeface="PalatinoLTStd-Roman"/>
              </a:rPr>
              <a:t>,</a:t>
            </a:r>
          </a:p>
          <a:p>
            <a:pPr algn="l"/>
            <a:r>
              <a:rPr lang="en-US" sz="1200" b="0" i="0" u="none" strike="noStrike" baseline="0" dirty="0">
                <a:latin typeface="PalatinoLTStd-Roman"/>
              </a:rPr>
              <a:t>or </a:t>
            </a:r>
            <a:r>
              <a:rPr lang="en-US" sz="1200" b="1" i="0" u="none" strike="noStrike" baseline="0" dirty="0">
                <a:latin typeface="DINPro-Bold"/>
              </a:rPr>
              <a:t>NSAIDs</a:t>
            </a:r>
            <a:r>
              <a:rPr lang="en-US" sz="1200" b="0" i="0" u="none" strike="noStrike" baseline="0" dirty="0">
                <a:latin typeface="PalatinoLTStd-Roman"/>
              </a:rPr>
              <a:t>) for pain relief could alter endocannabinoid activity in the brain and elsewhere.</a:t>
            </a:r>
            <a:endParaRPr lang="en-US" altLang="en-US" dirty="0"/>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1016654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Retrograde signaling: When the presynaptic cell is excitatory (glutamatergic), the effect is termed </a:t>
            </a:r>
            <a:r>
              <a:rPr lang="en-US" sz="1800" b="1" i="0" u="none" strike="noStrike" baseline="0" dirty="0">
                <a:latin typeface="DINPro-Bold"/>
              </a:rPr>
              <a:t>depolarization-induced suppression of excitation </a:t>
            </a:r>
            <a:r>
              <a:rPr lang="en-US" sz="1800" b="0" i="0" u="none" strike="noStrike" baseline="0" dirty="0">
                <a:latin typeface="PalatinoLTStd-Roman"/>
              </a:rPr>
              <a:t>(</a:t>
            </a:r>
            <a:r>
              <a:rPr lang="en-US" sz="1800" b="1" i="0" u="none" strike="noStrike" baseline="0" dirty="0">
                <a:latin typeface="DINPro-Bold"/>
              </a:rPr>
              <a:t>DSE</a:t>
            </a:r>
            <a:r>
              <a:rPr lang="en-US" sz="1800" b="0" i="0" u="none" strike="noStrike" baseline="0" dirty="0">
                <a:latin typeface="PalatinoLTStd-Roman"/>
              </a:rPr>
              <a:t>).</a:t>
            </a:r>
          </a:p>
          <a:p>
            <a:pPr algn="l"/>
            <a:r>
              <a:rPr lang="en-US" sz="1800" b="0" i="0" u="none" strike="noStrike" baseline="0" dirty="0">
                <a:latin typeface="PalatinoLTStd-Roman"/>
              </a:rPr>
              <a:t>  When the presynaptic cell is inhibitory (GABAergic), the effect is called </a:t>
            </a:r>
            <a:r>
              <a:rPr lang="en-US" sz="1800" b="1" i="0" u="none" strike="noStrike" baseline="0" dirty="0">
                <a:latin typeface="DINPro-Bold"/>
              </a:rPr>
              <a:t>depolarization-induced suppression of inhibition </a:t>
            </a:r>
            <a:r>
              <a:rPr lang="en-US" sz="1800" b="0" i="0" u="none" strike="noStrike" baseline="0" dirty="0">
                <a:latin typeface="PalatinoLTStd-Roman"/>
              </a:rPr>
              <a:t>(</a:t>
            </a:r>
            <a:r>
              <a:rPr lang="en-US" sz="1800" b="1" i="0" u="none" strike="noStrike" baseline="0" dirty="0">
                <a:latin typeface="DINPro-Bold"/>
              </a:rPr>
              <a:t>DSI</a:t>
            </a:r>
            <a:r>
              <a:rPr lang="en-US" sz="1800" b="0" i="0" u="none" strike="noStrike" baseline="0" dirty="0">
                <a:latin typeface="PalatinoLTStd-Roman"/>
              </a:rPr>
              <a:t>).</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33597055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14.11  Mechanisms of endocannabinoid signaling 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The most common and well-understood mechanism of endocannabinoid action is retrograde signaling. This mechanism involves release of the endocannabinoid (</a:t>
            </a:r>
            <a:r>
              <a:rPr lang="en-US" sz="1200" kern="1200" dirty="0" err="1">
                <a:solidFill>
                  <a:schemeClr val="tx1"/>
                </a:solidFill>
                <a:effectLst/>
                <a:latin typeface="+mn-lt"/>
                <a:ea typeface="+mn-ea"/>
                <a:cs typeface="+mn-cs"/>
              </a:rPr>
              <a:t>eCB</a:t>
            </a:r>
            <a:r>
              <a:rPr lang="en-US" sz="1200" kern="1200" dirty="0">
                <a:solidFill>
                  <a:schemeClr val="tx1"/>
                </a:solidFill>
                <a:effectLst/>
                <a:latin typeface="+mn-lt"/>
                <a:ea typeface="+mn-ea"/>
                <a:cs typeface="+mn-cs"/>
              </a:rPr>
              <a:t>), typically 2-AG, which diffuses from its site of synthesis in a dendritic spine to a presynaptic element where it activates CB</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receptors (CBR</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Such activation inhibits Ca</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-mediated vesicular neurotransmitter release. (B) In the second mechanism, an endocannabinoid such as anandamide remains within the dendritic spine to activate either postsynaptic CB</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receptors or TRPV1 cation channels. (C) The third mechanism involves endocannabinoid activation of astrocyte CB</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receptors, which has been shown to provoke glutamate (</a:t>
            </a:r>
            <a:r>
              <a:rPr lang="en-US" sz="1200" kern="1200" dirty="0" err="1">
                <a:solidFill>
                  <a:schemeClr val="tx1"/>
                </a:solidFill>
                <a:effectLst/>
                <a:latin typeface="+mn-lt"/>
                <a:ea typeface="+mn-ea"/>
                <a:cs typeface="+mn-cs"/>
              </a:rPr>
              <a:t>Glu</a:t>
            </a:r>
            <a:r>
              <a:rPr lang="en-US" sz="1200" kern="1200" dirty="0">
                <a:solidFill>
                  <a:schemeClr val="tx1"/>
                </a:solidFill>
                <a:effectLst/>
                <a:latin typeface="+mn-lt"/>
                <a:ea typeface="+mn-ea"/>
                <a:cs typeface="+mn-cs"/>
              </a:rPr>
              <a:t>) release from the cells. (After P. E. Castillo et al. 2012. </a:t>
            </a:r>
            <a:r>
              <a:rPr lang="en-US" sz="1200" i="1" kern="1200" dirty="0">
                <a:solidFill>
                  <a:schemeClr val="tx1"/>
                </a:solidFill>
                <a:effectLst/>
                <a:latin typeface="+mn-lt"/>
                <a:ea typeface="+mn-ea"/>
                <a:cs typeface="+mn-cs"/>
              </a:rPr>
              <a:t>Neuron </a:t>
            </a:r>
            <a:r>
              <a:rPr lang="en-US" sz="1200" kern="1200" dirty="0">
                <a:solidFill>
                  <a:schemeClr val="tx1"/>
                </a:solidFill>
                <a:effectLst/>
                <a:latin typeface="+mn-lt"/>
                <a:ea typeface="+mn-ea"/>
                <a:cs typeface="+mn-cs"/>
              </a:rPr>
              <a:t>76: 70–81.)</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32995921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14.13  Biochemical, neurophysiological, and behavioral effects of enhancing 2-AG breakdown in hippo­campal glutamatergic neurons 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investigators used genetic methods to selectively enhance expression of MAGL (the main enzyme for 2-AG metabolism) in hippocampal glutamatergic neurons of mice. This led to a significant decrease in hippocampal 2-AG concentrations but no change in AEA (anandamide) (A). Note the thousand-fold greater unit of measure for 2-AG concentrations (nmol/g, or 10</a:t>
            </a:r>
            <a:r>
              <a:rPr lang="en-US" sz="1200" kern="1200" baseline="30000" dirty="0">
                <a:solidFill>
                  <a:schemeClr val="tx1"/>
                </a:solidFill>
                <a:effectLst/>
                <a:latin typeface="+mn-lt"/>
                <a:ea typeface="+mn-ea"/>
                <a:cs typeface="+mn-cs"/>
              </a:rPr>
              <a:t>-9</a:t>
            </a:r>
            <a:r>
              <a:rPr lang="en-US" sz="1200" kern="1200" dirty="0">
                <a:solidFill>
                  <a:schemeClr val="tx1"/>
                </a:solidFill>
                <a:effectLst/>
                <a:latin typeface="+mn-lt"/>
                <a:ea typeface="+mn-ea"/>
                <a:cs typeface="+mn-cs"/>
              </a:rPr>
              <a:t> moles per g) compared to AEA (</a:t>
            </a:r>
            <a:r>
              <a:rPr lang="en-US" sz="1200" kern="1200" dirty="0" err="1">
                <a:solidFill>
                  <a:schemeClr val="tx1"/>
                </a:solidFill>
                <a:effectLst/>
                <a:latin typeface="+mn-lt"/>
                <a:ea typeface="+mn-ea"/>
                <a:cs typeface="+mn-cs"/>
              </a:rPr>
              <a:t>pmol</a:t>
            </a:r>
            <a:r>
              <a:rPr lang="en-US" sz="1200" kern="1200" dirty="0">
                <a:solidFill>
                  <a:schemeClr val="tx1"/>
                </a:solidFill>
                <a:effectLst/>
                <a:latin typeface="+mn-lt"/>
                <a:ea typeface="+mn-ea"/>
                <a:cs typeface="+mn-cs"/>
              </a:rPr>
              <a:t>/g, or 10</a:t>
            </a:r>
            <a:r>
              <a:rPr lang="en-US" sz="1200" kern="1200" baseline="30000" dirty="0">
                <a:solidFill>
                  <a:schemeClr val="tx1"/>
                </a:solidFill>
                <a:effectLst/>
                <a:latin typeface="+mn-lt"/>
                <a:ea typeface="+mn-ea"/>
                <a:cs typeface="+mn-cs"/>
              </a:rPr>
              <a:t>-12</a:t>
            </a:r>
            <a:r>
              <a:rPr lang="en-US" sz="1200" kern="1200" dirty="0">
                <a:solidFill>
                  <a:schemeClr val="tx1"/>
                </a:solidFill>
                <a:effectLst/>
                <a:latin typeface="+mn-lt"/>
                <a:ea typeface="+mn-ea"/>
                <a:cs typeface="+mn-cs"/>
              </a:rPr>
              <a:t> moles per g). The MAGL-overexpressing mice additionally showed a deficit in hippocampal DSE but no significant change in DSI (data not shown). When the animals were tested in the elevated plus-maze, overexpression of MAGL in the hippocampus led to increased anxiety-like behavior shown by less time spent in the open arms of the maze (B). (From S. </a:t>
            </a:r>
            <a:r>
              <a:rPr lang="en-US" sz="1200" kern="1200" dirty="0" err="1">
                <a:solidFill>
                  <a:schemeClr val="tx1"/>
                </a:solidFill>
                <a:effectLst/>
                <a:latin typeface="+mn-lt"/>
                <a:ea typeface="+mn-ea"/>
                <a:cs typeface="+mn-cs"/>
              </a:rPr>
              <a:t>Guggenhuber</a:t>
            </a:r>
            <a:r>
              <a:rPr lang="en-US" sz="1200" kern="1200" dirty="0">
                <a:solidFill>
                  <a:schemeClr val="tx1"/>
                </a:solidFill>
                <a:effectLst/>
                <a:latin typeface="+mn-lt"/>
                <a:ea typeface="+mn-ea"/>
                <a:cs typeface="+mn-cs"/>
              </a:rPr>
              <a:t> et al. 2016. </a:t>
            </a:r>
            <a:r>
              <a:rPr lang="en-US" sz="1200" i="1" kern="1200" dirty="0" err="1">
                <a:solidFill>
                  <a:schemeClr val="tx1"/>
                </a:solidFill>
                <a:effectLst/>
                <a:latin typeface="+mn-lt"/>
                <a:ea typeface="+mn-ea"/>
                <a:cs typeface="+mn-cs"/>
              </a:rPr>
              <a:t>Int</a:t>
            </a:r>
            <a:r>
              <a:rPr lang="en-US" sz="1200" i="1" kern="1200" dirty="0">
                <a:solidFill>
                  <a:schemeClr val="tx1"/>
                </a:solidFill>
                <a:effectLst/>
                <a:latin typeface="+mn-lt"/>
                <a:ea typeface="+mn-ea"/>
                <a:cs typeface="+mn-cs"/>
              </a:rPr>
              <a:t> J </a:t>
            </a:r>
            <a:r>
              <a:rPr lang="en-US" sz="1200" i="1" kern="1200" dirty="0" err="1">
                <a:solidFill>
                  <a:schemeClr val="tx1"/>
                </a:solidFill>
                <a:effectLst/>
                <a:latin typeface="+mn-lt"/>
                <a:ea typeface="+mn-ea"/>
                <a:cs typeface="+mn-cs"/>
              </a:rPr>
              <a:t>Neuropsychopharmacol</a:t>
            </a:r>
            <a:r>
              <a:rPr lang="en-US" sz="1200" kern="1200" dirty="0">
                <a:solidFill>
                  <a:schemeClr val="tx1"/>
                </a:solidFill>
                <a:effectLst/>
                <a:latin typeface="+mn-lt"/>
                <a:ea typeface="+mn-ea"/>
                <a:cs typeface="+mn-cs"/>
              </a:rPr>
              <a:t> 19: 2. </a:t>
            </a:r>
            <a:r>
              <a:rPr lang="en-US" sz="1200" kern="1200" dirty="0" err="1">
                <a:solidFill>
                  <a:schemeClr val="tx1"/>
                </a:solidFill>
                <a:effectLst/>
                <a:latin typeface="+mn-lt"/>
                <a:ea typeface="+mn-ea"/>
                <a:cs typeface="+mn-cs"/>
              </a:rPr>
              <a:t>doi</a:t>
            </a:r>
            <a:r>
              <a:rPr lang="en-US" sz="1200" kern="1200" dirty="0">
                <a:solidFill>
                  <a:schemeClr val="tx1"/>
                </a:solidFill>
                <a:effectLst/>
                <a:latin typeface="+mn-lt"/>
                <a:ea typeface="+mn-ea"/>
                <a:cs typeface="+mn-cs"/>
              </a:rPr>
              <a:t>: 10.1093/</a:t>
            </a:r>
            <a:r>
              <a:rPr lang="en-US" sz="1200" kern="1200" dirty="0" err="1">
                <a:solidFill>
                  <a:schemeClr val="tx1"/>
                </a:solidFill>
                <a:effectLst/>
                <a:latin typeface="+mn-lt"/>
                <a:ea typeface="+mn-ea"/>
                <a:cs typeface="+mn-cs"/>
              </a:rPr>
              <a:t>ijnp</a:t>
            </a:r>
            <a:r>
              <a:rPr lang="en-US" sz="1200" kern="1200" dirty="0">
                <a:solidFill>
                  <a:schemeClr val="tx1"/>
                </a:solidFill>
                <a:effectLst/>
                <a:latin typeface="+mn-lt"/>
                <a:ea typeface="+mn-ea"/>
                <a:cs typeface="+mn-cs"/>
              </a:rPr>
              <a:t>/pyv091. By permission of Oxford University Press.)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31275908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Neuropathic pain: pain produced within the nervous system itself, not in direct response  to a nociceptive (pain-inducing) stimulus like a stab wound or burn</a:t>
            </a:r>
            <a:r>
              <a:rPr lang="en-US" sz="1800" b="0" i="0" u="sng" strike="noStrike" baseline="0" dirty="0">
                <a:latin typeface="PalatinoLTStd-Roman"/>
              </a:rPr>
              <a:t>.</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3778425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14.14  Location of CB</a:t>
            </a:r>
            <a:r>
              <a:rPr lang="en-US" sz="1200" b="1" kern="1200" baseline="-25000" dirty="0">
                <a:solidFill>
                  <a:schemeClr val="tx1"/>
                </a:solidFill>
                <a:effectLst/>
                <a:latin typeface="+mn-lt"/>
                <a:ea typeface="+mn-ea"/>
                <a:cs typeface="+mn-cs"/>
              </a:rPr>
              <a:t>1</a:t>
            </a:r>
            <a:r>
              <a:rPr lang="en-US" sz="1200" b="1" kern="1200" dirty="0">
                <a:solidFill>
                  <a:schemeClr val="tx1"/>
                </a:solidFill>
                <a:effectLst/>
                <a:latin typeface="+mn-lt"/>
                <a:ea typeface="+mn-ea"/>
                <a:cs typeface="+mn-cs"/>
              </a:rPr>
              <a:t> and CB</a:t>
            </a:r>
            <a:r>
              <a:rPr lang="en-US" sz="1200" b="1" kern="1200" baseline="-25000" dirty="0">
                <a:solidFill>
                  <a:schemeClr val="tx1"/>
                </a:solidFill>
                <a:effectLst/>
                <a:latin typeface="+mn-lt"/>
                <a:ea typeface="+mn-ea"/>
                <a:cs typeface="+mn-cs"/>
              </a:rPr>
              <a:t>2</a:t>
            </a:r>
            <a:r>
              <a:rPr lang="en-US" sz="1200" b="1" kern="1200" dirty="0">
                <a:solidFill>
                  <a:schemeClr val="tx1"/>
                </a:solidFill>
                <a:effectLst/>
                <a:latin typeface="+mn-lt"/>
                <a:ea typeface="+mn-ea"/>
                <a:cs typeface="+mn-cs"/>
              </a:rPr>
              <a:t> receptors involved in the modulation of pain perception 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Both cannabinoid receptor subtypes (CBR</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and CBR</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participate in pain stimulus processing and perception at multiple levels of the nervous system. Activation of these receptors inhibits ascending pain information originating from peripheral nociceptive fibers, enhances descending pain-inhibitory pathways, and modulates the emotional and cognitive components of perceived pain. The presence of pain-modulating CB</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receptors in the forebrain is currently uncertain, which accounts for the “?” in that part of the figure. DRG, dorsal root ganglia. (After R. Maldonado et al. 2016. </a:t>
            </a:r>
            <a:r>
              <a:rPr lang="en-US" sz="1200" i="1" kern="1200" dirty="0">
                <a:solidFill>
                  <a:schemeClr val="tx1"/>
                </a:solidFill>
                <a:effectLst/>
                <a:latin typeface="+mn-lt"/>
                <a:ea typeface="+mn-ea"/>
                <a:cs typeface="+mn-cs"/>
              </a:rPr>
              <a:t>Pain </a:t>
            </a:r>
            <a:r>
              <a:rPr lang="en-US" sz="1200" kern="1200" dirty="0">
                <a:solidFill>
                  <a:schemeClr val="tx1"/>
                </a:solidFill>
                <a:effectLst/>
                <a:latin typeface="+mn-lt"/>
                <a:ea typeface="+mn-ea"/>
                <a:cs typeface="+mn-cs"/>
              </a:rPr>
              <a:t>157 [Suppl. 1]: S23–S32. © 2016 International Association for the Study of Pain.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/10.1097/j.pain.0000000000000428.)</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11515048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24791111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28427188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2029583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14.15  Reduction in the subjective and physiological effects of smoked marijuana by rimonabant pretreatment 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Study participants received either 90 mg of the CB</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cannabinoid receptor antagonist rimonabant or a placebo orally, after which they smoked either an active (2.64% THC content) or a placebo marijuana cigarette. Self-reported subjective effects and heart rate were measured over the next 65 minutes. The data shown represent the maximum mean effects of the active marijuana cigarette in the presence or absence of the receptor antagonist. (After M. A. </a:t>
            </a:r>
            <a:r>
              <a:rPr lang="en-US" sz="1200" kern="1200" dirty="0" err="1">
                <a:solidFill>
                  <a:schemeClr val="tx1"/>
                </a:solidFill>
                <a:effectLst/>
                <a:latin typeface="+mn-lt"/>
                <a:ea typeface="+mn-ea"/>
                <a:cs typeface="+mn-cs"/>
              </a:rPr>
              <a:t>Huestis</a:t>
            </a:r>
            <a:r>
              <a:rPr lang="en-US" sz="1200" kern="1200" dirty="0">
                <a:solidFill>
                  <a:schemeClr val="tx1"/>
                </a:solidFill>
                <a:effectLst/>
                <a:latin typeface="+mn-lt"/>
                <a:ea typeface="+mn-ea"/>
                <a:cs typeface="+mn-cs"/>
              </a:rPr>
              <a:t> et al. 2001. </a:t>
            </a:r>
            <a:r>
              <a:rPr lang="en-US" sz="1200" i="1" kern="1200" dirty="0">
                <a:solidFill>
                  <a:schemeClr val="tx1"/>
                </a:solidFill>
                <a:effectLst/>
                <a:latin typeface="+mn-lt"/>
                <a:ea typeface="+mn-ea"/>
                <a:cs typeface="+mn-cs"/>
              </a:rPr>
              <a:t>Arch Gen Psychiatry</a:t>
            </a:r>
            <a:r>
              <a:rPr lang="en-US" sz="1200" kern="1200" dirty="0">
                <a:solidFill>
                  <a:schemeClr val="tx1"/>
                </a:solidFill>
                <a:effectLst/>
                <a:latin typeface="+mn-lt"/>
                <a:ea typeface="+mn-ea"/>
                <a:cs typeface="+mn-cs"/>
              </a:rPr>
              <a:t> 58: 322–328.)</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33522660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3567634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14.16  Estimated relationship between the driver’s blood THC concentration and the odds ratio of being in a motor vehicle accident 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Based on an Australian study of fatal motor vehicle accidents, the risk of being in such an accident (calculated as an odds ratio; OR) was mathematically related to whether THC could be measured in the driver’s blood post-mortem, and if so, the concentration level. The figure shows that for this study cohort, the OR was doubled by the time the concentration reached 8 ng/ml and continued to rise dramatically with increasing THC levels. Note that the small dip in the graphical function between 0 (no detectable THC) and the lowest THC level was produced by the curve-fitting function and probably has no real-world consequences. (After F. </a:t>
            </a:r>
            <a:r>
              <a:rPr lang="en-US" sz="1200" kern="1200" dirty="0" err="1">
                <a:solidFill>
                  <a:schemeClr val="tx1"/>
                </a:solidFill>
                <a:effectLst/>
                <a:latin typeface="+mn-lt"/>
                <a:ea typeface="+mn-ea"/>
                <a:cs typeface="+mn-cs"/>
              </a:rPr>
              <a:t>Grotenhermen</a:t>
            </a:r>
            <a:r>
              <a:rPr lang="en-US" sz="1200" kern="1200" dirty="0">
                <a:solidFill>
                  <a:schemeClr val="tx1"/>
                </a:solidFill>
                <a:effectLst/>
                <a:latin typeface="+mn-lt"/>
                <a:ea typeface="+mn-ea"/>
                <a:cs typeface="+mn-cs"/>
              </a:rPr>
              <a:t> et al. 2007. </a:t>
            </a:r>
            <a:r>
              <a:rPr lang="en-US" sz="1200" i="1" kern="1200" dirty="0">
                <a:solidFill>
                  <a:schemeClr val="tx1"/>
                </a:solidFill>
                <a:effectLst/>
                <a:latin typeface="+mn-lt"/>
                <a:ea typeface="+mn-ea"/>
                <a:cs typeface="+mn-cs"/>
              </a:rPr>
              <a:t>Addiction</a:t>
            </a:r>
            <a:r>
              <a:rPr lang="en-US" sz="1200" kern="1200" dirty="0">
                <a:solidFill>
                  <a:schemeClr val="tx1"/>
                </a:solidFill>
                <a:effectLst/>
                <a:latin typeface="+mn-lt"/>
                <a:ea typeface="+mn-ea"/>
                <a:cs typeface="+mn-cs"/>
              </a:rPr>
              <a:t> 102: 1910–1917, data from O. H. Drummer et al. 2004. </a:t>
            </a:r>
            <a:r>
              <a:rPr lang="en-US" sz="1200" i="1" kern="1200" dirty="0" err="1">
                <a:solidFill>
                  <a:schemeClr val="tx1"/>
                </a:solidFill>
                <a:effectLst/>
                <a:latin typeface="+mn-lt"/>
                <a:ea typeface="+mn-ea"/>
                <a:cs typeface="+mn-cs"/>
              </a:rPr>
              <a:t>Accid</a:t>
            </a:r>
            <a:r>
              <a:rPr lang="en-US" sz="1200" i="1" kern="1200" dirty="0">
                <a:solidFill>
                  <a:schemeClr val="tx1"/>
                </a:solidFill>
                <a:effectLst/>
                <a:latin typeface="+mn-lt"/>
                <a:ea typeface="+mn-ea"/>
                <a:cs typeface="+mn-cs"/>
              </a:rPr>
              <a:t> Anal </a:t>
            </a:r>
            <a:r>
              <a:rPr lang="en-US" sz="1200" i="1" kern="1200" dirty="0" err="1">
                <a:solidFill>
                  <a:schemeClr val="tx1"/>
                </a:solidFill>
                <a:effectLst/>
                <a:latin typeface="+mn-lt"/>
                <a:ea typeface="+mn-ea"/>
                <a:cs typeface="+mn-cs"/>
              </a:rPr>
              <a:t>Prev</a:t>
            </a:r>
            <a:r>
              <a:rPr lang="en-US" sz="1200" kern="1200" dirty="0">
                <a:solidFill>
                  <a:schemeClr val="tx1"/>
                </a:solidFill>
                <a:effectLst/>
                <a:latin typeface="+mn-lt"/>
                <a:ea typeface="+mn-ea"/>
                <a:cs typeface="+mn-cs"/>
              </a:rPr>
              <a:t> 36: 239–248.)</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32564941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36798356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14.17  Acquisition of THC self-administration by squirrel monkeys 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Monkeys were initially trained in drug self-administration on a fixed-ratio-10 (FR-10) schedule using cocaine as the reinforcer (not shown). They were then switched to saline, which led to a nearly complete elimination of lever-pressing behavior. When THC (2.0 </a:t>
            </a:r>
            <a:r>
              <a:rPr lang="en-US" sz="1200" kern="1200" dirty="0" err="1">
                <a:solidFill>
                  <a:schemeClr val="tx1"/>
                </a:solidFill>
                <a:effectLst/>
                <a:latin typeface="+mn-lt"/>
                <a:ea typeface="+mn-ea"/>
                <a:cs typeface="+mn-cs"/>
              </a:rPr>
              <a:t>μg</a:t>
            </a:r>
            <a:r>
              <a:rPr lang="en-US" sz="1200" kern="1200" dirty="0">
                <a:solidFill>
                  <a:schemeClr val="tx1"/>
                </a:solidFill>
                <a:effectLst/>
                <a:latin typeface="+mn-lt"/>
                <a:ea typeface="+mn-ea"/>
                <a:cs typeface="+mn-cs"/>
              </a:rPr>
              <a:t>/kg/injection) was substituted for saline, lever pressing immediately increased to an amount sufficient to deliver approximately 30 drug injections per 1-hour session. Substitution with the vehicle again reduced operant responding until the active drug was made available once again. (After G. </a:t>
            </a:r>
            <a:r>
              <a:rPr lang="en-US" sz="1200" kern="1200" dirty="0" err="1">
                <a:solidFill>
                  <a:schemeClr val="tx1"/>
                </a:solidFill>
                <a:effectLst/>
                <a:latin typeface="+mn-lt"/>
                <a:ea typeface="+mn-ea"/>
                <a:cs typeface="+mn-cs"/>
              </a:rPr>
              <a:t>Tanda</a:t>
            </a:r>
            <a:r>
              <a:rPr lang="en-US" sz="1200" kern="1200" dirty="0">
                <a:solidFill>
                  <a:schemeClr val="tx1"/>
                </a:solidFill>
                <a:effectLst/>
                <a:latin typeface="+mn-lt"/>
                <a:ea typeface="+mn-ea"/>
                <a:cs typeface="+mn-cs"/>
              </a:rPr>
              <a:t> et al. 2000. </a:t>
            </a:r>
            <a:r>
              <a:rPr lang="en-US" sz="1200" i="1" kern="1200" dirty="0">
                <a:solidFill>
                  <a:schemeClr val="tx1"/>
                </a:solidFill>
                <a:effectLst/>
                <a:latin typeface="+mn-lt"/>
                <a:ea typeface="+mn-ea"/>
                <a:cs typeface="+mn-cs"/>
              </a:rPr>
              <a:t>Nat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3: 1073–1074.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/10.1038/80577.)</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21320518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38325471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31935938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27978581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14.18  Probability of initiating marijuana use as a function of age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(After J. S. Brook et al. 1999. </a:t>
            </a:r>
            <a:r>
              <a:rPr lang="en-US" sz="1200" i="1" kern="1200" dirty="0">
                <a:solidFill>
                  <a:schemeClr val="tx1"/>
                </a:solidFill>
                <a:effectLst/>
                <a:latin typeface="+mn-lt"/>
                <a:ea typeface="+mn-ea"/>
                <a:cs typeface="+mn-cs"/>
              </a:rPr>
              <a:t>Dev </a:t>
            </a:r>
            <a:r>
              <a:rPr lang="en-US" sz="1200" i="1" kern="1200" dirty="0" err="1">
                <a:solidFill>
                  <a:schemeClr val="tx1"/>
                </a:solidFill>
                <a:effectLst/>
                <a:latin typeface="+mn-lt"/>
                <a:ea typeface="+mn-ea"/>
                <a:cs typeface="+mn-cs"/>
              </a:rPr>
              <a:t>Psychopathol</a:t>
            </a:r>
            <a:r>
              <a:rPr lang="en-US" sz="1200" kern="1200" dirty="0">
                <a:solidFill>
                  <a:schemeClr val="tx1"/>
                </a:solidFill>
                <a:effectLst/>
                <a:latin typeface="+mn-lt"/>
                <a:ea typeface="+mn-ea"/>
                <a:cs typeface="+mn-cs"/>
              </a:rPr>
              <a:t> 11(2): 901–914. Reproduced with permission.)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29221897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39708147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14.19  Classification systems of cannabis use and misuse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depicted in the figure, most people do not use cannabis. Experimental or occasional use is thought to pose relatively little risk to health. Increased levels of use have been associated with demonstrable risks to physical and/or mental health. Finally, high levels of use pose the greatest health risks and may cause the individual to meet diagnostic criteria for clinical disorders of cannabis use according to the </a:t>
            </a:r>
            <a:r>
              <a:rPr lang="en-US" sz="1200" i="1" kern="1200" dirty="0">
                <a:solidFill>
                  <a:schemeClr val="tx1"/>
                </a:solidFill>
                <a:effectLst/>
                <a:latin typeface="+mn-lt"/>
                <a:ea typeface="+mn-ea"/>
                <a:cs typeface="+mn-cs"/>
              </a:rPr>
              <a:t>DSM</a:t>
            </a:r>
            <a:r>
              <a:rPr lang="en-US" sz="1200" kern="1200" dirty="0">
                <a:solidFill>
                  <a:schemeClr val="tx1"/>
                </a:solidFill>
                <a:effectLst/>
                <a:latin typeface="+mn-lt"/>
                <a:ea typeface="+mn-ea"/>
                <a:cs typeface="+mn-cs"/>
              </a:rPr>
              <a:t> and ICD. (After J. P. Connor et al. 2021. </a:t>
            </a:r>
            <a:r>
              <a:rPr lang="en-US" sz="1200" i="1" kern="1200" dirty="0">
                <a:solidFill>
                  <a:schemeClr val="tx1"/>
                </a:solidFill>
                <a:effectLst/>
                <a:latin typeface="+mn-lt"/>
                <a:ea typeface="+mn-ea"/>
                <a:cs typeface="+mn-cs"/>
              </a:rPr>
              <a:t>Nat Rev Dis Primers</a:t>
            </a:r>
            <a:r>
              <a:rPr lang="en-US" sz="1200" kern="1200" dirty="0">
                <a:solidFill>
                  <a:schemeClr val="tx1"/>
                </a:solidFill>
                <a:effectLst/>
                <a:latin typeface="+mn-lt"/>
                <a:ea typeface="+mn-ea"/>
                <a:cs typeface="+mn-cs"/>
              </a:rPr>
              <a:t> 7: 16, hierarchy based on J. B. Saunders et al. [Eds.] 2016. </a:t>
            </a:r>
            <a:r>
              <a:rPr lang="en-US" sz="1200" i="1" kern="1200" dirty="0">
                <a:solidFill>
                  <a:schemeClr val="tx1"/>
                </a:solidFill>
                <a:effectLst/>
                <a:latin typeface="+mn-lt"/>
                <a:ea typeface="+mn-ea"/>
                <a:cs typeface="+mn-cs"/>
              </a:rPr>
              <a:t>Addiction Medicine.</a:t>
            </a:r>
            <a:r>
              <a:rPr lang="en-US" sz="1200" kern="1200" dirty="0">
                <a:solidFill>
                  <a:schemeClr val="tx1"/>
                </a:solidFill>
                <a:effectLst/>
                <a:latin typeface="+mn-lt"/>
                <a:ea typeface="+mn-ea"/>
                <a:cs typeface="+mn-cs"/>
              </a:rPr>
              <a:t> 2nd ed. Oxford University Press: Oxford.)</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11706289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14.20  Odds ratio of having a comorbid psychiatric condition for individuals with CUD 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These odds ratios show the difference in risk of having the indicated condition when individuals with and without CUD are compared. (Data from D. S. </a:t>
            </a:r>
            <a:r>
              <a:rPr lang="en-US" sz="1200" kern="1200" dirty="0" err="1">
                <a:solidFill>
                  <a:schemeClr val="tx1"/>
                </a:solidFill>
                <a:effectLst/>
                <a:latin typeface="+mn-lt"/>
                <a:ea typeface="+mn-ea"/>
                <a:cs typeface="+mn-cs"/>
              </a:rPr>
              <a:t>Hasin</a:t>
            </a:r>
            <a:r>
              <a:rPr lang="en-US" sz="1200" kern="1200" dirty="0">
                <a:solidFill>
                  <a:schemeClr val="tx1"/>
                </a:solidFill>
                <a:effectLst/>
                <a:latin typeface="+mn-lt"/>
                <a:ea typeface="+mn-ea"/>
                <a:cs typeface="+mn-cs"/>
              </a:rPr>
              <a:t> et al. 2016. </a:t>
            </a:r>
            <a:r>
              <a:rPr lang="en-US" sz="1200" i="1" kern="1200" dirty="0">
                <a:solidFill>
                  <a:schemeClr val="tx1"/>
                </a:solidFill>
                <a:effectLst/>
                <a:latin typeface="+mn-lt"/>
                <a:ea typeface="+mn-ea"/>
                <a:cs typeface="+mn-cs"/>
              </a:rPr>
              <a:t>Am J Psychiatry</a:t>
            </a:r>
            <a:r>
              <a:rPr lang="en-US" sz="1200" kern="1200" dirty="0">
                <a:solidFill>
                  <a:schemeClr val="tx1"/>
                </a:solidFill>
                <a:effectLst/>
                <a:latin typeface="+mn-lt"/>
                <a:ea typeface="+mn-ea"/>
                <a:cs typeface="+mn-cs"/>
              </a:rPr>
              <a:t> 173: 588–599.)</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21184569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38048134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7032038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14.21  Neurochemical changes related to acute cannabis use, chronic use and the development of CUD, and abstinence from use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Brain imaging studies have demonstrated that in occasional cannabis users or non-users, acute cannabis exposure causes increased striatal DA synthesis and release, and increased glutamate levels in the dorsal striatum and anterior cingulate cortex. With chronic cannabis use leading to CUD, these acute effects are reversed, resulting in below-normal DA synthesis and release and reduced glutamate levels. CB</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receptors throughout the brain are also down-regulated, contributing to cannabis tolerance. During abstinence, the reduction in CB</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receptors rapidly normalizes but not the DA- or glutamate-related changes. Striatal D</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/D</a:t>
            </a:r>
            <a:r>
              <a:rPr lang="en-US" sz="1200" kern="1200" baseline="-25000" dirty="0">
                <a:solidFill>
                  <a:schemeClr val="tx1"/>
                </a:solidFill>
                <a:effectLst/>
                <a:latin typeface="+mn-lt"/>
                <a:ea typeface="+mn-ea"/>
                <a:cs typeface="+mn-cs"/>
              </a:rPr>
              <a:t>3</a:t>
            </a:r>
            <a:r>
              <a:rPr lang="en-US" sz="1200" kern="1200" dirty="0">
                <a:solidFill>
                  <a:schemeClr val="tx1"/>
                </a:solidFill>
                <a:effectLst/>
                <a:latin typeface="+mn-lt"/>
                <a:ea typeface="+mn-ea"/>
                <a:cs typeface="+mn-cs"/>
              </a:rPr>
              <a:t> receptors do not seem to be affected in CUD. (After J.-M. N. </a:t>
            </a:r>
            <a:r>
              <a:rPr lang="en-US" sz="1200" kern="1200" dirty="0" err="1">
                <a:solidFill>
                  <a:schemeClr val="tx1"/>
                </a:solidFill>
                <a:effectLst/>
                <a:latin typeface="+mn-lt"/>
                <a:ea typeface="+mn-ea"/>
                <a:cs typeface="+mn-cs"/>
              </a:rPr>
              <a:t>Ferland</a:t>
            </a:r>
            <a:r>
              <a:rPr lang="en-US" sz="1200" kern="1200" dirty="0">
                <a:solidFill>
                  <a:schemeClr val="tx1"/>
                </a:solidFill>
                <a:effectLst/>
                <a:latin typeface="+mn-lt"/>
                <a:ea typeface="+mn-ea"/>
                <a:cs typeface="+mn-cs"/>
              </a:rPr>
              <a:t> and Y. L. Hurd. 2020. </a:t>
            </a:r>
            <a:r>
              <a:rPr lang="en-US" sz="1200" i="1" kern="1200" dirty="0">
                <a:solidFill>
                  <a:schemeClr val="tx1"/>
                </a:solidFill>
                <a:effectLst/>
                <a:latin typeface="+mn-lt"/>
                <a:ea typeface="+mn-ea"/>
                <a:cs typeface="+mn-cs"/>
              </a:rPr>
              <a:t>Nat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23: 600–610.)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4266863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38539913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34998944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34832926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TABLE 14.1  Summary of Acute and Chronic Effects of Cannabinoid Exposure on Cognitive Processes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13430560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18677785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14.23  Altered task-dependent functional brain activity in CUD compared to controls 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Studies compared regional brain activation in chronic cannabis users with controls during performance of specific cognitive or emotional tasks. Task-dependent activation patterns were measured using fMRI or EEG. The figure depicts summary results in which the indicated brain area showed either increased task-dependent activation in the cannabis-using group (left) or decreased activation in that group (right). Amy, amygdala; FC, frontal cortex; </a:t>
            </a:r>
            <a:r>
              <a:rPr lang="en-US" sz="1200" kern="1200" dirty="0" err="1">
                <a:solidFill>
                  <a:schemeClr val="tx1"/>
                </a:solidFill>
                <a:effectLst/>
                <a:latin typeface="+mn-lt"/>
                <a:ea typeface="+mn-ea"/>
                <a:cs typeface="+mn-cs"/>
              </a:rPr>
              <a:t>Hipp</a:t>
            </a:r>
            <a:r>
              <a:rPr lang="en-US" sz="1200" kern="1200" dirty="0">
                <a:solidFill>
                  <a:schemeClr val="tx1"/>
                </a:solidFill>
                <a:effectLst/>
                <a:latin typeface="+mn-lt"/>
                <a:ea typeface="+mn-ea"/>
                <a:cs typeface="+mn-cs"/>
              </a:rPr>
              <a:t>, hippocampus; MB, midbrain; MCN, </a:t>
            </a:r>
            <a:r>
              <a:rPr lang="en-US" sz="1200" kern="1200" dirty="0" err="1">
                <a:solidFill>
                  <a:schemeClr val="tx1"/>
                </a:solidFill>
                <a:effectLst/>
                <a:latin typeface="+mn-lt"/>
                <a:ea typeface="+mn-ea"/>
                <a:cs typeface="+mn-cs"/>
              </a:rPr>
              <a:t>mesocortico­limbic</a:t>
            </a:r>
            <a:r>
              <a:rPr lang="en-US" sz="1200" kern="1200" dirty="0">
                <a:solidFill>
                  <a:schemeClr val="tx1"/>
                </a:solidFill>
                <a:effectLst/>
                <a:latin typeface="+mn-lt"/>
                <a:ea typeface="+mn-ea"/>
                <a:cs typeface="+mn-cs"/>
              </a:rPr>
              <a:t> network (corresponding to the combined mesolimbic and </a:t>
            </a:r>
            <a:r>
              <a:rPr lang="en-US" sz="1200" kern="1200" dirty="0" err="1">
                <a:solidFill>
                  <a:schemeClr val="tx1"/>
                </a:solidFill>
                <a:effectLst/>
                <a:latin typeface="+mn-lt"/>
                <a:ea typeface="+mn-ea"/>
                <a:cs typeface="+mn-cs"/>
              </a:rPr>
              <a:t>mesocortical</a:t>
            </a:r>
            <a:r>
              <a:rPr lang="en-US" sz="1200" kern="1200" dirty="0">
                <a:solidFill>
                  <a:schemeClr val="tx1"/>
                </a:solidFill>
                <a:effectLst/>
                <a:latin typeface="+mn-lt"/>
                <a:ea typeface="+mn-ea"/>
                <a:cs typeface="+mn-cs"/>
              </a:rPr>
              <a:t> dopaminergic pathways); </a:t>
            </a:r>
            <a:r>
              <a:rPr lang="en-US" sz="1200" kern="1200" dirty="0" err="1">
                <a:solidFill>
                  <a:schemeClr val="tx1"/>
                </a:solidFill>
                <a:effectLst/>
                <a:latin typeface="+mn-lt"/>
                <a:ea typeface="+mn-ea"/>
                <a:cs typeface="+mn-cs"/>
              </a:rPr>
              <a:t>NAcc</a:t>
            </a:r>
            <a:r>
              <a:rPr lang="en-US" sz="1200" kern="1200" dirty="0">
                <a:solidFill>
                  <a:schemeClr val="tx1"/>
                </a:solidFill>
                <a:effectLst/>
                <a:latin typeface="+mn-lt"/>
                <a:ea typeface="+mn-ea"/>
                <a:cs typeface="+mn-cs"/>
              </a:rPr>
              <a:t>, nucleus </a:t>
            </a:r>
            <a:r>
              <a:rPr lang="en-US" sz="1200" kern="1200" dirty="0" err="1">
                <a:solidFill>
                  <a:schemeClr val="tx1"/>
                </a:solidFill>
                <a:effectLst/>
                <a:latin typeface="+mn-lt"/>
                <a:ea typeface="+mn-ea"/>
                <a:cs typeface="+mn-cs"/>
              </a:rPr>
              <a:t>accumbens</a:t>
            </a:r>
            <a:r>
              <a:rPr lang="en-US" sz="1200" kern="1200" dirty="0">
                <a:solidFill>
                  <a:schemeClr val="tx1"/>
                </a:solidFill>
                <a:effectLst/>
                <a:latin typeface="+mn-lt"/>
                <a:ea typeface="+mn-ea"/>
                <a:cs typeface="+mn-cs"/>
              </a:rPr>
              <a:t>; OFC, orbitofrontal cortex; PFC, prefrontal cortex; </a:t>
            </a:r>
            <a:r>
              <a:rPr lang="en-US" sz="1200" kern="1200" dirty="0" err="1">
                <a:solidFill>
                  <a:schemeClr val="tx1"/>
                </a:solidFill>
                <a:effectLst/>
                <a:latin typeface="+mn-lt"/>
                <a:ea typeface="+mn-ea"/>
                <a:cs typeface="+mn-cs"/>
              </a:rPr>
              <a:t>Str</a:t>
            </a:r>
            <a:r>
              <a:rPr lang="en-US" sz="1200" kern="1200" dirty="0">
                <a:solidFill>
                  <a:schemeClr val="tx1"/>
                </a:solidFill>
                <a:effectLst/>
                <a:latin typeface="+mn-lt"/>
                <a:ea typeface="+mn-ea"/>
                <a:cs typeface="+mn-cs"/>
              </a:rPr>
              <a:t>, striatum. (After J.-M. N. </a:t>
            </a:r>
            <a:r>
              <a:rPr lang="en-US" sz="1200" kern="1200" dirty="0" err="1">
                <a:solidFill>
                  <a:schemeClr val="tx1"/>
                </a:solidFill>
                <a:effectLst/>
                <a:latin typeface="+mn-lt"/>
                <a:ea typeface="+mn-ea"/>
                <a:cs typeface="+mn-cs"/>
              </a:rPr>
              <a:t>Ferland</a:t>
            </a:r>
            <a:r>
              <a:rPr lang="en-US" sz="1200" kern="1200" dirty="0">
                <a:solidFill>
                  <a:schemeClr val="tx1"/>
                </a:solidFill>
                <a:effectLst/>
                <a:latin typeface="+mn-lt"/>
                <a:ea typeface="+mn-ea"/>
                <a:cs typeface="+mn-cs"/>
              </a:rPr>
              <a:t> and Y. L. Hurd. 2020. </a:t>
            </a:r>
            <a:r>
              <a:rPr lang="en-US" sz="1200" i="1" kern="1200" dirty="0">
                <a:solidFill>
                  <a:schemeClr val="tx1"/>
                </a:solidFill>
                <a:effectLst/>
                <a:latin typeface="+mn-lt"/>
                <a:ea typeface="+mn-ea"/>
                <a:cs typeface="+mn-cs"/>
              </a:rPr>
              <a:t>Nat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23: 600–610.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/10.1038/s41593-020-0611-0.)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519418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14.24  Chronic treatment of adolescent rats with CP-55,940 reduced PFC dendritic length and impaired LTP at hippocampal–PFC synapses 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Male rats were given daily IP injections of CP-55,940 (CP) or drug vehicle (VEH) from postnatal day 29 through day 50. Doses were 0.15 mg/kg for the first 7 days, 0.20 mg/kg for the next 7 days, and 0.30 mg/kg for the last 7 days. No further treatments were given after day 50. (A) On postnatal day 92, some of the CP-55,940–treated and control rats were killed and their brains were stained to visualize dendritic arbors using a modification of the Golgi technique (see Chapter 2). Measurement of dendritic length of cortical layer 2/3 pyramidal neurons in the PFC revealed a significant reduction in basal dendrites and in total dendritic length (basal + apical). (B) Separate groups of rats at day 92 or later were anesthetized for electrophysiological analysis of long-term potentiation (LTP) at hippocampal–PFC synapses that was induced by high-frequency stimulation (HFS). LTP in the drug-treated rats (measured as postsynaptic potential [PSP] amplitude) was impaired when compared with vehicle-treated animals. (After J. Renard et al. 2016. </a:t>
            </a:r>
            <a:r>
              <a:rPr lang="en-US" sz="1200" i="1" kern="1200" dirty="0" err="1">
                <a:solidFill>
                  <a:schemeClr val="tx1"/>
                </a:solidFill>
                <a:effectLst/>
                <a:latin typeface="+mn-lt"/>
                <a:ea typeface="+mn-ea"/>
                <a:cs typeface="+mn-cs"/>
              </a:rPr>
              <a:t>Eur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Neuropsychopharmacol</a:t>
            </a:r>
            <a:r>
              <a:rPr lang="en-US" sz="1200" kern="1200" dirty="0">
                <a:solidFill>
                  <a:schemeClr val="tx1"/>
                </a:solidFill>
                <a:effectLst/>
                <a:latin typeface="+mn-lt"/>
                <a:ea typeface="+mn-ea"/>
                <a:cs typeface="+mn-cs"/>
              </a:rPr>
              <a:t> 26: 55–64.)</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23759264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25368295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21358204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1" kern="1200" cap="all" dirty="0">
                <a:solidFill>
                  <a:schemeClr val="tx1"/>
                </a:solidFill>
                <a:effectLst/>
                <a:latin typeface="+mn-lt"/>
                <a:ea typeface="+mn-ea"/>
                <a:cs typeface="+mn-cs"/>
              </a:rPr>
              <a:t>Box 14.2  </a:t>
            </a:r>
            <a:r>
              <a:rPr lang="en-US" sz="1200" b="1" kern="1200" dirty="0">
                <a:solidFill>
                  <a:schemeClr val="tx1"/>
                </a:solidFill>
                <a:effectLst/>
                <a:latin typeface="+mn-lt"/>
                <a:ea typeface="+mn-ea"/>
                <a:cs typeface="+mn-cs"/>
              </a:rPr>
              <a:t>Of Special </a:t>
            </a:r>
            <a:r>
              <a:rPr lang="en-GB" sz="1200" b="1" kern="1200" dirty="0">
                <a:solidFill>
                  <a:schemeClr val="tx1"/>
                </a:solidFill>
                <a:effectLst/>
                <a:latin typeface="+mn-lt"/>
                <a:ea typeface="+mn-ea"/>
                <a:cs typeface="+mn-cs"/>
              </a:rPr>
              <a:t>Interest: Beyond Cannabis: The Rise of Synthetic Cannabinoids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A  Timeline of introduction of new synthetic cannabinoids in the United States from 2008 through 2019 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present, there is no systematic nomenclature system for synthetic cannabinoids, which is the reason for the confusing variety of names shown in the figure. To some extent, however, drug name similarities can be seen that indicate particular families of compounds in which modifications have been made to the basic structure of the drug while retaining cannabinoid agonist activity (e.g., JWH series, FUB series, MDMB series). The information presented was provided by the U.S. Drug Enforcement Administration (DEA). (After A. J. </a:t>
            </a:r>
            <a:r>
              <a:rPr lang="en-US" sz="1200" kern="1200" dirty="0" err="1">
                <a:solidFill>
                  <a:schemeClr val="tx1"/>
                </a:solidFill>
                <a:effectLst/>
                <a:latin typeface="+mn-lt"/>
                <a:ea typeface="+mn-ea"/>
                <a:cs typeface="+mn-cs"/>
              </a:rPr>
              <a:t>Krotulski</a:t>
            </a:r>
            <a:r>
              <a:rPr lang="en-US" sz="1200" kern="1200" dirty="0">
                <a:solidFill>
                  <a:schemeClr val="tx1"/>
                </a:solidFill>
                <a:effectLst/>
                <a:latin typeface="+mn-lt"/>
                <a:ea typeface="+mn-ea"/>
                <a:cs typeface="+mn-cs"/>
              </a:rPr>
              <a:t> et al. 2021. </a:t>
            </a:r>
            <a:r>
              <a:rPr lang="en-US" sz="1200" i="1" kern="1200" dirty="0">
                <a:solidFill>
                  <a:schemeClr val="tx1"/>
                </a:solidFill>
                <a:effectLst/>
                <a:latin typeface="+mn-lt"/>
                <a:ea typeface="+mn-ea"/>
                <a:cs typeface="+mn-cs"/>
              </a:rPr>
              <a:t>Drug Test Anal</a:t>
            </a:r>
            <a:r>
              <a:rPr lang="en-US" sz="1200" kern="1200" dirty="0">
                <a:solidFill>
                  <a:schemeClr val="tx1"/>
                </a:solidFill>
                <a:effectLst/>
                <a:latin typeface="+mn-lt"/>
                <a:ea typeface="+mn-ea"/>
                <a:cs typeface="+mn-cs"/>
              </a:rPr>
              <a:t> 13: 427– 438. © 2020 John Wiley &amp; Sons Ltd.)</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15790438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a</a:t>
            </a:r>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1805110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571500" indent="-342900" algn="l" defTabSz="914400" rtl="0" eaLnBrk="1" latinLnBrk="0" hangingPunct="1">
              <a:spcBef>
                <a:spcPts val="1800"/>
              </a:spcBef>
              <a:buFont typeface="Arial" pitchFamily="34" charset="0"/>
              <a:buChar char="•"/>
              <a:defRPr lang="en-US" sz="2800" kern="1200" baseline="0" dirty="0">
                <a:solidFill>
                  <a:schemeClr val="tx1"/>
                </a:solidFill>
                <a:latin typeface="+mn-lt"/>
                <a:ea typeface="+mn-ea"/>
                <a:cs typeface="+mn-cs"/>
              </a:defRPr>
            </a:lvl1pPr>
            <a:lvl2pPr marL="1263650" indent="-349250" algn="l" defTabSz="914400" rtl="0" eaLnBrk="1" latinLnBrk="0" hangingPunct="1">
              <a:spcBef>
                <a:spcPts val="1800"/>
              </a:spcBef>
              <a:buFont typeface="Courier New" panose="02070309020205020404" pitchFamily="49" charset="0"/>
              <a:buChar char="o"/>
              <a:defRPr lang="en-US" sz="2800" kern="1200" baseline="0" dirty="0">
                <a:solidFill>
                  <a:schemeClr val="tx1"/>
                </a:solidFill>
                <a:latin typeface="+mn-lt"/>
                <a:ea typeface="+mn-ea"/>
                <a:cs typeface="+mn-cs"/>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with foot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521148"/>
            <a:ext cx="11375136" cy="5234193"/>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878EAF8-01A3-C646-81D5-63CAAFC7D31A}"/>
              </a:ext>
            </a:extLst>
          </p:cNvPr>
          <p:cNvSpPr>
            <a:spLocks noGrp="1"/>
          </p:cNvSpPr>
          <p:nvPr>
            <p:ph sz="quarter" idx="12"/>
          </p:nvPr>
        </p:nvSpPr>
        <p:spPr>
          <a:xfrm>
            <a:off x="408432" y="5868334"/>
            <a:ext cx="11375136" cy="882650"/>
          </a:xfrm>
          <a:prstGeom prst="rect">
            <a:avLst/>
          </a:prstGeom>
        </p:spPr>
        <p:txBody>
          <a:bodyPr/>
          <a:lstStyle>
            <a:lvl1pPr marL="0" indent="0">
              <a:buNone/>
              <a:tabLst/>
              <a:defRPr sz="1600"/>
            </a:lvl1pPr>
          </a:lstStyle>
          <a:p>
            <a:pPr lvl="0"/>
            <a:r>
              <a:rPr lang="en-US" dirty="0"/>
              <a:t>Edit Master text styles</a:t>
            </a:r>
          </a:p>
        </p:txBody>
      </p:sp>
    </p:spTree>
    <p:extLst>
      <p:ext uri="{BB962C8B-B14F-4D97-AF65-F5344CB8AC3E}">
        <p14:creationId xmlns:p14="http://schemas.microsoft.com/office/powerpoint/2010/main" val="3162388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21792"/>
          </a:xfrm>
        </p:spPr>
        <p:txBody>
          <a:bodyPr/>
          <a:lstStyle>
            <a:lvl1pPr>
              <a:defRPr/>
            </a:lvl1pPr>
          </a:lstStyle>
          <a:p>
            <a:r>
              <a:rPr lang="en-US" dirty="0"/>
              <a:t>Click to edit Master title style</a:t>
            </a:r>
          </a:p>
        </p:txBody>
      </p:sp>
      <p:sp>
        <p:nvSpPr>
          <p:cNvPr id="5" name="Content Placeholder 4">
            <a:extLst>
              <a:ext uri="{FF2B5EF4-FFF2-40B4-BE49-F238E27FC236}">
                <a16:creationId xmlns:a16="http://schemas.microsoft.com/office/drawing/2014/main" id="{8DBA5D03-AECA-2B4D-AD11-BC8666A45DCD}"/>
              </a:ext>
            </a:extLst>
          </p:cNvPr>
          <p:cNvSpPr>
            <a:spLocks noGrp="1"/>
          </p:cNvSpPr>
          <p:nvPr>
            <p:ph sz="quarter" idx="10"/>
          </p:nvPr>
        </p:nvSpPr>
        <p:spPr>
          <a:xfrm>
            <a:off x="408432" y="668867"/>
            <a:ext cx="11375136" cy="6108042"/>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9804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84" r:id="rId1"/>
    <p:sldLayoutId id="2147483680" r:id="rId2"/>
    <p:sldLayoutId id="2147483679" r:id="rId3"/>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a:t>by Meyer, Farrar, Biezonski, Yates</a:t>
            </a:r>
            <a:endParaRPr lang="en-US" dirty="0"/>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3205182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14</a:t>
            </a:r>
            <a:br>
              <a:rPr lang="en-US" dirty="0"/>
            </a:br>
            <a:r>
              <a:rPr lang="en-US" sz="4000" i="1" dirty="0"/>
              <a:t>Marijuana and the Cannabinoids</a:t>
            </a:r>
            <a:endParaRPr lang="en-US" i="1" dirty="0"/>
          </a:p>
        </p:txBody>
      </p:sp>
      <p:sp>
        <p:nvSpPr>
          <p:cNvPr id="3" name="Text Placeholder 2"/>
          <p:cNvSpPr>
            <a:spLocks noGrp="1"/>
          </p:cNvSpPr>
          <p:nvPr>
            <p:ph idx="1"/>
          </p:nvPr>
        </p:nvSpPr>
        <p:spPr/>
        <p:txBody>
          <a:bodyPr/>
          <a:lstStyle/>
          <a:p>
            <a:pPr marL="914400" indent="-914400">
              <a:spcBef>
                <a:spcPts val="2400"/>
              </a:spcBef>
              <a:buNone/>
            </a:pPr>
            <a:r>
              <a:rPr lang="en-US" dirty="0"/>
              <a:t>14.1  Background, History, and Basic Pharmacology of Cannabis and Marijuana</a:t>
            </a:r>
          </a:p>
          <a:p>
            <a:pPr marL="914400" indent="-914400">
              <a:spcBef>
                <a:spcPts val="2400"/>
              </a:spcBef>
              <a:buNone/>
            </a:pPr>
            <a:r>
              <a:rPr lang="en-US" dirty="0"/>
              <a:t>14.2  Mechanisms of Cannabinoid Action</a:t>
            </a:r>
          </a:p>
          <a:p>
            <a:pPr marL="914400" indent="-914400">
              <a:spcBef>
                <a:spcPts val="2400"/>
              </a:spcBef>
              <a:buNone/>
            </a:pPr>
            <a:r>
              <a:rPr lang="en-US" dirty="0"/>
              <a:t>14.3  Acute Behavioral and Physiological Effects of Cannabinoids</a:t>
            </a:r>
          </a:p>
          <a:p>
            <a:pPr marL="914400" indent="-914400">
              <a:spcBef>
                <a:spcPts val="2400"/>
              </a:spcBef>
              <a:buNone/>
            </a:pPr>
            <a:r>
              <a:rPr lang="en-US" dirty="0"/>
              <a:t>14.4  Cannabis Use, Misuse, and the Effects of Chronic Cannabis Exposure</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14</a:t>
            </a:r>
            <a:br>
              <a:rPr lang="en-US" dirty="0"/>
            </a:br>
            <a:r>
              <a:rPr lang="en-US" sz="4000" dirty="0"/>
              <a:t>Learning Objectives </a:t>
            </a:r>
            <a:r>
              <a:rPr lang="en-US" sz="1300" dirty="0"/>
              <a:t>(1 of 4)</a:t>
            </a:r>
            <a:endParaRPr lang="en-US" dirty="0"/>
          </a:p>
        </p:txBody>
      </p:sp>
      <p:sp>
        <p:nvSpPr>
          <p:cNvPr id="3" name="Text Placeholder 2"/>
          <p:cNvSpPr>
            <a:spLocks noGrp="1"/>
          </p:cNvSpPr>
          <p:nvPr>
            <p:ph idx="1"/>
          </p:nvPr>
        </p:nvSpPr>
        <p:spPr>
          <a:xfrm>
            <a:off x="609600" y="1857780"/>
            <a:ext cx="10972800" cy="4564791"/>
          </a:xfrm>
        </p:spPr>
        <p:txBody>
          <a:bodyPr>
            <a:normAutofit/>
          </a:bodyPr>
          <a:lstStyle/>
          <a:p>
            <a:pPr marL="1143000" indent="-1143000">
              <a:lnSpc>
                <a:spcPct val="110000"/>
              </a:lnSpc>
              <a:spcBef>
                <a:spcPts val="1800"/>
              </a:spcBef>
              <a:buNone/>
            </a:pPr>
            <a:r>
              <a:rPr lang="en-US" sz="2800" dirty="0"/>
              <a:t>14.1.1  Name the various forms of cannabis and their chemical constituents.</a:t>
            </a:r>
          </a:p>
          <a:p>
            <a:pPr marL="1143000" indent="-1143000">
              <a:lnSpc>
                <a:spcPct val="110000"/>
              </a:lnSpc>
              <a:spcBef>
                <a:spcPts val="1800"/>
              </a:spcBef>
              <a:buNone/>
            </a:pPr>
            <a:r>
              <a:rPr lang="en-US" sz="2800" dirty="0"/>
              <a:t>14.1.2  Discuss the history of cannabis.</a:t>
            </a:r>
          </a:p>
          <a:p>
            <a:pPr marL="1143000" indent="-1143000">
              <a:lnSpc>
                <a:spcPct val="110000"/>
              </a:lnSpc>
              <a:spcBef>
                <a:spcPts val="1800"/>
              </a:spcBef>
              <a:buNone/>
            </a:pPr>
            <a:r>
              <a:rPr lang="en-US" sz="2800" dirty="0"/>
              <a:t>14.1.3  Describe the basic pharmacology of THC when consumed as marijuana.</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14</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(2 of 4)</a:t>
            </a:r>
            <a:endParaRPr lang="en-US" dirty="0"/>
          </a:p>
        </p:txBody>
      </p:sp>
      <p:sp>
        <p:nvSpPr>
          <p:cNvPr id="3" name="Text Placeholder 2"/>
          <p:cNvSpPr>
            <a:spLocks noGrp="1"/>
          </p:cNvSpPr>
          <p:nvPr>
            <p:ph idx="1"/>
          </p:nvPr>
        </p:nvSpPr>
        <p:spPr>
          <a:xfrm>
            <a:off x="609600" y="1857780"/>
            <a:ext cx="10972800" cy="4564791"/>
          </a:xfrm>
        </p:spPr>
        <p:txBody>
          <a:bodyPr>
            <a:normAutofit fontScale="92500"/>
          </a:bodyPr>
          <a:lstStyle/>
          <a:p>
            <a:pPr marL="1143000" indent="-1143000">
              <a:spcBef>
                <a:spcPts val="1200"/>
              </a:spcBef>
              <a:buNone/>
            </a:pPr>
            <a:r>
              <a:rPr lang="en-US" dirty="0"/>
              <a:t>14.2.1  Discuss the features of cannabinoid receptors, including their locations, signaling mechanisms, and functional roles.</a:t>
            </a:r>
          </a:p>
          <a:p>
            <a:pPr marL="1143000" indent="-1143000">
              <a:spcBef>
                <a:spcPts val="1200"/>
              </a:spcBef>
              <a:buNone/>
            </a:pPr>
            <a:r>
              <a:rPr lang="en-US" dirty="0"/>
              <a:t>14.2.2  Describe the mechanisms of action of CBD and how they differ from the mechanism of action of THC.</a:t>
            </a:r>
          </a:p>
          <a:p>
            <a:pPr marL="1143000" indent="-1143000">
              <a:spcBef>
                <a:spcPts val="1200"/>
              </a:spcBef>
              <a:buNone/>
            </a:pPr>
            <a:r>
              <a:rPr lang="en-US" dirty="0"/>
              <a:t>14.2.3  Describe the endocannabinoid system, including the identity of the major endocannabinoids, their synthesis and metabolism, and their functional effects.</a:t>
            </a:r>
          </a:p>
          <a:p>
            <a:pPr marL="1143000" indent="-1143000">
              <a:spcBef>
                <a:spcPts val="1200"/>
              </a:spcBef>
              <a:buNone/>
            </a:pPr>
            <a:r>
              <a:rPr lang="en-US" dirty="0"/>
              <a:t>14.2.4  Discuss the current status of cannabinoid-based medications, including medications containing pure cannabinoids, medical marijuana, and proposed therapeutic benefits of over-the-counter CBD formulations.</a:t>
            </a:r>
          </a:p>
        </p:txBody>
      </p:sp>
    </p:spTree>
    <p:extLst>
      <p:ext uri="{BB962C8B-B14F-4D97-AF65-F5344CB8AC3E}">
        <p14:creationId xmlns:p14="http://schemas.microsoft.com/office/powerpoint/2010/main" val="347721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14</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(3 of 4)</a:t>
            </a:r>
            <a:endParaRPr lang="en-US" dirty="0"/>
          </a:p>
        </p:txBody>
      </p:sp>
      <p:sp>
        <p:nvSpPr>
          <p:cNvPr id="3" name="Text Placeholder 2"/>
          <p:cNvSpPr>
            <a:spLocks noGrp="1"/>
          </p:cNvSpPr>
          <p:nvPr>
            <p:ph idx="1"/>
          </p:nvPr>
        </p:nvSpPr>
        <p:spPr>
          <a:xfrm>
            <a:off x="609600" y="1857780"/>
            <a:ext cx="10972800" cy="4564791"/>
          </a:xfrm>
        </p:spPr>
        <p:txBody>
          <a:bodyPr>
            <a:normAutofit/>
          </a:bodyPr>
          <a:lstStyle/>
          <a:p>
            <a:pPr marL="1143000" indent="-1143000">
              <a:lnSpc>
                <a:spcPct val="110000"/>
              </a:lnSpc>
              <a:spcBef>
                <a:spcPts val="1800"/>
              </a:spcBef>
              <a:buNone/>
            </a:pPr>
            <a:r>
              <a:rPr lang="en-US" sz="2800" dirty="0"/>
              <a:t>14.3.1  Describe the subjective features of cannabis intoxication.</a:t>
            </a:r>
          </a:p>
          <a:p>
            <a:pPr marL="1143000" indent="-1143000">
              <a:lnSpc>
                <a:spcPct val="110000"/>
              </a:lnSpc>
              <a:spcBef>
                <a:spcPts val="1800"/>
              </a:spcBef>
              <a:buNone/>
            </a:pPr>
            <a:r>
              <a:rPr lang="en-US" sz="2800" dirty="0"/>
              <a:t>14.3.2  Discuss the short-term effects of marijuana use on cognitive function.</a:t>
            </a:r>
          </a:p>
          <a:p>
            <a:pPr marL="1143000" indent="-1143000">
              <a:lnSpc>
                <a:spcPct val="110000"/>
              </a:lnSpc>
              <a:spcBef>
                <a:spcPts val="1800"/>
              </a:spcBef>
              <a:buNone/>
            </a:pPr>
            <a:r>
              <a:rPr lang="en-US" sz="2800" dirty="0"/>
              <a:t>14.3.3  Describe evidence for cannabinoid reinforcement and its underlying mechanisms. </a:t>
            </a:r>
          </a:p>
        </p:txBody>
      </p:sp>
    </p:spTree>
    <p:extLst>
      <p:ext uri="{BB962C8B-B14F-4D97-AF65-F5344CB8AC3E}">
        <p14:creationId xmlns:p14="http://schemas.microsoft.com/office/powerpoint/2010/main" val="2169517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14</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(4 of 4)</a:t>
            </a:r>
            <a:endParaRPr lang="en-US" dirty="0"/>
          </a:p>
        </p:txBody>
      </p:sp>
      <p:sp>
        <p:nvSpPr>
          <p:cNvPr id="3" name="Text Placeholder 2"/>
          <p:cNvSpPr>
            <a:spLocks noGrp="1"/>
          </p:cNvSpPr>
          <p:nvPr>
            <p:ph idx="1"/>
          </p:nvPr>
        </p:nvSpPr>
        <p:spPr>
          <a:xfrm>
            <a:off x="609600" y="1857780"/>
            <a:ext cx="10972800" cy="4564791"/>
          </a:xfrm>
        </p:spPr>
        <p:txBody>
          <a:bodyPr>
            <a:normAutofit lnSpcReduction="10000"/>
          </a:bodyPr>
          <a:lstStyle/>
          <a:p>
            <a:pPr marL="1143000" indent="-1143000">
              <a:lnSpc>
                <a:spcPct val="120000"/>
              </a:lnSpc>
              <a:spcBef>
                <a:spcPts val="1800"/>
              </a:spcBef>
              <a:buNone/>
            </a:pPr>
            <a:r>
              <a:rPr lang="en-US" sz="2800" dirty="0"/>
              <a:t>14.4.1  (a) Describe the characteristics of recreational cannabis use, (b) cannabis use disorder (CUD), and (c) the treatment of CUD.</a:t>
            </a:r>
          </a:p>
          <a:p>
            <a:pPr marL="1143000" indent="-1143000">
              <a:lnSpc>
                <a:spcPct val="120000"/>
              </a:lnSpc>
              <a:spcBef>
                <a:spcPts val="1800"/>
              </a:spcBef>
              <a:buNone/>
            </a:pPr>
            <a:r>
              <a:rPr lang="en-US" sz="2800" dirty="0"/>
              <a:t>14.4.2  Discuss the issues around marijuana legalization and its potential consequences.</a:t>
            </a:r>
          </a:p>
          <a:p>
            <a:pPr marL="1143000" indent="-1143000">
              <a:lnSpc>
                <a:spcPct val="120000"/>
              </a:lnSpc>
              <a:spcBef>
                <a:spcPts val="1800"/>
              </a:spcBef>
              <a:buNone/>
            </a:pPr>
            <a:r>
              <a:rPr lang="en-US" sz="2800" dirty="0"/>
              <a:t>14.4.3  Describe the adverse behavioral, neurobiological, and health effects of chronic cannabis use.</a:t>
            </a:r>
          </a:p>
          <a:p>
            <a:pPr marL="1143000" indent="-1143000">
              <a:lnSpc>
                <a:spcPct val="120000"/>
              </a:lnSpc>
              <a:spcBef>
                <a:spcPts val="1800"/>
              </a:spcBef>
              <a:buNone/>
            </a:pPr>
            <a:r>
              <a:rPr lang="en-US" sz="2800" dirty="0"/>
              <a:t>14.4.4  Describe the key differences between cannabis and synthetic cannabinoids.</a:t>
            </a:r>
          </a:p>
        </p:txBody>
      </p:sp>
    </p:spTree>
    <p:extLst>
      <p:ext uri="{BB962C8B-B14F-4D97-AF65-F5344CB8AC3E}">
        <p14:creationId xmlns:p14="http://schemas.microsoft.com/office/powerpoint/2010/main" val="995771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Background, History, and </a:t>
            </a:r>
            <a:br>
              <a:rPr lang="en-US" dirty="0"/>
            </a:br>
            <a:r>
              <a:rPr lang="en-US" dirty="0"/>
              <a:t>Basic Pharmacology of Cannabis and Marijuana </a:t>
            </a:r>
            <a:r>
              <a:rPr lang="en-US" sz="1300" dirty="0"/>
              <a:t>(1 of 4)</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Forms of cannabis and their chemical constituents</a:t>
            </a:r>
          </a:p>
          <a:p>
            <a:r>
              <a:rPr lang="en-US" altLang="en-US" dirty="0"/>
              <a:t>Marijuana is produced from flowering hemp (</a:t>
            </a:r>
            <a:r>
              <a:rPr lang="en-US" altLang="en-US" i="1" dirty="0"/>
              <a:t>Cannabis sativa</a:t>
            </a:r>
            <a:r>
              <a:rPr lang="en-US" altLang="en-US" dirty="0"/>
              <a:t>)</a:t>
            </a:r>
          </a:p>
          <a:p>
            <a:r>
              <a:rPr lang="en-US" altLang="en-US" dirty="0"/>
              <a:t>Plants contain over 120 compounds called </a:t>
            </a:r>
            <a:r>
              <a:rPr lang="en-US" altLang="en-US" b="1" dirty="0" err="1"/>
              <a:t>phytocannabinoids</a:t>
            </a:r>
            <a:endParaRPr lang="en-US" altLang="en-US" dirty="0"/>
          </a:p>
          <a:p>
            <a:r>
              <a:rPr lang="en-US" altLang="en-US" dirty="0"/>
              <a:t>The psychoactive compound is </a:t>
            </a:r>
            <a:r>
              <a:rPr lang="el-GR" altLang="en-US" b="1" dirty="0">
                <a:latin typeface="PalatinoLT-Roman"/>
              </a:rPr>
              <a:t>Δ</a:t>
            </a:r>
            <a:r>
              <a:rPr lang="en-US" altLang="en-US" b="1" dirty="0"/>
              <a:t>9-tetrahydrocannabinol</a:t>
            </a:r>
            <a:r>
              <a:rPr lang="en-US" altLang="en-US" dirty="0"/>
              <a:t> (</a:t>
            </a:r>
            <a:r>
              <a:rPr lang="en-US" altLang="en-US" b="1" dirty="0"/>
              <a:t>THC</a:t>
            </a:r>
            <a:r>
              <a:rPr lang="en-US" altLang="en-US" dirty="0"/>
              <a:t>)</a:t>
            </a:r>
          </a:p>
          <a:p>
            <a:r>
              <a:rPr lang="en-US" altLang="en-US" b="1" dirty="0"/>
              <a:t>Marijuana</a:t>
            </a:r>
            <a:r>
              <a:rPr lang="en-US" altLang="en-US" dirty="0"/>
              <a:t>: mix of dried leaves and flowering tops; smoked in pipes or bongs or rolled cigarettes (“joints”); sometimes combined with tobacco </a:t>
            </a:r>
          </a:p>
          <a:p>
            <a:r>
              <a:rPr lang="en-US" dirty="0"/>
              <a:t>Now available: cannabis edibles and vaping</a:t>
            </a:r>
          </a:p>
        </p:txBody>
      </p:sp>
    </p:spTree>
    <p:extLst>
      <p:ext uri="{BB962C8B-B14F-4D97-AF65-F5344CB8AC3E}">
        <p14:creationId xmlns:p14="http://schemas.microsoft.com/office/powerpoint/2010/main" val="2666009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Background, History, and </a:t>
            </a:r>
            <a:br>
              <a:rPr lang="en-US" dirty="0"/>
            </a:br>
            <a:r>
              <a:rPr lang="en-US" dirty="0"/>
              <a:t>Basic Pharmacology of Cannabis and Marijuana </a:t>
            </a:r>
            <a:r>
              <a:rPr lang="en-US" sz="1300" dirty="0"/>
              <a:t>(2 of 4)</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Forms of cannabis and their chemical constituents</a:t>
            </a:r>
          </a:p>
          <a:p>
            <a:r>
              <a:rPr lang="en-US" altLang="en-US" dirty="0"/>
              <a:t>Marijuana potency (THC content) varies, depending on genetic strain of the plant and growing conditions</a:t>
            </a:r>
          </a:p>
          <a:p>
            <a:r>
              <a:rPr lang="en-US" altLang="en-US" dirty="0"/>
              <a:t>Potency can be increased by preventing pollination and seed production – </a:t>
            </a:r>
            <a:r>
              <a:rPr lang="en-US" altLang="en-US" b="1" dirty="0"/>
              <a:t>sinsemilla</a:t>
            </a:r>
            <a:r>
              <a:rPr lang="en-US" altLang="en-US" dirty="0"/>
              <a:t> (“without seeds”)</a:t>
            </a:r>
          </a:p>
          <a:p>
            <a:r>
              <a:rPr lang="en-US" altLang="en-US" b="1" dirty="0"/>
              <a:t>Hashish</a:t>
            </a:r>
            <a:r>
              <a:rPr lang="en-US" altLang="en-US" dirty="0"/>
              <a:t> is a concentrated form of cannabis – smoked or eaten</a:t>
            </a:r>
          </a:p>
          <a:p>
            <a:r>
              <a:rPr lang="en-US" altLang="en-US" b="1" dirty="0"/>
              <a:t>Dabbing</a:t>
            </a:r>
            <a:r>
              <a:rPr lang="en-US" altLang="en-US" dirty="0"/>
              <a:t>: cannabis is extracted with butane to form a waxy residue with high THC content; a dab (one dose) is vaporized with a blowtorch or vape pen and inhaled</a:t>
            </a:r>
          </a:p>
        </p:txBody>
      </p:sp>
    </p:spTree>
    <p:extLst>
      <p:ext uri="{BB962C8B-B14F-4D97-AF65-F5344CB8AC3E}">
        <p14:creationId xmlns:p14="http://schemas.microsoft.com/office/powerpoint/2010/main" val="26298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Background, History, and </a:t>
            </a:r>
            <a:br>
              <a:rPr lang="en-US" dirty="0"/>
            </a:br>
            <a:r>
              <a:rPr lang="en-US" dirty="0"/>
              <a:t>Basic Pharmacology of Cannabis and Marijuana </a:t>
            </a:r>
            <a:r>
              <a:rPr lang="en-US" sz="1300" dirty="0"/>
              <a:t>(3 of 4)</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ct val="20000"/>
              </a:spcBef>
              <a:buNone/>
            </a:pPr>
            <a:r>
              <a:rPr lang="en-US" sz="3500" dirty="0"/>
              <a:t>Forms of cannabis and their chemical constituents</a:t>
            </a:r>
          </a:p>
          <a:p>
            <a:r>
              <a:rPr lang="en-US" altLang="en-US" dirty="0"/>
              <a:t>Cannabis originated in China; medical and religious use in ancient China, India, and Middle East spread to the Arab world</a:t>
            </a:r>
          </a:p>
          <a:p>
            <a:r>
              <a:rPr lang="en-US" altLang="en-US" dirty="0"/>
              <a:t>Napoleon’s soldiers brought it to France from Egypt; it became popular with French writers and artists</a:t>
            </a:r>
          </a:p>
          <a:p>
            <a:r>
              <a:rPr lang="en-US" dirty="0"/>
              <a:t>Hemp was grown for fiber in colonial U.S. but</a:t>
            </a:r>
            <a:r>
              <a:rPr lang="en-US" altLang="en-US" dirty="0"/>
              <a:t> marijuana smoking probably came with Mexican and Caribbean immigrants in the early 1900s.</a:t>
            </a:r>
          </a:p>
          <a:p>
            <a:r>
              <a:rPr lang="en-US" dirty="0"/>
              <a:t>In the 1930s a campaign portrayed marijuana as a social menace and the marijuana Tax Act passed in 1937</a:t>
            </a:r>
          </a:p>
        </p:txBody>
      </p:sp>
    </p:spTree>
    <p:extLst>
      <p:ext uri="{BB962C8B-B14F-4D97-AF65-F5344CB8AC3E}">
        <p14:creationId xmlns:p14="http://schemas.microsoft.com/office/powerpoint/2010/main" val="2052312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C9232-6DB0-CB4B-B2A0-218C99B4F7AA}"/>
              </a:ext>
            </a:extLst>
          </p:cNvPr>
          <p:cNvSpPr>
            <a:spLocks noGrp="1"/>
          </p:cNvSpPr>
          <p:nvPr>
            <p:ph type="title"/>
          </p:nvPr>
        </p:nvSpPr>
        <p:spPr/>
        <p:txBody>
          <a:bodyPr/>
          <a:lstStyle/>
          <a:p>
            <a:r>
              <a:rPr lang="en-US" dirty="0"/>
              <a:t>FIGURE 14.4  An 8000-year timeline of cannabis use around the world </a:t>
            </a:r>
          </a:p>
        </p:txBody>
      </p:sp>
      <p:pic>
        <p:nvPicPr>
          <p:cNvPr id="6" name="Content Placeholder 5" descr=" An illustration of an 8000-year timeline of cannabis use around the world. In 8000 B C E, there is an archeological record of the hemp cord. In 2700 B C E, cannabis is medically used in China. In 2000 B C E, cannabis is religiously used in India. In 1000 C E, hashish is used in the Arab world. Around 1850, the Western world learns about bioactivity. In 1937, the marijuana tax act was established. In 1996, the first state law legalizes the medical use of cannabi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372077"/>
            <a:ext cx="11376025" cy="4515483"/>
          </a:xfrm>
        </p:spPr>
      </p:pic>
    </p:spTree>
    <p:extLst>
      <p:ext uri="{BB962C8B-B14F-4D97-AF65-F5344CB8AC3E}">
        <p14:creationId xmlns:p14="http://schemas.microsoft.com/office/powerpoint/2010/main" val="3256942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6F4D1-9594-4047-8CA2-0EBA07B252D8}"/>
              </a:ext>
            </a:extLst>
          </p:cNvPr>
          <p:cNvSpPr>
            <a:spLocks noGrp="1"/>
          </p:cNvSpPr>
          <p:nvPr>
            <p:ph type="title"/>
          </p:nvPr>
        </p:nvSpPr>
        <p:spPr/>
        <p:txBody>
          <a:bodyPr/>
          <a:lstStyle/>
          <a:p>
            <a:r>
              <a:rPr lang="en-US" dirty="0"/>
              <a:t>FIGURE 14.5  Poster advertising the 1936 film </a:t>
            </a:r>
            <a:r>
              <a:rPr lang="en-US" i="1" dirty="0"/>
              <a:t>Reefer Madness</a:t>
            </a:r>
            <a:r>
              <a:rPr lang="en-US" dirty="0"/>
              <a:t> </a:t>
            </a:r>
          </a:p>
        </p:txBody>
      </p:sp>
      <p:pic>
        <p:nvPicPr>
          <p:cNvPr id="6" name="Content Placeholder 5" descr=" A poster of the film Reefer Madness. The poster contains the following quotes: the sweet pill that makes life bitter, women cry for it, men die for it, adults-only, see what actually happens, and drug-crazed abandon. It has the photo of a man lighting a cigarette for a woman with youthful marihuana victims as the subtitle.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58999" y="479425"/>
            <a:ext cx="4074003" cy="6300788"/>
          </a:xfrm>
        </p:spPr>
      </p:pic>
    </p:spTree>
    <p:extLst>
      <p:ext uri="{BB962C8B-B14F-4D97-AF65-F5344CB8AC3E}">
        <p14:creationId xmlns:p14="http://schemas.microsoft.com/office/powerpoint/2010/main" val="386885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Background, History, and </a:t>
            </a:r>
            <a:br>
              <a:rPr lang="en-US" dirty="0"/>
            </a:br>
            <a:r>
              <a:rPr lang="en-US" dirty="0"/>
              <a:t>Basic Pharmacology of Cannabis and Marijuana </a:t>
            </a:r>
            <a:r>
              <a:rPr lang="en-US" sz="1300" dirty="0"/>
              <a:t>(4 of 4)</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Basic pharmacology of marijuana</a:t>
            </a:r>
          </a:p>
          <a:p>
            <a:pPr>
              <a:spcBef>
                <a:spcPts val="1200"/>
              </a:spcBef>
            </a:pPr>
            <a:r>
              <a:rPr lang="en-US" altLang="en-US" dirty="0"/>
              <a:t>Smoked THC is easily absorbed by the lungs and blood plasma levels rise quickly</a:t>
            </a:r>
          </a:p>
          <a:p>
            <a:pPr>
              <a:spcBef>
                <a:spcPts val="1200"/>
              </a:spcBef>
            </a:pPr>
            <a:r>
              <a:rPr lang="en-US" altLang="en-US" dirty="0"/>
              <a:t>Oral consumption: prolonged but poor absorption of THC, resulting in low and variable plasma concentrations due to degradation in the stomach and first pass metabolism</a:t>
            </a:r>
          </a:p>
          <a:p>
            <a:pPr>
              <a:spcBef>
                <a:spcPts val="1200"/>
              </a:spcBef>
            </a:pPr>
            <a:r>
              <a:rPr lang="en-US" altLang="en-US" dirty="0"/>
              <a:t>Metabolites are excreted in feces and urine; complete elimination is slow because THC persists in fat tissue – elimination half-life is 20-30 hours; THC-COOH can be detected in urine up to 2 weeks.</a:t>
            </a:r>
          </a:p>
        </p:txBody>
      </p:sp>
    </p:spTree>
    <p:extLst>
      <p:ext uri="{BB962C8B-B14F-4D97-AF65-F5344CB8AC3E}">
        <p14:creationId xmlns:p14="http://schemas.microsoft.com/office/powerpoint/2010/main" val="1065639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06EA5-9141-D84B-8132-FE7553CD2929}"/>
              </a:ext>
            </a:extLst>
          </p:cNvPr>
          <p:cNvSpPr>
            <a:spLocks noGrp="1"/>
          </p:cNvSpPr>
          <p:nvPr>
            <p:ph type="title"/>
          </p:nvPr>
        </p:nvSpPr>
        <p:spPr/>
        <p:txBody>
          <a:bodyPr/>
          <a:lstStyle/>
          <a:p>
            <a:r>
              <a:rPr lang="en-US" dirty="0"/>
              <a:t>FIGURE 14.7  Mean time course of plasma THC concentrations </a:t>
            </a:r>
          </a:p>
        </p:txBody>
      </p:sp>
      <p:pic>
        <p:nvPicPr>
          <p:cNvPr id="6" name="Content Placeholder 5" descr=" A graphical representation of the mean time course of plasma tetrahydrocannabinol concentrations. The graph represents time in hours along the x-axis and plasma delta-nine tetrahydrocannabinol in nanogram per milliliter along the y-axis. Marijuana is smoked at two points of time with a two hours gap in between. When marijuana is smoked for the first time, plasma concentrations increase drastically, followed by a sudden fall. Then the plasma concentrations fall gradually for about two hours. The marijuana is smoked again after two hours, which results in a sudden peak. The second peak is not high as the first peak. Then the plasma concentrations fall gradually reaching zero after nine hour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850715" y="479425"/>
            <a:ext cx="6490570" cy="6300788"/>
          </a:xfrm>
        </p:spPr>
      </p:pic>
    </p:spTree>
    <p:extLst>
      <p:ext uri="{BB962C8B-B14F-4D97-AF65-F5344CB8AC3E}">
        <p14:creationId xmlns:p14="http://schemas.microsoft.com/office/powerpoint/2010/main" val="1360020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(1 of 4)</a:t>
            </a:r>
            <a:endParaRPr lang="en-US" dirty="0"/>
          </a:p>
        </p:txBody>
      </p:sp>
      <p:sp>
        <p:nvSpPr>
          <p:cNvPr id="3" name="Text Placeholder 2"/>
          <p:cNvSpPr>
            <a:spLocks noGrp="1"/>
          </p:cNvSpPr>
          <p:nvPr>
            <p:ph idx="1"/>
          </p:nvPr>
        </p:nvSpPr>
        <p:spPr>
          <a:xfrm>
            <a:off x="609600" y="1857780"/>
            <a:ext cx="10972800" cy="4564791"/>
          </a:xfrm>
        </p:spPr>
        <p:txBody>
          <a:bodyPr>
            <a:normAutofit/>
          </a:bodyPr>
          <a:lstStyle/>
          <a:p>
            <a:pPr marL="1143000" indent="-1143000">
              <a:lnSpc>
                <a:spcPct val="110000"/>
              </a:lnSpc>
              <a:spcBef>
                <a:spcPts val="1800"/>
              </a:spcBef>
              <a:buNone/>
            </a:pPr>
            <a:r>
              <a:rPr lang="en-US" sz="2800" dirty="0"/>
              <a:t>14.1.1  Name the various forms of cannabis and their chemical constituents.</a:t>
            </a:r>
          </a:p>
          <a:p>
            <a:pPr marL="1143000" indent="-1143000">
              <a:lnSpc>
                <a:spcPct val="110000"/>
              </a:lnSpc>
              <a:spcBef>
                <a:spcPts val="1800"/>
              </a:spcBef>
              <a:buNone/>
            </a:pPr>
            <a:r>
              <a:rPr lang="en-US" sz="2800" dirty="0"/>
              <a:t>14.1.2  Discuss the history of cannabis.</a:t>
            </a:r>
          </a:p>
          <a:p>
            <a:pPr marL="1143000" indent="-1143000">
              <a:lnSpc>
                <a:spcPct val="110000"/>
              </a:lnSpc>
              <a:spcBef>
                <a:spcPts val="1800"/>
              </a:spcBef>
              <a:buNone/>
            </a:pPr>
            <a:r>
              <a:rPr lang="en-US" sz="2800" dirty="0"/>
              <a:t>14.1.3  Describe the basic pharmacology of THC when consumed as marijuana.</a:t>
            </a:r>
          </a:p>
        </p:txBody>
      </p:sp>
    </p:spTree>
    <p:extLst>
      <p:ext uri="{BB962C8B-B14F-4D97-AF65-F5344CB8AC3E}">
        <p14:creationId xmlns:p14="http://schemas.microsoft.com/office/powerpoint/2010/main" val="1721985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Mechanisms of Cannabinoid Action </a:t>
            </a:r>
            <a:r>
              <a:rPr lang="en-US" sz="1200" dirty="0"/>
              <a:t>(1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Cannabinoid effects are primarily mediated by cannabinoid receptors</a:t>
            </a:r>
          </a:p>
          <a:p>
            <a:pPr>
              <a:spcBef>
                <a:spcPts val="1200"/>
              </a:spcBef>
            </a:pPr>
            <a:r>
              <a:rPr lang="en-US" dirty="0"/>
              <a:t>Cannabinoid receptors are expressed in many brain areas; metabotropic</a:t>
            </a:r>
          </a:p>
          <a:p>
            <a:pPr>
              <a:spcBef>
                <a:spcPts val="1200"/>
              </a:spcBef>
            </a:pPr>
            <a:r>
              <a:rPr lang="en-US" dirty="0"/>
              <a:t>CB</a:t>
            </a:r>
            <a:r>
              <a:rPr lang="en-US" baseline="-25000" dirty="0"/>
              <a:t>1</a:t>
            </a:r>
            <a:r>
              <a:rPr lang="en-US" dirty="0"/>
              <a:t> receptors: principal cannabinoid receptor in the brain, also expressed in many other organs</a:t>
            </a:r>
          </a:p>
          <a:p>
            <a:pPr>
              <a:spcBef>
                <a:spcPts val="1200"/>
              </a:spcBef>
            </a:pPr>
            <a:r>
              <a:rPr lang="en-US" dirty="0"/>
              <a:t>CB</a:t>
            </a:r>
            <a:r>
              <a:rPr lang="en-US" baseline="-25000" dirty="0"/>
              <a:t>2</a:t>
            </a:r>
            <a:r>
              <a:rPr lang="en-US" dirty="0"/>
              <a:t> receptors: in immune system and brain – in microglia and neurons; CB</a:t>
            </a:r>
            <a:r>
              <a:rPr lang="en-US" baseline="-25000" dirty="0"/>
              <a:t>2</a:t>
            </a:r>
            <a:r>
              <a:rPr lang="en-US" dirty="0"/>
              <a:t> knockout mice show these receptors play a significant role in several behavioral functions.</a:t>
            </a:r>
          </a:p>
        </p:txBody>
      </p:sp>
    </p:spTree>
    <p:extLst>
      <p:ext uri="{BB962C8B-B14F-4D97-AF65-F5344CB8AC3E}">
        <p14:creationId xmlns:p14="http://schemas.microsoft.com/office/powerpoint/2010/main" val="3437042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63F37-A0F2-9C48-90AD-A069182EA82C}"/>
              </a:ext>
            </a:extLst>
          </p:cNvPr>
          <p:cNvSpPr>
            <a:spLocks noGrp="1"/>
          </p:cNvSpPr>
          <p:nvPr>
            <p:ph type="title"/>
          </p:nvPr>
        </p:nvSpPr>
        <p:spPr/>
        <p:txBody>
          <a:bodyPr/>
          <a:lstStyle/>
          <a:p>
            <a:r>
              <a:rPr lang="en-US" dirty="0"/>
              <a:t>FIGURE 14.8  Areas of high and medium cannabinoid (CB</a:t>
            </a:r>
            <a:r>
              <a:rPr lang="en-US" baseline="-25000" dirty="0"/>
              <a:t>1</a:t>
            </a:r>
            <a:r>
              <a:rPr lang="en-US" dirty="0"/>
              <a:t>) receptor levels in the human brain </a:t>
            </a:r>
          </a:p>
        </p:txBody>
      </p:sp>
      <p:pic>
        <p:nvPicPr>
          <p:cNvPr id="6" name="Content Placeholder 5" descr=" An illustration of quantitative autoradiography of the brain demonstrating high and medium cannabinoid receptor levels. The illustration contains horizontal, coronal, and sagittal sections of the brain. In the axial or horizontal section of the brain, the caudate nucleus, putamen, lateral parts of the grey matter in the frontal cortex, grey matter of occipital cortex and left temporal lobe, and thalamus have the medium intensity of cannabinoid receptors. The medial parts of grey matter in the frontal cortex, globus pallidus, grey matter of the left temporal lobe, and area surrounding the fourth ventricle have high intensity of cannabinoid receptors. In the coronal section of the brain, the grey matter of the frontal cortex, temporal lobes, and thalamus have the medium intensity of cannabinoid receptors. The hippocampus and the areas above the body of the lateral ventricle have high intensity of cannabinoid receptors. In the sagittal section of the brain, medial parts of the frontal and parietal cortex, occipital cortex, and thalamus have medium intensity cannabinoid receptors. The cingulate gyrus, grey matter of the cerebellum, substantia nigra, and some parts of the medulla has high-intensity cannabinoid receptors. The coordinates for x, y, and z are 0, minus 22, and 0, respectively."/>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053998"/>
            <a:ext cx="11376025" cy="5151642"/>
          </a:xfrm>
        </p:spPr>
      </p:pic>
    </p:spTree>
    <p:extLst>
      <p:ext uri="{BB962C8B-B14F-4D97-AF65-F5344CB8AC3E}">
        <p14:creationId xmlns:p14="http://schemas.microsoft.com/office/powerpoint/2010/main" val="4256961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Mechanisms of Cannabinoid Action </a:t>
            </a:r>
            <a:r>
              <a:rPr lang="en-US" sz="1200" dirty="0"/>
              <a:t>(2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Cannabinoid effects are primarily mediated by cannabinoid receptors</a:t>
            </a:r>
          </a:p>
          <a:p>
            <a:pPr>
              <a:spcBef>
                <a:spcPts val="1200"/>
              </a:spcBef>
            </a:pPr>
            <a:r>
              <a:rPr lang="en-US" dirty="0"/>
              <a:t>Presynaptic CB</a:t>
            </a:r>
            <a:r>
              <a:rPr lang="en-US" baseline="-25000" dirty="0"/>
              <a:t>1</a:t>
            </a:r>
            <a:r>
              <a:rPr lang="en-US" dirty="0"/>
              <a:t> receptors on nerve terminals have an inhibitory effect on transmitter release, including </a:t>
            </a:r>
            <a:r>
              <a:rPr lang="en-US" dirty="0" err="1"/>
              <a:t>AcCh</a:t>
            </a:r>
            <a:r>
              <a:rPr lang="en-US" dirty="0"/>
              <a:t>, DA, NE, 5-HT, GABA, and glutamate</a:t>
            </a:r>
          </a:p>
          <a:p>
            <a:pPr>
              <a:spcBef>
                <a:spcPts val="1200"/>
              </a:spcBef>
            </a:pPr>
            <a:r>
              <a:rPr lang="en-US" dirty="0"/>
              <a:t>CB receptors modulate gene expression by epigenetic changes and by activating MAP kinase system – plays an important role in synaptic plasticity, learning, and memory</a:t>
            </a:r>
          </a:p>
        </p:txBody>
      </p:sp>
    </p:spTree>
    <p:extLst>
      <p:ext uri="{BB962C8B-B14F-4D97-AF65-F5344CB8AC3E}">
        <p14:creationId xmlns:p14="http://schemas.microsoft.com/office/powerpoint/2010/main" val="3813337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Mechanisms of Cannabinoid Action </a:t>
            </a:r>
            <a:r>
              <a:rPr lang="en-US" sz="1200" dirty="0"/>
              <a:t>(3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Pharmacological and genetic studies reveal the functional roles of cannabinoid receptors</a:t>
            </a:r>
          </a:p>
          <a:p>
            <a:pPr>
              <a:spcBef>
                <a:spcPts val="1200"/>
              </a:spcBef>
            </a:pPr>
            <a:r>
              <a:rPr lang="en-US" dirty="0"/>
              <a:t>Synthetic selective CB</a:t>
            </a:r>
            <a:r>
              <a:rPr lang="en-US" baseline="-25000" dirty="0"/>
              <a:t>1</a:t>
            </a:r>
            <a:r>
              <a:rPr lang="en-US" dirty="0"/>
              <a:t> antagonists </a:t>
            </a:r>
            <a:r>
              <a:rPr lang="en-US" b="1" dirty="0"/>
              <a:t>SR 141716A</a:t>
            </a:r>
            <a:r>
              <a:rPr lang="en-US" dirty="0"/>
              <a:t> (</a:t>
            </a:r>
            <a:r>
              <a:rPr lang="en-US" b="1" dirty="0"/>
              <a:t>rimonabant</a:t>
            </a:r>
            <a:r>
              <a:rPr lang="en-US" dirty="0"/>
              <a:t>) and </a:t>
            </a:r>
            <a:r>
              <a:rPr lang="en-US" b="1" dirty="0"/>
              <a:t>AM251</a:t>
            </a:r>
            <a:r>
              <a:rPr lang="en-US" dirty="0"/>
              <a:t> are used to study receptor function</a:t>
            </a:r>
          </a:p>
          <a:p>
            <a:pPr>
              <a:spcBef>
                <a:spcPts val="1200"/>
              </a:spcBef>
            </a:pPr>
            <a:r>
              <a:rPr lang="en-US" dirty="0"/>
              <a:t>THC in mice: four CB</a:t>
            </a:r>
            <a:r>
              <a:rPr lang="en-US" baseline="-25000" dirty="0"/>
              <a:t>1</a:t>
            </a:r>
            <a:r>
              <a:rPr lang="en-US" dirty="0"/>
              <a:t> receptor–mediated effects – reduced locomotor activity, hypothermia, catalepsy, and hypoalgesia</a:t>
            </a:r>
          </a:p>
          <a:p>
            <a:pPr>
              <a:spcBef>
                <a:spcPts val="1200"/>
              </a:spcBef>
            </a:pPr>
            <a:r>
              <a:rPr lang="en-US" dirty="0"/>
              <a:t>Lab animals also show biphasic anxiety behavior: reduced anxiety at low agonist doses (glutamate release), </a:t>
            </a:r>
            <a:r>
              <a:rPr lang="en-US" dirty="0" err="1"/>
              <a:t>anxiogenesis</a:t>
            </a:r>
            <a:r>
              <a:rPr lang="en-US" dirty="0"/>
              <a:t> at high doses (GABA release)</a:t>
            </a:r>
          </a:p>
        </p:txBody>
      </p:sp>
    </p:spTree>
    <p:extLst>
      <p:ext uri="{BB962C8B-B14F-4D97-AF65-F5344CB8AC3E}">
        <p14:creationId xmlns:p14="http://schemas.microsoft.com/office/powerpoint/2010/main" val="4180967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Mechanisms of Cannabinoid Action </a:t>
            </a:r>
            <a:r>
              <a:rPr lang="en-US" sz="1200" dirty="0"/>
              <a:t>(4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Pharmacological and genetic studies reveal the functional roles of cannabinoid receptors</a:t>
            </a:r>
          </a:p>
          <a:p>
            <a:pPr>
              <a:spcBef>
                <a:spcPts val="1200"/>
              </a:spcBef>
            </a:pPr>
            <a:r>
              <a:rPr lang="en-US" dirty="0"/>
              <a:t>Cannabis affects memory in lab animals in tests of memory; relies on activation of CB</a:t>
            </a:r>
            <a:r>
              <a:rPr lang="en-US" baseline="-25000" dirty="0"/>
              <a:t>1</a:t>
            </a:r>
            <a:r>
              <a:rPr lang="en-US" dirty="0"/>
              <a:t> receptors in the hippocampus</a:t>
            </a:r>
          </a:p>
          <a:p>
            <a:pPr>
              <a:spcBef>
                <a:spcPts val="1200"/>
              </a:spcBef>
            </a:pPr>
            <a:r>
              <a:rPr lang="en-US" dirty="0"/>
              <a:t>Interference with memory for spatial tasks involves inhibition of LTP in the hippocampal CA1 area</a:t>
            </a:r>
          </a:p>
          <a:p>
            <a:pPr>
              <a:spcBef>
                <a:spcPts val="1200"/>
              </a:spcBef>
            </a:pPr>
            <a:r>
              <a:rPr lang="en-US" dirty="0"/>
              <a:t>CB</a:t>
            </a:r>
            <a:r>
              <a:rPr lang="en-US" baseline="-25000" dirty="0"/>
              <a:t>2</a:t>
            </a:r>
            <a:r>
              <a:rPr lang="en-US" dirty="0"/>
              <a:t> receptor agonists in the immune system inhibit release of cytokines; alters migration of immune cells to sites of inflammatory reactions</a:t>
            </a:r>
          </a:p>
        </p:txBody>
      </p:sp>
    </p:spTree>
    <p:extLst>
      <p:ext uri="{BB962C8B-B14F-4D97-AF65-F5344CB8AC3E}">
        <p14:creationId xmlns:p14="http://schemas.microsoft.com/office/powerpoint/2010/main" val="3586788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03E82-77A3-6540-86DF-399FDC2236FD}"/>
              </a:ext>
            </a:extLst>
          </p:cNvPr>
          <p:cNvSpPr>
            <a:spLocks noGrp="1"/>
          </p:cNvSpPr>
          <p:nvPr>
            <p:ph type="title"/>
          </p:nvPr>
        </p:nvSpPr>
        <p:spPr/>
        <p:txBody>
          <a:bodyPr/>
          <a:lstStyle/>
          <a:p>
            <a:r>
              <a:rPr lang="en-US" dirty="0"/>
              <a:t>FIGURE 14.9  Hippocampal CB</a:t>
            </a:r>
            <a:r>
              <a:rPr lang="en-US" baseline="-25000" dirty="0"/>
              <a:t>1</a:t>
            </a:r>
            <a:r>
              <a:rPr lang="en-US" dirty="0"/>
              <a:t> receptors are responsible for cannabinoid-induced memory impairment </a:t>
            </a:r>
          </a:p>
        </p:txBody>
      </p:sp>
      <p:pic>
        <p:nvPicPr>
          <p:cNvPr id="6" name="Content Placeholder 5" descr=" A graphical representation of the errors due to cannabinoid-induced memory impairment before and after administration of rimonabant by comparing it with the control group. The graph represents V V, Rim V, V C P, Rim C P along the x-axis and the number of errors with intervals of one along the y-axis. In V V group and Rim V group, the number of errors is around five. In V C P group, the number of errors is around 3.5. In Rim C P group, the number of errors is around 0.8."/>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376736" y="479425"/>
            <a:ext cx="9438529" cy="6300788"/>
          </a:xfrm>
        </p:spPr>
      </p:pic>
    </p:spTree>
    <p:extLst>
      <p:ext uri="{BB962C8B-B14F-4D97-AF65-F5344CB8AC3E}">
        <p14:creationId xmlns:p14="http://schemas.microsoft.com/office/powerpoint/2010/main" val="792381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Mechanisms of Cannabinoid Action </a:t>
            </a:r>
            <a:r>
              <a:rPr lang="en-US" sz="1200" dirty="0"/>
              <a:t>(5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Cannabidiol is not a cannabinoid receptor agonist</a:t>
            </a:r>
          </a:p>
          <a:p>
            <a:pPr>
              <a:spcBef>
                <a:spcPts val="1200"/>
              </a:spcBef>
            </a:pPr>
            <a:r>
              <a:rPr lang="en-US" altLang="en-US" b="1" dirty="0"/>
              <a:t>Cannabidiol</a:t>
            </a:r>
            <a:r>
              <a:rPr lang="en-US" altLang="en-US" dirty="0"/>
              <a:t> (</a:t>
            </a:r>
            <a:r>
              <a:rPr lang="en-US" altLang="en-US" b="1" dirty="0"/>
              <a:t>CBD</a:t>
            </a:r>
            <a:r>
              <a:rPr lang="en-US" altLang="en-US" dirty="0"/>
              <a:t>): similar structure to THC; not intoxicating or dependence-producing</a:t>
            </a:r>
          </a:p>
          <a:p>
            <a:pPr>
              <a:spcBef>
                <a:spcPts val="1200"/>
              </a:spcBef>
            </a:pPr>
            <a:r>
              <a:rPr lang="en-US" altLang="en-US" dirty="0"/>
              <a:t>CBD can act as a negative allosteric modulator of CB</a:t>
            </a:r>
            <a:r>
              <a:rPr lang="en-US" altLang="en-US" baseline="-25000" dirty="0"/>
              <a:t>1</a:t>
            </a:r>
            <a:r>
              <a:rPr lang="en-US" altLang="en-US" dirty="0"/>
              <a:t> receptors</a:t>
            </a:r>
          </a:p>
          <a:p>
            <a:pPr>
              <a:spcBef>
                <a:spcPts val="1200"/>
              </a:spcBef>
            </a:pPr>
            <a:r>
              <a:rPr lang="en-US" altLang="en-US" dirty="0"/>
              <a:t>Inhibits breakdown of endogenous cannabinoids – enhances  activity of the endocannabinoid system</a:t>
            </a:r>
          </a:p>
          <a:p>
            <a:pPr>
              <a:spcBef>
                <a:spcPts val="1200"/>
              </a:spcBef>
            </a:pPr>
            <a:r>
              <a:rPr lang="en-US" altLang="en-US" dirty="0"/>
              <a:t>Brain imaging shows THC promotes regional brain activation and enhanced local blood flow; CBD tends to decrease these processes</a:t>
            </a:r>
          </a:p>
        </p:txBody>
      </p:sp>
    </p:spTree>
    <p:extLst>
      <p:ext uri="{BB962C8B-B14F-4D97-AF65-F5344CB8AC3E}">
        <p14:creationId xmlns:p14="http://schemas.microsoft.com/office/powerpoint/2010/main" val="3259173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Mechanisms of Cannabinoid Action </a:t>
            </a:r>
            <a:r>
              <a:rPr lang="en-US" sz="1200" dirty="0"/>
              <a:t>(6 of 10)</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ct val="20000"/>
              </a:spcBef>
              <a:buNone/>
            </a:pPr>
            <a:r>
              <a:rPr lang="en-US" sz="3500" b="1" dirty="0"/>
              <a:t>Endocannabinoids</a:t>
            </a:r>
            <a:r>
              <a:rPr lang="en-US" sz="3500" dirty="0"/>
              <a:t> are cannabinoid receptor agonists synthesized by the body</a:t>
            </a:r>
          </a:p>
          <a:p>
            <a:pPr>
              <a:spcBef>
                <a:spcPts val="1200"/>
              </a:spcBef>
            </a:pPr>
            <a:r>
              <a:rPr lang="en-US" altLang="en-US" b="1" dirty="0"/>
              <a:t>Anandamide</a:t>
            </a:r>
            <a:r>
              <a:rPr lang="en-US" altLang="en-US" dirty="0"/>
              <a:t> and </a:t>
            </a:r>
            <a:r>
              <a:rPr lang="en-US" altLang="en-US" b="1" dirty="0"/>
              <a:t>2-AG</a:t>
            </a:r>
            <a:r>
              <a:rPr lang="en-US" altLang="en-US" dirty="0"/>
              <a:t>: lipid soluble – can’t be stored in vesicles; synthesized and released when needed, triggered by a rise in intracellular Ca</a:t>
            </a:r>
            <a:r>
              <a:rPr lang="en-US" altLang="en-US" baseline="30000" dirty="0"/>
              <a:t>2+</a:t>
            </a:r>
            <a:r>
              <a:rPr lang="en-US" altLang="en-US" dirty="0"/>
              <a:t> levels</a:t>
            </a:r>
          </a:p>
          <a:p>
            <a:pPr>
              <a:spcBef>
                <a:spcPts val="1200"/>
              </a:spcBef>
            </a:pPr>
            <a:r>
              <a:rPr lang="en-US" altLang="en-US" dirty="0"/>
              <a:t>Removed from extracellular fluid by an </a:t>
            </a:r>
            <a:r>
              <a:rPr lang="en-US" altLang="en-US" b="1" dirty="0"/>
              <a:t>endocannabinoid membrane transporter</a:t>
            </a:r>
          </a:p>
          <a:p>
            <a:pPr>
              <a:spcBef>
                <a:spcPts val="1200"/>
              </a:spcBef>
            </a:pPr>
            <a:r>
              <a:rPr lang="en-US" altLang="en-US" dirty="0" err="1"/>
              <a:t>Anadamide</a:t>
            </a:r>
            <a:r>
              <a:rPr lang="en-US" altLang="en-US" dirty="0"/>
              <a:t> is metabolized by </a:t>
            </a:r>
            <a:r>
              <a:rPr lang="en-US" altLang="en-US" b="1" dirty="0"/>
              <a:t>fatty acid amide hydrolase</a:t>
            </a:r>
            <a:r>
              <a:rPr lang="en-US" altLang="en-US" dirty="0"/>
              <a:t> (</a:t>
            </a:r>
            <a:r>
              <a:rPr lang="en-US" altLang="en-US" b="1" dirty="0"/>
              <a:t>FAAH</a:t>
            </a:r>
            <a:r>
              <a:rPr lang="en-US" altLang="en-US" dirty="0"/>
              <a:t>) 2-AG by </a:t>
            </a:r>
            <a:r>
              <a:rPr lang="en-US" altLang="en-US" b="1" dirty="0" err="1"/>
              <a:t>monoacyl</a:t>
            </a:r>
            <a:r>
              <a:rPr lang="en-US" altLang="en-US" b="1" dirty="0"/>
              <a:t>-glycerol lipase</a:t>
            </a:r>
            <a:r>
              <a:rPr lang="en-US" altLang="en-US" dirty="0"/>
              <a:t> (</a:t>
            </a:r>
            <a:r>
              <a:rPr lang="en-US" altLang="en-US" b="1" dirty="0"/>
              <a:t>MAGL</a:t>
            </a:r>
            <a:r>
              <a:rPr lang="en-US" altLang="en-US" dirty="0"/>
              <a:t>)</a:t>
            </a:r>
          </a:p>
          <a:p>
            <a:pPr>
              <a:spcBef>
                <a:spcPts val="1200"/>
              </a:spcBef>
            </a:pPr>
            <a:r>
              <a:rPr lang="en-US" altLang="en-US" dirty="0"/>
              <a:t>2-AG is a full agonist at CB</a:t>
            </a:r>
            <a:r>
              <a:rPr lang="en-US" altLang="en-US" baseline="-25000" dirty="0"/>
              <a:t>1</a:t>
            </a:r>
            <a:r>
              <a:rPr lang="en-US" altLang="en-US" dirty="0"/>
              <a:t> and CB</a:t>
            </a:r>
            <a:r>
              <a:rPr lang="en-US" altLang="en-US" baseline="-25000" dirty="0"/>
              <a:t>2</a:t>
            </a:r>
            <a:r>
              <a:rPr lang="en-US" altLang="en-US" dirty="0"/>
              <a:t>; anandamide is a partial agonist</a:t>
            </a:r>
          </a:p>
        </p:txBody>
      </p:sp>
    </p:spTree>
    <p:extLst>
      <p:ext uri="{BB962C8B-B14F-4D97-AF65-F5344CB8AC3E}">
        <p14:creationId xmlns:p14="http://schemas.microsoft.com/office/powerpoint/2010/main" val="3490809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Mechanisms of Cannabinoid Action </a:t>
            </a:r>
            <a:r>
              <a:rPr lang="en-US" sz="1200" dirty="0"/>
              <a:t>(7 of 10)</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ct val="20000"/>
              </a:spcBef>
              <a:buNone/>
            </a:pPr>
            <a:r>
              <a:rPr lang="en-US" sz="3500" dirty="0"/>
              <a:t>Endocannabinoids are cannabinoid receptor agonists synthesized by the body</a:t>
            </a:r>
          </a:p>
          <a:p>
            <a:pPr>
              <a:spcBef>
                <a:spcPts val="1200"/>
              </a:spcBef>
            </a:pPr>
            <a:r>
              <a:rPr lang="en-US" dirty="0"/>
              <a:t>Endocannabinoid signaling: </a:t>
            </a:r>
          </a:p>
          <a:p>
            <a:pPr lvl="1">
              <a:spcBef>
                <a:spcPts val="1200"/>
              </a:spcBef>
            </a:pPr>
            <a:r>
              <a:rPr lang="en-US" altLang="en-US" b="1" dirty="0"/>
              <a:t>Retrograde signaling</a:t>
            </a:r>
            <a:r>
              <a:rPr lang="en-US" altLang="en-US" dirty="0"/>
              <a:t>: (2-AG)</a:t>
            </a:r>
          </a:p>
          <a:p>
            <a:pPr lvl="1">
              <a:spcBef>
                <a:spcPts val="1200"/>
              </a:spcBef>
            </a:pPr>
            <a:r>
              <a:rPr lang="en-US" dirty="0"/>
              <a:t>Non-retrograde signaling (anandamide)</a:t>
            </a:r>
          </a:p>
          <a:p>
            <a:pPr lvl="1">
              <a:spcBef>
                <a:spcPts val="1200"/>
              </a:spcBef>
            </a:pPr>
            <a:r>
              <a:rPr lang="en-US" dirty="0"/>
              <a:t>Neuron–astrocyte signaling</a:t>
            </a:r>
          </a:p>
          <a:p>
            <a:pPr>
              <a:spcBef>
                <a:spcPts val="1200"/>
              </a:spcBef>
            </a:pPr>
            <a:r>
              <a:rPr lang="en-US" dirty="0"/>
              <a:t>Endocannabinoids help regulate mood states, anxiety and fear, and reactions to stress – confirmed by rodent studies; the hippocampal endocannabinoid system is an important mediator of anxiety responses</a:t>
            </a:r>
          </a:p>
        </p:txBody>
      </p:sp>
    </p:spTree>
    <p:extLst>
      <p:ext uri="{BB962C8B-B14F-4D97-AF65-F5344CB8AC3E}">
        <p14:creationId xmlns:p14="http://schemas.microsoft.com/office/powerpoint/2010/main" val="2086500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D713D-F935-7D49-A397-DCAEF75D0394}"/>
              </a:ext>
            </a:extLst>
          </p:cNvPr>
          <p:cNvSpPr>
            <a:spLocks noGrp="1"/>
          </p:cNvSpPr>
          <p:nvPr>
            <p:ph type="title"/>
          </p:nvPr>
        </p:nvSpPr>
        <p:spPr/>
        <p:txBody>
          <a:bodyPr/>
          <a:lstStyle/>
          <a:p>
            <a:r>
              <a:rPr lang="en-US" dirty="0"/>
              <a:t>FIGURE 14.11  Mechanisms of endocannabinoid signaling </a:t>
            </a:r>
          </a:p>
        </p:txBody>
      </p:sp>
      <p:pic>
        <p:nvPicPr>
          <p:cNvPr id="6" name="Content Placeholder 5" descr=" An illustration of retrograde signaling of endocannabinoids. It contains a presynaptic terminal and a postsynaptic cell. The presynaptic terminal contains mitochondria, neurotransmitters in vesicles, and cannabinoid receptor one on the membrane. The endocannabinoid from the postsynaptic cell diffuses to bind with cannabinoid receptor one on the presynaptic terminal. The binding inhibits the release of neurotransmitters from the vesicle.&#10;&#10; An illustration of non-retrograde signaling of endocannabinoids. It contains the presynaptic terminal and a postsynaptic cell. The presynaptic terminal contains mitochondria and neurotransmitters in a vesicle. The postsynaptic terminal contains the cannabinoid one and T R P V one receptors. The endocannabinoids from the postsynaptic cell bind with either cannabinoid one or T R P V one receptor. &#10;&#10; An illustration of neuron-astrocyte signaling of endocannabinoids. It contains a presynaptic terminal, a postsynaptic cell, and an astrocyte. The presynaptic terminal contains mitochondria and neurotransmitters in vesicles. The astrocyte contains glutamate neurotransmitters in vesicles and cannabinoid receptor one on the membrane. The endocannabinoids from the postsynaptic cell bind with the cannabinoid receptor one on the astrocyte which results in the release of glutamat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465630"/>
            <a:ext cx="11376025" cy="4328377"/>
          </a:xfrm>
        </p:spPr>
      </p:pic>
    </p:spTree>
    <p:extLst>
      <p:ext uri="{BB962C8B-B14F-4D97-AF65-F5344CB8AC3E}">
        <p14:creationId xmlns:p14="http://schemas.microsoft.com/office/powerpoint/2010/main" val="3001862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DC13E-85F3-1E41-AD09-D89F86432223}"/>
              </a:ext>
            </a:extLst>
          </p:cNvPr>
          <p:cNvSpPr>
            <a:spLocks noGrp="1"/>
          </p:cNvSpPr>
          <p:nvPr>
            <p:ph type="title"/>
          </p:nvPr>
        </p:nvSpPr>
        <p:spPr/>
        <p:txBody>
          <a:bodyPr/>
          <a:lstStyle/>
          <a:p>
            <a:r>
              <a:rPr lang="en-US" dirty="0"/>
              <a:t>FIGURE 14.13  Biochemical, neurophysiological, and behavioral effects of enhancing 2-AG breakdown in hippo­campal glutamatergic neurons </a:t>
            </a:r>
          </a:p>
        </p:txBody>
      </p:sp>
      <p:pic>
        <p:nvPicPr>
          <p:cNvPr id="6" name="Content Placeholder 5" descr=" A graphical representation of the concentration of the two arachidonoyl glycerol in control mice and M A G L over-expressed mice. The graph represents control mice and M A G L overexpressed mice along the x-axis and the concentration of two arachidonoyl glycerol in nanomoles per gram tissue with intervals of two along the y-axis. The concentration of two arachidonoyl glycerol is around 9 and 5 for the control and M A G L overexpressed mice, respectively. A graphical representation of the concentration of arachidonoyl ethanolamine in control and M A G L over-expressed mice. The graph represents control mice and M A G L overexpressed mice along the x-axis and the concentration of two arachidonoyl ethanolamine in picomoles per gram tissue with intervals of five along the y-axis. The concentration is around 22 and 21 for the control and M A G L overexpressed mice, respectively.&#10;&#10; A graphical representation of the time required in the open arm for the control and M A G L overexpressed mice. The graph represents control and M A G L over-expressed mice along the x-axis and the time used in the open arm in percentage with intervals of 2 along the y-axis. The time used by the control and M A G L overexpressed mice is around 7 and 5, respectively."/>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153103"/>
            <a:ext cx="11376025" cy="5139169"/>
          </a:xfrm>
        </p:spPr>
      </p:pic>
    </p:spTree>
    <p:extLst>
      <p:ext uri="{BB962C8B-B14F-4D97-AF65-F5344CB8AC3E}">
        <p14:creationId xmlns:p14="http://schemas.microsoft.com/office/powerpoint/2010/main" val="1399435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Mechanisms of Cannabinoid Action </a:t>
            </a:r>
            <a:r>
              <a:rPr lang="en-US" sz="1200" dirty="0"/>
              <a:t>(8 of 10)</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Endocannabinoids are cannabinoid receptor agonists synthesized by the body</a:t>
            </a:r>
          </a:p>
          <a:p>
            <a:pPr>
              <a:spcBef>
                <a:spcPts val="1200"/>
              </a:spcBef>
            </a:pPr>
            <a:r>
              <a:rPr lang="en-US" dirty="0"/>
              <a:t>Other endocannabinoid system functions:</a:t>
            </a:r>
          </a:p>
          <a:p>
            <a:pPr>
              <a:spcBef>
                <a:spcPts val="1200"/>
              </a:spcBef>
            </a:pPr>
            <a:r>
              <a:rPr lang="en-US" dirty="0"/>
              <a:t>Facilitating extinction of learned fear; deficient activity of the system may be a risk factor for PTSD</a:t>
            </a:r>
          </a:p>
          <a:p>
            <a:pPr>
              <a:spcBef>
                <a:spcPts val="1200"/>
              </a:spcBef>
            </a:pPr>
            <a:r>
              <a:rPr lang="en-US" dirty="0"/>
              <a:t>Regulation of eating behavior, hunger,  and energy storage; CB</a:t>
            </a:r>
            <a:r>
              <a:rPr lang="en-US" baseline="-25000" dirty="0"/>
              <a:t>1</a:t>
            </a:r>
            <a:r>
              <a:rPr lang="en-US" dirty="0"/>
              <a:t> receptor antagonists reliably reduce food consumption</a:t>
            </a:r>
          </a:p>
          <a:p>
            <a:pPr>
              <a:spcBef>
                <a:spcPts val="1200"/>
              </a:spcBef>
            </a:pPr>
            <a:r>
              <a:rPr lang="en-US" dirty="0"/>
              <a:t>Pain regulation: both pain perception and the cognitive–affective responses to pain, especially </a:t>
            </a:r>
            <a:r>
              <a:rPr lang="en-US" b="1" dirty="0"/>
              <a:t>neuropathic pain</a:t>
            </a:r>
          </a:p>
        </p:txBody>
      </p:sp>
    </p:spTree>
    <p:extLst>
      <p:ext uri="{BB962C8B-B14F-4D97-AF65-F5344CB8AC3E}">
        <p14:creationId xmlns:p14="http://schemas.microsoft.com/office/powerpoint/2010/main" val="2306608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A25BC-8DB5-4541-95C8-3D1B8373632B}"/>
              </a:ext>
            </a:extLst>
          </p:cNvPr>
          <p:cNvSpPr>
            <a:spLocks noGrp="1"/>
          </p:cNvSpPr>
          <p:nvPr>
            <p:ph type="title"/>
          </p:nvPr>
        </p:nvSpPr>
        <p:spPr/>
        <p:txBody>
          <a:bodyPr/>
          <a:lstStyle/>
          <a:p>
            <a:r>
              <a:rPr lang="en-US" dirty="0"/>
              <a:t>FIGURE 14.14  Location of CB</a:t>
            </a:r>
            <a:r>
              <a:rPr lang="en-US" baseline="-25000" dirty="0"/>
              <a:t>1</a:t>
            </a:r>
            <a:r>
              <a:rPr lang="en-US" dirty="0"/>
              <a:t> and CB</a:t>
            </a:r>
            <a:r>
              <a:rPr lang="en-US" baseline="-25000" dirty="0"/>
              <a:t>2</a:t>
            </a:r>
            <a:r>
              <a:rPr lang="en-US" dirty="0"/>
              <a:t> receptors involved in the modulation of pain perception </a:t>
            </a:r>
            <a:r>
              <a:rPr lang="en-US" sz="1100" dirty="0"/>
              <a:t>(1) </a:t>
            </a:r>
          </a:p>
        </p:txBody>
      </p:sp>
      <p:pic>
        <p:nvPicPr>
          <p:cNvPr id="8" name="Content Placeholder 7" descr=" A graphical representation of the time required in the open arm for the control and M A G L overexpressed mice. The graph represents control and M A G L over-expressed mice along the x-axis and the time used in the open arm in percentage with intervals of 2 along the y-axis. The time used by the control and M A G L overexpressed mice is around 7 and 5, respectively.">
            <a:extLst>
              <a:ext uri="{FF2B5EF4-FFF2-40B4-BE49-F238E27FC236}">
                <a16:creationId xmlns:a16="http://schemas.microsoft.com/office/drawing/2014/main" id="{775656AA-F2AA-2946-A6C4-04AE1026D08A}"/>
              </a:ext>
            </a:extLst>
          </p:cNvPr>
          <p:cNvPicPr>
            <a:picLocks noGrp="1" noChangeAspect="1"/>
          </p:cNvPicPr>
          <p:nvPr>
            <p:ph sz="quarter" idx="10"/>
          </p:nvPr>
        </p:nvPicPr>
        <p:blipFill>
          <a:blip r:embed="rId3"/>
          <a:stretch>
            <a:fillRect/>
          </a:stretch>
        </p:blipFill>
        <p:spPr>
          <a:xfrm>
            <a:off x="3818607" y="479425"/>
            <a:ext cx="4554786" cy="6300788"/>
          </a:xfrm>
        </p:spPr>
      </p:pic>
    </p:spTree>
    <p:extLst>
      <p:ext uri="{BB962C8B-B14F-4D97-AF65-F5344CB8AC3E}">
        <p14:creationId xmlns:p14="http://schemas.microsoft.com/office/powerpoint/2010/main" val="2702520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Mechanisms of Cannabinoid Action </a:t>
            </a:r>
            <a:r>
              <a:rPr lang="en-US" sz="1200" dirty="0"/>
              <a:t>(9 of 10)</a:t>
            </a:r>
            <a:endParaRPr lang="en-US" dirty="0"/>
          </a:p>
        </p:txBody>
      </p:sp>
      <p:sp>
        <p:nvSpPr>
          <p:cNvPr id="3" name="Text Placeholder 2"/>
          <p:cNvSpPr>
            <a:spLocks noGrp="1"/>
          </p:cNvSpPr>
          <p:nvPr>
            <p:ph idx="1"/>
          </p:nvPr>
        </p:nvSpPr>
        <p:spPr/>
        <p:txBody>
          <a:bodyPr>
            <a:normAutofit fontScale="77500" lnSpcReduction="20000"/>
          </a:bodyPr>
          <a:lstStyle/>
          <a:p>
            <a:pPr marL="0" indent="0">
              <a:spcBef>
                <a:spcPts val="1800"/>
              </a:spcBef>
              <a:buNone/>
            </a:pPr>
            <a:r>
              <a:rPr lang="en-US" u="sng" dirty="0"/>
              <a:t>BOX 14.1  CLINICAL APPLICATIONS</a:t>
            </a:r>
          </a:p>
          <a:p>
            <a:pPr marL="0" indent="0">
              <a:buNone/>
            </a:pPr>
            <a:r>
              <a:rPr lang="en-US" sz="3600" i="1" dirty="0"/>
              <a:t>Cannabinoid-Based Medications: THC, CBD, and Medical Marijuana</a:t>
            </a:r>
          </a:p>
          <a:p>
            <a:pPr>
              <a:spcBef>
                <a:spcPts val="1800"/>
              </a:spcBef>
            </a:pPr>
            <a:r>
              <a:rPr lang="en-US" dirty="0"/>
              <a:t>Four types of therapeutic cannabinoids:</a:t>
            </a:r>
          </a:p>
          <a:p>
            <a:pPr lvl="1">
              <a:spcBef>
                <a:spcPts val="1800"/>
              </a:spcBef>
            </a:pPr>
            <a:r>
              <a:rPr lang="en-US" dirty="0"/>
              <a:t>Pure synthetic THC: </a:t>
            </a:r>
            <a:r>
              <a:rPr lang="en-US" b="1" dirty="0"/>
              <a:t>dronabinol</a:t>
            </a:r>
            <a:r>
              <a:rPr lang="en-US" dirty="0"/>
              <a:t> (</a:t>
            </a:r>
            <a:r>
              <a:rPr lang="en-US" b="1" dirty="0"/>
              <a:t>Marinol</a:t>
            </a:r>
            <a:r>
              <a:rPr lang="en-US" dirty="0"/>
              <a:t>), </a:t>
            </a:r>
            <a:r>
              <a:rPr lang="en-US" b="1" dirty="0"/>
              <a:t>nabilone </a:t>
            </a:r>
            <a:r>
              <a:rPr lang="en-US" dirty="0"/>
              <a:t>(</a:t>
            </a:r>
            <a:r>
              <a:rPr lang="en-US" b="1" dirty="0" err="1"/>
              <a:t>Cesamet</a:t>
            </a:r>
            <a:r>
              <a:rPr lang="en-US" dirty="0"/>
              <a:t>); enhance appetite or combat nausea</a:t>
            </a:r>
          </a:p>
          <a:p>
            <a:pPr lvl="1">
              <a:spcBef>
                <a:spcPts val="1800"/>
              </a:spcBef>
            </a:pPr>
            <a:r>
              <a:rPr lang="en-US" dirty="0"/>
              <a:t>Cannabis extracts containing both THC and CBD: </a:t>
            </a:r>
            <a:r>
              <a:rPr lang="en-US" b="1" dirty="0" err="1"/>
              <a:t>nabiximols</a:t>
            </a:r>
            <a:r>
              <a:rPr lang="en-US" dirty="0"/>
              <a:t> (</a:t>
            </a:r>
            <a:r>
              <a:rPr lang="en-US" b="1" dirty="0"/>
              <a:t>Sativex</a:t>
            </a:r>
            <a:r>
              <a:rPr lang="en-US" dirty="0"/>
              <a:t>) neuropathic pain, muscle spasticity in MS</a:t>
            </a:r>
          </a:p>
          <a:p>
            <a:pPr lvl="1">
              <a:spcBef>
                <a:spcPts val="1800"/>
              </a:spcBef>
            </a:pPr>
            <a:r>
              <a:rPr lang="en-US" dirty="0"/>
              <a:t>CBD only extracts: </a:t>
            </a:r>
            <a:r>
              <a:rPr lang="en-US" b="1" dirty="0" err="1"/>
              <a:t>Epidiolex</a:t>
            </a:r>
            <a:r>
              <a:rPr lang="en-US" dirty="0"/>
              <a:t> reduce seizures in pediatric epilepsy</a:t>
            </a:r>
          </a:p>
          <a:p>
            <a:pPr lvl="1">
              <a:spcBef>
                <a:spcPts val="1800"/>
              </a:spcBef>
            </a:pPr>
            <a:r>
              <a:rPr lang="en-US" dirty="0"/>
              <a:t>Medical marijuana: treating a variety of conditions</a:t>
            </a:r>
          </a:p>
          <a:p>
            <a:pPr>
              <a:spcBef>
                <a:spcPts val="1800"/>
              </a:spcBef>
            </a:pPr>
            <a:r>
              <a:rPr lang="en-US" dirty="0"/>
              <a:t>CBD-containing preparations are also available over the counter</a:t>
            </a:r>
          </a:p>
        </p:txBody>
      </p:sp>
    </p:spTree>
    <p:extLst>
      <p:ext uri="{BB962C8B-B14F-4D97-AF65-F5344CB8AC3E}">
        <p14:creationId xmlns:p14="http://schemas.microsoft.com/office/powerpoint/2010/main" val="35634057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Mechanisms of Cannabinoid Action </a:t>
            </a:r>
            <a:r>
              <a:rPr lang="en-US" sz="1200" dirty="0"/>
              <a:t>(10 of 10)</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1</a:t>
            </a:r>
          </a:p>
          <a:p>
            <a:pPr marL="457200" indent="-457200">
              <a:spcBef>
                <a:spcPts val="2400"/>
              </a:spcBef>
              <a:buNone/>
            </a:pPr>
            <a:r>
              <a:rPr lang="en-US" sz="3200" dirty="0"/>
              <a:t>Retrograde endocannabinoid signaling involves mostly</a:t>
            </a:r>
          </a:p>
          <a:p>
            <a:pPr marL="914400" indent="-457200">
              <a:buFont typeface="Arial" pitchFamily="34" charset="0"/>
              <a:buAutoNum type="alphaLcPeriod"/>
            </a:pPr>
            <a:r>
              <a:rPr lang="en-US" sz="3200" dirty="0"/>
              <a:t>anandamide.</a:t>
            </a:r>
          </a:p>
          <a:p>
            <a:pPr marL="914400" indent="-457200">
              <a:buFont typeface="Arial" pitchFamily="34" charset="0"/>
              <a:buAutoNum type="alphaLcPeriod"/>
            </a:pPr>
            <a:r>
              <a:rPr lang="en-US" sz="3200" dirty="0"/>
              <a:t>2-AG.</a:t>
            </a:r>
          </a:p>
          <a:p>
            <a:pPr marL="914400" indent="-457200">
              <a:buFont typeface="Arial" pitchFamily="34" charset="0"/>
              <a:buAutoNum type="alphaLcPeriod"/>
            </a:pPr>
            <a:r>
              <a:rPr lang="en-US" sz="3200" dirty="0"/>
              <a:t>AM251.</a:t>
            </a:r>
          </a:p>
          <a:p>
            <a:pPr marL="914400" indent="-457200">
              <a:buFont typeface="Arial" pitchFamily="34" charset="0"/>
              <a:buAutoNum type="alphaLcPeriod"/>
            </a:pPr>
            <a:r>
              <a:rPr lang="en-US" sz="3200" dirty="0"/>
              <a:t>glutamate.</a:t>
            </a:r>
          </a:p>
        </p:txBody>
      </p:sp>
    </p:spTree>
    <p:extLst>
      <p:ext uri="{BB962C8B-B14F-4D97-AF65-F5344CB8AC3E}">
        <p14:creationId xmlns:p14="http://schemas.microsoft.com/office/powerpoint/2010/main" val="2244686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4)</a:t>
            </a:r>
            <a:endParaRPr lang="en-US" dirty="0"/>
          </a:p>
        </p:txBody>
      </p:sp>
      <p:sp>
        <p:nvSpPr>
          <p:cNvPr id="3" name="Text Placeholder 2"/>
          <p:cNvSpPr>
            <a:spLocks noGrp="1"/>
          </p:cNvSpPr>
          <p:nvPr>
            <p:ph idx="1"/>
          </p:nvPr>
        </p:nvSpPr>
        <p:spPr>
          <a:xfrm>
            <a:off x="609600" y="1857780"/>
            <a:ext cx="10972800" cy="4564791"/>
          </a:xfrm>
        </p:spPr>
        <p:txBody>
          <a:bodyPr>
            <a:normAutofit fontScale="92500"/>
          </a:bodyPr>
          <a:lstStyle/>
          <a:p>
            <a:pPr marL="1143000" indent="-1143000">
              <a:spcBef>
                <a:spcPts val="1200"/>
              </a:spcBef>
              <a:buNone/>
            </a:pPr>
            <a:r>
              <a:rPr lang="en-US" dirty="0"/>
              <a:t>14.2.1  Discuss the features of cannabinoid receptors, including their locations, signaling mechanisms, and functional roles.</a:t>
            </a:r>
          </a:p>
          <a:p>
            <a:pPr marL="1143000" indent="-1143000">
              <a:spcBef>
                <a:spcPts val="1200"/>
              </a:spcBef>
              <a:buNone/>
            </a:pPr>
            <a:r>
              <a:rPr lang="en-US" dirty="0"/>
              <a:t>14.2.2  Describe the mechanisms of action of CBD and how they differ from the mechanism of action of THC.</a:t>
            </a:r>
          </a:p>
          <a:p>
            <a:pPr marL="1143000" indent="-1143000">
              <a:spcBef>
                <a:spcPts val="1200"/>
              </a:spcBef>
              <a:buNone/>
            </a:pPr>
            <a:r>
              <a:rPr lang="en-US" dirty="0"/>
              <a:t>14.2.3  Describe the endocannabinoid system, including the identity of the major endocannabinoids, their synthesis and metabolism, and their functional effects.</a:t>
            </a:r>
          </a:p>
          <a:p>
            <a:pPr marL="1143000" indent="-1143000">
              <a:spcBef>
                <a:spcPts val="1200"/>
              </a:spcBef>
              <a:buNone/>
            </a:pPr>
            <a:r>
              <a:rPr lang="en-US" dirty="0"/>
              <a:t>14.2.4  Discuss the current status of cannabinoid-based medications, including medications containing pure cannabinoids, medical marijuana, and proposed therapeutic benefits of over-the-counter CBD formulations.</a:t>
            </a:r>
          </a:p>
        </p:txBody>
      </p:sp>
    </p:spTree>
    <p:extLst>
      <p:ext uri="{BB962C8B-B14F-4D97-AF65-F5344CB8AC3E}">
        <p14:creationId xmlns:p14="http://schemas.microsoft.com/office/powerpoint/2010/main" val="642815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Acute Behavioral and Physiological Effects of Cannabinoids </a:t>
            </a:r>
            <a:r>
              <a:rPr lang="en-US" sz="1300" dirty="0"/>
              <a:t>(1 of 6)</a:t>
            </a:r>
            <a:endParaRPr lang="en-US" dirty="0"/>
          </a:p>
        </p:txBody>
      </p:sp>
      <p:sp>
        <p:nvSpPr>
          <p:cNvPr id="3" name="Text Placeholder 2"/>
          <p:cNvSpPr>
            <a:spLocks noGrp="1"/>
          </p:cNvSpPr>
          <p:nvPr>
            <p:ph idx="1"/>
          </p:nvPr>
        </p:nvSpPr>
        <p:spPr/>
        <p:txBody>
          <a:bodyPr>
            <a:normAutofit fontScale="92500"/>
          </a:bodyPr>
          <a:lstStyle/>
          <a:p>
            <a:pPr marL="457200" indent="-457200">
              <a:spcBef>
                <a:spcPct val="20000"/>
              </a:spcBef>
              <a:buNone/>
            </a:pPr>
            <a:r>
              <a:rPr lang="en-US" sz="3500" dirty="0"/>
              <a:t>Cannabis consumption produces a dose-dependent state of intoxication</a:t>
            </a:r>
          </a:p>
          <a:p>
            <a:r>
              <a:rPr lang="en-US" altLang="en-US" dirty="0"/>
              <a:t>Subjective and behavioral effects of marijuana use can be separated into four stages: the “buzz,” the “high,” being “stoned,” and the “come-down.”</a:t>
            </a:r>
          </a:p>
          <a:p>
            <a:r>
              <a:rPr lang="en-US" altLang="en-US" dirty="0"/>
              <a:t>Physical responses include increased heart rate and blood pressure,  increased hunger.</a:t>
            </a:r>
          </a:p>
          <a:p>
            <a:r>
              <a:rPr lang="en-US" altLang="en-US" dirty="0"/>
              <a:t>Effects of cannabinoid use vary depending on dose, frequency of use, characteristics of the user, the setting in which use occurs, and expectations </a:t>
            </a:r>
          </a:p>
        </p:txBody>
      </p:sp>
    </p:spTree>
    <p:extLst>
      <p:ext uri="{BB962C8B-B14F-4D97-AF65-F5344CB8AC3E}">
        <p14:creationId xmlns:p14="http://schemas.microsoft.com/office/powerpoint/2010/main" val="3946239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Acute Behavioral and Physiological Effects of Cannabinoids </a:t>
            </a:r>
            <a:r>
              <a:rPr lang="en-US" sz="1300" dirty="0"/>
              <a:t>(2 of 6)</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Cannabis consumption produces a dose-dependent state of intoxication</a:t>
            </a:r>
          </a:p>
          <a:p>
            <a:pPr>
              <a:spcBef>
                <a:spcPts val="1200"/>
              </a:spcBef>
            </a:pPr>
            <a:r>
              <a:rPr lang="en-US" dirty="0"/>
              <a:t>Effects of marijuana are at least partially mediated by CB</a:t>
            </a:r>
            <a:r>
              <a:rPr lang="en-US" baseline="-25000" dirty="0"/>
              <a:t>1</a:t>
            </a:r>
            <a:r>
              <a:rPr lang="en-US" dirty="0"/>
              <a:t> receptors; intoxication can be significantly inhibited by prior treatment with rimonabant</a:t>
            </a:r>
          </a:p>
          <a:p>
            <a:pPr>
              <a:spcBef>
                <a:spcPts val="1200"/>
              </a:spcBef>
            </a:pPr>
            <a:r>
              <a:rPr lang="en-US" dirty="0"/>
              <a:t>Adverse reactions: high doses can cause anxiety, transient psychotic symptoms, paranoia, violent behavior</a:t>
            </a:r>
          </a:p>
          <a:p>
            <a:pPr>
              <a:spcBef>
                <a:spcPts val="1200"/>
              </a:spcBef>
            </a:pPr>
            <a:r>
              <a:rPr lang="en-US" dirty="0"/>
              <a:t>Acute toxic reaction is manifested as CNS excitation or depression, tachycardia, and GI symptoms; rarely life-threatening</a:t>
            </a:r>
          </a:p>
        </p:txBody>
      </p:sp>
    </p:spTree>
    <p:extLst>
      <p:ext uri="{BB962C8B-B14F-4D97-AF65-F5344CB8AC3E}">
        <p14:creationId xmlns:p14="http://schemas.microsoft.com/office/powerpoint/2010/main" val="2984019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122E7-CD42-DF42-9006-B19DE5243681}"/>
              </a:ext>
            </a:extLst>
          </p:cNvPr>
          <p:cNvSpPr>
            <a:spLocks noGrp="1"/>
          </p:cNvSpPr>
          <p:nvPr>
            <p:ph type="title"/>
          </p:nvPr>
        </p:nvSpPr>
        <p:spPr/>
        <p:txBody>
          <a:bodyPr/>
          <a:lstStyle/>
          <a:p>
            <a:r>
              <a:rPr lang="en-US" dirty="0"/>
              <a:t>FIGURE 14.15  Reduction in the subjective and physiological effects of smoked marijuana by rimonabant pretreatment </a:t>
            </a:r>
          </a:p>
        </p:txBody>
      </p:sp>
      <p:pic>
        <p:nvPicPr>
          <p:cNvPr id="6" name="Content Placeholder 5" descr=" A graphical representation of the reduction in the subjective and physiological effects of smoked marijuana by rimonabant pretreatment. The graph represents the subjective effects such as feeling high, feeling stoned along the x-axis, and maximum mean rating of drug effect with intervals of 10 along the y-axis. For those who smoked placebo with marijuana, the maximum mean rating of the drug effect is around 80, 75 for feeling high and feeling stoned, respectively. For those who smoked rimonabant with marijuana, the maximum mean rating of drug effect is around 45, 46 for feeling high and feeling stoned, respectively. The graph represents heart rate along the x-axis and the mean increase in heart rate in beats per minute along the y-axis. For those who smoked placebo with marijuana, the mean increase in heart rate is around 30. For those who smoked rimonabant and marijuana, the mean increase in heart rate is around 14."/>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882346" y="479425"/>
            <a:ext cx="6427309" cy="6300788"/>
          </a:xfrm>
        </p:spPr>
      </p:pic>
    </p:spTree>
    <p:extLst>
      <p:ext uri="{BB962C8B-B14F-4D97-AF65-F5344CB8AC3E}">
        <p14:creationId xmlns:p14="http://schemas.microsoft.com/office/powerpoint/2010/main" val="927111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Acute Behavioral and Physiological Effects of Cannabinoids </a:t>
            </a:r>
            <a:r>
              <a:rPr lang="en-US" sz="1300" dirty="0"/>
              <a:t>(3 of 6)</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Marijuana use can lead to deficits in memory and other cognitive processes</a:t>
            </a:r>
          </a:p>
          <a:p>
            <a:pPr>
              <a:spcBef>
                <a:spcPts val="1200"/>
              </a:spcBef>
            </a:pPr>
            <a:r>
              <a:rPr lang="en-US" dirty="0"/>
              <a:t>Marijuana affects a variety of cognitive functions, including learning, memory, attention, impulse control, and decision making</a:t>
            </a:r>
          </a:p>
          <a:p>
            <a:pPr>
              <a:spcBef>
                <a:spcPts val="1200"/>
              </a:spcBef>
            </a:pPr>
            <a:r>
              <a:rPr lang="en-US" dirty="0"/>
              <a:t>Animal studies suggest that impairment of hippocampal-dependent learning/memory tasks is related to cannabinoid effects on the glutamatergic system within this brain area.</a:t>
            </a:r>
          </a:p>
          <a:p>
            <a:pPr>
              <a:spcBef>
                <a:spcPts val="1200"/>
              </a:spcBef>
            </a:pPr>
            <a:r>
              <a:rPr lang="en-US" dirty="0"/>
              <a:t>Also acutely impairs performance on complex psychomotor tasks; affects driving ability, especially if combined with alcohol</a:t>
            </a:r>
          </a:p>
        </p:txBody>
      </p:sp>
    </p:spTree>
    <p:extLst>
      <p:ext uri="{BB962C8B-B14F-4D97-AF65-F5344CB8AC3E}">
        <p14:creationId xmlns:p14="http://schemas.microsoft.com/office/powerpoint/2010/main" val="4134430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186E-FC03-084F-B13A-FC14E9FF9955}"/>
              </a:ext>
            </a:extLst>
          </p:cNvPr>
          <p:cNvSpPr>
            <a:spLocks noGrp="1"/>
          </p:cNvSpPr>
          <p:nvPr>
            <p:ph type="title"/>
          </p:nvPr>
        </p:nvSpPr>
        <p:spPr/>
        <p:txBody>
          <a:bodyPr/>
          <a:lstStyle/>
          <a:p>
            <a:r>
              <a:rPr lang="en-US" dirty="0"/>
              <a:t>FIGURE 14.16  Estimated relationship between the driver’s blood THC concentration and the odds ratio of being in a motor vehicle accident </a:t>
            </a:r>
          </a:p>
        </p:txBody>
      </p:sp>
      <p:pic>
        <p:nvPicPr>
          <p:cNvPr id="6" name="Content Placeholder 5" descr=" A graphical representation of the estimated relationship between the driver’s blood tetrahydrocannabinol concentration and the odds ratio of being in a motor vehicle accident. The graph represents the concentration of tetrahydrocannabinol in nanogram per milliliter of blood with intervals of 2 along the x-axis and odds ratio with intervals of 1 along the y-axis. The odds ratio is one for zero tetrahydrocannabinol levels. As the concentration increase, the odds ratio decrease. The odds ratio starts to increase when the concentration is around 3. The odds ratio gradually increases as the concentration increase. The odds ratio is around 6.5 when the concentration is around 12.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857654" y="668338"/>
            <a:ext cx="6476693" cy="6108700"/>
          </a:xfrm>
        </p:spPr>
      </p:pic>
    </p:spTree>
    <p:extLst>
      <p:ext uri="{BB962C8B-B14F-4D97-AF65-F5344CB8AC3E}">
        <p14:creationId xmlns:p14="http://schemas.microsoft.com/office/powerpoint/2010/main" val="2629121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Acute Behavioral and Physiological Effects of Cannabinoids </a:t>
            </a:r>
            <a:r>
              <a:rPr lang="en-US" sz="1300" dirty="0"/>
              <a:t>(4 of 6)</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Rewarding and reinforcing effects of cannabinoids have been studied in both humans and animals</a:t>
            </a:r>
          </a:p>
          <a:p>
            <a:pPr>
              <a:spcBef>
                <a:spcPts val="1200"/>
              </a:spcBef>
            </a:pPr>
            <a:r>
              <a:rPr lang="en-US" dirty="0"/>
              <a:t>THC has less reward and reinforcing properties than opioids in animal tests, with the exception of squirrel monkeys</a:t>
            </a:r>
          </a:p>
          <a:p>
            <a:pPr>
              <a:spcBef>
                <a:spcPts val="1200"/>
              </a:spcBef>
            </a:pPr>
            <a:r>
              <a:rPr lang="en-US" dirty="0"/>
              <a:t>THC is a partial agonist at the CB</a:t>
            </a:r>
            <a:r>
              <a:rPr lang="en-US" baseline="-25000" dirty="0"/>
              <a:t>1</a:t>
            </a:r>
            <a:r>
              <a:rPr lang="en-US" dirty="0"/>
              <a:t> receptor; WIN55,212–2, a full agonist at the CB1 receptor, is self-administered by rodents</a:t>
            </a:r>
          </a:p>
          <a:p>
            <a:pPr>
              <a:spcBef>
                <a:spcPts val="1200"/>
              </a:spcBef>
            </a:pPr>
            <a:r>
              <a:rPr lang="en-US" dirty="0"/>
              <a:t>CB</a:t>
            </a:r>
            <a:r>
              <a:rPr lang="en-US" baseline="-25000" dirty="0"/>
              <a:t>1</a:t>
            </a:r>
            <a:r>
              <a:rPr lang="en-US" dirty="0"/>
              <a:t> receptors are involved in the brain’s reward system and interact with the endogenous opioid systems</a:t>
            </a:r>
          </a:p>
        </p:txBody>
      </p:sp>
    </p:spTree>
    <p:extLst>
      <p:ext uri="{BB962C8B-B14F-4D97-AF65-F5344CB8AC3E}">
        <p14:creationId xmlns:p14="http://schemas.microsoft.com/office/powerpoint/2010/main" val="2021192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7414-4C24-5B4D-91CF-32A15D71FFED}"/>
              </a:ext>
            </a:extLst>
          </p:cNvPr>
          <p:cNvSpPr>
            <a:spLocks noGrp="1"/>
          </p:cNvSpPr>
          <p:nvPr>
            <p:ph type="title"/>
          </p:nvPr>
        </p:nvSpPr>
        <p:spPr/>
        <p:txBody>
          <a:bodyPr/>
          <a:lstStyle/>
          <a:p>
            <a:r>
              <a:rPr lang="en-US" dirty="0"/>
              <a:t>FIGURE 14.17  Acquisition of THC self-administration by squirrel monkeys </a:t>
            </a:r>
          </a:p>
        </p:txBody>
      </p:sp>
      <p:pic>
        <p:nvPicPr>
          <p:cNvPr id="6" name="Content Placeholder 5" descr=" A graphical representation of the acquisition of tetrahydrocannabinol self-administration by squirrel monkeys. The graph represents the number of sessions with intervals of one along the x-axis and the number of injections per session with intervals of 10 along the y-axis. In the first three sessions, saline is injected and the number of injections per session is less than five. In the fourth session, two micrograms per kilogram per injection of tetrahydrocannabinol are used instead of saline, which resulted in the peaking of the number of injections per session to about 30. The tetrahydrocannabinol is continued in the fifth, sixth, seventh, and eighth sessions, and the number of injections per session is between 20 and 30. In the ninth session, the vehicle is administered instead of tetrahydrocannabinol, which resulted in a decrease in the number of injections per session to about 15. The vehicle is continued in the tenth, eleventh, twelfth, thirteenth sessions and the number of injections per session is below 10. In the fourteenth session, four micrograms per kilogram per injection of tetrahydrocannabinol instead of the vehicle, this resulted in the peaking of the number of injections per session to about 22. The tetrahydrocannabinol is continued in the fifteenth and sixteenth sessions, and the number of injections per session is between 30 and 2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990844" y="479425"/>
            <a:ext cx="10210313" cy="6300788"/>
          </a:xfrm>
        </p:spPr>
      </p:pic>
    </p:spTree>
    <p:extLst>
      <p:ext uri="{BB962C8B-B14F-4D97-AF65-F5344CB8AC3E}">
        <p14:creationId xmlns:p14="http://schemas.microsoft.com/office/powerpoint/2010/main" val="3221020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Acute Behavioral and Physiological Effects of Cannabinoids </a:t>
            </a:r>
            <a:r>
              <a:rPr lang="en-US" sz="1300" dirty="0"/>
              <a:t>(5 of 6)</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Rewarding and reinforcing effects of cannabinoids have been studied in both humans and animals</a:t>
            </a:r>
          </a:p>
          <a:p>
            <a:pPr>
              <a:spcBef>
                <a:spcPts val="1200"/>
              </a:spcBef>
            </a:pPr>
            <a:r>
              <a:rPr lang="en-US" dirty="0"/>
              <a:t>Cannabinoid reinforcement is dependent on CB</a:t>
            </a:r>
            <a:r>
              <a:rPr lang="en-US" baseline="-25000" dirty="0"/>
              <a:t>1</a:t>
            </a:r>
            <a:r>
              <a:rPr lang="en-US" dirty="0"/>
              <a:t> receptor-mediated activation of VTA dopaminergic cell firing and DA release in the </a:t>
            </a:r>
            <a:r>
              <a:rPr lang="en-US" dirty="0" err="1"/>
              <a:t>NAcc</a:t>
            </a:r>
            <a:endParaRPr lang="en-US" dirty="0"/>
          </a:p>
          <a:p>
            <a:pPr>
              <a:spcBef>
                <a:spcPts val="1200"/>
              </a:spcBef>
            </a:pPr>
            <a:r>
              <a:rPr lang="en-US" dirty="0"/>
              <a:t>Mediated partly by presynaptic CB</a:t>
            </a:r>
            <a:r>
              <a:rPr lang="en-US" baseline="-25000" dirty="0"/>
              <a:t>1</a:t>
            </a:r>
            <a:r>
              <a:rPr lang="en-US" dirty="0"/>
              <a:t> receptors on GABAergic nerve terminals that synapse on the VTA neurons – suppressing GABA-mediated inhibition of cell firing.</a:t>
            </a:r>
          </a:p>
        </p:txBody>
      </p:sp>
    </p:spTree>
    <p:extLst>
      <p:ext uri="{BB962C8B-B14F-4D97-AF65-F5344CB8AC3E}">
        <p14:creationId xmlns:p14="http://schemas.microsoft.com/office/powerpoint/2010/main" val="33633008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Acute Behavioral and Physiological Effects of Cannabinoids </a:t>
            </a:r>
            <a:r>
              <a:rPr lang="en-US" sz="1300" dirty="0"/>
              <a:t>(6 of 6)</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2</a:t>
            </a:r>
          </a:p>
          <a:p>
            <a:pPr marL="457200" indent="-457200">
              <a:spcBef>
                <a:spcPts val="2400"/>
              </a:spcBef>
              <a:buNone/>
            </a:pPr>
            <a:r>
              <a:rPr lang="en-US" sz="3200" dirty="0"/>
              <a:t>Why is THC less reinforcing than opioids?</a:t>
            </a:r>
          </a:p>
          <a:p>
            <a:pPr marL="914400" indent="-457200">
              <a:buFont typeface="Arial" pitchFamily="34" charset="0"/>
              <a:buAutoNum type="alphaLcPeriod"/>
            </a:pPr>
            <a:r>
              <a:rPr lang="en-US" sz="3200" dirty="0"/>
              <a:t>It interacts closely with the endogenous opioid system.</a:t>
            </a:r>
          </a:p>
          <a:p>
            <a:pPr marL="914400" indent="-457200">
              <a:buFont typeface="Arial" pitchFamily="34" charset="0"/>
              <a:buAutoNum type="alphaLcPeriod"/>
            </a:pPr>
            <a:r>
              <a:rPr lang="en-US" sz="3200" dirty="0"/>
              <a:t>It stimulates dopamine release in the </a:t>
            </a:r>
            <a:r>
              <a:rPr lang="en-US" sz="3200" dirty="0" err="1"/>
              <a:t>Nacc</a:t>
            </a:r>
            <a:r>
              <a:rPr lang="en-US" sz="3200" dirty="0"/>
              <a:t>.</a:t>
            </a:r>
          </a:p>
          <a:p>
            <a:pPr marL="914400" indent="-457200">
              <a:buFont typeface="Arial" pitchFamily="34" charset="0"/>
              <a:buAutoNum type="alphaLcPeriod"/>
            </a:pPr>
            <a:r>
              <a:rPr lang="en-US" sz="3200" dirty="0"/>
              <a:t>THC is only a partial agonist at the CB1 receptor.</a:t>
            </a:r>
          </a:p>
          <a:p>
            <a:pPr marL="914400" indent="-457200">
              <a:buFont typeface="Arial" pitchFamily="34" charset="0"/>
              <a:buAutoNum type="alphaLcPeriod"/>
            </a:pPr>
            <a:r>
              <a:rPr lang="en-US" sz="3200" dirty="0"/>
              <a:t>THC is an antagonist at the CB1 receptor.</a:t>
            </a:r>
          </a:p>
        </p:txBody>
      </p:sp>
    </p:spTree>
    <p:extLst>
      <p:ext uri="{BB962C8B-B14F-4D97-AF65-F5344CB8AC3E}">
        <p14:creationId xmlns:p14="http://schemas.microsoft.com/office/powerpoint/2010/main" val="3324611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4)</a:t>
            </a:r>
            <a:endParaRPr lang="en-US" dirty="0"/>
          </a:p>
        </p:txBody>
      </p:sp>
      <p:sp>
        <p:nvSpPr>
          <p:cNvPr id="3" name="Text Placeholder 2"/>
          <p:cNvSpPr>
            <a:spLocks noGrp="1"/>
          </p:cNvSpPr>
          <p:nvPr>
            <p:ph idx="1"/>
          </p:nvPr>
        </p:nvSpPr>
        <p:spPr>
          <a:xfrm>
            <a:off x="609600" y="1857780"/>
            <a:ext cx="10972800" cy="4564791"/>
          </a:xfrm>
        </p:spPr>
        <p:txBody>
          <a:bodyPr>
            <a:normAutofit/>
          </a:bodyPr>
          <a:lstStyle/>
          <a:p>
            <a:pPr marL="1143000" indent="-1143000">
              <a:lnSpc>
                <a:spcPct val="110000"/>
              </a:lnSpc>
              <a:spcBef>
                <a:spcPts val="1800"/>
              </a:spcBef>
              <a:buNone/>
            </a:pPr>
            <a:r>
              <a:rPr lang="en-US" sz="2800" dirty="0"/>
              <a:t>14.3.1  Describe the subjective features of cannabis intoxication.</a:t>
            </a:r>
          </a:p>
          <a:p>
            <a:pPr marL="1143000" indent="-1143000">
              <a:lnSpc>
                <a:spcPct val="110000"/>
              </a:lnSpc>
              <a:spcBef>
                <a:spcPts val="1800"/>
              </a:spcBef>
              <a:buNone/>
            </a:pPr>
            <a:r>
              <a:rPr lang="en-US" sz="2800" dirty="0"/>
              <a:t>14.3.2  Discuss the short-term effects of marijuana use on cognitive function.</a:t>
            </a:r>
          </a:p>
          <a:p>
            <a:pPr marL="1143000" indent="-1143000">
              <a:lnSpc>
                <a:spcPct val="110000"/>
              </a:lnSpc>
              <a:spcBef>
                <a:spcPts val="1800"/>
              </a:spcBef>
              <a:buNone/>
            </a:pPr>
            <a:r>
              <a:rPr lang="en-US" sz="2800" dirty="0"/>
              <a:t>14.3.3  Describe evidence for cannabinoid reinforcement and its underlying mechanisms. </a:t>
            </a:r>
          </a:p>
        </p:txBody>
      </p:sp>
    </p:spTree>
    <p:extLst>
      <p:ext uri="{BB962C8B-B14F-4D97-AF65-F5344CB8AC3E}">
        <p14:creationId xmlns:p14="http://schemas.microsoft.com/office/powerpoint/2010/main" val="35000862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Cannabis Use, Misuse, </a:t>
            </a:r>
            <a:br>
              <a:rPr lang="en-US" dirty="0"/>
            </a:br>
            <a:r>
              <a:rPr lang="en-US" dirty="0"/>
              <a:t>and the Effects of Chronic Cannabis Exposure </a:t>
            </a:r>
            <a:r>
              <a:rPr lang="en-US" sz="1300" dirty="0"/>
              <a:t>(1 of 11)</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Global cannabis/marijuana use, initiation of use, and subsequent age-related changes in use are well documented</a:t>
            </a:r>
          </a:p>
          <a:p>
            <a:pPr>
              <a:spcBef>
                <a:spcPts val="1200"/>
              </a:spcBef>
            </a:pPr>
            <a:r>
              <a:rPr lang="en-US" dirty="0"/>
              <a:t>Cannabis is the most widely used illicit drug in the world and in the U.S.</a:t>
            </a:r>
          </a:p>
          <a:p>
            <a:pPr>
              <a:spcBef>
                <a:spcPts val="1200"/>
              </a:spcBef>
            </a:pPr>
            <a:r>
              <a:rPr lang="en-US" dirty="0"/>
              <a:t>First use typically occurs in adolescence and peaks during young adulthood</a:t>
            </a:r>
          </a:p>
          <a:p>
            <a:pPr>
              <a:spcBef>
                <a:spcPts val="1200"/>
              </a:spcBef>
            </a:pPr>
            <a:r>
              <a:rPr lang="en-US" dirty="0"/>
              <a:t>Predictors of early use: sensation seeking, impulsiveness, poor behavioral control, rebelliousness, low academic motivation, prior experience with alcohol and tobacco</a:t>
            </a:r>
          </a:p>
        </p:txBody>
      </p:sp>
    </p:spTree>
    <p:extLst>
      <p:ext uri="{BB962C8B-B14F-4D97-AF65-F5344CB8AC3E}">
        <p14:creationId xmlns:p14="http://schemas.microsoft.com/office/powerpoint/2010/main" val="41008979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9D9C5-10CB-C84F-A667-3073BB7EA4A5}"/>
              </a:ext>
            </a:extLst>
          </p:cNvPr>
          <p:cNvSpPr>
            <a:spLocks noGrp="1"/>
          </p:cNvSpPr>
          <p:nvPr>
            <p:ph type="title"/>
          </p:nvPr>
        </p:nvSpPr>
        <p:spPr/>
        <p:txBody>
          <a:bodyPr/>
          <a:lstStyle/>
          <a:p>
            <a:r>
              <a:rPr lang="en-US" dirty="0"/>
              <a:t>FIGURE 14.18  Probability of initiating marijuana use as a function of age </a:t>
            </a:r>
          </a:p>
        </p:txBody>
      </p:sp>
      <p:pic>
        <p:nvPicPr>
          <p:cNvPr id="6" name="Content Placeholder 5" descr="A graphical representation of the probability of initiating marijuana with age. The graph represents age in years along the x-axis and the probability of initiating marijuana use along the y-axis. At 10 years, the probability of initiating marijuana use is almost zero. The probability gradually increases as the age increase and a peak is found between the ages 15 and 20. Followed by a gradual decrease and the probability becomes almost zero at 25 years. A slight increase in use is found between the ages 25 and 30 and also at 30 year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674539" y="479425"/>
            <a:ext cx="10842922" cy="6300788"/>
          </a:xfrm>
        </p:spPr>
      </p:pic>
    </p:spTree>
    <p:extLst>
      <p:ext uri="{BB962C8B-B14F-4D97-AF65-F5344CB8AC3E}">
        <p14:creationId xmlns:p14="http://schemas.microsoft.com/office/powerpoint/2010/main" val="2432160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Cannabis Use, Misuse, </a:t>
            </a:r>
            <a:br>
              <a:rPr lang="en-US" dirty="0"/>
            </a:br>
            <a:r>
              <a:rPr lang="en-US" dirty="0"/>
              <a:t>and the Effects of Chronic Cannabis Exposure </a:t>
            </a:r>
            <a:r>
              <a:rPr lang="en-US" sz="1300" dirty="0"/>
              <a:t>(2 of 11)</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Chronic use of cannabis can lead to the development of a cannabis use disorder</a:t>
            </a:r>
          </a:p>
          <a:p>
            <a:pPr>
              <a:spcBef>
                <a:spcPts val="1200"/>
              </a:spcBef>
            </a:pPr>
            <a:r>
              <a:rPr lang="en-US" dirty="0"/>
              <a:t>DSM-5 contains diagnostic criteria for cannabis intoxication, withdrawal, and cannabis use disorder (CUD)</a:t>
            </a:r>
          </a:p>
          <a:p>
            <a:pPr>
              <a:spcBef>
                <a:spcPts val="1200"/>
              </a:spcBef>
            </a:pPr>
            <a:r>
              <a:rPr lang="en-US" dirty="0"/>
              <a:t>CUD risk factors: onset of use before age 16, frequency of use, co-use of tobacco, being male – but women tend to have more severe symptoms and progress faster</a:t>
            </a:r>
          </a:p>
          <a:p>
            <a:pPr>
              <a:spcBef>
                <a:spcPts val="1200"/>
              </a:spcBef>
            </a:pPr>
            <a:r>
              <a:rPr lang="en-US" dirty="0"/>
              <a:t>Risk is also influenced by biological and psychosocial variables including comorbid mood, anxiety, or personality disorders, and the legal status of cannabis availability.</a:t>
            </a:r>
          </a:p>
        </p:txBody>
      </p:sp>
    </p:spTree>
    <p:extLst>
      <p:ext uri="{BB962C8B-B14F-4D97-AF65-F5344CB8AC3E}">
        <p14:creationId xmlns:p14="http://schemas.microsoft.com/office/powerpoint/2010/main" val="8491043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AD806-F89B-C449-A788-A901195392C0}"/>
              </a:ext>
            </a:extLst>
          </p:cNvPr>
          <p:cNvSpPr>
            <a:spLocks noGrp="1"/>
          </p:cNvSpPr>
          <p:nvPr>
            <p:ph type="title"/>
          </p:nvPr>
        </p:nvSpPr>
        <p:spPr/>
        <p:txBody>
          <a:bodyPr/>
          <a:lstStyle/>
          <a:p>
            <a:r>
              <a:rPr lang="en-US" dirty="0"/>
              <a:t>FIGURE 14.19  Classification systems of cannabis use and misuse </a:t>
            </a:r>
          </a:p>
        </p:txBody>
      </p:sp>
      <p:pic>
        <p:nvPicPr>
          <p:cNvPr id="6" name="Content Placeholder 5" descr=" An illustration of a pyramid on the classification systems of cannabis use and misuse. The pyramid is divided into five levels. Level one is the base of the pyramid and has the category, non-user. Level two has the low-risk cannabis consumption or experimental use category. Level three has the hazardous cannabis use category. Level four has two categories, cannabis abuse according to D S M four and the other category is harmful patterns of cannabis use according to I C D 10 and I C D 11. Level five is the apex and has the category, cannabis dependence according to I C D 10, I C D 11, and D S M four. Levels four and five are considered as cannabis use disorders according to D S M fiv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040975" y="479425"/>
            <a:ext cx="8110050" cy="6300788"/>
          </a:xfrm>
        </p:spPr>
      </p:pic>
    </p:spTree>
    <p:extLst>
      <p:ext uri="{BB962C8B-B14F-4D97-AF65-F5344CB8AC3E}">
        <p14:creationId xmlns:p14="http://schemas.microsoft.com/office/powerpoint/2010/main" val="2689796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2E617-F4F7-5F4E-8C3D-25922FD5BFF8}"/>
              </a:ext>
            </a:extLst>
          </p:cNvPr>
          <p:cNvSpPr>
            <a:spLocks noGrp="1"/>
          </p:cNvSpPr>
          <p:nvPr>
            <p:ph type="title"/>
          </p:nvPr>
        </p:nvSpPr>
        <p:spPr/>
        <p:txBody>
          <a:bodyPr/>
          <a:lstStyle/>
          <a:p>
            <a:r>
              <a:rPr lang="en-US" dirty="0"/>
              <a:t>FIGURE 14.20  Odds ratio of having a comorbid psychiatric condition for individuals with CUD </a:t>
            </a:r>
          </a:p>
        </p:txBody>
      </p:sp>
      <p:pic>
        <p:nvPicPr>
          <p:cNvPr id="6" name="Content Placeholder 5" descr=" A graphical representation of the odds ratio of having a psychiatric condition for individuals with cannabis use disorder. The graph represents psychiatric conditions along the x-axis and odds ratio with intervals of one along the y-axis. The psychiatric conditions are any mood disorder, major depressive disorder, bipolar one, bipolar two, any anxiety disorder, panic disorder, agoraphobia, social phobia, specific phobia, generalized anxiety disorder, post-traumatic stress disorder, any personality disorder, schizotypal, borderline, antisocial, and any other substance use disorder, and their odds ratio is around 3.9, 2.9, 5, 2.8, 2.9, 3.3, 2.7, 2.4, 1.8, 3.8, 4.3, 4.9, 4.5, 5.1, 3.9, and 9.3, respectively."/>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021520" y="479425"/>
            <a:ext cx="6148961" cy="6300788"/>
          </a:xfrm>
        </p:spPr>
      </p:pic>
    </p:spTree>
    <p:extLst>
      <p:ext uri="{BB962C8B-B14F-4D97-AF65-F5344CB8AC3E}">
        <p14:creationId xmlns:p14="http://schemas.microsoft.com/office/powerpoint/2010/main" val="2590469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Cannabis Use, Misuse, </a:t>
            </a:r>
            <a:br>
              <a:rPr lang="en-US" dirty="0"/>
            </a:br>
            <a:r>
              <a:rPr lang="en-US" dirty="0"/>
              <a:t>and the Effects of Chronic Cannabis Exposure </a:t>
            </a:r>
            <a:r>
              <a:rPr lang="en-US" sz="1300" dirty="0"/>
              <a:t>(3 of 11)</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Chronic use of cannabis can lead to the development of a cannabis use disorder</a:t>
            </a:r>
          </a:p>
          <a:p>
            <a:pPr>
              <a:spcBef>
                <a:spcPts val="1200"/>
              </a:spcBef>
            </a:pPr>
            <a:r>
              <a:rPr lang="en-US" dirty="0"/>
              <a:t>Regular cannabis users showed tolerance to the acute intoxicating effects, impairment of cognitive function, feelings of anxiety induced by higher doses, physiological changes such as tachycardia</a:t>
            </a:r>
          </a:p>
          <a:p>
            <a:pPr>
              <a:spcBef>
                <a:spcPts val="1200"/>
              </a:spcBef>
            </a:pPr>
            <a:r>
              <a:rPr lang="en-US" dirty="0"/>
              <a:t>Tolerance appears to involve a combination of desensitization and down-regulation of CB</a:t>
            </a:r>
            <a:r>
              <a:rPr lang="en-US" baseline="-25000" dirty="0"/>
              <a:t>1</a:t>
            </a:r>
            <a:r>
              <a:rPr lang="en-US" dirty="0"/>
              <a:t> receptors; demonstrated in animal studies and brain imaging</a:t>
            </a:r>
          </a:p>
        </p:txBody>
      </p:sp>
    </p:spTree>
    <p:extLst>
      <p:ext uri="{BB962C8B-B14F-4D97-AF65-F5344CB8AC3E}">
        <p14:creationId xmlns:p14="http://schemas.microsoft.com/office/powerpoint/2010/main" val="22698152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Cannabis Use, Misuse, </a:t>
            </a:r>
            <a:br>
              <a:rPr lang="en-US" dirty="0"/>
            </a:br>
            <a:r>
              <a:rPr lang="en-US" dirty="0"/>
              <a:t>and the Effects of Chronic Cannabis Exposure </a:t>
            </a:r>
            <a:r>
              <a:rPr lang="en-US" sz="1300" dirty="0"/>
              <a:t>(4 of 11)</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Chronic use of cannabis can lead to the development of a cannabis use disorder</a:t>
            </a:r>
          </a:p>
          <a:p>
            <a:pPr>
              <a:spcBef>
                <a:spcPts val="1200"/>
              </a:spcBef>
            </a:pPr>
            <a:r>
              <a:rPr lang="en-US" dirty="0"/>
              <a:t>Development of CUD and associated tolerance also includes reduced glutamate levels in the anterior cingulate cortex and striatum and impaired striatal dopaminergic functioning. </a:t>
            </a:r>
          </a:p>
          <a:p>
            <a:pPr>
              <a:spcBef>
                <a:spcPts val="1200"/>
              </a:spcBef>
            </a:pPr>
            <a:r>
              <a:rPr lang="en-US" dirty="0"/>
              <a:t>These changes may partly underlie the cognitive deficits and abnormal mood and motivation observed in CUD.</a:t>
            </a:r>
          </a:p>
        </p:txBody>
      </p:sp>
    </p:spTree>
    <p:extLst>
      <p:ext uri="{BB962C8B-B14F-4D97-AF65-F5344CB8AC3E}">
        <p14:creationId xmlns:p14="http://schemas.microsoft.com/office/powerpoint/2010/main" val="23921083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8D196-825E-1240-A636-D691A67460F2}"/>
              </a:ext>
            </a:extLst>
          </p:cNvPr>
          <p:cNvSpPr>
            <a:spLocks noGrp="1"/>
          </p:cNvSpPr>
          <p:nvPr>
            <p:ph type="title"/>
          </p:nvPr>
        </p:nvSpPr>
        <p:spPr/>
        <p:txBody>
          <a:bodyPr/>
          <a:lstStyle/>
          <a:p>
            <a:r>
              <a:rPr lang="en-US" dirty="0"/>
              <a:t>FIGURE 14.21  Neurochemical changes related to acute cannabis use, chronic use and the development of CUD, and abstinence from use </a:t>
            </a:r>
          </a:p>
        </p:txBody>
      </p:sp>
      <p:pic>
        <p:nvPicPr>
          <p:cNvPr id="6" name="Content Placeholder 5" descr=" A graphical representation of neurochemical changes related to different stages of cannabis use. The graph represents cannabis use disorders such as acute cannabis use, chronic use, cannabis use disorder, and abstinence along the x-axis and the levels of neurotransmitters and the regulation of receptors along the y-axis. During different stages as listed above, the dopamine and glutamate levels produce a peak, decrease and increase gradually. The dopamine and glutamate levels don’t reach their normal levels. The dopamine two and three receptor binding remains unaffected throughout the stages. The cannabinoid one receptor levels decrease which is followed by a gradual increase. During abstinence, the cannabinoid receptor levels reach their normal level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238197" y="668338"/>
            <a:ext cx="7715607" cy="6108700"/>
          </a:xfrm>
        </p:spPr>
      </p:pic>
    </p:spTree>
    <p:extLst>
      <p:ext uri="{BB962C8B-B14F-4D97-AF65-F5344CB8AC3E}">
        <p14:creationId xmlns:p14="http://schemas.microsoft.com/office/powerpoint/2010/main" val="26773737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Cannabis Use, Misuse, </a:t>
            </a:r>
            <a:br>
              <a:rPr lang="en-US" dirty="0"/>
            </a:br>
            <a:r>
              <a:rPr lang="en-US" dirty="0"/>
              <a:t>and the Effects of Chronic Cannabis Exposure </a:t>
            </a:r>
            <a:r>
              <a:rPr lang="en-US" sz="1300" dirty="0"/>
              <a:t>(5 of 11)</a:t>
            </a:r>
            <a:endParaRPr lang="en-US" dirty="0"/>
          </a:p>
        </p:txBody>
      </p:sp>
      <p:sp>
        <p:nvSpPr>
          <p:cNvPr id="3" name="Text Placeholder 2"/>
          <p:cNvSpPr>
            <a:spLocks noGrp="1"/>
          </p:cNvSpPr>
          <p:nvPr>
            <p:ph idx="1"/>
          </p:nvPr>
        </p:nvSpPr>
        <p:spPr>
          <a:xfrm>
            <a:off x="609600" y="1803351"/>
            <a:ext cx="10972800" cy="4725581"/>
          </a:xfrm>
        </p:spPr>
        <p:txBody>
          <a:bodyPr>
            <a:normAutofit lnSpcReduction="10000"/>
          </a:bodyPr>
          <a:lstStyle/>
          <a:p>
            <a:pPr marL="457200" indent="-457200">
              <a:spcBef>
                <a:spcPct val="20000"/>
              </a:spcBef>
              <a:buNone/>
            </a:pPr>
            <a:r>
              <a:rPr lang="en-US" sz="3200" dirty="0"/>
              <a:t>Chronic use of cannabis can lead to the development of a cannabis use disorder</a:t>
            </a:r>
          </a:p>
          <a:p>
            <a:pPr>
              <a:spcBef>
                <a:spcPts val="1200"/>
              </a:spcBef>
            </a:pPr>
            <a:r>
              <a:rPr lang="en-US" dirty="0"/>
              <a:t>Withdrawal symptoms are similar to those of nicotine; symptoms can be relieved with smoked or oral THC</a:t>
            </a:r>
          </a:p>
          <a:p>
            <a:pPr>
              <a:spcBef>
                <a:spcPts val="1200"/>
              </a:spcBef>
            </a:pPr>
            <a:r>
              <a:rPr lang="en-US" dirty="0"/>
              <a:t>Absence of symptoms in rodent studies was due to long elimination half-life of THC; when rimonabant was used to abruptly block receptors (</a:t>
            </a:r>
            <a:r>
              <a:rPr lang="en-US" b="1" dirty="0"/>
              <a:t>precipitated withdrawal</a:t>
            </a:r>
            <a:r>
              <a:rPr lang="en-US" dirty="0"/>
              <a:t>), withdrawal symptoms were observed</a:t>
            </a:r>
          </a:p>
          <a:p>
            <a:pPr>
              <a:spcBef>
                <a:spcPts val="1200"/>
              </a:spcBef>
            </a:pPr>
            <a:r>
              <a:rPr lang="en-US" dirty="0"/>
              <a:t>Reduced DA cell firing, increased CRF release, and other changes could contribute to symptoms of cannabis withdrawal in human users.</a:t>
            </a:r>
          </a:p>
        </p:txBody>
      </p:sp>
    </p:spTree>
    <p:extLst>
      <p:ext uri="{BB962C8B-B14F-4D97-AF65-F5344CB8AC3E}">
        <p14:creationId xmlns:p14="http://schemas.microsoft.com/office/powerpoint/2010/main" val="40762389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Cannabis Use, Misuse, </a:t>
            </a:r>
            <a:br>
              <a:rPr lang="en-US" dirty="0"/>
            </a:br>
            <a:r>
              <a:rPr lang="en-US" dirty="0"/>
              <a:t>and the Effects of Chronic Cannabis Exposure </a:t>
            </a:r>
            <a:r>
              <a:rPr lang="en-US" sz="1300" dirty="0"/>
              <a:t>(6 of 11)</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Chronic use of cannabis can lead to the development of a cannabis use disorder</a:t>
            </a:r>
          </a:p>
          <a:p>
            <a:pPr>
              <a:spcBef>
                <a:spcPts val="1200"/>
              </a:spcBef>
            </a:pPr>
            <a:r>
              <a:rPr lang="en-US" dirty="0"/>
              <a:t>Treatment of CUD may involve cognitive behavioral therapy, relapse prevention training, and/or motivational enhancement therapy</a:t>
            </a:r>
          </a:p>
          <a:p>
            <a:pPr>
              <a:spcBef>
                <a:spcPts val="1200"/>
              </a:spcBef>
            </a:pPr>
            <a:r>
              <a:rPr lang="en-US" dirty="0"/>
              <a:t>Contingency management programs</a:t>
            </a:r>
          </a:p>
          <a:p>
            <a:pPr>
              <a:spcBef>
                <a:spcPts val="1200"/>
              </a:spcBef>
            </a:pPr>
            <a:r>
              <a:rPr lang="en-US" dirty="0"/>
              <a:t>Medications have not proven to reliably improve long-term abstinence rates</a:t>
            </a:r>
          </a:p>
          <a:p>
            <a:pPr>
              <a:spcBef>
                <a:spcPts val="1200"/>
              </a:spcBef>
            </a:pPr>
            <a:r>
              <a:rPr lang="en-US" dirty="0"/>
              <a:t>Agonist substitutions have been tested, including dronabinol, nabilone, and </a:t>
            </a:r>
            <a:r>
              <a:rPr lang="en-US" dirty="0" err="1"/>
              <a:t>nabiximols</a:t>
            </a:r>
            <a:endParaRPr lang="en-US" dirty="0"/>
          </a:p>
        </p:txBody>
      </p:sp>
    </p:spTree>
    <p:extLst>
      <p:ext uri="{BB962C8B-B14F-4D97-AF65-F5344CB8AC3E}">
        <p14:creationId xmlns:p14="http://schemas.microsoft.com/office/powerpoint/2010/main" val="7141706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Cannabis Use, Misuse, </a:t>
            </a:r>
            <a:br>
              <a:rPr lang="en-US" dirty="0"/>
            </a:br>
            <a:r>
              <a:rPr lang="en-US" dirty="0"/>
              <a:t>and the Effects of Chronic Cannabis Exposure </a:t>
            </a:r>
            <a:r>
              <a:rPr lang="en-US" sz="1300" dirty="0"/>
              <a:t>(7 of 11)</a:t>
            </a:r>
            <a:endParaRPr lang="en-US" dirty="0"/>
          </a:p>
        </p:txBody>
      </p:sp>
      <p:sp>
        <p:nvSpPr>
          <p:cNvPr id="3" name="Text Placeholder 2"/>
          <p:cNvSpPr>
            <a:spLocks noGrp="1"/>
          </p:cNvSpPr>
          <p:nvPr>
            <p:ph idx="1"/>
          </p:nvPr>
        </p:nvSpPr>
        <p:spPr>
          <a:xfrm>
            <a:off x="609600" y="1781579"/>
            <a:ext cx="10972800" cy="4725581"/>
          </a:xfrm>
        </p:spPr>
        <p:txBody>
          <a:bodyPr>
            <a:normAutofit fontScale="92500" lnSpcReduction="20000"/>
          </a:bodyPr>
          <a:lstStyle/>
          <a:p>
            <a:pPr marL="457200" indent="-457200">
              <a:spcBef>
                <a:spcPct val="20000"/>
              </a:spcBef>
              <a:buNone/>
            </a:pPr>
            <a:r>
              <a:rPr lang="en-US" sz="3500" dirty="0"/>
              <a:t>Chronic cannabis use can lead to adverse behavioral, neurobiological, and health effects</a:t>
            </a:r>
          </a:p>
          <a:p>
            <a:pPr>
              <a:spcBef>
                <a:spcPts val="1200"/>
              </a:spcBef>
            </a:pPr>
            <a:r>
              <a:rPr lang="en-US" dirty="0"/>
              <a:t>Long-term cannabis use leads to impairment in many cognitive domains when assessed following 2 weeks of abstinence</a:t>
            </a:r>
          </a:p>
          <a:p>
            <a:pPr>
              <a:spcBef>
                <a:spcPts val="1200"/>
              </a:spcBef>
            </a:pPr>
            <a:r>
              <a:rPr lang="en-US" dirty="0"/>
              <a:t>Persistent deficits are most likely to occur if regular, heavy cannabis use begins early in adolescence</a:t>
            </a:r>
          </a:p>
          <a:p>
            <a:pPr>
              <a:spcBef>
                <a:spcPts val="1200"/>
              </a:spcBef>
            </a:pPr>
            <a:r>
              <a:rPr lang="en-US" dirty="0"/>
              <a:t>Longitudinal studies find a significant relationship between early cannabis use and later educational and/or occupational achievements</a:t>
            </a:r>
          </a:p>
          <a:p>
            <a:pPr>
              <a:spcBef>
                <a:spcPts val="1200"/>
              </a:spcBef>
            </a:pPr>
            <a:r>
              <a:rPr lang="en-US" dirty="0"/>
              <a:t>Drug-related motivational changes may have a negative impact on performance in the classroom (</a:t>
            </a:r>
            <a:r>
              <a:rPr lang="en-US" b="1" dirty="0" err="1"/>
              <a:t>amotivational</a:t>
            </a:r>
            <a:r>
              <a:rPr lang="en-US" b="1" dirty="0"/>
              <a:t> syndrome</a:t>
            </a:r>
            <a:r>
              <a:rPr lang="en-US" dirty="0"/>
              <a:t>) but personality characteristics could be a cause, not a consequence, of marijuana use</a:t>
            </a:r>
          </a:p>
        </p:txBody>
      </p:sp>
    </p:spTree>
    <p:extLst>
      <p:ext uri="{BB962C8B-B14F-4D97-AF65-F5344CB8AC3E}">
        <p14:creationId xmlns:p14="http://schemas.microsoft.com/office/powerpoint/2010/main" val="39152652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9D96C-D72C-BC4E-AA24-09A9CDE8E50A}"/>
              </a:ext>
            </a:extLst>
          </p:cNvPr>
          <p:cNvSpPr>
            <a:spLocks noGrp="1"/>
          </p:cNvSpPr>
          <p:nvPr>
            <p:ph type="title"/>
          </p:nvPr>
        </p:nvSpPr>
        <p:spPr/>
        <p:txBody>
          <a:bodyPr/>
          <a:lstStyle/>
          <a:p>
            <a:r>
              <a:rPr lang="en-US" dirty="0"/>
              <a:t>TABLE 14.1  Summary of Acute and Chronic Effects of Cannabinoid Exposure on Cognitive Processes </a:t>
            </a:r>
          </a:p>
        </p:txBody>
      </p:sp>
      <p:sp>
        <p:nvSpPr>
          <p:cNvPr id="4" name="Content Placeholder 3">
            <a:extLst>
              <a:ext uri="{FF2B5EF4-FFF2-40B4-BE49-F238E27FC236}">
                <a16:creationId xmlns:a16="http://schemas.microsoft.com/office/drawing/2014/main" id="{27D52DCE-805F-4B41-A52D-283DE66A439C}"/>
              </a:ext>
            </a:extLst>
          </p:cNvPr>
          <p:cNvSpPr>
            <a:spLocks noGrp="1"/>
          </p:cNvSpPr>
          <p:nvPr>
            <p:ph sz="quarter" idx="10"/>
          </p:nvPr>
        </p:nvSpPr>
        <p:spPr/>
        <p:txBody>
          <a:bodyPr>
            <a:noAutofit/>
          </a:bodyPr>
          <a:lstStyle/>
          <a:p>
            <a:pPr marL="0" indent="0">
              <a:buNone/>
            </a:pPr>
            <a:r>
              <a:rPr lang="en-US" sz="2000" b="1" dirty="0"/>
              <a:t>Acute effects</a:t>
            </a:r>
          </a:p>
          <a:p>
            <a:pPr marL="400050" lvl="1" indent="0">
              <a:buNone/>
            </a:pPr>
            <a:r>
              <a:rPr lang="en-US" sz="2000" dirty="0"/>
              <a:t>Impaired verbal learning and memory</a:t>
            </a:r>
          </a:p>
          <a:p>
            <a:pPr marL="400050" lvl="1" indent="0">
              <a:buNone/>
            </a:pPr>
            <a:r>
              <a:rPr lang="en-US" sz="2000" dirty="0"/>
              <a:t>Impaired working memory</a:t>
            </a:r>
          </a:p>
          <a:p>
            <a:pPr marL="400050" lvl="1" indent="0">
              <a:buNone/>
            </a:pPr>
            <a:r>
              <a:rPr lang="en-US" sz="2000" dirty="0"/>
              <a:t>Impaired attention (task- and dose-dependent)</a:t>
            </a:r>
          </a:p>
          <a:p>
            <a:pPr marL="400050" lvl="1" indent="0">
              <a:buNone/>
            </a:pPr>
            <a:r>
              <a:rPr lang="en-US" sz="2000" dirty="0"/>
              <a:t>Impaired inhibitory control and (to a lesser extent) other executive functions </a:t>
            </a:r>
          </a:p>
          <a:p>
            <a:pPr marL="400050" lvl="1" indent="0">
              <a:buNone/>
            </a:pPr>
            <a:r>
              <a:rPr lang="en-US" sz="2000" dirty="0"/>
              <a:t>Impaired psychomotor function</a:t>
            </a:r>
          </a:p>
          <a:p>
            <a:pPr marL="0" indent="0">
              <a:buNone/>
            </a:pPr>
            <a:r>
              <a:rPr lang="en-US" sz="2000" b="1" dirty="0"/>
              <a:t>Chronic effects</a:t>
            </a:r>
          </a:p>
          <a:p>
            <a:pPr marL="400050" lvl="1" indent="0">
              <a:buNone/>
            </a:pPr>
            <a:r>
              <a:rPr lang="en-US" sz="2000" dirty="0"/>
              <a:t>Impaired verbal learning and memory</a:t>
            </a:r>
          </a:p>
          <a:p>
            <a:pPr marL="400050" lvl="1" indent="0">
              <a:buNone/>
            </a:pPr>
            <a:r>
              <a:rPr lang="en-US" sz="2000" dirty="0"/>
              <a:t>Impaired attention; attentional bias</a:t>
            </a:r>
          </a:p>
          <a:p>
            <a:pPr marL="400050" lvl="1" indent="0">
              <a:buNone/>
            </a:pPr>
            <a:r>
              <a:rPr lang="en-US" sz="2000" dirty="0"/>
              <a:t>Possibly impaired psychomotor function</a:t>
            </a:r>
          </a:p>
          <a:p>
            <a:pPr marL="400050" lvl="1" indent="0">
              <a:buNone/>
            </a:pPr>
            <a:r>
              <a:rPr lang="en-US" sz="2000" dirty="0"/>
              <a:t>Possibly impaired executive function (depending on frequency of use and age of onset)</a:t>
            </a:r>
          </a:p>
          <a:p>
            <a:pPr marL="0" indent="0">
              <a:buNone/>
            </a:pPr>
            <a:r>
              <a:rPr lang="en-US" sz="2000" b="1" dirty="0"/>
              <a:t>Recovery of function with abstinence</a:t>
            </a:r>
          </a:p>
          <a:p>
            <a:pPr marL="400050" lvl="1" indent="0">
              <a:buNone/>
            </a:pPr>
            <a:r>
              <a:rPr lang="en-US" sz="2000" dirty="0"/>
              <a:t>Likely persistent effects on attention and psychomotor function</a:t>
            </a:r>
          </a:p>
          <a:p>
            <a:pPr marL="400050" lvl="1" indent="0">
              <a:buNone/>
            </a:pPr>
            <a:r>
              <a:rPr lang="en-US" sz="2000" dirty="0"/>
              <a:t>Possibly persistent effects on verbal learning and memory (insufficient and mixed evidence)</a:t>
            </a:r>
          </a:p>
        </p:txBody>
      </p:sp>
      <p:sp>
        <p:nvSpPr>
          <p:cNvPr id="5" name="Content Placeholder 4">
            <a:extLst>
              <a:ext uri="{FF2B5EF4-FFF2-40B4-BE49-F238E27FC236}">
                <a16:creationId xmlns:a16="http://schemas.microsoft.com/office/drawing/2014/main" id="{70A1FC65-2A4D-8843-BD94-F49C613664EE}"/>
              </a:ext>
            </a:extLst>
          </p:cNvPr>
          <p:cNvSpPr>
            <a:spLocks noGrp="1"/>
          </p:cNvSpPr>
          <p:nvPr>
            <p:ph sz="quarter" idx="12"/>
          </p:nvPr>
        </p:nvSpPr>
        <p:spPr>
          <a:xfrm>
            <a:off x="408432" y="5775158"/>
            <a:ext cx="11375136" cy="1082842"/>
          </a:xfrm>
        </p:spPr>
        <p:txBody>
          <a:bodyPr/>
          <a:lstStyle/>
          <a:p>
            <a:r>
              <a:rPr lang="en-US" i="1" dirty="0"/>
              <a:t>Source</a:t>
            </a:r>
            <a:r>
              <a:rPr lang="en-US" dirty="0"/>
              <a:t>: After S. J. </a:t>
            </a:r>
            <a:r>
              <a:rPr lang="en-US" dirty="0" err="1"/>
              <a:t>Broyd</a:t>
            </a:r>
            <a:r>
              <a:rPr lang="en-US" dirty="0"/>
              <a:t> et al. 2016. </a:t>
            </a:r>
            <a:r>
              <a:rPr lang="en-US" i="1" dirty="0"/>
              <a:t>Biol Psychiatry</a:t>
            </a:r>
            <a:r>
              <a:rPr lang="en-US" dirty="0"/>
              <a:t> 79: 557–567.</a:t>
            </a:r>
          </a:p>
          <a:p>
            <a:r>
              <a:rPr lang="en-US" i="1" dirty="0"/>
              <a:t>Note</a:t>
            </a:r>
            <a:r>
              <a:rPr lang="en-US" dirty="0"/>
              <a:t>: Some acute cannabinoid effects are dependent on the specific task and dose, whereas some chronic effects depend on frequency of use and age of onset of cannabis use. Lesser reliability of findings is denoted by terms such as </a:t>
            </a:r>
            <a:r>
              <a:rPr lang="en-US" i="1" dirty="0"/>
              <a:t>possibly</a:t>
            </a:r>
            <a:r>
              <a:rPr lang="en-US" dirty="0"/>
              <a:t> and </a:t>
            </a:r>
            <a:r>
              <a:rPr lang="en-US" i="1" dirty="0"/>
              <a:t>likely</a:t>
            </a:r>
            <a:r>
              <a:rPr lang="en-US" dirty="0"/>
              <a:t>.</a:t>
            </a:r>
          </a:p>
        </p:txBody>
      </p:sp>
    </p:spTree>
    <p:extLst>
      <p:ext uri="{BB962C8B-B14F-4D97-AF65-F5344CB8AC3E}">
        <p14:creationId xmlns:p14="http://schemas.microsoft.com/office/powerpoint/2010/main" val="31032532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94797"/>
            <a:ext cx="10972800" cy="1143000"/>
          </a:xfrm>
        </p:spPr>
        <p:txBody>
          <a:bodyPr>
            <a:normAutofit fontScale="90000"/>
          </a:bodyPr>
          <a:lstStyle/>
          <a:p>
            <a:r>
              <a:rPr lang="en-US" dirty="0"/>
              <a:t>Cannabis Use, Misuse, </a:t>
            </a:r>
            <a:br>
              <a:rPr lang="en-US" dirty="0"/>
            </a:br>
            <a:r>
              <a:rPr lang="en-US" dirty="0"/>
              <a:t>and the Effects of Chronic Cannabis Exposure </a:t>
            </a:r>
            <a:r>
              <a:rPr lang="en-US" sz="1300" dirty="0"/>
              <a:t>(8 of 11)</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Chronic cannabis use can lead to adverse behavioral, neurobiological, and health effects</a:t>
            </a:r>
          </a:p>
          <a:p>
            <a:pPr>
              <a:spcBef>
                <a:spcPts val="1200"/>
              </a:spcBef>
            </a:pPr>
            <a:r>
              <a:rPr lang="en-US" dirty="0"/>
              <a:t>Brain imaging studies show lower gray matter volume in some areas – could reflect changes in dendritic arborization and/or synaptic connectivity</a:t>
            </a:r>
          </a:p>
          <a:p>
            <a:pPr>
              <a:spcBef>
                <a:spcPts val="1200"/>
              </a:spcBef>
            </a:pPr>
            <a:r>
              <a:rPr lang="en-US" dirty="0"/>
              <a:t>Functional MRI and EEG show brain areas that are differentially activated in cannabis users vs controls</a:t>
            </a:r>
          </a:p>
          <a:p>
            <a:pPr>
              <a:spcBef>
                <a:spcPts val="1200"/>
              </a:spcBef>
            </a:pPr>
            <a:r>
              <a:rPr lang="en-US" dirty="0"/>
              <a:t>Rodent studies: chronic dosing of adolescents with THC or synthetic cannabinoids results in numerous changes in the glutamatergic, GABAergic, and dopaminergic systems</a:t>
            </a:r>
          </a:p>
        </p:txBody>
      </p:sp>
    </p:spTree>
    <p:extLst>
      <p:ext uri="{BB962C8B-B14F-4D97-AF65-F5344CB8AC3E}">
        <p14:creationId xmlns:p14="http://schemas.microsoft.com/office/powerpoint/2010/main" val="2294228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83772-391B-3544-9511-FFA536DB1488}"/>
              </a:ext>
            </a:extLst>
          </p:cNvPr>
          <p:cNvSpPr>
            <a:spLocks noGrp="1"/>
          </p:cNvSpPr>
          <p:nvPr>
            <p:ph type="title"/>
          </p:nvPr>
        </p:nvSpPr>
        <p:spPr/>
        <p:txBody>
          <a:bodyPr/>
          <a:lstStyle/>
          <a:p>
            <a:r>
              <a:rPr lang="en-US" dirty="0"/>
              <a:t>FIGURE 14.23  Altered task-dependent functional brain activity in CUD compared to controls </a:t>
            </a:r>
          </a:p>
        </p:txBody>
      </p:sp>
      <p:pic>
        <p:nvPicPr>
          <p:cNvPr id="6" name="Content Placeholder 5" descr=" An illustration of the sagittal section of the brain demonstrates increased regional brain activation in cannabis use disorder compared to controls. The functional activation of working memory, negative emotional stimuli, cannabis cues, reward anticipation, negative emotional stimuli, and decision making is increased in the frontal cortex, orbitofrontal cortex, mesocorticolimbic network, nucleus accumbens, amygdala, and cerebellum, respectively.&#10;&#10; An illustration of the sagittal section of the brain demonstrates decreased region brain activation in cannabis use disorder compared to controls. The functional activation of attention processing is decreased in the prefrontal cortex and striatum, decision making and reward valuation is decreased in the orbitofrontal cortex, and attentional processing is decreased in the amygdala, hippocampus, midbrain, and cerebellum."/>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941734"/>
            <a:ext cx="11376025" cy="5376169"/>
          </a:xfrm>
        </p:spPr>
      </p:pic>
    </p:spTree>
    <p:extLst>
      <p:ext uri="{BB962C8B-B14F-4D97-AF65-F5344CB8AC3E}">
        <p14:creationId xmlns:p14="http://schemas.microsoft.com/office/powerpoint/2010/main" val="6802558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B2564-3EF5-6C4A-B64D-38B48EA8ED58}"/>
              </a:ext>
            </a:extLst>
          </p:cNvPr>
          <p:cNvSpPr>
            <a:spLocks noGrp="1"/>
          </p:cNvSpPr>
          <p:nvPr>
            <p:ph type="title"/>
          </p:nvPr>
        </p:nvSpPr>
        <p:spPr/>
        <p:txBody>
          <a:bodyPr/>
          <a:lstStyle/>
          <a:p>
            <a:r>
              <a:rPr lang="en-US" dirty="0"/>
              <a:t>FIGURE 14.24  Chronic treatment of adolescent rats with CP-55,940 reduced PFC dendritic length and impaired LTP at hippocampal–PFC synapses </a:t>
            </a:r>
          </a:p>
        </p:txBody>
      </p:sp>
      <p:pic>
        <p:nvPicPr>
          <p:cNvPr id="6" name="Content Placeholder 5" descr=" A graphical representation of the dendritic length of rats treated with C P and V E H. The graph represents total, apical, and basal dendrites along the x-axis and dendritic length in the percentage of control with intervals of 20 along the y-axis. The total dendritic length is around 100 in V E H and around 70 in C P. The length of the apical dendrites is around 104 and 96 in V E H and C P, respectively. The length of basal dendrites is around 104 and 60 in V E H and C P, respectively.&#10;&#10; A graphical representation of electrophysiological analysis of long-term potentiation at hippocampal, prefrontal cortex synapses. The graph represents the time period relative to long-term potentiation induction in minutes along the x-axis and postsynaptic potential amplitude in the percentage of baseline along the y-axis. During pre-high-frequency stimulation, the amplitude is around 100 for both V E H and C P. The amplitude during pre-high-frequency stimulation is considered as baseline. The amplitude for C P is around 120 for about 90 minutes and at 90 to 120 minutes, the amplitude falls between 100 and 120. The amplitude gradually increases for V E H and reaches about 160. At 90 to 120 minutes, the amplitude falls between 140 and 160.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627104"/>
            <a:ext cx="11376025" cy="4191167"/>
          </a:xfrm>
        </p:spPr>
      </p:pic>
    </p:spTree>
    <p:extLst>
      <p:ext uri="{BB962C8B-B14F-4D97-AF65-F5344CB8AC3E}">
        <p14:creationId xmlns:p14="http://schemas.microsoft.com/office/powerpoint/2010/main" val="5908166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94797"/>
            <a:ext cx="10972800" cy="1143000"/>
          </a:xfrm>
        </p:spPr>
        <p:txBody>
          <a:bodyPr>
            <a:normAutofit fontScale="90000"/>
          </a:bodyPr>
          <a:lstStyle/>
          <a:p>
            <a:r>
              <a:rPr lang="en-US" dirty="0"/>
              <a:t>Cannabis Use, Misuse, </a:t>
            </a:r>
            <a:br>
              <a:rPr lang="en-US" dirty="0"/>
            </a:br>
            <a:r>
              <a:rPr lang="en-US" dirty="0"/>
              <a:t>and the Effects of Chronic Cannabis Exposure </a:t>
            </a:r>
            <a:r>
              <a:rPr lang="en-US" sz="1300" dirty="0"/>
              <a:t>(9 of 11)</a:t>
            </a:r>
            <a:endParaRPr lang="en-US" dirty="0"/>
          </a:p>
        </p:txBody>
      </p:sp>
      <p:sp>
        <p:nvSpPr>
          <p:cNvPr id="3" name="Text Placeholder 2"/>
          <p:cNvSpPr>
            <a:spLocks noGrp="1"/>
          </p:cNvSpPr>
          <p:nvPr>
            <p:ph idx="1"/>
          </p:nvPr>
        </p:nvSpPr>
        <p:spPr>
          <a:xfrm>
            <a:off x="587828" y="1857781"/>
            <a:ext cx="11125200" cy="4525963"/>
          </a:xfrm>
        </p:spPr>
        <p:txBody>
          <a:bodyPr>
            <a:normAutofit fontScale="92500" lnSpcReduction="20000"/>
          </a:bodyPr>
          <a:lstStyle/>
          <a:p>
            <a:pPr marL="457200" indent="-457200">
              <a:spcBef>
                <a:spcPct val="20000"/>
              </a:spcBef>
              <a:buNone/>
            </a:pPr>
            <a:r>
              <a:rPr lang="en-US" sz="3500" dirty="0"/>
              <a:t>Chronic cannabis use can lead to adverse behavioral, neurobiological, and health effects</a:t>
            </a:r>
          </a:p>
          <a:p>
            <a:pPr>
              <a:spcBef>
                <a:spcPts val="1200"/>
              </a:spcBef>
            </a:pPr>
            <a:r>
              <a:rPr lang="en-US" dirty="0"/>
              <a:t>Marijuana smoke contains irritants, carbon monoxide, and carcinogens; risk of respiratory problems e.g., chronic bronchitis</a:t>
            </a:r>
          </a:p>
          <a:p>
            <a:pPr>
              <a:spcBef>
                <a:spcPts val="1200"/>
              </a:spcBef>
            </a:pPr>
            <a:r>
              <a:rPr lang="en-US" dirty="0"/>
              <a:t>Increased risk of serious cardiovascular and cerebrovascular disorders</a:t>
            </a:r>
          </a:p>
          <a:p>
            <a:pPr>
              <a:spcBef>
                <a:spcPts val="1200"/>
              </a:spcBef>
            </a:pPr>
            <a:r>
              <a:rPr lang="en-US" dirty="0"/>
              <a:t>Possible adverse effects on reproduction and immune function (inconclusive evidence)</a:t>
            </a:r>
          </a:p>
          <a:p>
            <a:pPr>
              <a:spcBef>
                <a:spcPts val="1200"/>
              </a:spcBef>
            </a:pPr>
            <a:r>
              <a:rPr lang="en-US" dirty="0"/>
              <a:t>Increased risk for developing depression, anxiety disorders, or psychosis (e.g., schizophrenia) has been correlated with early and heavy cannabis use</a:t>
            </a:r>
          </a:p>
          <a:p>
            <a:pPr>
              <a:spcBef>
                <a:spcPts val="1200"/>
              </a:spcBef>
            </a:pPr>
            <a:r>
              <a:rPr lang="en-US" dirty="0"/>
              <a:t>THC can cross the placenta and move into breast milk and may affect development</a:t>
            </a:r>
          </a:p>
        </p:txBody>
      </p:sp>
    </p:spTree>
    <p:extLst>
      <p:ext uri="{BB962C8B-B14F-4D97-AF65-F5344CB8AC3E}">
        <p14:creationId xmlns:p14="http://schemas.microsoft.com/office/powerpoint/2010/main" val="38706291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Cannabis Use, Misuse, </a:t>
            </a:r>
            <a:br>
              <a:rPr lang="en-US" dirty="0"/>
            </a:br>
            <a:r>
              <a:rPr lang="en-US" dirty="0"/>
              <a:t>and the Effects of Chronic Cannabis Exposure </a:t>
            </a:r>
            <a:r>
              <a:rPr lang="en-US" sz="1300" dirty="0"/>
              <a:t>(10 of 11)</a:t>
            </a:r>
            <a:endParaRPr lang="en-US" dirty="0"/>
          </a:p>
        </p:txBody>
      </p:sp>
      <p:sp>
        <p:nvSpPr>
          <p:cNvPr id="3" name="Text Placeholder 2"/>
          <p:cNvSpPr>
            <a:spLocks noGrp="1"/>
          </p:cNvSpPr>
          <p:nvPr>
            <p:ph idx="1"/>
          </p:nvPr>
        </p:nvSpPr>
        <p:spPr/>
        <p:txBody>
          <a:bodyPr>
            <a:normAutofit/>
          </a:bodyPr>
          <a:lstStyle/>
          <a:p>
            <a:pPr marL="0" indent="0">
              <a:spcBef>
                <a:spcPts val="1800"/>
              </a:spcBef>
              <a:buNone/>
            </a:pPr>
            <a:r>
              <a:rPr lang="en-US" sz="2400" u="sng" dirty="0"/>
              <a:t>BOX 14.2  OF SPECIAL INTEREST</a:t>
            </a:r>
          </a:p>
          <a:p>
            <a:pPr marL="0" indent="0">
              <a:buNone/>
            </a:pPr>
            <a:r>
              <a:rPr lang="en-US" sz="3200" i="1" dirty="0"/>
              <a:t>Beyond Cannabis: The Rise of Synthetic Cannabinoids</a:t>
            </a:r>
          </a:p>
          <a:p>
            <a:pPr>
              <a:spcBef>
                <a:spcPts val="1800"/>
              </a:spcBef>
            </a:pPr>
            <a:r>
              <a:rPr lang="en-US" dirty="0"/>
              <a:t>Synthetic designer cannabinoids (K2 or Spice): hundreds have been synthesized</a:t>
            </a:r>
          </a:p>
          <a:p>
            <a:pPr>
              <a:spcBef>
                <a:spcPts val="1800"/>
              </a:spcBef>
            </a:pPr>
            <a:r>
              <a:rPr lang="en-US" dirty="0"/>
              <a:t>Produced in powdered form that is solubilized and sprayed on herbs or other plants, then smoked or vaporized</a:t>
            </a:r>
          </a:p>
          <a:p>
            <a:pPr>
              <a:spcBef>
                <a:spcPts val="1800"/>
              </a:spcBef>
            </a:pPr>
            <a:r>
              <a:rPr lang="en-US" dirty="0"/>
              <a:t>Activate both CB</a:t>
            </a:r>
            <a:r>
              <a:rPr lang="en-US" baseline="-25000" dirty="0"/>
              <a:t>1</a:t>
            </a:r>
            <a:r>
              <a:rPr lang="en-US" dirty="0"/>
              <a:t> and CB</a:t>
            </a:r>
            <a:r>
              <a:rPr lang="en-US" baseline="-25000" dirty="0"/>
              <a:t>2</a:t>
            </a:r>
            <a:r>
              <a:rPr lang="en-US" dirty="0"/>
              <a:t> receptors but are more potent than THC; most are full agonists; more likely to cause toxic reactions</a:t>
            </a:r>
          </a:p>
        </p:txBody>
      </p:sp>
    </p:spTree>
    <p:extLst>
      <p:ext uri="{BB962C8B-B14F-4D97-AF65-F5344CB8AC3E}">
        <p14:creationId xmlns:p14="http://schemas.microsoft.com/office/powerpoint/2010/main" val="26960232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A09D7-65AC-AA41-892A-FB10B70960ED}"/>
              </a:ext>
            </a:extLst>
          </p:cNvPr>
          <p:cNvSpPr>
            <a:spLocks noGrp="1"/>
          </p:cNvSpPr>
          <p:nvPr>
            <p:ph type="title"/>
          </p:nvPr>
        </p:nvSpPr>
        <p:spPr/>
        <p:txBody>
          <a:bodyPr/>
          <a:lstStyle/>
          <a:p>
            <a:r>
              <a:rPr lang="en-US" cap="all" dirty="0"/>
              <a:t>Box 14.2  </a:t>
            </a:r>
            <a:r>
              <a:rPr lang="en-US" dirty="0"/>
              <a:t>Of Special Interest: </a:t>
            </a:r>
            <a:r>
              <a:rPr lang="en-GB" dirty="0"/>
              <a:t>Beyond Cannabis: The Rise of Synthetic Cannabinoids</a:t>
            </a:r>
            <a:r>
              <a:rPr lang="en-US" dirty="0"/>
              <a:t> (Part 1)</a:t>
            </a:r>
          </a:p>
        </p:txBody>
      </p:sp>
      <p:pic>
        <p:nvPicPr>
          <p:cNvPr id="6" name="Content Placeholder 5" descr=" A graphical representation of the timeline of introduction of new synthetic cannabinoids in the United States from 2008 through 2019. In 2008, J W H-018, J W H-073, H U-210, H U-211, and C P 47,497 were introduced. In 2009, J W H-081, J W H-200, and J W H-250 were introduced. In 2010, A M-2201, J W H-112, J W H-210, J W H-203, and R C S-4 were introduced. In 2012, X L R-11, U R-144, and M A M-2201 were introduced. In 2013, A B F U B I N A C A, A B P I N A C A, P B-220, 5 F-P B-22, A K B-48, 5 F-A K B-48, and S T S-135 were introduced. In 2014, A B C H M I N A C A, M A B C H M I N A C A, 5 F-A B-P I N A C A, F U B-P B-22, N M-2201, and T H J-2201 were introduced. In 2015, 5 F-A M B, 5 F-A D B, F U B-A M B, A D B-F U B I N A C A, and M D M B–F U B I N A C A were introduced. In 2016, M D M B C H M I C A was introduced. In 2017, 4-C N-C U M Y L B I N A C A, and M M B-C H M I C A were introduced. In 2018, 5 F-E D M B P I N A C A, 5 F-M D M B-P I C A, M M B-2201, F U B-144, 5 F-A E B, and 4 F-M D M B-B I N A C A were introduced. In 2019, M D M B-4 en-P I N A C A, M M B-F U B I C A, A P P-B I N A C A, M M B-4en-P I C A, M E P-F U B I N A C A, and 4-C N-M D M B-B I N A C A were introduced.&#10;&#1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879366"/>
            <a:ext cx="11376025" cy="5500906"/>
          </a:xfrm>
        </p:spPr>
      </p:pic>
    </p:spTree>
    <p:extLst>
      <p:ext uri="{BB962C8B-B14F-4D97-AF65-F5344CB8AC3E}">
        <p14:creationId xmlns:p14="http://schemas.microsoft.com/office/powerpoint/2010/main" val="41382074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Cannabis Use, Misuse, </a:t>
            </a:r>
            <a:br>
              <a:rPr lang="en-US" dirty="0"/>
            </a:br>
            <a:r>
              <a:rPr lang="en-US" dirty="0"/>
              <a:t>and the Effects of Chronic Cannabis Exposure </a:t>
            </a:r>
            <a:r>
              <a:rPr lang="en-US" sz="1300" dirty="0"/>
              <a:t>(11 of 11)</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3</a:t>
            </a:r>
          </a:p>
          <a:p>
            <a:pPr marL="457200" indent="-457200">
              <a:spcBef>
                <a:spcPts val="2400"/>
              </a:spcBef>
              <a:buNone/>
            </a:pPr>
            <a:r>
              <a:rPr lang="en-US" sz="3200" dirty="0"/>
              <a:t>Which of the following has been found in brain imaging studies of long-term cannabis users?</a:t>
            </a:r>
          </a:p>
          <a:p>
            <a:pPr marL="914400" indent="-457200">
              <a:buFont typeface="Arial" pitchFamily="34" charset="0"/>
              <a:buAutoNum type="alphaLcPeriod"/>
            </a:pPr>
            <a:r>
              <a:rPr lang="en-US" sz="3200" dirty="0"/>
              <a:t>Reduced gray matter volume in several brain areas</a:t>
            </a:r>
          </a:p>
          <a:p>
            <a:pPr marL="914400" indent="-457200">
              <a:buFont typeface="Arial" pitchFamily="34" charset="0"/>
              <a:buAutoNum type="alphaLcPeriod"/>
            </a:pPr>
            <a:r>
              <a:rPr lang="en-US" sz="3200" dirty="0"/>
              <a:t>Up-regulation of central CB1 receptors in many areas of the brain</a:t>
            </a:r>
          </a:p>
          <a:p>
            <a:pPr marL="914400" indent="-457200">
              <a:buFont typeface="Arial" pitchFamily="34" charset="0"/>
              <a:buAutoNum type="alphaLcPeriod"/>
            </a:pPr>
            <a:r>
              <a:rPr lang="en-US" sz="3200" dirty="0"/>
              <a:t>Reduced DA cell firing in the mesolimbic system</a:t>
            </a:r>
          </a:p>
        </p:txBody>
      </p:sp>
    </p:spTree>
    <p:extLst>
      <p:ext uri="{BB962C8B-B14F-4D97-AF65-F5344CB8AC3E}">
        <p14:creationId xmlns:p14="http://schemas.microsoft.com/office/powerpoint/2010/main" val="15398317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(4 of 4)</a:t>
            </a:r>
            <a:endParaRPr lang="en-US" dirty="0"/>
          </a:p>
        </p:txBody>
      </p:sp>
      <p:sp>
        <p:nvSpPr>
          <p:cNvPr id="3" name="Text Placeholder 2"/>
          <p:cNvSpPr>
            <a:spLocks noGrp="1"/>
          </p:cNvSpPr>
          <p:nvPr>
            <p:ph idx="1"/>
          </p:nvPr>
        </p:nvSpPr>
        <p:spPr>
          <a:xfrm>
            <a:off x="609600" y="1857780"/>
            <a:ext cx="10972800" cy="4564791"/>
          </a:xfrm>
        </p:spPr>
        <p:txBody>
          <a:bodyPr>
            <a:normAutofit lnSpcReduction="10000"/>
          </a:bodyPr>
          <a:lstStyle/>
          <a:p>
            <a:pPr marL="1143000" indent="-1143000">
              <a:lnSpc>
                <a:spcPct val="120000"/>
              </a:lnSpc>
              <a:spcBef>
                <a:spcPts val="1800"/>
              </a:spcBef>
              <a:buNone/>
            </a:pPr>
            <a:r>
              <a:rPr lang="en-US" sz="2800" dirty="0"/>
              <a:t>14.4.1  (a) Describe the characteristics of recreational cannabis use, (b) cannabis use disorder (CUD), and (c) the treatment of CUD.</a:t>
            </a:r>
          </a:p>
          <a:p>
            <a:pPr marL="1143000" indent="-1143000">
              <a:lnSpc>
                <a:spcPct val="120000"/>
              </a:lnSpc>
              <a:spcBef>
                <a:spcPts val="1800"/>
              </a:spcBef>
              <a:buNone/>
            </a:pPr>
            <a:r>
              <a:rPr lang="en-US" sz="2800" dirty="0"/>
              <a:t>14.4.2  Discuss the issues around marijuana legalization and its potential consequences.</a:t>
            </a:r>
          </a:p>
          <a:p>
            <a:pPr marL="1143000" indent="-1143000">
              <a:lnSpc>
                <a:spcPct val="120000"/>
              </a:lnSpc>
              <a:spcBef>
                <a:spcPts val="1800"/>
              </a:spcBef>
              <a:buNone/>
            </a:pPr>
            <a:r>
              <a:rPr lang="en-US" sz="2800" dirty="0"/>
              <a:t>14.4.3  Describe the adverse behavioral, neurobiological, and health effects of chronic cannabis use.</a:t>
            </a:r>
          </a:p>
          <a:p>
            <a:pPr marL="1143000" indent="-1143000">
              <a:lnSpc>
                <a:spcPct val="120000"/>
              </a:lnSpc>
              <a:spcBef>
                <a:spcPts val="1800"/>
              </a:spcBef>
              <a:buNone/>
            </a:pPr>
            <a:r>
              <a:rPr lang="en-US" sz="2800" dirty="0"/>
              <a:t>14.4.4  Describe the key differences between cannabis and synthetic cannabinoids.</a:t>
            </a:r>
          </a:p>
        </p:txBody>
      </p:sp>
    </p:spTree>
    <p:extLst>
      <p:ext uri="{BB962C8B-B14F-4D97-AF65-F5344CB8AC3E}">
        <p14:creationId xmlns:p14="http://schemas.microsoft.com/office/powerpoint/2010/main" val="2175439458"/>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102">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56919D-3723-464B-9967-427A087CBD61}">
  <ds:schemaRefs>
    <ds:schemaRef ds:uri="http://schemas.microsoft.com/office/2006/metadata/properties"/>
    <ds:schemaRef ds:uri="fd39d560-5c7d-4158-98a0-f420f8fdebce"/>
    <ds:schemaRef ds:uri="http://purl.org/dc/elements/1.1/"/>
    <ds:schemaRef ds:uri="http://schemas.microsoft.com/office/2006/documentManagement/types"/>
    <ds:schemaRef ds:uri="http://purl.org/dc/terms/"/>
    <ds:schemaRef ds:uri="http://schemas.openxmlformats.org/package/2006/metadata/core-properties"/>
    <ds:schemaRef ds:uri="a6c716b4-9090-4de7-aadc-2aa5f812ad24"/>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B57C1AB-C2BF-4446-AECB-681D578552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2855</TotalTime>
  <Words>4072</Words>
  <Application>Microsoft Office PowerPoint</Application>
  <PresentationFormat>Widescreen</PresentationFormat>
  <Paragraphs>384</Paragraphs>
  <Slides>60</Slides>
  <Notes>51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60</vt:i4>
      </vt:variant>
    </vt:vector>
  </HeadingPairs>
  <TitlesOfParts>
    <vt:vector size="69" baseType="lpstr">
      <vt:lpstr>ＭＳ Ｐゴシック</vt:lpstr>
      <vt:lpstr>Arial</vt:lpstr>
      <vt:lpstr>Calibri</vt:lpstr>
      <vt:lpstr>Courier New</vt:lpstr>
      <vt:lpstr>DINPro-Bold</vt:lpstr>
      <vt:lpstr>PalatinoLT-Roman</vt:lpstr>
      <vt:lpstr>PalatinoLTStd-Roman</vt:lpstr>
      <vt:lpstr>Text Content Templates</vt:lpstr>
      <vt:lpstr>Figure-Only Templates</vt:lpstr>
      <vt:lpstr>Psychopharmacology: Drugs, the Brain, and Behavior</vt:lpstr>
      <vt:lpstr>Chapter 14 Marijuana and the Cannabinoids</vt:lpstr>
      <vt:lpstr>Chapter 14 Learning Objectives (1 of 4)</vt:lpstr>
      <vt:lpstr>Chapter 14 Learning Objectives (2 of 4)</vt:lpstr>
      <vt:lpstr>Chapter 14 Learning Objectives (3 of 4)</vt:lpstr>
      <vt:lpstr>Chapter 14 Learning Objectives (4 of 4)</vt:lpstr>
      <vt:lpstr>Background, History, and  Basic Pharmacology of Cannabis and Marijuana (1 of 4)</vt:lpstr>
      <vt:lpstr>Background, History, and  Basic Pharmacology of Cannabis and Marijuana (2 of 4)</vt:lpstr>
      <vt:lpstr>Background, History, and  Basic Pharmacology of Cannabis and Marijuana (3 of 4)</vt:lpstr>
      <vt:lpstr>FIGURE 14.4  An 8000-year timeline of cannabis use around the world </vt:lpstr>
      <vt:lpstr>FIGURE 14.5  Poster advertising the 1936 film Reefer Madness </vt:lpstr>
      <vt:lpstr>Background, History, and  Basic Pharmacology of Cannabis and Marijuana (4 of 4)</vt:lpstr>
      <vt:lpstr>FIGURE 14.7  Mean time course of plasma THC concentrations </vt:lpstr>
      <vt:lpstr>Review of Learning Objectives (1 of 4)</vt:lpstr>
      <vt:lpstr>Mechanisms of Cannabinoid Action (1 of 10)</vt:lpstr>
      <vt:lpstr>FIGURE 14.8  Areas of high and medium cannabinoid (CB1) receptor levels in the human brain </vt:lpstr>
      <vt:lpstr>Mechanisms of Cannabinoid Action (2 of 10)</vt:lpstr>
      <vt:lpstr>Mechanisms of Cannabinoid Action (3 of 10)</vt:lpstr>
      <vt:lpstr>Mechanisms of Cannabinoid Action (4 of 10)</vt:lpstr>
      <vt:lpstr>FIGURE 14.9  Hippocampal CB1 receptors are responsible for cannabinoid-induced memory impairment </vt:lpstr>
      <vt:lpstr>Mechanisms of Cannabinoid Action (5 of 10)</vt:lpstr>
      <vt:lpstr>Mechanisms of Cannabinoid Action (6 of 10)</vt:lpstr>
      <vt:lpstr>Mechanisms of Cannabinoid Action (7 of 10)</vt:lpstr>
      <vt:lpstr>FIGURE 14.11  Mechanisms of endocannabinoid signaling </vt:lpstr>
      <vt:lpstr>FIGURE 14.13  Biochemical, neurophysiological, and behavioral effects of enhancing 2-AG breakdown in hippo­campal glutamatergic neurons </vt:lpstr>
      <vt:lpstr>Mechanisms of Cannabinoid Action (8 of 10)</vt:lpstr>
      <vt:lpstr>FIGURE 14.14  Location of CB1 and CB2 receptors involved in the modulation of pain perception (1) </vt:lpstr>
      <vt:lpstr>Mechanisms of Cannabinoid Action (9 of 10)</vt:lpstr>
      <vt:lpstr>Mechanisms of Cannabinoid Action (10 of 10)</vt:lpstr>
      <vt:lpstr>Review of Learning Objectives (2 of 4)</vt:lpstr>
      <vt:lpstr>Acute Behavioral and Physiological Effects of Cannabinoids (1 of 6)</vt:lpstr>
      <vt:lpstr>Acute Behavioral and Physiological Effects of Cannabinoids (2 of 6)</vt:lpstr>
      <vt:lpstr>FIGURE 14.15  Reduction in the subjective and physiological effects of smoked marijuana by rimonabant pretreatment </vt:lpstr>
      <vt:lpstr>Acute Behavioral and Physiological Effects of Cannabinoids (3 of 6)</vt:lpstr>
      <vt:lpstr>FIGURE 14.16  Estimated relationship between the driver’s blood THC concentration and the odds ratio of being in a motor vehicle accident </vt:lpstr>
      <vt:lpstr>Acute Behavioral and Physiological Effects of Cannabinoids (4 of 6)</vt:lpstr>
      <vt:lpstr>FIGURE 14.17  Acquisition of THC self-administration by squirrel monkeys </vt:lpstr>
      <vt:lpstr>Acute Behavioral and Physiological Effects of Cannabinoids (5 of 6)</vt:lpstr>
      <vt:lpstr>Acute Behavioral and Physiological Effects of Cannabinoids (6 of 6)</vt:lpstr>
      <vt:lpstr>Review of Learning Objectives (3 of 4)</vt:lpstr>
      <vt:lpstr>Cannabis Use, Misuse,  and the Effects of Chronic Cannabis Exposure (1 of 11)</vt:lpstr>
      <vt:lpstr>FIGURE 14.18  Probability of initiating marijuana use as a function of age </vt:lpstr>
      <vt:lpstr>Cannabis Use, Misuse,  and the Effects of Chronic Cannabis Exposure (2 of 11)</vt:lpstr>
      <vt:lpstr>FIGURE 14.19  Classification systems of cannabis use and misuse </vt:lpstr>
      <vt:lpstr>FIGURE 14.20  Odds ratio of having a comorbid psychiatric condition for individuals with CUD </vt:lpstr>
      <vt:lpstr>Cannabis Use, Misuse,  and the Effects of Chronic Cannabis Exposure (3 of 11)</vt:lpstr>
      <vt:lpstr>Cannabis Use, Misuse,  and the Effects of Chronic Cannabis Exposure (4 of 11)</vt:lpstr>
      <vt:lpstr>FIGURE 14.21  Neurochemical changes related to acute cannabis use, chronic use and the development of CUD, and abstinence from use </vt:lpstr>
      <vt:lpstr>Cannabis Use, Misuse,  and the Effects of Chronic Cannabis Exposure (5 of 11)</vt:lpstr>
      <vt:lpstr>Cannabis Use, Misuse,  and the Effects of Chronic Cannabis Exposure (6 of 11)</vt:lpstr>
      <vt:lpstr>Cannabis Use, Misuse,  and the Effects of Chronic Cannabis Exposure (7 of 11)</vt:lpstr>
      <vt:lpstr>TABLE 14.1  Summary of Acute and Chronic Effects of Cannabinoid Exposure on Cognitive Processes </vt:lpstr>
      <vt:lpstr>Cannabis Use, Misuse,  and the Effects of Chronic Cannabis Exposure (8 of 11)</vt:lpstr>
      <vt:lpstr>FIGURE 14.23  Altered task-dependent functional brain activity in CUD compared to controls </vt:lpstr>
      <vt:lpstr>FIGURE 14.24  Chronic treatment of adolescent rats with CP-55,940 reduced PFC dendritic length and impaired LTP at hippocampal–PFC synapses </vt:lpstr>
      <vt:lpstr>Cannabis Use, Misuse,  and the Effects of Chronic Cannabis Exposure (9 of 11)</vt:lpstr>
      <vt:lpstr>Cannabis Use, Misuse,  and the Effects of Chronic Cannabis Exposure (10 of 11)</vt:lpstr>
      <vt:lpstr>Box 14.2  Of Special Interest: Beyond Cannabis: The Rise of Synthetic Cannabinoids (Part 1)</vt:lpstr>
      <vt:lpstr>Cannabis Use, Misuse,  and the Effects of Chronic Cannabis Exposure (11 of 11)</vt:lpstr>
      <vt:lpstr>Review of Learning Objectives (4 of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46</cp:revision>
  <dcterms:created xsi:type="dcterms:W3CDTF">2021-11-13T04:08:54Z</dcterms:created>
  <dcterms:modified xsi:type="dcterms:W3CDTF">2022-03-25T16:27:14Z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