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0" r:id="rId5"/>
  </p:sldMasterIdLst>
  <p:notesMasterIdLst>
    <p:notesMasterId r:id="rId70"/>
  </p:notesMasterIdLst>
  <p:handoutMasterIdLst>
    <p:handoutMasterId r:id="rId71"/>
  </p:handoutMasterIdLst>
  <p:sldIdLst>
    <p:sldId id="344" r:id="rId6"/>
    <p:sldId id="270" r:id="rId7"/>
    <p:sldId id="274" r:id="rId8"/>
    <p:sldId id="288" r:id="rId9"/>
    <p:sldId id="289" r:id="rId10"/>
    <p:sldId id="271" r:id="rId11"/>
    <p:sldId id="290" r:id="rId12"/>
    <p:sldId id="291" r:id="rId13"/>
    <p:sldId id="293" r:id="rId14"/>
    <p:sldId id="348" r:id="rId15"/>
    <p:sldId id="292" r:id="rId16"/>
    <p:sldId id="349" r:id="rId17"/>
    <p:sldId id="294" r:id="rId18"/>
    <p:sldId id="296" r:id="rId19"/>
    <p:sldId id="297" r:id="rId20"/>
    <p:sldId id="350" r:id="rId21"/>
    <p:sldId id="299" r:id="rId22"/>
    <p:sldId id="352" r:id="rId23"/>
    <p:sldId id="353" r:id="rId24"/>
    <p:sldId id="300" r:id="rId25"/>
    <p:sldId id="301" r:id="rId26"/>
    <p:sldId id="303" r:id="rId27"/>
    <p:sldId id="304" r:id="rId28"/>
    <p:sldId id="354" r:id="rId29"/>
    <p:sldId id="305" r:id="rId30"/>
    <p:sldId id="355" r:id="rId31"/>
    <p:sldId id="308" r:id="rId32"/>
    <p:sldId id="285" r:id="rId33"/>
    <p:sldId id="345" r:id="rId34"/>
    <p:sldId id="309" r:id="rId35"/>
    <p:sldId id="311" r:id="rId36"/>
    <p:sldId id="356" r:id="rId37"/>
    <p:sldId id="312" r:id="rId38"/>
    <p:sldId id="357" r:id="rId39"/>
    <p:sldId id="314" r:id="rId40"/>
    <p:sldId id="358" r:id="rId41"/>
    <p:sldId id="319" r:id="rId42"/>
    <p:sldId id="359" r:id="rId43"/>
    <p:sldId id="315" r:id="rId44"/>
    <p:sldId id="320" r:id="rId45"/>
    <p:sldId id="367" r:id="rId46"/>
    <p:sldId id="362" r:id="rId47"/>
    <p:sldId id="361" r:id="rId48"/>
    <p:sldId id="321" r:id="rId49"/>
    <p:sldId id="322" r:id="rId50"/>
    <p:sldId id="326" r:id="rId51"/>
    <p:sldId id="346" r:id="rId52"/>
    <p:sldId id="327" r:id="rId53"/>
    <p:sldId id="328" r:id="rId54"/>
    <p:sldId id="329" r:id="rId55"/>
    <p:sldId id="330" r:id="rId56"/>
    <p:sldId id="331" r:id="rId57"/>
    <p:sldId id="363" r:id="rId58"/>
    <p:sldId id="332" r:id="rId59"/>
    <p:sldId id="333" r:id="rId60"/>
    <p:sldId id="335" r:id="rId61"/>
    <p:sldId id="364" r:id="rId62"/>
    <p:sldId id="337" r:id="rId63"/>
    <p:sldId id="365" r:id="rId64"/>
    <p:sldId id="338" r:id="rId65"/>
    <p:sldId id="366" r:id="rId66"/>
    <p:sldId id="340" r:id="rId67"/>
    <p:sldId id="342" r:id="rId68"/>
    <p:sldId id="347" r:id="rId6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32" autoAdjust="0"/>
    <p:restoredTop sz="83333" autoAdjust="0"/>
  </p:normalViewPr>
  <p:slideViewPr>
    <p:cSldViewPr snapToGrid="0" snapToObjects="1">
      <p:cViewPr>
        <p:scale>
          <a:sx n="80" d="100"/>
          <a:sy n="80" d="100"/>
        </p:scale>
        <p:origin x="354" y="882"/>
      </p:cViewPr>
      <p:guideLst>
        <p:guide orient="horz" pos="2160"/>
        <p:guide pos="3840"/>
      </p:guideLst>
    </p:cSldViewPr>
  </p:slideViewPr>
  <p:outlineViewPr>
    <p:cViewPr>
      <p:scale>
        <a:sx n="33" d="100"/>
        <a:sy n="33" d="100"/>
      </p:scale>
      <p:origin x="0" y="-4747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 Type="http://schemas.openxmlformats.org/officeDocument/2006/relationships/slide" Target="slides/slide2.xml"/><Relationship Id="rId71"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3/10/2022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3/10/2022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6C0744-2FEF-4441-821D-70180A37093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a:t>
            </a:fld>
            <a:endParaRPr lang="en-US"/>
          </a:p>
        </p:txBody>
      </p:sp>
    </p:spTree>
    <p:extLst>
      <p:ext uri="{BB962C8B-B14F-4D97-AF65-F5344CB8AC3E}">
        <p14:creationId xmlns:p14="http://schemas.microsoft.com/office/powerpoint/2010/main" val="857492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6</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334452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3804301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2629281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10.4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Blood levels of alcohol after oral administration 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Larger oral doses of alcohol produce higher concentrations in the stomach, and this causes faster absorption and higher peak blood levels. (B) The presence of food in the stomach slows absorption of alcohol and prevents the sharp peak in blood level.</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133459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3676791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10.5</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Metabolism of alcohol 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The principal metabolic pathway for alcohol involves the formation of the toxic metabolite acetaldehyde, which must be further degraded to acetic acid. Genetic differences in aldehyde dehydrogenase (ALDH) and the use of certain drugs can inhibit enzyme activity, causing toxic effects. (B) Three possible genetic variations of ALDH are responsible for large individual differences in response to alcohol. Each person has a pair of chromosomes with the </a:t>
            </a:r>
            <a:r>
              <a:rPr lang="en-US" sz="1200" i="1" kern="1200" dirty="0">
                <a:solidFill>
                  <a:schemeClr val="tx1"/>
                </a:solidFill>
                <a:effectLst/>
                <a:latin typeface="+mn-lt"/>
                <a:ea typeface="+mn-ea"/>
                <a:cs typeface="+mn-cs"/>
              </a:rPr>
              <a:t>ALDH</a:t>
            </a:r>
            <a:r>
              <a:rPr lang="en-US" sz="1200" kern="1200" dirty="0">
                <a:solidFill>
                  <a:schemeClr val="tx1"/>
                </a:solidFill>
                <a:effectLst/>
                <a:latin typeface="+mn-lt"/>
                <a:ea typeface="+mn-ea"/>
                <a:cs typeface="+mn-cs"/>
              </a:rPr>
              <a:t> gene—one contributed by the mother and the second by the father. The two chromosomes can have either the same form (allele), making the individual homozygous, or two different alleles, making the individual heterozygous. Individuals with two inactive alleles experience a severe reaction if they consume alcohol, because acetal­dehyde levels remain high. Those with one active and one inactive allele show some flushing response following alcohol ingestion. Two active alleles produce normal metabolism of acetaldehyde.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2676875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CYP2E1 is sometimes called the </a:t>
            </a:r>
            <a:r>
              <a:rPr lang="en-US" b="1" dirty="0"/>
              <a:t>microsomal ethanol oxidizing system</a:t>
            </a:r>
            <a:r>
              <a:rPr lang="en-US" dirty="0"/>
              <a:t> (</a:t>
            </a:r>
            <a:r>
              <a:rPr lang="en-US" b="1" dirty="0"/>
              <a:t>MEOS</a:t>
            </a:r>
            <a:r>
              <a:rPr lang="en-US" dirty="0"/>
              <a:t>).</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2169973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1854576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589977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10.6</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Tolerance to alcohol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In a trial using a human participant given three doses of alcohol (</a:t>
            </a:r>
            <a:r>
              <a:rPr lang="en-US" sz="1200" kern="1200" dirty="0" err="1">
                <a:solidFill>
                  <a:schemeClr val="tx1"/>
                </a:solidFill>
                <a:effectLst/>
                <a:latin typeface="+mn-lt"/>
                <a:ea typeface="+mn-ea"/>
                <a:cs typeface="+mn-cs"/>
              </a:rPr>
              <a:t>a,b,c</a:t>
            </a:r>
            <a:r>
              <a:rPr lang="en-US" sz="1200" kern="1200" dirty="0">
                <a:solidFill>
                  <a:schemeClr val="tx1"/>
                </a:solidFill>
                <a:effectLst/>
                <a:latin typeface="+mn-lt"/>
                <a:ea typeface="+mn-ea"/>
                <a:cs typeface="+mn-cs"/>
              </a:rPr>
              <a:t>), signs of intoxication (such as incoordination in the balance beam test) appeared during the rising phase of blood-alcohol levels at about 0.20%. However, as blood alcohol was declining, the person became “sober” at a higher concentration (about 0.265%), showing that acute tolerance had occurred. In this case </a:t>
            </a:r>
            <a:r>
              <a:rPr lang="en-US" sz="1200" i="1" kern="1200" dirty="0">
                <a:solidFill>
                  <a:schemeClr val="tx1"/>
                </a:solidFill>
                <a:effectLst/>
                <a:latin typeface="+mn-lt"/>
                <a:ea typeface="+mn-ea"/>
                <a:cs typeface="+mn-cs"/>
              </a:rPr>
              <a:t>sober</a:t>
            </a:r>
            <a:r>
              <a:rPr lang="en-US" sz="1200" kern="1200" dirty="0">
                <a:solidFill>
                  <a:schemeClr val="tx1"/>
                </a:solidFill>
                <a:effectLst/>
                <a:latin typeface="+mn-lt"/>
                <a:ea typeface="+mn-ea"/>
                <a:cs typeface="+mn-cs"/>
              </a:rPr>
              <a:t> does not mean unimpaired in skills other than the balance beam test. Note that the high blood levels for intoxication reflect the fact that the participant was a chronically heavy user of alcohol. (B) Blood-alcohol levels were calculated at 20-minute intervals after a test dose was given at time zero. The blue line represents blood levels before a 7-day period of drinking; the red line shows blood levels in the same person after 7 days of drinking (3.2 grams of ethanol per kilogram of body weight per day in individual doses). Tolerance after repeated alcohol consumption is shown by the more rapid decrease in blood alcohol. (A after I. E. Mirsky et al. 1941. </a:t>
            </a:r>
            <a:r>
              <a:rPr lang="en-US" sz="1200" i="1" kern="1200" dirty="0">
                <a:solidFill>
                  <a:schemeClr val="tx1"/>
                </a:solidFill>
                <a:effectLst/>
                <a:latin typeface="+mn-lt"/>
                <a:ea typeface="+mn-ea"/>
                <a:cs typeface="+mn-cs"/>
              </a:rPr>
              <a:t>Q J Studies Alcohol</a:t>
            </a:r>
            <a:r>
              <a:rPr lang="en-US" sz="1200" kern="1200" dirty="0">
                <a:solidFill>
                  <a:schemeClr val="tx1"/>
                </a:solidFill>
                <a:effectLst/>
                <a:latin typeface="+mn-lt"/>
                <a:ea typeface="+mn-ea"/>
                <a:cs typeface="+mn-cs"/>
              </a:rPr>
              <a:t> 2: 35–45; B after J. H. Mendelson et al. 1965. </a:t>
            </a:r>
            <a:r>
              <a:rPr lang="en-US" sz="1200" i="1" kern="1200" dirty="0">
                <a:solidFill>
                  <a:schemeClr val="tx1"/>
                </a:solidFill>
                <a:effectLst/>
                <a:latin typeface="+mn-lt"/>
                <a:ea typeface="+mn-ea"/>
                <a:cs typeface="+mn-cs"/>
              </a:rPr>
              <a:t>Metabolism</a:t>
            </a:r>
            <a:r>
              <a:rPr lang="en-US" sz="1200" kern="1200" dirty="0">
                <a:solidFill>
                  <a:schemeClr val="tx1"/>
                </a:solidFill>
                <a:effectLst/>
                <a:latin typeface="+mn-lt"/>
                <a:ea typeface="+mn-ea"/>
                <a:cs typeface="+mn-cs"/>
              </a:rPr>
              <a:t> 14: 1255–1266.)</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3179489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3679764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10.8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Relationship between alcohol use and traffic accidents 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The number of fatal auto accidents varies by day of the week, time of day, and alcohol involvement. Note that alcohol-related fatalities peak on Friday and Saturday nights after midnight and that on other days, accidents involving alcohol also occur most frequently late at night. Non-alcohol-related fatalities appear to be greatest during rush hours on weekdays and just before midnight on weekends. (B) The relationship between BAC and relative risk for auto accidents is affected by several factors, including age of the driver and years of driving experience. Note that, in general, alcohol has a less detrimental effect on driving as drivers get older, but the 55- to 65-year age group is similar to the 25- to 34-year age group, which may indicate an interaction with age-related decreases in reaction time. The rapid rise in the number of accidents at BAC over 0.10% has prompted all states to reduce the definition of legal intoxication from 0.10% to 0.08%. M, midnight; N, noon. (A after National Institute on Alcoholism and Alcohol Abuse [NIAAA]. 1983. </a:t>
            </a:r>
            <a:r>
              <a:rPr lang="en-US" sz="1200" i="1" kern="1200" dirty="0">
                <a:solidFill>
                  <a:schemeClr val="tx1"/>
                </a:solidFill>
                <a:effectLst/>
                <a:latin typeface="+mn-lt"/>
                <a:ea typeface="+mn-ea"/>
                <a:cs typeface="+mn-cs"/>
              </a:rPr>
              <a:t>Fifth Special Report to the U.S. Congress on Alcohol and Health</a:t>
            </a:r>
            <a:r>
              <a:rPr lang="en-US" sz="1200" kern="1200" dirty="0">
                <a:solidFill>
                  <a:schemeClr val="tx1"/>
                </a:solidFill>
                <a:effectLst/>
                <a:latin typeface="+mn-lt"/>
                <a:ea typeface="+mn-ea"/>
                <a:cs typeface="+mn-cs"/>
              </a:rPr>
              <a:t>. Government Printing Office: Washington, DC; B after OECD. 1978. </a:t>
            </a:r>
            <a:r>
              <a:rPr lang="en-US" sz="1200" i="1" kern="1200" dirty="0">
                <a:solidFill>
                  <a:schemeClr val="tx1"/>
                </a:solidFill>
                <a:effectLst/>
                <a:latin typeface="+mn-lt"/>
                <a:ea typeface="+mn-ea"/>
                <a:cs typeface="+mn-cs"/>
              </a:rPr>
              <a:t>Road research: New research on the role of alcohol and drugs in road accidents. A report prepared by an Organization for Economic Co-operation and Development [OECD] Road Research Group</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1244346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10.8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Relationship between alcohol use and traffic accidents 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The number of fatal auto accidents varies by day of the week, time of day, and alcohol involvement. Note that alcohol-related fatalities peak on Friday and Saturday nights after midnight and that on other days, accidents involving alcohol also occur most frequently late at night. Non-alcohol-related fatalities appear to be greatest during rush hours on weekdays and just before midnight on weekends. (B) The relationship between BAC and relative risk for auto accidents is affected by several factors, including age of the driver and years of driving experience. Note that, in general, alcohol has a less detrimental effect on driving as drivers get older, but the 55- to 65-year age group is similar to the 25- to 34-year age group, which may indicate an interaction with age-related decreases in reaction time. The rapid rise in the number of accidents at BAC over 0.10% has prompted all states to reduce the definition of legal intoxication from 0.10% to 0.08%. M, midnight; N, noon. (A after National Institute on Alcoholism and Alcohol Abuse [NIAAA]. 1983. </a:t>
            </a:r>
            <a:r>
              <a:rPr lang="en-US" sz="1200" i="1" kern="1200" dirty="0">
                <a:solidFill>
                  <a:schemeClr val="tx1"/>
                </a:solidFill>
                <a:effectLst/>
                <a:latin typeface="+mn-lt"/>
                <a:ea typeface="+mn-ea"/>
                <a:cs typeface="+mn-cs"/>
              </a:rPr>
              <a:t>Fifth Special Report to the U.S. Congress on Alcohol and Health</a:t>
            </a:r>
            <a:r>
              <a:rPr lang="en-US" sz="1200" kern="1200" dirty="0">
                <a:solidFill>
                  <a:schemeClr val="tx1"/>
                </a:solidFill>
                <a:effectLst/>
                <a:latin typeface="+mn-lt"/>
                <a:ea typeface="+mn-ea"/>
                <a:cs typeface="+mn-cs"/>
              </a:rPr>
              <a:t>. Government Printing Office: Washington, DC; B after OECD. 1978. </a:t>
            </a:r>
            <a:r>
              <a:rPr lang="en-US" sz="1200" i="1" kern="1200" dirty="0">
                <a:solidFill>
                  <a:schemeClr val="tx1"/>
                </a:solidFill>
                <a:effectLst/>
                <a:latin typeface="+mn-lt"/>
                <a:ea typeface="+mn-ea"/>
                <a:cs typeface="+mn-cs"/>
              </a:rPr>
              <a:t>Road research: New research on the role of alcohol and drugs in road accidents. A report prepared by an Organization for Economic Co-operation and Development [OECD] Road Research Group</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927884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25149109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dirty="0"/>
              <a:t>Wernicke’s encephalopathy: </a:t>
            </a:r>
            <a:r>
              <a:rPr lang="en-US" sz="1800" b="0" i="0" u="none" strike="noStrike" baseline="0" dirty="0">
                <a:latin typeface="DINPro-Light"/>
              </a:rPr>
              <a:t>tremors, weakness, ataxia, confusion, and disorientation.</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1377166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29026494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3252633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10.10</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Effects of alcohol on sexual response 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Changes in male sexual response occur after varying amounts of alcohol. With increasing concentrations of blood alcohol, both the rate of penile tumescence and the maximum size achieved decreased. (B) In women, increasing blood-alcohol levels were directly proportional to orgasmic latency. (A from G. Farkas and R. C. Rosen 1976. </a:t>
            </a:r>
            <a:r>
              <a:rPr lang="en-US" sz="1200" i="1" kern="1200" dirty="0">
                <a:solidFill>
                  <a:schemeClr val="tx1"/>
                </a:solidFill>
                <a:effectLst/>
                <a:latin typeface="+mn-lt"/>
                <a:ea typeface="+mn-ea"/>
                <a:cs typeface="+mn-cs"/>
              </a:rPr>
              <a:t>J Stud Alcohol</a:t>
            </a:r>
            <a:r>
              <a:rPr lang="en-US" sz="1200" kern="1200" dirty="0">
                <a:solidFill>
                  <a:schemeClr val="tx1"/>
                </a:solidFill>
                <a:effectLst/>
                <a:latin typeface="+mn-lt"/>
                <a:ea typeface="+mn-ea"/>
                <a:cs typeface="+mn-cs"/>
              </a:rPr>
              <a:t> 37: 265–272 . Reproduced with permission of the Alcohol Research Documentation, Inc.; B from S. Blume. 1991. </a:t>
            </a:r>
            <a:r>
              <a:rPr lang="en-US" sz="1200" i="1" kern="1200" dirty="0">
                <a:solidFill>
                  <a:schemeClr val="tx1"/>
                </a:solidFill>
                <a:effectLst/>
                <a:latin typeface="+mn-lt"/>
                <a:ea typeface="+mn-ea"/>
                <a:cs typeface="+mn-cs"/>
              </a:rPr>
              <a:t>Alcohol Health Res World</a:t>
            </a:r>
            <a:r>
              <a:rPr lang="en-US" sz="1200" kern="1200" dirty="0">
                <a:solidFill>
                  <a:schemeClr val="tx1"/>
                </a:solidFill>
                <a:effectLst/>
                <a:latin typeface="+mn-lt"/>
                <a:ea typeface="+mn-ea"/>
                <a:cs typeface="+mn-cs"/>
              </a:rPr>
              <a:t> 15: 139–145.)</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30017297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3685175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10.12</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Fetal alcohol syndrome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Distinctive craniofacial malformations in a child with FAS. (B) Fetal abnormalities in mice exposed to alcohol in utero.</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8975375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31953773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a and c</a:t>
            </a:r>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3433351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6615054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10.13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Average daily alcohol consumption for selected generations of rats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These rats were bred for alcohol-preferring (AP) and non-preferring (NP) behavior. Males and females show similar alcohol consumption. (From R. B. Stewart and T.-K. Li. 1997. </a:t>
            </a:r>
            <a:r>
              <a:rPr lang="en-US" sz="1200" i="1" kern="1200" dirty="0">
                <a:solidFill>
                  <a:schemeClr val="tx1"/>
                </a:solidFill>
                <a:effectLst/>
                <a:latin typeface="+mn-lt"/>
                <a:ea typeface="+mn-ea"/>
                <a:cs typeface="+mn-cs"/>
              </a:rPr>
              <a:t>Alcohol Health Res World</a:t>
            </a:r>
            <a:r>
              <a:rPr lang="en-US" sz="1200" kern="1200" dirty="0">
                <a:solidFill>
                  <a:schemeClr val="tx1"/>
                </a:solidFill>
                <a:effectLst/>
                <a:latin typeface="+mn-lt"/>
                <a:ea typeface="+mn-ea"/>
                <a:cs typeface="+mn-cs"/>
              </a:rPr>
              <a:t> 21: 169–176.)</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41567456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31088444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10.14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Grm2-knockout mice show increased alcohol consumption and preference 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Homozygous knockout mice (</a:t>
            </a:r>
            <a:r>
              <a:rPr lang="en-US" sz="1200" i="1" kern="1200" dirty="0">
                <a:solidFill>
                  <a:schemeClr val="tx1"/>
                </a:solidFill>
                <a:effectLst/>
                <a:latin typeface="+mn-lt"/>
                <a:ea typeface="+mn-ea"/>
                <a:cs typeface="+mn-cs"/>
              </a:rPr>
              <a:t>Grm2</a:t>
            </a:r>
            <a:r>
              <a:rPr lang="en-US" sz="1200" kern="1200" dirty="0">
                <a:solidFill>
                  <a:schemeClr val="tx1"/>
                </a:solidFill>
                <a:effectLst/>
                <a:latin typeface="+mn-lt"/>
                <a:ea typeface="+mn-ea"/>
                <a:cs typeface="+mn-cs"/>
              </a:rPr>
              <a:t>−/−) drink increasing amounts of alcohol as the alcohol concentration increases from 3% to 17%. Wild-type controls (</a:t>
            </a:r>
            <a:r>
              <a:rPr lang="en-US" sz="1200" i="1" kern="1200" dirty="0">
                <a:solidFill>
                  <a:schemeClr val="tx1"/>
                </a:solidFill>
                <a:effectLst/>
                <a:latin typeface="+mn-lt"/>
                <a:ea typeface="+mn-ea"/>
                <a:cs typeface="+mn-cs"/>
              </a:rPr>
              <a:t>Grm2</a:t>
            </a:r>
            <a:r>
              <a:rPr lang="en-US" sz="1200" kern="1200" dirty="0">
                <a:solidFill>
                  <a:schemeClr val="tx1"/>
                </a:solidFill>
                <a:effectLst/>
                <a:latin typeface="+mn-lt"/>
                <a:ea typeface="+mn-ea"/>
                <a:cs typeface="+mn-cs"/>
              </a:rPr>
              <a:t>+/+) consume significantly less than the knockout mice at the higher concentrations. (B) </a:t>
            </a:r>
            <a:r>
              <a:rPr lang="en-US" sz="1200" i="1" kern="1200" dirty="0">
                <a:solidFill>
                  <a:schemeClr val="tx1"/>
                </a:solidFill>
                <a:effectLst/>
                <a:latin typeface="+mn-lt"/>
                <a:ea typeface="+mn-ea"/>
                <a:cs typeface="+mn-cs"/>
              </a:rPr>
              <a:t>Grm2</a:t>
            </a:r>
            <a:r>
              <a:rPr lang="en-US" sz="1200" kern="1200" dirty="0">
                <a:solidFill>
                  <a:schemeClr val="tx1"/>
                </a:solidFill>
                <a:effectLst/>
                <a:latin typeface="+mn-lt"/>
                <a:ea typeface="+mn-ea"/>
                <a:cs typeface="+mn-cs"/>
              </a:rPr>
              <a:t>−/− mice showed a consistent percent preference for alcohol over water in a two-bottle free-choice situation, even at high alcohol concentrations, while control mice reduced their preference for alcohol at high concentrations. (From Z. Zhou et al. 2013. </a:t>
            </a:r>
            <a:r>
              <a:rPr lang="en-US" sz="1200" i="1" kern="1200" dirty="0">
                <a:solidFill>
                  <a:schemeClr val="tx1"/>
                </a:solidFill>
                <a:effectLst/>
                <a:latin typeface="+mn-lt"/>
                <a:ea typeface="+mn-ea"/>
                <a:cs typeface="+mn-cs"/>
              </a:rPr>
              <a:t>Proc Natl </a:t>
            </a:r>
            <a:r>
              <a:rPr lang="en-US" sz="1200" i="1" kern="1200" dirty="0" err="1">
                <a:solidFill>
                  <a:schemeClr val="tx1"/>
                </a:solidFill>
                <a:effectLst/>
                <a:latin typeface="+mn-lt"/>
                <a:ea typeface="+mn-ea"/>
                <a:cs typeface="+mn-cs"/>
              </a:rPr>
              <a:t>Acad</a:t>
            </a:r>
            <a:r>
              <a:rPr lang="en-US" sz="1200" i="1" kern="1200" dirty="0">
                <a:solidFill>
                  <a:schemeClr val="tx1"/>
                </a:solidFill>
                <a:effectLst/>
                <a:latin typeface="+mn-lt"/>
                <a:ea typeface="+mn-ea"/>
                <a:cs typeface="+mn-cs"/>
              </a:rPr>
              <a:t> Sci USA</a:t>
            </a:r>
            <a:r>
              <a:rPr lang="en-US" sz="1200" kern="1200" dirty="0">
                <a:solidFill>
                  <a:schemeClr val="tx1"/>
                </a:solidFill>
                <a:effectLst/>
                <a:latin typeface="+mn-lt"/>
                <a:ea typeface="+mn-ea"/>
                <a:cs typeface="+mn-cs"/>
              </a:rPr>
              <a:t> 110: 16963–16968.)</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35739063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11617191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10.15</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Effects of alcohol on neuronal membranes 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Alcohol acts at both specific and nonspecific sites, including membrane phospholipids, ligand-gated channels, and second-messenger systems.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21455921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9586227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10.16</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Relationship between alcohol withdrawal and glutamate release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Withdrawal from chronic alcohol in dependent rats increases glutamate (GLU) release in the striatum (A) and behavioral rebound withdrawal hyperexcitability (B). The time course of the two withdrawal-related events is very similar. Experimental animals received intragastric delivery of ethanol at intoxicating concentrations (2–5 g/kg) every 6 hours for 6 consecutive days. Control animals received an equally caloric sucrose solution. On day 7, ethanol administration was terminated, and behavioral testing of abstinence signs and simultaneous </a:t>
            </a:r>
            <a:r>
              <a:rPr lang="en-US" sz="1200" kern="1200" dirty="0" err="1">
                <a:solidFill>
                  <a:schemeClr val="tx1"/>
                </a:solidFill>
                <a:effectLst/>
                <a:latin typeface="+mn-lt"/>
                <a:ea typeface="+mn-ea"/>
                <a:cs typeface="+mn-cs"/>
              </a:rPr>
              <a:t>microdialysis</a:t>
            </a:r>
            <a:r>
              <a:rPr lang="en-US" sz="1200" kern="1200" dirty="0">
                <a:solidFill>
                  <a:schemeClr val="tx1"/>
                </a:solidFill>
                <a:effectLst/>
                <a:latin typeface="+mn-lt"/>
                <a:ea typeface="+mn-ea"/>
                <a:cs typeface="+mn-cs"/>
              </a:rPr>
              <a:t> collection began. (From Z. L. Rossetti and S. </a:t>
            </a:r>
            <a:r>
              <a:rPr lang="en-US" sz="1200" kern="1200" dirty="0" err="1">
                <a:solidFill>
                  <a:schemeClr val="tx1"/>
                </a:solidFill>
                <a:effectLst/>
                <a:latin typeface="+mn-lt"/>
                <a:ea typeface="+mn-ea"/>
                <a:cs typeface="+mn-cs"/>
              </a:rPr>
              <a:t>Carboni</a:t>
            </a:r>
            <a:r>
              <a:rPr lang="en-US" sz="1200" kern="1200" dirty="0">
                <a:solidFill>
                  <a:schemeClr val="tx1"/>
                </a:solidFill>
                <a:effectLst/>
                <a:latin typeface="+mn-lt"/>
                <a:ea typeface="+mn-ea"/>
                <a:cs typeface="+mn-cs"/>
              </a:rPr>
              <a:t> 1995. </a:t>
            </a:r>
            <a:r>
              <a:rPr lang="en-US" sz="1200" i="1" kern="1200" dirty="0" err="1">
                <a:solidFill>
                  <a:schemeClr val="tx1"/>
                </a:solidFill>
                <a:effectLst/>
                <a:latin typeface="+mn-lt"/>
                <a:ea typeface="+mn-ea"/>
                <a:cs typeface="+mn-cs"/>
              </a:rPr>
              <a:t>Eur</a:t>
            </a:r>
            <a:r>
              <a:rPr lang="en-US" sz="1200" i="1" kern="1200" dirty="0">
                <a:solidFill>
                  <a:schemeClr val="tx1"/>
                </a:solidFill>
                <a:effectLst/>
                <a:latin typeface="+mn-lt"/>
                <a:ea typeface="+mn-ea"/>
                <a:cs typeface="+mn-cs"/>
              </a:rPr>
              <a:t> J </a:t>
            </a:r>
            <a:r>
              <a:rPr lang="en-US" sz="1200" i="1" kern="1200" dirty="0" err="1">
                <a:solidFill>
                  <a:schemeClr val="tx1"/>
                </a:solidFill>
                <a:effectLst/>
                <a:latin typeface="+mn-lt"/>
                <a:ea typeface="+mn-ea"/>
                <a:cs typeface="+mn-cs"/>
              </a:rPr>
              <a:t>Pharmacol</a:t>
            </a:r>
            <a:r>
              <a:rPr lang="en-US" sz="1200" kern="1200" dirty="0">
                <a:solidFill>
                  <a:schemeClr val="tx1"/>
                </a:solidFill>
                <a:effectLst/>
                <a:latin typeface="+mn-lt"/>
                <a:ea typeface="+mn-ea"/>
                <a:cs typeface="+mn-cs"/>
              </a:rPr>
              <a:t> 283: 177–183.)</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8946892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18440847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18774917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10.18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Dopamine turnover and alcohol withdrawal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a:t>
            </a:r>
            <a:r>
              <a:rPr lang="en-US" sz="1200" kern="1200" dirty="0" err="1">
                <a:solidFill>
                  <a:schemeClr val="tx1"/>
                </a:solidFill>
                <a:effectLst/>
                <a:latin typeface="+mn-lt"/>
                <a:ea typeface="+mn-ea"/>
                <a:cs typeface="+mn-cs"/>
              </a:rPr>
              <a:t>Microdialysis</a:t>
            </a:r>
            <a:r>
              <a:rPr lang="en-US" sz="1200" kern="1200" dirty="0">
                <a:solidFill>
                  <a:schemeClr val="tx1"/>
                </a:solidFill>
                <a:effectLst/>
                <a:latin typeface="+mn-lt"/>
                <a:ea typeface="+mn-ea"/>
                <a:cs typeface="+mn-cs"/>
              </a:rPr>
              <a:t> collection of DA and its major metabolites, DOPAC and HVA, in the </a:t>
            </a:r>
            <a:r>
              <a:rPr lang="en-US" sz="1200" kern="1200" dirty="0" err="1">
                <a:solidFill>
                  <a:schemeClr val="tx1"/>
                </a:solidFill>
                <a:effectLst/>
                <a:latin typeface="+mn-lt"/>
                <a:ea typeface="+mn-ea"/>
                <a:cs typeface="+mn-cs"/>
              </a:rPr>
              <a:t>NAcc</a:t>
            </a:r>
            <a:r>
              <a:rPr lang="en-US" sz="1200" kern="1200" dirty="0">
                <a:solidFill>
                  <a:schemeClr val="tx1"/>
                </a:solidFill>
                <a:effectLst/>
                <a:latin typeface="+mn-lt"/>
                <a:ea typeface="+mn-ea"/>
                <a:cs typeface="+mn-cs"/>
              </a:rPr>
              <a:t> of rats at varying times after ethanol withdrawal shows significant reduction in DA turnover compared with control. (B) Development of abstinence signs in the same animals. Note the similarity in time course of biochemical measures and the occurrence of behavioral signs. The alcohol group received intoxicating doses of alcohol every 6 hours for 6 days before withdrawal. Control animals received sucrose of caloric value equal to the alcohol. The </a:t>
            </a:r>
            <a:r>
              <a:rPr lang="en-US" sz="1200" kern="1200" dirty="0" err="1">
                <a:solidFill>
                  <a:schemeClr val="tx1"/>
                </a:solidFill>
                <a:effectLst/>
                <a:latin typeface="+mn-lt"/>
                <a:ea typeface="+mn-ea"/>
                <a:cs typeface="+mn-cs"/>
              </a:rPr>
              <a:t>microdialysis</a:t>
            </a:r>
            <a:r>
              <a:rPr lang="en-US" sz="1200" kern="1200" dirty="0">
                <a:solidFill>
                  <a:schemeClr val="tx1"/>
                </a:solidFill>
                <a:effectLst/>
                <a:latin typeface="+mn-lt"/>
                <a:ea typeface="+mn-ea"/>
                <a:cs typeface="+mn-cs"/>
              </a:rPr>
              <a:t> collection of extra­cellular fluid and the behavioral measures of abstinence occurred at various times over the 12-hour period following ethanol withdrawal. Withdrawal scores were a composite of separate measures of tremor, vocalization on handling, bracing posture, rigidity, and others. (From M. Diana et al. 1993. </a:t>
            </a:r>
            <a:r>
              <a:rPr lang="en-US" sz="1200" i="1" kern="1200" dirty="0">
                <a:solidFill>
                  <a:schemeClr val="tx1"/>
                </a:solidFill>
                <a:effectLst/>
                <a:latin typeface="+mn-lt"/>
                <a:ea typeface="+mn-ea"/>
                <a:cs typeface="+mn-cs"/>
              </a:rPr>
              <a:t>Proc Natl </a:t>
            </a:r>
            <a:r>
              <a:rPr lang="en-US" sz="1200" i="1" kern="1200" dirty="0" err="1">
                <a:solidFill>
                  <a:schemeClr val="tx1"/>
                </a:solidFill>
                <a:effectLst/>
                <a:latin typeface="+mn-lt"/>
                <a:ea typeface="+mn-ea"/>
                <a:cs typeface="+mn-cs"/>
              </a:rPr>
              <a:t>Acad</a:t>
            </a:r>
            <a:r>
              <a:rPr lang="en-US" sz="1200" i="1" kern="1200" dirty="0">
                <a:solidFill>
                  <a:schemeClr val="tx1"/>
                </a:solidFill>
                <a:effectLst/>
                <a:latin typeface="+mn-lt"/>
                <a:ea typeface="+mn-ea"/>
                <a:cs typeface="+mn-cs"/>
              </a:rPr>
              <a:t> Sci USA</a:t>
            </a:r>
            <a:r>
              <a:rPr lang="en-US" sz="1200" kern="1200" dirty="0">
                <a:solidFill>
                  <a:schemeClr val="tx1"/>
                </a:solidFill>
                <a:effectLst/>
                <a:latin typeface="+mn-lt"/>
                <a:ea typeface="+mn-ea"/>
                <a:cs typeface="+mn-cs"/>
              </a:rPr>
              <a:t> 90: 7966–7969. © 1993 National Academy of Sciences, U.S.A.)</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6C0744-2FEF-4441-821D-70180A37093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960261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10.18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Dopamine turnover and alcohol withdrawal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a:t>
            </a:r>
            <a:r>
              <a:rPr lang="en-US" sz="1200" kern="1200" dirty="0" err="1">
                <a:solidFill>
                  <a:schemeClr val="tx1"/>
                </a:solidFill>
                <a:effectLst/>
                <a:latin typeface="+mn-lt"/>
                <a:ea typeface="+mn-ea"/>
                <a:cs typeface="+mn-cs"/>
              </a:rPr>
              <a:t>Microdialysis</a:t>
            </a:r>
            <a:r>
              <a:rPr lang="en-US" sz="1200" kern="1200" dirty="0">
                <a:solidFill>
                  <a:schemeClr val="tx1"/>
                </a:solidFill>
                <a:effectLst/>
                <a:latin typeface="+mn-lt"/>
                <a:ea typeface="+mn-ea"/>
                <a:cs typeface="+mn-cs"/>
              </a:rPr>
              <a:t> collection of DA and its major metabolites, DOPAC and HVA, in the </a:t>
            </a:r>
            <a:r>
              <a:rPr lang="en-US" sz="1200" kern="1200" dirty="0" err="1">
                <a:solidFill>
                  <a:schemeClr val="tx1"/>
                </a:solidFill>
                <a:effectLst/>
                <a:latin typeface="+mn-lt"/>
                <a:ea typeface="+mn-ea"/>
                <a:cs typeface="+mn-cs"/>
              </a:rPr>
              <a:t>NAcc</a:t>
            </a:r>
            <a:r>
              <a:rPr lang="en-US" sz="1200" kern="1200" dirty="0">
                <a:solidFill>
                  <a:schemeClr val="tx1"/>
                </a:solidFill>
                <a:effectLst/>
                <a:latin typeface="+mn-lt"/>
                <a:ea typeface="+mn-ea"/>
                <a:cs typeface="+mn-cs"/>
              </a:rPr>
              <a:t> of rats at varying times after ethanol withdrawal shows significant reduction in DA turnover compared with control. (B) Development of abstinence signs in the same animals. Note the similarity in time course of biochemical measures and the occurrence of behavioral signs. The alcohol group received intoxicating doses of alcohol every 6 hours for 6 days before withdrawal. Control animals received sucrose of caloric value equal to the alcohol. The </a:t>
            </a:r>
            <a:r>
              <a:rPr lang="en-US" sz="1200" kern="1200" dirty="0" err="1">
                <a:solidFill>
                  <a:schemeClr val="tx1"/>
                </a:solidFill>
                <a:effectLst/>
                <a:latin typeface="+mn-lt"/>
                <a:ea typeface="+mn-ea"/>
                <a:cs typeface="+mn-cs"/>
              </a:rPr>
              <a:t>microdialysis</a:t>
            </a:r>
            <a:r>
              <a:rPr lang="en-US" sz="1200" kern="1200" dirty="0">
                <a:solidFill>
                  <a:schemeClr val="tx1"/>
                </a:solidFill>
                <a:effectLst/>
                <a:latin typeface="+mn-lt"/>
                <a:ea typeface="+mn-ea"/>
                <a:cs typeface="+mn-cs"/>
              </a:rPr>
              <a:t> collection of extra­cellular fluid and the behavioral measures of abstinence occurred at various times over the 12-hour period following ethanol withdrawal. Withdrawal scores were a composite of separate measures of tremor, vocalization on handling, bracing posture, rigidity, and others. (From M. Diana et al. 1993. </a:t>
            </a:r>
            <a:r>
              <a:rPr lang="en-US" sz="1200" i="1" kern="1200" dirty="0">
                <a:solidFill>
                  <a:schemeClr val="tx1"/>
                </a:solidFill>
                <a:effectLst/>
                <a:latin typeface="+mn-lt"/>
                <a:ea typeface="+mn-ea"/>
                <a:cs typeface="+mn-cs"/>
              </a:rPr>
              <a:t>Proc Natl </a:t>
            </a:r>
            <a:r>
              <a:rPr lang="en-US" sz="1200" i="1" kern="1200" dirty="0" err="1">
                <a:solidFill>
                  <a:schemeClr val="tx1"/>
                </a:solidFill>
                <a:effectLst/>
                <a:latin typeface="+mn-lt"/>
                <a:ea typeface="+mn-ea"/>
                <a:cs typeface="+mn-cs"/>
              </a:rPr>
              <a:t>Acad</a:t>
            </a:r>
            <a:r>
              <a:rPr lang="en-US" sz="1200" i="1" kern="1200" dirty="0">
                <a:solidFill>
                  <a:schemeClr val="tx1"/>
                </a:solidFill>
                <a:effectLst/>
                <a:latin typeface="+mn-lt"/>
                <a:ea typeface="+mn-ea"/>
                <a:cs typeface="+mn-cs"/>
              </a:rPr>
              <a:t> Sci USA</a:t>
            </a:r>
            <a:r>
              <a:rPr lang="en-US" sz="1200" kern="1200" dirty="0">
                <a:solidFill>
                  <a:schemeClr val="tx1"/>
                </a:solidFill>
                <a:effectLst/>
                <a:latin typeface="+mn-lt"/>
                <a:ea typeface="+mn-ea"/>
                <a:cs typeface="+mn-cs"/>
              </a:rPr>
              <a:t> 90: 7966–7969. © 1993 National Academy of Sciences, U.S.A.)</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8630454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10.19</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Rebound depression of reinforcement during withdrawal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After alcohol withdrawal from dependent rats, a time-dependent increase in the current thresholds for electrical brain stimulation occurs, with maximum effect at 6 to 8 hours. The increase in threshold indicates that the animals need more stimulation to achieve reinforcement. Note that the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-axis is not a linear scale. (From G. </a:t>
            </a:r>
            <a:r>
              <a:rPr lang="en-US" sz="1200" kern="1200" dirty="0" err="1">
                <a:solidFill>
                  <a:schemeClr val="tx1"/>
                </a:solidFill>
                <a:effectLst/>
                <a:latin typeface="+mn-lt"/>
                <a:ea typeface="+mn-ea"/>
                <a:cs typeface="+mn-cs"/>
              </a:rPr>
              <a:t>Schulteis</a:t>
            </a:r>
            <a:r>
              <a:rPr lang="en-US" sz="1200" kern="1200" dirty="0">
                <a:solidFill>
                  <a:schemeClr val="tx1"/>
                </a:solidFill>
                <a:effectLst/>
                <a:latin typeface="+mn-lt"/>
                <a:ea typeface="+mn-ea"/>
                <a:cs typeface="+mn-cs"/>
              </a:rPr>
              <a:t> et al. 1995. </a:t>
            </a:r>
            <a:r>
              <a:rPr lang="en-US" sz="1200" i="1" kern="1200" dirty="0">
                <a:solidFill>
                  <a:schemeClr val="tx1"/>
                </a:solidFill>
                <a:effectLst/>
                <a:latin typeface="+mn-lt"/>
                <a:ea typeface="+mn-ea"/>
                <a:cs typeface="+mn-cs"/>
              </a:rPr>
              <a:t>Proc Natl </a:t>
            </a:r>
            <a:r>
              <a:rPr lang="en-US" sz="1200" i="1" kern="1200" dirty="0" err="1">
                <a:solidFill>
                  <a:schemeClr val="tx1"/>
                </a:solidFill>
                <a:effectLst/>
                <a:latin typeface="+mn-lt"/>
                <a:ea typeface="+mn-ea"/>
                <a:cs typeface="+mn-cs"/>
              </a:rPr>
              <a:t>Acad</a:t>
            </a:r>
            <a:r>
              <a:rPr lang="en-US" sz="1200" i="1" kern="1200" dirty="0">
                <a:solidFill>
                  <a:schemeClr val="tx1"/>
                </a:solidFill>
                <a:effectLst/>
                <a:latin typeface="+mn-lt"/>
                <a:ea typeface="+mn-ea"/>
                <a:cs typeface="+mn-cs"/>
              </a:rPr>
              <a:t> Sci USA</a:t>
            </a:r>
            <a:r>
              <a:rPr lang="en-US" sz="1200" kern="1200" dirty="0">
                <a:solidFill>
                  <a:schemeClr val="tx1"/>
                </a:solidFill>
                <a:effectLst/>
                <a:latin typeface="+mn-lt"/>
                <a:ea typeface="+mn-ea"/>
                <a:cs typeface="+mn-cs"/>
              </a:rPr>
              <a:t> 92: 5880–5884. © 1995 National Academy of Sciences, U.S.A.)</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32649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8929839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40893922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a:t>
            </a:r>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35909146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48</a:t>
            </a:fld>
            <a:endParaRPr lang="en-US"/>
          </a:p>
        </p:txBody>
      </p:sp>
    </p:spTree>
    <p:extLst>
      <p:ext uri="{BB962C8B-B14F-4D97-AF65-F5344CB8AC3E}">
        <p14:creationId xmlns:p14="http://schemas.microsoft.com/office/powerpoint/2010/main" val="358688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16113412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7937575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26716537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41325166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10.22</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Low sensitivity to alcohol is a risk factor for AUD 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Subjective assessment of “high” and sway scores following a moderate dose (0.75 ml/kg) of alcohol in men who later developed alcohol dependence and in those who did not. Those vulnerable to alcohol dependence showed significantly less response to the same dose at peak blood level (1 hour) and 1 and 2 hours after the peak. (After M. A. </a:t>
            </a:r>
            <a:r>
              <a:rPr lang="en-US" sz="1200" kern="1200" dirty="0" err="1">
                <a:solidFill>
                  <a:schemeClr val="tx1"/>
                </a:solidFill>
                <a:effectLst/>
                <a:latin typeface="+mn-lt"/>
                <a:ea typeface="+mn-ea"/>
                <a:cs typeface="+mn-cs"/>
              </a:rPr>
              <a:t>Schuckit</a:t>
            </a:r>
            <a:r>
              <a:rPr lang="en-US" sz="1200" kern="1200" dirty="0">
                <a:solidFill>
                  <a:schemeClr val="tx1"/>
                </a:solidFill>
                <a:effectLst/>
                <a:latin typeface="+mn-lt"/>
                <a:ea typeface="+mn-ea"/>
                <a:cs typeface="+mn-cs"/>
              </a:rPr>
              <a:t>. 1994. </a:t>
            </a:r>
            <a:r>
              <a:rPr lang="en-US" sz="1200" i="1" kern="1200" dirty="0">
                <a:solidFill>
                  <a:schemeClr val="tx1"/>
                </a:solidFill>
                <a:effectLst/>
                <a:latin typeface="+mn-lt"/>
                <a:ea typeface="+mn-ea"/>
                <a:cs typeface="+mn-cs"/>
              </a:rPr>
              <a:t>Am J Psychiatry</a:t>
            </a:r>
            <a:r>
              <a:rPr lang="en-US" sz="1200" kern="1200" dirty="0">
                <a:solidFill>
                  <a:schemeClr val="tx1"/>
                </a:solidFill>
                <a:effectLst/>
                <a:latin typeface="+mn-lt"/>
                <a:ea typeface="+mn-ea"/>
                <a:cs typeface="+mn-cs"/>
              </a:rPr>
              <a:t> 151: 184–189.)</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389216291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35635677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21024617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56</a:t>
            </a:fld>
            <a:endParaRPr lang="en-US"/>
          </a:p>
        </p:txBody>
      </p:sp>
    </p:spTree>
    <p:extLst>
      <p:ext uri="{BB962C8B-B14F-4D97-AF65-F5344CB8AC3E}">
        <p14:creationId xmlns:p14="http://schemas.microsoft.com/office/powerpoint/2010/main" val="7612062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10.23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Effectiveness of naltrexone in treatment of AUD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Naltrexone along with coping skills therapy is more effective in preventing relapse than placebo and therapy over a 12-week period. At 12 weeks, relapse rates were approximately 70% for the placebo group compared with 30% for the naltrexone treatment group. (After J. R. </a:t>
            </a:r>
            <a:r>
              <a:rPr lang="en-US" sz="1200" kern="1200" dirty="0" err="1">
                <a:solidFill>
                  <a:schemeClr val="tx1"/>
                </a:solidFill>
                <a:effectLst/>
                <a:latin typeface="+mn-lt"/>
                <a:ea typeface="+mn-ea"/>
                <a:cs typeface="+mn-cs"/>
              </a:rPr>
              <a:t>Volpicelli</a:t>
            </a:r>
            <a:r>
              <a:rPr lang="en-US" sz="1200" kern="1200" dirty="0">
                <a:solidFill>
                  <a:schemeClr val="tx1"/>
                </a:solidFill>
                <a:effectLst/>
                <a:latin typeface="+mn-lt"/>
                <a:ea typeface="+mn-ea"/>
                <a:cs typeface="+mn-cs"/>
              </a:rPr>
              <a:t> et al. 1992. </a:t>
            </a:r>
            <a:r>
              <a:rPr lang="en-US" sz="1200" i="1" kern="1200" dirty="0">
                <a:solidFill>
                  <a:schemeClr val="tx1"/>
                </a:solidFill>
                <a:effectLst/>
                <a:latin typeface="+mn-lt"/>
                <a:ea typeface="+mn-ea"/>
                <a:cs typeface="+mn-cs"/>
              </a:rPr>
              <a:t>Arch Gen Psych</a:t>
            </a:r>
            <a:r>
              <a:rPr lang="en-US" sz="1200" kern="1200" dirty="0">
                <a:solidFill>
                  <a:schemeClr val="tx1"/>
                </a:solidFill>
                <a:effectLst/>
                <a:latin typeface="+mn-lt"/>
                <a:ea typeface="+mn-ea"/>
                <a:cs typeface="+mn-cs"/>
              </a:rPr>
              <a:t> 49: 876–880.)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5659204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26493949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10.24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Acamprosate prevents withdrawal-induced glutamate release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red squares plot line shows the rebound release of glutamate (measured by </a:t>
            </a:r>
            <a:r>
              <a:rPr lang="en-US" sz="1200" kern="1200" dirty="0" err="1">
                <a:solidFill>
                  <a:schemeClr val="tx1"/>
                </a:solidFill>
                <a:effectLst/>
                <a:latin typeface="+mn-lt"/>
                <a:ea typeface="+mn-ea"/>
                <a:cs typeface="+mn-cs"/>
              </a:rPr>
              <a:t>microdialysis</a:t>
            </a:r>
            <a:r>
              <a:rPr lang="en-US" sz="1200" kern="1200" dirty="0">
                <a:solidFill>
                  <a:schemeClr val="tx1"/>
                </a:solidFill>
                <a:effectLst/>
                <a:latin typeface="+mn-lt"/>
                <a:ea typeface="+mn-ea"/>
                <a:cs typeface="+mn-cs"/>
              </a:rPr>
              <a:t>) that occurs in the nucleus </a:t>
            </a:r>
            <a:r>
              <a:rPr lang="en-US" sz="1200" kern="1200" dirty="0" err="1">
                <a:solidFill>
                  <a:schemeClr val="tx1"/>
                </a:solidFill>
                <a:effectLst/>
                <a:latin typeface="+mn-lt"/>
                <a:ea typeface="+mn-ea"/>
                <a:cs typeface="+mn-cs"/>
              </a:rPr>
              <a:t>accumbens</a:t>
            </a:r>
            <a:r>
              <a:rPr lang="en-US" sz="1200" kern="1200" dirty="0">
                <a:solidFill>
                  <a:schemeClr val="tx1"/>
                </a:solidFill>
                <a:effectLst/>
                <a:latin typeface="+mn-lt"/>
                <a:ea typeface="+mn-ea"/>
                <a:cs typeface="+mn-cs"/>
              </a:rPr>
              <a:t> when alcohol is withdrawn from dependent rats. Alcohol-dependent animals no longer receiving alcohol but receiving </a:t>
            </a:r>
            <a:r>
              <a:rPr lang="en-US" sz="1200" kern="1200" dirty="0" err="1">
                <a:solidFill>
                  <a:schemeClr val="tx1"/>
                </a:solidFill>
                <a:effectLst/>
                <a:latin typeface="+mn-lt"/>
                <a:ea typeface="+mn-ea"/>
                <a:cs typeface="+mn-cs"/>
              </a:rPr>
              <a:t>acamprosate</a:t>
            </a:r>
            <a:r>
              <a:rPr lang="en-US" sz="1200" kern="1200" dirty="0">
                <a:solidFill>
                  <a:schemeClr val="tx1"/>
                </a:solidFill>
                <a:effectLst/>
                <a:latin typeface="+mn-lt"/>
                <a:ea typeface="+mn-ea"/>
                <a:cs typeface="+mn-cs"/>
              </a:rPr>
              <a:t> (purple diamond plot line) are no different in glutamate release from non-­alcohol-treated controls. (After A. </a:t>
            </a:r>
            <a:r>
              <a:rPr lang="en-US" sz="1200" kern="1200" dirty="0" err="1">
                <a:solidFill>
                  <a:schemeClr val="tx1"/>
                </a:solidFill>
                <a:effectLst/>
                <a:latin typeface="+mn-lt"/>
                <a:ea typeface="+mn-ea"/>
                <a:cs typeface="+mn-cs"/>
              </a:rPr>
              <a:t>Dahchour</a:t>
            </a:r>
            <a:r>
              <a:rPr lang="en-US" sz="1200" kern="1200" dirty="0">
                <a:solidFill>
                  <a:schemeClr val="tx1"/>
                </a:solidFill>
                <a:effectLst/>
                <a:latin typeface="+mn-lt"/>
                <a:ea typeface="+mn-ea"/>
                <a:cs typeface="+mn-cs"/>
              </a:rPr>
              <a:t> and P. </a:t>
            </a:r>
            <a:r>
              <a:rPr lang="en-US" sz="1200" kern="1200" dirty="0" err="1">
                <a:solidFill>
                  <a:schemeClr val="tx1"/>
                </a:solidFill>
                <a:effectLst/>
                <a:latin typeface="+mn-lt"/>
                <a:ea typeface="+mn-ea"/>
                <a:cs typeface="+mn-cs"/>
              </a:rPr>
              <a:t>DeWitte</a:t>
            </a:r>
            <a:r>
              <a:rPr lang="en-US" sz="1200" kern="1200" dirty="0">
                <a:solidFill>
                  <a:schemeClr val="tx1"/>
                </a:solidFill>
                <a:effectLst/>
                <a:latin typeface="+mn-lt"/>
                <a:ea typeface="+mn-ea"/>
                <a:cs typeface="+mn-cs"/>
              </a:rPr>
              <a:t>. 2000. </a:t>
            </a:r>
            <a:r>
              <a:rPr lang="en-US" sz="1200" i="1" kern="1200" dirty="0">
                <a:solidFill>
                  <a:schemeClr val="tx1"/>
                </a:solidFill>
                <a:effectLst/>
                <a:latin typeface="+mn-lt"/>
                <a:ea typeface="+mn-ea"/>
                <a:cs typeface="+mn-cs"/>
              </a:rPr>
              <a:t>Prog </a:t>
            </a:r>
            <a:r>
              <a:rPr lang="en-US" sz="1200" i="1" kern="1200" dirty="0" err="1">
                <a:solidFill>
                  <a:schemeClr val="tx1"/>
                </a:solidFill>
                <a:effectLst/>
                <a:latin typeface="+mn-lt"/>
                <a:ea typeface="+mn-ea"/>
                <a:cs typeface="+mn-cs"/>
              </a:rPr>
              <a:t>Neurobiol</a:t>
            </a:r>
            <a:r>
              <a:rPr lang="en-US" sz="1200" kern="1200" dirty="0">
                <a:solidFill>
                  <a:schemeClr val="tx1"/>
                </a:solidFill>
                <a:effectLst/>
                <a:latin typeface="+mn-lt"/>
                <a:ea typeface="+mn-ea"/>
                <a:cs typeface="+mn-cs"/>
              </a:rPr>
              <a:t> 60: 343–362.)</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59</a:t>
            </a:fld>
            <a:endParaRPr lang="en-US"/>
          </a:p>
        </p:txBody>
      </p:sp>
    </p:spTree>
    <p:extLst>
      <p:ext uri="{BB962C8B-B14F-4D97-AF65-F5344CB8AC3E}">
        <p14:creationId xmlns:p14="http://schemas.microsoft.com/office/powerpoint/2010/main" val="242984121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60</a:t>
            </a:fld>
            <a:endParaRPr lang="en-US"/>
          </a:p>
        </p:txBody>
      </p:sp>
    </p:spTree>
    <p:extLst>
      <p:ext uri="{BB962C8B-B14F-4D97-AF65-F5344CB8AC3E}">
        <p14:creationId xmlns:p14="http://schemas.microsoft.com/office/powerpoint/2010/main" val="393465636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10.25</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Glucocorticoid receptor (GR) antagonism reduced alcohol-cued craving and drinking in dependent individuals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Visual analog scale (VAS) scores on four VAS measures of craving severity following presentation of alcohol-related cues. Strength: How strong is your craving to drink alcohol? Intent: If I could drink alcohol now, I would drink it. Impulse: It would be hard to turn down a drink right now. Relief: Having a drink would make things just perfect. Higher scores indicate greater craving. Significant differences were reported for strength, intent, and impulse. (B) Total number of alcoholic drinks consumed per week for individuals treated with the GR antagonist or placebo at baseline, following treatment, and at 2-week follow-up. (After L. </a:t>
            </a:r>
            <a:r>
              <a:rPr lang="en-US" sz="1200" kern="1200" dirty="0" err="1">
                <a:solidFill>
                  <a:schemeClr val="tx1"/>
                </a:solidFill>
                <a:effectLst/>
                <a:latin typeface="+mn-lt"/>
                <a:ea typeface="+mn-ea"/>
                <a:cs typeface="+mn-cs"/>
              </a:rPr>
              <a:t>Vendruscolo</a:t>
            </a:r>
            <a:r>
              <a:rPr lang="en-US" sz="1200" kern="1200" dirty="0">
                <a:solidFill>
                  <a:schemeClr val="tx1"/>
                </a:solidFill>
                <a:effectLst/>
                <a:latin typeface="+mn-lt"/>
                <a:ea typeface="+mn-ea"/>
                <a:cs typeface="+mn-cs"/>
              </a:rPr>
              <a:t> et al. 2015.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Clin</a:t>
            </a:r>
            <a:r>
              <a:rPr lang="en-US" sz="1200" i="1" kern="1200" dirty="0">
                <a:solidFill>
                  <a:schemeClr val="tx1"/>
                </a:solidFill>
                <a:effectLst/>
                <a:latin typeface="+mn-lt"/>
                <a:ea typeface="+mn-ea"/>
                <a:cs typeface="+mn-cs"/>
              </a:rPr>
              <a:t> Invest</a:t>
            </a:r>
            <a:r>
              <a:rPr lang="en-US" sz="1200" kern="1200" dirty="0">
                <a:solidFill>
                  <a:schemeClr val="tx1"/>
                </a:solidFill>
                <a:effectLst/>
                <a:latin typeface="+mn-lt"/>
                <a:ea typeface="+mn-ea"/>
                <a:cs typeface="+mn-cs"/>
              </a:rPr>
              <a:t> 125: 3193–3197.)</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61</a:t>
            </a:fld>
            <a:endParaRPr lang="en-US"/>
          </a:p>
        </p:txBody>
      </p:sp>
    </p:spTree>
    <p:extLst>
      <p:ext uri="{BB962C8B-B14F-4D97-AF65-F5344CB8AC3E}">
        <p14:creationId xmlns:p14="http://schemas.microsoft.com/office/powerpoint/2010/main" val="25069780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62</a:t>
            </a:fld>
            <a:endParaRPr lang="en-US"/>
          </a:p>
        </p:txBody>
      </p:sp>
    </p:spTree>
    <p:extLst>
      <p:ext uri="{BB962C8B-B14F-4D97-AF65-F5344CB8AC3E}">
        <p14:creationId xmlns:p14="http://schemas.microsoft.com/office/powerpoint/2010/main" val="3811372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a</a:t>
            </a:r>
          </a:p>
        </p:txBody>
      </p:sp>
      <p:sp>
        <p:nvSpPr>
          <p:cNvPr id="4" name="Slide Number Placeholder 3"/>
          <p:cNvSpPr>
            <a:spLocks noGrp="1"/>
          </p:cNvSpPr>
          <p:nvPr>
            <p:ph type="sldNum" sz="quarter" idx="5"/>
          </p:nvPr>
        </p:nvSpPr>
        <p:spPr/>
        <p:txBody>
          <a:bodyPr/>
          <a:lstStyle/>
          <a:p>
            <a:fld id="{556C0744-2FEF-4441-821D-70180A370937}" type="slidenum">
              <a:rPr lang="en-US" smtClean="0"/>
              <a:t>63</a:t>
            </a:fld>
            <a:endParaRPr lang="en-US"/>
          </a:p>
        </p:txBody>
      </p:sp>
    </p:spTree>
    <p:extLst>
      <p:ext uri="{BB962C8B-B14F-4D97-AF65-F5344CB8AC3E}">
        <p14:creationId xmlns:p14="http://schemas.microsoft.com/office/powerpoint/2010/main" val="22209283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6C0744-2FEF-4441-821D-70180A37093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680469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571500" indent="-342900" algn="l" defTabSz="914400" rtl="0" eaLnBrk="1" latinLnBrk="0" hangingPunct="1">
              <a:spcBef>
                <a:spcPts val="1800"/>
              </a:spcBef>
              <a:buFont typeface="Arial" pitchFamily="34" charset="0"/>
              <a:buChar char="•"/>
              <a:defRPr lang="en-US" sz="2800" kern="1200" baseline="0" dirty="0">
                <a:solidFill>
                  <a:schemeClr val="tx1"/>
                </a:solidFill>
                <a:latin typeface="+mn-lt"/>
                <a:ea typeface="+mn-ea"/>
                <a:cs typeface="+mn-cs"/>
              </a:defRPr>
            </a:lvl1pPr>
            <a:lvl2pPr marL="1263650" indent="-349250" algn="l" defTabSz="914400" rtl="0" eaLnBrk="1" latinLnBrk="0" hangingPunct="1">
              <a:spcBef>
                <a:spcPts val="1800"/>
              </a:spcBef>
              <a:buFont typeface="Courier New" panose="02070309020205020404" pitchFamily="49" charset="0"/>
              <a:buChar char="o"/>
              <a:defRPr lang="en-US" sz="2800" kern="1200" baseline="0" dirty="0">
                <a:solidFill>
                  <a:schemeClr val="tx1"/>
                </a:solidFill>
                <a:latin typeface="+mn-lt"/>
                <a:ea typeface="+mn-ea"/>
                <a:cs typeface="+mn-cs"/>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r>
              <a:rPr lang="en-US"/>
              <a:t>by Meyer, Farrar, Biezonski, Yates</a:t>
            </a:r>
            <a:endParaRPr lang="en-US" dirty="0"/>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2917099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10</a:t>
            </a:r>
            <a:br>
              <a:rPr lang="en-US" dirty="0"/>
            </a:br>
            <a:r>
              <a:rPr lang="en-US" sz="4000" i="1" dirty="0"/>
              <a:t>Alcohol</a:t>
            </a:r>
            <a:endParaRPr lang="en-US" i="1" dirty="0"/>
          </a:p>
        </p:txBody>
      </p:sp>
      <p:sp>
        <p:nvSpPr>
          <p:cNvPr id="3" name="Text Placeholder 2"/>
          <p:cNvSpPr>
            <a:spLocks noGrp="1"/>
          </p:cNvSpPr>
          <p:nvPr>
            <p:ph idx="1"/>
          </p:nvPr>
        </p:nvSpPr>
        <p:spPr/>
        <p:txBody>
          <a:bodyPr/>
          <a:lstStyle/>
          <a:p>
            <a:pPr marL="914400" indent="-914400">
              <a:spcBef>
                <a:spcPts val="2400"/>
              </a:spcBef>
              <a:buNone/>
            </a:pPr>
            <a:r>
              <a:rPr lang="en-US" sz="3200" dirty="0"/>
              <a:t>10.1  Psychopharmacology of Alcohol</a:t>
            </a:r>
          </a:p>
          <a:p>
            <a:pPr marL="914400" indent="-914400">
              <a:spcBef>
                <a:spcPts val="2400"/>
              </a:spcBef>
              <a:buNone/>
            </a:pPr>
            <a:r>
              <a:rPr lang="en-US" sz="3200" dirty="0"/>
              <a:t>10.2  Neurochemical Effects of Alcohol</a:t>
            </a:r>
          </a:p>
          <a:p>
            <a:pPr marL="914400" indent="-914400">
              <a:spcBef>
                <a:spcPts val="2400"/>
              </a:spcBef>
              <a:buNone/>
            </a:pPr>
            <a:r>
              <a:rPr lang="en-US" sz="3200" dirty="0"/>
              <a:t>10.3  Alcohol Use Disorder (AUD)</a:t>
            </a:r>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10</a:t>
            </a:r>
            <a:br>
              <a:rPr lang="en-US" dirty="0"/>
            </a:br>
            <a:r>
              <a:rPr lang="en-US" sz="4000" dirty="0"/>
              <a:t>Learning Objectives </a:t>
            </a:r>
            <a:r>
              <a:rPr lang="en-US" sz="1300" dirty="0"/>
              <a:t>(1 of 3)</a:t>
            </a:r>
            <a:endParaRPr lang="en-US" dirty="0"/>
          </a:p>
        </p:txBody>
      </p:sp>
      <p:sp>
        <p:nvSpPr>
          <p:cNvPr id="3" name="Text Placeholder 2"/>
          <p:cNvSpPr>
            <a:spLocks noGrp="1"/>
          </p:cNvSpPr>
          <p:nvPr>
            <p:ph idx="1"/>
          </p:nvPr>
        </p:nvSpPr>
        <p:spPr/>
        <p:txBody>
          <a:bodyPr>
            <a:normAutofit fontScale="70000" lnSpcReduction="20000"/>
          </a:bodyPr>
          <a:lstStyle/>
          <a:p>
            <a:pPr marL="914400" indent="-914400">
              <a:spcBef>
                <a:spcPts val="1200"/>
              </a:spcBef>
              <a:buNone/>
            </a:pPr>
            <a:r>
              <a:rPr lang="en-US" dirty="0"/>
              <a:t>10.1.1  Describe the pharmacokinetic fate of alcohol (absorption, distribution, metabolism, and excretion) and explain how factors such as dose and expression of metabolic enzymes affect these processes. and explain how factors such as dose, concentration of alcohol, and sex affect the rate of absorption.</a:t>
            </a:r>
          </a:p>
          <a:p>
            <a:pPr marL="914400" indent="-914400">
              <a:spcBef>
                <a:spcPts val="1200"/>
              </a:spcBef>
              <a:buNone/>
            </a:pPr>
            <a:r>
              <a:rPr lang="en-US" dirty="0"/>
              <a:t>10.1.2  Describe how alcohol may interact with other drugs by competing for metabolic enzymes. </a:t>
            </a:r>
          </a:p>
          <a:p>
            <a:pPr marL="914400" indent="-914400">
              <a:spcBef>
                <a:spcPts val="1200"/>
              </a:spcBef>
              <a:buNone/>
            </a:pPr>
            <a:r>
              <a:rPr lang="en-US" dirty="0"/>
              <a:t>10.1.3  Explain the mechanisms that underlie acute, metabolic, pharmacodynamic, and behavioral tolerance to alcohol.</a:t>
            </a:r>
          </a:p>
          <a:p>
            <a:pPr marL="914400" indent="-914400">
              <a:spcBef>
                <a:spcPts val="1200"/>
              </a:spcBef>
              <a:buNone/>
            </a:pPr>
            <a:r>
              <a:rPr lang="en-US" dirty="0"/>
              <a:t>10.1.4  Identify the CNS-mediated effects of alcohol in terms of dose and describe the withdrawal syndrome that occurs when an individual physically dependent on alcohol stops consuming alcohol.</a:t>
            </a:r>
          </a:p>
          <a:p>
            <a:pPr marL="914400" indent="-914400">
              <a:spcBef>
                <a:spcPts val="1200"/>
              </a:spcBef>
              <a:buNone/>
            </a:pPr>
            <a:r>
              <a:rPr lang="en-US" dirty="0"/>
              <a:t>10.1.5  Describe the health effects of chronic, heavy alcohol use on the brain, cardiovascular system, and liver.</a:t>
            </a:r>
          </a:p>
          <a:p>
            <a:pPr marL="914400" indent="-914400">
              <a:spcBef>
                <a:spcPts val="1200"/>
              </a:spcBef>
              <a:buNone/>
            </a:pPr>
            <a:r>
              <a:rPr lang="en-US" dirty="0"/>
              <a:t>10.1.6  Describe the clinical presentation of fetal alcohol spectrum disorders and list the factors that contribute to the highly varied symptom presentation.</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10</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p:txBody>
          <a:bodyPr>
            <a:normAutofit fontScale="85000" lnSpcReduction="10000"/>
          </a:bodyPr>
          <a:lstStyle/>
          <a:p>
            <a:pPr marL="914400" indent="-914400">
              <a:spcBef>
                <a:spcPts val="1200"/>
              </a:spcBef>
              <a:buNone/>
            </a:pPr>
            <a:r>
              <a:rPr lang="en-US" dirty="0"/>
              <a:t>10.2.1  Describe how animal models can be used to examine the behavioral, neural, and genetic bases of AUD.</a:t>
            </a:r>
          </a:p>
          <a:p>
            <a:pPr marL="914400" indent="-914400">
              <a:spcBef>
                <a:spcPts val="1200"/>
              </a:spcBef>
              <a:buNone/>
            </a:pPr>
            <a:r>
              <a:rPr lang="en-US" dirty="0"/>
              <a:t>10.2.2  Explain how alcohol acutely modulates glutamate neurotransmission, in terms of both pre- and post-synaptic mechanisms. </a:t>
            </a:r>
          </a:p>
          <a:p>
            <a:pPr marL="914400" indent="-914400">
              <a:spcBef>
                <a:spcPts val="1200"/>
              </a:spcBef>
              <a:buNone/>
            </a:pPr>
            <a:r>
              <a:rPr lang="en-US" dirty="0"/>
              <a:t>10.2.3  Describe how the effects of chronic alcohol use on glutamate neurotransmission contribute to excitotoxicity and reduced seizure threshold during withdrawal.</a:t>
            </a:r>
          </a:p>
          <a:p>
            <a:pPr marL="914400" indent="-914400">
              <a:spcBef>
                <a:spcPts val="1200"/>
              </a:spcBef>
              <a:buNone/>
            </a:pPr>
            <a:r>
              <a:rPr lang="en-US" dirty="0"/>
              <a:t>10.2.4  Explain how alcohol acutely enhances GABA-mediated neural inhibition.</a:t>
            </a:r>
          </a:p>
          <a:p>
            <a:pPr marL="914400" indent="-914400">
              <a:spcBef>
                <a:spcPts val="1200"/>
              </a:spcBef>
              <a:buNone/>
            </a:pPr>
            <a:r>
              <a:rPr lang="en-US" dirty="0"/>
              <a:t>10.2.5  Describe how chronic alcohol consumption alters GABAergic neurotransmission. </a:t>
            </a:r>
          </a:p>
          <a:p>
            <a:pPr marL="914400" indent="-914400">
              <a:spcBef>
                <a:spcPts val="1200"/>
              </a:spcBef>
              <a:buNone/>
            </a:pPr>
            <a:r>
              <a:rPr lang="en-US" dirty="0"/>
              <a:t>10.2.6  Identify the evidence for the role of mesolimbic dopamine and brain opioid systems in mediating the reinforcing properties of alcohol.</a:t>
            </a:r>
          </a:p>
        </p:txBody>
      </p:sp>
    </p:spTree>
    <p:extLst>
      <p:ext uri="{BB962C8B-B14F-4D97-AF65-F5344CB8AC3E}">
        <p14:creationId xmlns:p14="http://schemas.microsoft.com/office/powerpoint/2010/main" val="3530611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10</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p:txBody>
          <a:bodyPr>
            <a:normAutofit fontScale="85000" lnSpcReduction="20000"/>
          </a:bodyPr>
          <a:lstStyle/>
          <a:p>
            <a:pPr marL="914400" indent="-914400">
              <a:lnSpc>
                <a:spcPct val="120000"/>
              </a:lnSpc>
              <a:buNone/>
            </a:pPr>
            <a:r>
              <a:rPr lang="en-US" dirty="0"/>
              <a:t>10.3.1  Articulate the properties of pathological drinking behavior that give rise to alcohol use disorder (AUD). </a:t>
            </a:r>
          </a:p>
          <a:p>
            <a:pPr marL="914400" indent="-914400">
              <a:lnSpc>
                <a:spcPct val="120000"/>
              </a:lnSpc>
              <a:buNone/>
            </a:pPr>
            <a:r>
              <a:rPr lang="en-US" dirty="0"/>
              <a:t>10.3.2  Identify the neurobiological changes caused by underage drinking.</a:t>
            </a:r>
          </a:p>
          <a:p>
            <a:pPr marL="914400" indent="-914400">
              <a:lnSpc>
                <a:spcPct val="120000"/>
              </a:lnSpc>
              <a:buNone/>
            </a:pPr>
            <a:r>
              <a:rPr lang="en-US" dirty="0"/>
              <a:t>10.3.3  Describe how neurobiological, psychological, and societal factors contribute to individual vulnerability for AUD.</a:t>
            </a:r>
          </a:p>
          <a:p>
            <a:pPr marL="914400" indent="-914400">
              <a:lnSpc>
                <a:spcPct val="120000"/>
              </a:lnSpc>
              <a:buNone/>
            </a:pPr>
            <a:r>
              <a:rPr lang="en-US" dirty="0"/>
              <a:t>10.3.4  Explain how medically supervised detoxification is conducted to mitigate risks associated with alcohol withdrawal.</a:t>
            </a:r>
          </a:p>
          <a:p>
            <a:pPr marL="914400" indent="-914400">
              <a:lnSpc>
                <a:spcPct val="120000"/>
              </a:lnSpc>
              <a:buNone/>
            </a:pPr>
            <a:r>
              <a:rPr lang="en-US" dirty="0"/>
              <a:t>10.3.5  Describe the mechanisms of action of the three pharmacotherapies for AUD currently approved by the FDA.</a:t>
            </a:r>
          </a:p>
        </p:txBody>
      </p:sp>
    </p:spTree>
    <p:extLst>
      <p:ext uri="{BB962C8B-B14F-4D97-AF65-F5344CB8AC3E}">
        <p14:creationId xmlns:p14="http://schemas.microsoft.com/office/powerpoint/2010/main" val="3491513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(1 of 16)</a:t>
            </a:r>
            <a:endParaRPr lang="en-US" dirty="0"/>
          </a:p>
        </p:txBody>
      </p:sp>
      <p:sp>
        <p:nvSpPr>
          <p:cNvPr id="3" name="Text Placeholder 2"/>
          <p:cNvSpPr>
            <a:spLocks noGrp="1"/>
          </p:cNvSpPr>
          <p:nvPr>
            <p:ph idx="1"/>
          </p:nvPr>
        </p:nvSpPr>
        <p:spPr/>
        <p:txBody>
          <a:bodyPr/>
          <a:lstStyle/>
          <a:p>
            <a:pPr marL="457200" indent="-457200">
              <a:spcBef>
                <a:spcPts val="1200"/>
              </a:spcBef>
              <a:buNone/>
            </a:pPr>
            <a:r>
              <a:rPr lang="en-US" sz="3200" dirty="0"/>
              <a:t>Alcohol has a long history of use</a:t>
            </a:r>
          </a:p>
          <a:p>
            <a:pPr>
              <a:spcBef>
                <a:spcPts val="1200"/>
              </a:spcBef>
            </a:pPr>
            <a:r>
              <a:rPr lang="en-US" dirty="0"/>
              <a:t>Alcohol use dates back to ancient Egypt and Babylonia</a:t>
            </a:r>
          </a:p>
          <a:p>
            <a:pPr>
              <a:spcBef>
                <a:spcPts val="1200"/>
              </a:spcBef>
            </a:pPr>
            <a:r>
              <a:rPr lang="en-US" dirty="0"/>
              <a:t>The American temperance movement began in the 1830s</a:t>
            </a:r>
          </a:p>
          <a:p>
            <a:pPr>
              <a:spcBef>
                <a:spcPts val="1200"/>
              </a:spcBef>
            </a:pPr>
            <a:r>
              <a:rPr lang="en-US" dirty="0"/>
              <a:t>Prohibition (18</a:t>
            </a:r>
            <a:r>
              <a:rPr lang="en-US" baseline="30000" dirty="0"/>
              <a:t>th</a:t>
            </a:r>
            <a:r>
              <a:rPr lang="en-US" dirty="0"/>
              <a:t> Amendment) took effect in 1920</a:t>
            </a:r>
          </a:p>
          <a:p>
            <a:pPr lvl="1">
              <a:spcBef>
                <a:spcPts val="1200"/>
              </a:spcBef>
            </a:pPr>
            <a:r>
              <a:rPr lang="en-US" dirty="0"/>
              <a:t>Illegal production often produced toxic forms; spawned organized crime mobs; repealed in 1933</a:t>
            </a:r>
          </a:p>
        </p:txBody>
      </p:sp>
    </p:spTree>
    <p:extLst>
      <p:ext uri="{BB962C8B-B14F-4D97-AF65-F5344CB8AC3E}">
        <p14:creationId xmlns:p14="http://schemas.microsoft.com/office/powerpoint/2010/main" val="266600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(2 of 16)</a:t>
            </a:r>
            <a:endParaRPr lang="en-US" dirty="0"/>
          </a:p>
        </p:txBody>
      </p:sp>
      <p:sp>
        <p:nvSpPr>
          <p:cNvPr id="3" name="Text Placeholder 2"/>
          <p:cNvSpPr>
            <a:spLocks noGrp="1"/>
          </p:cNvSpPr>
          <p:nvPr>
            <p:ph idx="1"/>
          </p:nvPr>
        </p:nvSpPr>
        <p:spPr/>
        <p:txBody>
          <a:bodyPr/>
          <a:lstStyle/>
          <a:p>
            <a:pPr marL="457200" indent="-457200">
              <a:spcBef>
                <a:spcPts val="1200"/>
              </a:spcBef>
              <a:buNone/>
            </a:pPr>
            <a:r>
              <a:rPr lang="en-US" sz="3200" dirty="0"/>
              <a:t>What is an alcohol and where does it come from?</a:t>
            </a:r>
          </a:p>
          <a:p>
            <a:pPr>
              <a:spcBef>
                <a:spcPts val="1200"/>
              </a:spcBef>
            </a:pPr>
            <a:r>
              <a:rPr lang="en-US" dirty="0"/>
              <a:t>Ethyl alcohol, or ethanol, is the alcohol form in drinks; other types of alcohol are toxic</a:t>
            </a:r>
          </a:p>
          <a:p>
            <a:pPr>
              <a:spcBef>
                <a:spcPts val="1200"/>
              </a:spcBef>
            </a:pPr>
            <a:r>
              <a:rPr lang="en-US" dirty="0"/>
              <a:t>Ethanol: produced by fermentation of sugars by yeasts; produces alcohol and CO</a:t>
            </a:r>
            <a:r>
              <a:rPr lang="en-US" baseline="-25000" dirty="0"/>
              <a:t>2</a:t>
            </a:r>
          </a:p>
          <a:p>
            <a:r>
              <a:rPr lang="en-US" dirty="0"/>
              <a:t>Alcohol has calories but no nutritional value; chronic heavy drinkers may suffer malnutrition.</a:t>
            </a:r>
          </a:p>
        </p:txBody>
      </p:sp>
    </p:spTree>
    <p:extLst>
      <p:ext uri="{BB962C8B-B14F-4D97-AF65-F5344CB8AC3E}">
        <p14:creationId xmlns:p14="http://schemas.microsoft.com/office/powerpoint/2010/main" val="3698500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(3 of 16)</a:t>
            </a:r>
            <a:endParaRPr lang="en-US" dirty="0"/>
          </a:p>
        </p:txBody>
      </p:sp>
      <p:sp>
        <p:nvSpPr>
          <p:cNvPr id="3" name="Text Placeholder 2"/>
          <p:cNvSpPr>
            <a:spLocks noGrp="1"/>
          </p:cNvSpPr>
          <p:nvPr>
            <p:ph idx="1"/>
          </p:nvPr>
        </p:nvSpPr>
        <p:spPr/>
        <p:txBody>
          <a:bodyPr/>
          <a:lstStyle/>
          <a:p>
            <a:pPr marL="457200" indent="-457200">
              <a:spcBef>
                <a:spcPts val="1200"/>
              </a:spcBef>
              <a:buNone/>
            </a:pPr>
            <a:r>
              <a:rPr lang="en-US" sz="3200" dirty="0"/>
              <a:t>The pharmacokinetics of alcohol determines its bioavailability</a:t>
            </a:r>
          </a:p>
          <a:p>
            <a:pPr>
              <a:spcBef>
                <a:spcPts val="1200"/>
              </a:spcBef>
            </a:pPr>
            <a:r>
              <a:rPr lang="en-US" dirty="0"/>
              <a:t>Ethanol is a small molecule that can’t be ionized; mixes readily with water; not very lipid soluble</a:t>
            </a:r>
          </a:p>
          <a:p>
            <a:pPr>
              <a:spcBef>
                <a:spcPts val="1200"/>
              </a:spcBef>
            </a:pPr>
            <a:r>
              <a:rPr lang="en-US" dirty="0"/>
              <a:t>Easily absorbed from the GI tract; diffuses throughout the body, entering most tissues, including the brain</a:t>
            </a:r>
          </a:p>
          <a:p>
            <a:pPr>
              <a:spcBef>
                <a:spcPts val="1200"/>
              </a:spcBef>
            </a:pPr>
            <a:r>
              <a:rPr lang="en-US" dirty="0"/>
              <a:t>Behavioral effects are described according to </a:t>
            </a:r>
            <a:r>
              <a:rPr lang="en-US" b="1" dirty="0"/>
              <a:t>blood alcohol concentration</a:t>
            </a:r>
            <a:r>
              <a:rPr lang="en-US" dirty="0"/>
              <a:t> (</a:t>
            </a:r>
            <a:r>
              <a:rPr lang="en-US" b="1" dirty="0"/>
              <a:t>BAC</a:t>
            </a:r>
            <a:r>
              <a:rPr lang="en-US" dirty="0"/>
              <a:t>) rather than amount ingested</a:t>
            </a:r>
          </a:p>
        </p:txBody>
      </p:sp>
    </p:spTree>
    <p:extLst>
      <p:ext uri="{BB962C8B-B14F-4D97-AF65-F5344CB8AC3E}">
        <p14:creationId xmlns:p14="http://schemas.microsoft.com/office/powerpoint/2010/main" val="3854364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(4 of 16)</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The pharmacokinetics of alcohol determines its bioavailability</a:t>
            </a:r>
          </a:p>
          <a:p>
            <a:pPr>
              <a:spcBef>
                <a:spcPts val="1200"/>
              </a:spcBef>
            </a:pPr>
            <a:r>
              <a:rPr lang="en-US" dirty="0"/>
              <a:t>Alcohol is mostly absorbed from the small intestine into the blood by passive diffusion; the higher the concentration in the drink, the faster the absorption</a:t>
            </a:r>
          </a:p>
          <a:p>
            <a:pPr>
              <a:spcBef>
                <a:spcPts val="1200"/>
              </a:spcBef>
            </a:pPr>
            <a:r>
              <a:rPr lang="en-US" dirty="0"/>
              <a:t>Food in the stomach delays movement into small intestine and thus absorption</a:t>
            </a:r>
          </a:p>
          <a:p>
            <a:pPr>
              <a:spcBef>
                <a:spcPts val="1200"/>
              </a:spcBef>
            </a:pPr>
            <a:r>
              <a:rPr lang="en-US" dirty="0"/>
              <a:t>Absorption in women is faster than in men because reduced gastric metabolism (less alcohol dehydrogenase) and smaller body size increase the concentration</a:t>
            </a:r>
          </a:p>
        </p:txBody>
      </p:sp>
    </p:spTree>
    <p:extLst>
      <p:ext uri="{BB962C8B-B14F-4D97-AF65-F5344CB8AC3E}">
        <p14:creationId xmlns:p14="http://schemas.microsoft.com/office/powerpoint/2010/main" val="3318643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28EE-9728-D24B-9DFA-884C58218258}"/>
              </a:ext>
            </a:extLst>
          </p:cNvPr>
          <p:cNvSpPr>
            <a:spLocks noGrp="1"/>
          </p:cNvSpPr>
          <p:nvPr>
            <p:ph type="title"/>
          </p:nvPr>
        </p:nvSpPr>
        <p:spPr/>
        <p:txBody>
          <a:bodyPr/>
          <a:lstStyle/>
          <a:p>
            <a:r>
              <a:rPr lang="en-US" cap="all" dirty="0"/>
              <a:t>FIGURE 10.4</a:t>
            </a:r>
            <a:r>
              <a:rPr lang="en-US" dirty="0"/>
              <a:t>  Blood levels of alcohol after oral administration </a:t>
            </a:r>
          </a:p>
        </p:txBody>
      </p:sp>
      <p:pic>
        <p:nvPicPr>
          <p:cNvPr id="6" name="Content Placeholder 5" descr="A trend graph depicts the data plotted for the different oral doses. The horizontal axis represents the time in hours ranging between 1 and 7. The vertical axis represents the blood ethanol in milligrams per milliliter ranging between 0 and 0.8. The approximated data inferred in the order of time and the corresponding blood ethanol is as follows. 15 ml of 95 percent ethanol: (0.2, 0.18); (0.5, 0.2); (1, 0.15); (2, 0.14); (3, 0.02); (4, 0.01); (5, 0.005); (6, 0.005); and (7, 0.005). 30 ml of 95 percent ethanol: (0, 0); (0.2, 0.25); (0.5, 0.39); (0.6, 0.4); (1.2, 0.3); (2, 0.2); (3, 0.1); (4, 0.05); and (5, 0.01). 60 ml of 95 percent ethanol: (0, 0); (0.2, 0.4); (1, 0.7); (1.1, 0.8); (2, 0.65); (3, 0.5); (4, 0.4); (5, 0.2); (6, 0.1); and (7, 0.02).&#10;&#10;A trend graph depicts the data plotted for the blood ethanol in full or empty stomach. The horizontal axis represents the time in hours ranging between 1 and 7. The vertical axis represents the blood ethanol in milligrams per milliliter ranging between 0 and 0.8. The approximated data inferred in the order of time and the corresponding blood ethanol is as follows. With a meal: (0, 0); (0.6, 0.2); (0.8, 0.24); (1, 0.25); (2, 0.3); (3, 0.2); (4, 0.2); (5, 0.1); (6, 0.02); and (7, 0.01). Empty stomach: (0, 0); (0.5, 0.38); (0.6, 0.6); (0.7, 0.7); (1, 0.8); (2, 0.6); (3, 0.5); (4, 0.4); (5, 0.2); (6, 0.1); and (7, 0.05)."/>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459393"/>
            <a:ext cx="11376025" cy="4340851"/>
          </a:xfrm>
        </p:spPr>
      </p:pic>
    </p:spTree>
    <p:extLst>
      <p:ext uri="{BB962C8B-B14F-4D97-AF65-F5344CB8AC3E}">
        <p14:creationId xmlns:p14="http://schemas.microsoft.com/office/powerpoint/2010/main" val="76176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(5 of 16)</a:t>
            </a:r>
            <a:endParaRPr lang="en-US" dirty="0"/>
          </a:p>
        </p:txBody>
      </p:sp>
      <p:sp>
        <p:nvSpPr>
          <p:cNvPr id="3" name="Text Placeholder 2"/>
          <p:cNvSpPr>
            <a:spLocks noGrp="1"/>
          </p:cNvSpPr>
          <p:nvPr>
            <p:ph idx="1"/>
          </p:nvPr>
        </p:nvSpPr>
        <p:spPr/>
        <p:txBody>
          <a:bodyPr>
            <a:normAutofit lnSpcReduction="10000"/>
          </a:bodyPr>
          <a:lstStyle/>
          <a:p>
            <a:pPr marL="457200" indent="-457200">
              <a:spcBef>
                <a:spcPts val="1200"/>
              </a:spcBef>
              <a:buNone/>
            </a:pPr>
            <a:r>
              <a:rPr lang="en-US" sz="3200" dirty="0"/>
              <a:t>The pharmacokinetics of alcohol determines its bioavailability</a:t>
            </a:r>
          </a:p>
          <a:p>
            <a:pPr>
              <a:spcBef>
                <a:spcPts val="1200"/>
              </a:spcBef>
            </a:pPr>
            <a:r>
              <a:rPr lang="en-US" dirty="0"/>
              <a:t>About 95% of ingested alcohol is metabolized by the liver at a constant rate (1 to 1.5 ounces/hour); about 5% is excreted by the lungs—which can be measured with a Breathalyzer.</a:t>
            </a:r>
          </a:p>
          <a:p>
            <a:pPr>
              <a:spcBef>
                <a:spcPts val="1200"/>
              </a:spcBef>
            </a:pPr>
            <a:r>
              <a:rPr lang="en-US" dirty="0"/>
              <a:t>Alcohol is oxidized by </a:t>
            </a:r>
            <a:r>
              <a:rPr lang="en-US" b="1" dirty="0"/>
              <a:t>alcohol dehydrogenase </a:t>
            </a:r>
            <a:r>
              <a:rPr lang="en-US" dirty="0"/>
              <a:t>and </a:t>
            </a:r>
            <a:r>
              <a:rPr lang="en-US" b="1" dirty="0"/>
              <a:t>aldehyde dehydrogenase</a:t>
            </a:r>
            <a:r>
              <a:rPr lang="en-US" dirty="0"/>
              <a:t> (</a:t>
            </a:r>
            <a:r>
              <a:rPr lang="en-US" b="1" dirty="0"/>
              <a:t>ALDH</a:t>
            </a:r>
            <a:r>
              <a:rPr lang="en-US" dirty="0"/>
              <a:t>)</a:t>
            </a:r>
          </a:p>
          <a:p>
            <a:pPr>
              <a:spcBef>
                <a:spcPts val="1200"/>
              </a:spcBef>
            </a:pPr>
            <a:r>
              <a:rPr lang="en-US" altLang="en-US" dirty="0">
                <a:ea typeface="Geneva" pitchFamily="121" charset="-128"/>
              </a:rPr>
              <a:t>About 10% of Asians have genes that code for an inactive form of ALDH—drinking alcohol results in build-up of toxic acetaldehyde, causing flushing, nausea and vomiting, tachycardia, headache, dizziness, etc.</a:t>
            </a:r>
          </a:p>
        </p:txBody>
      </p:sp>
    </p:spTree>
    <p:extLst>
      <p:ext uri="{BB962C8B-B14F-4D97-AF65-F5344CB8AC3E}">
        <p14:creationId xmlns:p14="http://schemas.microsoft.com/office/powerpoint/2010/main" val="4243096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DEF9-13E2-BF4F-9231-1D5F2540B752}"/>
              </a:ext>
            </a:extLst>
          </p:cNvPr>
          <p:cNvSpPr>
            <a:spLocks noGrp="1"/>
          </p:cNvSpPr>
          <p:nvPr>
            <p:ph type="title"/>
          </p:nvPr>
        </p:nvSpPr>
        <p:spPr/>
        <p:txBody>
          <a:bodyPr/>
          <a:lstStyle/>
          <a:p>
            <a:r>
              <a:rPr lang="en-US" cap="all" dirty="0"/>
              <a:t>FIGURE 10.5</a:t>
            </a:r>
            <a:r>
              <a:rPr lang="en-US" dirty="0"/>
              <a:t>  Metabolism of alcohol </a:t>
            </a:r>
          </a:p>
        </p:txBody>
      </p:sp>
      <p:pic>
        <p:nvPicPr>
          <p:cNvPr id="6" name="Content Placeholder 5" descr="A chemical equation illustrating alcohol metabolism. C H 3 C H 2 O H (Alcohol) dehydrogenates to C H 3 C H O (Acetaldehyde), which then dehydrogenates to C H 3 C O O H (Acetic acid) in an oxidation reaction, yielding C O 2 (carbon dioxide) plus H 2 O (water) plus Energy. When aldehyde dehydrogenase is inactive, the level of acetaldehyde rises, causing flushing, nausea, headache, and an increase in heart rate.&#10;&#10;A figure depicts the three possible genetic variations of A L D H. The genotypes and the corresponding phenotypes in response to alcohol is as follows. Homozygous for active form: Mild or no flushing. Heterozygous: Flushing. Homozygous for inactive form: Severe flushing."/>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908605" y="479425"/>
            <a:ext cx="10374791" cy="6300788"/>
          </a:xfrm>
        </p:spPr>
      </p:pic>
    </p:spTree>
    <p:extLst>
      <p:ext uri="{BB962C8B-B14F-4D97-AF65-F5344CB8AC3E}">
        <p14:creationId xmlns:p14="http://schemas.microsoft.com/office/powerpoint/2010/main" val="1489852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(6 of 16)</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The pharmacokinetics of alcohol determines its bioavailability</a:t>
            </a:r>
          </a:p>
          <a:p>
            <a:r>
              <a:rPr lang="en-US" dirty="0"/>
              <a:t>Enzymes in the </a:t>
            </a:r>
            <a:r>
              <a:rPr lang="en-US" b="1" dirty="0"/>
              <a:t>cytochrome P450</a:t>
            </a:r>
            <a:r>
              <a:rPr lang="en-US" dirty="0"/>
              <a:t> family also convert alcohol to acetaldehyde and metabolize many other drugs.</a:t>
            </a:r>
          </a:p>
          <a:p>
            <a:r>
              <a:rPr lang="en-US" dirty="0"/>
              <a:t>If alcohol is consumed with other drugs, they compete for the same enzyme; could lead to dangerously high levels of the other drugs </a:t>
            </a:r>
          </a:p>
          <a:p>
            <a:pPr>
              <a:spcBef>
                <a:spcPts val="1200"/>
              </a:spcBef>
            </a:pPr>
            <a:r>
              <a:rPr lang="en-US" b="1" dirty="0"/>
              <a:t>Induction</a:t>
            </a:r>
            <a:r>
              <a:rPr lang="en-US" dirty="0"/>
              <a:t>: when alcohol is consumed on a regular basis, these liver enzymes increase in number, which increases the rate of metabolism of alcohol and other drugs</a:t>
            </a:r>
          </a:p>
        </p:txBody>
      </p:sp>
    </p:spTree>
    <p:extLst>
      <p:ext uri="{BB962C8B-B14F-4D97-AF65-F5344CB8AC3E}">
        <p14:creationId xmlns:p14="http://schemas.microsoft.com/office/powerpoint/2010/main" val="3066790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(7 of 16)</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Chronic alcohol use leads to both tolerance and physical dependence</a:t>
            </a:r>
          </a:p>
          <a:p>
            <a:r>
              <a:rPr lang="en-US" b="1" dirty="0"/>
              <a:t>Tolerance</a:t>
            </a:r>
            <a:r>
              <a:rPr lang="en-US" dirty="0"/>
              <a:t>: effects of alcohol reduced when administered repeatedly</a:t>
            </a:r>
          </a:p>
          <a:p>
            <a:r>
              <a:rPr lang="en-US" b="1" dirty="0"/>
              <a:t>Cross-tolerance</a:t>
            </a:r>
            <a:r>
              <a:rPr lang="en-US" dirty="0"/>
              <a:t> with other drugs in the sedative–hypnotic class, including barbiturates and benzodiazepines</a:t>
            </a:r>
          </a:p>
          <a:p>
            <a:r>
              <a:rPr lang="en-US" b="1" dirty="0"/>
              <a:t>Acute tolerance</a:t>
            </a:r>
            <a:r>
              <a:rPr lang="en-US" dirty="0"/>
              <a:t>: in a single exposure; effects are greater while blood level is rising and smaller while blood level is falling; may lead to driving while intoxicated</a:t>
            </a:r>
          </a:p>
        </p:txBody>
      </p:sp>
    </p:spTree>
    <p:extLst>
      <p:ext uri="{BB962C8B-B14F-4D97-AF65-F5344CB8AC3E}">
        <p14:creationId xmlns:p14="http://schemas.microsoft.com/office/powerpoint/2010/main" val="986511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(8 of 16)</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Chronic alcohol use leads to both tolerance and physical dependence</a:t>
            </a:r>
          </a:p>
          <a:p>
            <a:r>
              <a:rPr lang="en-US" b="1" dirty="0"/>
              <a:t>Metabolic tolerance</a:t>
            </a:r>
            <a:r>
              <a:rPr lang="en-US" dirty="0"/>
              <a:t>:</a:t>
            </a:r>
            <a:r>
              <a:rPr lang="en-US" b="1" dirty="0"/>
              <a:t> </a:t>
            </a:r>
            <a:r>
              <a:rPr lang="en-US" dirty="0"/>
              <a:t>increase in P450 liver microsomal enzymes that metabolize alcohol</a:t>
            </a:r>
          </a:p>
          <a:p>
            <a:r>
              <a:rPr lang="en-US" b="1" dirty="0"/>
              <a:t>Pharmacodynamic tolerance</a:t>
            </a:r>
            <a:r>
              <a:rPr lang="en-US" dirty="0"/>
              <a:t>:</a:t>
            </a:r>
            <a:r>
              <a:rPr lang="en-US" b="1" dirty="0"/>
              <a:t> </a:t>
            </a:r>
            <a:r>
              <a:rPr lang="en-US" dirty="0"/>
              <a:t>neurons adapt to continued presence of alcohol by making compensatory changes in cell function</a:t>
            </a:r>
          </a:p>
          <a:p>
            <a:r>
              <a:rPr lang="en-US" b="1" dirty="0"/>
              <a:t>Behavioral tolerance</a:t>
            </a:r>
            <a:r>
              <a:rPr lang="en-US" dirty="0"/>
              <a:t>:</a:t>
            </a:r>
            <a:r>
              <a:rPr lang="en-US" b="1" dirty="0"/>
              <a:t> </a:t>
            </a:r>
            <a:r>
              <a:rPr lang="en-US" dirty="0"/>
              <a:t>practicing behaviors while under the influence of alcohol allows adjustment and compensation</a:t>
            </a:r>
          </a:p>
        </p:txBody>
      </p:sp>
    </p:spTree>
    <p:extLst>
      <p:ext uri="{BB962C8B-B14F-4D97-AF65-F5344CB8AC3E}">
        <p14:creationId xmlns:p14="http://schemas.microsoft.com/office/powerpoint/2010/main" val="2431239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B935C-BFB7-974C-B330-519BAB40345A}"/>
              </a:ext>
            </a:extLst>
          </p:cNvPr>
          <p:cNvSpPr>
            <a:spLocks noGrp="1"/>
          </p:cNvSpPr>
          <p:nvPr>
            <p:ph type="title"/>
          </p:nvPr>
        </p:nvSpPr>
        <p:spPr/>
        <p:txBody>
          <a:bodyPr/>
          <a:lstStyle/>
          <a:p>
            <a:r>
              <a:rPr lang="en-US" cap="all" dirty="0"/>
              <a:t>FIGURE 10.6</a:t>
            </a:r>
            <a:r>
              <a:rPr lang="en-US" dirty="0"/>
              <a:t>  Tolerance to alcohol </a:t>
            </a:r>
          </a:p>
        </p:txBody>
      </p:sp>
      <p:pic>
        <p:nvPicPr>
          <p:cNvPr id="6" name="Content Placeholder 5" descr="A trend graph depicts the data plotted for the acute tolerance. The horizontal axis represents the time in hours ranging between 1 and 6. The vertical axis represents the blood ethanol concentration in percent ranging between 0 and 0.300. The trend increases through the following datapoints: (0, 0); (0.5, 0.080); (1, 0.085); (1.5, 0.200); (2, 0.225); (3, 0.300); (4, 0.260); (5, 0.240); (6, 0.250); and (6.5, 0.300). Here, a, b, and c are indicated at time values of 0, 1, and 2.2, respectively. The point (1.5, 0.200) is marked as intoxicated and the point (6, 0.250) is marked as sober.&#10;&#10;A trend graph depicts the data plotted for the metabolic tolerance. The horizontal axis represents the time in minutes ranging between 80 and 320. The vertical axis represents the blood ethanol in milligrams per milliliters ranging between 0 and 0.90. The data in the order of time and the corresponding blood ethanol is as follows: Before the test dose: (0, 0.42); (30, 0.62); (40, 0.60); (60, 0.55); (80, 0.58); (100, 0.45); (120, 0.45); (160, 0.35); (180, 0.20); (200, 0.25); (220, 0.20); (240, 0.20); (260, 0.22); (280, 0.18); and (300, 0.12). After the test dose: (0, 0.55); (20, 0.48); (40, 0.36); (60, 0.28); (80, 0.19); (100, 0.19); (120, 0.14); (140, 0.16); (160, 0.8); (180, 0.20); (200, 0.12); (220, 0.10); (240, 0.14); (260, 0.16); (280, 0.10); and (300, 0.12)."/>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841944"/>
            <a:ext cx="11376025" cy="5575749"/>
          </a:xfrm>
        </p:spPr>
      </p:pic>
    </p:spTree>
    <p:extLst>
      <p:ext uri="{BB962C8B-B14F-4D97-AF65-F5344CB8AC3E}">
        <p14:creationId xmlns:p14="http://schemas.microsoft.com/office/powerpoint/2010/main" val="1734332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(9 of 16)</a:t>
            </a:r>
            <a:endParaRPr lang="en-US" dirty="0"/>
          </a:p>
        </p:txBody>
      </p:sp>
      <p:sp>
        <p:nvSpPr>
          <p:cNvPr id="3" name="Text Placeholder 2"/>
          <p:cNvSpPr>
            <a:spLocks noGrp="1"/>
          </p:cNvSpPr>
          <p:nvPr>
            <p:ph idx="1"/>
          </p:nvPr>
        </p:nvSpPr>
        <p:spPr/>
        <p:txBody>
          <a:bodyPr>
            <a:normAutofit fontScale="92500"/>
          </a:bodyPr>
          <a:lstStyle/>
          <a:p>
            <a:pPr marL="457200" indent="-457200">
              <a:lnSpc>
                <a:spcPct val="120000"/>
              </a:lnSpc>
              <a:spcBef>
                <a:spcPts val="1200"/>
              </a:spcBef>
              <a:buNone/>
            </a:pPr>
            <a:r>
              <a:rPr lang="en-US" sz="3200" dirty="0"/>
              <a:t>Chronic alcohol use leads to both tolerance and physical dependence</a:t>
            </a:r>
          </a:p>
          <a:p>
            <a:pPr>
              <a:spcBef>
                <a:spcPts val="1200"/>
              </a:spcBef>
            </a:pPr>
            <a:r>
              <a:rPr lang="en-US" b="1" dirty="0"/>
              <a:t>Physical dependence</a:t>
            </a:r>
            <a:r>
              <a:rPr lang="en-US" dirty="0"/>
              <a:t>: intensity and duration of withdrawal is dependent on amount and duration of drug taking</a:t>
            </a:r>
          </a:p>
          <a:p>
            <a:pPr>
              <a:spcBef>
                <a:spcPts val="1200"/>
              </a:spcBef>
            </a:pPr>
            <a:r>
              <a:rPr lang="en-US" dirty="0"/>
              <a:t>Alcohol shows </a:t>
            </a:r>
            <a:r>
              <a:rPr lang="en-US" b="1" dirty="0"/>
              <a:t>cross-dependence</a:t>
            </a:r>
            <a:r>
              <a:rPr lang="en-US" dirty="0"/>
              <a:t> with other drugs in the sedative-hypnotic class</a:t>
            </a:r>
          </a:p>
          <a:p>
            <a:pPr>
              <a:spcBef>
                <a:spcPts val="1200"/>
              </a:spcBef>
            </a:pPr>
            <a:r>
              <a:rPr lang="en-US" altLang="ja-JP" b="1" dirty="0">
                <a:ea typeface="Geneva" pitchFamily="121" charset="-128"/>
              </a:rPr>
              <a:t>Hangover</a:t>
            </a:r>
            <a:r>
              <a:rPr lang="en-US" altLang="ja-JP" dirty="0">
                <a:ea typeface="Geneva" pitchFamily="121" charset="-128"/>
              </a:rPr>
              <a:t> may be evidence of withdrawal or a sign of acute toxicity</a:t>
            </a:r>
          </a:p>
          <a:p>
            <a:r>
              <a:rPr lang="en-US" altLang="en-US" dirty="0"/>
              <a:t>Withdrawal symptoms include tremor, </a:t>
            </a:r>
            <a:r>
              <a:rPr lang="en-US" altLang="ja-JP" dirty="0"/>
              <a:t>anxiety, high blood pressure, rapid heart rate, sweating, rapid breathing, nausea, vomiting; s</a:t>
            </a:r>
            <a:r>
              <a:rPr lang="en-US" altLang="en-US" dirty="0"/>
              <a:t>ome people experience </a:t>
            </a:r>
            <a:r>
              <a:rPr lang="en-US" altLang="en-US" b="1" dirty="0"/>
              <a:t>delirium tremens</a:t>
            </a:r>
            <a:r>
              <a:rPr lang="en-US" altLang="en-US" dirty="0"/>
              <a:t>, or </a:t>
            </a:r>
            <a:r>
              <a:rPr lang="en-US" altLang="en-US" b="1" dirty="0"/>
              <a:t>DTs</a:t>
            </a:r>
            <a:endParaRPr lang="en-US" dirty="0"/>
          </a:p>
        </p:txBody>
      </p:sp>
    </p:spTree>
    <p:extLst>
      <p:ext uri="{BB962C8B-B14F-4D97-AF65-F5344CB8AC3E}">
        <p14:creationId xmlns:p14="http://schemas.microsoft.com/office/powerpoint/2010/main" val="2526128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8ACA6-773E-8F4C-9588-0FEF97BA5AE4}"/>
              </a:ext>
            </a:extLst>
          </p:cNvPr>
          <p:cNvSpPr>
            <a:spLocks noGrp="1"/>
          </p:cNvSpPr>
          <p:nvPr>
            <p:ph type="title"/>
          </p:nvPr>
        </p:nvSpPr>
        <p:spPr/>
        <p:txBody>
          <a:bodyPr/>
          <a:lstStyle/>
          <a:p>
            <a:r>
              <a:rPr lang="en-US" cap="all" dirty="0"/>
              <a:t>FIGURE 10.8</a:t>
            </a:r>
            <a:r>
              <a:rPr lang="en-US" dirty="0"/>
              <a:t>  Relationship between alcohol use and traffic accidents (Part 1)</a:t>
            </a:r>
          </a:p>
        </p:txBody>
      </p:sp>
      <p:pic>
        <p:nvPicPr>
          <p:cNvPr id="6" name="Content Placeholder 5" descr="A graph depicts the fatalities caused by the alcoholic consumption. The horizontal axis represents the day of the week and time of day ranging from Monday to Sunday. The vertical axis represents the number of fatalities in the year of 1981 ranging between 0 and 2000. The consecutive sequence of sinusoidal waves for alcohol-related accidents passes through the approximated points as follows. 400, 100, 500, 100, 600, 100, 700, 100, 800, 200, 2100, 200, 1900, 200, and 700. The consecutive sequence of sinusoidal waves for nonalcohol-related accidents passes through the approximated points as follows. 400, 900, 300, 800, 300, 900, 400, 1000, 450, 1200, 500, 1100, 400, 900, and 500.&#10;&#1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65778" y="479425"/>
            <a:ext cx="11260444" cy="6300788"/>
          </a:xfrm>
        </p:spPr>
      </p:pic>
    </p:spTree>
    <p:extLst>
      <p:ext uri="{BB962C8B-B14F-4D97-AF65-F5344CB8AC3E}">
        <p14:creationId xmlns:p14="http://schemas.microsoft.com/office/powerpoint/2010/main" val="2452743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93DB2-ACFC-F040-9CC8-42651B61EE9D}"/>
              </a:ext>
            </a:extLst>
          </p:cNvPr>
          <p:cNvSpPr>
            <a:spLocks noGrp="1"/>
          </p:cNvSpPr>
          <p:nvPr>
            <p:ph type="title"/>
          </p:nvPr>
        </p:nvSpPr>
        <p:spPr/>
        <p:txBody>
          <a:bodyPr/>
          <a:lstStyle/>
          <a:p>
            <a:r>
              <a:rPr lang="en-US" cap="all" dirty="0"/>
              <a:t>FIGURE 10.8</a:t>
            </a:r>
            <a:r>
              <a:rPr lang="en-US" dirty="0"/>
              <a:t>  Relationship between alcohol use and traffic accidents (Part 2)</a:t>
            </a:r>
          </a:p>
        </p:txBody>
      </p:sp>
      <p:pic>
        <p:nvPicPr>
          <p:cNvPr id="6" name="Content Placeholder 5" descr="A trend graph depicts the relationship between B A C and relative risk. The horizontal axis represents B A C in percent ranging between 0.05 and 0.20. The vertical axis represents relative risk ranging between 0 and 20. The approximated data inferred in the order of BAC percent and the corresponding relative risk is as follows. Age 16 and 17: (0, 3); and (0.03, 7). Age 18 to 24: (0, 2); (0.06, 1); (0.10, 6); and (0.15, 18). Age 25 to 34 and 55 to 65: (0, 1); (0.06, 1); (0.10, 3); and (0.15, 11). Age 35 to 54: (0, 1); (0.06, 1); (0.10, 1.5); and (0.15, 6).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635628" y="479425"/>
            <a:ext cx="6920745" cy="6300788"/>
          </a:xfrm>
        </p:spPr>
      </p:pic>
    </p:spTree>
    <p:extLst>
      <p:ext uri="{BB962C8B-B14F-4D97-AF65-F5344CB8AC3E}">
        <p14:creationId xmlns:p14="http://schemas.microsoft.com/office/powerpoint/2010/main" val="4207450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(10 of 16)</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Alcohol affects many organ systems</a:t>
            </a:r>
          </a:p>
          <a:p>
            <a:pPr>
              <a:spcBef>
                <a:spcPts val="1200"/>
              </a:spcBef>
            </a:pPr>
            <a:r>
              <a:rPr lang="en-US" dirty="0"/>
              <a:t>Dose-dependent effects on the CNS include relaxation, reduced anxiety, intoxication, impaired judgment, impaired memory, </a:t>
            </a:r>
            <a:r>
              <a:rPr lang="en-US" b="1" dirty="0"/>
              <a:t>blackouts</a:t>
            </a:r>
            <a:r>
              <a:rPr lang="en-US" dirty="0"/>
              <a:t>, and sleep. </a:t>
            </a:r>
          </a:p>
          <a:p>
            <a:pPr>
              <a:spcBef>
                <a:spcPts val="1200"/>
              </a:spcBef>
            </a:pPr>
            <a:r>
              <a:rPr lang="en-US" dirty="0"/>
              <a:t>Alcohol use increases risk of automobile accidents, violent crimes, and aggression</a:t>
            </a:r>
          </a:p>
          <a:p>
            <a:pPr>
              <a:spcBef>
                <a:spcPts val="1200"/>
              </a:spcBef>
            </a:pPr>
            <a:r>
              <a:rPr lang="en-US" dirty="0"/>
              <a:t>High doses can cause </a:t>
            </a:r>
            <a:r>
              <a:rPr lang="en-US" b="1" dirty="0"/>
              <a:t>alcohol poisoning</a:t>
            </a:r>
            <a:r>
              <a:rPr lang="en-US" dirty="0"/>
              <a:t>, coma, and death due to respiratory depression.</a:t>
            </a:r>
          </a:p>
        </p:txBody>
      </p:sp>
    </p:spTree>
    <p:extLst>
      <p:ext uri="{BB962C8B-B14F-4D97-AF65-F5344CB8AC3E}">
        <p14:creationId xmlns:p14="http://schemas.microsoft.com/office/powerpoint/2010/main" val="2853129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(11 of 16)</a:t>
            </a:r>
            <a:endParaRPr lang="en-US" dirty="0"/>
          </a:p>
        </p:txBody>
      </p:sp>
      <p:sp>
        <p:nvSpPr>
          <p:cNvPr id="3" name="Text Placeholder 2"/>
          <p:cNvSpPr>
            <a:spLocks noGrp="1"/>
          </p:cNvSpPr>
          <p:nvPr>
            <p:ph idx="1"/>
          </p:nvPr>
        </p:nvSpPr>
        <p:spPr/>
        <p:txBody>
          <a:bodyPr>
            <a:normAutofit fontScale="92500"/>
          </a:bodyPr>
          <a:lstStyle/>
          <a:p>
            <a:pPr marL="457200" indent="-457200">
              <a:lnSpc>
                <a:spcPct val="110000"/>
              </a:lnSpc>
              <a:spcBef>
                <a:spcPts val="1200"/>
              </a:spcBef>
              <a:buNone/>
            </a:pPr>
            <a:r>
              <a:rPr lang="en-US" sz="3500" dirty="0"/>
              <a:t>Alcohol affects many organ systems</a:t>
            </a:r>
          </a:p>
          <a:p>
            <a:pPr>
              <a:spcBef>
                <a:spcPts val="1200"/>
              </a:spcBef>
            </a:pPr>
            <a:r>
              <a:rPr lang="en-US" dirty="0"/>
              <a:t>Heavy long-term alcohol use causes a vitamin B</a:t>
            </a:r>
            <a:r>
              <a:rPr lang="en-US" baseline="-25000" dirty="0"/>
              <a:t>1</a:t>
            </a:r>
            <a:r>
              <a:rPr lang="en-US" dirty="0"/>
              <a:t> (thiamine) deficiency leading to cell death in the periaqueductal gray, medial thalamus, and mammillary bodies, causing Wernicke’s encephalopathy (WE)</a:t>
            </a:r>
          </a:p>
          <a:p>
            <a:pPr>
              <a:spcBef>
                <a:spcPts val="1200"/>
              </a:spcBef>
            </a:pPr>
            <a:r>
              <a:rPr lang="en-US" dirty="0"/>
              <a:t>Multiple brain regions may be damaged by glutamate-induced excitotoxicity</a:t>
            </a:r>
          </a:p>
          <a:p>
            <a:pPr>
              <a:spcBef>
                <a:spcPts val="1200"/>
              </a:spcBef>
            </a:pPr>
            <a:r>
              <a:rPr lang="en-US" dirty="0"/>
              <a:t>Korsakoff syndrome: permanent damage to thalamic nuclei and brain regions involved in memory subsequent to vitamin B</a:t>
            </a:r>
            <a:r>
              <a:rPr lang="en-US" baseline="-25000" dirty="0"/>
              <a:t>1</a:t>
            </a:r>
            <a:r>
              <a:rPr lang="en-US" dirty="0"/>
              <a:t> deficiency</a:t>
            </a:r>
          </a:p>
          <a:p>
            <a:pPr>
              <a:spcBef>
                <a:spcPts val="1200"/>
              </a:spcBef>
            </a:pPr>
            <a:r>
              <a:rPr lang="en-US" dirty="0"/>
              <a:t>Other brain areas often show cell loss unrelated to diet: large ventricles indicate tissue shrinkage, small brain mass, cerebellar cell loss</a:t>
            </a:r>
          </a:p>
        </p:txBody>
      </p:sp>
    </p:spTree>
    <p:extLst>
      <p:ext uri="{BB962C8B-B14F-4D97-AF65-F5344CB8AC3E}">
        <p14:creationId xmlns:p14="http://schemas.microsoft.com/office/powerpoint/2010/main" val="2762124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(12 of 16)</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Alcohol affects many organ systems</a:t>
            </a:r>
          </a:p>
          <a:p>
            <a:pPr>
              <a:spcBef>
                <a:spcPts val="1200"/>
              </a:spcBef>
            </a:pPr>
            <a:r>
              <a:rPr lang="en-US" dirty="0"/>
              <a:t>Alcohol dilates peripheral blood vessels; in the brain vasodilation may improve cognitive function in older adults</a:t>
            </a:r>
          </a:p>
          <a:p>
            <a:pPr>
              <a:spcBef>
                <a:spcPts val="1200"/>
              </a:spcBef>
            </a:pPr>
            <a:r>
              <a:rPr lang="en-US" dirty="0"/>
              <a:t>Low-to-moderate alcohol use increases the amount of “good” cholesterol in the blood while reducing the “bad”; may reduce incidence of blood clots and stroke</a:t>
            </a:r>
          </a:p>
          <a:p>
            <a:pPr>
              <a:spcBef>
                <a:spcPts val="1200"/>
              </a:spcBef>
            </a:pPr>
            <a:r>
              <a:rPr lang="en-US" dirty="0"/>
              <a:t>AUD increases the risk of high blood pressure, stroke, and heart enlargement.</a:t>
            </a:r>
          </a:p>
        </p:txBody>
      </p:sp>
    </p:spTree>
    <p:extLst>
      <p:ext uri="{BB962C8B-B14F-4D97-AF65-F5344CB8AC3E}">
        <p14:creationId xmlns:p14="http://schemas.microsoft.com/office/powerpoint/2010/main" val="597970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(13 of 16)</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Alcohol affects many organ systems</a:t>
            </a:r>
          </a:p>
          <a:p>
            <a:pPr>
              <a:spcBef>
                <a:spcPts val="1200"/>
              </a:spcBef>
            </a:pPr>
            <a:r>
              <a:rPr lang="en-US" dirty="0"/>
              <a:t>Alcohol has a diuretic effect, by reducing secretion of antidiuretic hormone </a:t>
            </a:r>
          </a:p>
          <a:p>
            <a:pPr>
              <a:spcBef>
                <a:spcPts val="1200"/>
              </a:spcBef>
            </a:pPr>
            <a:r>
              <a:rPr lang="en-US" dirty="0"/>
              <a:t>Alcohol increases sexual arousal while decreasing performance, increases appetite, and aids digestion by increasing gastric secretions.</a:t>
            </a:r>
          </a:p>
          <a:p>
            <a:pPr>
              <a:spcBef>
                <a:spcPts val="1200"/>
              </a:spcBef>
            </a:pPr>
            <a:r>
              <a:rPr lang="en-US" dirty="0"/>
              <a:t>Liver damage associated with AUD includes </a:t>
            </a:r>
            <a:r>
              <a:rPr lang="en-US" b="1" dirty="0"/>
              <a:t>fatty liver</a:t>
            </a:r>
            <a:r>
              <a:rPr lang="en-US" dirty="0"/>
              <a:t>, </a:t>
            </a:r>
            <a:r>
              <a:rPr lang="en-US" b="1" dirty="0"/>
              <a:t>alcohol-induced hepatitis</a:t>
            </a:r>
            <a:r>
              <a:rPr lang="en-US" dirty="0"/>
              <a:t> and </a:t>
            </a:r>
            <a:r>
              <a:rPr lang="en-US" b="1" dirty="0"/>
              <a:t>cirrhosis</a:t>
            </a:r>
            <a:r>
              <a:rPr lang="en-US" dirty="0"/>
              <a:t>.</a:t>
            </a:r>
          </a:p>
        </p:txBody>
      </p:sp>
    </p:spTree>
    <p:extLst>
      <p:ext uri="{BB962C8B-B14F-4D97-AF65-F5344CB8AC3E}">
        <p14:creationId xmlns:p14="http://schemas.microsoft.com/office/powerpoint/2010/main" val="2153037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6895E-F2AD-8C4A-980C-DB3D9E392B08}"/>
              </a:ext>
            </a:extLst>
          </p:cNvPr>
          <p:cNvSpPr>
            <a:spLocks noGrp="1"/>
          </p:cNvSpPr>
          <p:nvPr>
            <p:ph type="title"/>
          </p:nvPr>
        </p:nvSpPr>
        <p:spPr/>
        <p:txBody>
          <a:bodyPr/>
          <a:lstStyle/>
          <a:p>
            <a:r>
              <a:rPr lang="en-US" cap="all" dirty="0"/>
              <a:t>FIGURE 10.10</a:t>
            </a:r>
            <a:r>
              <a:rPr lang="en-US" dirty="0"/>
              <a:t>  Effects of alcohol on sexual response </a:t>
            </a:r>
          </a:p>
        </p:txBody>
      </p:sp>
      <p:pic>
        <p:nvPicPr>
          <p:cNvPr id="6" name="Content Placeholder 5" descr="A set of two trend graphs depict the tumescence rate and maximum tumescence. In both the graphs, the horizontal axis represents the B A C in percent ranging between 0.000 and 0.075. In the first graph, the vertical axis represents the rate in millimeters per minutes ranging between 0.6 and 0.9. The trend for tumescence rate decreases through the following approximated datapoints. (0.000, 0.8); (0.025, 0.78); (0.050, 0.75); and (0.075, 0.64). In the second graph, the vertical axis represents the diameter increase in millimeters ranging between 7 and 10. The trend for maximum tumescence increases and decreases through the following approximated datapoints. (0.000, 9); (0.025, 9.8); (0.050, 8.6); and (0.075, 7.5).&#10;&#10;A bar graph depicts the orgasmic latency corresponding to the B A C percent. The horizontal axis represents the B A C in percentage ranging between 0.00 and 0.075. The vertical axis represents the orgasmic latency in percent ranging between 0 and 900. The approximated data inferred from the graph is as follows. Placebo: 0.00, 380. Low dose: 0.025, 540. Moderate dose: 0.05, 610. and High dose: 0.075, 86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851670" y="479425"/>
            <a:ext cx="10488661" cy="6300788"/>
          </a:xfrm>
        </p:spPr>
      </p:pic>
    </p:spTree>
    <p:extLst>
      <p:ext uri="{BB962C8B-B14F-4D97-AF65-F5344CB8AC3E}">
        <p14:creationId xmlns:p14="http://schemas.microsoft.com/office/powerpoint/2010/main" val="1311590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(14 of 16)</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Alcohol affects many organ systems</a:t>
            </a:r>
          </a:p>
          <a:p>
            <a:r>
              <a:rPr lang="en-US" altLang="en-US" dirty="0"/>
              <a:t>Alcohol passes through the placental barrier and the fetus quickly reaches the same BAC as the mother.</a:t>
            </a:r>
          </a:p>
          <a:p>
            <a:r>
              <a:rPr lang="en-US" altLang="en-US" b="1" dirty="0"/>
              <a:t>Fetal alcohol spectrum disorders</a:t>
            </a:r>
            <a:r>
              <a:rPr lang="en-US" altLang="en-US" dirty="0"/>
              <a:t> (</a:t>
            </a:r>
            <a:r>
              <a:rPr lang="en-US" altLang="en-US" b="1" dirty="0"/>
              <a:t>FASD</a:t>
            </a:r>
            <a:r>
              <a:rPr lang="en-US" altLang="en-US" dirty="0"/>
              <a:t>) and the more severe </a:t>
            </a:r>
            <a:r>
              <a:rPr lang="en-US" altLang="en-US" b="1" dirty="0"/>
              <a:t>fetal alcohol syndrome</a:t>
            </a:r>
            <a:r>
              <a:rPr lang="en-US" altLang="en-US" dirty="0"/>
              <a:t> (</a:t>
            </a:r>
            <a:r>
              <a:rPr lang="en-US" altLang="en-US" b="1" dirty="0"/>
              <a:t>FAS</a:t>
            </a:r>
            <a:r>
              <a:rPr lang="en-US" altLang="en-US" dirty="0"/>
              <a:t>): intellectual disability and developmental delays, low birthweight, neurological problems, head and facial malformations</a:t>
            </a:r>
          </a:p>
        </p:txBody>
      </p:sp>
    </p:spTree>
    <p:extLst>
      <p:ext uri="{BB962C8B-B14F-4D97-AF65-F5344CB8AC3E}">
        <p14:creationId xmlns:p14="http://schemas.microsoft.com/office/powerpoint/2010/main" val="1741368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521F3-AE25-D240-BDAA-6FD8462767FE}"/>
              </a:ext>
            </a:extLst>
          </p:cNvPr>
          <p:cNvSpPr>
            <a:spLocks noGrp="1"/>
          </p:cNvSpPr>
          <p:nvPr>
            <p:ph type="title"/>
          </p:nvPr>
        </p:nvSpPr>
        <p:spPr/>
        <p:txBody>
          <a:bodyPr/>
          <a:lstStyle/>
          <a:p>
            <a:r>
              <a:rPr lang="en-US" cap="all" dirty="0"/>
              <a:t>FIGURE 10.12</a:t>
            </a:r>
            <a:r>
              <a:rPr lang="en-US" dirty="0"/>
              <a:t>  Fetal alcohol syndrome </a:t>
            </a:r>
          </a:p>
        </p:txBody>
      </p:sp>
      <p:pic>
        <p:nvPicPr>
          <p:cNvPr id="6" name="Content Placeholder 5" descr="A photograph of a child with fetal alcohol syndrome, with a broad and tall head, a flat top surface of the skull, and facial features that curve inwards.&#10;&#10;A set of two images depicts the heads of a normal mice and mice exposed to alcohol in utero. Normal mice have a semi-circled skull, with a snout that extends to either side of the face and protruding eyes. The skull of mice exposed to alcohol is dome-shaped, with a flat top, grooved eyes, and a narrower no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910550"/>
            <a:ext cx="11376025" cy="5438538"/>
          </a:xfrm>
        </p:spPr>
      </p:pic>
    </p:spTree>
    <p:extLst>
      <p:ext uri="{BB962C8B-B14F-4D97-AF65-F5344CB8AC3E}">
        <p14:creationId xmlns:p14="http://schemas.microsoft.com/office/powerpoint/2010/main" val="331616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(15 of 16)</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Alcohol affects many organ systems</a:t>
            </a:r>
          </a:p>
          <a:p>
            <a:pPr>
              <a:spcBef>
                <a:spcPts val="1200"/>
              </a:spcBef>
            </a:pPr>
            <a:r>
              <a:rPr lang="en-US" dirty="0"/>
              <a:t>Effects of prenatal alcohol exposure depend on blood alcohol level, pattern of alcohol use, fetal developmental stage at time of exposure, maternal nutrition, genetics, and comorbid drug use. </a:t>
            </a:r>
          </a:p>
          <a:p>
            <a:pPr>
              <a:spcBef>
                <a:spcPts val="1200"/>
              </a:spcBef>
            </a:pPr>
            <a:r>
              <a:rPr lang="en-US" dirty="0"/>
              <a:t>Multiple possible mechanisms for alcohol-induced FASD have been identified, including maternal alcohol-induced epigenetic effects that alter various stages of development.</a:t>
            </a:r>
          </a:p>
        </p:txBody>
      </p:sp>
    </p:spTree>
    <p:extLst>
      <p:ext uri="{BB962C8B-B14F-4D97-AF65-F5344CB8AC3E}">
        <p14:creationId xmlns:p14="http://schemas.microsoft.com/office/powerpoint/2010/main" val="737704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Psychopharmacology of Alcohol </a:t>
            </a:r>
            <a:r>
              <a:rPr lang="en-US" sz="1200" dirty="0"/>
              <a:t>(16 of 16)</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1</a:t>
            </a:r>
          </a:p>
          <a:p>
            <a:pPr marL="457200" indent="-457200">
              <a:spcBef>
                <a:spcPts val="2400"/>
              </a:spcBef>
              <a:buNone/>
            </a:pPr>
            <a:r>
              <a:rPr lang="en-US" sz="3200" dirty="0"/>
              <a:t>Alcohol is metabolized in the liver by which two enzyme systems?</a:t>
            </a:r>
          </a:p>
          <a:p>
            <a:pPr marL="914400" indent="-457200">
              <a:spcBef>
                <a:spcPts val="1200"/>
              </a:spcBef>
              <a:buFont typeface="Arial" pitchFamily="34" charset="0"/>
              <a:buAutoNum type="alphaLcPeriod"/>
            </a:pPr>
            <a:r>
              <a:rPr lang="en-US" sz="3200" dirty="0"/>
              <a:t>Cytochrome 450</a:t>
            </a:r>
          </a:p>
          <a:p>
            <a:pPr marL="914400" indent="-457200">
              <a:spcBef>
                <a:spcPts val="1200"/>
              </a:spcBef>
              <a:buFont typeface="Arial" pitchFamily="34" charset="0"/>
              <a:buAutoNum type="alphaLcPeriod"/>
            </a:pPr>
            <a:r>
              <a:rPr lang="en-US" sz="3200" dirty="0"/>
              <a:t>Aldehyde dehydrogenase</a:t>
            </a:r>
          </a:p>
          <a:p>
            <a:pPr marL="914400" indent="-457200">
              <a:spcBef>
                <a:spcPts val="1200"/>
              </a:spcBef>
              <a:buFont typeface="Arial" pitchFamily="34" charset="0"/>
              <a:buAutoNum type="alphaLcPeriod"/>
            </a:pPr>
            <a:r>
              <a:rPr lang="en-US" sz="3200" dirty="0"/>
              <a:t>Alcohol dehydrogenase</a:t>
            </a:r>
          </a:p>
          <a:p>
            <a:pPr marL="914400" indent="-457200">
              <a:spcBef>
                <a:spcPts val="1200"/>
              </a:spcBef>
              <a:buFont typeface="Arial" pitchFamily="34" charset="0"/>
              <a:buAutoNum type="alphaLcPeriod"/>
            </a:pPr>
            <a:r>
              <a:rPr lang="en-US" sz="3200" dirty="0"/>
              <a:t>Acetaldehyde</a:t>
            </a:r>
          </a:p>
        </p:txBody>
      </p:sp>
    </p:spTree>
    <p:extLst>
      <p:ext uri="{BB962C8B-B14F-4D97-AF65-F5344CB8AC3E}">
        <p14:creationId xmlns:p14="http://schemas.microsoft.com/office/powerpoint/2010/main" val="22446861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(1 of 3)</a:t>
            </a:r>
            <a:endParaRPr lang="en-US" dirty="0"/>
          </a:p>
        </p:txBody>
      </p:sp>
      <p:sp>
        <p:nvSpPr>
          <p:cNvPr id="3" name="Text Placeholder 2"/>
          <p:cNvSpPr>
            <a:spLocks noGrp="1"/>
          </p:cNvSpPr>
          <p:nvPr>
            <p:ph idx="1"/>
          </p:nvPr>
        </p:nvSpPr>
        <p:spPr/>
        <p:txBody>
          <a:bodyPr>
            <a:normAutofit fontScale="70000" lnSpcReduction="20000"/>
          </a:bodyPr>
          <a:lstStyle/>
          <a:p>
            <a:pPr marL="914400" indent="-914400">
              <a:spcBef>
                <a:spcPts val="1200"/>
              </a:spcBef>
              <a:buNone/>
            </a:pPr>
            <a:r>
              <a:rPr lang="en-US" dirty="0"/>
              <a:t>10.1.1  Describe the pharmacokinetic fate of alcohol (absorption, distribution, metabolism, and excretion) and explain how factors such as dose and expression of metabolic enzymes affect these processes. and explain how factors such as dose, concentration of alcohol, and sex affect the rate of absorption.</a:t>
            </a:r>
          </a:p>
          <a:p>
            <a:pPr marL="914400" indent="-914400">
              <a:spcBef>
                <a:spcPts val="1200"/>
              </a:spcBef>
              <a:buNone/>
            </a:pPr>
            <a:r>
              <a:rPr lang="en-US" dirty="0"/>
              <a:t>10.1.2  Describe how alcohol may interact with other drugs by competing for metabolic enzymes. </a:t>
            </a:r>
          </a:p>
          <a:p>
            <a:pPr marL="914400" indent="-914400">
              <a:spcBef>
                <a:spcPts val="1200"/>
              </a:spcBef>
              <a:buNone/>
            </a:pPr>
            <a:r>
              <a:rPr lang="en-US" dirty="0"/>
              <a:t>10.1.3  Explain the mechanisms that underlie acute, metabolic, pharmacodynamic, and behavioral tolerance to alcohol.</a:t>
            </a:r>
          </a:p>
          <a:p>
            <a:pPr marL="914400" indent="-914400">
              <a:spcBef>
                <a:spcPts val="1200"/>
              </a:spcBef>
              <a:buNone/>
            </a:pPr>
            <a:r>
              <a:rPr lang="en-US" dirty="0"/>
              <a:t>10.1.4  Identify the CNS-mediated effects of alcohol in terms of dose and describe the withdrawal syndrome that occurs when an individual physically dependent on alcohol stops consuming alcohol.</a:t>
            </a:r>
          </a:p>
          <a:p>
            <a:pPr marL="914400" indent="-914400">
              <a:spcBef>
                <a:spcPts val="1200"/>
              </a:spcBef>
              <a:buNone/>
            </a:pPr>
            <a:r>
              <a:rPr lang="en-US" dirty="0"/>
              <a:t>10.1.5  Describe the health effects of chronic, heavy alcohol use on the brain, cardiovascular system, and liver.</a:t>
            </a:r>
          </a:p>
          <a:p>
            <a:pPr marL="914400" indent="-914400">
              <a:spcBef>
                <a:spcPts val="1200"/>
              </a:spcBef>
              <a:buNone/>
            </a:pPr>
            <a:r>
              <a:rPr lang="en-US" dirty="0"/>
              <a:t>10.1.6  Describe the clinical presentation of fetal alcohol spectrum disorders and list the factors that contribute to the highly varied symptom presentation.</a:t>
            </a:r>
          </a:p>
        </p:txBody>
      </p:sp>
    </p:spTree>
    <p:extLst>
      <p:ext uri="{BB962C8B-B14F-4D97-AF65-F5344CB8AC3E}">
        <p14:creationId xmlns:p14="http://schemas.microsoft.com/office/powerpoint/2010/main" val="38745304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Effects of Alcohol </a:t>
            </a:r>
            <a:r>
              <a:rPr lang="en-US" sz="1200" dirty="0"/>
              <a:t>(1 of 10)</a:t>
            </a:r>
            <a:endParaRPr lang="en-US" dirty="0"/>
          </a:p>
        </p:txBody>
      </p:sp>
      <p:sp>
        <p:nvSpPr>
          <p:cNvPr id="3" name="Text Placeholder 2"/>
          <p:cNvSpPr>
            <a:spLocks noGrp="1"/>
          </p:cNvSpPr>
          <p:nvPr>
            <p:ph idx="1"/>
          </p:nvPr>
        </p:nvSpPr>
        <p:spPr/>
        <p:txBody>
          <a:bodyPr>
            <a:normAutofit fontScale="92500" lnSpcReduction="10000"/>
          </a:bodyPr>
          <a:lstStyle/>
          <a:p>
            <a:pPr marL="457200" indent="-457200">
              <a:lnSpc>
                <a:spcPct val="110000"/>
              </a:lnSpc>
              <a:spcBef>
                <a:spcPts val="1200"/>
              </a:spcBef>
              <a:buNone/>
            </a:pPr>
            <a:r>
              <a:rPr lang="en-US" sz="3500" dirty="0"/>
              <a:t>Animal models are vital for alcohol research</a:t>
            </a:r>
          </a:p>
          <a:p>
            <a:r>
              <a:rPr lang="en-US" altLang="en-US" dirty="0">
                <a:ea typeface="Geneva" pitchFamily="121" charset="-128"/>
              </a:rPr>
              <a:t>Animals are kept in controlled environments, eliminating factors such as poor nutrition, psychiatric disorders, and other drug use.</a:t>
            </a:r>
          </a:p>
          <a:p>
            <a:r>
              <a:rPr lang="en-US" altLang="en-US" dirty="0">
                <a:ea typeface="Geneva" pitchFamily="121" charset="-128"/>
              </a:rPr>
              <a:t>Methods can be used that are not appropriate for humans.</a:t>
            </a:r>
          </a:p>
          <a:p>
            <a:r>
              <a:rPr lang="en-US" altLang="en-US" dirty="0"/>
              <a:t>Prenatal alcohol studies can eliminate issues such as maternal nutrition and substance abuse.</a:t>
            </a:r>
          </a:p>
          <a:p>
            <a:r>
              <a:rPr lang="en-US" altLang="en-US" dirty="0"/>
              <a:t>Invasive procedures, including genetic engineering, can be used.</a:t>
            </a:r>
          </a:p>
          <a:p>
            <a:r>
              <a:rPr lang="en-US" altLang="en-US" dirty="0"/>
              <a:t>Animal models serve as screening tools for evaluating treatment strategies.</a:t>
            </a:r>
            <a:endParaRPr lang="en-US" altLang="en-US" dirty="0">
              <a:ea typeface="Geneva" pitchFamily="121" charset="-128"/>
            </a:endParaRPr>
          </a:p>
        </p:txBody>
      </p:sp>
    </p:spTree>
    <p:extLst>
      <p:ext uri="{BB962C8B-B14F-4D97-AF65-F5344CB8AC3E}">
        <p14:creationId xmlns:p14="http://schemas.microsoft.com/office/powerpoint/2010/main" val="1245250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Effects of Alcohol </a:t>
            </a:r>
            <a:r>
              <a:rPr lang="en-US" sz="1200" dirty="0"/>
              <a:t>(2 of 10)</a:t>
            </a:r>
            <a:endParaRPr lang="en-US" dirty="0"/>
          </a:p>
        </p:txBody>
      </p:sp>
      <p:sp>
        <p:nvSpPr>
          <p:cNvPr id="3" name="Text Placeholder 2"/>
          <p:cNvSpPr>
            <a:spLocks noGrp="1"/>
          </p:cNvSpPr>
          <p:nvPr>
            <p:ph idx="1"/>
          </p:nvPr>
        </p:nvSpPr>
        <p:spPr/>
        <p:txBody>
          <a:bodyPr>
            <a:normAutofit lnSpcReduction="10000"/>
          </a:bodyPr>
          <a:lstStyle/>
          <a:p>
            <a:pPr marL="457200" indent="-457200">
              <a:lnSpc>
                <a:spcPct val="120000"/>
              </a:lnSpc>
              <a:spcBef>
                <a:spcPts val="1200"/>
              </a:spcBef>
              <a:buNone/>
            </a:pPr>
            <a:r>
              <a:rPr lang="en-US" sz="3200" dirty="0"/>
              <a:t>Animal models are vital for alcohol research</a:t>
            </a:r>
          </a:p>
          <a:p>
            <a:r>
              <a:rPr lang="en-US" altLang="en-US" dirty="0">
                <a:ea typeface="Geneva" pitchFamily="121" charset="-128"/>
              </a:rPr>
              <a:t>Animals don’t naturally develop AUD, there is no direct animal model; only specific components of AUD can be modeled</a:t>
            </a:r>
          </a:p>
          <a:p>
            <a:r>
              <a:rPr lang="en-US" altLang="en-US" dirty="0">
                <a:ea typeface="Geneva" pitchFamily="121" charset="-128"/>
              </a:rPr>
              <a:t>Rodent models exist for acquisition and maintenance of drinking, physical dependence, relapse (alcohol seeking), compulsive drinking, and binge-type drinking.</a:t>
            </a:r>
          </a:p>
          <a:p>
            <a:r>
              <a:rPr lang="en-US" altLang="en-US" dirty="0">
                <a:ea typeface="Geneva" pitchFamily="121" charset="-128"/>
              </a:rPr>
              <a:t>Selectively bred alcohol-preferring (AP) and high-alcohol-drinking (HAD) rodents are used to evaluate behavior, neural mechanisms, and genetics of AUD.</a:t>
            </a:r>
          </a:p>
        </p:txBody>
      </p:sp>
    </p:spTree>
    <p:extLst>
      <p:ext uri="{BB962C8B-B14F-4D97-AF65-F5344CB8AC3E}">
        <p14:creationId xmlns:p14="http://schemas.microsoft.com/office/powerpoint/2010/main" val="26220192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38266-67F9-FE4F-A181-CB147E35DF60}"/>
              </a:ext>
            </a:extLst>
          </p:cNvPr>
          <p:cNvSpPr>
            <a:spLocks noGrp="1"/>
          </p:cNvSpPr>
          <p:nvPr>
            <p:ph type="title"/>
          </p:nvPr>
        </p:nvSpPr>
        <p:spPr/>
        <p:txBody>
          <a:bodyPr/>
          <a:lstStyle/>
          <a:p>
            <a:r>
              <a:rPr lang="en-US" cap="all" dirty="0"/>
              <a:t>FIGURE 10.13</a:t>
            </a:r>
            <a:r>
              <a:rPr lang="en-US" dirty="0"/>
              <a:t>  Average daily alcohol consumption for selected generations of rats </a:t>
            </a:r>
          </a:p>
        </p:txBody>
      </p:sp>
      <p:pic>
        <p:nvPicPr>
          <p:cNvPr id="6" name="Content Placeholder 5" descr="A bar graph depicts a daily record of average alcohol consumption. The horizontal axis represents the generation of selective breeding ranging between 8th and 31st day of alcoholic intake. The vertical axis represents the daily alcohol intake in grams per kilograms of body weight ranging between 0 and 10. The approximated data inferred from the graph in the order of days and body weight for A P rats and N P rats are as follows. Males: 8th, 5.5 and 1.5; 16th, 5.6 and 1; 20th, 5.7 and 1.3; 31st, 6 and 0.5. Females: 8th, 5 and 1.8; 16th, 6 and 0.5; 20th, 7 and 1; 31st, 6.5 and 0.2."/>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851670" y="479425"/>
            <a:ext cx="10488661" cy="6300788"/>
          </a:xfrm>
        </p:spPr>
      </p:pic>
    </p:spTree>
    <p:extLst>
      <p:ext uri="{BB962C8B-B14F-4D97-AF65-F5344CB8AC3E}">
        <p14:creationId xmlns:p14="http://schemas.microsoft.com/office/powerpoint/2010/main" val="3043589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Effects of Alcohol </a:t>
            </a:r>
            <a:r>
              <a:rPr lang="en-US" sz="1200" dirty="0"/>
              <a:t>(3 of 10)</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Animal models are vital for alcohol research</a:t>
            </a:r>
          </a:p>
          <a:p>
            <a:pPr>
              <a:spcBef>
                <a:spcPts val="1200"/>
              </a:spcBef>
            </a:pPr>
            <a:r>
              <a:rPr lang="en-US" dirty="0"/>
              <a:t>AP and HAD rat strains have helped identify genes that influence alcohol consumption</a:t>
            </a:r>
          </a:p>
          <a:p>
            <a:pPr>
              <a:spcBef>
                <a:spcPts val="1200"/>
              </a:spcBef>
            </a:pPr>
            <a:r>
              <a:rPr lang="en-US" dirty="0"/>
              <a:t>Experimental results indicate a role for the mGluR2 glutamate receptor in alcohol reinforcement</a:t>
            </a:r>
          </a:p>
          <a:p>
            <a:pPr>
              <a:spcBef>
                <a:spcPts val="1200"/>
              </a:spcBef>
            </a:pPr>
            <a:r>
              <a:rPr lang="en-US" dirty="0"/>
              <a:t>mGluR2-knockout mice show increased alcohol consumption and preference over wild-type mice</a:t>
            </a:r>
          </a:p>
        </p:txBody>
      </p:sp>
    </p:spTree>
    <p:extLst>
      <p:ext uri="{BB962C8B-B14F-4D97-AF65-F5344CB8AC3E}">
        <p14:creationId xmlns:p14="http://schemas.microsoft.com/office/powerpoint/2010/main" val="35632396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BDBD7-6F27-A648-AEC2-DC76031FA557}"/>
              </a:ext>
            </a:extLst>
          </p:cNvPr>
          <p:cNvSpPr>
            <a:spLocks noGrp="1"/>
          </p:cNvSpPr>
          <p:nvPr>
            <p:ph type="title"/>
          </p:nvPr>
        </p:nvSpPr>
        <p:spPr/>
        <p:txBody>
          <a:bodyPr/>
          <a:lstStyle/>
          <a:p>
            <a:r>
              <a:rPr lang="en-US" cap="all" dirty="0"/>
              <a:t>FIGURE 10.14</a:t>
            </a:r>
            <a:r>
              <a:rPr lang="en-US" dirty="0"/>
              <a:t>  Grm2-knockout mice show increased alcohol consumption and preference </a:t>
            </a:r>
          </a:p>
        </p:txBody>
      </p:sp>
      <p:pic>
        <p:nvPicPr>
          <p:cNvPr id="6" name="Content Placeholder 5" descr="A trend graph depicts the alcohol consumption corresponding to the concentration percent. The horizontal axis represents the concentration percent in percent ranging between 3 and 17. The vertical axis represents the consumption in grams per kilograms per day ranging between 0 and 8. The trend for the category G R M 2 plus slash plus increases through the following approximated points: (3, 1); (6, 1); (9, 1); (11, 3); (13, 2); (15, 2.5); and (17, 2). The trend for the category G R M 2 minus slash minus increases through the following approximated points: (3, 1); (6, 1.8); (9, 2); (11, 3.5); (13, 4.5); (15, 6); and (17, 5.5).&#10;&#10;A trend graph depicts the alcohol preference corresponding to the concentration percent. The horizontal axis represents the concentration percent in percent ranging between 3 and 17. The vertical axis represents the preference in percent ranging between 0 and 60. The trend for the category G R M 2 plus slash plus decreases through the following approximated points: (3, 40); (6, 38); (9, 30); (11, 25); (13, 20); (15, 30); and (17, 15). The trend for the category G R M 2 minus slash minus decreases and increases through the following approximated points: (3, 40); (6, 30); (9, 25); (11, 30); (13, 35); (15, 50); and (17, 38).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309709"/>
            <a:ext cx="11376025" cy="4640220"/>
          </a:xfrm>
        </p:spPr>
      </p:pic>
    </p:spTree>
    <p:extLst>
      <p:ext uri="{BB962C8B-B14F-4D97-AF65-F5344CB8AC3E}">
        <p14:creationId xmlns:p14="http://schemas.microsoft.com/office/powerpoint/2010/main" val="2362699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Effects of Alcohol </a:t>
            </a:r>
            <a:r>
              <a:rPr lang="en-US" sz="1200" dirty="0"/>
              <a:t>(4 of 10)</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Alcohol acts on multiple neurotransmitters</a:t>
            </a:r>
          </a:p>
          <a:p>
            <a:pPr>
              <a:spcBef>
                <a:spcPts val="1200"/>
              </a:spcBef>
            </a:pPr>
            <a:r>
              <a:rPr lang="en-US" dirty="0">
                <a:ea typeface="Geneva" pitchFamily="121" charset="-128"/>
              </a:rPr>
              <a:t>Nonspecific actions: cell membrane lipids become more fluid; changes its relationship with membrane proteins</a:t>
            </a:r>
          </a:p>
          <a:p>
            <a:pPr>
              <a:spcBef>
                <a:spcPts val="1200"/>
              </a:spcBef>
            </a:pPr>
            <a:r>
              <a:rPr lang="en-US" dirty="0">
                <a:ea typeface="Geneva" pitchFamily="121" charset="-128"/>
              </a:rPr>
              <a:t>Specific actions: influences ligand-gated channels and alters second-messenger systems</a:t>
            </a:r>
          </a:p>
        </p:txBody>
      </p:sp>
    </p:spTree>
    <p:extLst>
      <p:ext uri="{BB962C8B-B14F-4D97-AF65-F5344CB8AC3E}">
        <p14:creationId xmlns:p14="http://schemas.microsoft.com/office/powerpoint/2010/main" val="2081779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BF577-9354-DC40-8E6C-1E89A96CF15B}"/>
              </a:ext>
            </a:extLst>
          </p:cNvPr>
          <p:cNvSpPr>
            <a:spLocks noGrp="1"/>
          </p:cNvSpPr>
          <p:nvPr>
            <p:ph type="title"/>
          </p:nvPr>
        </p:nvSpPr>
        <p:spPr/>
        <p:txBody>
          <a:bodyPr/>
          <a:lstStyle/>
          <a:p>
            <a:r>
              <a:rPr lang="en-US" cap="all" dirty="0"/>
              <a:t>FIGURE 10.15</a:t>
            </a:r>
            <a:r>
              <a:rPr lang="en-US" dirty="0"/>
              <a:t>  Effects of alcohol on neuronal membranes </a:t>
            </a:r>
          </a:p>
        </p:txBody>
      </p:sp>
      <p:pic>
        <p:nvPicPr>
          <p:cNvPr id="6" name="Content Placeholder 5" descr="An illustration depicts the effects of alcohol on neuronal membranes. An open channel receptor, phospholipids and a secondary messenger system on the plasma membrane. The callouts pointing to the nonspecific sites are as follows: The plasma membrane alters lipid composition, the cell membrane interacts with the polar heads of the phospholipids, and the hydrophilic molecules disturbs the relationship of protein in membrane. The callouts pointing to the specific sites are as follows: The receptor acts at neurotransmitter binding site, the channel modifies gating mechanism, and the secondary messenger sites stimulates the G 5 which is linked to adenylyl cycla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079409" y="479425"/>
            <a:ext cx="10033182" cy="6300788"/>
          </a:xfrm>
        </p:spPr>
      </p:pic>
    </p:spTree>
    <p:extLst>
      <p:ext uri="{BB962C8B-B14F-4D97-AF65-F5344CB8AC3E}">
        <p14:creationId xmlns:p14="http://schemas.microsoft.com/office/powerpoint/2010/main" val="20905682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Effects of Alcohol </a:t>
            </a:r>
            <a:r>
              <a:rPr lang="en-US" sz="1200" dirty="0"/>
              <a:t>(5 of 10)</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Alcohol acts on multiple neurotransmitters</a:t>
            </a:r>
          </a:p>
          <a:p>
            <a:pPr>
              <a:spcBef>
                <a:spcPts val="1200"/>
              </a:spcBef>
            </a:pPr>
            <a:r>
              <a:rPr lang="en-US" dirty="0">
                <a:ea typeface="Geneva" pitchFamily="121" charset="-128"/>
              </a:rPr>
              <a:t>Glutamate: acute alcohol reduces its effect on NMDA receptors; reduces glutamate release in many brain areas; </a:t>
            </a:r>
            <a:r>
              <a:rPr lang="en-US" dirty="0"/>
              <a:t>repeated use results in up-regulation of NMDA receptors</a:t>
            </a:r>
          </a:p>
          <a:p>
            <a:pPr>
              <a:spcBef>
                <a:spcPts val="1200"/>
              </a:spcBef>
            </a:pPr>
            <a:r>
              <a:rPr lang="en-US" dirty="0"/>
              <a:t>During withdrawal, glutamate release increases, correlated with CNS hyperexcitability and seizures; excessive Ca</a:t>
            </a:r>
            <a:r>
              <a:rPr lang="en-US" baseline="30000" dirty="0"/>
              <a:t>2+</a:t>
            </a:r>
            <a:r>
              <a:rPr lang="en-US" dirty="0"/>
              <a:t> influx contributes to cell death. </a:t>
            </a:r>
          </a:p>
          <a:p>
            <a:pPr>
              <a:spcBef>
                <a:spcPts val="1200"/>
              </a:spcBef>
            </a:pPr>
            <a:r>
              <a:rPr lang="en-US" dirty="0"/>
              <a:t>Frequently experienced withdrawal may be responsible for some irreversible brain damage.</a:t>
            </a:r>
          </a:p>
        </p:txBody>
      </p:sp>
    </p:spTree>
    <p:extLst>
      <p:ext uri="{BB962C8B-B14F-4D97-AF65-F5344CB8AC3E}">
        <p14:creationId xmlns:p14="http://schemas.microsoft.com/office/powerpoint/2010/main" val="719868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33A4F-B43E-AD4E-94EE-D8AEF4A17917}"/>
              </a:ext>
            </a:extLst>
          </p:cNvPr>
          <p:cNvSpPr>
            <a:spLocks noGrp="1"/>
          </p:cNvSpPr>
          <p:nvPr>
            <p:ph type="title"/>
          </p:nvPr>
        </p:nvSpPr>
        <p:spPr/>
        <p:txBody>
          <a:bodyPr/>
          <a:lstStyle/>
          <a:p>
            <a:r>
              <a:rPr lang="en-US" cap="all" dirty="0"/>
              <a:t>FIGURE 10.16</a:t>
            </a:r>
            <a:r>
              <a:rPr lang="en-US" dirty="0"/>
              <a:t>  Relationship between alcohol withdrawal and glutamate release </a:t>
            </a:r>
          </a:p>
        </p:txBody>
      </p:sp>
      <p:pic>
        <p:nvPicPr>
          <p:cNvPr id="6" name="Content Placeholder 5" descr="A trend graph depicts the G L U output corresponding to the alcohol withdrawal. The horizontal axis represents the time after last ethanol in hours ranging between 0 and 36. The vertical axis represents the G L U output in picomoles per minutes ranging between 0 and 15. The trend for sucrose withdrawal remains constant through the following approximated points: (0, 5); (6, 5); (12, 5); (24, 5.5); and (36, 5). The trend for alcohol withdrawal increases to a peak and descends through the following approximated points: (0, 4); (6, 5); (12, 13); (24, 9); and (36, 8).&#10;&#10;A bar graph depicts the withdrawal score corresponding to the time intervals of ethanol. The horizontal axis represents the time after last ethanol in hours ranging between 1 and 36. The vertical axis represents the withdrawal score ranging between 0 and 30. The approximated data inferred from the graph is as follows. 1: 4, 6: 14, 12: 29, 24: 27, and 36: 15."/>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929260"/>
            <a:ext cx="11376025" cy="5401117"/>
          </a:xfrm>
        </p:spPr>
      </p:pic>
    </p:spTree>
    <p:extLst>
      <p:ext uri="{BB962C8B-B14F-4D97-AF65-F5344CB8AC3E}">
        <p14:creationId xmlns:p14="http://schemas.microsoft.com/office/powerpoint/2010/main" val="8845941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Effects of Alcohol </a:t>
            </a:r>
            <a:r>
              <a:rPr lang="en-US" sz="1200" dirty="0"/>
              <a:t>(6 of 10)</a:t>
            </a:r>
            <a:endParaRPr lang="en-US" dirty="0"/>
          </a:p>
        </p:txBody>
      </p:sp>
      <p:sp>
        <p:nvSpPr>
          <p:cNvPr id="3" name="Text Placeholder 2"/>
          <p:cNvSpPr>
            <a:spLocks noGrp="1"/>
          </p:cNvSpPr>
          <p:nvPr>
            <p:ph idx="1"/>
          </p:nvPr>
        </p:nvSpPr>
        <p:spPr/>
        <p:txBody>
          <a:bodyPr>
            <a:normAutofit lnSpcReduction="10000"/>
          </a:bodyPr>
          <a:lstStyle/>
          <a:p>
            <a:pPr marL="457200" indent="-457200">
              <a:lnSpc>
                <a:spcPct val="120000"/>
              </a:lnSpc>
              <a:spcBef>
                <a:spcPts val="1200"/>
              </a:spcBef>
              <a:buNone/>
            </a:pPr>
            <a:r>
              <a:rPr lang="en-US" sz="3200" dirty="0"/>
              <a:t>Alcohol acts on multiple neurotransmitters</a:t>
            </a:r>
          </a:p>
          <a:p>
            <a:pPr>
              <a:spcBef>
                <a:spcPts val="1200"/>
              </a:spcBef>
            </a:pPr>
            <a:r>
              <a:rPr lang="en-US" dirty="0"/>
              <a:t>GABA: alcohol increases GABA-induced Cl</a:t>
            </a:r>
            <a:r>
              <a:rPr lang="en-US" baseline="30000" dirty="0"/>
              <a:t>−</a:t>
            </a:r>
            <a:r>
              <a:rPr lang="en-US" dirty="0"/>
              <a:t> flux and hyper-polarization; also stimulates GABA release</a:t>
            </a:r>
          </a:p>
          <a:p>
            <a:pPr>
              <a:spcBef>
                <a:spcPts val="1200"/>
              </a:spcBef>
            </a:pPr>
            <a:r>
              <a:rPr lang="en-US" dirty="0"/>
              <a:t>Some receptors respond to low doses of alcohol in a persistent fashion to the GABA that remains in the extracellular space; may have a role in reinforcing effects.</a:t>
            </a:r>
          </a:p>
          <a:p>
            <a:pPr>
              <a:spcBef>
                <a:spcPts val="1200"/>
              </a:spcBef>
            </a:pPr>
            <a:r>
              <a:rPr lang="en-US" dirty="0"/>
              <a:t>Repeated exposure to ethanol reduces GABA</a:t>
            </a:r>
            <a:r>
              <a:rPr lang="en-US" baseline="-25000" dirty="0"/>
              <a:t>A</a:t>
            </a:r>
            <a:r>
              <a:rPr lang="en-US" dirty="0"/>
              <a:t>-mediated Cl</a:t>
            </a:r>
            <a:r>
              <a:rPr lang="en-US" baseline="30000" dirty="0"/>
              <a:t>–</a:t>
            </a:r>
            <a:r>
              <a:rPr lang="en-US" dirty="0"/>
              <a:t> flux; may contribute to tolerance and withdrawal</a:t>
            </a:r>
          </a:p>
          <a:p>
            <a:pPr>
              <a:spcBef>
                <a:spcPts val="1200"/>
              </a:spcBef>
            </a:pPr>
            <a:r>
              <a:rPr lang="en-US" altLang="en-US" dirty="0"/>
              <a:t>Alcohol also impacts metabotropic GABA</a:t>
            </a:r>
            <a:r>
              <a:rPr lang="en-US" altLang="en-US" baseline="-25000" dirty="0"/>
              <a:t>B</a:t>
            </a:r>
            <a:r>
              <a:rPr lang="en-US" altLang="en-US" dirty="0"/>
              <a:t> receptors</a:t>
            </a:r>
            <a:endParaRPr lang="en-US" dirty="0"/>
          </a:p>
        </p:txBody>
      </p:sp>
    </p:spTree>
    <p:extLst>
      <p:ext uri="{BB962C8B-B14F-4D97-AF65-F5344CB8AC3E}">
        <p14:creationId xmlns:p14="http://schemas.microsoft.com/office/powerpoint/2010/main" val="11994987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Effects of Alcohol </a:t>
            </a:r>
            <a:r>
              <a:rPr lang="en-US" sz="1200" dirty="0"/>
              <a:t>(7 of 10)</a:t>
            </a:r>
            <a:endParaRPr lang="en-US" dirty="0"/>
          </a:p>
        </p:txBody>
      </p:sp>
      <p:sp>
        <p:nvSpPr>
          <p:cNvPr id="3" name="Text Placeholder 2"/>
          <p:cNvSpPr>
            <a:spLocks noGrp="1"/>
          </p:cNvSpPr>
          <p:nvPr>
            <p:ph idx="1"/>
          </p:nvPr>
        </p:nvSpPr>
        <p:spPr/>
        <p:txBody>
          <a:bodyPr>
            <a:normAutofit lnSpcReduction="10000"/>
          </a:bodyPr>
          <a:lstStyle/>
          <a:p>
            <a:pPr marL="457200" indent="-457200">
              <a:lnSpc>
                <a:spcPct val="120000"/>
              </a:lnSpc>
              <a:spcBef>
                <a:spcPts val="1200"/>
              </a:spcBef>
              <a:buNone/>
            </a:pPr>
            <a:r>
              <a:rPr lang="en-US" sz="3200" dirty="0"/>
              <a:t>Alcohol acts on multiple neurotransmitters</a:t>
            </a:r>
          </a:p>
          <a:p>
            <a:pPr>
              <a:spcBef>
                <a:spcPts val="1200"/>
              </a:spcBef>
            </a:pPr>
            <a:r>
              <a:rPr lang="en-US" dirty="0"/>
              <a:t>Dopamine: activates dopaminergic cells in the VTA, causing release of DA in the </a:t>
            </a:r>
            <a:r>
              <a:rPr lang="en-US" dirty="0" err="1"/>
              <a:t>NAcc</a:t>
            </a:r>
            <a:r>
              <a:rPr lang="en-US" dirty="0"/>
              <a:t>, which is involved in positive reinforcement</a:t>
            </a:r>
          </a:p>
          <a:p>
            <a:pPr>
              <a:spcBef>
                <a:spcPts val="1200"/>
              </a:spcBef>
            </a:pPr>
            <a:r>
              <a:rPr lang="en-US" altLang="en-US" dirty="0"/>
              <a:t>Increased dopaminergic transmission in the mesolimbic pathway occurs in response to most drugs of abuse, including alcohol</a:t>
            </a:r>
          </a:p>
          <a:p>
            <a:pPr>
              <a:spcBef>
                <a:spcPts val="1200"/>
              </a:spcBef>
            </a:pPr>
            <a:r>
              <a:rPr lang="en-US" dirty="0"/>
              <a:t>In rodents, withdrawal after chronic alcohol use reduces firing rate of mesolimbic neurons and decreases DA release in the </a:t>
            </a:r>
            <a:r>
              <a:rPr lang="en-US" dirty="0" err="1"/>
              <a:t>Nacc</a:t>
            </a:r>
            <a:endParaRPr lang="en-US" dirty="0"/>
          </a:p>
          <a:p>
            <a:pPr>
              <a:spcBef>
                <a:spcPts val="1200"/>
              </a:spcBef>
            </a:pPr>
            <a:r>
              <a:rPr lang="en-US" dirty="0"/>
              <a:t>Reduction in mesolimbic DA is also reflected in a rebound depression of reinforcement mechanisms</a:t>
            </a:r>
          </a:p>
        </p:txBody>
      </p:sp>
    </p:spTree>
    <p:extLst>
      <p:ext uri="{BB962C8B-B14F-4D97-AF65-F5344CB8AC3E}">
        <p14:creationId xmlns:p14="http://schemas.microsoft.com/office/powerpoint/2010/main" val="22624827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C2F94-9383-EC4F-9A2A-A9D6E978ED9B}"/>
              </a:ext>
            </a:extLst>
          </p:cNvPr>
          <p:cNvSpPr>
            <a:spLocks noGrp="1"/>
          </p:cNvSpPr>
          <p:nvPr>
            <p:ph type="title"/>
          </p:nvPr>
        </p:nvSpPr>
        <p:spPr/>
        <p:txBody>
          <a:bodyPr/>
          <a:lstStyle/>
          <a:p>
            <a:r>
              <a:rPr lang="en-US" cap="all" dirty="0"/>
              <a:t>FIGURE 10.18</a:t>
            </a:r>
            <a:r>
              <a:rPr lang="en-US" dirty="0"/>
              <a:t>  Dopamine turnover and alcohol withdrawal (Part 1)</a:t>
            </a:r>
          </a:p>
        </p:txBody>
      </p:sp>
      <p:pic>
        <p:nvPicPr>
          <p:cNvPr id="6" name="Content Placeholder 5" descr="A set of three trend graphs depicting the ethanol withdrawal and control corresponding to the time interval of injection. In all three graphs, the horizontal axis represents the time from last injection in hours ranging between 0 and 14. In the first graph, the vertical axis represents the DA in picograms per sample ranging between 0 and 60. The trend for control remains constant through the following approximated points: (1, 36); (2, 37); (3, 36); (4, 37); (5, 36); (6, 35); (7, 35); (8, 34); (9, 35); (10, 34); (11, 34); and (12, 35). The trend for ethanol withdrawal decreases through the following approximated points: (1, 55); (2, 56); (3, 40); (4, 35); (5, 30); (6, 25); (7, 20); (8, 15); (9, 14); (10, 12); (11, 12); and (12, 14). In the second graph, the vertical axis represents the D O P A C in nanograms per sample ranging between 2 and 6. The trend for control decreases through the following approximated points: (1, 5.2); (2, 5.3); (3, 5.3); (4, 5.2); (5, 5); (6, 4.9); (7, 4.8); (8, 5); (9, 4.6); (10, 4.5); (11, 4.5); and (12, 4.6). The trend for ethanol withdrawal decreases through the following approximated points: (1, 6.5); (2, 6.2); (3, 5.5); (4, 5.3); (5, 5); (6, 4.8); (7, 4); (8, 3.5); (9, 3.3); (10, 3.4); (11, 3.3); and (12, 3.5). In the third graph, the vertical axis represents the HVA in nanograms per sample ranging between 2 and 6. The trend for control decreases through the following approximated points: (1, 4.4); (2, 4.5); (3, 4.4); (4, 4.2); (5, 4.5); (6, 4.4); (7, 4.3); (8, 4.2); (9, 4.3); (10, 3.9); (11, 4); and (12, 3.9). The trend for ethanol withdrawal decreases through the following approximated points: (1, 5.5); (2, 5.4); (3, 5); (4, 4.9); (5, 4.5); (6, 4.1); (7, 4); (8, 3.1); (9, 3); (10, 2.9); (11, 2.6); and (12, 2.5).&#10;&#1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248782" y="479425"/>
            <a:ext cx="3694437" cy="6300788"/>
          </a:xfrm>
        </p:spPr>
      </p:pic>
    </p:spTree>
    <p:extLst>
      <p:ext uri="{BB962C8B-B14F-4D97-AF65-F5344CB8AC3E}">
        <p14:creationId xmlns:p14="http://schemas.microsoft.com/office/powerpoint/2010/main" val="14786058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F0EBD-02B6-5D45-87B6-4BD11B8E2CBA}"/>
              </a:ext>
            </a:extLst>
          </p:cNvPr>
          <p:cNvSpPr>
            <a:spLocks noGrp="1"/>
          </p:cNvSpPr>
          <p:nvPr>
            <p:ph type="title"/>
          </p:nvPr>
        </p:nvSpPr>
        <p:spPr/>
        <p:txBody>
          <a:bodyPr/>
          <a:lstStyle/>
          <a:p>
            <a:r>
              <a:rPr lang="en-US" cap="all" dirty="0"/>
              <a:t>FIGURE 10.18</a:t>
            </a:r>
            <a:r>
              <a:rPr lang="en-US" dirty="0"/>
              <a:t>  Dopamine turnover and alcohol withdrawal (Part 2)</a:t>
            </a:r>
          </a:p>
        </p:txBody>
      </p:sp>
      <p:pic>
        <p:nvPicPr>
          <p:cNvPr id="6" name="Content Placeholder 5" descr="A bar graph depicts the withdrawal score corresponding to the alcohol group and the control of animals. The horizontal axis represents the time from last injection in hours ranging between 0 and 14. The vertical axis represents the withdrawal score in arbitrary units ranging between 0 and 30. The approximated data inferred from the graph in the order of time and corresponding withdrawal score for the two categories of control animals and alcohol group are as follows. 2: 8 and 4; 4: 6 and 8; 6: 9 and 11; 8: 8 and 24; 10: 7 and 25; 12: 8 and 25.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016148" y="479425"/>
            <a:ext cx="10159704" cy="6300788"/>
          </a:xfrm>
        </p:spPr>
      </p:pic>
    </p:spTree>
    <p:extLst>
      <p:ext uri="{BB962C8B-B14F-4D97-AF65-F5344CB8AC3E}">
        <p14:creationId xmlns:p14="http://schemas.microsoft.com/office/powerpoint/2010/main" val="31054518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756FC-FFE0-0947-9B8D-CD953B02A91B}"/>
              </a:ext>
            </a:extLst>
          </p:cNvPr>
          <p:cNvSpPr>
            <a:spLocks noGrp="1"/>
          </p:cNvSpPr>
          <p:nvPr>
            <p:ph type="title"/>
          </p:nvPr>
        </p:nvSpPr>
        <p:spPr/>
        <p:txBody>
          <a:bodyPr/>
          <a:lstStyle/>
          <a:p>
            <a:r>
              <a:rPr lang="en-US" cap="all" dirty="0"/>
              <a:t>FIGURE 10.19</a:t>
            </a:r>
            <a:r>
              <a:rPr lang="en-US" dirty="0"/>
              <a:t>  Rebound depression of reinforcement during withdrawal </a:t>
            </a:r>
          </a:p>
        </p:txBody>
      </p:sp>
      <p:pic>
        <p:nvPicPr>
          <p:cNvPr id="6" name="Content Placeholder 5" descr="A trend graph depicts the rebound depression of reinforcement during the alcohol withdrawal. The horizontal axis represents the time in hours ranging between 2 and 120. The vertical axis represents the percent of baseline threshold ranging between 100 and 160. The trend for ethanol withdrawal increases and then descends through the following approximated points: (2, 125); (4, 126); (6, 142); (8, 138); (12, 130); (24, 125); (48, 116); (72, 105); (96, 105); and (120, 106). The trend for control condition fluctuates through the following approximated points: (2, 100); (4, 102); (6, 98); (8, 104); (12, 102); (24, 108); (48, 90); (72, 88); (96, 88); and (120, 9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946561" y="479425"/>
            <a:ext cx="10298878" cy="6300788"/>
          </a:xfrm>
        </p:spPr>
      </p:pic>
    </p:spTree>
    <p:extLst>
      <p:ext uri="{BB962C8B-B14F-4D97-AF65-F5344CB8AC3E}">
        <p14:creationId xmlns:p14="http://schemas.microsoft.com/office/powerpoint/2010/main" val="6005555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Effects of Alcohol </a:t>
            </a:r>
            <a:r>
              <a:rPr lang="en-US" sz="1200" dirty="0"/>
              <a:t>(8 of 10)</a:t>
            </a:r>
            <a:endParaRPr lang="en-US" dirty="0"/>
          </a:p>
        </p:txBody>
      </p:sp>
      <p:sp>
        <p:nvSpPr>
          <p:cNvPr id="3" name="Text Placeholder 2"/>
          <p:cNvSpPr>
            <a:spLocks noGrp="1"/>
          </p:cNvSpPr>
          <p:nvPr>
            <p:ph idx="1"/>
          </p:nvPr>
        </p:nvSpPr>
        <p:spPr/>
        <p:txBody>
          <a:bodyPr>
            <a:normAutofit fontScale="92500" lnSpcReduction="20000"/>
          </a:bodyPr>
          <a:lstStyle/>
          <a:p>
            <a:pPr marL="457200" indent="-457200">
              <a:lnSpc>
                <a:spcPct val="120000"/>
              </a:lnSpc>
              <a:spcBef>
                <a:spcPts val="1200"/>
              </a:spcBef>
              <a:buNone/>
            </a:pPr>
            <a:r>
              <a:rPr lang="en-US" sz="3500" dirty="0"/>
              <a:t>Alcohol acts on multiple neurotransmitters</a:t>
            </a:r>
          </a:p>
          <a:p>
            <a:pPr>
              <a:spcBef>
                <a:spcPts val="1200"/>
              </a:spcBef>
            </a:pPr>
            <a:r>
              <a:rPr lang="en-US" dirty="0"/>
              <a:t>Opioid systems: endorphins contribute to the reinforcing effects of alcohol; enhances release from the pituitary gland</a:t>
            </a:r>
          </a:p>
          <a:p>
            <a:pPr>
              <a:spcBef>
                <a:spcPts val="1200"/>
              </a:spcBef>
            </a:pPr>
            <a:r>
              <a:rPr lang="en-US" dirty="0"/>
              <a:t>But chronic alcohol use reduces gene expression, making less endogenous opioids available for release</a:t>
            </a:r>
          </a:p>
          <a:p>
            <a:pPr>
              <a:spcBef>
                <a:spcPts val="1200"/>
              </a:spcBef>
            </a:pPr>
            <a:r>
              <a:rPr lang="en-US" dirty="0"/>
              <a:t>Blocking opioid receptors reduces alcohol self-administration. </a:t>
            </a:r>
            <a:r>
              <a:rPr lang="el-GR" dirty="0"/>
              <a:t>μ-</a:t>
            </a:r>
            <a:r>
              <a:rPr lang="en-US" dirty="0"/>
              <a:t>opioid receptor knockout mice fail to self-administer ethanol. </a:t>
            </a:r>
          </a:p>
          <a:p>
            <a:pPr>
              <a:spcBef>
                <a:spcPts val="1200"/>
              </a:spcBef>
            </a:pPr>
            <a:r>
              <a:rPr lang="en-US" dirty="0"/>
              <a:t>High levels of </a:t>
            </a:r>
            <a:r>
              <a:rPr lang="el-GR" dirty="0"/>
              <a:t>μ-</a:t>
            </a:r>
            <a:r>
              <a:rPr lang="en-US" dirty="0"/>
              <a:t>opioid receptors correlate with scores on craving</a:t>
            </a:r>
          </a:p>
          <a:p>
            <a:pPr>
              <a:spcBef>
                <a:spcPts val="1200"/>
              </a:spcBef>
            </a:pPr>
            <a:r>
              <a:rPr lang="en-US" dirty="0"/>
              <a:t>AP rats release more opioids in response to alcohol and show enhanced opioid gene expression.</a:t>
            </a:r>
          </a:p>
        </p:txBody>
      </p:sp>
    </p:spTree>
    <p:extLst>
      <p:ext uri="{BB962C8B-B14F-4D97-AF65-F5344CB8AC3E}">
        <p14:creationId xmlns:p14="http://schemas.microsoft.com/office/powerpoint/2010/main" val="11893140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Effects of Alcohol </a:t>
            </a:r>
            <a:r>
              <a:rPr lang="en-US" sz="1200" dirty="0"/>
              <a:t>(9 of 10)</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Alcohol acts on multiple neurotransmitters</a:t>
            </a:r>
          </a:p>
          <a:p>
            <a:pPr>
              <a:spcBef>
                <a:spcPts val="1200"/>
              </a:spcBef>
            </a:pPr>
            <a:r>
              <a:rPr lang="en-US" dirty="0"/>
              <a:t>Other transmitters: m</a:t>
            </a:r>
            <a:r>
              <a:rPr lang="en-US" altLang="en-US" dirty="0"/>
              <a:t>any more interacting neurotransmitter systems have been implicated in the action of alcohol</a:t>
            </a:r>
          </a:p>
          <a:p>
            <a:r>
              <a:rPr lang="en-US" altLang="en-US" dirty="0"/>
              <a:t>Alcohol can cause changes in cell signaling, including those regulated by second messengers.</a:t>
            </a:r>
          </a:p>
          <a:p>
            <a:r>
              <a:rPr lang="en-US" altLang="en-US" dirty="0"/>
              <a:t>Phosphorylation of transcription factor CREB may be responsible for long-term changes in cell function, including altered gene expression.</a:t>
            </a:r>
            <a:endParaRPr lang="en-US" dirty="0"/>
          </a:p>
        </p:txBody>
      </p:sp>
    </p:spTree>
    <p:extLst>
      <p:ext uri="{BB962C8B-B14F-4D97-AF65-F5344CB8AC3E}">
        <p14:creationId xmlns:p14="http://schemas.microsoft.com/office/powerpoint/2010/main" val="891862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Neurochemical Effects of Alcohol </a:t>
            </a:r>
            <a:r>
              <a:rPr lang="en-US" sz="1200" dirty="0"/>
              <a:t>(10 of 10)</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2</a:t>
            </a:r>
          </a:p>
          <a:p>
            <a:pPr marL="457200" indent="-457200">
              <a:spcBef>
                <a:spcPts val="2400"/>
              </a:spcBef>
              <a:buNone/>
            </a:pPr>
            <a:r>
              <a:rPr lang="en-US" sz="3200" dirty="0"/>
              <a:t>Acute alcohol administration _______ the effect of glutamate at NMDA receptors, and _______ glutamate release in the brain.</a:t>
            </a:r>
          </a:p>
          <a:p>
            <a:pPr marL="914400" indent="-457200">
              <a:spcBef>
                <a:spcPts val="1200"/>
              </a:spcBef>
              <a:buFont typeface="Arial" pitchFamily="34" charset="0"/>
              <a:buAutoNum type="alphaLcPeriod"/>
            </a:pPr>
            <a:r>
              <a:rPr lang="en-US" sz="3200" dirty="0"/>
              <a:t>increases; increases</a:t>
            </a:r>
          </a:p>
          <a:p>
            <a:pPr marL="914400" indent="-457200">
              <a:spcBef>
                <a:spcPts val="1200"/>
              </a:spcBef>
              <a:buFont typeface="Arial" pitchFamily="34" charset="0"/>
              <a:buAutoNum type="alphaLcPeriod"/>
            </a:pPr>
            <a:r>
              <a:rPr lang="en-US" sz="3200" dirty="0"/>
              <a:t>increases; decreases</a:t>
            </a:r>
          </a:p>
          <a:p>
            <a:pPr marL="914400" indent="-457200">
              <a:spcBef>
                <a:spcPts val="1200"/>
              </a:spcBef>
              <a:buFont typeface="Arial" pitchFamily="34" charset="0"/>
              <a:buAutoNum type="alphaLcPeriod"/>
            </a:pPr>
            <a:r>
              <a:rPr lang="en-US" sz="3200" dirty="0"/>
              <a:t>decreases; decreases</a:t>
            </a:r>
          </a:p>
          <a:p>
            <a:pPr marL="914400" indent="-457200">
              <a:spcBef>
                <a:spcPts val="1200"/>
              </a:spcBef>
              <a:buFont typeface="Arial" pitchFamily="34" charset="0"/>
              <a:buAutoNum type="alphaLcPeriod"/>
            </a:pPr>
            <a:r>
              <a:rPr lang="en-US" sz="3200" dirty="0"/>
              <a:t>decreases; increases</a:t>
            </a:r>
          </a:p>
        </p:txBody>
      </p:sp>
    </p:spTree>
    <p:extLst>
      <p:ext uri="{BB962C8B-B14F-4D97-AF65-F5344CB8AC3E}">
        <p14:creationId xmlns:p14="http://schemas.microsoft.com/office/powerpoint/2010/main" val="14854923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p:txBody>
          <a:bodyPr>
            <a:normAutofit fontScale="85000" lnSpcReduction="10000"/>
          </a:bodyPr>
          <a:lstStyle/>
          <a:p>
            <a:pPr marL="914400" indent="-914400">
              <a:spcBef>
                <a:spcPts val="1200"/>
              </a:spcBef>
              <a:buNone/>
            </a:pPr>
            <a:r>
              <a:rPr lang="en-US" dirty="0"/>
              <a:t>10.2.1  Describe how animal models can be used to examine the behavioral, neural, and genetic bases of AUD.</a:t>
            </a:r>
          </a:p>
          <a:p>
            <a:pPr marL="914400" indent="-914400">
              <a:spcBef>
                <a:spcPts val="1200"/>
              </a:spcBef>
              <a:buNone/>
            </a:pPr>
            <a:r>
              <a:rPr lang="en-US" dirty="0"/>
              <a:t>10.2.2  Explain how alcohol acutely modulates glutamate neurotransmission, in terms of both pre- and post-synaptic mechanisms. </a:t>
            </a:r>
          </a:p>
          <a:p>
            <a:pPr marL="914400" indent="-914400">
              <a:spcBef>
                <a:spcPts val="1200"/>
              </a:spcBef>
              <a:buNone/>
            </a:pPr>
            <a:r>
              <a:rPr lang="en-US" dirty="0"/>
              <a:t>10.2.3  Describe how the effects of chronic alcohol use on glutamate neurotransmission contribute to excitotoxicity and reduced seizure threshold during withdrawal.</a:t>
            </a:r>
          </a:p>
          <a:p>
            <a:pPr marL="914400" indent="-914400">
              <a:spcBef>
                <a:spcPts val="1200"/>
              </a:spcBef>
              <a:buNone/>
            </a:pPr>
            <a:r>
              <a:rPr lang="en-US" dirty="0"/>
              <a:t>10.2.4  Explain how alcohol acutely enhances GABA-mediated neural inhibition.</a:t>
            </a:r>
          </a:p>
          <a:p>
            <a:pPr marL="914400" indent="-914400">
              <a:spcBef>
                <a:spcPts val="1200"/>
              </a:spcBef>
              <a:buNone/>
            </a:pPr>
            <a:r>
              <a:rPr lang="en-US" dirty="0"/>
              <a:t>10.2.5  Describe how chronic alcohol consumption alters GABAergic neurotransmission. </a:t>
            </a:r>
          </a:p>
          <a:p>
            <a:pPr marL="914400" indent="-914400">
              <a:spcBef>
                <a:spcPts val="1200"/>
              </a:spcBef>
              <a:buNone/>
            </a:pPr>
            <a:r>
              <a:rPr lang="en-US" dirty="0"/>
              <a:t>10.2.6  Identify the evidence for the role of mesolimbic dopamine and brain opioid systems in mediating the reinforcing properties of alcohol.</a:t>
            </a:r>
          </a:p>
        </p:txBody>
      </p:sp>
    </p:spTree>
    <p:extLst>
      <p:ext uri="{BB962C8B-B14F-4D97-AF65-F5344CB8AC3E}">
        <p14:creationId xmlns:p14="http://schemas.microsoft.com/office/powerpoint/2010/main" val="1070511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Alcohol Use Disorder (AUD) </a:t>
            </a:r>
            <a:r>
              <a:rPr lang="en-US" sz="1200" dirty="0"/>
              <a:t>(1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Defining AUD and estimating its incidence have proved difficult</a:t>
            </a:r>
          </a:p>
          <a:p>
            <a:pPr>
              <a:spcBef>
                <a:spcPts val="1200"/>
              </a:spcBef>
            </a:pPr>
            <a:r>
              <a:rPr lang="en-US" dirty="0"/>
              <a:t>AUD is difficult to define: frequency and pattern of use are as significant as the total amount consumed</a:t>
            </a:r>
          </a:p>
          <a:p>
            <a:pPr>
              <a:spcBef>
                <a:spcPts val="1200"/>
              </a:spcBef>
            </a:pPr>
            <a:r>
              <a:rPr lang="en-US" altLang="en-US" b="1" dirty="0"/>
              <a:t>Binge drinking: </a:t>
            </a:r>
            <a:r>
              <a:rPr lang="en-US" altLang="en-US" dirty="0"/>
              <a:t>drinking five drinks in a row (men) or four (women)</a:t>
            </a:r>
          </a:p>
          <a:p>
            <a:pPr>
              <a:spcBef>
                <a:spcPts val="1200"/>
              </a:spcBef>
            </a:pPr>
            <a:r>
              <a:rPr lang="en-US" altLang="en-US" dirty="0"/>
              <a:t>Diagnosis of AUD depends on identifying a cluster of behavioral, cognitive, and physical characteristics</a:t>
            </a:r>
          </a:p>
          <a:p>
            <a:pPr>
              <a:spcBef>
                <a:spcPts val="1200"/>
              </a:spcBef>
            </a:pPr>
            <a:r>
              <a:rPr lang="en-US" dirty="0"/>
              <a:t>For a clinician, the essential features of AUD are compulsive alcohol seeking and use despite damaging consequences</a:t>
            </a:r>
          </a:p>
        </p:txBody>
      </p:sp>
    </p:spTree>
    <p:extLst>
      <p:ext uri="{BB962C8B-B14F-4D97-AF65-F5344CB8AC3E}">
        <p14:creationId xmlns:p14="http://schemas.microsoft.com/office/powerpoint/2010/main" val="23277563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Alcohol Use Disorder (AUD) </a:t>
            </a:r>
            <a:r>
              <a:rPr lang="en-US" sz="1200" dirty="0"/>
              <a:t>(2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Defining AUD and estimating its incidence have proved difficult</a:t>
            </a:r>
          </a:p>
          <a:p>
            <a:pPr>
              <a:spcBef>
                <a:spcPts val="1200"/>
              </a:spcBef>
            </a:pPr>
            <a:r>
              <a:rPr lang="en-US" dirty="0"/>
              <a:t>Attempts to classify subtypes of alcohol users based on alcohol-induced defining characteristics:</a:t>
            </a:r>
          </a:p>
          <a:p>
            <a:pPr lvl="1">
              <a:spcBef>
                <a:spcPts val="1200"/>
              </a:spcBef>
            </a:pPr>
            <a:r>
              <a:rPr lang="en-US" dirty="0"/>
              <a:t>Type I and II</a:t>
            </a:r>
          </a:p>
          <a:p>
            <a:pPr lvl="1">
              <a:spcBef>
                <a:spcPts val="1200"/>
              </a:spcBef>
            </a:pPr>
            <a:r>
              <a:rPr lang="en-US" dirty="0"/>
              <a:t>Type A and B</a:t>
            </a:r>
          </a:p>
          <a:p>
            <a:r>
              <a:rPr lang="en-US" altLang="en-US" dirty="0">
                <a:ea typeface="Geneva" pitchFamily="121" charset="-128"/>
              </a:rPr>
              <a:t>Different definitions of AUD have led to large differences in estimated incidence; commonly accepted statistic: about 10% of Americans have some problem with alcohol use</a:t>
            </a:r>
            <a:endParaRPr lang="en-US" dirty="0"/>
          </a:p>
        </p:txBody>
      </p:sp>
    </p:spTree>
    <p:extLst>
      <p:ext uri="{BB962C8B-B14F-4D97-AF65-F5344CB8AC3E}">
        <p14:creationId xmlns:p14="http://schemas.microsoft.com/office/powerpoint/2010/main" val="36891304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Alcohol Use Disorder (AUD) </a:t>
            </a:r>
            <a:r>
              <a:rPr lang="en-US" sz="1200" dirty="0"/>
              <a:t>(3 of 12)</a:t>
            </a:r>
            <a:endParaRPr lang="en-US" dirty="0"/>
          </a:p>
        </p:txBody>
      </p:sp>
      <p:sp>
        <p:nvSpPr>
          <p:cNvPr id="3" name="Text Placeholder 2"/>
          <p:cNvSpPr>
            <a:spLocks noGrp="1"/>
          </p:cNvSpPr>
          <p:nvPr>
            <p:ph idx="1"/>
          </p:nvPr>
        </p:nvSpPr>
        <p:spPr>
          <a:xfrm>
            <a:off x="609600" y="1825123"/>
            <a:ext cx="10972800" cy="4725581"/>
          </a:xfrm>
        </p:spPr>
        <p:txBody>
          <a:bodyPr>
            <a:normAutofit/>
          </a:bodyPr>
          <a:lstStyle/>
          <a:p>
            <a:pPr marL="457200" indent="-457200">
              <a:lnSpc>
                <a:spcPct val="110000"/>
              </a:lnSpc>
              <a:spcBef>
                <a:spcPts val="1200"/>
              </a:spcBef>
              <a:buNone/>
            </a:pPr>
            <a:r>
              <a:rPr lang="en-US" sz="3200" dirty="0"/>
              <a:t>Defining AUD and estimating its incidence have proved difficult</a:t>
            </a:r>
          </a:p>
          <a:p>
            <a:pPr>
              <a:spcBef>
                <a:spcPts val="1200"/>
              </a:spcBef>
            </a:pPr>
            <a:r>
              <a:rPr lang="en-US" dirty="0"/>
              <a:t>College-age students: increases in alcohol-related injuries and death from overdose; significant number report alcohol-related problems but only 1% believed they had a drinking problem</a:t>
            </a:r>
          </a:p>
          <a:p>
            <a:r>
              <a:rPr lang="en-US" altLang="en-US" dirty="0">
                <a:ea typeface="Geneva" pitchFamily="121" charset="-128"/>
              </a:rPr>
              <a:t>The younger individuals are when they begin drinking (&lt; 13), the greater the probability they will develop AUD; early drinking also predicts other risky behaviors</a:t>
            </a:r>
          </a:p>
          <a:p>
            <a:r>
              <a:rPr lang="en-US" altLang="en-US" dirty="0">
                <a:ea typeface="Geneva" pitchFamily="121" charset="-128"/>
              </a:rPr>
              <a:t>Adolescents more vulnerable to alcohol-induced neurological deficits</a:t>
            </a:r>
          </a:p>
        </p:txBody>
      </p:sp>
    </p:spTree>
    <p:extLst>
      <p:ext uri="{BB962C8B-B14F-4D97-AF65-F5344CB8AC3E}">
        <p14:creationId xmlns:p14="http://schemas.microsoft.com/office/powerpoint/2010/main" val="21573269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Alcohol Use Disorder (AUD) </a:t>
            </a:r>
            <a:r>
              <a:rPr lang="en-US" sz="1200" dirty="0"/>
              <a:t>(4 of 12)</a:t>
            </a:r>
            <a:endParaRPr lang="en-US" dirty="0"/>
          </a:p>
        </p:txBody>
      </p:sp>
      <p:sp>
        <p:nvSpPr>
          <p:cNvPr id="3" name="Text Placeholder 2"/>
          <p:cNvSpPr>
            <a:spLocks noGrp="1"/>
          </p:cNvSpPr>
          <p:nvPr>
            <p:ph idx="1"/>
          </p:nvPr>
        </p:nvSpPr>
        <p:spPr/>
        <p:txBody>
          <a:bodyPr>
            <a:normAutofit fontScale="92500" lnSpcReduction="10000"/>
          </a:bodyPr>
          <a:lstStyle/>
          <a:p>
            <a:pPr marL="457200" indent="-457200">
              <a:lnSpc>
                <a:spcPct val="120000"/>
              </a:lnSpc>
              <a:spcBef>
                <a:spcPts val="1200"/>
              </a:spcBef>
              <a:buNone/>
            </a:pPr>
            <a:r>
              <a:rPr lang="en-US" sz="3500" dirty="0"/>
              <a:t>The causes of AUD are multimodal</a:t>
            </a:r>
          </a:p>
          <a:p>
            <a:pPr>
              <a:spcBef>
                <a:spcPts val="1200"/>
              </a:spcBef>
            </a:pPr>
            <a:r>
              <a:rPr lang="en-US" dirty="0"/>
              <a:t>No specific cause of AUD has been identified; a variety of factors contribute to vulnerability of any given individual</a:t>
            </a:r>
          </a:p>
          <a:p>
            <a:pPr>
              <a:spcBef>
                <a:spcPts val="1200"/>
              </a:spcBef>
            </a:pPr>
            <a:r>
              <a:rPr lang="en-US" dirty="0"/>
              <a:t>Psychological factors:</a:t>
            </a:r>
          </a:p>
          <a:p>
            <a:pPr lvl="1">
              <a:spcBef>
                <a:spcPts val="1200"/>
              </a:spcBef>
            </a:pPr>
            <a:r>
              <a:rPr lang="en-US" dirty="0"/>
              <a:t>Stress reduces or increases alcohol consumption under different conditions</a:t>
            </a:r>
          </a:p>
          <a:p>
            <a:pPr lvl="1">
              <a:spcBef>
                <a:spcPts val="1200"/>
              </a:spcBef>
            </a:pPr>
            <a:r>
              <a:rPr lang="en-US" dirty="0"/>
              <a:t>Family history</a:t>
            </a:r>
          </a:p>
          <a:p>
            <a:pPr lvl="1">
              <a:spcBef>
                <a:spcPts val="1200"/>
              </a:spcBef>
            </a:pPr>
            <a:r>
              <a:rPr lang="en-US" dirty="0"/>
              <a:t>Lifetime anxiety, especially early in life</a:t>
            </a:r>
          </a:p>
          <a:p>
            <a:pPr lvl="1">
              <a:spcBef>
                <a:spcPts val="1200"/>
              </a:spcBef>
            </a:pPr>
            <a:r>
              <a:rPr lang="en-US" dirty="0"/>
              <a:t>Personality/novelty seeking and risk taking</a:t>
            </a:r>
          </a:p>
        </p:txBody>
      </p:sp>
    </p:spTree>
    <p:extLst>
      <p:ext uri="{BB962C8B-B14F-4D97-AF65-F5344CB8AC3E}">
        <p14:creationId xmlns:p14="http://schemas.microsoft.com/office/powerpoint/2010/main" val="27020399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Alcohol Use Disorder (AUD) </a:t>
            </a:r>
            <a:r>
              <a:rPr lang="en-US" sz="1200" dirty="0"/>
              <a:t>(5 of 12)</a:t>
            </a:r>
            <a:endParaRPr lang="en-US" dirty="0"/>
          </a:p>
        </p:txBody>
      </p:sp>
      <p:sp>
        <p:nvSpPr>
          <p:cNvPr id="3" name="Text Placeholder 2"/>
          <p:cNvSpPr>
            <a:spLocks noGrp="1"/>
          </p:cNvSpPr>
          <p:nvPr>
            <p:ph idx="1"/>
          </p:nvPr>
        </p:nvSpPr>
        <p:spPr/>
        <p:txBody>
          <a:bodyPr>
            <a:normAutofit fontScale="85000" lnSpcReduction="10000"/>
          </a:bodyPr>
          <a:lstStyle/>
          <a:p>
            <a:pPr marL="457200" indent="-457200">
              <a:lnSpc>
                <a:spcPct val="130000"/>
              </a:lnSpc>
              <a:spcBef>
                <a:spcPts val="1200"/>
              </a:spcBef>
              <a:buNone/>
            </a:pPr>
            <a:r>
              <a:rPr lang="en-US" sz="3500" dirty="0"/>
              <a:t>The causes of AUD are multimodal</a:t>
            </a:r>
          </a:p>
          <a:p>
            <a:pPr>
              <a:spcBef>
                <a:spcPts val="1200"/>
              </a:spcBef>
            </a:pPr>
            <a:r>
              <a:rPr lang="en-US" dirty="0"/>
              <a:t>Neurobiological factors: genetic vulnerability – </a:t>
            </a:r>
            <a:r>
              <a:rPr lang="en-US" altLang="en-US" dirty="0">
                <a:ea typeface="Geneva" pitchFamily="121" charset="-128"/>
              </a:rPr>
              <a:t>close relatives of AUD individuals have 3 to 7 times greater risk for AUD than the general population0</a:t>
            </a:r>
          </a:p>
          <a:p>
            <a:pPr>
              <a:spcBef>
                <a:spcPts val="1200"/>
              </a:spcBef>
            </a:pPr>
            <a:r>
              <a:rPr lang="en-US" dirty="0">
                <a:ea typeface="Geneva" pitchFamily="121" charset="-128"/>
              </a:rPr>
              <a:t>Methods used to find genetic patterns in humans:</a:t>
            </a:r>
          </a:p>
          <a:p>
            <a:pPr lvl="1">
              <a:spcBef>
                <a:spcPts val="1200"/>
              </a:spcBef>
            </a:pPr>
            <a:r>
              <a:rPr lang="en-US" dirty="0">
                <a:ea typeface="Geneva" pitchFamily="121" charset="-128"/>
              </a:rPr>
              <a:t>Twin and adoption studies</a:t>
            </a:r>
          </a:p>
          <a:p>
            <a:pPr lvl="1">
              <a:spcBef>
                <a:spcPts val="1200"/>
              </a:spcBef>
            </a:pPr>
            <a:r>
              <a:rPr lang="en-US" b="1" dirty="0">
                <a:ea typeface="Geneva" pitchFamily="121" charset="-128"/>
              </a:rPr>
              <a:t>Linkage studies</a:t>
            </a:r>
            <a:r>
              <a:rPr lang="en-US" dirty="0">
                <a:ea typeface="Geneva" pitchFamily="121" charset="-128"/>
              </a:rPr>
              <a:t>: low sensitivity to alcohol is a risk factor for AUD</a:t>
            </a:r>
          </a:p>
          <a:p>
            <a:pPr lvl="1">
              <a:spcBef>
                <a:spcPts val="1200"/>
              </a:spcBef>
            </a:pPr>
            <a:r>
              <a:rPr lang="en-US" b="1" dirty="0"/>
              <a:t>Case–control method</a:t>
            </a:r>
            <a:r>
              <a:rPr lang="en-US" dirty="0"/>
              <a:t>, a type of </a:t>
            </a:r>
            <a:r>
              <a:rPr lang="en-US" b="1" dirty="0"/>
              <a:t>association analysis</a:t>
            </a:r>
          </a:p>
          <a:p>
            <a:pPr lvl="1">
              <a:spcBef>
                <a:spcPts val="1200"/>
              </a:spcBef>
            </a:pPr>
            <a:r>
              <a:rPr lang="en-US" b="1" dirty="0"/>
              <a:t>Genome-wide association studies (GWAS)</a:t>
            </a:r>
          </a:p>
          <a:p>
            <a:pPr lvl="1">
              <a:spcBef>
                <a:spcPts val="1200"/>
              </a:spcBef>
            </a:pPr>
            <a:r>
              <a:rPr lang="en-US" dirty="0"/>
              <a:t>Selectively bred and knockout rodents</a:t>
            </a:r>
          </a:p>
        </p:txBody>
      </p:sp>
    </p:spTree>
    <p:extLst>
      <p:ext uri="{BB962C8B-B14F-4D97-AF65-F5344CB8AC3E}">
        <p14:creationId xmlns:p14="http://schemas.microsoft.com/office/powerpoint/2010/main" val="41042272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4E6F4-321A-314B-939B-01552A56F44B}"/>
              </a:ext>
            </a:extLst>
          </p:cNvPr>
          <p:cNvSpPr>
            <a:spLocks noGrp="1"/>
          </p:cNvSpPr>
          <p:nvPr>
            <p:ph type="title"/>
          </p:nvPr>
        </p:nvSpPr>
        <p:spPr/>
        <p:txBody>
          <a:bodyPr/>
          <a:lstStyle/>
          <a:p>
            <a:r>
              <a:rPr lang="en-US" cap="all" dirty="0"/>
              <a:t>FIGURE 10.22</a:t>
            </a:r>
            <a:r>
              <a:rPr lang="en-US" dirty="0"/>
              <a:t>  Low sensitivity to alcohol is a risk factor for AUD </a:t>
            </a:r>
          </a:p>
        </p:txBody>
      </p:sp>
      <p:pic>
        <p:nvPicPr>
          <p:cNvPr id="6" name="Content Placeholder 5" descr="A bar graph depicts the subjective assessment of high score. The horizontal axis represents the time in hours. The vertical axis represents the score on subjective &quot;high&quot; assessment scale ranging between 0 and 50. The approximated data inferred from the graph in the order of time and the corresponding score for the two categories of &quot;Did not develop A U D&quot; and &quot;Did develop A U D&quot; are as follows. Baseline (alcohol administered): 2 and 1; Peak: 49 and 38; 1-hour post peak: 37 and 30; 2 hours post peak: 25 and 24.&#10;&#10;A bar graph depicts the subjective assessment of sway score. The horizontal axis represents the time in hours. The vertical axis represents the sway score ranging between negative 10 and positive 20. The approximated data inferred from the graph in the order of time and the corresponding score for the two categories of &quot;Did not develop A U D&quot; and &quot;Did develop A U D&quot; are as follows. Baseline (alcohol administered): 2 and negative 1; Peak: 20 and 10; 1-hour post peak: 5 and negative 2; 2 hours post peak: negative 0.5 and negative 7."/>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898076"/>
            <a:ext cx="11376025" cy="5463485"/>
          </a:xfrm>
        </p:spPr>
      </p:pic>
    </p:spTree>
    <p:extLst>
      <p:ext uri="{BB962C8B-B14F-4D97-AF65-F5344CB8AC3E}">
        <p14:creationId xmlns:p14="http://schemas.microsoft.com/office/powerpoint/2010/main" val="28198728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Alcohol Use Disorder (AUD) </a:t>
            </a:r>
            <a:r>
              <a:rPr lang="en-US" sz="1200" dirty="0"/>
              <a:t>(6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The causes of AUD are multimodal</a:t>
            </a:r>
          </a:p>
          <a:p>
            <a:pPr>
              <a:spcBef>
                <a:spcPts val="1200"/>
              </a:spcBef>
            </a:pPr>
            <a:r>
              <a:rPr lang="en-US" dirty="0"/>
              <a:t>Sociocultural factors mold attitudes about drinking</a:t>
            </a:r>
          </a:p>
          <a:p>
            <a:r>
              <a:rPr lang="en-US" altLang="en-US" dirty="0">
                <a:ea typeface="Geneva" pitchFamily="121" charset="-128"/>
              </a:rPr>
              <a:t>Cultures that abstain from alcohol use or restrict it for religious purposes have the lowest AUD rates.</a:t>
            </a:r>
          </a:p>
          <a:p>
            <a:r>
              <a:rPr lang="en-US" altLang="en-US" dirty="0">
                <a:ea typeface="Geneva" pitchFamily="121" charset="-128"/>
              </a:rPr>
              <a:t>Societies in which social drinking in public settings is condoned and drinking for personal reasons such as tension reduction have higher AUD rates.</a:t>
            </a:r>
            <a:endParaRPr lang="en-US" dirty="0"/>
          </a:p>
        </p:txBody>
      </p:sp>
    </p:spTree>
    <p:extLst>
      <p:ext uri="{BB962C8B-B14F-4D97-AF65-F5344CB8AC3E}">
        <p14:creationId xmlns:p14="http://schemas.microsoft.com/office/powerpoint/2010/main" val="20351505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Alcohol Use Disorder (AUD) </a:t>
            </a:r>
            <a:r>
              <a:rPr lang="en-US" sz="1200" dirty="0"/>
              <a:t>(7 of 12)</a:t>
            </a:r>
            <a:endParaRPr lang="en-US" dirty="0"/>
          </a:p>
        </p:txBody>
      </p:sp>
      <p:sp>
        <p:nvSpPr>
          <p:cNvPr id="3" name="Text Placeholder 2"/>
          <p:cNvSpPr>
            <a:spLocks noGrp="1"/>
          </p:cNvSpPr>
          <p:nvPr>
            <p:ph idx="1"/>
          </p:nvPr>
        </p:nvSpPr>
        <p:spPr>
          <a:xfrm>
            <a:off x="609600" y="1857781"/>
            <a:ext cx="10972800" cy="4725581"/>
          </a:xfrm>
        </p:spPr>
        <p:txBody>
          <a:bodyPr>
            <a:normAutofit fontScale="85000" lnSpcReduction="20000"/>
          </a:bodyPr>
          <a:lstStyle/>
          <a:p>
            <a:pPr marL="457200" indent="-457200">
              <a:lnSpc>
                <a:spcPct val="130000"/>
              </a:lnSpc>
              <a:spcBef>
                <a:spcPts val="1200"/>
              </a:spcBef>
              <a:buNone/>
            </a:pPr>
            <a:r>
              <a:rPr lang="en-US" sz="3800" dirty="0"/>
              <a:t>Multiple treatment options provide hope for rehabilitation</a:t>
            </a:r>
          </a:p>
          <a:p>
            <a:pPr eaLnBrk="1" hangingPunct="1">
              <a:buFontTx/>
              <a:buNone/>
            </a:pPr>
            <a:r>
              <a:rPr lang="en-US" b="1" dirty="0"/>
              <a:t>Detoxification</a:t>
            </a:r>
            <a:r>
              <a:rPr lang="en-US" dirty="0"/>
              <a:t>: w</a:t>
            </a:r>
            <a:r>
              <a:rPr lang="en-US" altLang="en-US" dirty="0">
                <a:ea typeface="Geneva" pitchFamily="121" charset="-128"/>
              </a:rPr>
              <a:t>ithdrawal symptoms are strong motivators and can be dangerous. BZDs such as chlordiazepoxide (Librium) or diazepam (Valium) prevent symptoms</a:t>
            </a:r>
          </a:p>
          <a:p>
            <a:r>
              <a:rPr lang="en-US" b="1" dirty="0"/>
              <a:t>Psychosocial rehabilitation</a:t>
            </a:r>
            <a:r>
              <a:rPr lang="en-US" dirty="0"/>
              <a:t> programs</a:t>
            </a:r>
            <a:endParaRPr lang="en-US" dirty="0">
              <a:ea typeface="Geneva" pitchFamily="121" charset="-128"/>
            </a:endParaRPr>
          </a:p>
          <a:p>
            <a:pPr lvl="1"/>
            <a:r>
              <a:rPr lang="en-US" dirty="0"/>
              <a:t>Individual and group therapy</a:t>
            </a:r>
          </a:p>
          <a:p>
            <a:pPr lvl="1"/>
            <a:r>
              <a:rPr lang="en-US" dirty="0"/>
              <a:t>Residential alcohol-free treatment settings</a:t>
            </a:r>
          </a:p>
          <a:p>
            <a:pPr lvl="1"/>
            <a:r>
              <a:rPr lang="en-US" dirty="0"/>
              <a:t>Self-help groups such as Alcoholics Anonymous (AA)</a:t>
            </a:r>
          </a:p>
          <a:p>
            <a:pPr lvl="1"/>
            <a:r>
              <a:rPr lang="en-US" altLang="en-US" dirty="0">
                <a:ea typeface="Geneva" pitchFamily="121" charset="-128"/>
              </a:rPr>
              <a:t>Community reinforcement approach (CRA)</a:t>
            </a:r>
          </a:p>
          <a:p>
            <a:pPr lvl="1"/>
            <a:r>
              <a:rPr lang="en-US" altLang="en-US" dirty="0">
                <a:ea typeface="Geneva" pitchFamily="121" charset="-128"/>
              </a:rPr>
              <a:t>Cognitive behavior therapy</a:t>
            </a:r>
            <a:endParaRPr lang="en-US" dirty="0"/>
          </a:p>
        </p:txBody>
      </p:sp>
    </p:spTree>
    <p:extLst>
      <p:ext uri="{BB962C8B-B14F-4D97-AF65-F5344CB8AC3E}">
        <p14:creationId xmlns:p14="http://schemas.microsoft.com/office/powerpoint/2010/main" val="10710153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Alcohol Use Disorder (AUD) </a:t>
            </a:r>
            <a:r>
              <a:rPr lang="en-US" sz="1200" dirty="0"/>
              <a:t>(8 of 12)</a:t>
            </a:r>
            <a:endParaRPr lang="en-US" dirty="0"/>
          </a:p>
        </p:txBody>
      </p:sp>
      <p:sp>
        <p:nvSpPr>
          <p:cNvPr id="3" name="Text Placeholder 2"/>
          <p:cNvSpPr>
            <a:spLocks noGrp="1"/>
          </p:cNvSpPr>
          <p:nvPr>
            <p:ph idx="1"/>
          </p:nvPr>
        </p:nvSpPr>
        <p:spPr>
          <a:xfrm>
            <a:off x="609600" y="1857781"/>
            <a:ext cx="10972800" cy="4725581"/>
          </a:xfrm>
        </p:spPr>
        <p:txBody>
          <a:bodyPr>
            <a:normAutofit/>
          </a:bodyPr>
          <a:lstStyle/>
          <a:p>
            <a:pPr marL="457200" indent="-457200">
              <a:lnSpc>
                <a:spcPct val="110000"/>
              </a:lnSpc>
              <a:spcBef>
                <a:spcPts val="1200"/>
              </a:spcBef>
              <a:buNone/>
            </a:pPr>
            <a:r>
              <a:rPr lang="en-US" sz="3200" dirty="0"/>
              <a:t>Multiple treatment options provide hope for rehabilitation</a:t>
            </a:r>
          </a:p>
          <a:p>
            <a:r>
              <a:rPr lang="en-US" b="1" dirty="0"/>
              <a:t>Pharmacotherapeutic treatment</a:t>
            </a:r>
            <a:r>
              <a:rPr lang="en-US" dirty="0"/>
              <a:t> includes two strategies: make drinking unpleasant and reduce alcohol’s</a:t>
            </a:r>
            <a:r>
              <a:rPr lang="en-US" altLang="ja-JP" dirty="0"/>
              <a:t> reinforcing qualities.</a:t>
            </a:r>
          </a:p>
          <a:p>
            <a:r>
              <a:rPr lang="en-US" b="1" dirty="0"/>
              <a:t>Disulfiram</a:t>
            </a:r>
            <a:r>
              <a:rPr lang="en-US" dirty="0"/>
              <a:t> (</a:t>
            </a:r>
            <a:r>
              <a:rPr lang="en-US" b="1" dirty="0"/>
              <a:t>Antabuse</a:t>
            </a:r>
            <a:r>
              <a:rPr lang="en-US" dirty="0"/>
              <a:t>) inhibits ALDH (converts acetaldehyde to acetic acid). Drinking even 1 oz of alcohol results in flushing, pounding heart, nausea, vomiting, etc.</a:t>
            </a:r>
          </a:p>
          <a:p>
            <a:r>
              <a:rPr lang="en-US" b="1" dirty="0"/>
              <a:t>Naltrexone</a:t>
            </a:r>
            <a:r>
              <a:rPr lang="en-US" dirty="0"/>
              <a:t>: an opioid receptor antagonist; reduces the “high” by blocking the effects of alcohol-induced endorphin release</a:t>
            </a:r>
          </a:p>
        </p:txBody>
      </p:sp>
    </p:spTree>
    <p:extLst>
      <p:ext uri="{BB962C8B-B14F-4D97-AF65-F5344CB8AC3E}">
        <p14:creationId xmlns:p14="http://schemas.microsoft.com/office/powerpoint/2010/main" val="40617186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AD49-F8A2-6E41-94EE-A7AE7260E31D}"/>
              </a:ext>
            </a:extLst>
          </p:cNvPr>
          <p:cNvSpPr>
            <a:spLocks noGrp="1"/>
          </p:cNvSpPr>
          <p:nvPr>
            <p:ph type="title"/>
          </p:nvPr>
        </p:nvSpPr>
        <p:spPr/>
        <p:txBody>
          <a:bodyPr/>
          <a:lstStyle/>
          <a:p>
            <a:r>
              <a:rPr lang="en-US" cap="all" dirty="0"/>
              <a:t>FIGURE 10.23</a:t>
            </a:r>
            <a:r>
              <a:rPr lang="en-US" dirty="0"/>
              <a:t>  Effectiveness of naltrexone in treatment of AUD  </a:t>
            </a:r>
          </a:p>
        </p:txBody>
      </p:sp>
      <p:pic>
        <p:nvPicPr>
          <p:cNvPr id="6" name="Content Placeholder 5" descr="A bar graph depicts the effectiveness of naltrexone in treatment of A U D. The horizontal axis represents the time in weeks ranging between 0 and 12. The vertical axis represents the percent of subjects not relapsing ranging between 0 and 100. The approximated data inferred from the graph in the order of time and the corresponding percent of non-relapsing subjects for the categories of naltrexone plus therapy and placebo plus therapy is as follows. 0: 100 and 100; 1: 95 and 92; 2: 94 and 80; 3: 90 and 68; 4: 88 and 55; 5: 82 and 50; 6: 80 and 45; 7: 80 and 45; 8: 78 and 42; 9: 80 and 40; 10: 78 and 35; 11: 74 and 32; 12: 72 and 3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991629"/>
            <a:ext cx="11376025" cy="5276380"/>
          </a:xfrm>
        </p:spPr>
      </p:pic>
    </p:spTree>
    <p:extLst>
      <p:ext uri="{BB962C8B-B14F-4D97-AF65-F5344CB8AC3E}">
        <p14:creationId xmlns:p14="http://schemas.microsoft.com/office/powerpoint/2010/main" val="18501144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Alcohol Use Disorder (AUD) </a:t>
            </a:r>
            <a:r>
              <a:rPr lang="en-US" sz="1200" dirty="0"/>
              <a:t>(9 of 12)</a:t>
            </a:r>
            <a:endParaRPr lang="en-US" dirty="0"/>
          </a:p>
        </p:txBody>
      </p:sp>
      <p:sp>
        <p:nvSpPr>
          <p:cNvPr id="3" name="Text Placeholder 2"/>
          <p:cNvSpPr>
            <a:spLocks noGrp="1"/>
          </p:cNvSpPr>
          <p:nvPr>
            <p:ph idx="1"/>
          </p:nvPr>
        </p:nvSpPr>
        <p:spPr>
          <a:xfrm>
            <a:off x="609600" y="1857781"/>
            <a:ext cx="10972800" cy="4725581"/>
          </a:xfrm>
        </p:spPr>
        <p:txBody>
          <a:bodyPr>
            <a:normAutofit/>
          </a:bodyPr>
          <a:lstStyle/>
          <a:p>
            <a:pPr marL="457200" indent="-457200">
              <a:lnSpc>
                <a:spcPct val="110000"/>
              </a:lnSpc>
              <a:spcBef>
                <a:spcPts val="1200"/>
              </a:spcBef>
              <a:buNone/>
            </a:pPr>
            <a:r>
              <a:rPr lang="en-US" sz="3200" dirty="0"/>
              <a:t>Multiple treatment options provide hope for rehabilitation</a:t>
            </a:r>
          </a:p>
          <a:p>
            <a:pPr>
              <a:spcBef>
                <a:spcPts val="1200"/>
              </a:spcBef>
            </a:pPr>
            <a:r>
              <a:rPr lang="en-US" altLang="en-US" b="1" dirty="0" err="1">
                <a:ea typeface="Geneva" pitchFamily="121" charset="-128"/>
              </a:rPr>
              <a:t>Nalmefene</a:t>
            </a:r>
            <a:r>
              <a:rPr lang="en-US" altLang="en-US" b="1" dirty="0">
                <a:ea typeface="Geneva" pitchFamily="121" charset="-128"/>
              </a:rPr>
              <a:t>:</a:t>
            </a:r>
            <a:r>
              <a:rPr lang="en-US" altLang="en-US" dirty="0">
                <a:ea typeface="Geneva" pitchFamily="121" charset="-128"/>
              </a:rPr>
              <a:t> </a:t>
            </a:r>
            <a:r>
              <a:rPr lang="en-US" altLang="en-US" dirty="0">
                <a:latin typeface="PalatinoLT-Roman"/>
                <a:ea typeface="Geneva" pitchFamily="121" charset="-128"/>
              </a:rPr>
              <a:t>κ</a:t>
            </a:r>
            <a:r>
              <a:rPr lang="en-US" altLang="en-US" dirty="0">
                <a:ea typeface="Geneva" pitchFamily="121" charset="-128"/>
              </a:rPr>
              <a:t>- and </a:t>
            </a:r>
            <a:r>
              <a:rPr lang="en-US" altLang="en-US" dirty="0">
                <a:latin typeface="PalatinoLT-Roman"/>
                <a:ea typeface="Geneva" pitchFamily="121" charset="-128"/>
              </a:rPr>
              <a:t>μ</a:t>
            </a:r>
            <a:r>
              <a:rPr lang="en-US" altLang="en-US" dirty="0">
                <a:ea typeface="Geneva" pitchFamily="121" charset="-128"/>
              </a:rPr>
              <a:t>-opioid receptor modulator; it was found to be more effective than naltrexone in animal studies.</a:t>
            </a:r>
          </a:p>
          <a:p>
            <a:pPr>
              <a:spcBef>
                <a:spcPts val="1200"/>
              </a:spcBef>
            </a:pPr>
            <a:r>
              <a:rPr lang="en-US" altLang="en-US" b="1" dirty="0">
                <a:ea typeface="Geneva" pitchFamily="121" charset="-128"/>
              </a:rPr>
              <a:t>Acamprosate: </a:t>
            </a:r>
            <a:r>
              <a:rPr lang="en-US" altLang="en-US" dirty="0">
                <a:ea typeface="Geneva" pitchFamily="121" charset="-128"/>
              </a:rPr>
              <a:t>partial antagonist at glutamate NMDA receptors; significantly blocks the glutamate increase that occurs during alcohol withdrawal in rats.</a:t>
            </a:r>
          </a:p>
        </p:txBody>
      </p:sp>
    </p:spTree>
    <p:extLst>
      <p:ext uri="{BB962C8B-B14F-4D97-AF65-F5344CB8AC3E}">
        <p14:creationId xmlns:p14="http://schemas.microsoft.com/office/powerpoint/2010/main" val="32637515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F6237-2EA7-EC42-BE82-46A019534A1C}"/>
              </a:ext>
            </a:extLst>
          </p:cNvPr>
          <p:cNvSpPr>
            <a:spLocks noGrp="1"/>
          </p:cNvSpPr>
          <p:nvPr>
            <p:ph type="title"/>
          </p:nvPr>
        </p:nvSpPr>
        <p:spPr/>
        <p:txBody>
          <a:bodyPr/>
          <a:lstStyle/>
          <a:p>
            <a:r>
              <a:rPr lang="en-US" cap="all" dirty="0"/>
              <a:t>FIGURE 10.24</a:t>
            </a:r>
            <a:r>
              <a:rPr lang="en-US" dirty="0"/>
              <a:t>  Acamprosate prevents withdrawal-induced glutamate release </a:t>
            </a:r>
          </a:p>
        </p:txBody>
      </p:sp>
      <p:pic>
        <p:nvPicPr>
          <p:cNvPr id="6" name="Content Placeholder 5" descr="A trend graph depicts the data plotted for the withdrawal-induced glutamate release. The horizontal axis represents the time in hours ranging between 2 and 12. The vertical axis represents the percent baseline glutamate ranging between 0 and 500. The trend for control passes through the following approximated points: (1, 120); (2, 130); (3, 100); (4, 100); (5, 100); (6, 80); (7, 110); (8, 100); (9, 120); (10, 110); (11, 110); and (12, 150). The trend for withdrawal increases through the approximated points: (1, 120); (2, 100); (3, 110); (4, 130); (5, 190); (6, 220); (7, 290); (8, 330); (9, 340); (10, 370); (11, 350); and (12, 400). The trend for withdrawal plus acamprosate passes through the following approximated points: (1, 110); (2, 100); (3, 100); (4, 100); (5, 100); (6, 90); (7, 100); (8, 90); (9, 100); (10, 110); (11, 120); and (12, 9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819562" y="479425"/>
            <a:ext cx="8552876" cy="6300788"/>
          </a:xfrm>
        </p:spPr>
      </p:pic>
    </p:spTree>
    <p:extLst>
      <p:ext uri="{BB962C8B-B14F-4D97-AF65-F5344CB8AC3E}">
        <p14:creationId xmlns:p14="http://schemas.microsoft.com/office/powerpoint/2010/main" val="18027406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Alcohol Use Disorder (AUD) </a:t>
            </a:r>
            <a:r>
              <a:rPr lang="en-US" sz="1200" dirty="0"/>
              <a:t>(10 of 12)</a:t>
            </a:r>
            <a:endParaRPr lang="en-US" dirty="0"/>
          </a:p>
        </p:txBody>
      </p:sp>
      <p:sp>
        <p:nvSpPr>
          <p:cNvPr id="3" name="Text Placeholder 2"/>
          <p:cNvSpPr>
            <a:spLocks noGrp="1"/>
          </p:cNvSpPr>
          <p:nvPr>
            <p:ph idx="1"/>
          </p:nvPr>
        </p:nvSpPr>
        <p:spPr>
          <a:xfrm>
            <a:off x="609600" y="1857781"/>
            <a:ext cx="10972800" cy="4725581"/>
          </a:xfrm>
        </p:spPr>
        <p:txBody>
          <a:bodyPr>
            <a:normAutofit lnSpcReduction="10000"/>
          </a:bodyPr>
          <a:lstStyle/>
          <a:p>
            <a:pPr marL="457200" indent="-457200">
              <a:lnSpc>
                <a:spcPct val="120000"/>
              </a:lnSpc>
              <a:spcBef>
                <a:spcPts val="1200"/>
              </a:spcBef>
              <a:buNone/>
            </a:pPr>
            <a:r>
              <a:rPr lang="en-US" sz="3200" dirty="0"/>
              <a:t>Multiple treatment options provide hope for rehabilitation</a:t>
            </a:r>
          </a:p>
          <a:p>
            <a:pPr>
              <a:spcBef>
                <a:spcPts val="1200"/>
              </a:spcBef>
            </a:pPr>
            <a:r>
              <a:rPr lang="en-US" dirty="0"/>
              <a:t>Possible new treatments:</a:t>
            </a:r>
          </a:p>
          <a:p>
            <a:pPr lvl="1">
              <a:spcBef>
                <a:spcPts val="1200"/>
              </a:spcBef>
            </a:pPr>
            <a:r>
              <a:rPr lang="en-US" b="1" dirty="0"/>
              <a:t>CRF</a:t>
            </a:r>
            <a:r>
              <a:rPr lang="en-US" b="1" baseline="-25000" dirty="0"/>
              <a:t>1</a:t>
            </a:r>
            <a:r>
              <a:rPr lang="en-US" dirty="0"/>
              <a:t> </a:t>
            </a:r>
            <a:r>
              <a:rPr lang="en-US" b="1" dirty="0"/>
              <a:t>antagonists</a:t>
            </a:r>
            <a:r>
              <a:rPr lang="en-US" dirty="0"/>
              <a:t>: repeated episodes of intoxication and withdrawal lead to increased CRF</a:t>
            </a:r>
            <a:r>
              <a:rPr lang="en-US" baseline="-25000" dirty="0"/>
              <a:t>1</a:t>
            </a:r>
            <a:r>
              <a:rPr lang="en-US" dirty="0"/>
              <a:t> receptors in the amygdala, sensitization of the reactivity to stressors, and significantly elevated rates of alcohol consumption.</a:t>
            </a:r>
          </a:p>
          <a:p>
            <a:pPr lvl="1">
              <a:spcBef>
                <a:spcPts val="1200"/>
              </a:spcBef>
            </a:pPr>
            <a:r>
              <a:rPr lang="en-US" dirty="0"/>
              <a:t>Glucocorticoid receptor (GR) antagonist:</a:t>
            </a:r>
            <a:r>
              <a:rPr lang="en-US" altLang="en-US" dirty="0">
                <a:ea typeface="Geneva" pitchFamily="121" charset="-128"/>
              </a:rPr>
              <a:t> reduced alcohol self-administration and craving</a:t>
            </a:r>
            <a:endParaRPr lang="en-US" dirty="0"/>
          </a:p>
          <a:p>
            <a:pPr lvl="1">
              <a:spcBef>
                <a:spcPts val="1200"/>
              </a:spcBef>
            </a:pPr>
            <a:r>
              <a:rPr lang="en-US" dirty="0"/>
              <a:t>Ketamine: NMDA glutamate receptor antagonist: could reverse the hyperexcitable state in withdrawal</a:t>
            </a:r>
          </a:p>
        </p:txBody>
      </p:sp>
    </p:spTree>
    <p:extLst>
      <p:ext uri="{BB962C8B-B14F-4D97-AF65-F5344CB8AC3E}">
        <p14:creationId xmlns:p14="http://schemas.microsoft.com/office/powerpoint/2010/main" val="7227386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0633A-4EB7-9C44-8E81-B3B111D1E9EA}"/>
              </a:ext>
            </a:extLst>
          </p:cNvPr>
          <p:cNvSpPr>
            <a:spLocks noGrp="1"/>
          </p:cNvSpPr>
          <p:nvPr>
            <p:ph type="title"/>
          </p:nvPr>
        </p:nvSpPr>
        <p:spPr/>
        <p:txBody>
          <a:bodyPr/>
          <a:lstStyle/>
          <a:p>
            <a:r>
              <a:rPr lang="en-US" cap="all" dirty="0"/>
              <a:t>FIGURE 10.25</a:t>
            </a:r>
            <a:r>
              <a:rPr lang="en-US" dirty="0"/>
              <a:t>  Glucocorticoid receptor (GR) antagonism reduced alcohol-cued craving and drinking in dependent individuals </a:t>
            </a:r>
          </a:p>
        </p:txBody>
      </p:sp>
      <p:pic>
        <p:nvPicPr>
          <p:cNvPr id="6" name="Content Placeholder 5" descr="A bar graph depicts the V A S score for the corresponding craving severity. The horizontal axis represents the craving severity. The vertical axis represents the V A S score ranging between 5 and 15. The approximated data inferred from the graph for placebo and G R antagonist is as follows. Strength: 11.2 and 9.2; Intent: 12 and 10; Impulse: 10 and 8; Relief: 9.2 and 7.8.&#10;&#10;A bar graph depicts the consumption of alcoholic drinks per week. The horizontal axis represents the week. The vertical axis represents the drinks per week ranging between 20 and 45. The approximated data inferred from the graph for placebo and GR antagonist is as follows. Start drug: 31 and 31; Stop drug: 36 and 30; and Follow-up: 37 and 27."/>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322182"/>
            <a:ext cx="11376025" cy="4615273"/>
          </a:xfrm>
        </p:spPr>
      </p:pic>
    </p:spTree>
    <p:extLst>
      <p:ext uri="{BB962C8B-B14F-4D97-AF65-F5344CB8AC3E}">
        <p14:creationId xmlns:p14="http://schemas.microsoft.com/office/powerpoint/2010/main" val="37563278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Alcohol Use Disorder (AUD) </a:t>
            </a:r>
            <a:r>
              <a:rPr lang="en-US" sz="1200" dirty="0"/>
              <a:t>(11 of 12)</a:t>
            </a:r>
            <a:endParaRPr lang="en-US" dirty="0"/>
          </a:p>
        </p:txBody>
      </p:sp>
      <p:sp>
        <p:nvSpPr>
          <p:cNvPr id="3" name="Text Placeholder 2"/>
          <p:cNvSpPr>
            <a:spLocks noGrp="1"/>
          </p:cNvSpPr>
          <p:nvPr>
            <p:ph idx="1"/>
          </p:nvPr>
        </p:nvSpPr>
        <p:spPr>
          <a:xfrm>
            <a:off x="609600" y="1857781"/>
            <a:ext cx="10972800" cy="4725581"/>
          </a:xfrm>
        </p:spPr>
        <p:txBody>
          <a:bodyPr>
            <a:normAutofit/>
          </a:bodyPr>
          <a:lstStyle/>
          <a:p>
            <a:pPr marL="457200" indent="-457200">
              <a:lnSpc>
                <a:spcPct val="110000"/>
              </a:lnSpc>
              <a:spcBef>
                <a:spcPts val="1200"/>
              </a:spcBef>
              <a:buNone/>
            </a:pPr>
            <a:r>
              <a:rPr lang="en-US" sz="3200" dirty="0"/>
              <a:t>Multiple treatment options provide hope for rehabilitation</a:t>
            </a:r>
          </a:p>
          <a:p>
            <a:pPr>
              <a:spcBef>
                <a:spcPts val="1200"/>
              </a:spcBef>
            </a:pPr>
            <a:r>
              <a:rPr lang="en-US" dirty="0"/>
              <a:t>Combining Medications and Behavioral Interventions (COMBINE): controlled clinical trial of treatments utilizing almost 1400 alcohol-dependent study participants</a:t>
            </a:r>
          </a:p>
          <a:p>
            <a:pPr>
              <a:spcBef>
                <a:spcPts val="1200"/>
              </a:spcBef>
            </a:pPr>
            <a:r>
              <a:rPr lang="en-US" dirty="0"/>
              <a:t>Four treatments: naltrexone, acamprosate, medical management, and combined behavioral intervention (CBI).</a:t>
            </a:r>
          </a:p>
          <a:p>
            <a:pPr>
              <a:spcBef>
                <a:spcPts val="1200"/>
              </a:spcBef>
            </a:pPr>
            <a:r>
              <a:rPr lang="en-US" dirty="0"/>
              <a:t>Most effective was medical management along with either naltrexone or CBI</a:t>
            </a:r>
          </a:p>
        </p:txBody>
      </p:sp>
    </p:spTree>
    <p:extLst>
      <p:ext uri="{BB962C8B-B14F-4D97-AF65-F5344CB8AC3E}">
        <p14:creationId xmlns:p14="http://schemas.microsoft.com/office/powerpoint/2010/main" val="41345034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Alcohol Use Disorder (AUD) </a:t>
            </a:r>
            <a:r>
              <a:rPr lang="en-US" sz="1200" dirty="0"/>
              <a:t>(12 of 12)</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3</a:t>
            </a:r>
          </a:p>
          <a:p>
            <a:pPr marL="457200" indent="-457200">
              <a:spcBef>
                <a:spcPts val="2400"/>
              </a:spcBef>
              <a:buNone/>
            </a:pPr>
            <a:r>
              <a:rPr lang="en-US" sz="3200" dirty="0"/>
              <a:t>Disulfiram is used to treat AUD because it</a:t>
            </a:r>
          </a:p>
          <a:p>
            <a:pPr marL="914400" indent="-457200">
              <a:spcBef>
                <a:spcPts val="1200"/>
              </a:spcBef>
              <a:buFont typeface="Arial" pitchFamily="34" charset="0"/>
              <a:buAutoNum type="alphaLcPeriod"/>
            </a:pPr>
            <a:r>
              <a:rPr lang="en-US" sz="3200" dirty="0"/>
              <a:t>inhibits aldehyde dehydrogenase.</a:t>
            </a:r>
          </a:p>
          <a:p>
            <a:pPr marL="914400" indent="-457200">
              <a:spcBef>
                <a:spcPts val="1200"/>
              </a:spcBef>
              <a:buFont typeface="Arial" pitchFamily="34" charset="0"/>
              <a:buAutoNum type="alphaLcPeriod"/>
            </a:pPr>
            <a:r>
              <a:rPr lang="en-US" sz="3200" dirty="0"/>
              <a:t>blocks the mGluR2 glutamate receptor.</a:t>
            </a:r>
          </a:p>
          <a:p>
            <a:pPr marL="914400" indent="-457200">
              <a:spcBef>
                <a:spcPts val="1200"/>
              </a:spcBef>
              <a:buFont typeface="Arial" pitchFamily="34" charset="0"/>
              <a:buAutoNum type="alphaLcPeriod"/>
            </a:pPr>
            <a:r>
              <a:rPr lang="en-US" sz="3200" dirty="0"/>
              <a:t>blocks </a:t>
            </a:r>
            <a:r>
              <a:rPr lang="el-GR" sz="3200" dirty="0"/>
              <a:t>μ-</a:t>
            </a:r>
            <a:r>
              <a:rPr lang="en-US" sz="3200" dirty="0"/>
              <a:t>opioid receptors.</a:t>
            </a:r>
          </a:p>
          <a:p>
            <a:pPr marL="914400" indent="-457200">
              <a:spcBef>
                <a:spcPts val="1200"/>
              </a:spcBef>
              <a:buFont typeface="Arial" pitchFamily="34" charset="0"/>
              <a:buAutoNum type="alphaLcPeriod"/>
            </a:pPr>
            <a:r>
              <a:rPr lang="en-US" sz="3200" dirty="0"/>
              <a:t>blocks acetaldehyde build up in the blood.</a:t>
            </a:r>
          </a:p>
        </p:txBody>
      </p:sp>
    </p:spTree>
    <p:extLst>
      <p:ext uri="{BB962C8B-B14F-4D97-AF65-F5344CB8AC3E}">
        <p14:creationId xmlns:p14="http://schemas.microsoft.com/office/powerpoint/2010/main" val="6385059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p:txBody>
          <a:bodyPr>
            <a:normAutofit fontScale="85000" lnSpcReduction="20000"/>
          </a:bodyPr>
          <a:lstStyle/>
          <a:p>
            <a:pPr marL="914400" indent="-914400">
              <a:lnSpc>
                <a:spcPct val="120000"/>
              </a:lnSpc>
              <a:buNone/>
            </a:pPr>
            <a:r>
              <a:rPr lang="en-US" dirty="0"/>
              <a:t>10.3.1  Articulate the properties of pathological drinking behavior that give rise to alcohol use disorder (AUD). </a:t>
            </a:r>
          </a:p>
          <a:p>
            <a:pPr marL="914400" indent="-914400">
              <a:lnSpc>
                <a:spcPct val="120000"/>
              </a:lnSpc>
              <a:buNone/>
            </a:pPr>
            <a:r>
              <a:rPr lang="en-US" dirty="0"/>
              <a:t>10.3.2  Identify the neurobiological changes caused by underage drinking.</a:t>
            </a:r>
          </a:p>
          <a:p>
            <a:pPr marL="914400" indent="-914400">
              <a:lnSpc>
                <a:spcPct val="120000"/>
              </a:lnSpc>
              <a:buNone/>
            </a:pPr>
            <a:r>
              <a:rPr lang="en-US" dirty="0"/>
              <a:t>10.3.3  Describe how neurobiological, psychological, and societal factors contribute to individual vulnerability for AUD.</a:t>
            </a:r>
          </a:p>
          <a:p>
            <a:pPr marL="914400" indent="-914400">
              <a:lnSpc>
                <a:spcPct val="120000"/>
              </a:lnSpc>
              <a:buNone/>
            </a:pPr>
            <a:r>
              <a:rPr lang="en-US" dirty="0"/>
              <a:t>10.3.4  Explain how medically supervised detoxification is conducted to mitigate risks associated with alcohol withdrawal.</a:t>
            </a:r>
          </a:p>
          <a:p>
            <a:pPr marL="914400" indent="-914400">
              <a:lnSpc>
                <a:spcPct val="120000"/>
              </a:lnSpc>
              <a:buNone/>
            </a:pPr>
            <a:r>
              <a:rPr lang="en-US" dirty="0"/>
              <a:t>10.3.5  Describe the mechanisms of action of the three pharmacotherapies for AUD currently approved by the FDA.</a:t>
            </a:r>
          </a:p>
        </p:txBody>
      </p:sp>
    </p:spTree>
    <p:extLst>
      <p:ext uri="{BB962C8B-B14F-4D97-AF65-F5344CB8AC3E}">
        <p14:creationId xmlns:p14="http://schemas.microsoft.com/office/powerpoint/2010/main" val="2910313010"/>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98">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56919D-3723-464B-9967-427A087CBD61}">
  <ds:schemaRefs>
    <ds:schemaRef ds:uri="http://purl.org/dc/terms/"/>
    <ds:schemaRef ds:uri="http://schemas.openxmlformats.org/package/2006/metadata/core-properties"/>
    <ds:schemaRef ds:uri="a6c716b4-9090-4de7-aadc-2aa5f812ad24"/>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fd39d560-5c7d-4158-98a0-f420f8fdebce"/>
    <ds:schemaRef ds:uri="http://www.w3.org/XML/1998/namespace"/>
  </ds:schemaRefs>
</ds:datastoreItem>
</file>

<file path=customXml/itemProps2.xml><?xml version="1.0" encoding="utf-8"?>
<ds:datastoreItem xmlns:ds="http://schemas.openxmlformats.org/officeDocument/2006/customXml" ds:itemID="{6B57C1AB-C2BF-4446-AECB-681D5785527F}">
  <ds:schemaRefs>
    <ds:schemaRef ds:uri="http://schemas.microsoft.com/sharepoint/v3/contenttype/forms"/>
  </ds:schemaRefs>
</ds:datastoreItem>
</file>

<file path=customXml/itemProps3.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2855</TotalTime>
  <Words>4013</Words>
  <Application>Microsoft Office PowerPoint</Application>
  <PresentationFormat>Widescreen</PresentationFormat>
  <Paragraphs>413</Paragraphs>
  <Slides>64</Slides>
  <Notes>59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64</vt:i4>
      </vt:variant>
    </vt:vector>
  </HeadingPairs>
  <TitlesOfParts>
    <vt:vector size="73" baseType="lpstr">
      <vt:lpstr>ＭＳ Ｐゴシック</vt:lpstr>
      <vt:lpstr>Arial</vt:lpstr>
      <vt:lpstr>Calibri</vt:lpstr>
      <vt:lpstr>Courier New</vt:lpstr>
      <vt:lpstr>DINPro-Light</vt:lpstr>
      <vt:lpstr>Geneva</vt:lpstr>
      <vt:lpstr>PalatinoLT-Roman</vt:lpstr>
      <vt:lpstr>Text Content Templates</vt:lpstr>
      <vt:lpstr>Figure-Only Templates</vt:lpstr>
      <vt:lpstr>Psychopharmacology: Drugs, the Brain, and Behavior</vt:lpstr>
      <vt:lpstr>Chapter 10 Alcohol</vt:lpstr>
      <vt:lpstr>Chapter 10 Learning Objectives (1 of 3)</vt:lpstr>
      <vt:lpstr>Chapter 10 Learning Objectives (2 of 3)</vt:lpstr>
      <vt:lpstr>Chapter 10 Learning Objectives (3 of 3)</vt:lpstr>
      <vt:lpstr>Psychopharmacology of Alcohol (1 of 16)</vt:lpstr>
      <vt:lpstr>Psychopharmacology of Alcohol (2 of 16)</vt:lpstr>
      <vt:lpstr>Psychopharmacology of Alcohol (3 of 16)</vt:lpstr>
      <vt:lpstr>Psychopharmacology of Alcohol (4 of 16)</vt:lpstr>
      <vt:lpstr>FIGURE 10.4  Blood levels of alcohol after oral administration </vt:lpstr>
      <vt:lpstr>Psychopharmacology of Alcohol (5 of 16)</vt:lpstr>
      <vt:lpstr>FIGURE 10.5  Metabolism of alcohol </vt:lpstr>
      <vt:lpstr>Psychopharmacology of Alcohol (6 of 16)</vt:lpstr>
      <vt:lpstr>Psychopharmacology of Alcohol (7 of 16)</vt:lpstr>
      <vt:lpstr>Psychopharmacology of Alcohol (8 of 16)</vt:lpstr>
      <vt:lpstr>FIGURE 10.6  Tolerance to alcohol </vt:lpstr>
      <vt:lpstr>Psychopharmacology of Alcohol (9 of 16)</vt:lpstr>
      <vt:lpstr>FIGURE 10.8  Relationship between alcohol use and traffic accidents (Part 1)</vt:lpstr>
      <vt:lpstr>FIGURE 10.8  Relationship between alcohol use and traffic accidents (Part 2)</vt:lpstr>
      <vt:lpstr>Psychopharmacology of Alcohol (10 of 16)</vt:lpstr>
      <vt:lpstr>Psychopharmacology of Alcohol (11 of 16)</vt:lpstr>
      <vt:lpstr>Psychopharmacology of Alcohol (12 of 16)</vt:lpstr>
      <vt:lpstr>Psychopharmacology of Alcohol (13 of 16)</vt:lpstr>
      <vt:lpstr>FIGURE 10.10  Effects of alcohol on sexual response </vt:lpstr>
      <vt:lpstr>Psychopharmacology of Alcohol (14 of 16)</vt:lpstr>
      <vt:lpstr>FIGURE 10.12  Fetal alcohol syndrome </vt:lpstr>
      <vt:lpstr>Psychopharmacology of Alcohol (15 of 16)</vt:lpstr>
      <vt:lpstr>Psychopharmacology of Alcohol (16 of 16)</vt:lpstr>
      <vt:lpstr>Review of Learning Objectives (1 of 3)</vt:lpstr>
      <vt:lpstr>Neurochemical Effects of Alcohol (1 of 10)</vt:lpstr>
      <vt:lpstr>Neurochemical Effects of Alcohol (2 of 10)</vt:lpstr>
      <vt:lpstr>FIGURE 10.13  Average daily alcohol consumption for selected generations of rats </vt:lpstr>
      <vt:lpstr>Neurochemical Effects of Alcohol (3 of 10)</vt:lpstr>
      <vt:lpstr>FIGURE 10.14  Grm2-knockout mice show increased alcohol consumption and preference </vt:lpstr>
      <vt:lpstr>Neurochemical Effects of Alcohol (4 of 10)</vt:lpstr>
      <vt:lpstr>FIGURE 10.15  Effects of alcohol on neuronal membranes </vt:lpstr>
      <vt:lpstr>Neurochemical Effects of Alcohol (5 of 10)</vt:lpstr>
      <vt:lpstr>FIGURE 10.16  Relationship between alcohol withdrawal and glutamate release </vt:lpstr>
      <vt:lpstr>Neurochemical Effects of Alcohol (6 of 10)</vt:lpstr>
      <vt:lpstr>Neurochemical Effects of Alcohol (7 of 10)</vt:lpstr>
      <vt:lpstr>FIGURE 10.18  Dopamine turnover and alcohol withdrawal (Part 1)</vt:lpstr>
      <vt:lpstr>FIGURE 10.18  Dopamine turnover and alcohol withdrawal (Part 2)</vt:lpstr>
      <vt:lpstr>FIGURE 10.19  Rebound depression of reinforcement during withdrawal </vt:lpstr>
      <vt:lpstr>Neurochemical Effects of Alcohol (8 of 10)</vt:lpstr>
      <vt:lpstr>Neurochemical Effects of Alcohol (9 of 10)</vt:lpstr>
      <vt:lpstr>Neurochemical Effects of Alcohol (10 of 10)</vt:lpstr>
      <vt:lpstr>Review of Learning Objectives (2 of 3)</vt:lpstr>
      <vt:lpstr>Alcohol Use Disorder (AUD) (1 of 12)</vt:lpstr>
      <vt:lpstr>Alcohol Use Disorder (AUD) (2 of 12)</vt:lpstr>
      <vt:lpstr>Alcohol Use Disorder (AUD) (3 of 12)</vt:lpstr>
      <vt:lpstr>Alcohol Use Disorder (AUD) (4 of 12)</vt:lpstr>
      <vt:lpstr>Alcohol Use Disorder (AUD) (5 of 12)</vt:lpstr>
      <vt:lpstr>FIGURE 10.22  Low sensitivity to alcohol is a risk factor for AUD </vt:lpstr>
      <vt:lpstr>Alcohol Use Disorder (AUD) (6 of 12)</vt:lpstr>
      <vt:lpstr>Alcohol Use Disorder (AUD) (7 of 12)</vt:lpstr>
      <vt:lpstr>Alcohol Use Disorder (AUD) (8 of 12)</vt:lpstr>
      <vt:lpstr>FIGURE 10.23  Effectiveness of naltrexone in treatment of AUD  </vt:lpstr>
      <vt:lpstr>Alcohol Use Disorder (AUD) (9 of 12)</vt:lpstr>
      <vt:lpstr>FIGURE 10.24  Acamprosate prevents withdrawal-induced glutamate release </vt:lpstr>
      <vt:lpstr>Alcohol Use Disorder (AUD) (10 of 12)</vt:lpstr>
      <vt:lpstr>FIGURE 10.25  Glucocorticoid receptor (GR) antagonism reduced alcohol-cued craving and drinking in dependent individuals </vt:lpstr>
      <vt:lpstr>Alcohol Use Disorder (AUD) (11 of 12)</vt:lpstr>
      <vt:lpstr>Alcohol Use Disorder (AUD) (12 of 12)</vt:lpstr>
      <vt:lpstr>Review of Learning Objectives (3 of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37</cp:revision>
  <dcterms:created xsi:type="dcterms:W3CDTF">2021-11-13T04:08:54Z</dcterms:created>
  <dcterms:modified xsi:type="dcterms:W3CDTF">2022-03-10T16:27:42Z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