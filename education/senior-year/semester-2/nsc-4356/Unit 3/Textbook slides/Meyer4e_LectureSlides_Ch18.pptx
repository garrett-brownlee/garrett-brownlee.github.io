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 ContentType="image/tif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 id="2147483680" r:id="rId5"/>
  </p:sldMasterIdLst>
  <p:notesMasterIdLst>
    <p:notesMasterId r:id="rId66"/>
  </p:notesMasterIdLst>
  <p:handoutMasterIdLst>
    <p:handoutMasterId r:id="rId67"/>
  </p:handoutMasterIdLst>
  <p:sldIdLst>
    <p:sldId id="341" r:id="rId6"/>
    <p:sldId id="270" r:id="rId7"/>
    <p:sldId id="274" r:id="rId8"/>
    <p:sldId id="288" r:id="rId9"/>
    <p:sldId id="289" r:id="rId10"/>
    <p:sldId id="271" r:id="rId11"/>
    <p:sldId id="284" r:id="rId12"/>
    <p:sldId id="290" r:id="rId13"/>
    <p:sldId id="345" r:id="rId14"/>
    <p:sldId id="291" r:id="rId15"/>
    <p:sldId id="292" r:id="rId16"/>
    <p:sldId id="346" r:id="rId17"/>
    <p:sldId id="295" r:id="rId18"/>
    <p:sldId id="347" r:id="rId19"/>
    <p:sldId id="294" r:id="rId20"/>
    <p:sldId id="348" r:id="rId21"/>
    <p:sldId id="298" r:id="rId22"/>
    <p:sldId id="349" r:id="rId23"/>
    <p:sldId id="299" r:id="rId24"/>
    <p:sldId id="300" r:id="rId25"/>
    <p:sldId id="301" r:id="rId26"/>
    <p:sldId id="285" r:id="rId27"/>
    <p:sldId id="342" r:id="rId28"/>
    <p:sldId id="303" r:id="rId29"/>
    <p:sldId id="304" r:id="rId30"/>
    <p:sldId id="305" r:id="rId31"/>
    <p:sldId id="306" r:id="rId32"/>
    <p:sldId id="350" r:id="rId33"/>
    <p:sldId id="307" r:id="rId34"/>
    <p:sldId id="308" r:id="rId35"/>
    <p:sldId id="351" r:id="rId36"/>
    <p:sldId id="312" r:id="rId37"/>
    <p:sldId id="352" r:id="rId38"/>
    <p:sldId id="353" r:id="rId39"/>
    <p:sldId id="314" r:id="rId40"/>
    <p:sldId id="354" r:id="rId41"/>
    <p:sldId id="318" r:id="rId42"/>
    <p:sldId id="286" r:id="rId43"/>
    <p:sldId id="355" r:id="rId44"/>
    <p:sldId id="319" r:id="rId45"/>
    <p:sldId id="356" r:id="rId46"/>
    <p:sldId id="323" r:id="rId47"/>
    <p:sldId id="343" r:id="rId48"/>
    <p:sldId id="324" r:id="rId49"/>
    <p:sldId id="315" r:id="rId50"/>
    <p:sldId id="357" r:id="rId51"/>
    <p:sldId id="326" r:id="rId52"/>
    <p:sldId id="327" r:id="rId53"/>
    <p:sldId id="328" r:id="rId54"/>
    <p:sldId id="329" r:id="rId55"/>
    <p:sldId id="330" r:id="rId56"/>
    <p:sldId id="331" r:id="rId57"/>
    <p:sldId id="332" r:id="rId58"/>
    <p:sldId id="333" r:id="rId59"/>
    <p:sldId id="358" r:id="rId60"/>
    <p:sldId id="335" r:id="rId61"/>
    <p:sldId id="336" r:id="rId62"/>
    <p:sldId id="338" r:id="rId63"/>
    <p:sldId id="340" r:id="rId64"/>
    <p:sldId id="344" r:id="rId6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A47"/>
    <a:srgbClr val="014478"/>
    <a:srgbClr val="001B47"/>
    <a:srgbClr val="1F497D"/>
    <a:srgbClr val="00214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760" autoAdjust="0"/>
    <p:restoredTop sz="91358" autoAdjust="0"/>
  </p:normalViewPr>
  <p:slideViewPr>
    <p:cSldViewPr snapToGrid="0" snapToObjects="1">
      <p:cViewPr varScale="1">
        <p:scale>
          <a:sx n="75" d="100"/>
          <a:sy n="75" d="100"/>
        </p:scale>
        <p:origin x="96" y="118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5512"/>
    </p:cViewPr>
  </p:sorterViewPr>
  <p:notesViewPr>
    <p:cSldViewPr snapToGrid="0" snapToObjects="1">
      <p:cViewPr varScale="1">
        <p:scale>
          <a:sx n="85" d="100"/>
          <a:sy n="85" d="100"/>
        </p:scale>
        <p:origin x="3132"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slide" Target="slides/slide58.xml"/><Relationship Id="rId68" Type="http://schemas.openxmlformats.org/officeDocument/2006/relationships/presProps" Target="presProps.xml"/><Relationship Id="rId7" Type="http://schemas.openxmlformats.org/officeDocument/2006/relationships/slide" Target="slides/slide2.xml"/><Relationship Id="rId71"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61" Type="http://schemas.openxmlformats.org/officeDocument/2006/relationships/slide" Target="slides/slide56.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viewProps" Target="viewProp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handoutMaster" Target="handoutMasters/handoutMaster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8685613-ADFF-4141-B66C-A45235623B50}" type="datetimeFigureOut">
              <a:rPr lang="en-US" smtClean="0"/>
              <a:t>3/25/2022</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92E8A8-05A8-499B-9FC4-E546163481AE}" type="slidenum">
              <a:rPr lang="en-US" smtClean="0"/>
              <a:t>‹#›</a:t>
            </a:fld>
            <a:endParaRPr lang="en-US"/>
          </a:p>
        </p:txBody>
      </p:sp>
    </p:spTree>
    <p:extLst>
      <p:ext uri="{BB962C8B-B14F-4D97-AF65-F5344CB8AC3E}">
        <p14:creationId xmlns:p14="http://schemas.microsoft.com/office/powerpoint/2010/main" val="10491195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B1F5199-F7F4-4FB2-A2CD-22A2CFC87608}" type="datetimeFigureOut">
              <a:rPr lang="en-US" smtClean="0"/>
              <a:t>3/25/2022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56C0744-2FEF-4441-821D-70180A370937}" type="slidenum">
              <a:rPr lang="en-US" smtClean="0"/>
              <a:t>‹#›</a:t>
            </a:fld>
            <a:endParaRPr lang="en-US"/>
          </a:p>
        </p:txBody>
      </p:sp>
    </p:spTree>
    <p:extLst>
      <p:ext uri="{BB962C8B-B14F-4D97-AF65-F5344CB8AC3E}">
        <p14:creationId xmlns:p14="http://schemas.microsoft.com/office/powerpoint/2010/main" val="1271703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6C0744-2FEF-4441-821D-70180A37093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862791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6</a:t>
            </a:fld>
            <a:endParaRPr lang="en-US"/>
          </a:p>
        </p:txBody>
      </p:sp>
    </p:spTree>
    <p:extLst>
      <p:ext uri="{BB962C8B-B14F-4D97-AF65-F5344CB8AC3E}">
        <p14:creationId xmlns:p14="http://schemas.microsoft.com/office/powerpoint/2010/main" val="7660329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u="sng" dirty="0"/>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7</a:t>
            </a:fld>
            <a:endParaRPr lang="en-US"/>
          </a:p>
        </p:txBody>
      </p:sp>
    </p:spTree>
    <p:extLst>
      <p:ext uri="{BB962C8B-B14F-4D97-AF65-F5344CB8AC3E}">
        <p14:creationId xmlns:p14="http://schemas.microsoft.com/office/powerpoint/2010/main" val="22831420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u="sng" dirty="0"/>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8</a:t>
            </a:fld>
            <a:endParaRPr lang="en-US"/>
          </a:p>
        </p:txBody>
      </p:sp>
    </p:spTree>
    <p:extLst>
      <p:ext uri="{BB962C8B-B14F-4D97-AF65-F5344CB8AC3E}">
        <p14:creationId xmlns:p14="http://schemas.microsoft.com/office/powerpoint/2010/main" val="36712897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18.1  Age of onset of major depression 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Americans are developing major depression at higher rates and younger ages than previously, according to this analysis of data. The study evaluated 18,244 people at five sites, grouped in cohorts on the basis of year of birth. Cross-cultural surveys indicate a similar phenomenon worldwide. (After D. H. Barlow and V. M. Durand. 1995. </a:t>
            </a:r>
            <a:r>
              <a:rPr lang="en-US" sz="1200" i="1" kern="1200" dirty="0">
                <a:solidFill>
                  <a:schemeClr val="tx1"/>
                </a:solidFill>
                <a:effectLst/>
                <a:latin typeface="+mn-lt"/>
                <a:ea typeface="+mn-ea"/>
                <a:cs typeface="+mn-cs"/>
              </a:rPr>
              <a:t>Abnormal Psychology: An Integrative Approach</a:t>
            </a:r>
            <a:r>
              <a:rPr lang="en-US" sz="1200" kern="1200" dirty="0">
                <a:solidFill>
                  <a:schemeClr val="tx1"/>
                </a:solidFill>
                <a:effectLst/>
                <a:latin typeface="+mn-lt"/>
                <a:ea typeface="+mn-ea"/>
                <a:cs typeface="+mn-cs"/>
              </a:rPr>
              <a:t>. Brooks/Cole: New York.)</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9</a:t>
            </a:fld>
            <a:endParaRPr lang="en-US"/>
          </a:p>
        </p:txBody>
      </p:sp>
    </p:spTree>
    <p:extLst>
      <p:ext uri="{BB962C8B-B14F-4D97-AF65-F5344CB8AC3E}">
        <p14:creationId xmlns:p14="http://schemas.microsoft.com/office/powerpoint/2010/main" val="16254120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u="sng" dirty="0"/>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10</a:t>
            </a:fld>
            <a:endParaRPr lang="en-US"/>
          </a:p>
        </p:txBody>
      </p:sp>
    </p:spTree>
    <p:extLst>
      <p:ext uri="{BB962C8B-B14F-4D97-AF65-F5344CB8AC3E}">
        <p14:creationId xmlns:p14="http://schemas.microsoft.com/office/powerpoint/2010/main" val="31574629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u="sng" dirty="0"/>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11</a:t>
            </a:fld>
            <a:endParaRPr lang="en-US"/>
          </a:p>
        </p:txBody>
      </p:sp>
    </p:spTree>
    <p:extLst>
      <p:ext uri="{BB962C8B-B14F-4D97-AF65-F5344CB8AC3E}">
        <p14:creationId xmlns:p14="http://schemas.microsoft.com/office/powerpoint/2010/main" val="2937663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18.2  Concordance rates for mood disorders among identical and fraternal twins 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Identical twins are far more likely to share mood disorders than are fraternal twins, especially in the case of bipolar disorder. Concordance for clinical depression depends to some extent on severity. In this case, severe depression is defined as three or more episodes of depression. Data were derived from 110 pairs of twins. (After A. </a:t>
            </a:r>
            <a:r>
              <a:rPr lang="en-US" sz="1200" kern="1200" dirty="0" err="1">
                <a:solidFill>
                  <a:schemeClr val="tx1"/>
                </a:solidFill>
                <a:effectLst/>
                <a:latin typeface="+mn-lt"/>
                <a:ea typeface="+mn-ea"/>
                <a:cs typeface="+mn-cs"/>
              </a:rPr>
              <a:t>Bertelsen</a:t>
            </a:r>
            <a:r>
              <a:rPr lang="en-US" sz="1200" kern="1200" dirty="0">
                <a:solidFill>
                  <a:schemeClr val="tx1"/>
                </a:solidFill>
                <a:effectLst/>
                <a:latin typeface="+mn-lt"/>
                <a:ea typeface="+mn-ea"/>
                <a:cs typeface="+mn-cs"/>
              </a:rPr>
              <a:t> et al. 1977. </a:t>
            </a:r>
            <a:r>
              <a:rPr lang="en-US" sz="1200" i="1" kern="1200" dirty="0">
                <a:solidFill>
                  <a:schemeClr val="tx1"/>
                </a:solidFill>
                <a:effectLst/>
                <a:latin typeface="+mn-lt"/>
                <a:ea typeface="+mn-ea"/>
                <a:cs typeface="+mn-cs"/>
              </a:rPr>
              <a:t>Br J Psychiatry</a:t>
            </a:r>
            <a:r>
              <a:rPr lang="en-US" sz="1200" kern="1200" dirty="0">
                <a:solidFill>
                  <a:schemeClr val="tx1"/>
                </a:solidFill>
                <a:effectLst/>
                <a:latin typeface="+mn-lt"/>
                <a:ea typeface="+mn-ea"/>
                <a:cs typeface="+mn-cs"/>
              </a:rPr>
              <a:t> 130: 330–351.)</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12</a:t>
            </a:fld>
            <a:endParaRPr lang="en-US"/>
          </a:p>
        </p:txBody>
      </p:sp>
    </p:spTree>
    <p:extLst>
      <p:ext uri="{BB962C8B-B14F-4D97-AF65-F5344CB8AC3E}">
        <p14:creationId xmlns:p14="http://schemas.microsoft.com/office/powerpoint/2010/main" val="27919605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u="sng" dirty="0"/>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13</a:t>
            </a:fld>
            <a:endParaRPr lang="en-US"/>
          </a:p>
        </p:txBody>
      </p:sp>
    </p:spTree>
    <p:extLst>
      <p:ext uri="{BB962C8B-B14F-4D97-AF65-F5344CB8AC3E}">
        <p14:creationId xmlns:p14="http://schemas.microsoft.com/office/powerpoint/2010/main" val="38311108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18.3  Abnormalities in glucocorticoids 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 Many (but not all) depressed patients have elevated cortisol levels compared with controls. Each dot represents a single individual. (B) Differences exist in circadian changes in blood cortisol levels between depressed patients and healthy controls. The measures were made each hour over a 1-day period. The decline in cortisol that normally occurs in the early morning and evening occurs to a lesser extent in depressed patients. (C) Depressed individuals fail to respond with reduced cortisol levels after injection with 1 mg dexamethasone (DEX). The injected glucocorticoid also normally reduces both CRF release from the hypothalamus and pituitary release of ACTH. (B after E. R. Kandel. 2000. In </a:t>
            </a:r>
            <a:r>
              <a:rPr lang="en-US" sz="1200" i="1" kern="1200" dirty="0">
                <a:solidFill>
                  <a:schemeClr val="tx1"/>
                </a:solidFill>
                <a:effectLst/>
                <a:latin typeface="+mn-lt"/>
                <a:ea typeface="+mn-ea"/>
                <a:cs typeface="+mn-cs"/>
              </a:rPr>
              <a:t>Principles of Neural Science</a:t>
            </a:r>
            <a:r>
              <a:rPr lang="en-US" sz="1200" kern="1200" dirty="0">
                <a:solidFill>
                  <a:schemeClr val="tx1"/>
                </a:solidFill>
                <a:effectLst/>
                <a:latin typeface="+mn-lt"/>
                <a:ea typeface="+mn-ea"/>
                <a:cs typeface="+mn-cs"/>
              </a:rPr>
              <a:t> (4th ed.), E. R. Kandel et al. [Eds.], pp. 1209–1226, McGraw-Hill: New York © McGraw-Hill. C after S. B. Klein. 2000. </a:t>
            </a:r>
            <a:r>
              <a:rPr lang="en-US" sz="1200" i="1" kern="1200" dirty="0">
                <a:solidFill>
                  <a:schemeClr val="tx1"/>
                </a:solidFill>
                <a:effectLst/>
                <a:latin typeface="+mn-lt"/>
                <a:ea typeface="+mn-ea"/>
                <a:cs typeface="+mn-cs"/>
              </a:rPr>
              <a:t>Biological Psychology</a:t>
            </a:r>
            <a:r>
              <a:rPr lang="en-US" sz="1200" kern="1200" dirty="0">
                <a:solidFill>
                  <a:schemeClr val="tx1"/>
                </a:solidFill>
                <a:effectLst/>
                <a:latin typeface="+mn-lt"/>
                <a:ea typeface="+mn-ea"/>
                <a:cs typeface="+mn-cs"/>
              </a:rPr>
              <a:t>, Prentice-Hall: Upper Saddle River, NJ.)</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14</a:t>
            </a:fld>
            <a:endParaRPr lang="en-US"/>
          </a:p>
        </p:txBody>
      </p:sp>
    </p:spTree>
    <p:extLst>
      <p:ext uri="{BB962C8B-B14F-4D97-AF65-F5344CB8AC3E}">
        <p14:creationId xmlns:p14="http://schemas.microsoft.com/office/powerpoint/2010/main" val="23622664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u="sng" dirty="0"/>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15</a:t>
            </a:fld>
            <a:endParaRPr lang="en-US"/>
          </a:p>
        </p:txBody>
      </p:sp>
    </p:spTree>
    <p:extLst>
      <p:ext uri="{BB962C8B-B14F-4D97-AF65-F5344CB8AC3E}">
        <p14:creationId xmlns:p14="http://schemas.microsoft.com/office/powerpoint/2010/main" val="28586810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FIGURE 18.4  Altered sleep architecture in depression </a:t>
            </a:r>
            <a:br>
              <a:rPr lang="en-US" sz="1200" b="1"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 In depressed patients, the onset of sleep is delayed and REM periods (colored red) get shorter as the night goes on rather than longer, which is typical in healthy adults. Also, notice the many awakenings that occur during the night because of failure to reach deep sleep (stages III and IV). (B) REM episodes begin sooner after the onset of sleep in depressed than in </a:t>
            </a:r>
            <a:r>
              <a:rPr lang="en-US" sz="1200" kern="1200" dirty="0" err="1">
                <a:solidFill>
                  <a:schemeClr val="tx1"/>
                </a:solidFill>
                <a:effectLst/>
                <a:latin typeface="+mn-lt"/>
                <a:ea typeface="+mn-ea"/>
                <a:cs typeface="+mn-cs"/>
              </a:rPr>
              <a:t>nondepressed</a:t>
            </a:r>
            <a:r>
              <a:rPr lang="en-US" sz="1200" kern="1200" dirty="0">
                <a:solidFill>
                  <a:schemeClr val="tx1"/>
                </a:solidFill>
                <a:effectLst/>
                <a:latin typeface="+mn-lt"/>
                <a:ea typeface="+mn-ea"/>
                <a:cs typeface="+mn-cs"/>
              </a:rPr>
              <a:t> individuals at every age.</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16</a:t>
            </a:fld>
            <a:endParaRPr lang="en-US"/>
          </a:p>
        </p:txBody>
      </p:sp>
    </p:spTree>
    <p:extLst>
      <p:ext uri="{BB962C8B-B14F-4D97-AF65-F5344CB8AC3E}">
        <p14:creationId xmlns:p14="http://schemas.microsoft.com/office/powerpoint/2010/main" val="35448924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u="sng" dirty="0"/>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17</a:t>
            </a:fld>
            <a:endParaRPr lang="en-US"/>
          </a:p>
        </p:txBody>
      </p:sp>
    </p:spTree>
    <p:extLst>
      <p:ext uri="{BB962C8B-B14F-4D97-AF65-F5344CB8AC3E}">
        <p14:creationId xmlns:p14="http://schemas.microsoft.com/office/powerpoint/2010/main" val="15363689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18.5  The potential involvement of the gut–brain axis in the pathophysiology of depression 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Schematic shows how chronic stress, antibiotics, and poor diet (dashed outlines) may impact the enteric nervous system (ENS) and its interactions with the brain through the HPA axis, the </a:t>
            </a:r>
            <a:r>
              <a:rPr lang="en-US" sz="1200" kern="1200" dirty="0" err="1">
                <a:solidFill>
                  <a:schemeClr val="tx1"/>
                </a:solidFill>
                <a:effectLst/>
                <a:latin typeface="+mn-lt"/>
                <a:ea typeface="+mn-ea"/>
                <a:cs typeface="+mn-cs"/>
              </a:rPr>
              <a:t>vagus</a:t>
            </a:r>
            <a:r>
              <a:rPr lang="en-US" sz="1200" kern="1200" dirty="0">
                <a:solidFill>
                  <a:schemeClr val="tx1"/>
                </a:solidFill>
                <a:effectLst/>
                <a:latin typeface="+mn-lt"/>
                <a:ea typeface="+mn-ea"/>
                <a:cs typeface="+mn-cs"/>
              </a:rPr>
              <a:t> nerve, and chronic inflammation. This can lead to brain dysfunctions such as decreased neuroplasticity, neurogenesis, and neuroinflammation as seen in animal models of depression as well as in patients. Therapies such as treatment with pre/probiotics, fecal transplants from healthy donors, and healthy diet (heavy solid outlines) have the potential to mitigate these dysfunctions and improve the symptoms of depression in patients. (After S. Liang et al. 2018. </a:t>
            </a:r>
            <a:r>
              <a:rPr lang="en-US" sz="1200" i="1" kern="1200" dirty="0" err="1">
                <a:solidFill>
                  <a:schemeClr val="tx1"/>
                </a:solidFill>
                <a:effectLst/>
                <a:latin typeface="+mn-lt"/>
                <a:ea typeface="+mn-ea"/>
                <a:cs typeface="+mn-cs"/>
              </a:rPr>
              <a:t>Int</a:t>
            </a:r>
            <a:r>
              <a:rPr lang="en-US" sz="1200" i="1" kern="1200" dirty="0">
                <a:solidFill>
                  <a:schemeClr val="tx1"/>
                </a:solidFill>
                <a:effectLst/>
                <a:latin typeface="+mn-lt"/>
                <a:ea typeface="+mn-ea"/>
                <a:cs typeface="+mn-cs"/>
              </a:rPr>
              <a:t> J </a:t>
            </a:r>
            <a:r>
              <a:rPr lang="en-US" sz="1200" i="1" kern="1200" dirty="0" err="1">
                <a:solidFill>
                  <a:schemeClr val="tx1"/>
                </a:solidFill>
                <a:effectLst/>
                <a:latin typeface="+mn-lt"/>
                <a:ea typeface="+mn-ea"/>
                <a:cs typeface="+mn-cs"/>
              </a:rPr>
              <a:t>Mol</a:t>
            </a:r>
            <a:r>
              <a:rPr lang="en-US" sz="1200" i="1" kern="1200" dirty="0">
                <a:solidFill>
                  <a:schemeClr val="tx1"/>
                </a:solidFill>
                <a:effectLst/>
                <a:latin typeface="+mn-lt"/>
                <a:ea typeface="+mn-ea"/>
                <a:cs typeface="+mn-cs"/>
              </a:rPr>
              <a:t> Sci</a:t>
            </a:r>
            <a:r>
              <a:rPr lang="en-US" sz="1200" kern="1200" dirty="0">
                <a:solidFill>
                  <a:schemeClr val="tx1"/>
                </a:solidFill>
                <a:effectLst/>
                <a:latin typeface="+mn-lt"/>
                <a:ea typeface="+mn-ea"/>
                <a:cs typeface="+mn-cs"/>
              </a:rPr>
              <a:t> 19: 1592. </a:t>
            </a:r>
            <a:r>
              <a:rPr lang="en-US" sz="1200" kern="1200" dirty="0" err="1">
                <a:solidFill>
                  <a:schemeClr val="tx1"/>
                </a:solidFill>
                <a:effectLst/>
                <a:latin typeface="+mn-lt"/>
                <a:ea typeface="+mn-ea"/>
                <a:cs typeface="+mn-cs"/>
              </a:rPr>
              <a:t>doi.org</a:t>
            </a:r>
            <a:r>
              <a:rPr lang="en-US" sz="1200" kern="1200" dirty="0">
                <a:solidFill>
                  <a:schemeClr val="tx1"/>
                </a:solidFill>
                <a:effectLst/>
                <a:latin typeface="+mn-lt"/>
                <a:ea typeface="+mn-ea"/>
                <a:cs typeface="+mn-cs"/>
              </a:rPr>
              <a:t>/10.3390/ijms19061592. CC BY 4.0, </a:t>
            </a:r>
            <a:r>
              <a:rPr lang="en-US" sz="1200" kern="1200" dirty="0" err="1">
                <a:solidFill>
                  <a:schemeClr val="tx1"/>
                </a:solidFill>
                <a:effectLst/>
                <a:latin typeface="+mn-lt"/>
                <a:ea typeface="+mn-ea"/>
                <a:cs typeface="+mn-cs"/>
              </a:rPr>
              <a:t>creativecommons.org</a:t>
            </a:r>
            <a:r>
              <a:rPr lang="en-US" sz="1200" kern="1200" dirty="0">
                <a:solidFill>
                  <a:schemeClr val="tx1"/>
                </a:solidFill>
                <a:effectLst/>
                <a:latin typeface="+mn-lt"/>
                <a:ea typeface="+mn-ea"/>
                <a:cs typeface="+mn-cs"/>
              </a:rPr>
              <a:t>/licenses/by/4.0/)</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18</a:t>
            </a:fld>
            <a:endParaRPr lang="en-US"/>
          </a:p>
        </p:txBody>
      </p:sp>
    </p:spTree>
    <p:extLst>
      <p:ext uri="{BB962C8B-B14F-4D97-AF65-F5344CB8AC3E}">
        <p14:creationId xmlns:p14="http://schemas.microsoft.com/office/powerpoint/2010/main" val="24121869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u="sng" dirty="0"/>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19</a:t>
            </a:fld>
            <a:endParaRPr lang="en-US"/>
          </a:p>
        </p:txBody>
      </p:sp>
    </p:spTree>
    <p:extLst>
      <p:ext uri="{BB962C8B-B14F-4D97-AF65-F5344CB8AC3E}">
        <p14:creationId xmlns:p14="http://schemas.microsoft.com/office/powerpoint/2010/main" val="32420891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u="sng" dirty="0"/>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20</a:t>
            </a:fld>
            <a:endParaRPr lang="en-US"/>
          </a:p>
        </p:txBody>
      </p:sp>
    </p:spTree>
    <p:extLst>
      <p:ext uri="{BB962C8B-B14F-4D97-AF65-F5344CB8AC3E}">
        <p14:creationId xmlns:p14="http://schemas.microsoft.com/office/powerpoint/2010/main" val="22382937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u="sng" dirty="0"/>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21</a:t>
            </a:fld>
            <a:endParaRPr lang="en-US"/>
          </a:p>
        </p:txBody>
      </p:sp>
    </p:spTree>
    <p:extLst>
      <p:ext uri="{BB962C8B-B14F-4D97-AF65-F5344CB8AC3E}">
        <p14:creationId xmlns:p14="http://schemas.microsoft.com/office/powerpoint/2010/main" val="29126194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r>
              <a:rPr lang="en-US" dirty="0"/>
              <a:t>Correct answer: b</a:t>
            </a:r>
          </a:p>
        </p:txBody>
      </p:sp>
      <p:sp>
        <p:nvSpPr>
          <p:cNvPr id="4" name="Slide Number Placeholder 3"/>
          <p:cNvSpPr>
            <a:spLocks noGrp="1"/>
          </p:cNvSpPr>
          <p:nvPr>
            <p:ph type="sldNum" sz="quarter" idx="5"/>
          </p:nvPr>
        </p:nvSpPr>
        <p:spPr/>
        <p:txBody>
          <a:bodyPr/>
          <a:lstStyle/>
          <a:p>
            <a:fld id="{556C0744-2FEF-4441-821D-70180A370937}" type="slidenum">
              <a:rPr lang="en-US" smtClean="0"/>
              <a:t>22</a:t>
            </a:fld>
            <a:endParaRPr lang="en-US"/>
          </a:p>
        </p:txBody>
      </p:sp>
    </p:spTree>
    <p:extLst>
      <p:ext uri="{BB962C8B-B14F-4D97-AF65-F5344CB8AC3E}">
        <p14:creationId xmlns:p14="http://schemas.microsoft.com/office/powerpoint/2010/main" val="25842292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u="sng" dirty="0"/>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24</a:t>
            </a:fld>
            <a:endParaRPr lang="en-US"/>
          </a:p>
        </p:txBody>
      </p:sp>
    </p:spTree>
    <p:extLst>
      <p:ext uri="{BB962C8B-B14F-4D97-AF65-F5344CB8AC3E}">
        <p14:creationId xmlns:p14="http://schemas.microsoft.com/office/powerpoint/2010/main" val="31559845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u="sng" dirty="0"/>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25</a:t>
            </a:fld>
            <a:endParaRPr lang="en-US"/>
          </a:p>
        </p:txBody>
      </p:sp>
    </p:spTree>
    <p:extLst>
      <p:ext uri="{BB962C8B-B14F-4D97-AF65-F5344CB8AC3E}">
        <p14:creationId xmlns:p14="http://schemas.microsoft.com/office/powerpoint/2010/main" val="35740131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u="sng" dirty="0"/>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26</a:t>
            </a:fld>
            <a:endParaRPr lang="en-US"/>
          </a:p>
        </p:txBody>
      </p:sp>
    </p:spTree>
    <p:extLst>
      <p:ext uri="{BB962C8B-B14F-4D97-AF65-F5344CB8AC3E}">
        <p14:creationId xmlns:p14="http://schemas.microsoft.com/office/powerpoint/2010/main" val="11477144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u="sng" dirty="0"/>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27</a:t>
            </a:fld>
            <a:endParaRPr lang="en-US"/>
          </a:p>
        </p:txBody>
      </p:sp>
    </p:spTree>
    <p:extLst>
      <p:ext uri="{BB962C8B-B14F-4D97-AF65-F5344CB8AC3E}">
        <p14:creationId xmlns:p14="http://schemas.microsoft.com/office/powerpoint/2010/main" val="13818106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FIGURE 18.6  Effects of anti­depressants on serotonergic cells </a:t>
            </a:r>
            <a:br>
              <a:rPr lang="en-US" sz="1200" b="1"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 The initial effects of reuptake blockade include increased 5-HT in the synapse and activity at both postsynaptic receptors and </a:t>
            </a:r>
            <a:r>
              <a:rPr lang="en-US" sz="1200" kern="1200" dirty="0" err="1">
                <a:solidFill>
                  <a:schemeClr val="tx1"/>
                </a:solidFill>
                <a:effectLst/>
                <a:latin typeface="+mn-lt"/>
                <a:ea typeface="+mn-ea"/>
                <a:cs typeface="+mn-cs"/>
              </a:rPr>
              <a:t>autoreceptors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Autoreceptor</a:t>
            </a:r>
            <a:r>
              <a:rPr lang="en-US" sz="1200" kern="1200" dirty="0">
                <a:solidFill>
                  <a:schemeClr val="tx1"/>
                </a:solidFill>
                <a:effectLst/>
                <a:latin typeface="+mn-lt"/>
                <a:ea typeface="+mn-ea"/>
                <a:cs typeface="+mn-cs"/>
              </a:rPr>
              <a:t> activation reduces the rate of firing of the cell as well as the rate of synthesis and release of 5-HT and subsequently also reduces the rate of formation of 5-HIAA. (B) With repeated administration, the </a:t>
            </a:r>
            <a:r>
              <a:rPr lang="en-US" sz="1200" kern="1200" dirty="0" err="1">
                <a:solidFill>
                  <a:schemeClr val="tx1"/>
                </a:solidFill>
                <a:effectLst/>
                <a:latin typeface="+mn-lt"/>
                <a:ea typeface="+mn-ea"/>
                <a:cs typeface="+mn-cs"/>
              </a:rPr>
              <a:t>autoreceptors</a:t>
            </a:r>
            <a:r>
              <a:rPr lang="en-US" sz="1200" kern="1200" dirty="0">
                <a:solidFill>
                  <a:schemeClr val="tx1"/>
                </a:solidFill>
                <a:effectLst/>
                <a:latin typeface="+mn-lt"/>
                <a:ea typeface="+mn-ea"/>
                <a:cs typeface="+mn-cs"/>
              </a:rPr>
              <a:t> become less sensitive, and their inhibition of serotonergic neurons decreases, which leads to an increase in 5-HT function and 5-HIAA. However, the increase in 5-HT is perhaps just the initial step, and subsequent changes downstream, </a:t>
            </a:r>
            <a:r>
              <a:rPr lang="en-US" sz="1200" kern="1200" dirty="0" err="1">
                <a:solidFill>
                  <a:schemeClr val="tx1"/>
                </a:solidFill>
                <a:effectLst/>
                <a:latin typeface="+mn-lt"/>
                <a:ea typeface="+mn-ea"/>
                <a:cs typeface="+mn-cs"/>
              </a:rPr>
              <a:t>postsynaptically</a:t>
            </a:r>
            <a:r>
              <a:rPr lang="en-US" sz="1200" kern="1200" dirty="0">
                <a:solidFill>
                  <a:schemeClr val="tx1"/>
                </a:solidFill>
                <a:effectLst/>
                <a:latin typeface="+mn-lt"/>
                <a:ea typeface="+mn-ea"/>
                <a:cs typeface="+mn-cs"/>
              </a:rPr>
              <a:t>, are required, including hippocampal neuro­genesis and functional remodeling of corticolimbic circuits.</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28</a:t>
            </a:fld>
            <a:endParaRPr lang="en-US"/>
          </a:p>
        </p:txBody>
      </p:sp>
    </p:spTree>
    <p:extLst>
      <p:ext uri="{BB962C8B-B14F-4D97-AF65-F5344CB8AC3E}">
        <p14:creationId xmlns:p14="http://schemas.microsoft.com/office/powerpoint/2010/main" val="23888700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u="sng" dirty="0"/>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29</a:t>
            </a:fld>
            <a:endParaRPr lang="en-US"/>
          </a:p>
        </p:txBody>
      </p:sp>
    </p:spTree>
    <p:extLst>
      <p:ext uri="{BB962C8B-B14F-4D97-AF65-F5344CB8AC3E}">
        <p14:creationId xmlns:p14="http://schemas.microsoft.com/office/powerpoint/2010/main" val="42331292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u="sng" dirty="0"/>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30</a:t>
            </a:fld>
            <a:endParaRPr lang="en-US"/>
          </a:p>
        </p:txBody>
      </p:sp>
    </p:spTree>
    <p:extLst>
      <p:ext uri="{BB962C8B-B14F-4D97-AF65-F5344CB8AC3E}">
        <p14:creationId xmlns:p14="http://schemas.microsoft.com/office/powerpoint/2010/main" val="39084312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18.7  Two monoamine pathways in the human brain 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This schematic diagram shows noradrenergic pathways originating in the locus coeruleus (A) and serotonergic pathways originating in the raphe nuclei (B). The overlapping nature and interaction of the two neurotransmitter systems are very apparent.</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31</a:t>
            </a:fld>
            <a:endParaRPr lang="en-US"/>
          </a:p>
        </p:txBody>
      </p:sp>
    </p:spTree>
    <p:extLst>
      <p:ext uri="{BB962C8B-B14F-4D97-AF65-F5344CB8AC3E}">
        <p14:creationId xmlns:p14="http://schemas.microsoft.com/office/powerpoint/2010/main" val="3547410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u="sng" dirty="0"/>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32</a:t>
            </a:fld>
            <a:endParaRPr lang="en-US"/>
          </a:p>
        </p:txBody>
      </p:sp>
    </p:spTree>
    <p:extLst>
      <p:ext uri="{BB962C8B-B14F-4D97-AF65-F5344CB8AC3E}">
        <p14:creationId xmlns:p14="http://schemas.microsoft.com/office/powerpoint/2010/main" val="37725386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18.8  PET scan of blood flow in the brain of a patient with unipolar depression 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Increased metabolic activity occurs in the amygdala and the medial orbitofrontal cortex. Activation is shown in red and orange.</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33</a:t>
            </a:fld>
            <a:endParaRPr lang="en-US"/>
          </a:p>
        </p:txBody>
      </p:sp>
    </p:spTree>
    <p:extLst>
      <p:ext uri="{BB962C8B-B14F-4D97-AF65-F5344CB8AC3E}">
        <p14:creationId xmlns:p14="http://schemas.microsoft.com/office/powerpoint/2010/main" val="14450216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18.9  The default-mode network (DMN) drives cognitive rumination. 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 fMRI image shows functional connectivity of the three core regions of the DMN: the medial prefrontal cortex (</a:t>
            </a:r>
            <a:r>
              <a:rPr lang="en-US" sz="1200" kern="1200" dirty="0" err="1">
                <a:solidFill>
                  <a:schemeClr val="tx1"/>
                </a:solidFill>
                <a:effectLst/>
                <a:latin typeface="+mn-lt"/>
                <a:ea typeface="+mn-ea"/>
                <a:cs typeface="+mn-cs"/>
              </a:rPr>
              <a:t>mPFC</a:t>
            </a:r>
            <a:r>
              <a:rPr lang="en-US" sz="1200" kern="1200" dirty="0">
                <a:solidFill>
                  <a:schemeClr val="tx1"/>
                </a:solidFill>
                <a:effectLst/>
                <a:latin typeface="+mn-lt"/>
                <a:ea typeface="+mn-ea"/>
                <a:cs typeface="+mn-cs"/>
              </a:rPr>
              <a:t>), the precuneus (PC), and the left and right lateral parietal lobes (LP). DMN connectivity between these nodes is schematically depicted in (B).</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34</a:t>
            </a:fld>
            <a:endParaRPr lang="en-US"/>
          </a:p>
        </p:txBody>
      </p:sp>
    </p:spTree>
    <p:extLst>
      <p:ext uri="{BB962C8B-B14F-4D97-AF65-F5344CB8AC3E}">
        <p14:creationId xmlns:p14="http://schemas.microsoft.com/office/powerpoint/2010/main" val="19058589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pPr algn="l"/>
            <a:r>
              <a:rPr lang="en-US" sz="1800" b="1" i="0" u="none" strike="noStrike" baseline="0" dirty="0">
                <a:latin typeface="DINPro-Bold"/>
              </a:rPr>
              <a:t>BDNF </a:t>
            </a:r>
            <a:r>
              <a:rPr lang="en-US" sz="1800" b="0" i="0" u="none" strike="noStrike" baseline="0" dirty="0">
                <a:latin typeface="PalatinoLTStd-Roman"/>
              </a:rPr>
              <a:t>(</a:t>
            </a:r>
            <a:r>
              <a:rPr lang="en-US" sz="1800" b="1" i="0" u="none" strike="noStrike" baseline="0" dirty="0">
                <a:latin typeface="DINPro-Bold"/>
              </a:rPr>
              <a:t>brain-derived neurotrophic factor</a:t>
            </a:r>
            <a:r>
              <a:rPr lang="en-US" sz="1800" b="0" i="0" u="none" strike="noStrike" baseline="0" dirty="0">
                <a:latin typeface="PalatinoLTStd-Roman"/>
              </a:rPr>
              <a:t>).</a:t>
            </a:r>
            <a:endParaRPr lang="en-US" u="sng" dirty="0"/>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35</a:t>
            </a:fld>
            <a:endParaRPr lang="en-US"/>
          </a:p>
        </p:txBody>
      </p:sp>
    </p:spTree>
    <p:extLst>
      <p:ext uri="{BB962C8B-B14F-4D97-AF65-F5344CB8AC3E}">
        <p14:creationId xmlns:p14="http://schemas.microsoft.com/office/powerpoint/2010/main" val="172260647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18.10  Effect of stress and antidepressant treatment on BDNF in hippocampal cells 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box on the left shows a typical hippocampal cell in the CA3 area. Chronic stress (center) elevates glucocorticoids and decreases BDNF, which may be responsible for the loss of dendritic trees and may make the cells more vulnerable to a variety of detrimental factors. Chronic antidepressant treatment (right) not only alters monoamine transmission but also increases BDNF. BDNF may protect the cells from further damage and may help repair those already damaged. (After R. S. </a:t>
            </a:r>
            <a:r>
              <a:rPr lang="en-US" sz="1200" kern="1200" dirty="0" err="1">
                <a:solidFill>
                  <a:schemeClr val="tx1"/>
                </a:solidFill>
                <a:effectLst/>
                <a:latin typeface="+mn-lt"/>
                <a:ea typeface="+mn-ea"/>
                <a:cs typeface="+mn-cs"/>
              </a:rPr>
              <a:t>Duman</a:t>
            </a:r>
            <a:r>
              <a:rPr lang="en-US" sz="1200" kern="1200" dirty="0">
                <a:solidFill>
                  <a:schemeClr val="tx1"/>
                </a:solidFill>
                <a:effectLst/>
                <a:latin typeface="+mn-lt"/>
                <a:ea typeface="+mn-ea"/>
                <a:cs typeface="+mn-cs"/>
              </a:rPr>
              <a:t> et al. 1999. </a:t>
            </a:r>
            <a:r>
              <a:rPr lang="en-US" sz="1200" i="1" kern="1200" dirty="0" err="1">
                <a:solidFill>
                  <a:schemeClr val="tx1"/>
                </a:solidFill>
                <a:effectLst/>
                <a:latin typeface="+mn-lt"/>
                <a:ea typeface="+mn-ea"/>
                <a:cs typeface="+mn-cs"/>
              </a:rPr>
              <a:t>Biol</a:t>
            </a:r>
            <a:r>
              <a:rPr lang="en-US" sz="1200" i="1" kern="1200" dirty="0">
                <a:solidFill>
                  <a:schemeClr val="tx1"/>
                </a:solidFill>
                <a:effectLst/>
                <a:latin typeface="+mn-lt"/>
                <a:ea typeface="+mn-ea"/>
                <a:cs typeface="+mn-cs"/>
              </a:rPr>
              <a:t> Psychiatry</a:t>
            </a:r>
            <a:r>
              <a:rPr lang="en-US" sz="1200" kern="1200" dirty="0">
                <a:solidFill>
                  <a:schemeClr val="tx1"/>
                </a:solidFill>
                <a:effectLst/>
                <a:latin typeface="+mn-lt"/>
                <a:ea typeface="+mn-ea"/>
                <a:cs typeface="+mn-cs"/>
              </a:rPr>
              <a:t> 46: 1181–1191.)</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36</a:t>
            </a:fld>
            <a:endParaRPr lang="en-US"/>
          </a:p>
        </p:txBody>
      </p:sp>
    </p:spTree>
    <p:extLst>
      <p:ext uri="{BB962C8B-B14F-4D97-AF65-F5344CB8AC3E}">
        <p14:creationId xmlns:p14="http://schemas.microsoft.com/office/powerpoint/2010/main" val="9540059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37</a:t>
            </a:fld>
            <a:endParaRPr lang="en-US"/>
          </a:p>
        </p:txBody>
      </p:sp>
    </p:spTree>
    <p:extLst>
      <p:ext uri="{BB962C8B-B14F-4D97-AF65-F5344CB8AC3E}">
        <p14:creationId xmlns:p14="http://schemas.microsoft.com/office/powerpoint/2010/main" val="408023959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dirty="0"/>
          </a:p>
          <a:p>
            <a:r>
              <a:rPr lang="en-US" dirty="0" err="1"/>
              <a:t>sdsdfsd</a:t>
            </a:r>
            <a:endParaRPr lang="en-US" dirty="0"/>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38</a:t>
            </a:fld>
            <a:endParaRPr lang="en-US"/>
          </a:p>
        </p:txBody>
      </p:sp>
    </p:spTree>
    <p:extLst>
      <p:ext uri="{BB962C8B-B14F-4D97-AF65-F5344CB8AC3E}">
        <p14:creationId xmlns:p14="http://schemas.microsoft.com/office/powerpoint/2010/main" val="247911119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ctr"/>
            <a:r>
              <a:rPr lang="en-US" sz="1200" b="1" kern="1200" cap="all" dirty="0">
                <a:solidFill>
                  <a:schemeClr val="tx1"/>
                </a:solidFill>
                <a:effectLst/>
                <a:latin typeface="+mn-lt"/>
                <a:ea typeface="+mn-ea"/>
                <a:cs typeface="+mn-cs"/>
              </a:rPr>
              <a:t>Box 18.1  </a:t>
            </a:r>
            <a:r>
              <a:rPr lang="en-US" sz="1200" b="1" kern="1200" dirty="0">
                <a:solidFill>
                  <a:schemeClr val="tx1"/>
                </a:solidFill>
                <a:effectLst/>
                <a:latin typeface="+mn-lt"/>
                <a:ea typeface="+mn-ea"/>
                <a:cs typeface="+mn-cs"/>
              </a:rPr>
              <a:t>The Cutting Edge: </a:t>
            </a:r>
            <a:r>
              <a:rPr lang="en-GB" sz="1200" b="1" kern="1200" dirty="0">
                <a:solidFill>
                  <a:schemeClr val="tx1"/>
                </a:solidFill>
                <a:effectLst/>
                <a:latin typeface="+mn-lt"/>
                <a:ea typeface="+mn-ea"/>
                <a:cs typeface="+mn-cs"/>
              </a:rPr>
              <a:t>Epigenetic Modifications in Psychopathology and Treatment</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Chromatin remodeling 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 Under nonstress conditions, the chromatin of the BDNF gene has low levels of acetylation and virtually no methylation, providing a basal BDNF expression. (B) The histone methylation following prolonged episodes of defeat stress induces a tighter envelope of chromatin proteins and blocks BDNF gene expression. (C) Chronic antidepressant use increases acetylation without altering the chronic stress–induced methylation, which produces a “relaxation” of the repressed chromatin, encouraging transcription of the BDNF gene, which may be necessary for the antidepressant effects. HDAC5, histone deacetylase 5. (After N. </a:t>
            </a:r>
            <a:r>
              <a:rPr lang="en-US" sz="1200" kern="1200" dirty="0" err="1">
                <a:solidFill>
                  <a:schemeClr val="tx1"/>
                </a:solidFill>
                <a:effectLst/>
                <a:latin typeface="+mn-lt"/>
                <a:ea typeface="+mn-ea"/>
                <a:cs typeface="+mn-cs"/>
              </a:rPr>
              <a:t>Tsankova</a:t>
            </a:r>
            <a:r>
              <a:rPr lang="en-US" sz="1200" kern="1200" dirty="0">
                <a:solidFill>
                  <a:schemeClr val="tx1"/>
                </a:solidFill>
                <a:effectLst/>
                <a:latin typeface="+mn-lt"/>
                <a:ea typeface="+mn-ea"/>
                <a:cs typeface="+mn-cs"/>
              </a:rPr>
              <a:t> et al. 2007. </a:t>
            </a:r>
            <a:r>
              <a:rPr lang="en-US" sz="1200" i="1" kern="1200" dirty="0">
                <a:solidFill>
                  <a:schemeClr val="tx1"/>
                </a:solidFill>
                <a:effectLst/>
                <a:latin typeface="+mn-lt"/>
                <a:ea typeface="+mn-ea"/>
                <a:cs typeface="+mn-cs"/>
              </a:rPr>
              <a:t>Nat Rev </a:t>
            </a:r>
            <a:r>
              <a:rPr lang="en-US" sz="1200" i="1" kern="1200" dirty="0" err="1">
                <a:solidFill>
                  <a:schemeClr val="tx1"/>
                </a:solidFill>
                <a:effectLst/>
                <a:latin typeface="+mn-lt"/>
                <a:ea typeface="+mn-ea"/>
                <a:cs typeface="+mn-cs"/>
              </a:rPr>
              <a:t>Neurosci</a:t>
            </a:r>
            <a:r>
              <a:rPr lang="en-US" sz="1200" kern="1200" dirty="0">
                <a:solidFill>
                  <a:schemeClr val="tx1"/>
                </a:solidFill>
                <a:effectLst/>
                <a:latin typeface="+mn-lt"/>
                <a:ea typeface="+mn-ea"/>
                <a:cs typeface="+mn-cs"/>
              </a:rPr>
              <a:t> 8: 355–367. </a:t>
            </a:r>
            <a:r>
              <a:rPr lang="en-US" sz="1200" kern="1200" dirty="0" err="1">
                <a:solidFill>
                  <a:schemeClr val="tx1"/>
                </a:solidFill>
                <a:effectLst/>
                <a:latin typeface="+mn-lt"/>
                <a:ea typeface="+mn-ea"/>
                <a:cs typeface="+mn-cs"/>
              </a:rPr>
              <a:t>doi.org</a:t>
            </a:r>
            <a:r>
              <a:rPr lang="en-US" sz="1200" kern="1200" dirty="0">
                <a:solidFill>
                  <a:schemeClr val="tx1"/>
                </a:solidFill>
                <a:effectLst/>
                <a:latin typeface="+mn-lt"/>
                <a:ea typeface="+mn-ea"/>
                <a:cs typeface="+mn-cs"/>
              </a:rPr>
              <a:t>/10.1038/nrn2132)</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39</a:t>
            </a:fld>
            <a:endParaRPr lang="en-US"/>
          </a:p>
        </p:txBody>
      </p:sp>
    </p:spTree>
    <p:extLst>
      <p:ext uri="{BB962C8B-B14F-4D97-AF65-F5344CB8AC3E}">
        <p14:creationId xmlns:p14="http://schemas.microsoft.com/office/powerpoint/2010/main" val="193329090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40</a:t>
            </a:fld>
            <a:endParaRPr lang="en-US"/>
          </a:p>
        </p:txBody>
      </p:sp>
    </p:spTree>
    <p:extLst>
      <p:ext uri="{BB962C8B-B14F-4D97-AF65-F5344CB8AC3E}">
        <p14:creationId xmlns:p14="http://schemas.microsoft.com/office/powerpoint/2010/main" val="67047051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18.11  Up-regulation of second-messenger pathway by chronic antidepressant treatment 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increase in NE and 5-HT caused by acute antidepressant treatment produces down-regulation of their receptors when treatment is chronic. In response to the reduction in receptors, the cAMP pathway is up-regulated, producing increases in adenylyl cyclase activity, cAMP, protein kinase A (PKA), and the transcription factor within the nucleus, CREB. CREB increases the synthesis of several proteins, including BDNF. βAR, β-adrenergic receptor; PDE, phosphodiesterase. (After R. S. </a:t>
            </a:r>
            <a:r>
              <a:rPr lang="en-US" sz="1200" kern="1200" dirty="0" err="1">
                <a:solidFill>
                  <a:schemeClr val="tx1"/>
                </a:solidFill>
                <a:effectLst/>
                <a:latin typeface="+mn-lt"/>
                <a:ea typeface="+mn-ea"/>
                <a:cs typeface="+mn-cs"/>
              </a:rPr>
              <a:t>Duman</a:t>
            </a:r>
            <a:r>
              <a:rPr lang="en-US" sz="1200" kern="1200" dirty="0">
                <a:solidFill>
                  <a:schemeClr val="tx1"/>
                </a:solidFill>
                <a:effectLst/>
                <a:latin typeface="+mn-lt"/>
                <a:ea typeface="+mn-ea"/>
                <a:cs typeface="+mn-cs"/>
              </a:rPr>
              <a:t> et al. 1997. </a:t>
            </a:r>
            <a:r>
              <a:rPr lang="en-US" sz="1200" i="1" kern="1200" dirty="0">
                <a:solidFill>
                  <a:schemeClr val="tx1"/>
                </a:solidFill>
                <a:effectLst/>
                <a:latin typeface="+mn-lt"/>
                <a:ea typeface="+mn-ea"/>
                <a:cs typeface="+mn-cs"/>
              </a:rPr>
              <a:t>Arch Gen Psychiatry</a:t>
            </a:r>
            <a:r>
              <a:rPr lang="en-US" sz="1200" kern="1200" dirty="0">
                <a:solidFill>
                  <a:schemeClr val="tx1"/>
                </a:solidFill>
                <a:effectLst/>
                <a:latin typeface="+mn-lt"/>
                <a:ea typeface="+mn-ea"/>
                <a:cs typeface="+mn-cs"/>
              </a:rPr>
              <a:t> 54: 597–606.)</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41</a:t>
            </a:fld>
            <a:endParaRPr lang="en-US"/>
          </a:p>
        </p:txBody>
      </p:sp>
    </p:spTree>
    <p:extLst>
      <p:ext uri="{BB962C8B-B14F-4D97-AF65-F5344CB8AC3E}">
        <p14:creationId xmlns:p14="http://schemas.microsoft.com/office/powerpoint/2010/main" val="203929529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br>
              <a:rPr lang="en-US" dirty="0"/>
            </a:br>
            <a:r>
              <a:rPr lang="en-US" dirty="0"/>
              <a:t>Correct answer: c</a:t>
            </a:r>
          </a:p>
        </p:txBody>
      </p:sp>
      <p:sp>
        <p:nvSpPr>
          <p:cNvPr id="4" name="Slide Number Placeholder 3"/>
          <p:cNvSpPr>
            <a:spLocks noGrp="1"/>
          </p:cNvSpPr>
          <p:nvPr>
            <p:ph type="sldNum" sz="quarter" idx="5"/>
          </p:nvPr>
        </p:nvSpPr>
        <p:spPr/>
        <p:txBody>
          <a:bodyPr/>
          <a:lstStyle/>
          <a:p>
            <a:fld id="{556C0744-2FEF-4441-821D-70180A370937}" type="slidenum">
              <a:rPr lang="en-US" smtClean="0"/>
              <a:t>42</a:t>
            </a:fld>
            <a:endParaRPr lang="en-US"/>
          </a:p>
        </p:txBody>
      </p:sp>
    </p:spTree>
    <p:extLst>
      <p:ext uri="{BB962C8B-B14F-4D97-AF65-F5344CB8AC3E}">
        <p14:creationId xmlns:p14="http://schemas.microsoft.com/office/powerpoint/2010/main" val="149353777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u="sng" dirty="0"/>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44</a:t>
            </a:fld>
            <a:endParaRPr lang="en-US"/>
          </a:p>
        </p:txBody>
      </p:sp>
    </p:spTree>
    <p:extLst>
      <p:ext uri="{BB962C8B-B14F-4D97-AF65-F5344CB8AC3E}">
        <p14:creationId xmlns:p14="http://schemas.microsoft.com/office/powerpoint/2010/main" val="93296987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pPr algn="l"/>
            <a:r>
              <a:rPr lang="en-US" sz="1800" b="0" i="0" u="none" strike="noStrike" baseline="0" dirty="0">
                <a:latin typeface="PalatinoLTStd-Roman"/>
              </a:rPr>
              <a:t>Currently available MAOIs include phenelzine (</a:t>
            </a:r>
            <a:r>
              <a:rPr lang="en-US" sz="1800" b="0" i="0" u="none" strike="noStrike" baseline="0" dirty="0" err="1">
                <a:latin typeface="PalatinoLTStd-Roman"/>
              </a:rPr>
              <a:t>Nardil</a:t>
            </a:r>
            <a:r>
              <a:rPr lang="en-US" sz="1800" b="0" i="0" u="none" strike="noStrike" baseline="0" dirty="0">
                <a:latin typeface="PalatinoLTStd-Roman"/>
              </a:rPr>
              <a:t>), tranylcypromine (</a:t>
            </a:r>
            <a:r>
              <a:rPr lang="en-US" sz="1800" b="0" i="0" u="none" strike="noStrike" baseline="0" dirty="0" err="1">
                <a:latin typeface="PalatinoLTStd-Roman"/>
              </a:rPr>
              <a:t>Parnate</a:t>
            </a:r>
            <a:r>
              <a:rPr lang="en-US" sz="1800" b="0" i="0" u="none" strike="noStrike" baseline="0" dirty="0">
                <a:latin typeface="PalatinoLTStd-Roman"/>
              </a:rPr>
              <a:t>), and </a:t>
            </a:r>
            <a:r>
              <a:rPr lang="en-US" sz="1800" b="0" i="0" u="none" strike="noStrike" baseline="0" dirty="0" err="1">
                <a:latin typeface="PalatinoLTStd-Roman"/>
              </a:rPr>
              <a:t>isocarboxazid</a:t>
            </a:r>
            <a:r>
              <a:rPr lang="en-US" sz="1800" b="0" i="0" u="none" strike="noStrike" baseline="0" dirty="0">
                <a:latin typeface="PalatinoLTStd-Roman"/>
              </a:rPr>
              <a:t> (</a:t>
            </a:r>
            <a:r>
              <a:rPr lang="en-US" sz="1800" b="0" i="0" u="none" strike="noStrike" baseline="0" dirty="0" err="1">
                <a:latin typeface="PalatinoLTStd-Roman"/>
              </a:rPr>
              <a:t>Marplan</a:t>
            </a:r>
            <a:r>
              <a:rPr lang="en-US" sz="1800" b="0" i="0" u="none" strike="noStrike" baseline="0" dirty="0">
                <a:latin typeface="PalatinoLTStd-Roman"/>
              </a:rPr>
              <a:t>).</a:t>
            </a:r>
            <a:endParaRPr lang="en-US" u="sng" dirty="0"/>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45</a:t>
            </a:fld>
            <a:endParaRPr lang="en-US"/>
          </a:p>
        </p:txBody>
      </p:sp>
    </p:spTree>
    <p:extLst>
      <p:ext uri="{BB962C8B-B14F-4D97-AF65-F5344CB8AC3E}">
        <p14:creationId xmlns:p14="http://schemas.microsoft.com/office/powerpoint/2010/main" val="342487061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FIGURE 18.12  Acute and long-term effects of MAOIs on synaptic function 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 Presynaptic MAO degrades neurotransmitter molecules that are not in vesicles, to keep amines at “normal” levels. (B) MAOIs inhibit the enzyme, causing an elevation in available neurotransmitter for release, resulting in increased action at receptors. (C) After 10 days to 2 weeks of antidepressant treatment, the amount of neurotransmitter in the synapse is still elevated over control conditions, but neural adaptation has occurred: down-regulation of amine receptors and up-regulation of the cyclic adenosine monophosphate (cAMP) second-messenger system. Other antidepressant drugs produce similar adaptive changes in neurons.</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46</a:t>
            </a:fld>
            <a:endParaRPr lang="en-US"/>
          </a:p>
        </p:txBody>
      </p:sp>
    </p:spTree>
    <p:extLst>
      <p:ext uri="{BB962C8B-B14F-4D97-AF65-F5344CB8AC3E}">
        <p14:creationId xmlns:p14="http://schemas.microsoft.com/office/powerpoint/2010/main" val="238139452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u="sng" dirty="0"/>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47</a:t>
            </a:fld>
            <a:endParaRPr lang="en-US"/>
          </a:p>
        </p:txBody>
      </p:sp>
    </p:spTree>
    <p:extLst>
      <p:ext uri="{BB962C8B-B14F-4D97-AF65-F5344CB8AC3E}">
        <p14:creationId xmlns:p14="http://schemas.microsoft.com/office/powerpoint/2010/main" val="39283256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r>
              <a:rPr lang="en-US" u="none" dirty="0"/>
              <a:t>TCAs</a:t>
            </a:r>
            <a:r>
              <a:rPr lang="en-US" b="0" u="none" dirty="0"/>
              <a:t>: </a:t>
            </a:r>
            <a:r>
              <a:rPr lang="en-US" sz="1800" b="0" i="0" u="none" strike="noStrike" baseline="0" dirty="0">
                <a:latin typeface="PalatinoLTStd-Bold"/>
              </a:rPr>
              <a:t>Amitriptyline, Desipramine, Imipramine, Nortriptyline, Protriptyline, Trimipramine</a:t>
            </a:r>
            <a:endParaRPr lang="en-US" b="0" u="none" dirty="0"/>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48</a:t>
            </a:fld>
            <a:endParaRPr lang="en-US"/>
          </a:p>
        </p:txBody>
      </p:sp>
    </p:spTree>
    <p:extLst>
      <p:ext uri="{BB962C8B-B14F-4D97-AF65-F5344CB8AC3E}">
        <p14:creationId xmlns:p14="http://schemas.microsoft.com/office/powerpoint/2010/main" val="26096067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u="sng" dirty="0"/>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49</a:t>
            </a:fld>
            <a:endParaRPr lang="en-US"/>
          </a:p>
        </p:txBody>
      </p:sp>
    </p:spTree>
    <p:extLst>
      <p:ext uri="{BB962C8B-B14F-4D97-AF65-F5344CB8AC3E}">
        <p14:creationId xmlns:p14="http://schemas.microsoft.com/office/powerpoint/2010/main" val="200300265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pPr algn="l"/>
            <a:r>
              <a:rPr lang="en-US" sz="1800" b="0" i="0" u="none" strike="noStrike" baseline="0" dirty="0">
                <a:latin typeface="DINPro-Bold"/>
              </a:rPr>
              <a:t>SSRIs include </a:t>
            </a:r>
            <a:r>
              <a:rPr lang="en-US" sz="1800" b="0" i="0" u="none" strike="noStrike" baseline="0" dirty="0">
                <a:latin typeface="PalatinoLTStd-Roman"/>
              </a:rPr>
              <a:t>fluoxetine (Prozac), sertraline (Zoloft), and paroxetine (Paxil)</a:t>
            </a:r>
            <a:endParaRPr lang="en-US" b="0" u="sng" dirty="0"/>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50</a:t>
            </a:fld>
            <a:endParaRPr lang="en-US"/>
          </a:p>
        </p:txBody>
      </p:sp>
    </p:spTree>
    <p:extLst>
      <p:ext uri="{BB962C8B-B14F-4D97-AF65-F5344CB8AC3E}">
        <p14:creationId xmlns:p14="http://schemas.microsoft.com/office/powerpoint/2010/main" val="387580758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pPr algn="l"/>
            <a:r>
              <a:rPr lang="en-US" sz="1800" b="0" i="0" u="none" strike="noStrike" baseline="0" dirty="0">
                <a:latin typeface="DINPro-Bold"/>
              </a:rPr>
              <a:t>SSRIs include </a:t>
            </a:r>
            <a:r>
              <a:rPr lang="en-US" sz="1800" b="0" i="0" u="none" strike="noStrike" baseline="0" dirty="0">
                <a:latin typeface="PalatinoLTStd-Roman"/>
              </a:rPr>
              <a:t>fluoxetine (Prozac), sertraline (Zoloft), and paroxetine (Paxil)</a:t>
            </a:r>
            <a:endParaRPr lang="en-US" b="0" u="sng" dirty="0"/>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51</a:t>
            </a:fld>
            <a:endParaRPr lang="en-US"/>
          </a:p>
        </p:txBody>
      </p:sp>
    </p:spTree>
    <p:extLst>
      <p:ext uri="{BB962C8B-B14F-4D97-AF65-F5344CB8AC3E}">
        <p14:creationId xmlns:p14="http://schemas.microsoft.com/office/powerpoint/2010/main" val="153925798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52</a:t>
            </a:fld>
            <a:endParaRPr lang="en-US"/>
          </a:p>
        </p:txBody>
      </p:sp>
    </p:spTree>
    <p:extLst>
      <p:ext uri="{BB962C8B-B14F-4D97-AF65-F5344CB8AC3E}">
        <p14:creationId xmlns:p14="http://schemas.microsoft.com/office/powerpoint/2010/main" val="156209347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53</a:t>
            </a:fld>
            <a:endParaRPr lang="en-US"/>
          </a:p>
        </p:txBody>
      </p:sp>
    </p:spTree>
    <p:extLst>
      <p:ext uri="{BB962C8B-B14F-4D97-AF65-F5344CB8AC3E}">
        <p14:creationId xmlns:p14="http://schemas.microsoft.com/office/powerpoint/2010/main" val="277976247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54</a:t>
            </a:fld>
            <a:endParaRPr lang="en-US"/>
          </a:p>
        </p:txBody>
      </p:sp>
    </p:spTree>
    <p:extLst>
      <p:ext uri="{BB962C8B-B14F-4D97-AF65-F5344CB8AC3E}">
        <p14:creationId xmlns:p14="http://schemas.microsoft.com/office/powerpoint/2010/main" val="233286972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FIGURE 18.14  Ketamine’s rapid activation of mTOR </a:t>
            </a:r>
            <a:br>
              <a:rPr lang="en-US" sz="1200" b="1"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 The cascade of events beginning with intravenous injection of ketamine inhibits NMDA receptor function but additionally enhances glutamate activation of AMPA receptors. Multiple signal transduction cascades mediate the activation of the protein kinase mTOR. The action of mTOR in turn increases dendritic spine density, enhances synaptic activity by modifying synaptic proteins, and produces rapid antidepressant effects. A reciprocal relationship between mTOR and BDNF forms a positive feedback loop (not shown). (B) Two-photon microscopy shows increased spine density on both distal and proximal segments of dendrites in medial prefrontal cortex (</a:t>
            </a:r>
            <a:r>
              <a:rPr lang="en-US" sz="1200" kern="1200" dirty="0" err="1">
                <a:solidFill>
                  <a:schemeClr val="tx1"/>
                </a:solidFill>
                <a:effectLst/>
                <a:latin typeface="+mn-lt"/>
                <a:ea typeface="+mn-ea"/>
                <a:cs typeface="+mn-cs"/>
              </a:rPr>
              <a:t>mPFC</a:t>
            </a:r>
            <a:r>
              <a:rPr lang="en-US" sz="1200" kern="1200" dirty="0">
                <a:solidFill>
                  <a:schemeClr val="tx1"/>
                </a:solidFill>
                <a:effectLst/>
                <a:latin typeface="+mn-lt"/>
                <a:ea typeface="+mn-ea"/>
                <a:cs typeface="+mn-cs"/>
              </a:rPr>
              <a:t>) pyramidal neurons 24 hours after ketamine administration, compared with control animals. There was an increase in large-diameter, more mature (mushroom) spines. The increase was prevented by the mTOR antagonist rapamycin. (C) Whole-cell voltage-clamp recordings show ketamine enhanced the 5-HT–induced excitatory postsynaptic currents in pyramidal cells of </a:t>
            </a:r>
            <a:r>
              <a:rPr lang="en-US" sz="1200" kern="1200" dirty="0" err="1">
                <a:solidFill>
                  <a:schemeClr val="tx1"/>
                </a:solidFill>
                <a:effectLst/>
                <a:latin typeface="+mn-lt"/>
                <a:ea typeface="+mn-ea"/>
                <a:cs typeface="+mn-cs"/>
              </a:rPr>
              <a:t>mPFC</a:t>
            </a:r>
            <a:r>
              <a:rPr lang="en-US" sz="1200" kern="1200" dirty="0">
                <a:solidFill>
                  <a:schemeClr val="tx1"/>
                </a:solidFill>
                <a:effectLst/>
                <a:latin typeface="+mn-lt"/>
                <a:ea typeface="+mn-ea"/>
                <a:cs typeface="+mn-cs"/>
              </a:rPr>
              <a:t>, 24 hours after ketamine injection. (A after J. F. </a:t>
            </a:r>
            <a:r>
              <a:rPr lang="en-US" sz="1200" kern="1200" dirty="0" err="1">
                <a:solidFill>
                  <a:schemeClr val="tx1"/>
                </a:solidFill>
                <a:effectLst/>
                <a:latin typeface="+mn-lt"/>
                <a:ea typeface="+mn-ea"/>
                <a:cs typeface="+mn-cs"/>
              </a:rPr>
              <a:t>Cryan</a:t>
            </a:r>
            <a:r>
              <a:rPr lang="en-US" sz="1200" kern="1200" dirty="0">
                <a:solidFill>
                  <a:schemeClr val="tx1"/>
                </a:solidFill>
                <a:effectLst/>
                <a:latin typeface="+mn-lt"/>
                <a:ea typeface="+mn-ea"/>
                <a:cs typeface="+mn-cs"/>
              </a:rPr>
              <a:t> and O. F. O’Leary. 2010. </a:t>
            </a:r>
            <a:r>
              <a:rPr lang="en-US" sz="1200" i="1" kern="1200" dirty="0">
                <a:solidFill>
                  <a:schemeClr val="tx1"/>
                </a:solidFill>
                <a:effectLst/>
                <a:latin typeface="+mn-lt"/>
                <a:ea typeface="+mn-ea"/>
                <a:cs typeface="+mn-cs"/>
              </a:rPr>
              <a:t>Science </a:t>
            </a:r>
            <a:r>
              <a:rPr lang="en-US" sz="1200" kern="1200" dirty="0">
                <a:solidFill>
                  <a:schemeClr val="tx1"/>
                </a:solidFill>
                <a:effectLst/>
                <a:latin typeface="+mn-lt"/>
                <a:ea typeface="+mn-ea"/>
                <a:cs typeface="+mn-cs"/>
              </a:rPr>
              <a:t>329: 913–914. C after N. Li et al. 2010. </a:t>
            </a:r>
            <a:r>
              <a:rPr lang="en-US" sz="1200" i="1" kern="1200" dirty="0">
                <a:solidFill>
                  <a:schemeClr val="tx1"/>
                </a:solidFill>
                <a:effectLst/>
                <a:latin typeface="+mn-lt"/>
                <a:ea typeface="+mn-ea"/>
                <a:cs typeface="+mn-cs"/>
              </a:rPr>
              <a:t>Science</a:t>
            </a:r>
            <a:r>
              <a:rPr lang="en-US" sz="1200" kern="1200" dirty="0">
                <a:solidFill>
                  <a:schemeClr val="tx1"/>
                </a:solidFill>
                <a:effectLst/>
                <a:latin typeface="+mn-lt"/>
                <a:ea typeface="+mn-ea"/>
                <a:cs typeface="+mn-cs"/>
              </a:rPr>
              <a:t> 329: 959–964.)</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55</a:t>
            </a:fld>
            <a:endParaRPr lang="en-US"/>
          </a:p>
        </p:txBody>
      </p:sp>
    </p:spTree>
    <p:extLst>
      <p:ext uri="{BB962C8B-B14F-4D97-AF65-F5344CB8AC3E}">
        <p14:creationId xmlns:p14="http://schemas.microsoft.com/office/powerpoint/2010/main" val="164427122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56</a:t>
            </a:fld>
            <a:endParaRPr lang="en-US"/>
          </a:p>
        </p:txBody>
      </p:sp>
    </p:spTree>
    <p:extLst>
      <p:ext uri="{BB962C8B-B14F-4D97-AF65-F5344CB8AC3E}">
        <p14:creationId xmlns:p14="http://schemas.microsoft.com/office/powerpoint/2010/main" val="410422990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r>
              <a:rPr lang="en-US" b="1" dirty="0"/>
              <a:t>Lithium carbonate: </a:t>
            </a:r>
            <a:r>
              <a:rPr lang="en-US" sz="1800" b="0" i="0" u="none" strike="noStrike" baseline="0" dirty="0" err="1">
                <a:latin typeface="PalatinoLTStd-Roman"/>
              </a:rPr>
              <a:t>Carbolith</a:t>
            </a:r>
            <a:r>
              <a:rPr lang="en-US" sz="1800" b="0" i="0" u="none" strike="noStrike" baseline="0" dirty="0">
                <a:latin typeface="PalatinoLTStd-Roman"/>
              </a:rPr>
              <a:t>, </a:t>
            </a:r>
            <a:r>
              <a:rPr lang="en-US" sz="1800" b="0" i="0" u="none" strike="noStrike" baseline="0" dirty="0" err="1">
                <a:latin typeface="PalatinoLTStd-Roman"/>
              </a:rPr>
              <a:t>Eskalith</a:t>
            </a:r>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57</a:t>
            </a:fld>
            <a:endParaRPr lang="en-US"/>
          </a:p>
        </p:txBody>
      </p:sp>
    </p:spTree>
    <p:extLst>
      <p:ext uri="{BB962C8B-B14F-4D97-AF65-F5344CB8AC3E}">
        <p14:creationId xmlns:p14="http://schemas.microsoft.com/office/powerpoint/2010/main" val="351018203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58</a:t>
            </a:fld>
            <a:endParaRPr lang="en-US"/>
          </a:p>
        </p:txBody>
      </p:sp>
    </p:spTree>
    <p:extLst>
      <p:ext uri="{BB962C8B-B14F-4D97-AF65-F5344CB8AC3E}">
        <p14:creationId xmlns:p14="http://schemas.microsoft.com/office/powerpoint/2010/main" val="271674306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r>
              <a:rPr lang="en-US" dirty="0"/>
              <a:t>Correct answer: c</a:t>
            </a:r>
          </a:p>
        </p:txBody>
      </p:sp>
      <p:sp>
        <p:nvSpPr>
          <p:cNvPr id="4" name="Slide Number Placeholder 3"/>
          <p:cNvSpPr>
            <a:spLocks noGrp="1"/>
          </p:cNvSpPr>
          <p:nvPr>
            <p:ph type="sldNum" sz="quarter" idx="5"/>
          </p:nvPr>
        </p:nvSpPr>
        <p:spPr/>
        <p:txBody>
          <a:bodyPr/>
          <a:lstStyle/>
          <a:p>
            <a:fld id="{556C0744-2FEF-4441-821D-70180A370937}" type="slidenum">
              <a:rPr lang="en-US" smtClean="0"/>
              <a:t>59</a:t>
            </a:fld>
            <a:endParaRPr lang="en-US"/>
          </a:p>
        </p:txBody>
      </p:sp>
    </p:spTree>
    <p:extLst>
      <p:ext uri="{BB962C8B-B14F-4D97-AF65-F5344CB8AC3E}">
        <p14:creationId xmlns:p14="http://schemas.microsoft.com/office/powerpoint/2010/main" val="32850967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450575" y="586409"/>
            <a:ext cx="11317356" cy="566530"/>
          </a:xfrm>
          <a:prstGeom prst="rect">
            <a:avLst/>
          </a:prstGeom>
        </p:spPr>
        <p:txBody>
          <a:bodyPr vert="horz" lIns="91440" tIns="45720" rIns="91440" bIns="45720" rtlCol="0" anchor="t">
            <a:normAutofit/>
          </a:bodyPr>
          <a:lstStyle>
            <a:lvl1pPr algn="ctr">
              <a:defRPr sz="3600" b="1" i="1"/>
            </a:lvl1pPr>
          </a:lstStyle>
          <a:p>
            <a:r>
              <a:rPr lang="en-US" dirty="0"/>
              <a:t>Title</a:t>
            </a:r>
          </a:p>
        </p:txBody>
      </p:sp>
      <p:sp>
        <p:nvSpPr>
          <p:cNvPr id="11" name="Text Placeholder 10"/>
          <p:cNvSpPr>
            <a:spLocks noGrp="1"/>
          </p:cNvSpPr>
          <p:nvPr>
            <p:ph type="body" sz="quarter" idx="11"/>
          </p:nvPr>
        </p:nvSpPr>
        <p:spPr>
          <a:xfrm>
            <a:off x="450851" y="1152525"/>
            <a:ext cx="11317816" cy="477838"/>
          </a:xfrm>
          <a:prstGeom prst="rect">
            <a:avLst/>
          </a:prstGeom>
        </p:spPr>
        <p:txBody>
          <a:bodyPr/>
          <a:lstStyle>
            <a:lvl1pPr marL="0" indent="0" algn="ctr">
              <a:buNone/>
              <a:defRPr sz="2400">
                <a:solidFill>
                  <a:srgbClr val="1F497D"/>
                </a:solidFill>
              </a:defRPr>
            </a:lvl1pPr>
          </a:lstStyle>
          <a:p>
            <a:pPr lvl="0"/>
            <a:r>
              <a:rPr lang="en-US"/>
              <a:t>Edit Master text styles</a:t>
            </a:r>
          </a:p>
        </p:txBody>
      </p:sp>
      <p:sp>
        <p:nvSpPr>
          <p:cNvPr id="6" name="Picture Placeholder 5"/>
          <p:cNvSpPr>
            <a:spLocks noGrp="1"/>
          </p:cNvSpPr>
          <p:nvPr>
            <p:ph type="pic" sz="quarter" idx="10"/>
          </p:nvPr>
        </p:nvSpPr>
        <p:spPr>
          <a:xfrm>
            <a:off x="3710609" y="1808921"/>
            <a:ext cx="4770784" cy="4283766"/>
          </a:xfrm>
          <a:prstGeom prst="rect">
            <a:avLst/>
          </a:prstGeom>
        </p:spPr>
        <p:txBody>
          <a:bodyPr/>
          <a:lstStyle/>
          <a:p>
            <a:r>
              <a:rPr lang="en-US"/>
              <a:t>Click icon to add picture</a:t>
            </a:r>
            <a:endParaRPr lang="en-US" dirty="0"/>
          </a:p>
        </p:txBody>
      </p:sp>
      <p:pic>
        <p:nvPicPr>
          <p:cNvPr id="5" name="Picture 4" descr="Oxford University Press logo">
            <a:extLst>
              <a:ext uri="{FF2B5EF4-FFF2-40B4-BE49-F238E27FC236}">
                <a16:creationId xmlns:a16="http://schemas.microsoft.com/office/drawing/2014/main" id="{8590439F-3AAE-4FE6-B28E-69B3789AD63F}"/>
              </a:ext>
            </a:extLst>
          </p:cNvPr>
          <p:cNvPicPr>
            <a:picLocks noChangeAspect="1"/>
          </p:cNvPicPr>
          <p:nvPr userDrawn="1"/>
        </p:nvPicPr>
        <p:blipFill>
          <a:blip r:embed="rId2"/>
          <a:stretch>
            <a:fillRect/>
          </a:stretch>
        </p:blipFill>
        <p:spPr>
          <a:xfrm>
            <a:off x="0" y="5976152"/>
            <a:ext cx="2505812" cy="881848"/>
          </a:xfrm>
          <a:prstGeom prst="rect">
            <a:avLst/>
          </a:prstGeom>
        </p:spPr>
      </p:pic>
    </p:spTree>
    <p:extLst>
      <p:ext uri="{BB962C8B-B14F-4D97-AF65-F5344CB8AC3E}">
        <p14:creationId xmlns:p14="http://schemas.microsoft.com/office/powerpoint/2010/main" val="18046508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hasCustomPrompt="1"/>
          </p:nvPr>
        </p:nvSpPr>
        <p:spPr/>
        <p:txBody>
          <a:bodyPr/>
          <a:lstStyle>
            <a:lvl1pPr marL="571500" indent="-342900" algn="l" defTabSz="914400" rtl="0" eaLnBrk="1" latinLnBrk="0" hangingPunct="1">
              <a:spcBef>
                <a:spcPts val="1800"/>
              </a:spcBef>
              <a:buFont typeface="Arial" pitchFamily="34" charset="0"/>
              <a:buChar char="•"/>
              <a:defRPr lang="en-US" sz="2800" kern="1200" baseline="0" dirty="0">
                <a:solidFill>
                  <a:schemeClr val="tx1"/>
                </a:solidFill>
                <a:latin typeface="+mn-lt"/>
                <a:ea typeface="+mn-ea"/>
                <a:cs typeface="+mn-cs"/>
              </a:defRPr>
            </a:lvl1pPr>
            <a:lvl2pPr marL="1263650" indent="-349250" algn="l" defTabSz="914400" rtl="0" eaLnBrk="1" latinLnBrk="0" hangingPunct="1">
              <a:spcBef>
                <a:spcPts val="1800"/>
              </a:spcBef>
              <a:buFont typeface="Courier New" panose="02070309020205020404" pitchFamily="49" charset="0"/>
              <a:buChar char="o"/>
              <a:defRPr lang="en-US" sz="2800" kern="1200" baseline="0" dirty="0">
                <a:solidFill>
                  <a:schemeClr val="tx1"/>
                </a:solidFill>
                <a:latin typeface="+mn-lt"/>
                <a:ea typeface="+mn-ea"/>
                <a:cs typeface="+mn-cs"/>
              </a:defRPr>
            </a:lvl2pPr>
            <a:lvl3pPr marL="1143000" indent="-228600">
              <a:buFont typeface="Calibri" panose="020F0502020204030204" pitchFamily="34" charset="0"/>
              <a:buChar char="−"/>
              <a:defRPr/>
            </a:lvl3pPr>
            <a:lvl4pPr>
              <a:spcBef>
                <a:spcPts val="1200"/>
              </a:spcBef>
              <a:defRPr sz="2400"/>
            </a:lvl4pPr>
          </a:lstStyle>
          <a:p>
            <a:pPr lvl="0"/>
            <a:r>
              <a:rPr lang="en-US" dirty="0"/>
              <a:t>Edit Master text styles</a:t>
            </a:r>
          </a:p>
          <a:p>
            <a:pPr lvl="1"/>
            <a:r>
              <a:rPr lang="en-US" dirty="0"/>
              <a:t>Second level</a:t>
            </a:r>
          </a:p>
          <a:p>
            <a:pPr lvl="3"/>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88875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384048"/>
          </a:xfrm>
        </p:spPr>
        <p:txBody>
          <a:bodyPr/>
          <a:lstStyle>
            <a:lvl1pPr>
              <a:defRPr sz="1800"/>
            </a:lvl1pPr>
          </a:lstStyle>
          <a:p>
            <a:r>
              <a:rPr lang="en-US" dirty="0"/>
              <a:t>Click to edit Master title style</a:t>
            </a:r>
          </a:p>
        </p:txBody>
      </p:sp>
      <p:sp>
        <p:nvSpPr>
          <p:cNvPr id="5" name="Content Placeholder 4">
            <a:extLst>
              <a:ext uri="{FF2B5EF4-FFF2-40B4-BE49-F238E27FC236}">
                <a16:creationId xmlns:a16="http://schemas.microsoft.com/office/drawing/2014/main" id="{C12606DF-F2AC-0D4C-A2DC-B85399E449B6}"/>
              </a:ext>
            </a:extLst>
          </p:cNvPr>
          <p:cNvSpPr>
            <a:spLocks noGrp="1"/>
          </p:cNvSpPr>
          <p:nvPr>
            <p:ph sz="quarter" idx="10"/>
          </p:nvPr>
        </p:nvSpPr>
        <p:spPr>
          <a:xfrm>
            <a:off x="408432" y="479776"/>
            <a:ext cx="11375136" cy="6300216"/>
          </a:xfrm>
          <a:prstGeom prst="rect">
            <a:avLst/>
          </a:prstGeo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7283422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tif"/></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0E61D60-431D-4A54-BAD5-CA1C8D6D754C}"/>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822" y="2792"/>
            <a:ext cx="12191178" cy="6858137"/>
          </a:xfrm>
          <a:prstGeom prst="rect">
            <a:avLst/>
          </a:prstGeom>
        </p:spPr>
      </p:pic>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857781"/>
            <a:ext cx="10972800" cy="4525963"/>
          </a:xfrm>
          <a:prstGeom prst="rect">
            <a:avLst/>
          </a:prstGeom>
        </p:spPr>
        <p:txBody>
          <a:bodyPr vert="horz" lIns="91440" tIns="45720" rIns="91440" bIns="45720" rtlCol="0">
            <a:normAutofit/>
          </a:bodyPr>
          <a:lstStyle/>
          <a:p>
            <a:pPr lvl="0"/>
            <a:r>
              <a:rPr lang="en-US" dirty="0"/>
              <a:t>Click to edit Master text styles</a:t>
            </a:r>
          </a:p>
          <a:p>
            <a:pPr lvl="0"/>
            <a:r>
              <a:rPr lang="en-US" dirty="0"/>
              <a:t>Click to edit Master text styles</a:t>
            </a:r>
          </a:p>
        </p:txBody>
      </p:sp>
      <p:sp>
        <p:nvSpPr>
          <p:cNvPr id="9" name="TextBox 8"/>
          <p:cNvSpPr txBox="1">
            <a:spLocks noChangeArrowheads="1"/>
          </p:cNvSpPr>
          <p:nvPr userDrawn="1"/>
        </p:nvSpPr>
        <p:spPr bwMode="auto">
          <a:xfrm>
            <a:off x="10363435" y="6605739"/>
            <a:ext cx="1827743" cy="246221"/>
          </a:xfrm>
          <a:prstGeom prst="rect">
            <a:avLst/>
          </a:prstGeom>
          <a:noFill/>
          <a:ln>
            <a:noFill/>
          </a:ln>
        </p:spPr>
        <p:txBody>
          <a:bodyPr wrap="none">
            <a:spAutoFit/>
          </a:bodyPr>
          <a:lstStyle>
            <a:lvl1pPr>
              <a:defRPr sz="2400" b="1">
                <a:solidFill>
                  <a:schemeClr val="bg2"/>
                </a:solidFill>
                <a:latin typeface="Times New Roman" panose="02020603050405020304" pitchFamily="18" charset="0"/>
                <a:ea typeface="ＭＳ Ｐゴシック" panose="020B0600070205080204" pitchFamily="34" charset="-128"/>
              </a:defRPr>
            </a:lvl1pPr>
            <a:lvl2pPr marL="742950" indent="-285750">
              <a:defRPr sz="2400" b="1">
                <a:solidFill>
                  <a:schemeClr val="bg2"/>
                </a:solidFill>
                <a:latin typeface="Times New Roman" panose="02020603050405020304" pitchFamily="18" charset="0"/>
                <a:ea typeface="ＭＳ Ｐゴシック" panose="020B0600070205080204" pitchFamily="34" charset="-128"/>
              </a:defRPr>
            </a:lvl2pPr>
            <a:lvl3pPr marL="1143000" indent="-228600">
              <a:defRPr sz="2400" b="1">
                <a:solidFill>
                  <a:schemeClr val="bg2"/>
                </a:solidFill>
                <a:latin typeface="Times New Roman" panose="02020603050405020304" pitchFamily="18" charset="0"/>
                <a:ea typeface="ＭＳ Ｐゴシック" panose="020B0600070205080204" pitchFamily="34" charset="-128"/>
              </a:defRPr>
            </a:lvl3pPr>
            <a:lvl4pPr marL="1600200" indent="-228600">
              <a:defRPr sz="2400" b="1">
                <a:solidFill>
                  <a:schemeClr val="bg2"/>
                </a:solidFill>
                <a:latin typeface="Times New Roman" panose="02020603050405020304" pitchFamily="18" charset="0"/>
                <a:ea typeface="ＭＳ Ｐゴシック" panose="020B0600070205080204" pitchFamily="34" charset="-128"/>
              </a:defRPr>
            </a:lvl4pPr>
            <a:lvl5pPr marL="2057400" indent="-228600">
              <a:defRPr sz="2400" b="1">
                <a:solidFill>
                  <a:schemeClr val="bg2"/>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9pPr>
          </a:lstStyle>
          <a:p>
            <a:pPr algn="r" eaLnBrk="1" hangingPunct="1">
              <a:defRPr/>
            </a:pPr>
            <a:r>
              <a:rPr lang="en-US" altLang="en-US" sz="1000" b="0" dirty="0">
                <a:solidFill>
                  <a:schemeClr val="tx1"/>
                </a:solidFill>
                <a:latin typeface="+mj-lt"/>
                <a:cs typeface="Arial" panose="020B0604020202020204" pitchFamily="34" charset="0"/>
              </a:rPr>
              <a:t>© 2023 Oxford University Press</a:t>
            </a:r>
          </a:p>
        </p:txBody>
      </p:sp>
    </p:spTree>
    <p:extLst>
      <p:ext uri="{BB962C8B-B14F-4D97-AF65-F5344CB8AC3E}">
        <p14:creationId xmlns:p14="http://schemas.microsoft.com/office/powerpoint/2010/main" val="839490661"/>
      </p:ext>
    </p:extLst>
  </p:cSld>
  <p:clrMap bg1="lt1" tx1="dk1" bg2="lt2" tx2="dk2" accent1="accent1" accent2="accent2" accent3="accent3" accent4="accent4" accent5="accent5" accent6="accent6" hlink="hlink" folHlink="folHlink"/>
  <p:sldLayoutIdLst>
    <p:sldLayoutId id="2147483673" r:id="rId1"/>
    <p:sldLayoutId id="2147483652" r:id="rId2"/>
  </p:sldLayoutIdLst>
  <p:txStyles>
    <p:titleStyle>
      <a:lvl1pPr algn="ctr" defTabSz="914400" rtl="0" eaLnBrk="1" latinLnBrk="0" hangingPunct="1">
        <a:spcBef>
          <a:spcPct val="0"/>
        </a:spcBef>
        <a:buNone/>
        <a:defRPr sz="3600" kern="1200">
          <a:solidFill>
            <a:schemeClr val="tx2"/>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baseline="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0"/>
            <a:ext cx="12192000" cy="369332"/>
          </a:xfrm>
          <a:prstGeom prst="rect">
            <a:avLst/>
          </a:prstGeom>
          <a:solidFill>
            <a:srgbClr val="001A47"/>
          </a:solidFill>
        </p:spPr>
        <p:txBody>
          <a:bodyPr vert="horz" lIns="91440" tIns="45720" rIns="91440" bIns="45720" rtlCol="0" anchor="t" anchorCtr="0">
            <a:noAutofit/>
          </a:bodyPr>
          <a:lstStyle/>
          <a:p>
            <a:r>
              <a:rPr lang="en-US" dirty="0"/>
              <a:t>Click to edit Master title style</a:t>
            </a:r>
          </a:p>
        </p:txBody>
      </p:sp>
      <p:sp>
        <p:nvSpPr>
          <p:cNvPr id="4" name="Text Placeholder 3">
            <a:extLst>
              <a:ext uri="{FF2B5EF4-FFF2-40B4-BE49-F238E27FC236}">
                <a16:creationId xmlns:a16="http://schemas.microsoft.com/office/drawing/2014/main" id="{98CCD7AE-E6DE-4592-894F-F3E075B9E6C8}"/>
              </a:ext>
            </a:extLst>
          </p:cNvPr>
          <p:cNvSpPr>
            <a:spLocks noGrp="1"/>
          </p:cNvSpPr>
          <p:nvPr>
            <p:ph type="body" idx="1"/>
          </p:nvPr>
        </p:nvSpPr>
        <p:spPr>
          <a:xfrm>
            <a:off x="838200" y="952107"/>
            <a:ext cx="10515600" cy="522485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79565259"/>
      </p:ext>
    </p:extLst>
  </p:cSld>
  <p:clrMap bg1="lt1" tx1="dk1" bg2="lt2" tx2="dk2" accent1="accent1" accent2="accent2" accent3="accent3" accent4="accent4" accent5="accent5" accent6="accent6" hlink="hlink" folHlink="folHlink"/>
  <p:sldLayoutIdLst>
    <p:sldLayoutId id="2147483679" r:id="rId1"/>
  </p:sldLayoutIdLst>
  <p:txStyles>
    <p:titleStyle>
      <a:lvl1pPr algn="l" defTabSz="914400" rtl="0" eaLnBrk="1" latinLnBrk="0" hangingPunct="1">
        <a:spcBef>
          <a:spcPct val="0"/>
        </a:spcBef>
        <a:buNone/>
        <a:defRPr sz="18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baseline="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Psychopharmacology: Drugs, the Brain, and </a:t>
            </a:r>
            <a:r>
              <a:rPr lang="en-GB" dirty="0" err="1"/>
              <a:t>Behavior</a:t>
            </a:r>
            <a:endParaRPr lang="en-US" b="1" i="0" dirty="0"/>
          </a:p>
        </p:txBody>
      </p:sp>
      <p:sp>
        <p:nvSpPr>
          <p:cNvPr id="4" name="Text Placeholder 3"/>
          <p:cNvSpPr>
            <a:spLocks noGrp="1"/>
          </p:cNvSpPr>
          <p:nvPr>
            <p:ph type="body" sz="quarter" idx="11"/>
          </p:nvPr>
        </p:nvSpPr>
        <p:spPr/>
        <p:txBody>
          <a:bodyPr/>
          <a:lstStyle/>
          <a:p>
            <a:r>
              <a:rPr lang="en-US"/>
              <a:t>by Meyer, Farrar, Biezonski, Yates</a:t>
            </a:r>
            <a:endParaRPr lang="en-US" dirty="0"/>
          </a:p>
        </p:txBody>
      </p:sp>
      <p:pic>
        <p:nvPicPr>
          <p:cNvPr id="8" name="Picture Placeholder 7" descr="Cover image for Psychopharmacology, Fourth Edition.">
            <a:extLst>
              <a:ext uri="{FF2B5EF4-FFF2-40B4-BE49-F238E27FC236}">
                <a16:creationId xmlns:a16="http://schemas.microsoft.com/office/drawing/2014/main" id="{3C56F26D-84E7-4578-9ED6-ACB6F71FF233}"/>
              </a:ext>
            </a:extLst>
          </p:cNvPr>
          <p:cNvPicPr>
            <a:picLocks noGrp="1" noChangeAspect="1"/>
          </p:cNvPicPr>
          <p:nvPr>
            <p:ph type="pic" sz="quarter" idx="10"/>
          </p:nvPr>
        </p:nvPicPr>
        <p:blipFill>
          <a:blip r:embed="rId3"/>
          <a:stretch>
            <a:fillRect/>
          </a:stretch>
        </p:blipFill>
        <p:spPr>
          <a:xfrm>
            <a:off x="4267824" y="1818587"/>
            <a:ext cx="3656351" cy="4413095"/>
          </a:xfrm>
          <a:prstGeom prst="rect">
            <a:avLst/>
          </a:prstGeom>
        </p:spPr>
      </p:pic>
    </p:spTree>
    <p:extLst>
      <p:ext uri="{BB962C8B-B14F-4D97-AF65-F5344CB8AC3E}">
        <p14:creationId xmlns:p14="http://schemas.microsoft.com/office/powerpoint/2010/main" val="31910419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Chapter 18</a:t>
            </a:r>
            <a:br>
              <a:rPr lang="en-US" dirty="0"/>
            </a:br>
            <a:r>
              <a:rPr lang="en-US" sz="4000" i="1" dirty="0"/>
              <a:t>Affective Disorders: Antidepressants and Mood Stabilizers</a:t>
            </a:r>
            <a:endParaRPr lang="en-US" i="1" dirty="0"/>
          </a:p>
        </p:txBody>
      </p:sp>
      <p:sp>
        <p:nvSpPr>
          <p:cNvPr id="3" name="Text Placeholder 2"/>
          <p:cNvSpPr>
            <a:spLocks noGrp="1"/>
          </p:cNvSpPr>
          <p:nvPr>
            <p:ph idx="1"/>
          </p:nvPr>
        </p:nvSpPr>
        <p:spPr/>
        <p:txBody>
          <a:bodyPr>
            <a:normAutofit/>
          </a:bodyPr>
          <a:lstStyle/>
          <a:p>
            <a:pPr marL="914400" indent="-914400">
              <a:spcBef>
                <a:spcPts val="2400"/>
              </a:spcBef>
              <a:buNone/>
            </a:pPr>
            <a:r>
              <a:rPr lang="en-US" sz="3200" dirty="0"/>
              <a:t>18.1  Characteristics of Affective Disorders</a:t>
            </a:r>
          </a:p>
          <a:p>
            <a:pPr marL="914400" indent="-914400">
              <a:spcBef>
                <a:spcPts val="2400"/>
              </a:spcBef>
              <a:buNone/>
            </a:pPr>
            <a:r>
              <a:rPr lang="en-US" sz="3200" dirty="0"/>
              <a:t>18.2  Neurochemical Basis of Affective Disorders</a:t>
            </a:r>
          </a:p>
          <a:p>
            <a:pPr marL="914400" indent="-914400">
              <a:spcBef>
                <a:spcPts val="2400"/>
              </a:spcBef>
              <a:buNone/>
            </a:pPr>
            <a:r>
              <a:rPr lang="en-US" sz="3200" dirty="0"/>
              <a:t>18.3  Therapies for Affective Disorders</a:t>
            </a:r>
          </a:p>
        </p:txBody>
      </p:sp>
    </p:spTree>
    <p:extLst>
      <p:ext uri="{BB962C8B-B14F-4D97-AF65-F5344CB8AC3E}">
        <p14:creationId xmlns:p14="http://schemas.microsoft.com/office/powerpoint/2010/main" val="729111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Chapter 18</a:t>
            </a:r>
            <a:br>
              <a:rPr lang="en-US" dirty="0"/>
            </a:br>
            <a:r>
              <a:rPr lang="en-US" sz="4000" dirty="0"/>
              <a:t>Learning Objectives </a:t>
            </a:r>
            <a:r>
              <a:rPr lang="en-US" sz="1300" dirty="0"/>
              <a:t>(1 of 3)</a:t>
            </a:r>
          </a:p>
        </p:txBody>
      </p:sp>
      <p:sp>
        <p:nvSpPr>
          <p:cNvPr id="3" name="Text Placeholder 2"/>
          <p:cNvSpPr>
            <a:spLocks noGrp="1"/>
          </p:cNvSpPr>
          <p:nvPr>
            <p:ph idx="1"/>
          </p:nvPr>
        </p:nvSpPr>
        <p:spPr/>
        <p:txBody>
          <a:bodyPr>
            <a:normAutofit/>
          </a:bodyPr>
          <a:lstStyle/>
          <a:p>
            <a:pPr marL="1143000" indent="-1143000">
              <a:lnSpc>
                <a:spcPct val="110000"/>
              </a:lnSpc>
              <a:spcBef>
                <a:spcPts val="1800"/>
              </a:spcBef>
              <a:buNone/>
            </a:pPr>
            <a:r>
              <a:rPr lang="en-US" sz="2800" dirty="0"/>
              <a:t>18.1.1  Describe the general psychological, behavioral, and physical manifestations of affective disorders, including major depression and bipolar disorder.</a:t>
            </a:r>
          </a:p>
          <a:p>
            <a:pPr marL="1143000" indent="-1143000">
              <a:lnSpc>
                <a:spcPct val="110000"/>
              </a:lnSpc>
              <a:spcBef>
                <a:spcPts val="1800"/>
              </a:spcBef>
              <a:buNone/>
            </a:pPr>
            <a:r>
              <a:rPr lang="en-US" sz="2800" dirty="0"/>
              <a:t>18.1.2  Detail the risk factors for developing affective disorders, including the role of heredity, stress, and circadian rhythms, and the emerging role of the gut–brain axis.</a:t>
            </a:r>
          </a:p>
          <a:p>
            <a:pPr marL="1143000" indent="-1143000">
              <a:lnSpc>
                <a:spcPct val="110000"/>
              </a:lnSpc>
              <a:spcBef>
                <a:spcPts val="1800"/>
              </a:spcBef>
              <a:buNone/>
            </a:pPr>
            <a:r>
              <a:rPr lang="en-US" sz="2800" dirty="0"/>
              <a:t>18.1.3  Describe the animal models of affective disorders used in research.</a:t>
            </a:r>
          </a:p>
        </p:txBody>
      </p:sp>
    </p:spTree>
    <p:extLst>
      <p:ext uri="{BB962C8B-B14F-4D97-AF65-F5344CB8AC3E}">
        <p14:creationId xmlns:p14="http://schemas.microsoft.com/office/powerpoint/2010/main" val="14606864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kumimoji="0" lang="en-US" sz="3600" b="0" i="0" u="none" strike="noStrike" kern="1200" cap="none" spc="0" normalizeH="0" baseline="0" noProof="0" dirty="0">
                <a:ln>
                  <a:noFill/>
                </a:ln>
                <a:solidFill>
                  <a:srgbClr val="1F497D"/>
                </a:solidFill>
                <a:effectLst/>
                <a:uLnTx/>
                <a:uFillTx/>
                <a:latin typeface="Calibri"/>
                <a:ea typeface="+mj-ea"/>
                <a:cs typeface="+mj-cs"/>
              </a:rPr>
              <a:t>Chapter 18</a:t>
            </a:r>
            <a:br>
              <a:rPr kumimoji="0" lang="en-US" sz="3600" b="0" i="0" u="none" strike="noStrike" kern="1200" cap="none" spc="0" normalizeH="0" baseline="0" noProof="0" dirty="0">
                <a:ln>
                  <a:noFill/>
                </a:ln>
                <a:solidFill>
                  <a:srgbClr val="1F497D"/>
                </a:solidFill>
                <a:effectLst/>
                <a:uLnTx/>
                <a:uFillTx/>
                <a:latin typeface="Calibri"/>
                <a:ea typeface="+mj-ea"/>
                <a:cs typeface="+mj-cs"/>
              </a:rPr>
            </a:br>
            <a:r>
              <a:rPr kumimoji="0" lang="en-US" sz="4000" b="0" i="0" u="none" strike="noStrike" kern="1200" cap="none" spc="0" normalizeH="0" baseline="0" noProof="0" dirty="0">
                <a:ln>
                  <a:noFill/>
                </a:ln>
                <a:solidFill>
                  <a:srgbClr val="1F497D"/>
                </a:solidFill>
                <a:effectLst/>
                <a:uLnTx/>
                <a:uFillTx/>
                <a:latin typeface="Calibri"/>
                <a:ea typeface="+mj-ea"/>
                <a:cs typeface="+mj-cs"/>
              </a:rPr>
              <a:t>Learning Objectives </a:t>
            </a:r>
            <a:r>
              <a:rPr kumimoji="0" lang="en-US" sz="1300" b="0" i="0" u="none" strike="noStrike" kern="1200" cap="none" spc="0" normalizeH="0" baseline="0" noProof="0" dirty="0">
                <a:ln>
                  <a:noFill/>
                </a:ln>
                <a:solidFill>
                  <a:srgbClr val="1F497D"/>
                </a:solidFill>
                <a:effectLst/>
                <a:uLnTx/>
                <a:uFillTx/>
                <a:latin typeface="Calibri"/>
                <a:ea typeface="+mj-ea"/>
                <a:cs typeface="+mj-cs"/>
              </a:rPr>
              <a:t>(2 of 3)</a:t>
            </a:r>
            <a:endParaRPr lang="en-US" dirty="0"/>
          </a:p>
        </p:txBody>
      </p:sp>
      <p:sp>
        <p:nvSpPr>
          <p:cNvPr id="3" name="Text Placeholder 2"/>
          <p:cNvSpPr>
            <a:spLocks noGrp="1"/>
          </p:cNvSpPr>
          <p:nvPr>
            <p:ph idx="1"/>
          </p:nvPr>
        </p:nvSpPr>
        <p:spPr/>
        <p:txBody>
          <a:bodyPr>
            <a:normAutofit/>
          </a:bodyPr>
          <a:lstStyle/>
          <a:p>
            <a:pPr marL="1143000" indent="-1143000">
              <a:lnSpc>
                <a:spcPct val="120000"/>
              </a:lnSpc>
              <a:spcBef>
                <a:spcPts val="1800"/>
              </a:spcBef>
              <a:buNone/>
            </a:pPr>
            <a:r>
              <a:rPr lang="en-US" sz="2800" dirty="0"/>
              <a:t>18.2.1  Describe the monoamine hypothesis of affective disorders, and the potential roles of serotonin, norepinephrine, and dopamine in disorder pathophysiology.</a:t>
            </a:r>
          </a:p>
          <a:p>
            <a:pPr marL="1143000" indent="-1143000">
              <a:lnSpc>
                <a:spcPct val="120000"/>
              </a:lnSpc>
              <a:spcBef>
                <a:spcPts val="1800"/>
              </a:spcBef>
              <a:buNone/>
            </a:pPr>
            <a:r>
              <a:rPr lang="en-US" sz="2800" dirty="0"/>
              <a:t>18.2.2  Explain how cross-modulation between the serotonergic and noradrenergic systems may underlie the therapeutic effects of antidepressant treatment.</a:t>
            </a:r>
          </a:p>
          <a:p>
            <a:pPr marL="1143000" indent="-1143000">
              <a:lnSpc>
                <a:spcPct val="120000"/>
              </a:lnSpc>
              <a:spcBef>
                <a:spcPts val="1800"/>
              </a:spcBef>
              <a:buNone/>
            </a:pPr>
            <a:r>
              <a:rPr lang="en-US" sz="2800" dirty="0"/>
              <a:t>18.2.3  Detail the known neurobiological correlates of affective disorders.</a:t>
            </a:r>
          </a:p>
        </p:txBody>
      </p:sp>
    </p:spTree>
    <p:extLst>
      <p:ext uri="{BB962C8B-B14F-4D97-AF65-F5344CB8AC3E}">
        <p14:creationId xmlns:p14="http://schemas.microsoft.com/office/powerpoint/2010/main" val="35542255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kumimoji="0" lang="en-US" sz="3600" b="0" i="0" u="none" strike="noStrike" kern="1200" cap="none" spc="0" normalizeH="0" baseline="0" noProof="0" dirty="0">
                <a:ln>
                  <a:noFill/>
                </a:ln>
                <a:solidFill>
                  <a:srgbClr val="1F497D"/>
                </a:solidFill>
                <a:effectLst/>
                <a:uLnTx/>
                <a:uFillTx/>
                <a:latin typeface="Calibri"/>
                <a:ea typeface="+mj-ea"/>
                <a:cs typeface="+mj-cs"/>
              </a:rPr>
              <a:t>Chapter 18</a:t>
            </a:r>
            <a:br>
              <a:rPr kumimoji="0" lang="en-US" sz="3600" b="0" i="0" u="none" strike="noStrike" kern="1200" cap="none" spc="0" normalizeH="0" baseline="0" noProof="0" dirty="0">
                <a:ln>
                  <a:noFill/>
                </a:ln>
                <a:solidFill>
                  <a:srgbClr val="1F497D"/>
                </a:solidFill>
                <a:effectLst/>
                <a:uLnTx/>
                <a:uFillTx/>
                <a:latin typeface="Calibri"/>
                <a:ea typeface="+mj-ea"/>
                <a:cs typeface="+mj-cs"/>
              </a:rPr>
            </a:br>
            <a:r>
              <a:rPr kumimoji="0" lang="en-US" sz="4000" b="0" i="0" u="none" strike="noStrike" kern="1200" cap="none" spc="0" normalizeH="0" baseline="0" noProof="0" dirty="0">
                <a:ln>
                  <a:noFill/>
                </a:ln>
                <a:solidFill>
                  <a:srgbClr val="1F497D"/>
                </a:solidFill>
                <a:effectLst/>
                <a:uLnTx/>
                <a:uFillTx/>
                <a:latin typeface="Calibri"/>
                <a:ea typeface="+mj-ea"/>
                <a:cs typeface="+mj-cs"/>
              </a:rPr>
              <a:t>Learning Objectives </a:t>
            </a:r>
            <a:r>
              <a:rPr kumimoji="0" lang="en-US" sz="1300" b="0" i="0" u="none" strike="noStrike" kern="1200" cap="none" spc="0" normalizeH="0" baseline="0" noProof="0" dirty="0">
                <a:ln>
                  <a:noFill/>
                </a:ln>
                <a:solidFill>
                  <a:srgbClr val="1F497D"/>
                </a:solidFill>
                <a:effectLst/>
                <a:uLnTx/>
                <a:uFillTx/>
                <a:latin typeface="Calibri"/>
                <a:ea typeface="+mj-ea"/>
                <a:cs typeface="+mj-cs"/>
              </a:rPr>
              <a:t>(3 of 3)</a:t>
            </a:r>
            <a:endParaRPr lang="en-US" dirty="0"/>
          </a:p>
        </p:txBody>
      </p:sp>
      <p:sp>
        <p:nvSpPr>
          <p:cNvPr id="3" name="Text Placeholder 2"/>
          <p:cNvSpPr>
            <a:spLocks noGrp="1"/>
          </p:cNvSpPr>
          <p:nvPr>
            <p:ph idx="1"/>
          </p:nvPr>
        </p:nvSpPr>
        <p:spPr/>
        <p:txBody>
          <a:bodyPr>
            <a:normAutofit/>
          </a:bodyPr>
          <a:lstStyle/>
          <a:p>
            <a:pPr marL="1143000" indent="-1143000">
              <a:lnSpc>
                <a:spcPct val="110000"/>
              </a:lnSpc>
              <a:spcBef>
                <a:spcPts val="1800"/>
              </a:spcBef>
              <a:buNone/>
            </a:pPr>
            <a:r>
              <a:rPr lang="en-US" sz="2800" dirty="0"/>
              <a:t>18.3.1  Describe the mechanisms of action, therapeutic efficacy, and side-effect profiles of the three major classes of drugs used to treat depression: MAOs, TCAs, and SSRIs/SNRIs.</a:t>
            </a:r>
          </a:p>
          <a:p>
            <a:pPr marL="1143000" indent="-1143000">
              <a:lnSpc>
                <a:spcPct val="110000"/>
              </a:lnSpc>
              <a:spcBef>
                <a:spcPts val="1800"/>
              </a:spcBef>
              <a:buNone/>
            </a:pPr>
            <a:r>
              <a:rPr lang="en-US" sz="2800" dirty="0"/>
              <a:t>18.3.2  Describe third-generation therapies that alleviate depression through distinctive mechanisms of action, including ketamine and galanin agonists.</a:t>
            </a:r>
          </a:p>
        </p:txBody>
      </p:sp>
    </p:spTree>
    <p:extLst>
      <p:ext uri="{BB962C8B-B14F-4D97-AF65-F5344CB8AC3E}">
        <p14:creationId xmlns:p14="http://schemas.microsoft.com/office/powerpoint/2010/main" val="34469461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r>
              <a:rPr lang="en-US" dirty="0"/>
              <a:t>Characteristics of Affective Disorders </a:t>
            </a:r>
            <a:r>
              <a:rPr lang="en-US" sz="1200" dirty="0"/>
              <a:t>(1 of 12)</a:t>
            </a:r>
          </a:p>
        </p:txBody>
      </p:sp>
      <p:sp>
        <p:nvSpPr>
          <p:cNvPr id="3" name="Text Placeholder 2"/>
          <p:cNvSpPr>
            <a:spLocks noGrp="1"/>
          </p:cNvSpPr>
          <p:nvPr>
            <p:ph idx="1"/>
          </p:nvPr>
        </p:nvSpPr>
        <p:spPr>
          <a:xfrm>
            <a:off x="609600" y="1857781"/>
            <a:ext cx="10972800" cy="4525963"/>
          </a:xfrm>
        </p:spPr>
        <p:txBody>
          <a:bodyPr/>
          <a:lstStyle/>
          <a:p>
            <a:pPr marL="457200" indent="-457200">
              <a:lnSpc>
                <a:spcPct val="110000"/>
              </a:lnSpc>
              <a:spcBef>
                <a:spcPts val="1200"/>
              </a:spcBef>
              <a:buNone/>
            </a:pPr>
            <a:r>
              <a:rPr lang="en-US" sz="3200" dirty="0"/>
              <a:t>DSM-5: Two types of affective disorder</a:t>
            </a:r>
          </a:p>
          <a:p>
            <a:r>
              <a:rPr lang="en-US" dirty="0"/>
              <a:t>Both characterized by extreme and inappropriate exaggeration of mood (affect)</a:t>
            </a:r>
          </a:p>
          <a:p>
            <a:r>
              <a:rPr lang="en-US" b="1" dirty="0"/>
              <a:t>Major depression</a:t>
            </a:r>
            <a:r>
              <a:rPr lang="en-US" dirty="0"/>
              <a:t>: recurring episodes of dysphoria and negative thinking; reflected in behavior</a:t>
            </a:r>
          </a:p>
          <a:p>
            <a:r>
              <a:rPr lang="en-US" b="1" dirty="0"/>
              <a:t>Bipolar disorder</a:t>
            </a:r>
            <a:r>
              <a:rPr lang="en-US" dirty="0"/>
              <a:t>: cyclic mood swings from depression to mania</a:t>
            </a:r>
          </a:p>
        </p:txBody>
      </p:sp>
    </p:spTree>
    <p:extLst>
      <p:ext uri="{BB962C8B-B14F-4D97-AF65-F5344CB8AC3E}">
        <p14:creationId xmlns:p14="http://schemas.microsoft.com/office/powerpoint/2010/main" val="26660090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Characteristics of Affective Disorders </a:t>
            </a:r>
            <a:r>
              <a:rPr lang="en-US" sz="1200" dirty="0"/>
              <a:t>(2 of 12)</a:t>
            </a:r>
            <a:endParaRPr lang="en-US" dirty="0"/>
          </a:p>
        </p:txBody>
      </p:sp>
      <p:sp>
        <p:nvSpPr>
          <p:cNvPr id="3" name="Text Placeholder 2"/>
          <p:cNvSpPr>
            <a:spLocks noGrp="1"/>
          </p:cNvSpPr>
          <p:nvPr>
            <p:ph idx="1"/>
          </p:nvPr>
        </p:nvSpPr>
        <p:spPr/>
        <p:txBody>
          <a:bodyPr>
            <a:normAutofit fontScale="92500" lnSpcReduction="20000"/>
          </a:bodyPr>
          <a:lstStyle/>
          <a:p>
            <a:pPr marL="457200" indent="-457200">
              <a:lnSpc>
                <a:spcPct val="130000"/>
              </a:lnSpc>
              <a:spcBef>
                <a:spcPts val="1200"/>
              </a:spcBef>
              <a:buNone/>
            </a:pPr>
            <a:r>
              <a:rPr lang="en-US" sz="3500" dirty="0"/>
              <a:t>Major depression damages the quality of life</a:t>
            </a:r>
          </a:p>
          <a:p>
            <a:pPr>
              <a:spcBef>
                <a:spcPts val="1800"/>
              </a:spcBef>
            </a:pPr>
            <a:r>
              <a:rPr lang="en-US" b="1" dirty="0"/>
              <a:t>Reactive depression</a:t>
            </a:r>
            <a:r>
              <a:rPr lang="en-US" dirty="0"/>
              <a:t>: response to situations such as loss of a loved one</a:t>
            </a:r>
          </a:p>
          <a:p>
            <a:pPr>
              <a:spcBef>
                <a:spcPts val="1800"/>
              </a:spcBef>
            </a:pPr>
            <a:r>
              <a:rPr lang="en-US" dirty="0"/>
              <a:t>Clinical depression:</a:t>
            </a:r>
          </a:p>
          <a:p>
            <a:pPr lvl="1">
              <a:spcBef>
                <a:spcPts val="1800"/>
              </a:spcBef>
            </a:pPr>
            <a:r>
              <a:rPr lang="en-US" dirty="0"/>
              <a:t>Loss of interest in everything</a:t>
            </a:r>
          </a:p>
          <a:p>
            <a:pPr lvl="1">
              <a:spcBef>
                <a:spcPts val="1800"/>
              </a:spcBef>
            </a:pPr>
            <a:r>
              <a:rPr lang="en-US" dirty="0"/>
              <a:t>Inability to experience pleasure (anhedonia)</a:t>
            </a:r>
          </a:p>
          <a:p>
            <a:pPr lvl="1">
              <a:spcBef>
                <a:spcPts val="1800"/>
              </a:spcBef>
            </a:pPr>
            <a:r>
              <a:rPr lang="en-US" dirty="0"/>
              <a:t>Feelings of hopelessness, worthlessness, sadness, guilt, desperation</a:t>
            </a:r>
          </a:p>
          <a:p>
            <a:pPr lvl="1">
              <a:spcBef>
                <a:spcPts val="1800"/>
              </a:spcBef>
            </a:pPr>
            <a:r>
              <a:rPr lang="en-US" dirty="0"/>
              <a:t>Loss of appetite and sexual desire, insomnia, fatigue</a:t>
            </a:r>
          </a:p>
          <a:p>
            <a:pPr lvl="1">
              <a:spcBef>
                <a:spcPts val="1800"/>
              </a:spcBef>
            </a:pPr>
            <a:r>
              <a:rPr lang="en-US" dirty="0"/>
              <a:t>Thoughts of suicide</a:t>
            </a:r>
          </a:p>
        </p:txBody>
      </p:sp>
    </p:spTree>
    <p:extLst>
      <p:ext uri="{BB962C8B-B14F-4D97-AF65-F5344CB8AC3E}">
        <p14:creationId xmlns:p14="http://schemas.microsoft.com/office/powerpoint/2010/main" val="31397673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Characteristics of Affective Disorders </a:t>
            </a:r>
            <a:r>
              <a:rPr lang="en-US" sz="1200" dirty="0"/>
              <a:t>(3 of 12)</a:t>
            </a:r>
            <a:endParaRPr lang="en-US" dirty="0"/>
          </a:p>
        </p:txBody>
      </p:sp>
      <p:sp>
        <p:nvSpPr>
          <p:cNvPr id="3" name="Text Placeholder 2"/>
          <p:cNvSpPr>
            <a:spLocks noGrp="1"/>
          </p:cNvSpPr>
          <p:nvPr>
            <p:ph idx="1"/>
          </p:nvPr>
        </p:nvSpPr>
        <p:spPr/>
        <p:txBody>
          <a:bodyPr>
            <a:normAutofit/>
          </a:bodyPr>
          <a:lstStyle/>
          <a:p>
            <a:pPr marL="457200" indent="-457200">
              <a:lnSpc>
                <a:spcPct val="110000"/>
              </a:lnSpc>
              <a:spcBef>
                <a:spcPts val="1200"/>
              </a:spcBef>
              <a:buNone/>
            </a:pPr>
            <a:r>
              <a:rPr lang="en-US" sz="3200" dirty="0"/>
              <a:t>Major depression damages the quality of life</a:t>
            </a:r>
          </a:p>
          <a:p>
            <a:pPr>
              <a:spcBef>
                <a:spcPts val="1800"/>
              </a:spcBef>
            </a:pPr>
            <a:r>
              <a:rPr lang="en-US" dirty="0"/>
              <a:t>Extensive overlap of depression with anxiety disorder and alcohol dependence</a:t>
            </a:r>
          </a:p>
          <a:p>
            <a:pPr>
              <a:spcBef>
                <a:spcPts val="1800"/>
              </a:spcBef>
            </a:pPr>
            <a:r>
              <a:rPr lang="en-US" dirty="0"/>
              <a:t>Comorbidity predicts more severe symptoms</a:t>
            </a:r>
          </a:p>
          <a:p>
            <a:pPr>
              <a:spcBef>
                <a:spcPts val="1800"/>
              </a:spcBef>
            </a:pPr>
            <a:r>
              <a:rPr lang="en-US" dirty="0"/>
              <a:t>Episodes usually recur throughout life</a:t>
            </a:r>
          </a:p>
          <a:p>
            <a:pPr>
              <a:spcBef>
                <a:spcPts val="1800"/>
              </a:spcBef>
            </a:pPr>
            <a:r>
              <a:rPr lang="en-US" dirty="0"/>
              <a:t>Risk of depression is higher for women</a:t>
            </a:r>
          </a:p>
          <a:p>
            <a:pPr>
              <a:spcBef>
                <a:spcPts val="1800"/>
              </a:spcBef>
            </a:pPr>
            <a:r>
              <a:rPr lang="en-US" dirty="0"/>
              <a:t>Incidence has increased, and age of onset has decreased, since 1955 </a:t>
            </a:r>
          </a:p>
        </p:txBody>
      </p:sp>
    </p:spTree>
    <p:extLst>
      <p:ext uri="{BB962C8B-B14F-4D97-AF65-F5344CB8AC3E}">
        <p14:creationId xmlns:p14="http://schemas.microsoft.com/office/powerpoint/2010/main" val="19569761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9D6B0-31AA-5A45-B8A3-AA4DCFF1FDC4}"/>
              </a:ext>
            </a:extLst>
          </p:cNvPr>
          <p:cNvSpPr>
            <a:spLocks noGrp="1"/>
          </p:cNvSpPr>
          <p:nvPr>
            <p:ph type="title"/>
          </p:nvPr>
        </p:nvSpPr>
        <p:spPr/>
        <p:txBody>
          <a:bodyPr/>
          <a:lstStyle/>
          <a:p>
            <a:r>
              <a:rPr lang="en-US" dirty="0"/>
              <a:t>FIGURE 18.1  Age of onset of major depression </a:t>
            </a:r>
          </a:p>
        </p:txBody>
      </p:sp>
      <p:pic>
        <p:nvPicPr>
          <p:cNvPr id="6" name="Content Placeholder 5" descr="A graph shows onset of major depression in Americans from before 1905 to beyond 1955. The horizontal axis is labeled Age of onset and has a range from 5 to 75 in increments of 10. The vertical axis is labeled cumulative rates of major depression and has a range from 0 to 0.10 in increments of 0.02. The graph for before 1905 is plotted through (15, 0), (25, 0), (35, 0.001), (45, 0.005), (65, 0.01), and (75, 0.006). The graph for 1905 to 1914 is plotted through (15, 0), (35, 0.005), (45, 0.007), (55, 0.01), and (75, 0.0175). The graph for 1915 to 1924 is plotted through (15, 0), (0. 005), (35, 0.01), (45, 0.0175), (55, 0.025), and (65, 0.035). The graph for 1925 to 1934 is plotted through (15, 0), (25, 0.01), (35, 0.019), (45, 0.035), and (55, 0.055). The graph for 1935 to 1944 is plotted through (5, 0), (15, 0.075), (25, 0.02), (35, 0.05), and (45, 0.088). The graph for 1945 to 1954 is plotted through (15, 0.075), (25, 0.04), and (35, 0.094). The graph for 1955 and beyond is plotted through (15, 0.075), and (23, 0.6)."/>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1819562" y="479425"/>
            <a:ext cx="8552876" cy="6300788"/>
          </a:xfrm>
        </p:spPr>
      </p:pic>
    </p:spTree>
    <p:extLst>
      <p:ext uri="{BB962C8B-B14F-4D97-AF65-F5344CB8AC3E}">
        <p14:creationId xmlns:p14="http://schemas.microsoft.com/office/powerpoint/2010/main" val="2153185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Characteristics of Affective Disorders </a:t>
            </a:r>
            <a:r>
              <a:rPr lang="en-US" sz="1200" dirty="0"/>
              <a:t>(4 of 12)</a:t>
            </a:r>
            <a:endParaRPr lang="en-US" dirty="0"/>
          </a:p>
        </p:txBody>
      </p:sp>
      <p:sp>
        <p:nvSpPr>
          <p:cNvPr id="3" name="Text Placeholder 2"/>
          <p:cNvSpPr>
            <a:spLocks noGrp="1"/>
          </p:cNvSpPr>
          <p:nvPr>
            <p:ph idx="1"/>
          </p:nvPr>
        </p:nvSpPr>
        <p:spPr/>
        <p:txBody>
          <a:bodyPr>
            <a:normAutofit/>
          </a:bodyPr>
          <a:lstStyle/>
          <a:p>
            <a:pPr marL="457200" indent="-457200">
              <a:lnSpc>
                <a:spcPct val="110000"/>
              </a:lnSpc>
              <a:spcBef>
                <a:spcPts val="1200"/>
              </a:spcBef>
              <a:buNone/>
            </a:pPr>
            <a:r>
              <a:rPr lang="en-US" sz="3200" dirty="0"/>
              <a:t>In bipolar disorder, moods alternate between mania and depression</a:t>
            </a:r>
          </a:p>
          <a:p>
            <a:pPr>
              <a:spcBef>
                <a:spcPts val="1200"/>
              </a:spcBef>
            </a:pPr>
            <a:r>
              <a:rPr lang="en-US" dirty="0"/>
              <a:t>Manic individuals feel faultless, full of fun, talkative, energetic; need for sleep significantly reduced</a:t>
            </a:r>
          </a:p>
          <a:p>
            <a:pPr>
              <a:spcBef>
                <a:spcPts val="1200"/>
              </a:spcBef>
            </a:pPr>
            <a:r>
              <a:rPr lang="en-US" dirty="0"/>
              <a:t>In some, primary mood is irritability, belligerence, and impatience</a:t>
            </a:r>
          </a:p>
          <a:p>
            <a:pPr>
              <a:spcBef>
                <a:spcPts val="1200"/>
              </a:spcBef>
            </a:pPr>
            <a:r>
              <a:rPr lang="en-US" dirty="0"/>
              <a:t>Behavior: reckless driving, buying sprees, foolish business deals, sexual indiscretions</a:t>
            </a:r>
          </a:p>
        </p:txBody>
      </p:sp>
    </p:spTree>
    <p:extLst>
      <p:ext uri="{BB962C8B-B14F-4D97-AF65-F5344CB8AC3E}">
        <p14:creationId xmlns:p14="http://schemas.microsoft.com/office/powerpoint/2010/main" val="39405613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Characteristics of Affective Disorders </a:t>
            </a:r>
            <a:r>
              <a:rPr lang="en-US" sz="1200" dirty="0"/>
              <a:t>(5 of 12)</a:t>
            </a:r>
            <a:endParaRPr lang="en-US" dirty="0"/>
          </a:p>
        </p:txBody>
      </p:sp>
      <p:sp>
        <p:nvSpPr>
          <p:cNvPr id="3" name="Text Placeholder 2"/>
          <p:cNvSpPr>
            <a:spLocks noGrp="1"/>
          </p:cNvSpPr>
          <p:nvPr>
            <p:ph idx="1"/>
          </p:nvPr>
        </p:nvSpPr>
        <p:spPr/>
        <p:txBody>
          <a:bodyPr>
            <a:normAutofit/>
          </a:bodyPr>
          <a:lstStyle/>
          <a:p>
            <a:pPr marL="457200" indent="-457200">
              <a:lnSpc>
                <a:spcPct val="110000"/>
              </a:lnSpc>
              <a:spcBef>
                <a:spcPts val="1200"/>
              </a:spcBef>
              <a:buNone/>
            </a:pPr>
            <a:r>
              <a:rPr lang="en-US" sz="3200" dirty="0"/>
              <a:t>Risk factors for mood disorders are biological and environmental</a:t>
            </a:r>
          </a:p>
          <a:p>
            <a:pPr>
              <a:spcBef>
                <a:spcPts val="1200"/>
              </a:spcBef>
            </a:pPr>
            <a:r>
              <a:rPr lang="en-US" dirty="0"/>
              <a:t>Evidence for a genetic contribution to affective disorders</a:t>
            </a:r>
          </a:p>
          <a:p>
            <a:pPr lvl="1">
              <a:spcBef>
                <a:spcPts val="1200"/>
              </a:spcBef>
            </a:pPr>
            <a:r>
              <a:rPr lang="en-US" dirty="0"/>
              <a:t>Adoption studies</a:t>
            </a:r>
          </a:p>
          <a:p>
            <a:pPr lvl="1">
              <a:spcBef>
                <a:spcPts val="1200"/>
              </a:spcBef>
            </a:pPr>
            <a:r>
              <a:rPr lang="en-US" dirty="0"/>
              <a:t>Twin studies: 65% concordance rate for identical twins; 80% for bipolar disorder</a:t>
            </a:r>
          </a:p>
          <a:p>
            <a:pPr lvl="1">
              <a:spcBef>
                <a:spcPts val="1200"/>
              </a:spcBef>
            </a:pPr>
            <a:r>
              <a:rPr lang="en-US" dirty="0"/>
              <a:t>Linkage studies: no single gene for affective disorders; many vulnerability genes may each contribute only a small amount</a:t>
            </a:r>
          </a:p>
        </p:txBody>
      </p:sp>
    </p:spTree>
    <p:extLst>
      <p:ext uri="{BB962C8B-B14F-4D97-AF65-F5344CB8AC3E}">
        <p14:creationId xmlns:p14="http://schemas.microsoft.com/office/powerpoint/2010/main" val="29646616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CC722-1E6A-8743-888C-F666A7BD388D}"/>
              </a:ext>
            </a:extLst>
          </p:cNvPr>
          <p:cNvSpPr>
            <a:spLocks noGrp="1"/>
          </p:cNvSpPr>
          <p:nvPr>
            <p:ph type="title"/>
          </p:nvPr>
        </p:nvSpPr>
        <p:spPr/>
        <p:txBody>
          <a:bodyPr/>
          <a:lstStyle/>
          <a:p>
            <a:r>
              <a:rPr lang="en-US" dirty="0"/>
              <a:t>FIGURE 18.2  Concordance rates for mood disorders among identical and fraternal twins </a:t>
            </a:r>
          </a:p>
        </p:txBody>
      </p:sp>
      <p:pic>
        <p:nvPicPr>
          <p:cNvPr id="6" name="Content Placeholder 5" descr="A grouped bar graph shows concordance rates for mood disorders among identical and fraternal twins. All data are approximate. Data from the graph, presented in the format, Disorder: Percentage concordance rate in identical twins, Percentage concordance rate in fraternal twins, is as follows. Any mood disorder: 63, 20. Severe depression: 60, 30. Depression: 35, 18. Bipolar disorder: 80, 15."/>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755824" y="479425"/>
            <a:ext cx="6680353" cy="6300788"/>
          </a:xfrm>
        </p:spPr>
      </p:pic>
    </p:spTree>
    <p:extLst>
      <p:ext uri="{BB962C8B-B14F-4D97-AF65-F5344CB8AC3E}">
        <p14:creationId xmlns:p14="http://schemas.microsoft.com/office/powerpoint/2010/main" val="5169165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Characteristics of Affective Disorders </a:t>
            </a:r>
            <a:r>
              <a:rPr lang="en-US" sz="1200" dirty="0"/>
              <a:t>(6 of 12)</a:t>
            </a:r>
            <a:endParaRPr lang="en-US" dirty="0"/>
          </a:p>
        </p:txBody>
      </p:sp>
      <p:sp>
        <p:nvSpPr>
          <p:cNvPr id="3" name="Text Placeholder 2"/>
          <p:cNvSpPr>
            <a:spLocks noGrp="1"/>
          </p:cNvSpPr>
          <p:nvPr>
            <p:ph idx="1"/>
          </p:nvPr>
        </p:nvSpPr>
        <p:spPr/>
        <p:txBody>
          <a:bodyPr>
            <a:normAutofit/>
          </a:bodyPr>
          <a:lstStyle/>
          <a:p>
            <a:pPr marL="457200" indent="-457200">
              <a:lnSpc>
                <a:spcPct val="110000"/>
              </a:lnSpc>
              <a:spcBef>
                <a:spcPts val="1200"/>
              </a:spcBef>
              <a:buNone/>
            </a:pPr>
            <a:r>
              <a:rPr lang="en-US" sz="3200" dirty="0"/>
              <a:t>Risk factors for mood disorders are biological and environmental</a:t>
            </a:r>
          </a:p>
          <a:p>
            <a:pPr>
              <a:spcBef>
                <a:spcPts val="1200"/>
              </a:spcBef>
            </a:pPr>
            <a:r>
              <a:rPr lang="en-US" dirty="0"/>
              <a:t>Stress: mediated by the hypothalamic–pituitary–adrenal (HPA) axis</a:t>
            </a:r>
          </a:p>
          <a:p>
            <a:pPr>
              <a:spcBef>
                <a:spcPts val="1200"/>
              </a:spcBef>
            </a:pPr>
            <a:r>
              <a:rPr lang="en-US" dirty="0"/>
              <a:t>Many depressed patients have elevated cortisol levels and an abnormal circadian rhythm in cortisol secretion</a:t>
            </a:r>
          </a:p>
          <a:p>
            <a:pPr>
              <a:spcBef>
                <a:spcPts val="1200"/>
              </a:spcBef>
            </a:pPr>
            <a:r>
              <a:rPr lang="en-US" dirty="0"/>
              <a:t>Early life stress apparently alters the set point of the HPA axis, making it permanently overly responsive</a:t>
            </a:r>
          </a:p>
          <a:p>
            <a:pPr>
              <a:spcBef>
                <a:spcPts val="1200"/>
              </a:spcBef>
            </a:pPr>
            <a:r>
              <a:rPr lang="en-US" dirty="0"/>
              <a:t>Failure to respond to </a:t>
            </a:r>
            <a:r>
              <a:rPr lang="en-US" b="1" dirty="0"/>
              <a:t>dexamethasone</a:t>
            </a:r>
            <a:r>
              <a:rPr lang="en-US" dirty="0"/>
              <a:t> challenge</a:t>
            </a:r>
          </a:p>
        </p:txBody>
      </p:sp>
    </p:spTree>
    <p:extLst>
      <p:ext uri="{BB962C8B-B14F-4D97-AF65-F5344CB8AC3E}">
        <p14:creationId xmlns:p14="http://schemas.microsoft.com/office/powerpoint/2010/main" val="42624974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F52A9-E701-4141-A43F-9221685359C1}"/>
              </a:ext>
            </a:extLst>
          </p:cNvPr>
          <p:cNvSpPr>
            <a:spLocks noGrp="1"/>
          </p:cNvSpPr>
          <p:nvPr>
            <p:ph type="title"/>
          </p:nvPr>
        </p:nvSpPr>
        <p:spPr/>
        <p:txBody>
          <a:bodyPr/>
          <a:lstStyle/>
          <a:p>
            <a:r>
              <a:rPr lang="en-US" dirty="0"/>
              <a:t>FIGURE 18.3  Abnormalities in glucocorticoids </a:t>
            </a:r>
          </a:p>
        </p:txBody>
      </p:sp>
      <p:pic>
        <p:nvPicPr>
          <p:cNvPr id="6" name="Content Placeholder 5" descr="A scatterplot shows abnormalities in glucocorticoids of plasma cortisol of 1 microgram per 100 milliliters. Depressed patients: The trend ranges from 0 to 30 with an increase between 1 and 2, 5 and 8, and 10 to 18. Psychiatric controls: The trend ranges from 0 to 4 with an increase at 2 and clusters between 2 and 4. Normal controls: The trend ranges from 0 to 4.5, with a cluster around 2 before tapering to 4.5.&#10;&#10;A graph plots differences in circadian changes in blood cortisol levels in depressed and normal individuals. The horizontal axis is labeled Clock time, and has a range from 2000 to 2000 in increments of 200. The vertical axis is labeled plasma cortisol of 1 microgram per 100 milliliters, and has a range from 0 to 20 in increments of 4. The graph for normal individuals is plotted through (2000, 4), (2400, 2), (0200, 2.2), (0300, 4), (0400, 7), (0600, 12), (0700, 14), (0900, 14), (1200, 8), (1500, 10), (1700, 7), and (1900, 6). The graph for depressed individuals is plotted through (2000, 8), (2100, 9), (2200, 7), (2400, 8), (2500, 6), (0200, 10), (0400, 13), (1100, 12), (1300, 15), (1400, 11.5), (1600, 12), (1700, 9), (1800, 12), and (1900, 9).&#10;&#10;A graph plots the difference in response to dexamethasone injection to both depressed patients and normal individuals. The horizontal axis is labeled Hours after dose and has a range from 0 to 24 in increments of 8. The vertical axis is labeled plasma cortisol of 1 microgram per 100 milliliters, and has a range from 0 to 15 in increments of 5. The graph for both the depressed and normal individual before the injection is plotted through (7, 10), and (5, 11). On taking the injection, a normal response is plotted through (0, 0.5), (1, 0), (4, 0.5), (6, 0), (8, 0.5), (12, 0), (15, 2), (16, 0.5), (23, 0), and (24, 0.5). The graph for non-suppression in a depressed patient on taking the injection is plotted through (0, 5), (2, 10), (3, 2), (3.5, 4), (4, 2), (7, 3), (8, 9), (10, 4), (12, 8), (14, 10), (15, 7), (16, 10), (17, 13), (19, 7), (22, 6), (23, 11), and (24, 7)."/>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744126" y="479425"/>
            <a:ext cx="10703748" cy="6300788"/>
          </a:xfrm>
        </p:spPr>
      </p:pic>
    </p:spTree>
    <p:extLst>
      <p:ext uri="{BB962C8B-B14F-4D97-AF65-F5344CB8AC3E}">
        <p14:creationId xmlns:p14="http://schemas.microsoft.com/office/powerpoint/2010/main" val="2256394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Characteristics of Affective Disorders </a:t>
            </a:r>
            <a:r>
              <a:rPr lang="en-US" sz="1200" dirty="0"/>
              <a:t>(7 of 12)</a:t>
            </a:r>
            <a:endParaRPr lang="en-US" dirty="0"/>
          </a:p>
        </p:txBody>
      </p:sp>
      <p:sp>
        <p:nvSpPr>
          <p:cNvPr id="3" name="Text Placeholder 2"/>
          <p:cNvSpPr>
            <a:spLocks noGrp="1"/>
          </p:cNvSpPr>
          <p:nvPr>
            <p:ph idx="1"/>
          </p:nvPr>
        </p:nvSpPr>
        <p:spPr/>
        <p:txBody>
          <a:bodyPr>
            <a:normAutofit/>
          </a:bodyPr>
          <a:lstStyle/>
          <a:p>
            <a:pPr marL="457200" indent="-457200">
              <a:lnSpc>
                <a:spcPct val="110000"/>
              </a:lnSpc>
              <a:spcBef>
                <a:spcPts val="1200"/>
              </a:spcBef>
              <a:buNone/>
            </a:pPr>
            <a:r>
              <a:rPr lang="en-US" sz="3200" dirty="0"/>
              <a:t>Risk factors for mood disorders are biological and environmental</a:t>
            </a:r>
          </a:p>
          <a:p>
            <a:pPr>
              <a:spcBef>
                <a:spcPts val="1200"/>
              </a:spcBef>
            </a:pPr>
            <a:r>
              <a:rPr lang="en-US" dirty="0"/>
              <a:t>Biological rhythms</a:t>
            </a:r>
          </a:p>
          <a:p>
            <a:pPr lvl="1">
              <a:spcBef>
                <a:spcPts val="1200"/>
              </a:spcBef>
            </a:pPr>
            <a:r>
              <a:rPr lang="en-US" dirty="0"/>
              <a:t>Abnormal sleep cycles</a:t>
            </a:r>
          </a:p>
          <a:p>
            <a:pPr lvl="1">
              <a:spcBef>
                <a:spcPts val="1200"/>
              </a:spcBef>
            </a:pPr>
            <a:r>
              <a:rPr lang="en-US" dirty="0"/>
              <a:t>Biological clocks of those with depression may be “phase shifted”</a:t>
            </a:r>
          </a:p>
          <a:p>
            <a:pPr lvl="1">
              <a:spcBef>
                <a:spcPts val="1200"/>
              </a:spcBef>
            </a:pPr>
            <a:r>
              <a:rPr lang="en-US" dirty="0"/>
              <a:t>Bipolar disorder also includes altered sleep rhythms</a:t>
            </a:r>
          </a:p>
          <a:p>
            <a:pPr lvl="3"/>
            <a:r>
              <a:rPr lang="en-US" dirty="0"/>
              <a:t>Sleep deprivation can trigger an episode of mania</a:t>
            </a:r>
          </a:p>
          <a:p>
            <a:pPr lvl="3"/>
            <a:r>
              <a:rPr lang="en-US" dirty="0"/>
              <a:t>Many other circadian rhythms also disturbed</a:t>
            </a:r>
          </a:p>
        </p:txBody>
      </p:sp>
    </p:spTree>
    <p:extLst>
      <p:ext uri="{BB962C8B-B14F-4D97-AF65-F5344CB8AC3E}">
        <p14:creationId xmlns:p14="http://schemas.microsoft.com/office/powerpoint/2010/main" val="3264165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B5AB8-8926-3F40-9668-436711C4BFD1}"/>
              </a:ext>
            </a:extLst>
          </p:cNvPr>
          <p:cNvSpPr>
            <a:spLocks noGrp="1"/>
          </p:cNvSpPr>
          <p:nvPr>
            <p:ph type="title"/>
          </p:nvPr>
        </p:nvSpPr>
        <p:spPr/>
        <p:txBody>
          <a:bodyPr/>
          <a:lstStyle/>
          <a:p>
            <a:r>
              <a:rPr lang="en-US" dirty="0"/>
              <a:t>FIGURE 18.4  Altered sleep architecture in depression </a:t>
            </a:r>
          </a:p>
        </p:txBody>
      </p:sp>
      <p:pic>
        <p:nvPicPr>
          <p:cNvPr id="6" name="Content Placeholder 5" descr="A graph illustrates the sleep pattern of a patient with depression, with the horizontal axis labeled Time from 9 p m to 7 a m. From 9 p m to 11.30 p m is wakefulness, wherein the patient is awake at 9 p m and onset of sleep is 11 p m. The vertical axis has four depth levels of wakefulness, awake, Stage 1 R E M, Stage 2, and Stage 3 and 4. 11.30 p m is the first R E M episode. From 11.30 p m to 7 a m there are several R E M periods interspersed with periods of wakefulness and at no time is there a stage 3 or 4 depth of sleep.&#10;&#10;A graph compares R E M episodes in the sleep pattern of normal and depressed individuals. The horizontal axis is labeled Age groups in years and has a range from 18 to 60 in groups of 8 to 10 years. The vertical axis is labeled R E M latency in minutes, and a mean of two nights, and has a range from 0 to 110 in increments of 10. The graph for normal individuals is plotted through (18 to 25, 100), (26 to 30, 105), (30 to 40, 80), and (41 to 50, 70). The graph for depressed individuals is plotted through (18 to 25, 60), (31 to 40, 50), (41 to 50, 40), and (51 to 60, 35)."/>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1832214" y="479425"/>
            <a:ext cx="8527572" cy="6300788"/>
          </a:xfrm>
        </p:spPr>
      </p:pic>
    </p:spTree>
    <p:extLst>
      <p:ext uri="{BB962C8B-B14F-4D97-AF65-F5344CB8AC3E}">
        <p14:creationId xmlns:p14="http://schemas.microsoft.com/office/powerpoint/2010/main" val="16860826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Characteristics of Affective Disorders </a:t>
            </a:r>
            <a:r>
              <a:rPr lang="en-US" sz="1200" dirty="0"/>
              <a:t>(8 of 12)</a:t>
            </a:r>
            <a:endParaRPr lang="en-US" dirty="0"/>
          </a:p>
        </p:txBody>
      </p:sp>
      <p:sp>
        <p:nvSpPr>
          <p:cNvPr id="3" name="Text Placeholder 2"/>
          <p:cNvSpPr>
            <a:spLocks noGrp="1"/>
          </p:cNvSpPr>
          <p:nvPr>
            <p:ph idx="1"/>
          </p:nvPr>
        </p:nvSpPr>
        <p:spPr/>
        <p:txBody>
          <a:bodyPr>
            <a:normAutofit/>
          </a:bodyPr>
          <a:lstStyle/>
          <a:p>
            <a:pPr marL="457200" indent="-457200">
              <a:lnSpc>
                <a:spcPct val="110000"/>
              </a:lnSpc>
              <a:spcBef>
                <a:spcPts val="1200"/>
              </a:spcBef>
              <a:buNone/>
            </a:pPr>
            <a:r>
              <a:rPr lang="en-US" sz="3200" dirty="0"/>
              <a:t>Risk factors for mood disorders are biological and environmental</a:t>
            </a:r>
          </a:p>
          <a:p>
            <a:pPr>
              <a:spcBef>
                <a:spcPts val="1200"/>
              </a:spcBef>
            </a:pPr>
            <a:r>
              <a:rPr lang="en-US" dirty="0"/>
              <a:t>Gut-brain axis: gut bacteria can directly and indirectly impact CNS function though interaction with the </a:t>
            </a:r>
            <a:r>
              <a:rPr lang="en-US" dirty="0" err="1"/>
              <a:t>vagus</a:t>
            </a:r>
            <a:r>
              <a:rPr lang="en-US" dirty="0"/>
              <a:t> cranial nerve</a:t>
            </a:r>
          </a:p>
          <a:p>
            <a:pPr>
              <a:spcBef>
                <a:spcPts val="1200"/>
              </a:spcBef>
            </a:pPr>
            <a:r>
              <a:rPr lang="en-US" dirty="0"/>
              <a:t>Mice lacking intestinal bacteria exhibit a heightened response to stress through sensitization of the HPA axis</a:t>
            </a:r>
          </a:p>
          <a:p>
            <a:pPr>
              <a:spcBef>
                <a:spcPts val="1200"/>
              </a:spcBef>
            </a:pPr>
            <a:r>
              <a:rPr lang="en-US" dirty="0"/>
              <a:t>Different bacterial flora profiles have been associated with a variety of psychiatric symptoms</a:t>
            </a:r>
          </a:p>
        </p:txBody>
      </p:sp>
    </p:spTree>
    <p:extLst>
      <p:ext uri="{BB962C8B-B14F-4D97-AF65-F5344CB8AC3E}">
        <p14:creationId xmlns:p14="http://schemas.microsoft.com/office/powerpoint/2010/main" val="23593399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77EFD-3113-894F-ACE7-69033E91BDA2}"/>
              </a:ext>
            </a:extLst>
          </p:cNvPr>
          <p:cNvSpPr>
            <a:spLocks noGrp="1"/>
          </p:cNvSpPr>
          <p:nvPr>
            <p:ph type="title"/>
          </p:nvPr>
        </p:nvSpPr>
        <p:spPr/>
        <p:txBody>
          <a:bodyPr/>
          <a:lstStyle/>
          <a:p>
            <a:r>
              <a:rPr lang="en-US" dirty="0"/>
              <a:t>FIGURE 18.5  The potential involvement of the gut–brain axis in the pathophysiology of depression </a:t>
            </a:r>
          </a:p>
        </p:txBody>
      </p:sp>
      <p:pic>
        <p:nvPicPr>
          <p:cNvPr id="6" name="Content Placeholder 5" descr="An illustration depicts the connection between the gut and the brain axis in depression physiology. On the top is the headline that reads Chronic stress, below which is a diagram of the brain with its undulating tissues on top and labeled Brain dysfunction. A downward arrow on the left is labeled neuroplasticity and an upward arrow on the right is labeled neuroinflammation, and a downward arrow below the brain is labeled neurogenesis. Below are cells of the gut with an outer layer of square cells with one mast cell and one enteroendocrine cell. There is tissue below. The gut is labeled gut dysfunction. Bacteroidetes in the gut are caused by poor diet and antibiotics, Psychobiotics and Probiotics give rise to Firmicutes, and Lactobacillus are present due to healthy diet and Fecal microbiota transplant. Two double ended arrows are drawn on either side between the brain and gut, labeled Gut-brain dysfunction; the one on the left is H P A axis dysfunction and the one on the right is Chronic inflammation. A cell with roots in the gut and a web around it is labeled Enteric-nervous system and is linked to the lower part of the brain by the Vagus nerve, connected by a circle to the H P A axis dysfunction and Chronic inflammation."/>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3274563" y="479425"/>
            <a:ext cx="5642874" cy="6300788"/>
          </a:xfrm>
        </p:spPr>
      </p:pic>
    </p:spTree>
    <p:extLst>
      <p:ext uri="{BB962C8B-B14F-4D97-AF65-F5344CB8AC3E}">
        <p14:creationId xmlns:p14="http://schemas.microsoft.com/office/powerpoint/2010/main" val="33450429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Characteristics of Affective Disorders </a:t>
            </a:r>
            <a:r>
              <a:rPr lang="en-US" sz="1200" dirty="0"/>
              <a:t>(9 of 12)</a:t>
            </a:r>
            <a:endParaRPr lang="en-US" dirty="0"/>
          </a:p>
        </p:txBody>
      </p:sp>
      <p:sp>
        <p:nvSpPr>
          <p:cNvPr id="3" name="Text Placeholder 2"/>
          <p:cNvSpPr>
            <a:spLocks noGrp="1"/>
          </p:cNvSpPr>
          <p:nvPr>
            <p:ph idx="1"/>
          </p:nvPr>
        </p:nvSpPr>
        <p:spPr/>
        <p:txBody>
          <a:bodyPr>
            <a:normAutofit/>
          </a:bodyPr>
          <a:lstStyle/>
          <a:p>
            <a:pPr marL="457200" indent="-457200">
              <a:lnSpc>
                <a:spcPct val="110000"/>
              </a:lnSpc>
              <a:spcBef>
                <a:spcPts val="1200"/>
              </a:spcBef>
              <a:buNone/>
            </a:pPr>
            <a:r>
              <a:rPr lang="en-US" sz="3200" dirty="0"/>
              <a:t>Animal models of affective disorders</a:t>
            </a:r>
          </a:p>
          <a:p>
            <a:pPr>
              <a:spcBef>
                <a:spcPts val="1200"/>
              </a:spcBef>
            </a:pPr>
            <a:r>
              <a:rPr lang="en-US" dirty="0"/>
              <a:t>Modeling complex psychiatric disorders poses multiple challenges</a:t>
            </a:r>
          </a:p>
          <a:p>
            <a:pPr>
              <a:spcBef>
                <a:spcPts val="1200"/>
              </a:spcBef>
            </a:pPr>
            <a:r>
              <a:rPr lang="en-US" dirty="0"/>
              <a:t>Many tests that predict effective antidepressant treatment in rodents don’t translate to humans</a:t>
            </a:r>
          </a:p>
          <a:p>
            <a:pPr>
              <a:spcBef>
                <a:spcPts val="1200"/>
              </a:spcBef>
            </a:pPr>
            <a:r>
              <a:rPr lang="en-US" dirty="0"/>
              <a:t>Animal models usually reflect only one or a few behavioral symptoms</a:t>
            </a:r>
          </a:p>
        </p:txBody>
      </p:sp>
    </p:spTree>
    <p:extLst>
      <p:ext uri="{BB962C8B-B14F-4D97-AF65-F5344CB8AC3E}">
        <p14:creationId xmlns:p14="http://schemas.microsoft.com/office/powerpoint/2010/main" val="32658490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Characteristics of Affective Disorders </a:t>
            </a:r>
            <a:r>
              <a:rPr lang="en-US" sz="1200" dirty="0"/>
              <a:t>(10 of 12)</a:t>
            </a:r>
            <a:endParaRPr lang="en-US" dirty="0"/>
          </a:p>
        </p:txBody>
      </p:sp>
      <p:sp>
        <p:nvSpPr>
          <p:cNvPr id="3" name="Text Placeholder 2"/>
          <p:cNvSpPr>
            <a:spLocks noGrp="1"/>
          </p:cNvSpPr>
          <p:nvPr>
            <p:ph idx="1"/>
          </p:nvPr>
        </p:nvSpPr>
        <p:spPr/>
        <p:txBody>
          <a:bodyPr>
            <a:normAutofit/>
          </a:bodyPr>
          <a:lstStyle/>
          <a:p>
            <a:pPr marL="457200" indent="-457200">
              <a:lnSpc>
                <a:spcPct val="110000"/>
              </a:lnSpc>
              <a:spcBef>
                <a:spcPts val="1200"/>
              </a:spcBef>
              <a:buNone/>
            </a:pPr>
            <a:r>
              <a:rPr lang="en-US" sz="3200" dirty="0"/>
              <a:t>Animal models of bipolar disorder</a:t>
            </a:r>
          </a:p>
          <a:p>
            <a:pPr>
              <a:spcBef>
                <a:spcPts val="1200"/>
              </a:spcBef>
            </a:pPr>
            <a:r>
              <a:rPr lang="en-US" dirty="0"/>
              <a:t>Few models of the mania phase; even fewer of the cycling episodes</a:t>
            </a:r>
          </a:p>
          <a:p>
            <a:pPr>
              <a:spcBef>
                <a:spcPts val="1200"/>
              </a:spcBef>
            </a:pPr>
            <a:r>
              <a:rPr lang="en-US" dirty="0"/>
              <a:t>Several are based on altered circadian rhythms</a:t>
            </a:r>
          </a:p>
          <a:p>
            <a:pPr>
              <a:spcBef>
                <a:spcPts val="1200"/>
              </a:spcBef>
            </a:pPr>
            <a:r>
              <a:rPr lang="en-US" dirty="0"/>
              <a:t>Sleep deprivation-induced mania in rodents lasts about 30 minutes and can be reduced by lithium</a:t>
            </a:r>
          </a:p>
        </p:txBody>
      </p:sp>
    </p:spTree>
    <p:extLst>
      <p:ext uri="{BB962C8B-B14F-4D97-AF65-F5344CB8AC3E}">
        <p14:creationId xmlns:p14="http://schemas.microsoft.com/office/powerpoint/2010/main" val="1620463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Characteristics of Affective Disorders </a:t>
            </a:r>
            <a:r>
              <a:rPr lang="en-US" sz="1200" dirty="0"/>
              <a:t>(11 of 12)</a:t>
            </a:r>
            <a:endParaRPr lang="en-US" dirty="0"/>
          </a:p>
        </p:txBody>
      </p:sp>
      <p:sp>
        <p:nvSpPr>
          <p:cNvPr id="3" name="Text Placeholder 2"/>
          <p:cNvSpPr>
            <a:spLocks noGrp="1"/>
          </p:cNvSpPr>
          <p:nvPr>
            <p:ph idx="1"/>
          </p:nvPr>
        </p:nvSpPr>
        <p:spPr/>
        <p:txBody>
          <a:bodyPr>
            <a:normAutofit/>
          </a:bodyPr>
          <a:lstStyle/>
          <a:p>
            <a:pPr marL="457200" indent="-457200">
              <a:lnSpc>
                <a:spcPct val="110000"/>
              </a:lnSpc>
              <a:spcBef>
                <a:spcPts val="1200"/>
              </a:spcBef>
              <a:buNone/>
            </a:pPr>
            <a:r>
              <a:rPr lang="en-US" sz="3200" dirty="0"/>
              <a:t>Animal models of bipolar disorder</a:t>
            </a:r>
          </a:p>
          <a:p>
            <a:pPr>
              <a:spcBef>
                <a:spcPts val="1200"/>
              </a:spcBef>
            </a:pPr>
            <a:r>
              <a:rPr lang="en-US" dirty="0"/>
              <a:t>Genetic models target circadian rhythms:</a:t>
            </a:r>
          </a:p>
          <a:p>
            <a:pPr lvl="1">
              <a:spcBef>
                <a:spcPts val="1200"/>
              </a:spcBef>
            </a:pPr>
            <a:r>
              <a:rPr lang="en-US" i="1" dirty="0"/>
              <a:t>CLOCK</a:t>
            </a:r>
            <a:r>
              <a:rPr lang="en-US" dirty="0"/>
              <a:t> knockout mice show manic-like behaviors</a:t>
            </a:r>
          </a:p>
          <a:p>
            <a:pPr lvl="1">
              <a:spcBef>
                <a:spcPts val="1200"/>
              </a:spcBef>
            </a:pPr>
            <a:r>
              <a:rPr lang="en-US" dirty="0"/>
              <a:t>Overexpression of glycogen synthase kinase-3 (GSK-3)</a:t>
            </a:r>
          </a:p>
          <a:p>
            <a:pPr>
              <a:spcBef>
                <a:spcPts val="1200"/>
              </a:spcBef>
            </a:pPr>
            <a:r>
              <a:rPr lang="en-US" dirty="0"/>
              <a:t>Rodent models show some similarities with human patients, but also differences</a:t>
            </a:r>
          </a:p>
        </p:txBody>
      </p:sp>
    </p:spTree>
    <p:extLst>
      <p:ext uri="{BB962C8B-B14F-4D97-AF65-F5344CB8AC3E}">
        <p14:creationId xmlns:p14="http://schemas.microsoft.com/office/powerpoint/2010/main" val="14133458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Characteristics of Affective Disorders </a:t>
            </a:r>
            <a:r>
              <a:rPr lang="en-US" sz="1200" dirty="0"/>
              <a:t>(12 of 12)</a:t>
            </a:r>
            <a:endParaRPr lang="en-US" dirty="0"/>
          </a:p>
        </p:txBody>
      </p:sp>
      <p:sp>
        <p:nvSpPr>
          <p:cNvPr id="3" name="Text Placeholder 2"/>
          <p:cNvSpPr>
            <a:spLocks noGrp="1"/>
          </p:cNvSpPr>
          <p:nvPr>
            <p:ph idx="1"/>
          </p:nvPr>
        </p:nvSpPr>
        <p:spPr/>
        <p:txBody>
          <a:bodyPr>
            <a:normAutofit/>
          </a:bodyPr>
          <a:lstStyle/>
          <a:p>
            <a:pPr marL="0" indent="0">
              <a:spcBef>
                <a:spcPts val="1200"/>
              </a:spcBef>
              <a:buNone/>
            </a:pPr>
            <a:r>
              <a:rPr lang="en-US" sz="2400" u="sng" dirty="0"/>
              <a:t>CLICKER QUESTION 1</a:t>
            </a:r>
          </a:p>
          <a:p>
            <a:pPr marL="457200" indent="-457200">
              <a:spcBef>
                <a:spcPts val="2400"/>
              </a:spcBef>
              <a:buNone/>
            </a:pPr>
            <a:r>
              <a:rPr lang="en-US" sz="3200" dirty="0"/>
              <a:t>If inheritance plays a role in the risk of developing an affective disorder, the concordance rate will be highest in </a:t>
            </a:r>
          </a:p>
          <a:p>
            <a:pPr marL="914400" indent="-457200">
              <a:buFont typeface="Arial" pitchFamily="34" charset="0"/>
              <a:buAutoNum type="alphaLcPeriod"/>
            </a:pPr>
            <a:r>
              <a:rPr lang="en-US" sz="3200" dirty="0"/>
              <a:t>fraternal twins.</a:t>
            </a:r>
          </a:p>
          <a:p>
            <a:pPr marL="914400" indent="-457200">
              <a:buFont typeface="Arial" pitchFamily="34" charset="0"/>
              <a:buAutoNum type="alphaLcPeriod"/>
            </a:pPr>
            <a:r>
              <a:rPr lang="en-US" sz="3200" dirty="0"/>
              <a:t>identical twins.</a:t>
            </a:r>
          </a:p>
          <a:p>
            <a:pPr marL="914400" indent="-457200">
              <a:buFont typeface="Arial" pitchFamily="34" charset="0"/>
              <a:buAutoNum type="alphaLcPeriod"/>
            </a:pPr>
            <a:r>
              <a:rPr lang="en-US" sz="3200" dirty="0"/>
              <a:t>non-twin immediate family members.</a:t>
            </a:r>
          </a:p>
        </p:txBody>
      </p:sp>
    </p:spTree>
    <p:extLst>
      <p:ext uri="{BB962C8B-B14F-4D97-AF65-F5344CB8AC3E}">
        <p14:creationId xmlns:p14="http://schemas.microsoft.com/office/powerpoint/2010/main" val="22446861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Review of Learning Objectives </a:t>
            </a:r>
            <a:r>
              <a:rPr lang="en-US" sz="1200" dirty="0"/>
              <a:t>(1 of 3)</a:t>
            </a:r>
            <a:endParaRPr lang="en-US" sz="1300" dirty="0"/>
          </a:p>
        </p:txBody>
      </p:sp>
      <p:sp>
        <p:nvSpPr>
          <p:cNvPr id="3" name="Text Placeholder 2"/>
          <p:cNvSpPr>
            <a:spLocks noGrp="1"/>
          </p:cNvSpPr>
          <p:nvPr>
            <p:ph idx="1"/>
          </p:nvPr>
        </p:nvSpPr>
        <p:spPr/>
        <p:txBody>
          <a:bodyPr>
            <a:normAutofit/>
          </a:bodyPr>
          <a:lstStyle/>
          <a:p>
            <a:pPr marL="1143000" indent="-1143000">
              <a:lnSpc>
                <a:spcPct val="110000"/>
              </a:lnSpc>
              <a:spcBef>
                <a:spcPts val="1800"/>
              </a:spcBef>
              <a:buNone/>
            </a:pPr>
            <a:r>
              <a:rPr lang="en-US" sz="2800" dirty="0"/>
              <a:t>18.1.1  Describe the general psychological, behavioral, and physical manifestations of affective disorders, including major depression and bipolar disorder.</a:t>
            </a:r>
          </a:p>
          <a:p>
            <a:pPr marL="1143000" indent="-1143000">
              <a:lnSpc>
                <a:spcPct val="110000"/>
              </a:lnSpc>
              <a:spcBef>
                <a:spcPts val="1800"/>
              </a:spcBef>
              <a:buNone/>
            </a:pPr>
            <a:r>
              <a:rPr lang="en-US" sz="2800" dirty="0"/>
              <a:t>18.1.2  Detail the risk factors for developing affective disorders, including the role of heredity, stress, and circadian rhythms, and the emerging role of the gut–brain axis.</a:t>
            </a:r>
          </a:p>
          <a:p>
            <a:pPr marL="1143000" indent="-1143000">
              <a:lnSpc>
                <a:spcPct val="110000"/>
              </a:lnSpc>
              <a:spcBef>
                <a:spcPts val="1800"/>
              </a:spcBef>
              <a:buNone/>
            </a:pPr>
            <a:r>
              <a:rPr lang="en-US" sz="2800" dirty="0"/>
              <a:t>18.1.3  Describe the animal models of affective disorders used in research.</a:t>
            </a:r>
          </a:p>
        </p:txBody>
      </p:sp>
    </p:spTree>
    <p:extLst>
      <p:ext uri="{BB962C8B-B14F-4D97-AF65-F5344CB8AC3E}">
        <p14:creationId xmlns:p14="http://schemas.microsoft.com/office/powerpoint/2010/main" val="17789062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Neurochemical Basis of Affective Disorders </a:t>
            </a:r>
            <a:r>
              <a:rPr lang="en-US" sz="1200" dirty="0"/>
              <a:t>(1 of 12)</a:t>
            </a:r>
            <a:endParaRPr lang="en-US" dirty="0"/>
          </a:p>
        </p:txBody>
      </p:sp>
      <p:sp>
        <p:nvSpPr>
          <p:cNvPr id="3" name="Text Placeholder 2"/>
          <p:cNvSpPr>
            <a:spLocks noGrp="1"/>
          </p:cNvSpPr>
          <p:nvPr>
            <p:ph idx="1"/>
          </p:nvPr>
        </p:nvSpPr>
        <p:spPr/>
        <p:txBody>
          <a:bodyPr>
            <a:normAutofit lnSpcReduction="10000"/>
          </a:bodyPr>
          <a:lstStyle/>
          <a:p>
            <a:pPr>
              <a:spcBef>
                <a:spcPts val="1200"/>
              </a:spcBef>
            </a:pPr>
            <a:r>
              <a:rPr lang="en-US" b="1" dirty="0"/>
              <a:t>Monoamine hypothesis</a:t>
            </a:r>
            <a:r>
              <a:rPr lang="en-US" dirty="0"/>
              <a:t>: reduced level of monoamines (DA, NE, 5-HT) in the CNS is responsible for depressed mood</a:t>
            </a:r>
          </a:p>
          <a:p>
            <a:pPr lvl="1">
              <a:spcBef>
                <a:spcPts val="1200"/>
              </a:spcBef>
            </a:pPr>
            <a:r>
              <a:rPr lang="en-US" dirty="0"/>
              <a:t>Depression is associated with low levels of monoamines</a:t>
            </a:r>
          </a:p>
          <a:p>
            <a:pPr lvl="1">
              <a:spcBef>
                <a:spcPts val="1200"/>
              </a:spcBef>
            </a:pPr>
            <a:r>
              <a:rPr lang="en-US" dirty="0"/>
              <a:t>Mania coincides with excess monoamine activity</a:t>
            </a:r>
          </a:p>
          <a:p>
            <a:pPr>
              <a:spcBef>
                <a:spcPts val="1200"/>
              </a:spcBef>
            </a:pPr>
            <a:r>
              <a:rPr lang="en-US" dirty="0"/>
              <a:t>Model is too simplistic, but it engendered much research and drug development.</a:t>
            </a:r>
          </a:p>
          <a:p>
            <a:pPr>
              <a:spcBef>
                <a:spcPts val="1200"/>
              </a:spcBef>
            </a:pPr>
            <a:r>
              <a:rPr lang="en-US" dirty="0"/>
              <a:t>One weakness: discrepancy in time between rapid increase in monoamines by antidepressant drugs and the slow onset of clinical effects over several weeks</a:t>
            </a:r>
          </a:p>
        </p:txBody>
      </p:sp>
    </p:spTree>
    <p:extLst>
      <p:ext uri="{BB962C8B-B14F-4D97-AF65-F5344CB8AC3E}">
        <p14:creationId xmlns:p14="http://schemas.microsoft.com/office/powerpoint/2010/main" val="25121275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Neurochemical Basis of Affective Disorders </a:t>
            </a:r>
            <a:r>
              <a:rPr lang="en-US" sz="1200" dirty="0"/>
              <a:t>(2 of 12)</a:t>
            </a:r>
            <a:endParaRPr lang="en-US" dirty="0"/>
          </a:p>
        </p:txBody>
      </p:sp>
      <p:sp>
        <p:nvSpPr>
          <p:cNvPr id="3" name="Text Placeholder 2"/>
          <p:cNvSpPr>
            <a:spLocks noGrp="1"/>
          </p:cNvSpPr>
          <p:nvPr>
            <p:ph idx="1"/>
          </p:nvPr>
        </p:nvSpPr>
        <p:spPr/>
        <p:txBody>
          <a:bodyPr>
            <a:normAutofit lnSpcReduction="10000"/>
          </a:bodyPr>
          <a:lstStyle/>
          <a:p>
            <a:pPr marL="457200" indent="-457200">
              <a:lnSpc>
                <a:spcPct val="120000"/>
              </a:lnSpc>
              <a:spcBef>
                <a:spcPts val="1200"/>
              </a:spcBef>
              <a:buNone/>
            </a:pPr>
            <a:r>
              <a:rPr lang="en-US" sz="3200" dirty="0"/>
              <a:t>Serotonin dysfunction contributes to mood disorders</a:t>
            </a:r>
          </a:p>
          <a:p>
            <a:pPr>
              <a:spcBef>
                <a:spcPts val="1200"/>
              </a:spcBef>
            </a:pPr>
            <a:r>
              <a:rPr lang="en-US" dirty="0"/>
              <a:t>5-HT function indicated by metabolite 5-HIAA levels</a:t>
            </a:r>
          </a:p>
          <a:p>
            <a:pPr lvl="1">
              <a:spcBef>
                <a:spcPts val="1200"/>
              </a:spcBef>
            </a:pPr>
            <a:r>
              <a:rPr lang="en-US" dirty="0"/>
              <a:t>Low levels are found in CSF and postmortem brains of depressed individuals </a:t>
            </a:r>
          </a:p>
          <a:p>
            <a:pPr>
              <a:spcBef>
                <a:spcPts val="1200"/>
              </a:spcBef>
            </a:pPr>
            <a:r>
              <a:rPr lang="en-US" dirty="0"/>
              <a:t>Tryptophan hydroxylase and 5-HT receptor knockout mice have depression-like symptoms</a:t>
            </a:r>
          </a:p>
          <a:p>
            <a:pPr>
              <a:spcBef>
                <a:spcPts val="1200"/>
              </a:spcBef>
            </a:pPr>
            <a:r>
              <a:rPr lang="en-US" b="1" dirty="0"/>
              <a:t>Tryptophan depletion challenge: </a:t>
            </a:r>
            <a:r>
              <a:rPr lang="en-US" dirty="0"/>
              <a:t>tryptophan-deficient diet causes depression in individuals with family history, or relapse in patients on antidepressant drugs</a:t>
            </a:r>
          </a:p>
        </p:txBody>
      </p:sp>
    </p:spTree>
    <p:extLst>
      <p:ext uri="{BB962C8B-B14F-4D97-AF65-F5344CB8AC3E}">
        <p14:creationId xmlns:p14="http://schemas.microsoft.com/office/powerpoint/2010/main" val="24839055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Neurochemical Basis of Affective Disorders </a:t>
            </a:r>
            <a:r>
              <a:rPr lang="en-US" sz="1200" dirty="0"/>
              <a:t>(3 of 12)</a:t>
            </a:r>
            <a:endParaRPr lang="en-US" dirty="0"/>
          </a:p>
        </p:txBody>
      </p:sp>
      <p:sp>
        <p:nvSpPr>
          <p:cNvPr id="3" name="Text Placeholder 2"/>
          <p:cNvSpPr>
            <a:spLocks noGrp="1"/>
          </p:cNvSpPr>
          <p:nvPr>
            <p:ph idx="1"/>
          </p:nvPr>
        </p:nvSpPr>
        <p:spPr/>
        <p:txBody>
          <a:bodyPr>
            <a:normAutofit/>
          </a:bodyPr>
          <a:lstStyle/>
          <a:p>
            <a:pPr marL="457200" indent="-457200">
              <a:lnSpc>
                <a:spcPct val="110000"/>
              </a:lnSpc>
              <a:spcBef>
                <a:spcPts val="1200"/>
              </a:spcBef>
              <a:buNone/>
            </a:pPr>
            <a:r>
              <a:rPr lang="en-US" sz="3200" dirty="0"/>
              <a:t>Serotonin dysfunction contributes to mood disorders</a:t>
            </a:r>
          </a:p>
          <a:p>
            <a:pPr>
              <a:spcBef>
                <a:spcPts val="1200"/>
              </a:spcBef>
            </a:pPr>
            <a:r>
              <a:rPr lang="en-US" dirty="0"/>
              <a:t>A polymorphism in the </a:t>
            </a:r>
            <a:r>
              <a:rPr lang="en-US" b="1" dirty="0"/>
              <a:t>serotonin reuptake transporter </a:t>
            </a:r>
            <a:r>
              <a:rPr lang="en-US" dirty="0"/>
              <a:t>(</a:t>
            </a:r>
            <a:r>
              <a:rPr lang="en-US" b="1" dirty="0"/>
              <a:t>SERT</a:t>
            </a:r>
            <a:r>
              <a:rPr lang="en-US" dirty="0"/>
              <a:t>) gene may contribute to development of depression</a:t>
            </a:r>
          </a:p>
          <a:p>
            <a:pPr lvl="1">
              <a:spcBef>
                <a:spcPts val="1200"/>
              </a:spcBef>
            </a:pPr>
            <a:r>
              <a:rPr lang="en-US" dirty="0"/>
              <a:t>Stress interaction: short allele + stress = greater risk of depression, but studies are inconclusive</a:t>
            </a:r>
          </a:p>
          <a:p>
            <a:pPr>
              <a:spcBef>
                <a:spcPts val="1200"/>
              </a:spcBef>
            </a:pPr>
            <a:r>
              <a:rPr lang="en-US" b="1" dirty="0"/>
              <a:t>Receptor binding studies </a:t>
            </a:r>
            <a:r>
              <a:rPr lang="en-US" dirty="0"/>
              <a:t>in post-mortem brain samples show increased density of 5-HT receptors in unmedicated depressed patients (upregulation)</a:t>
            </a:r>
          </a:p>
        </p:txBody>
      </p:sp>
    </p:spTree>
    <p:extLst>
      <p:ext uri="{BB962C8B-B14F-4D97-AF65-F5344CB8AC3E}">
        <p14:creationId xmlns:p14="http://schemas.microsoft.com/office/powerpoint/2010/main" val="24302071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Neurochemical Basis of Affective Disorders </a:t>
            </a:r>
            <a:r>
              <a:rPr lang="en-US" sz="1200" dirty="0"/>
              <a:t>(4 of 12)</a:t>
            </a:r>
            <a:endParaRPr lang="en-US" dirty="0"/>
          </a:p>
        </p:txBody>
      </p:sp>
      <p:sp>
        <p:nvSpPr>
          <p:cNvPr id="3" name="Text Placeholder 2"/>
          <p:cNvSpPr>
            <a:spLocks noGrp="1"/>
          </p:cNvSpPr>
          <p:nvPr>
            <p:ph idx="1"/>
          </p:nvPr>
        </p:nvSpPr>
        <p:spPr/>
        <p:txBody>
          <a:bodyPr>
            <a:normAutofit fontScale="92500"/>
          </a:bodyPr>
          <a:lstStyle/>
          <a:p>
            <a:pPr marL="457200" indent="-457200">
              <a:lnSpc>
                <a:spcPct val="110000"/>
              </a:lnSpc>
              <a:spcBef>
                <a:spcPts val="1200"/>
              </a:spcBef>
              <a:buNone/>
            </a:pPr>
            <a:r>
              <a:rPr lang="en-US" sz="3500" dirty="0"/>
              <a:t>Serotonin dysfunction contributes to mood disorders</a:t>
            </a:r>
          </a:p>
          <a:p>
            <a:pPr>
              <a:spcBef>
                <a:spcPts val="1200"/>
              </a:spcBef>
            </a:pPr>
            <a:r>
              <a:rPr lang="en-US" dirty="0"/>
              <a:t>Most antidepressants increase 5-HT by blocking reuptake through SERT or inhibiting MAO, but acutely, </a:t>
            </a:r>
            <a:r>
              <a:rPr lang="en-US" dirty="0" err="1"/>
              <a:t>autoreceptors</a:t>
            </a:r>
            <a:r>
              <a:rPr lang="en-US" dirty="0"/>
              <a:t> reduce 5-HT synthesis</a:t>
            </a:r>
          </a:p>
          <a:p>
            <a:pPr>
              <a:spcBef>
                <a:spcPts val="1200"/>
              </a:spcBef>
            </a:pPr>
            <a:r>
              <a:rPr lang="en-US" dirty="0"/>
              <a:t>Chronic treatment results in </a:t>
            </a:r>
            <a:r>
              <a:rPr lang="en-US" dirty="0" err="1"/>
              <a:t>autoreceptor</a:t>
            </a:r>
            <a:r>
              <a:rPr lang="en-US" dirty="0"/>
              <a:t> downregulation – explains delay in therapeutic onset</a:t>
            </a:r>
          </a:p>
          <a:p>
            <a:pPr>
              <a:spcBef>
                <a:spcPts val="1200"/>
              </a:spcBef>
            </a:pPr>
            <a:r>
              <a:rPr lang="en-US" dirty="0"/>
              <a:t>Presynaptic 5-HT</a:t>
            </a:r>
            <a:r>
              <a:rPr lang="en-US" baseline="-25000" dirty="0"/>
              <a:t>1A</a:t>
            </a:r>
            <a:r>
              <a:rPr lang="en-US" dirty="0"/>
              <a:t> </a:t>
            </a:r>
            <a:r>
              <a:rPr lang="en-US" dirty="0" err="1"/>
              <a:t>autoreceptors</a:t>
            </a:r>
            <a:r>
              <a:rPr lang="en-US" dirty="0"/>
              <a:t> appear to play an important role in depression</a:t>
            </a:r>
          </a:p>
          <a:p>
            <a:pPr>
              <a:spcBef>
                <a:spcPts val="1200"/>
              </a:spcBef>
            </a:pPr>
            <a:r>
              <a:rPr lang="en-US" dirty="0"/>
              <a:t>Efficacy of fluoxetine may depend on level of pretreatment 5-HT function and stress level of the environment</a:t>
            </a:r>
          </a:p>
        </p:txBody>
      </p:sp>
    </p:spTree>
    <p:extLst>
      <p:ext uri="{BB962C8B-B14F-4D97-AF65-F5344CB8AC3E}">
        <p14:creationId xmlns:p14="http://schemas.microsoft.com/office/powerpoint/2010/main" val="4193435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0809C-16ED-8E41-8BC5-6D7E44B49065}"/>
              </a:ext>
            </a:extLst>
          </p:cNvPr>
          <p:cNvSpPr>
            <a:spLocks noGrp="1"/>
          </p:cNvSpPr>
          <p:nvPr>
            <p:ph type="title"/>
          </p:nvPr>
        </p:nvSpPr>
        <p:spPr/>
        <p:txBody>
          <a:bodyPr/>
          <a:lstStyle/>
          <a:p>
            <a:r>
              <a:rPr lang="en-US" dirty="0"/>
              <a:t>FIGURE 18.6  Effects of anti­depressants on serotonergic cells</a:t>
            </a:r>
            <a:endParaRPr lang="en-US" sz="1100" dirty="0"/>
          </a:p>
        </p:txBody>
      </p:sp>
      <p:pic>
        <p:nvPicPr>
          <p:cNvPr id="6" name="Content Placeholder 5" descr="An illustration depicts the acute effects of antidepressants. Several serotonin molecules are transported from the vesicle of the presynaptic terminal to the serotonin receptors of the postsynaptic cell. A reuptake transporter that has a block is noted on one end of the presynaptic terminal and a pair of auto receptors which is indicated by a negative sign towards the transport of serotonin is on the other end of the presynaptic terminal. The postsynaptic cell region is observed to be in lighter shade of yellow. A callout pointing to reuptake transporter reads: Reuptake transporter blocked by antidepressants leads to acutely more 5-H T in the synapse. A callout pointing to auto receptors reads: Auto receptors activated by increased synaptic 5-H T subsequently reduce 5-H T synthesis and release. A callout pointing to the postsynaptic cell reads: The two acute effects cancel each other out causing little change in 5-H T action.&#10;&#10;An illustration depicts the chronic effects of antidepressants. Several serotonin molecules are transported from the vesicle of the presynaptic terminal to the serotonin receptors of the postsynaptic cell. A reuptake transporter that has a block is noted on one end of the presynaptic terminal and a single auto receptor is on the other end of the presynaptic terminal. The postsynaptic cell region is observed to be in darker shade of yellow. A callout pointing to reuptake transporter reads: Reuptake transporter continues to be blocked. A callout pointing to auto receptor reads: Auto receptors are down-regulated resulting in increased 5-H T release. A callout pointing to the postsynaptic cell reads: More 5-H T produces significantly greater postsynaptic effects."/>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1365840"/>
            <a:ext cx="11376025" cy="4527957"/>
          </a:xfrm>
        </p:spPr>
      </p:pic>
    </p:spTree>
    <p:extLst>
      <p:ext uri="{BB962C8B-B14F-4D97-AF65-F5344CB8AC3E}">
        <p14:creationId xmlns:p14="http://schemas.microsoft.com/office/powerpoint/2010/main" val="22447709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Neurochemical Basis of Affective Disorders </a:t>
            </a:r>
            <a:r>
              <a:rPr lang="en-US" sz="1200" dirty="0"/>
              <a:t>(5 of 12)</a:t>
            </a:r>
            <a:endParaRPr lang="en-US" dirty="0"/>
          </a:p>
        </p:txBody>
      </p:sp>
      <p:sp>
        <p:nvSpPr>
          <p:cNvPr id="3" name="Text Placeholder 2"/>
          <p:cNvSpPr>
            <a:spLocks noGrp="1"/>
          </p:cNvSpPr>
          <p:nvPr>
            <p:ph idx="1"/>
          </p:nvPr>
        </p:nvSpPr>
        <p:spPr/>
        <p:txBody>
          <a:bodyPr>
            <a:normAutofit/>
          </a:bodyPr>
          <a:lstStyle/>
          <a:p>
            <a:pPr marL="457200" indent="-457200">
              <a:lnSpc>
                <a:spcPct val="110000"/>
              </a:lnSpc>
              <a:spcBef>
                <a:spcPts val="1200"/>
              </a:spcBef>
              <a:buNone/>
            </a:pPr>
            <a:r>
              <a:rPr lang="en-US" sz="3200" dirty="0"/>
              <a:t>Norepinephrine activity is altered by antidepressants</a:t>
            </a:r>
          </a:p>
          <a:p>
            <a:pPr>
              <a:spcBef>
                <a:spcPts val="1200"/>
              </a:spcBef>
            </a:pPr>
            <a:r>
              <a:rPr lang="en-US" dirty="0"/>
              <a:t>Studies are inconclusive</a:t>
            </a:r>
          </a:p>
          <a:p>
            <a:pPr>
              <a:spcBef>
                <a:spcPts val="1200"/>
              </a:spcBef>
            </a:pPr>
            <a:r>
              <a:rPr lang="en-US" dirty="0"/>
              <a:t>Many, but not all, antidepressant treatments lead to down-regulation of β-receptors</a:t>
            </a:r>
          </a:p>
          <a:p>
            <a:pPr>
              <a:spcBef>
                <a:spcPts val="1200"/>
              </a:spcBef>
            </a:pPr>
            <a:r>
              <a:rPr lang="en-US" dirty="0"/>
              <a:t>Untreated depressed individuals and those with bipolar disorder had increased density of α</a:t>
            </a:r>
            <a:r>
              <a:rPr lang="en-US" baseline="-25000" dirty="0"/>
              <a:t>2</a:t>
            </a:r>
            <a:r>
              <a:rPr lang="en-US" dirty="0"/>
              <a:t>-autoreceptors</a:t>
            </a:r>
          </a:p>
        </p:txBody>
      </p:sp>
    </p:spTree>
    <p:extLst>
      <p:ext uri="{BB962C8B-B14F-4D97-AF65-F5344CB8AC3E}">
        <p14:creationId xmlns:p14="http://schemas.microsoft.com/office/powerpoint/2010/main" val="39620988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Neurochemical Basis of Affective Disorders </a:t>
            </a:r>
            <a:r>
              <a:rPr lang="en-US" sz="1200" dirty="0"/>
              <a:t>(6 of 12)</a:t>
            </a:r>
            <a:endParaRPr lang="en-US" dirty="0"/>
          </a:p>
        </p:txBody>
      </p:sp>
      <p:sp>
        <p:nvSpPr>
          <p:cNvPr id="3" name="Text Placeholder 2"/>
          <p:cNvSpPr>
            <a:spLocks noGrp="1"/>
          </p:cNvSpPr>
          <p:nvPr>
            <p:ph idx="1"/>
          </p:nvPr>
        </p:nvSpPr>
        <p:spPr/>
        <p:txBody>
          <a:bodyPr>
            <a:normAutofit/>
          </a:bodyPr>
          <a:lstStyle/>
          <a:p>
            <a:pPr marL="457200" indent="-457200">
              <a:lnSpc>
                <a:spcPct val="110000"/>
              </a:lnSpc>
              <a:spcBef>
                <a:spcPts val="1200"/>
              </a:spcBef>
              <a:buNone/>
            </a:pPr>
            <a:r>
              <a:rPr lang="en-US" sz="3200" dirty="0"/>
              <a:t>Norepinephrine and serotonin modulate one another</a:t>
            </a:r>
          </a:p>
          <a:p>
            <a:pPr>
              <a:spcBef>
                <a:spcPts val="1200"/>
              </a:spcBef>
            </a:pPr>
            <a:r>
              <a:rPr lang="en-US" dirty="0"/>
              <a:t>Serotonin–norepinephrine hypothesis of depression</a:t>
            </a:r>
          </a:p>
          <a:p>
            <a:pPr>
              <a:spcBef>
                <a:spcPts val="1200"/>
              </a:spcBef>
            </a:pPr>
            <a:r>
              <a:rPr lang="en-US" dirty="0"/>
              <a:t>Consistent chronic effects of antidepressants: down-regulation of β- and 5-HT</a:t>
            </a:r>
            <a:r>
              <a:rPr lang="en-US" baseline="-25000" dirty="0"/>
              <a:t>2</a:t>
            </a:r>
            <a:r>
              <a:rPr lang="en-US" dirty="0"/>
              <a:t> receptors and enhanced response to 5-HT</a:t>
            </a:r>
          </a:p>
          <a:p>
            <a:pPr>
              <a:spcBef>
                <a:spcPts val="1200"/>
              </a:spcBef>
            </a:pPr>
            <a:r>
              <a:rPr lang="en-US" dirty="0"/>
              <a:t>Anatomical and functional interactions exist between the noradrenergic neurons originating in the LC and the serotonergic neurons in the raphe nuclei</a:t>
            </a:r>
          </a:p>
        </p:txBody>
      </p:sp>
    </p:spTree>
    <p:extLst>
      <p:ext uri="{BB962C8B-B14F-4D97-AF65-F5344CB8AC3E}">
        <p14:creationId xmlns:p14="http://schemas.microsoft.com/office/powerpoint/2010/main" val="28521724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14419-6BF1-6548-9183-29DED3DD317D}"/>
              </a:ext>
            </a:extLst>
          </p:cNvPr>
          <p:cNvSpPr>
            <a:spLocks noGrp="1"/>
          </p:cNvSpPr>
          <p:nvPr>
            <p:ph type="title"/>
          </p:nvPr>
        </p:nvSpPr>
        <p:spPr/>
        <p:txBody>
          <a:bodyPr/>
          <a:lstStyle/>
          <a:p>
            <a:r>
              <a:rPr lang="en-US" dirty="0"/>
              <a:t>FIGURE 18.7  Two monoamine pathways in the human brain </a:t>
            </a:r>
          </a:p>
        </p:txBody>
      </p:sp>
      <p:pic>
        <p:nvPicPr>
          <p:cNvPr id="6" name="Content Placeholder 5" descr="An illustration depicts the pathway of norepinephrine. The locus coeruleus is located near the cerebellum, where a series of arrows lead all the way through the brain, branching on one end through the pons, medulla, spinal cord, and on the other end it spreads out to the thalamus, cerebral cortex, and corpus collosum.&#10;&#10;An illustration depicts the pathway of serotonin. The raphe nuclei is near the cerebellum, from which a series of arrows branch all the way through the brain, with one end branching to the cerebellum and the other branching to the thalamus, cerebral cortex, and corpus callosum. A single arrow leads from the pons to the spinal cord, which passes via the medulla."/>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1197445"/>
            <a:ext cx="11376025" cy="4864747"/>
          </a:xfrm>
        </p:spPr>
      </p:pic>
    </p:spTree>
    <p:extLst>
      <p:ext uri="{BB962C8B-B14F-4D97-AF65-F5344CB8AC3E}">
        <p14:creationId xmlns:p14="http://schemas.microsoft.com/office/powerpoint/2010/main" val="7158882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Neurochemical Basis of Affective Disorders </a:t>
            </a:r>
            <a:r>
              <a:rPr lang="en-US" sz="1200" dirty="0"/>
              <a:t>(7 of 12)</a:t>
            </a:r>
            <a:endParaRPr lang="en-US" dirty="0"/>
          </a:p>
        </p:txBody>
      </p:sp>
      <p:sp>
        <p:nvSpPr>
          <p:cNvPr id="3" name="Text Placeholder 2"/>
          <p:cNvSpPr>
            <a:spLocks noGrp="1"/>
          </p:cNvSpPr>
          <p:nvPr>
            <p:ph idx="1"/>
          </p:nvPr>
        </p:nvSpPr>
        <p:spPr/>
        <p:txBody>
          <a:bodyPr>
            <a:normAutofit/>
          </a:bodyPr>
          <a:lstStyle/>
          <a:p>
            <a:pPr marL="457200" indent="-457200">
              <a:lnSpc>
                <a:spcPct val="110000"/>
              </a:lnSpc>
              <a:spcBef>
                <a:spcPts val="1200"/>
              </a:spcBef>
              <a:buNone/>
            </a:pPr>
            <a:r>
              <a:rPr lang="en-US" sz="3200" dirty="0"/>
              <a:t>Neurobiological models of depression</a:t>
            </a:r>
          </a:p>
          <a:p>
            <a:pPr>
              <a:spcBef>
                <a:spcPts val="1200"/>
              </a:spcBef>
            </a:pPr>
            <a:r>
              <a:rPr lang="en-US" dirty="0"/>
              <a:t>Neuroimaging studies show reduced volume of hippocampus and other brain areas in depressed people plus abnormal levels of metabolic activity</a:t>
            </a:r>
          </a:p>
          <a:p>
            <a:pPr>
              <a:spcBef>
                <a:spcPts val="1200"/>
              </a:spcBef>
            </a:pPr>
            <a:r>
              <a:rPr lang="en-US" dirty="0"/>
              <a:t>Depressed individuals have highly coupled connectivity between nodes in the default-mode network (DMN), which functions in introspective thinking.</a:t>
            </a:r>
          </a:p>
          <a:p>
            <a:pPr>
              <a:spcBef>
                <a:spcPts val="1200"/>
              </a:spcBef>
            </a:pPr>
            <a:r>
              <a:rPr lang="en-US" dirty="0"/>
              <a:t>DMN is anticorrelated with the salience network</a:t>
            </a:r>
          </a:p>
        </p:txBody>
      </p:sp>
    </p:spTree>
    <p:extLst>
      <p:ext uri="{BB962C8B-B14F-4D97-AF65-F5344CB8AC3E}">
        <p14:creationId xmlns:p14="http://schemas.microsoft.com/office/powerpoint/2010/main" val="22675739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570A1-F60D-CE40-8497-BDC39A6AEB98}"/>
              </a:ext>
            </a:extLst>
          </p:cNvPr>
          <p:cNvSpPr>
            <a:spLocks noGrp="1"/>
          </p:cNvSpPr>
          <p:nvPr>
            <p:ph type="title"/>
          </p:nvPr>
        </p:nvSpPr>
        <p:spPr/>
        <p:txBody>
          <a:bodyPr/>
          <a:lstStyle/>
          <a:p>
            <a:r>
              <a:rPr lang="en-US" dirty="0"/>
              <a:t>FIGURE 18.8  PET scan of blood flow in the brain of a patient with unipolar depression </a:t>
            </a:r>
          </a:p>
        </p:txBody>
      </p:sp>
      <p:pic>
        <p:nvPicPr>
          <p:cNvPr id="6" name="Content Placeholder 5" descr="A P E T scan depicting the blood flow in the brain of a patient with unipolar depression. A color code bar varies from purple with a value 0 followed by blue shade, green shade of value 2.25, yellow shade ending with a red shade of value 4.50. The blue shade with an outline of purple is observed in the regions of thalamus, cerebral cortex, and corpus callosum. The yellow shade outlined with green is observed in thalamus, cerebral cortex, medial orbitofrontal, and amygdala. The green shaded regions are a spot near a parietal lobe."/>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698889" y="479425"/>
            <a:ext cx="6794223" cy="6300788"/>
          </a:xfrm>
        </p:spPr>
      </p:pic>
    </p:spTree>
    <p:extLst>
      <p:ext uri="{BB962C8B-B14F-4D97-AF65-F5344CB8AC3E}">
        <p14:creationId xmlns:p14="http://schemas.microsoft.com/office/powerpoint/2010/main" val="28425968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7ACF7-7B2B-DC43-AE15-CFF338156CA0}"/>
              </a:ext>
            </a:extLst>
          </p:cNvPr>
          <p:cNvSpPr>
            <a:spLocks noGrp="1"/>
          </p:cNvSpPr>
          <p:nvPr>
            <p:ph type="title"/>
          </p:nvPr>
        </p:nvSpPr>
        <p:spPr/>
        <p:txBody>
          <a:bodyPr/>
          <a:lstStyle/>
          <a:p>
            <a:r>
              <a:rPr lang="en-US" dirty="0"/>
              <a:t>FIGURE 18.9  The default-mode network (DMN) drives cognitive rumination </a:t>
            </a:r>
          </a:p>
        </p:txBody>
      </p:sp>
      <p:pic>
        <p:nvPicPr>
          <p:cNvPr id="6" name="Content Placeholder 5" descr="An f M R I image depicting the top view of a brain with three core regions is highlighted. The highlighted regions are in between the parietal lobe, lunate sulcus, and occipital lobe.&#10;&#10;A schematic diagram depicts the connectivity between the nodes of D M N. P C is indicated by the center block, which is surrounded by three additional blocks connected by a bi-directional arrow. The top block denotes m P F C, whereas the bottom-left and bottom-right blocks denote L P."/>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586233"/>
            <a:ext cx="11376025" cy="6087171"/>
          </a:xfrm>
        </p:spPr>
      </p:pic>
    </p:spTree>
    <p:extLst>
      <p:ext uri="{BB962C8B-B14F-4D97-AF65-F5344CB8AC3E}">
        <p14:creationId xmlns:p14="http://schemas.microsoft.com/office/powerpoint/2010/main" val="31260549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Neurochemical Basis of Affective Disorders </a:t>
            </a:r>
            <a:r>
              <a:rPr lang="en-US" sz="1200" dirty="0"/>
              <a:t>(8 of 12)</a:t>
            </a:r>
            <a:endParaRPr lang="en-US" dirty="0"/>
          </a:p>
        </p:txBody>
      </p:sp>
      <p:sp>
        <p:nvSpPr>
          <p:cNvPr id="3" name="Text Placeholder 2"/>
          <p:cNvSpPr>
            <a:spLocks noGrp="1"/>
          </p:cNvSpPr>
          <p:nvPr>
            <p:ph idx="1"/>
          </p:nvPr>
        </p:nvSpPr>
        <p:spPr/>
        <p:txBody>
          <a:bodyPr>
            <a:normAutofit/>
          </a:bodyPr>
          <a:lstStyle/>
          <a:p>
            <a:pPr marL="457200" indent="-457200">
              <a:lnSpc>
                <a:spcPct val="110000"/>
              </a:lnSpc>
              <a:spcBef>
                <a:spcPts val="1200"/>
              </a:spcBef>
              <a:buNone/>
            </a:pPr>
            <a:r>
              <a:rPr lang="en-US" sz="3200" dirty="0"/>
              <a:t>Neurobiological models of depression</a:t>
            </a:r>
          </a:p>
          <a:p>
            <a:pPr>
              <a:spcBef>
                <a:spcPts val="1200"/>
              </a:spcBef>
            </a:pPr>
            <a:r>
              <a:rPr lang="en-US" dirty="0"/>
              <a:t>Stress and prolonged hypersecretion of CRF, ACTH, and glucocorticoids damages dendritic branching and spines in the hippocampus and PFC</a:t>
            </a:r>
          </a:p>
          <a:p>
            <a:pPr>
              <a:spcBef>
                <a:spcPts val="1200"/>
              </a:spcBef>
            </a:pPr>
            <a:r>
              <a:rPr lang="en-US" dirty="0"/>
              <a:t>Elevated cortisol reduces the formation of new hippocampal cells (neurogenesis)</a:t>
            </a:r>
          </a:p>
          <a:p>
            <a:pPr>
              <a:spcBef>
                <a:spcPts val="1200"/>
              </a:spcBef>
            </a:pPr>
            <a:r>
              <a:rPr lang="en-US" b="1" dirty="0"/>
              <a:t>Neurotropic hypothesis </a:t>
            </a:r>
            <a:r>
              <a:rPr lang="en-US" dirty="0"/>
              <a:t>suggests these things may be due to low BDNF; antidepressants may prevent low BDNF</a:t>
            </a:r>
          </a:p>
        </p:txBody>
      </p:sp>
    </p:spTree>
    <p:extLst>
      <p:ext uri="{BB962C8B-B14F-4D97-AF65-F5344CB8AC3E}">
        <p14:creationId xmlns:p14="http://schemas.microsoft.com/office/powerpoint/2010/main" val="1947138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D5D8B-B815-8445-A6C1-D71959F06348}"/>
              </a:ext>
            </a:extLst>
          </p:cNvPr>
          <p:cNvSpPr>
            <a:spLocks noGrp="1"/>
          </p:cNvSpPr>
          <p:nvPr>
            <p:ph type="title"/>
          </p:nvPr>
        </p:nvSpPr>
        <p:spPr/>
        <p:txBody>
          <a:bodyPr/>
          <a:lstStyle/>
          <a:p>
            <a:r>
              <a:rPr lang="en-US" dirty="0"/>
              <a:t>FIGURE 18.10  Effect of stress and antidepressant treatment on BDNF in hippocampal cells </a:t>
            </a:r>
          </a:p>
        </p:txBody>
      </p:sp>
      <p:pic>
        <p:nvPicPr>
          <p:cNvPr id="6" name="Content Placeholder 5" descr="An illustration compares the effect of stress and anti-depressant treatment on hippocampal cells. On the left is an illustration of normal hippocampal cells. They appear as small nodules on branches. Text below reads, Normal survival and growth. In the center illustration, the hippocampal cells are shrunken. Text above reads, Stress elevates Glucocorticoids and decreases B D N F and text below reads, Atrophy and decreased survival and increased vulnerability. The illustration on the right shows an increased growth of hippocampal cells and branches. Antidepressants elevate N E and 5-H T and B D N F and text below reads, increased survival and growth."/>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3476998" y="479425"/>
            <a:ext cx="5238004" cy="6300788"/>
          </a:xfrm>
        </p:spPr>
      </p:pic>
    </p:spTree>
    <p:extLst>
      <p:ext uri="{BB962C8B-B14F-4D97-AF65-F5344CB8AC3E}">
        <p14:creationId xmlns:p14="http://schemas.microsoft.com/office/powerpoint/2010/main" val="11784891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Neurochemical Basis of Affective Disorders </a:t>
            </a:r>
            <a:r>
              <a:rPr lang="en-US" sz="1200" dirty="0"/>
              <a:t>(9 of 12)</a:t>
            </a:r>
            <a:endParaRPr lang="en-US" dirty="0"/>
          </a:p>
        </p:txBody>
      </p:sp>
      <p:sp>
        <p:nvSpPr>
          <p:cNvPr id="3" name="Text Placeholder 2"/>
          <p:cNvSpPr>
            <a:spLocks noGrp="1"/>
          </p:cNvSpPr>
          <p:nvPr>
            <p:ph idx="1"/>
          </p:nvPr>
        </p:nvSpPr>
        <p:spPr/>
        <p:txBody>
          <a:bodyPr>
            <a:normAutofit/>
          </a:bodyPr>
          <a:lstStyle/>
          <a:p>
            <a:pPr marL="457200" indent="-457200">
              <a:lnSpc>
                <a:spcPct val="110000"/>
              </a:lnSpc>
              <a:spcBef>
                <a:spcPts val="1200"/>
              </a:spcBef>
              <a:buNone/>
            </a:pPr>
            <a:r>
              <a:rPr lang="en-US" sz="3200" dirty="0"/>
              <a:t>Neurobiological models of depression</a:t>
            </a:r>
          </a:p>
          <a:p>
            <a:pPr>
              <a:spcBef>
                <a:spcPts val="1200"/>
              </a:spcBef>
            </a:pPr>
            <a:r>
              <a:rPr lang="en-US" dirty="0"/>
              <a:t>Evidence for BDNF in the etiology of depression includes:</a:t>
            </a:r>
          </a:p>
          <a:p>
            <a:pPr lvl="1">
              <a:spcBef>
                <a:spcPts val="1200"/>
              </a:spcBef>
            </a:pPr>
            <a:r>
              <a:rPr lang="en-US" dirty="0"/>
              <a:t>BDNF is low in the hippocampus and PFC of depressed patients post-mortem,</a:t>
            </a:r>
          </a:p>
          <a:p>
            <a:pPr lvl="1">
              <a:spcBef>
                <a:spcPts val="1200"/>
              </a:spcBef>
            </a:pPr>
            <a:r>
              <a:rPr lang="en-US" dirty="0"/>
              <a:t>A BDNF gene polymorphism may be associated with mood disorders</a:t>
            </a:r>
          </a:p>
          <a:p>
            <a:pPr lvl="1">
              <a:spcBef>
                <a:spcPts val="1200"/>
              </a:spcBef>
            </a:pPr>
            <a:r>
              <a:rPr lang="en-US" dirty="0"/>
              <a:t>Modifying BDNF gene expression in mice leads to depressive behaviors.</a:t>
            </a:r>
          </a:p>
        </p:txBody>
      </p:sp>
    </p:spTree>
    <p:extLst>
      <p:ext uri="{BB962C8B-B14F-4D97-AF65-F5344CB8AC3E}">
        <p14:creationId xmlns:p14="http://schemas.microsoft.com/office/powerpoint/2010/main" val="2287394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Neurochemical Basis of Affective Disorders </a:t>
            </a:r>
            <a:r>
              <a:rPr lang="en-US" sz="1200" dirty="0"/>
              <a:t>(10 of 12)</a:t>
            </a:r>
            <a:endParaRPr lang="en-US" dirty="0"/>
          </a:p>
        </p:txBody>
      </p:sp>
      <p:sp>
        <p:nvSpPr>
          <p:cNvPr id="3" name="Text Placeholder 2"/>
          <p:cNvSpPr>
            <a:spLocks noGrp="1"/>
          </p:cNvSpPr>
          <p:nvPr>
            <p:ph idx="1"/>
          </p:nvPr>
        </p:nvSpPr>
        <p:spPr>
          <a:xfrm>
            <a:off x="840955" y="1736596"/>
            <a:ext cx="10972800" cy="4525963"/>
          </a:xfrm>
        </p:spPr>
        <p:txBody>
          <a:bodyPr>
            <a:normAutofit/>
          </a:bodyPr>
          <a:lstStyle/>
          <a:p>
            <a:pPr marL="0" indent="0">
              <a:spcBef>
                <a:spcPts val="1800"/>
              </a:spcBef>
              <a:buNone/>
            </a:pPr>
            <a:r>
              <a:rPr lang="en-US" sz="2400" u="sng" dirty="0"/>
              <a:t>BOX 18.1  THE CUTTING EDGE</a:t>
            </a:r>
          </a:p>
          <a:p>
            <a:pPr marL="0" indent="0">
              <a:buNone/>
            </a:pPr>
            <a:r>
              <a:rPr lang="en-US" sz="3200" i="1" dirty="0"/>
              <a:t>Epigenetic Modifications in Psychopathology and Treatment</a:t>
            </a:r>
            <a:endParaRPr lang="en-GB" sz="3200" i="1" dirty="0"/>
          </a:p>
          <a:p>
            <a:r>
              <a:rPr lang="en-US" altLang="en-US" dirty="0"/>
              <a:t>The gene for BDNF can be modified by chromatin remodeling (epigenetic change) that affects levels of gene expression</a:t>
            </a:r>
          </a:p>
          <a:p>
            <a:r>
              <a:rPr lang="en-US" altLang="en-US" dirty="0"/>
              <a:t>Chronic stress in mice causes long-lasting reductions in BDNF expression by increasing histone methylation, inducing a more “closed” chromatin state that reduces transcription</a:t>
            </a:r>
          </a:p>
          <a:p>
            <a:r>
              <a:rPr lang="en-US" altLang="en-US" dirty="0"/>
              <a:t>Reversed by antidepressants</a:t>
            </a:r>
          </a:p>
        </p:txBody>
      </p:sp>
    </p:spTree>
    <p:extLst>
      <p:ext uri="{BB962C8B-B14F-4D97-AF65-F5344CB8AC3E}">
        <p14:creationId xmlns:p14="http://schemas.microsoft.com/office/powerpoint/2010/main" val="35634057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ED4C9-D07D-5448-9C41-E3BE1A1F2958}"/>
              </a:ext>
            </a:extLst>
          </p:cNvPr>
          <p:cNvSpPr>
            <a:spLocks noGrp="1"/>
          </p:cNvSpPr>
          <p:nvPr>
            <p:ph type="title"/>
          </p:nvPr>
        </p:nvSpPr>
        <p:spPr/>
        <p:txBody>
          <a:bodyPr/>
          <a:lstStyle/>
          <a:p>
            <a:r>
              <a:rPr lang="en-US" cap="all" dirty="0"/>
              <a:t>Box 18.1  </a:t>
            </a:r>
            <a:r>
              <a:rPr lang="en-US" dirty="0"/>
              <a:t>The Cutting Edge: </a:t>
            </a:r>
            <a:r>
              <a:rPr lang="en-GB" dirty="0"/>
              <a:t>Epigenetic Modifications in Psychopathology and Treatment</a:t>
            </a:r>
            <a:endParaRPr lang="en-US" dirty="0"/>
          </a:p>
        </p:txBody>
      </p:sp>
      <p:pic>
        <p:nvPicPr>
          <p:cNvPr id="6" name="Content Placeholder 5" descr="An image displays chromatin as a collection of bead-like structures connected by a string. HDAC5 is arranged in an alternating pattern on the chromatin. Acetylation is indicated in the top of the first chromatin and the bottom of the second chromatin, with the subsequent chromatins following the same pattern. Methylation is near the bottom of the first chromatin. The positive indication at the end of the histone tail indicates baseline B D N F expression.&#10;&#10;An illustration depicts the chromatins closely aligned together. H D A C 5 is arranged in an alternating pattern on the chromatin. Acetylation is indicated in the top of the first chromatin and the bottom of the second chromatin, with the subsequent chromatins following the same pattern. Methylation is represented on both sides of all chromatins. The histone tail at the end has a negative sign, indicating inhibited BDNF expression.&#10;&#10;An illustration depicts a set of chromatins. Acetylation is indicated in the top of the first chromatin and the bottom of the second chromatin, with the subsequent chromatins following the same pattern. The top string of second chromatin and the bottom string of fourth chromatin are both devoid of methylation. The positive indication at the end of the histone tail indicates enhanced BDNF expression."/>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3072128" y="479425"/>
            <a:ext cx="6047744" cy="6300788"/>
          </a:xfrm>
        </p:spPr>
      </p:pic>
    </p:spTree>
    <p:extLst>
      <p:ext uri="{BB962C8B-B14F-4D97-AF65-F5344CB8AC3E}">
        <p14:creationId xmlns:p14="http://schemas.microsoft.com/office/powerpoint/2010/main" val="30600790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Neurochemical Basis of Affective Disorders </a:t>
            </a:r>
            <a:r>
              <a:rPr lang="en-US" sz="1200" dirty="0"/>
              <a:t>(11 of 12)</a:t>
            </a:r>
            <a:endParaRPr lang="en-US" dirty="0"/>
          </a:p>
        </p:txBody>
      </p:sp>
      <p:sp>
        <p:nvSpPr>
          <p:cNvPr id="3" name="Text Placeholder 2"/>
          <p:cNvSpPr>
            <a:spLocks noGrp="1"/>
          </p:cNvSpPr>
          <p:nvPr>
            <p:ph idx="1"/>
          </p:nvPr>
        </p:nvSpPr>
        <p:spPr/>
        <p:txBody>
          <a:bodyPr>
            <a:normAutofit/>
          </a:bodyPr>
          <a:lstStyle/>
          <a:p>
            <a:pPr marL="457200" indent="-457200">
              <a:lnSpc>
                <a:spcPct val="110000"/>
              </a:lnSpc>
              <a:spcBef>
                <a:spcPts val="1200"/>
              </a:spcBef>
              <a:buNone/>
            </a:pPr>
            <a:r>
              <a:rPr lang="en-US" sz="3200" dirty="0"/>
              <a:t>Neurobiological models of depression</a:t>
            </a:r>
          </a:p>
          <a:p>
            <a:pPr>
              <a:spcBef>
                <a:spcPts val="1200"/>
              </a:spcBef>
            </a:pPr>
            <a:r>
              <a:rPr lang="en-US" dirty="0"/>
              <a:t>Chronic antidepressants up-regulate the cAMP cascade, despite down-regulation of β-adrenergic  and 5-HT receptors that are coupled to the cAMP cascade</a:t>
            </a:r>
          </a:p>
          <a:p>
            <a:pPr>
              <a:spcBef>
                <a:spcPts val="1200"/>
              </a:spcBef>
            </a:pPr>
            <a:r>
              <a:rPr lang="en-US" dirty="0"/>
              <a:t>This increases phosphorylated CREB and subsequent expression of BDNF</a:t>
            </a:r>
          </a:p>
          <a:p>
            <a:pPr>
              <a:spcBef>
                <a:spcPts val="1200"/>
              </a:spcBef>
            </a:pPr>
            <a:r>
              <a:rPr lang="en-US" dirty="0"/>
              <a:t>Enhancing the cAMP cascade by inhibiting PDE produced antidepressant effects in rodents.</a:t>
            </a:r>
          </a:p>
        </p:txBody>
      </p:sp>
    </p:spTree>
    <p:extLst>
      <p:ext uri="{BB962C8B-B14F-4D97-AF65-F5344CB8AC3E}">
        <p14:creationId xmlns:p14="http://schemas.microsoft.com/office/powerpoint/2010/main" val="28557318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C50FB-1DE3-4446-9352-2476A18347AC}"/>
              </a:ext>
            </a:extLst>
          </p:cNvPr>
          <p:cNvSpPr>
            <a:spLocks noGrp="1"/>
          </p:cNvSpPr>
          <p:nvPr>
            <p:ph type="title"/>
          </p:nvPr>
        </p:nvSpPr>
        <p:spPr/>
        <p:txBody>
          <a:bodyPr/>
          <a:lstStyle/>
          <a:p>
            <a:r>
              <a:rPr lang="en-US" dirty="0"/>
              <a:t>FIGURE 18.11  Up-regulation of second-messenger pathway by chronic antidepressant treatment </a:t>
            </a:r>
          </a:p>
        </p:txBody>
      </p:sp>
      <p:pic>
        <p:nvPicPr>
          <p:cNvPr id="6" name="Content Placeholder 5" descr="An illustration of second-messenger pathway depicting the up-regulation. 5-H T or N E is carried from the presynaptic terminal's vesicles to the postsynaptic cell via beta A R 5-HT receptors, which produce adenylyl cyclase, c A M P, and P K A, which then converts C R E B to B D N F in the nucleus, resulting in trophic effects and enhanced cell function and survival. A series of reverse arrows leads back to the receptor to illustrate this response."/>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362651" y="479425"/>
            <a:ext cx="3466698" cy="6300788"/>
          </a:xfrm>
        </p:spPr>
      </p:pic>
    </p:spTree>
    <p:extLst>
      <p:ext uri="{BB962C8B-B14F-4D97-AF65-F5344CB8AC3E}">
        <p14:creationId xmlns:p14="http://schemas.microsoft.com/office/powerpoint/2010/main" val="225191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Neurochemical Basis of Affective Disorders </a:t>
            </a:r>
            <a:r>
              <a:rPr lang="en-US" sz="1200" dirty="0"/>
              <a:t>(12 of 12)</a:t>
            </a:r>
            <a:endParaRPr lang="en-US" dirty="0"/>
          </a:p>
        </p:txBody>
      </p:sp>
      <p:sp>
        <p:nvSpPr>
          <p:cNvPr id="3" name="Text Placeholder 2"/>
          <p:cNvSpPr>
            <a:spLocks noGrp="1"/>
          </p:cNvSpPr>
          <p:nvPr>
            <p:ph idx="1"/>
          </p:nvPr>
        </p:nvSpPr>
        <p:spPr/>
        <p:txBody>
          <a:bodyPr>
            <a:normAutofit/>
          </a:bodyPr>
          <a:lstStyle/>
          <a:p>
            <a:pPr marL="0" indent="0">
              <a:spcBef>
                <a:spcPts val="1200"/>
              </a:spcBef>
              <a:buNone/>
            </a:pPr>
            <a:r>
              <a:rPr lang="en-US" sz="2400" u="sng" dirty="0"/>
              <a:t>CLICKER QUESTION 2</a:t>
            </a:r>
          </a:p>
          <a:p>
            <a:pPr marL="457200" indent="-457200">
              <a:spcBef>
                <a:spcPts val="2400"/>
              </a:spcBef>
              <a:buNone/>
            </a:pPr>
            <a:r>
              <a:rPr lang="en-US" sz="3200" dirty="0"/>
              <a:t>The tryptophan depletion challenge can cause depressed mood in some cases because</a:t>
            </a:r>
          </a:p>
          <a:p>
            <a:pPr marL="914400" indent="-457200">
              <a:buFont typeface="Arial" pitchFamily="34" charset="0"/>
              <a:buAutoNum type="alphaLcPeriod"/>
            </a:pPr>
            <a:r>
              <a:rPr lang="en-US" sz="3200" dirty="0"/>
              <a:t>excess tryptophan causes abnormal 5-HT function.</a:t>
            </a:r>
          </a:p>
          <a:p>
            <a:pPr marL="914400" indent="-457200">
              <a:buFont typeface="Arial" pitchFamily="34" charset="0"/>
              <a:buAutoNum type="alphaLcPeriod"/>
            </a:pPr>
            <a:r>
              <a:rPr lang="en-US" sz="3200" dirty="0"/>
              <a:t>tryptophan is the precursor for 5-HIAA synthesis.</a:t>
            </a:r>
          </a:p>
          <a:p>
            <a:pPr marL="914400" indent="-457200">
              <a:buFont typeface="Arial" pitchFamily="34" charset="0"/>
              <a:buAutoNum type="alphaLcPeriod"/>
            </a:pPr>
            <a:r>
              <a:rPr lang="en-US" sz="3200" dirty="0"/>
              <a:t>tryptophan is necessary for 5-HT synthesis.</a:t>
            </a:r>
          </a:p>
        </p:txBody>
      </p:sp>
    </p:spTree>
    <p:extLst>
      <p:ext uri="{BB962C8B-B14F-4D97-AF65-F5344CB8AC3E}">
        <p14:creationId xmlns:p14="http://schemas.microsoft.com/office/powerpoint/2010/main" val="10280207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kumimoji="0" lang="en-US" b="0" i="0" u="none" strike="noStrike" kern="1200" cap="none" spc="0" normalizeH="0" baseline="0" noProof="0" dirty="0">
                <a:ln>
                  <a:noFill/>
                </a:ln>
                <a:solidFill>
                  <a:srgbClr val="1F497D"/>
                </a:solidFill>
                <a:effectLst/>
                <a:uLnTx/>
                <a:uFillTx/>
                <a:latin typeface="Calibri"/>
                <a:ea typeface="+mj-ea"/>
                <a:cs typeface="+mj-cs"/>
              </a:rPr>
              <a:t>Review of Learning Objectives </a:t>
            </a:r>
            <a:r>
              <a:rPr kumimoji="0" lang="en-US" sz="1200" b="0" i="0" u="none" strike="noStrike" kern="1200" cap="none" spc="0" normalizeH="0" baseline="0" noProof="0" dirty="0">
                <a:ln>
                  <a:noFill/>
                </a:ln>
                <a:solidFill>
                  <a:srgbClr val="1F497D"/>
                </a:solidFill>
                <a:effectLst/>
                <a:uLnTx/>
                <a:uFillTx/>
                <a:latin typeface="Calibri"/>
                <a:ea typeface="+mj-ea"/>
                <a:cs typeface="+mj-cs"/>
              </a:rPr>
              <a:t>(2 of 3)</a:t>
            </a:r>
            <a:endParaRPr lang="en-US" dirty="0"/>
          </a:p>
        </p:txBody>
      </p:sp>
      <p:sp>
        <p:nvSpPr>
          <p:cNvPr id="3" name="Text Placeholder 2"/>
          <p:cNvSpPr>
            <a:spLocks noGrp="1"/>
          </p:cNvSpPr>
          <p:nvPr>
            <p:ph idx="1"/>
          </p:nvPr>
        </p:nvSpPr>
        <p:spPr/>
        <p:txBody>
          <a:bodyPr>
            <a:normAutofit/>
          </a:bodyPr>
          <a:lstStyle/>
          <a:p>
            <a:pPr marL="1143000" indent="-1143000">
              <a:lnSpc>
                <a:spcPct val="120000"/>
              </a:lnSpc>
              <a:spcBef>
                <a:spcPts val="1800"/>
              </a:spcBef>
              <a:buNone/>
            </a:pPr>
            <a:r>
              <a:rPr lang="en-US" sz="2800" dirty="0"/>
              <a:t>18.2.1  Describe the monoamine hypothesis of affective disorders, and the potential roles of serotonin, norepinephrine, and dopamine in disorder pathophysiology.</a:t>
            </a:r>
          </a:p>
          <a:p>
            <a:pPr marL="1143000" indent="-1143000">
              <a:lnSpc>
                <a:spcPct val="120000"/>
              </a:lnSpc>
              <a:spcBef>
                <a:spcPts val="1800"/>
              </a:spcBef>
              <a:buNone/>
            </a:pPr>
            <a:r>
              <a:rPr lang="en-US" sz="2800" dirty="0"/>
              <a:t>18.2.2  Explain how cross-modulation between the serotonergic and noradrenergic systems may underlie the therapeutic effects of antidepressant treatment.</a:t>
            </a:r>
          </a:p>
          <a:p>
            <a:pPr marL="1143000" indent="-1143000">
              <a:lnSpc>
                <a:spcPct val="120000"/>
              </a:lnSpc>
              <a:spcBef>
                <a:spcPts val="1800"/>
              </a:spcBef>
              <a:buNone/>
            </a:pPr>
            <a:r>
              <a:rPr lang="en-US" sz="2800" dirty="0"/>
              <a:t>18.2.3  Detail the known neurobiological correlates of affective disorders.</a:t>
            </a:r>
          </a:p>
        </p:txBody>
      </p:sp>
    </p:spTree>
    <p:extLst>
      <p:ext uri="{BB962C8B-B14F-4D97-AF65-F5344CB8AC3E}">
        <p14:creationId xmlns:p14="http://schemas.microsoft.com/office/powerpoint/2010/main" val="16115440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Therapies for Affective Disorders </a:t>
            </a:r>
            <a:r>
              <a:rPr lang="en-US" sz="1200" dirty="0"/>
              <a:t>(1 of 14)</a:t>
            </a:r>
            <a:endParaRPr lang="en-US" dirty="0"/>
          </a:p>
        </p:txBody>
      </p:sp>
      <p:sp>
        <p:nvSpPr>
          <p:cNvPr id="3" name="Text Placeholder 2"/>
          <p:cNvSpPr>
            <a:spLocks noGrp="1"/>
          </p:cNvSpPr>
          <p:nvPr>
            <p:ph idx="1"/>
          </p:nvPr>
        </p:nvSpPr>
        <p:spPr/>
        <p:txBody>
          <a:bodyPr>
            <a:normAutofit/>
          </a:bodyPr>
          <a:lstStyle/>
          <a:p>
            <a:pPr>
              <a:spcBef>
                <a:spcPts val="1200"/>
              </a:spcBef>
            </a:pPr>
            <a:r>
              <a:rPr lang="en-US" dirty="0"/>
              <a:t>Several classes of antidepressant drugs are effective in reducing, but not eliminating, the symptoms of affective disorders in about 2/3 of cases</a:t>
            </a:r>
          </a:p>
          <a:p>
            <a:pPr>
              <a:spcBef>
                <a:spcPts val="1200"/>
              </a:spcBef>
            </a:pPr>
            <a:r>
              <a:rPr lang="en-US" dirty="0"/>
              <a:t>No one drug is more effective than others; no way to predict patient’s response to a particular drug</a:t>
            </a:r>
          </a:p>
          <a:p>
            <a:pPr>
              <a:spcBef>
                <a:spcPts val="1200"/>
              </a:spcBef>
            </a:pPr>
            <a:r>
              <a:rPr lang="en-US" dirty="0"/>
              <a:t>Maximal effectiveness may not be achieved until 4 to 6 weeks of therapy</a:t>
            </a:r>
          </a:p>
          <a:p>
            <a:pPr>
              <a:spcBef>
                <a:spcPts val="1200"/>
              </a:spcBef>
            </a:pPr>
            <a:r>
              <a:rPr lang="en-US" dirty="0"/>
              <a:t>Total remission is rare; continued treatment prevents relapse</a:t>
            </a:r>
          </a:p>
        </p:txBody>
      </p:sp>
    </p:spTree>
    <p:extLst>
      <p:ext uri="{BB962C8B-B14F-4D97-AF65-F5344CB8AC3E}">
        <p14:creationId xmlns:p14="http://schemas.microsoft.com/office/powerpoint/2010/main" val="13966104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Therapies for Affective Disorders </a:t>
            </a:r>
            <a:r>
              <a:rPr lang="en-US" sz="1200" dirty="0"/>
              <a:t>(2 of 14)</a:t>
            </a:r>
            <a:endParaRPr lang="en-US" dirty="0"/>
          </a:p>
        </p:txBody>
      </p:sp>
      <p:sp>
        <p:nvSpPr>
          <p:cNvPr id="3" name="Text Placeholder 2"/>
          <p:cNvSpPr>
            <a:spLocks noGrp="1"/>
          </p:cNvSpPr>
          <p:nvPr>
            <p:ph idx="1"/>
          </p:nvPr>
        </p:nvSpPr>
        <p:spPr/>
        <p:txBody>
          <a:bodyPr>
            <a:normAutofit/>
          </a:bodyPr>
          <a:lstStyle/>
          <a:p>
            <a:pPr marL="457200" indent="-457200">
              <a:lnSpc>
                <a:spcPct val="110000"/>
              </a:lnSpc>
              <a:spcBef>
                <a:spcPts val="1200"/>
              </a:spcBef>
              <a:buNone/>
            </a:pPr>
            <a:r>
              <a:rPr lang="en-US" sz="3200" dirty="0"/>
              <a:t>MAOIs are the oldest antidepressant drugs</a:t>
            </a:r>
          </a:p>
          <a:p>
            <a:r>
              <a:rPr lang="en-US" altLang="en-US" dirty="0"/>
              <a:t>MAO metabolizes monoamine neurotransmitters not contained in vesicles in presynaptic terminals</a:t>
            </a:r>
          </a:p>
          <a:p>
            <a:r>
              <a:rPr lang="en-US" altLang="en-US" dirty="0"/>
              <a:t>Inhibition of MAO increases amount of neurotransmitters available for release</a:t>
            </a:r>
          </a:p>
          <a:p>
            <a:r>
              <a:rPr lang="en-US" altLang="en-US" dirty="0"/>
              <a:t>But neuron adaptation involving change in receptor density or second-messenger function must play role in MAOI effects</a:t>
            </a:r>
          </a:p>
        </p:txBody>
      </p:sp>
    </p:spTree>
    <p:extLst>
      <p:ext uri="{BB962C8B-B14F-4D97-AF65-F5344CB8AC3E}">
        <p14:creationId xmlns:p14="http://schemas.microsoft.com/office/powerpoint/2010/main" val="29204669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57ABC-BD4E-C049-9B8D-9C2D6C4CDE74}"/>
              </a:ext>
            </a:extLst>
          </p:cNvPr>
          <p:cNvSpPr>
            <a:spLocks noGrp="1"/>
          </p:cNvSpPr>
          <p:nvPr>
            <p:ph type="title"/>
          </p:nvPr>
        </p:nvSpPr>
        <p:spPr/>
        <p:txBody>
          <a:bodyPr/>
          <a:lstStyle/>
          <a:p>
            <a:r>
              <a:rPr lang="en-US" dirty="0"/>
              <a:t>FIGURE 18.12  Acute and long-term effects of MAOIs on synaptic function </a:t>
            </a:r>
          </a:p>
        </p:txBody>
      </p:sp>
      <p:pic>
        <p:nvPicPr>
          <p:cNvPr id="6" name="Content Placeholder 5" descr="An illustration depicts the normal postsynaptic effects. The M A O enzyme in the presynaptic terminal is with a negative sign. As the neurotransmitters from the vesicles pass through the receptors of the postsynaptic cell, the surrounding regions of the receptors turn into a lighter shade of yellow.&#10;&#10;An illustration depicts the acute increase of amines' effects. M A O I with a negative sign from the outside of the presynaptic terminal points to M A O which produces a large number of neurotransmitters. As the neurotransmitters from the vesicles pass through the receptors of the postsynaptic cell, they leave a modest tint of yellow in the receptors' surrounding areas.&#10;&#10;An illustration depicts the reduction of receptors and subsequent up-regulation of second messengers. Here, M A O I with a negative sign from the outside of the presynaptic terminal points to M A O which produces a large number of neurotransmitters. As the neurotransmitters from the vesicles pass through the receptors of the postsynaptic cell, a brighter shade of yellow develops in the receptors' surrounding areas, covering a wide portion of the postsynaptic cell."/>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636128"/>
            <a:ext cx="11376025" cy="5987381"/>
          </a:xfrm>
        </p:spPr>
      </p:pic>
    </p:spTree>
    <p:extLst>
      <p:ext uri="{BB962C8B-B14F-4D97-AF65-F5344CB8AC3E}">
        <p14:creationId xmlns:p14="http://schemas.microsoft.com/office/powerpoint/2010/main" val="3255186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Therapies for Affective Disorders </a:t>
            </a:r>
            <a:r>
              <a:rPr lang="en-US" sz="1200" dirty="0"/>
              <a:t>(3 of 14)</a:t>
            </a:r>
            <a:endParaRPr lang="en-US" dirty="0"/>
          </a:p>
        </p:txBody>
      </p:sp>
      <p:sp>
        <p:nvSpPr>
          <p:cNvPr id="3" name="Text Placeholder 2"/>
          <p:cNvSpPr>
            <a:spLocks noGrp="1"/>
          </p:cNvSpPr>
          <p:nvPr>
            <p:ph idx="1"/>
          </p:nvPr>
        </p:nvSpPr>
        <p:spPr>
          <a:xfrm>
            <a:off x="609600" y="1692526"/>
            <a:ext cx="10972800" cy="4725581"/>
          </a:xfrm>
        </p:spPr>
        <p:txBody>
          <a:bodyPr>
            <a:normAutofit fontScale="92500" lnSpcReduction="10000"/>
          </a:bodyPr>
          <a:lstStyle/>
          <a:p>
            <a:pPr marL="457200" indent="-457200">
              <a:lnSpc>
                <a:spcPct val="120000"/>
              </a:lnSpc>
              <a:spcBef>
                <a:spcPts val="1200"/>
              </a:spcBef>
              <a:buNone/>
            </a:pPr>
            <a:r>
              <a:rPr lang="en-US" sz="3500" dirty="0"/>
              <a:t>MAOIs are the oldest antidepressant drugs</a:t>
            </a:r>
          </a:p>
          <a:p>
            <a:pPr>
              <a:spcBef>
                <a:spcPts val="1200"/>
              </a:spcBef>
            </a:pPr>
            <a:r>
              <a:rPr lang="en-US" dirty="0"/>
              <a:t>Side effects </a:t>
            </a:r>
            <a:r>
              <a:rPr lang="en-US" altLang="en-US" dirty="0"/>
              <a:t>include changes in blood pressure, sleep disturbances, and overeating/weight gain</a:t>
            </a:r>
          </a:p>
          <a:p>
            <a:pPr>
              <a:spcBef>
                <a:spcPts val="1200"/>
              </a:spcBef>
            </a:pPr>
            <a:r>
              <a:rPr lang="en-US" dirty="0"/>
              <a:t>More dangerous effects:</a:t>
            </a:r>
          </a:p>
          <a:p>
            <a:pPr lvl="1">
              <a:spcBef>
                <a:spcPts val="1200"/>
              </a:spcBef>
            </a:pPr>
            <a:r>
              <a:rPr lang="en-US" dirty="0"/>
              <a:t>Elevated NE levels intensify drugs that enhance NE function, e.g., cocaine, cold medications</a:t>
            </a:r>
          </a:p>
          <a:p>
            <a:pPr lvl="1">
              <a:spcBef>
                <a:spcPts val="1200"/>
              </a:spcBef>
            </a:pPr>
            <a:r>
              <a:rPr lang="en-US" dirty="0"/>
              <a:t>Elevated levels of tyramine (normally metabolized by MAO) releases higher-than-normal stores of NE at nerve endings, causing dangerous increases in blood pressure</a:t>
            </a:r>
          </a:p>
          <a:p>
            <a:pPr lvl="1">
              <a:spcBef>
                <a:spcPts val="1200"/>
              </a:spcBef>
            </a:pPr>
            <a:r>
              <a:rPr lang="en-US" dirty="0"/>
              <a:t>Inhibition of other liver enzymes</a:t>
            </a:r>
          </a:p>
        </p:txBody>
      </p:sp>
    </p:spTree>
    <p:extLst>
      <p:ext uri="{BB962C8B-B14F-4D97-AF65-F5344CB8AC3E}">
        <p14:creationId xmlns:p14="http://schemas.microsoft.com/office/powerpoint/2010/main" val="11139771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Therapies for Affective Disorders </a:t>
            </a:r>
            <a:r>
              <a:rPr lang="en-US" sz="1200" dirty="0"/>
              <a:t>(4 of 14)</a:t>
            </a:r>
            <a:endParaRPr lang="en-US" dirty="0"/>
          </a:p>
        </p:txBody>
      </p:sp>
      <p:sp>
        <p:nvSpPr>
          <p:cNvPr id="3" name="Text Placeholder 2"/>
          <p:cNvSpPr>
            <a:spLocks noGrp="1"/>
          </p:cNvSpPr>
          <p:nvPr>
            <p:ph idx="1"/>
          </p:nvPr>
        </p:nvSpPr>
        <p:spPr>
          <a:xfrm>
            <a:off x="609600" y="1692526"/>
            <a:ext cx="10972800" cy="4725581"/>
          </a:xfrm>
        </p:spPr>
        <p:txBody>
          <a:bodyPr>
            <a:normAutofit/>
          </a:bodyPr>
          <a:lstStyle/>
          <a:p>
            <a:pPr marL="457200" indent="-457200">
              <a:lnSpc>
                <a:spcPct val="110000"/>
              </a:lnSpc>
              <a:spcBef>
                <a:spcPts val="1200"/>
              </a:spcBef>
              <a:buNone/>
            </a:pPr>
            <a:r>
              <a:rPr lang="en-US" sz="3200" dirty="0"/>
              <a:t>TCAs block the reuptake of NE and serotonin</a:t>
            </a:r>
          </a:p>
          <a:p>
            <a:pPr>
              <a:spcBef>
                <a:spcPts val="1200"/>
              </a:spcBef>
            </a:pPr>
            <a:r>
              <a:rPr lang="en-US" altLang="en-US" b="1" dirty="0"/>
              <a:t>Tricyclic antidepressants</a:t>
            </a:r>
            <a:r>
              <a:rPr lang="en-US" altLang="en-US" dirty="0"/>
              <a:t> (</a:t>
            </a:r>
            <a:r>
              <a:rPr lang="en-US" altLang="en-US" b="1" dirty="0"/>
              <a:t>TCAs</a:t>
            </a:r>
            <a:r>
              <a:rPr lang="en-US" altLang="en-US" dirty="0"/>
              <a:t>) bind to presynaptic transporter proteins, inhibiting reuptake of neurotransmitters, prolonging duration of transmitter action </a:t>
            </a:r>
          </a:p>
          <a:p>
            <a:pPr>
              <a:spcBef>
                <a:spcPts val="1200"/>
              </a:spcBef>
            </a:pPr>
            <a:r>
              <a:rPr lang="en-US" dirty="0"/>
              <a:t>Different TCAs have different NE and 5-HT reuptake-blocking potencies</a:t>
            </a:r>
          </a:p>
          <a:p>
            <a:pPr>
              <a:spcBef>
                <a:spcPts val="1200"/>
              </a:spcBef>
            </a:pPr>
            <a:r>
              <a:rPr lang="en-US" dirty="0"/>
              <a:t>Selective reuptake inhibitors have also been developed. </a:t>
            </a:r>
          </a:p>
          <a:p>
            <a:pPr>
              <a:spcBef>
                <a:spcPts val="1200"/>
              </a:spcBef>
            </a:pPr>
            <a:r>
              <a:rPr lang="en-US" dirty="0"/>
              <a:t>Acute increase in synaptic activity is the first step in antidepressant action; neuronal adaptation over time, is necessary</a:t>
            </a:r>
          </a:p>
        </p:txBody>
      </p:sp>
    </p:spTree>
    <p:extLst>
      <p:ext uri="{BB962C8B-B14F-4D97-AF65-F5344CB8AC3E}">
        <p14:creationId xmlns:p14="http://schemas.microsoft.com/office/powerpoint/2010/main" val="123756972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Therapies for Affective Disorders </a:t>
            </a:r>
            <a:r>
              <a:rPr lang="en-US" sz="1200" dirty="0"/>
              <a:t>(5 of 14)</a:t>
            </a:r>
            <a:endParaRPr lang="en-US" dirty="0"/>
          </a:p>
        </p:txBody>
      </p:sp>
      <p:sp>
        <p:nvSpPr>
          <p:cNvPr id="3" name="Text Placeholder 2"/>
          <p:cNvSpPr>
            <a:spLocks noGrp="1"/>
          </p:cNvSpPr>
          <p:nvPr>
            <p:ph idx="1"/>
          </p:nvPr>
        </p:nvSpPr>
        <p:spPr>
          <a:xfrm>
            <a:off x="609600" y="1692526"/>
            <a:ext cx="10972800" cy="4725581"/>
          </a:xfrm>
        </p:spPr>
        <p:txBody>
          <a:bodyPr>
            <a:normAutofit fontScale="92500" lnSpcReduction="10000"/>
          </a:bodyPr>
          <a:lstStyle/>
          <a:p>
            <a:pPr marL="457200" indent="-457200">
              <a:lnSpc>
                <a:spcPct val="120000"/>
              </a:lnSpc>
              <a:spcBef>
                <a:spcPts val="1200"/>
              </a:spcBef>
              <a:buNone/>
            </a:pPr>
            <a:r>
              <a:rPr lang="en-US" sz="3500" dirty="0"/>
              <a:t>TCAs block the reuptake of NE and serotonin</a:t>
            </a:r>
          </a:p>
          <a:p>
            <a:r>
              <a:rPr lang="en-US" dirty="0"/>
              <a:t>Side effects of TCAs</a:t>
            </a:r>
          </a:p>
          <a:p>
            <a:pPr lvl="1"/>
            <a:r>
              <a:rPr lang="en-US" dirty="0"/>
              <a:t>Histamine receptor blockade causes sedation and</a:t>
            </a:r>
          </a:p>
          <a:p>
            <a:pPr lvl="1"/>
            <a:r>
              <a:rPr lang="en-US" dirty="0"/>
              <a:t>Anticholinergic effects include dry mouth, constipation, dizziness, etc.</a:t>
            </a:r>
          </a:p>
          <a:p>
            <a:pPr lvl="1"/>
            <a:r>
              <a:rPr lang="el-GR" dirty="0">
                <a:latin typeface="PalatinoLT-Roman"/>
              </a:rPr>
              <a:t>α</a:t>
            </a:r>
            <a:r>
              <a:rPr lang="en-US" baseline="-25000" dirty="0"/>
              <a:t>1</a:t>
            </a:r>
            <a:r>
              <a:rPr lang="en-US" dirty="0"/>
              <a:t> blockade, coupled with NE reuptake-blocking, leads to potentially dangerous cardiovascular effects, including orthostatic hypotension, tachycardia, and arrhythmias</a:t>
            </a:r>
          </a:p>
          <a:p>
            <a:pPr lvl="1"/>
            <a:r>
              <a:rPr lang="en-US" dirty="0"/>
              <a:t>Overdose: cardiovascular problems, delirium, convulsions, coma, death; low therapeutic index.</a:t>
            </a:r>
          </a:p>
        </p:txBody>
      </p:sp>
    </p:spTree>
    <p:extLst>
      <p:ext uri="{BB962C8B-B14F-4D97-AF65-F5344CB8AC3E}">
        <p14:creationId xmlns:p14="http://schemas.microsoft.com/office/powerpoint/2010/main" val="187937917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Therapies for Affective Disorders </a:t>
            </a:r>
            <a:r>
              <a:rPr lang="en-US" sz="1200" dirty="0"/>
              <a:t>(6 of 14)</a:t>
            </a:r>
            <a:endParaRPr lang="en-US" dirty="0"/>
          </a:p>
        </p:txBody>
      </p:sp>
      <p:sp>
        <p:nvSpPr>
          <p:cNvPr id="3" name="Text Placeholder 2"/>
          <p:cNvSpPr>
            <a:spLocks noGrp="1"/>
          </p:cNvSpPr>
          <p:nvPr>
            <p:ph idx="1"/>
          </p:nvPr>
        </p:nvSpPr>
        <p:spPr>
          <a:xfrm>
            <a:off x="609600" y="1692526"/>
            <a:ext cx="10972800" cy="4725581"/>
          </a:xfrm>
        </p:spPr>
        <p:txBody>
          <a:bodyPr>
            <a:normAutofit/>
          </a:bodyPr>
          <a:lstStyle/>
          <a:p>
            <a:pPr marL="457200" indent="-457200">
              <a:lnSpc>
                <a:spcPct val="110000"/>
              </a:lnSpc>
              <a:spcBef>
                <a:spcPts val="1200"/>
              </a:spcBef>
              <a:buNone/>
            </a:pPr>
            <a:r>
              <a:rPr lang="en-US" sz="3200" dirty="0"/>
              <a:t>Second-generation antidepressants have different side effects</a:t>
            </a:r>
          </a:p>
          <a:p>
            <a:pPr>
              <a:spcBef>
                <a:spcPts val="1200"/>
              </a:spcBef>
            </a:pPr>
            <a:r>
              <a:rPr lang="en-US" dirty="0"/>
              <a:t>None are more effective than older drugs, and don’t have a more rapid onset</a:t>
            </a:r>
          </a:p>
          <a:p>
            <a:r>
              <a:rPr lang="en-US" altLang="en-US" b="1" dirty="0"/>
              <a:t>Selective serotonin reuptake inhibitors</a:t>
            </a:r>
            <a:r>
              <a:rPr lang="en-US" altLang="en-US" dirty="0"/>
              <a:t> (</a:t>
            </a:r>
            <a:r>
              <a:rPr lang="en-US" altLang="en-US" b="1" dirty="0"/>
              <a:t>SSRIs</a:t>
            </a:r>
            <a:r>
              <a:rPr lang="en-US" altLang="en-US" dirty="0"/>
              <a:t>) block presynaptic 5-HT reuptake transporters more than NE transporters</a:t>
            </a:r>
          </a:p>
          <a:p>
            <a:r>
              <a:rPr lang="en-US" altLang="en-US" dirty="0"/>
              <a:t>Also used to treat panic and anxiety disorders, OCD, obesity, and alcohol use disorder</a:t>
            </a:r>
          </a:p>
        </p:txBody>
      </p:sp>
    </p:spTree>
    <p:extLst>
      <p:ext uri="{BB962C8B-B14F-4D97-AF65-F5344CB8AC3E}">
        <p14:creationId xmlns:p14="http://schemas.microsoft.com/office/powerpoint/2010/main" val="238057692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Therapies for Affective Disorders </a:t>
            </a:r>
            <a:r>
              <a:rPr lang="en-US" sz="1200" dirty="0"/>
              <a:t>(7 of 14)</a:t>
            </a:r>
            <a:endParaRPr lang="en-US" dirty="0"/>
          </a:p>
        </p:txBody>
      </p:sp>
      <p:sp>
        <p:nvSpPr>
          <p:cNvPr id="3" name="Text Placeholder 2"/>
          <p:cNvSpPr>
            <a:spLocks noGrp="1"/>
          </p:cNvSpPr>
          <p:nvPr>
            <p:ph idx="1"/>
          </p:nvPr>
        </p:nvSpPr>
        <p:spPr>
          <a:xfrm>
            <a:off x="609600" y="1692526"/>
            <a:ext cx="10972800" cy="4725581"/>
          </a:xfrm>
        </p:spPr>
        <p:txBody>
          <a:bodyPr>
            <a:normAutofit/>
          </a:bodyPr>
          <a:lstStyle/>
          <a:p>
            <a:pPr marL="457200" indent="-457200">
              <a:lnSpc>
                <a:spcPct val="110000"/>
              </a:lnSpc>
              <a:spcBef>
                <a:spcPts val="1200"/>
              </a:spcBef>
              <a:buNone/>
            </a:pPr>
            <a:r>
              <a:rPr lang="en-US" sz="3200" dirty="0"/>
              <a:t>Second-generation antidepressants have different side effects</a:t>
            </a:r>
          </a:p>
          <a:p>
            <a:pPr>
              <a:spcBef>
                <a:spcPts val="1200"/>
              </a:spcBef>
            </a:pPr>
            <a:r>
              <a:rPr lang="en-US" dirty="0"/>
              <a:t>Side effect of SSRIs:</a:t>
            </a:r>
          </a:p>
          <a:p>
            <a:pPr lvl="1">
              <a:spcBef>
                <a:spcPts val="1200"/>
              </a:spcBef>
            </a:pPr>
            <a:r>
              <a:rPr lang="en-US" dirty="0"/>
              <a:t>Increased 5-HT function at some serotonergic receptors causes anxiety, movement disorders, muscle rigidity, nausea, headache, insomnia, sexual dysfunction</a:t>
            </a:r>
          </a:p>
          <a:p>
            <a:pPr lvl="1">
              <a:spcBef>
                <a:spcPts val="1200"/>
              </a:spcBef>
            </a:pPr>
            <a:r>
              <a:rPr lang="en-US" altLang="en-US" b="1" dirty="0"/>
              <a:t>Serotonin syndrome</a:t>
            </a:r>
            <a:r>
              <a:rPr lang="en-US" altLang="en-US" dirty="0"/>
              <a:t>: potentially life-threatening effects when combined with other serotonergic agonists or drugs</a:t>
            </a:r>
          </a:p>
          <a:p>
            <a:pPr lvl="1">
              <a:spcBef>
                <a:spcPts val="1200"/>
              </a:spcBef>
            </a:pPr>
            <a:r>
              <a:rPr lang="en-US" dirty="0"/>
              <a:t>Can cause physical dependence</a:t>
            </a:r>
          </a:p>
        </p:txBody>
      </p:sp>
    </p:spTree>
    <p:extLst>
      <p:ext uri="{BB962C8B-B14F-4D97-AF65-F5344CB8AC3E}">
        <p14:creationId xmlns:p14="http://schemas.microsoft.com/office/powerpoint/2010/main" val="35209161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Therapies for Affective Disorders </a:t>
            </a:r>
            <a:r>
              <a:rPr lang="en-US" sz="1200" dirty="0"/>
              <a:t>(8 of 14)</a:t>
            </a:r>
            <a:endParaRPr lang="en-US" dirty="0"/>
          </a:p>
        </p:txBody>
      </p:sp>
      <p:sp>
        <p:nvSpPr>
          <p:cNvPr id="3" name="Text Placeholder 2"/>
          <p:cNvSpPr>
            <a:spLocks noGrp="1"/>
          </p:cNvSpPr>
          <p:nvPr>
            <p:ph idx="1"/>
          </p:nvPr>
        </p:nvSpPr>
        <p:spPr>
          <a:xfrm>
            <a:off x="609600" y="1692526"/>
            <a:ext cx="10972800" cy="4725581"/>
          </a:xfrm>
        </p:spPr>
        <p:txBody>
          <a:bodyPr>
            <a:normAutofit/>
          </a:bodyPr>
          <a:lstStyle/>
          <a:p>
            <a:pPr marL="457200" indent="-457200">
              <a:lnSpc>
                <a:spcPct val="110000"/>
              </a:lnSpc>
              <a:spcBef>
                <a:spcPts val="1200"/>
              </a:spcBef>
              <a:buNone/>
            </a:pPr>
            <a:r>
              <a:rPr lang="en-US" sz="3200" dirty="0"/>
              <a:t>Second-generation antidepressants have different side effects</a:t>
            </a:r>
          </a:p>
          <a:p>
            <a:r>
              <a:rPr lang="en-US" altLang="en-US" b="1" dirty="0"/>
              <a:t>Dual NE/5-HT modulators </a:t>
            </a:r>
            <a:r>
              <a:rPr lang="en-US" altLang="en-US" dirty="0"/>
              <a:t>(</a:t>
            </a:r>
            <a:r>
              <a:rPr lang="en-US" altLang="en-US" b="1" dirty="0"/>
              <a:t>SNRIs</a:t>
            </a:r>
            <a:r>
              <a:rPr lang="en-US" altLang="en-US" dirty="0"/>
              <a:t>): enhancing both NE and 5-HT function is more beneficial than enhancing only one</a:t>
            </a:r>
          </a:p>
          <a:p>
            <a:r>
              <a:rPr lang="en-US" altLang="en-US" dirty="0"/>
              <a:t>Mirtazapine blocks </a:t>
            </a:r>
            <a:r>
              <a:rPr lang="el-GR" altLang="en-US" dirty="0">
                <a:latin typeface="PalatinoLT-Roman"/>
              </a:rPr>
              <a:t>α</a:t>
            </a:r>
            <a:r>
              <a:rPr lang="en-US" altLang="en-US" baseline="-25000" dirty="0"/>
              <a:t>2</a:t>
            </a:r>
            <a:r>
              <a:rPr lang="en-US" altLang="en-US" dirty="0"/>
              <a:t>-autoreceptors, increasing synaptic NE and </a:t>
            </a:r>
            <a:r>
              <a:rPr lang="el-GR" altLang="en-US" dirty="0">
                <a:latin typeface="PalatinoLT-Roman"/>
              </a:rPr>
              <a:t>α</a:t>
            </a:r>
            <a:r>
              <a:rPr lang="en-US" altLang="en-US" baseline="-25000" dirty="0"/>
              <a:t>2</a:t>
            </a:r>
            <a:r>
              <a:rPr lang="en-US" altLang="en-US" dirty="0"/>
              <a:t>-heteroreceptors on serotonergic cells, increasing 5-HT release</a:t>
            </a:r>
          </a:p>
          <a:p>
            <a:pPr lvl="1"/>
            <a:r>
              <a:rPr lang="en-US" altLang="en-US" dirty="0"/>
              <a:t>To reduce side effects, it blocks only selected 5-HT receptors.</a:t>
            </a:r>
          </a:p>
        </p:txBody>
      </p:sp>
    </p:spTree>
    <p:extLst>
      <p:ext uri="{BB962C8B-B14F-4D97-AF65-F5344CB8AC3E}">
        <p14:creationId xmlns:p14="http://schemas.microsoft.com/office/powerpoint/2010/main" val="1403810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Therapies for Affective Disorders </a:t>
            </a:r>
            <a:r>
              <a:rPr lang="en-US" sz="1200" dirty="0"/>
              <a:t>(9 of 14)</a:t>
            </a:r>
            <a:endParaRPr lang="en-US" dirty="0"/>
          </a:p>
        </p:txBody>
      </p:sp>
      <p:sp>
        <p:nvSpPr>
          <p:cNvPr id="3" name="Text Placeholder 2"/>
          <p:cNvSpPr>
            <a:spLocks noGrp="1"/>
          </p:cNvSpPr>
          <p:nvPr>
            <p:ph idx="1"/>
          </p:nvPr>
        </p:nvSpPr>
        <p:spPr>
          <a:xfrm>
            <a:off x="609600" y="1692526"/>
            <a:ext cx="10972800" cy="4725581"/>
          </a:xfrm>
        </p:spPr>
        <p:txBody>
          <a:bodyPr>
            <a:normAutofit lnSpcReduction="10000"/>
          </a:bodyPr>
          <a:lstStyle/>
          <a:p>
            <a:pPr marL="457200" indent="-457200">
              <a:lnSpc>
                <a:spcPct val="110000"/>
              </a:lnSpc>
              <a:spcBef>
                <a:spcPts val="1200"/>
              </a:spcBef>
              <a:buNone/>
            </a:pPr>
            <a:r>
              <a:rPr lang="en-US" sz="3200" dirty="0"/>
              <a:t>Third-generation antidepressants have distinctive mechanisms of action</a:t>
            </a:r>
          </a:p>
          <a:p>
            <a:r>
              <a:rPr lang="en-US" altLang="en-US" dirty="0"/>
              <a:t>Currently in development and testing</a:t>
            </a:r>
          </a:p>
          <a:p>
            <a:r>
              <a:rPr lang="en-US" dirty="0"/>
              <a:t>CRF receptor antagonism and enhancement of the cAMP second-messenger system</a:t>
            </a:r>
          </a:p>
          <a:p>
            <a:r>
              <a:rPr lang="en-US" altLang="en-US" dirty="0"/>
              <a:t>Regulation of circadian dysfunctions by agomelatine</a:t>
            </a:r>
          </a:p>
          <a:p>
            <a:r>
              <a:rPr lang="en-US" altLang="en-US" dirty="0"/>
              <a:t>The NMDA receptor antagonist ketamine</a:t>
            </a:r>
          </a:p>
          <a:p>
            <a:r>
              <a:rPr lang="en-US" altLang="en-US" dirty="0"/>
              <a:t>Galanin agonists, tianeptine, and AMPA agonists.</a:t>
            </a:r>
          </a:p>
        </p:txBody>
      </p:sp>
    </p:spTree>
    <p:extLst>
      <p:ext uri="{BB962C8B-B14F-4D97-AF65-F5344CB8AC3E}">
        <p14:creationId xmlns:p14="http://schemas.microsoft.com/office/powerpoint/2010/main" val="212670589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Therapies for Affective Disorders </a:t>
            </a:r>
            <a:r>
              <a:rPr lang="en-US" sz="1200" dirty="0"/>
              <a:t>(10 of 14)</a:t>
            </a:r>
            <a:endParaRPr lang="en-US" dirty="0"/>
          </a:p>
        </p:txBody>
      </p:sp>
      <p:sp>
        <p:nvSpPr>
          <p:cNvPr id="3" name="Text Placeholder 2"/>
          <p:cNvSpPr>
            <a:spLocks noGrp="1"/>
          </p:cNvSpPr>
          <p:nvPr>
            <p:ph idx="1"/>
          </p:nvPr>
        </p:nvSpPr>
        <p:spPr>
          <a:xfrm>
            <a:off x="609600" y="1692526"/>
            <a:ext cx="10972800" cy="4725581"/>
          </a:xfrm>
        </p:spPr>
        <p:txBody>
          <a:bodyPr>
            <a:normAutofit lnSpcReduction="10000"/>
          </a:bodyPr>
          <a:lstStyle/>
          <a:p>
            <a:pPr marL="457200" indent="-457200">
              <a:lnSpc>
                <a:spcPct val="110000"/>
              </a:lnSpc>
              <a:spcBef>
                <a:spcPts val="1200"/>
              </a:spcBef>
              <a:buNone/>
            </a:pPr>
            <a:r>
              <a:rPr lang="en-US" sz="3200" dirty="0"/>
              <a:t>Third-generation antidepressants have distinctive mechanisms of action</a:t>
            </a:r>
          </a:p>
          <a:p>
            <a:r>
              <a:rPr lang="en-US" altLang="en-US" dirty="0"/>
              <a:t>Ketamine effects last far longer than the drug’s short half-life.</a:t>
            </a:r>
          </a:p>
          <a:p>
            <a:r>
              <a:rPr lang="en-US" altLang="en-US" dirty="0"/>
              <a:t>Ketamine probably enhances BDNF-stimulated neurogenesis and elaboration of dendritic spine growth</a:t>
            </a:r>
          </a:p>
          <a:p>
            <a:pPr lvl="1"/>
            <a:r>
              <a:rPr lang="en-US" altLang="en-US" dirty="0"/>
              <a:t>Mechanism is unclear; it may be rapid activation of the mTOR signaling cascade</a:t>
            </a:r>
          </a:p>
          <a:p>
            <a:pPr algn="l"/>
            <a:r>
              <a:rPr lang="en-US" b="0" i="0" u="none" strike="noStrike" baseline="0" dirty="0">
                <a:latin typeface="DINPro-Light"/>
              </a:rPr>
              <a:t>Multiple potential mechanisms may explain ketamine’s rapid onset of antidepressant effects</a:t>
            </a:r>
            <a:endParaRPr lang="en-US" altLang="en-US" dirty="0"/>
          </a:p>
        </p:txBody>
      </p:sp>
    </p:spTree>
    <p:extLst>
      <p:ext uri="{BB962C8B-B14F-4D97-AF65-F5344CB8AC3E}">
        <p14:creationId xmlns:p14="http://schemas.microsoft.com/office/powerpoint/2010/main" val="20002312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776E9-BBC7-4F43-B4B6-84E823D2F57A}"/>
              </a:ext>
            </a:extLst>
          </p:cNvPr>
          <p:cNvSpPr>
            <a:spLocks noGrp="1"/>
          </p:cNvSpPr>
          <p:nvPr>
            <p:ph type="title"/>
          </p:nvPr>
        </p:nvSpPr>
        <p:spPr/>
        <p:txBody>
          <a:bodyPr/>
          <a:lstStyle/>
          <a:p>
            <a:r>
              <a:rPr lang="en-US" dirty="0"/>
              <a:t>FIGURE 18.14  Ketamine’s rapid activation of mTOR  </a:t>
            </a:r>
          </a:p>
        </p:txBody>
      </p:sp>
      <p:pic>
        <p:nvPicPr>
          <p:cNvPr id="6" name="Content Placeholder 5" descr="A flow diagram illustrates Ketamine’s rapid activation of m T O R. On the top is an illustration of the two lobes of the brain and is labeled Prefrontal cortex. Ketamine injection gives rise to N M D A antagonism, leading to A M P A receptor activation followed by signal transduction cascades and activation of m T O R. This causes increased spine density, synaptic activity and anti-depressant effects.&#10;&#10;A set of three microscopes for distal tuft and three microscopes for proximal tuft of saline vehicle, and ketamine vehicle and rapamycin are depicted. The spine of the vehicle's distal tuft is vertically oriented with similar density throughout, whereas the spine of the proximal tuft is horizontally oriented with an increase in density. The spine of the ketamine vehicle's distal tuft is vertically oriented, with similar density throughout, and the two branch tips are thin and elongated, whereas the spine of the proximal tuft is horizontally oriented, with much more increased density throughout the spine. The spine of the rapamycin distal tuft is vertically oriented with similar density throughout and two thin branches unite with an increase in density, whereas the spine of the rapamycin proximal tuft is horizontally oriented with less density than the ketamine vehicle.&#10;&#10;A set of six figures depicts the recorded waveforms for saline and ketamine vehicle and rapamycin. A series of three waveforms, one below the other, with increasing amplitudes for the middle waveform in a saline vehicle. The three waveforms with almost similar fluctuating amplitudes are shown throughout the 5-H T 20 micrometer waveform for saline vehicle. When compared to the other waveforms, the ketamine vehicle has comparable waveforms with lower fluctuating amplitudes, however the 5-H T waveforms exhibit a consistent pattern of peaks with the greatest amplitudes in all three waves. The amplitude of ketamine rapamycin is extremely low, but the alternating pattern of fluctuating waves in 5-H T waveforms has a considerable amplitude of 200 milliseconds and 100 Pico amperes."/>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161171" y="479425"/>
            <a:ext cx="7869658" cy="6300788"/>
          </a:xfrm>
        </p:spPr>
      </p:pic>
    </p:spTree>
    <p:extLst>
      <p:ext uri="{BB962C8B-B14F-4D97-AF65-F5344CB8AC3E}">
        <p14:creationId xmlns:p14="http://schemas.microsoft.com/office/powerpoint/2010/main" val="31324505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Therapies for Affective Disorders </a:t>
            </a:r>
            <a:r>
              <a:rPr lang="en-US" sz="1200" dirty="0"/>
              <a:t>(11 of 14)</a:t>
            </a:r>
            <a:endParaRPr lang="en-US" dirty="0"/>
          </a:p>
        </p:txBody>
      </p:sp>
      <p:sp>
        <p:nvSpPr>
          <p:cNvPr id="3" name="Text Placeholder 2"/>
          <p:cNvSpPr>
            <a:spLocks noGrp="1"/>
          </p:cNvSpPr>
          <p:nvPr>
            <p:ph idx="1"/>
          </p:nvPr>
        </p:nvSpPr>
        <p:spPr>
          <a:xfrm>
            <a:off x="609600" y="1692526"/>
            <a:ext cx="10972800" cy="4725581"/>
          </a:xfrm>
        </p:spPr>
        <p:txBody>
          <a:bodyPr>
            <a:normAutofit/>
          </a:bodyPr>
          <a:lstStyle/>
          <a:p>
            <a:pPr marL="457200" indent="-457200">
              <a:lnSpc>
                <a:spcPct val="110000"/>
              </a:lnSpc>
              <a:spcBef>
                <a:spcPts val="1200"/>
              </a:spcBef>
              <a:buNone/>
            </a:pPr>
            <a:r>
              <a:rPr lang="en-US" sz="3200" dirty="0"/>
              <a:t>Third-generation antidepressants have distinctive mechanisms of action</a:t>
            </a:r>
          </a:p>
          <a:p>
            <a:r>
              <a:rPr lang="en-US" altLang="en-US" dirty="0"/>
              <a:t>Nondrug therapy: An effective antidepressant treatment is physical exercise</a:t>
            </a:r>
          </a:p>
          <a:p>
            <a:pPr lvl="1"/>
            <a:r>
              <a:rPr lang="en-US" altLang="en-US" dirty="0"/>
              <a:t>May depend on its ability to increase neurogenesis and dendritic re-sculpturing</a:t>
            </a:r>
          </a:p>
          <a:p>
            <a:pPr lvl="1"/>
            <a:r>
              <a:rPr lang="en-US" altLang="en-US" dirty="0"/>
              <a:t>Animal studies suggest a role for the hormone adiponectin in this process.</a:t>
            </a:r>
          </a:p>
        </p:txBody>
      </p:sp>
    </p:spTree>
    <p:extLst>
      <p:ext uri="{BB962C8B-B14F-4D97-AF65-F5344CB8AC3E}">
        <p14:creationId xmlns:p14="http://schemas.microsoft.com/office/powerpoint/2010/main" val="133015212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Therapies for Affective Disorders </a:t>
            </a:r>
            <a:r>
              <a:rPr lang="en-US" sz="1200" dirty="0"/>
              <a:t>(12 of 14)</a:t>
            </a:r>
            <a:endParaRPr lang="en-US" dirty="0"/>
          </a:p>
        </p:txBody>
      </p:sp>
      <p:sp>
        <p:nvSpPr>
          <p:cNvPr id="3" name="Text Placeholder 2"/>
          <p:cNvSpPr>
            <a:spLocks noGrp="1"/>
          </p:cNvSpPr>
          <p:nvPr>
            <p:ph idx="1"/>
          </p:nvPr>
        </p:nvSpPr>
        <p:spPr>
          <a:xfrm>
            <a:off x="609600" y="1692526"/>
            <a:ext cx="10972800" cy="4725581"/>
          </a:xfrm>
        </p:spPr>
        <p:txBody>
          <a:bodyPr>
            <a:normAutofit fontScale="77500" lnSpcReduction="20000"/>
          </a:bodyPr>
          <a:lstStyle/>
          <a:p>
            <a:pPr marL="457200" indent="-457200">
              <a:lnSpc>
                <a:spcPct val="130000"/>
              </a:lnSpc>
              <a:spcBef>
                <a:spcPts val="1200"/>
              </a:spcBef>
              <a:buNone/>
            </a:pPr>
            <a:r>
              <a:rPr lang="en-US" sz="3800" dirty="0"/>
              <a:t>Drugs for treating bipolar disorder stabilize the highs and the lows</a:t>
            </a:r>
          </a:p>
          <a:p>
            <a:r>
              <a:rPr lang="en-US" sz="3100" dirty="0"/>
              <a:t>Lithium: most effective treatment for bipolar disorder</a:t>
            </a:r>
          </a:p>
          <a:p>
            <a:pPr lvl="1"/>
            <a:r>
              <a:rPr lang="en-US" dirty="0"/>
              <a:t>Eliminates or reduces manic episodes without causing depression or producing sedation</a:t>
            </a:r>
          </a:p>
          <a:p>
            <a:pPr lvl="1"/>
            <a:r>
              <a:rPr lang="en-US" dirty="0"/>
              <a:t>Particularly effective in reducing suicide</a:t>
            </a:r>
          </a:p>
          <a:p>
            <a:pPr lvl="1"/>
            <a:r>
              <a:rPr lang="en-US" dirty="0"/>
              <a:t>Mechanism: enhances 5-HT actions and reduces catecholamine activity; </a:t>
            </a:r>
            <a:r>
              <a:rPr lang="en-US" altLang="en-US" dirty="0"/>
              <a:t>mood-stabilizing effects may be due to inhibition of GSK-3 regulation of circadian rhythms</a:t>
            </a:r>
            <a:endParaRPr lang="en-US" dirty="0"/>
          </a:p>
          <a:p>
            <a:pPr lvl="1"/>
            <a:r>
              <a:rPr lang="en-US" dirty="0"/>
              <a:t>Side effects are mild</a:t>
            </a:r>
          </a:p>
          <a:p>
            <a:pPr lvl="1"/>
            <a:r>
              <a:rPr lang="en-US" dirty="0"/>
              <a:t>Therapeutic index is very low; blood levels of lithium must be monitored regularly; toxic effects can be severe</a:t>
            </a:r>
          </a:p>
        </p:txBody>
      </p:sp>
    </p:spTree>
    <p:extLst>
      <p:ext uri="{BB962C8B-B14F-4D97-AF65-F5344CB8AC3E}">
        <p14:creationId xmlns:p14="http://schemas.microsoft.com/office/powerpoint/2010/main" val="339709567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Therapies for Affective Disorders </a:t>
            </a:r>
            <a:r>
              <a:rPr lang="en-US" sz="1200" dirty="0"/>
              <a:t>(13 of 14)</a:t>
            </a:r>
            <a:endParaRPr lang="en-US" dirty="0"/>
          </a:p>
        </p:txBody>
      </p:sp>
      <p:sp>
        <p:nvSpPr>
          <p:cNvPr id="3" name="Text Placeholder 2"/>
          <p:cNvSpPr>
            <a:spLocks noGrp="1"/>
          </p:cNvSpPr>
          <p:nvPr>
            <p:ph idx="1"/>
          </p:nvPr>
        </p:nvSpPr>
        <p:spPr>
          <a:xfrm>
            <a:off x="609600" y="1659475"/>
            <a:ext cx="10972800" cy="5038780"/>
          </a:xfrm>
        </p:spPr>
        <p:txBody>
          <a:bodyPr>
            <a:normAutofit lnSpcReduction="10000"/>
          </a:bodyPr>
          <a:lstStyle/>
          <a:p>
            <a:pPr marL="457200" indent="-457200">
              <a:lnSpc>
                <a:spcPct val="110000"/>
              </a:lnSpc>
              <a:spcBef>
                <a:spcPts val="1200"/>
              </a:spcBef>
              <a:buNone/>
            </a:pPr>
            <a:r>
              <a:rPr lang="en-US" sz="3200" dirty="0"/>
              <a:t>Drugs for treating bipolar disorder stabilize the highs and lows</a:t>
            </a:r>
          </a:p>
          <a:p>
            <a:r>
              <a:rPr lang="en-US" dirty="0"/>
              <a:t>Other therapies for bipolar disorder include anticonvulsants:</a:t>
            </a:r>
          </a:p>
          <a:p>
            <a:pPr lvl="1"/>
            <a:r>
              <a:rPr lang="en-US" b="1" dirty="0"/>
              <a:t>Valproate</a:t>
            </a:r>
            <a:r>
              <a:rPr lang="en-US" dirty="0"/>
              <a:t> (</a:t>
            </a:r>
            <a:r>
              <a:rPr lang="en-US" b="1" dirty="0"/>
              <a:t>Depakote</a:t>
            </a:r>
            <a:r>
              <a:rPr lang="en-US" dirty="0"/>
              <a:t>): as effective as lithium, different side effects</a:t>
            </a:r>
          </a:p>
          <a:p>
            <a:pPr lvl="3"/>
            <a:r>
              <a:rPr lang="en-US" dirty="0"/>
              <a:t>Teratogenic</a:t>
            </a:r>
          </a:p>
          <a:p>
            <a:pPr lvl="3"/>
            <a:r>
              <a:rPr lang="en-US" altLang="en-US" dirty="0"/>
              <a:t>Increases GABA levels by stimulating glutamic acid decarboxylase  and inhibiting GABA transaminase</a:t>
            </a:r>
          </a:p>
          <a:p>
            <a:pPr lvl="1"/>
            <a:r>
              <a:rPr lang="en-US" altLang="en-US" b="1" dirty="0"/>
              <a:t>Carbamazepine</a:t>
            </a:r>
            <a:r>
              <a:rPr lang="en-US" altLang="en-US" dirty="0"/>
              <a:t> (</a:t>
            </a:r>
            <a:r>
              <a:rPr lang="en-US" altLang="en-US" b="1" dirty="0"/>
              <a:t>Tegretol</a:t>
            </a:r>
            <a:r>
              <a:rPr lang="en-US" altLang="en-US" dirty="0"/>
              <a:t>): </a:t>
            </a:r>
            <a:r>
              <a:rPr lang="en-US" dirty="0"/>
              <a:t>as effective as lithium, different side effects</a:t>
            </a:r>
          </a:p>
          <a:p>
            <a:pPr lvl="3"/>
            <a:r>
              <a:rPr lang="en-US" altLang="en-US" dirty="0"/>
              <a:t>Inhibits NE reuptake; acutely blocks and upregulates adenosine receptors</a:t>
            </a:r>
          </a:p>
        </p:txBody>
      </p:sp>
    </p:spTree>
    <p:extLst>
      <p:ext uri="{BB962C8B-B14F-4D97-AF65-F5344CB8AC3E}">
        <p14:creationId xmlns:p14="http://schemas.microsoft.com/office/powerpoint/2010/main" val="178215613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Therapies for Affective Disorders </a:t>
            </a:r>
            <a:r>
              <a:rPr lang="en-US" sz="1200" dirty="0"/>
              <a:t>(14 of 14)</a:t>
            </a:r>
            <a:endParaRPr lang="en-US" dirty="0"/>
          </a:p>
        </p:txBody>
      </p:sp>
      <p:sp>
        <p:nvSpPr>
          <p:cNvPr id="3" name="Text Placeholder 2"/>
          <p:cNvSpPr>
            <a:spLocks noGrp="1"/>
          </p:cNvSpPr>
          <p:nvPr>
            <p:ph idx="1"/>
          </p:nvPr>
        </p:nvSpPr>
        <p:spPr/>
        <p:txBody>
          <a:bodyPr>
            <a:normAutofit/>
          </a:bodyPr>
          <a:lstStyle/>
          <a:p>
            <a:pPr marL="0" indent="0">
              <a:spcBef>
                <a:spcPts val="1200"/>
              </a:spcBef>
              <a:buNone/>
            </a:pPr>
            <a:r>
              <a:rPr lang="en-US" sz="2400" u="sng" dirty="0"/>
              <a:t>CLICKER QUESTION 3</a:t>
            </a:r>
          </a:p>
          <a:p>
            <a:pPr marL="457200" indent="-457200">
              <a:spcBef>
                <a:spcPts val="2400"/>
              </a:spcBef>
              <a:buNone/>
            </a:pPr>
            <a:r>
              <a:rPr lang="en-US" sz="3200" dirty="0"/>
              <a:t>Which class of antidepressant drugs elevates the amount of monoamine neurotransmitters available for release?</a:t>
            </a:r>
          </a:p>
          <a:p>
            <a:pPr marL="914400" indent="-457200">
              <a:spcBef>
                <a:spcPts val="1200"/>
              </a:spcBef>
              <a:buFont typeface="Arial" pitchFamily="34" charset="0"/>
              <a:buAutoNum type="alphaLcPeriod"/>
            </a:pPr>
            <a:r>
              <a:rPr lang="en-US" sz="3200" dirty="0"/>
              <a:t>SSRIs</a:t>
            </a:r>
          </a:p>
          <a:p>
            <a:pPr marL="914400" indent="-457200">
              <a:spcBef>
                <a:spcPts val="1200"/>
              </a:spcBef>
              <a:buFont typeface="Arial" pitchFamily="34" charset="0"/>
              <a:buAutoNum type="alphaLcPeriod"/>
            </a:pPr>
            <a:r>
              <a:rPr lang="en-US" sz="3200" dirty="0"/>
              <a:t>SNRIs</a:t>
            </a:r>
          </a:p>
          <a:p>
            <a:pPr marL="914400" indent="-457200">
              <a:spcBef>
                <a:spcPts val="1200"/>
              </a:spcBef>
              <a:buFont typeface="Arial" pitchFamily="34" charset="0"/>
              <a:buAutoNum type="alphaLcPeriod"/>
            </a:pPr>
            <a:r>
              <a:rPr lang="en-US" sz="3200" dirty="0"/>
              <a:t>MAOIs</a:t>
            </a:r>
          </a:p>
          <a:p>
            <a:pPr marL="914400" indent="-457200">
              <a:spcBef>
                <a:spcPts val="1200"/>
              </a:spcBef>
              <a:buFont typeface="Arial" pitchFamily="34" charset="0"/>
              <a:buAutoNum type="alphaLcPeriod"/>
            </a:pPr>
            <a:r>
              <a:rPr lang="en-US" sz="3200" dirty="0"/>
              <a:t>TCAs</a:t>
            </a:r>
          </a:p>
        </p:txBody>
      </p:sp>
    </p:spTree>
    <p:extLst>
      <p:ext uri="{BB962C8B-B14F-4D97-AF65-F5344CB8AC3E}">
        <p14:creationId xmlns:p14="http://schemas.microsoft.com/office/powerpoint/2010/main" val="280312612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kumimoji="0" lang="en-US" b="0" i="0" u="none" strike="noStrike" kern="1200" cap="none" spc="0" normalizeH="0" baseline="0" noProof="0" dirty="0">
                <a:ln>
                  <a:noFill/>
                </a:ln>
                <a:solidFill>
                  <a:srgbClr val="1F497D"/>
                </a:solidFill>
                <a:effectLst/>
                <a:uLnTx/>
                <a:uFillTx/>
                <a:latin typeface="Calibri"/>
                <a:ea typeface="+mj-ea"/>
                <a:cs typeface="+mj-cs"/>
              </a:rPr>
              <a:t>Review of Learning Objectives </a:t>
            </a:r>
            <a:r>
              <a:rPr kumimoji="0" lang="en-US" sz="1200" b="0" i="0" u="none" strike="noStrike" kern="1200" cap="none" spc="0" normalizeH="0" baseline="0" noProof="0" dirty="0">
                <a:ln>
                  <a:noFill/>
                </a:ln>
                <a:solidFill>
                  <a:srgbClr val="1F497D"/>
                </a:solidFill>
                <a:effectLst/>
                <a:uLnTx/>
                <a:uFillTx/>
                <a:latin typeface="Calibri"/>
                <a:ea typeface="+mj-ea"/>
                <a:cs typeface="+mj-cs"/>
              </a:rPr>
              <a:t>(3 of 3)</a:t>
            </a:r>
            <a:endParaRPr lang="en-US" dirty="0"/>
          </a:p>
        </p:txBody>
      </p:sp>
      <p:sp>
        <p:nvSpPr>
          <p:cNvPr id="3" name="Text Placeholder 2"/>
          <p:cNvSpPr>
            <a:spLocks noGrp="1"/>
          </p:cNvSpPr>
          <p:nvPr>
            <p:ph idx="1"/>
          </p:nvPr>
        </p:nvSpPr>
        <p:spPr/>
        <p:txBody>
          <a:bodyPr>
            <a:normAutofit/>
          </a:bodyPr>
          <a:lstStyle/>
          <a:p>
            <a:pPr marL="1143000" indent="-1143000">
              <a:lnSpc>
                <a:spcPct val="110000"/>
              </a:lnSpc>
              <a:spcBef>
                <a:spcPts val="1800"/>
              </a:spcBef>
              <a:buNone/>
            </a:pPr>
            <a:r>
              <a:rPr lang="en-US" sz="2800" dirty="0"/>
              <a:t>18.3.1  Describe the mechanisms of action, therapeutic efficacy, and side-effect profiles of the three major classes of drugs used to treat depression: MAOs, TCAs, and SSRIs/SNRIs.</a:t>
            </a:r>
          </a:p>
          <a:p>
            <a:pPr marL="1143000" indent="-1143000">
              <a:lnSpc>
                <a:spcPct val="110000"/>
              </a:lnSpc>
              <a:spcBef>
                <a:spcPts val="1800"/>
              </a:spcBef>
              <a:buNone/>
            </a:pPr>
            <a:r>
              <a:rPr lang="en-US" sz="2800" dirty="0"/>
              <a:t>18.3.2  Describe third-generation therapies that alleviate depression through distinctive mechanisms of action, including ketamine and galanin agonists.</a:t>
            </a:r>
          </a:p>
        </p:txBody>
      </p:sp>
    </p:spTree>
    <p:extLst>
      <p:ext uri="{BB962C8B-B14F-4D97-AF65-F5344CB8AC3E}">
        <p14:creationId xmlns:p14="http://schemas.microsoft.com/office/powerpoint/2010/main" val="2244285636"/>
      </p:ext>
    </p:extLst>
  </p:cSld>
  <p:clrMapOvr>
    <a:masterClrMapping/>
  </p:clrMapOvr>
</p:sld>
</file>

<file path=ppt/theme/theme1.xml><?xml version="1.0" encoding="utf-8"?>
<a:theme xmlns:a="http://schemas.openxmlformats.org/drawingml/2006/main" name="Text Content Templat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UP US HE Widescreen Template 3.1 (TH).pptx" id="{38592676-3FE0-4EA4-B873-8CD03AA7ACBC}" vid="{4464F53A-3550-4D7A-B3C8-5443B75EFB8E}"/>
    </a:ext>
  </a:extLst>
</a:theme>
</file>

<file path=ppt/theme/theme2.xml><?xml version="1.0" encoding="utf-8"?>
<a:theme xmlns:a="http://schemas.openxmlformats.org/drawingml/2006/main" name="Figure-Only Templates">
  <a:themeElements>
    <a:clrScheme name="Custom 106">
      <a:dk1>
        <a:srgbClr val="000000"/>
      </a:dk1>
      <a:lt1>
        <a:srgbClr val="FFFFFF"/>
      </a:lt1>
      <a:dk2>
        <a:srgbClr val="1F497D"/>
      </a:dk2>
      <a:lt2>
        <a:srgbClr val="EEECE1"/>
      </a:lt2>
      <a:accent1>
        <a:srgbClr val="001A47"/>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xford Template 2020-05-05" id="{B78F6A64-C076-4E15-90E5-9A59F0E29698}" vid="{18DFF3BF-7F46-4B14-BD35-A03A2976456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034735E286A8A478CDABE780C9EC78F" ma:contentTypeVersion="13" ma:contentTypeDescription="Create a new document." ma:contentTypeScope="" ma:versionID="9b8825675e62d57985c81b74d5b14a7f">
  <xsd:schema xmlns:xsd="http://www.w3.org/2001/XMLSchema" xmlns:xs="http://www.w3.org/2001/XMLSchema" xmlns:p="http://schemas.microsoft.com/office/2006/metadata/properties" xmlns:ns3="fd39d560-5c7d-4158-98a0-f420f8fdebce" xmlns:ns4="a6c716b4-9090-4de7-aadc-2aa5f812ad24" targetNamespace="http://schemas.microsoft.com/office/2006/metadata/properties" ma:root="true" ma:fieldsID="bdbc9fd47a72f6438c4442bb9222e145" ns3:_="" ns4:_="">
    <xsd:import namespace="fd39d560-5c7d-4158-98a0-f420f8fdebce"/>
    <xsd:import namespace="a6c716b4-9090-4de7-aadc-2aa5f812ad24"/>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DateTaken" minOccurs="0"/>
                <xsd:element ref="ns3:MediaServiceGenerationTime" minOccurs="0"/>
                <xsd:element ref="ns3:MediaServiceEventHashCode" minOccurs="0"/>
                <xsd:element ref="ns3:MediaServiceAutoKeyPoints" minOccurs="0"/>
                <xsd:element ref="ns3:MediaServiceKeyPoints" minOccurs="0"/>
                <xsd:element ref="ns4:SharedWithUsers" minOccurs="0"/>
                <xsd:element ref="ns4:SharedWithDetails" minOccurs="0"/>
                <xsd:element ref="ns4:SharingHintHash"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d39d560-5c7d-4158-98a0-f420f8fdebc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6c716b4-9090-4de7-aadc-2aa5f812ad24"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856919D-3723-464B-9967-427A087CBD61}">
  <ds:schemaRefs>
    <ds:schemaRef ds:uri="http://schemas.microsoft.com/office/2006/metadata/properties"/>
    <ds:schemaRef ds:uri="fd39d560-5c7d-4158-98a0-f420f8fdebce"/>
    <ds:schemaRef ds:uri="http://purl.org/dc/elements/1.1/"/>
    <ds:schemaRef ds:uri="http://schemas.microsoft.com/office/2006/documentManagement/types"/>
    <ds:schemaRef ds:uri="http://purl.org/dc/terms/"/>
    <ds:schemaRef ds:uri="http://schemas.openxmlformats.org/package/2006/metadata/core-properties"/>
    <ds:schemaRef ds:uri="a6c716b4-9090-4de7-aadc-2aa5f812ad24"/>
    <ds:schemaRef ds:uri="http://purl.org/dc/dcmitype/"/>
    <ds:schemaRef ds:uri="http://schemas.microsoft.com/office/infopath/2007/PartnerControls"/>
    <ds:schemaRef ds:uri="http://www.w3.org/XML/1998/namespace"/>
  </ds:schemaRefs>
</ds:datastoreItem>
</file>

<file path=customXml/itemProps2.xml><?xml version="1.0" encoding="utf-8"?>
<ds:datastoreItem xmlns:ds="http://schemas.openxmlformats.org/officeDocument/2006/customXml" ds:itemID="{7E307B2A-FA70-43CE-A010-B3D8154DEA0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d39d560-5c7d-4158-98a0-f420f8fdebce"/>
    <ds:schemaRef ds:uri="a6c716b4-9090-4de7-aadc-2aa5f812ad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B57C1AB-C2BF-4446-AECB-681D5785527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OUP US HE Widescreen Template 3.1 (TH)</Template>
  <TotalTime>8004</TotalTime>
  <Words>3314</Words>
  <Application>Microsoft Office PowerPoint</Application>
  <PresentationFormat>Widescreen</PresentationFormat>
  <Paragraphs>395</Paragraphs>
  <Slides>60</Slides>
  <Notes>53</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60</vt:i4>
      </vt:variant>
    </vt:vector>
  </HeadingPairs>
  <TitlesOfParts>
    <vt:vector size="71" baseType="lpstr">
      <vt:lpstr>ＭＳ Ｐゴシック</vt:lpstr>
      <vt:lpstr>Arial</vt:lpstr>
      <vt:lpstr>Calibri</vt:lpstr>
      <vt:lpstr>Courier New</vt:lpstr>
      <vt:lpstr>DINPro-Bold</vt:lpstr>
      <vt:lpstr>DINPro-Light</vt:lpstr>
      <vt:lpstr>PalatinoLT-Roman</vt:lpstr>
      <vt:lpstr>PalatinoLTStd-Bold</vt:lpstr>
      <vt:lpstr>PalatinoLTStd-Roman</vt:lpstr>
      <vt:lpstr>Text Content Templates</vt:lpstr>
      <vt:lpstr>Figure-Only Templates</vt:lpstr>
      <vt:lpstr>Psychopharmacology: Drugs, the Brain, and Behavior</vt:lpstr>
      <vt:lpstr>Chapter 18 Affective Disorders: Antidepressants and Mood Stabilizers</vt:lpstr>
      <vt:lpstr>Chapter 18 Learning Objectives (1 of 3)</vt:lpstr>
      <vt:lpstr>Chapter 18 Learning Objectives (2 of 3)</vt:lpstr>
      <vt:lpstr>Chapter 18 Learning Objectives (3 of 3)</vt:lpstr>
      <vt:lpstr>Characteristics of Affective Disorders (1 of 12)</vt:lpstr>
      <vt:lpstr>Characteristics of Affective Disorders (2 of 12)</vt:lpstr>
      <vt:lpstr>Characteristics of Affective Disorders (3 of 12)</vt:lpstr>
      <vt:lpstr>FIGURE 18.1  Age of onset of major depression </vt:lpstr>
      <vt:lpstr>Characteristics of Affective Disorders (4 of 12)</vt:lpstr>
      <vt:lpstr>Characteristics of Affective Disorders (5 of 12)</vt:lpstr>
      <vt:lpstr>FIGURE 18.2  Concordance rates for mood disorders among identical and fraternal twins </vt:lpstr>
      <vt:lpstr>Characteristics of Affective Disorders (6 of 12)</vt:lpstr>
      <vt:lpstr>FIGURE 18.3  Abnormalities in glucocorticoids </vt:lpstr>
      <vt:lpstr>Characteristics of Affective Disorders (7 of 12)</vt:lpstr>
      <vt:lpstr>FIGURE 18.4  Altered sleep architecture in depression </vt:lpstr>
      <vt:lpstr>Characteristics of Affective Disorders (8 of 12)</vt:lpstr>
      <vt:lpstr>FIGURE 18.5  The potential involvement of the gut–brain axis in the pathophysiology of depression </vt:lpstr>
      <vt:lpstr>Characteristics of Affective Disorders (9 of 12)</vt:lpstr>
      <vt:lpstr>Characteristics of Affective Disorders (10 of 12)</vt:lpstr>
      <vt:lpstr>Characteristics of Affective Disorders (11 of 12)</vt:lpstr>
      <vt:lpstr>Characteristics of Affective Disorders (12 of 12)</vt:lpstr>
      <vt:lpstr>Review of Learning Objectives (1 of 3)</vt:lpstr>
      <vt:lpstr>Neurochemical Basis of Affective Disorders (1 of 12)</vt:lpstr>
      <vt:lpstr>Neurochemical Basis of Affective Disorders (2 of 12)</vt:lpstr>
      <vt:lpstr>Neurochemical Basis of Affective Disorders (3 of 12)</vt:lpstr>
      <vt:lpstr>Neurochemical Basis of Affective Disorders (4 of 12)</vt:lpstr>
      <vt:lpstr>FIGURE 18.6  Effects of anti­depressants on serotonergic cells</vt:lpstr>
      <vt:lpstr>Neurochemical Basis of Affective Disorders (5 of 12)</vt:lpstr>
      <vt:lpstr>Neurochemical Basis of Affective Disorders (6 of 12)</vt:lpstr>
      <vt:lpstr>FIGURE 18.7  Two monoamine pathways in the human brain </vt:lpstr>
      <vt:lpstr>Neurochemical Basis of Affective Disorders (7 of 12)</vt:lpstr>
      <vt:lpstr>FIGURE 18.8  PET scan of blood flow in the brain of a patient with unipolar depression </vt:lpstr>
      <vt:lpstr>FIGURE 18.9  The default-mode network (DMN) drives cognitive rumination </vt:lpstr>
      <vt:lpstr>Neurochemical Basis of Affective Disorders (8 of 12)</vt:lpstr>
      <vt:lpstr>FIGURE 18.10  Effect of stress and antidepressant treatment on BDNF in hippocampal cells </vt:lpstr>
      <vt:lpstr>Neurochemical Basis of Affective Disorders (9 of 12)</vt:lpstr>
      <vt:lpstr>Neurochemical Basis of Affective Disorders (10 of 12)</vt:lpstr>
      <vt:lpstr>Box 18.1  The Cutting Edge: Epigenetic Modifications in Psychopathology and Treatment</vt:lpstr>
      <vt:lpstr>Neurochemical Basis of Affective Disorders (11 of 12)</vt:lpstr>
      <vt:lpstr>FIGURE 18.11  Up-regulation of second-messenger pathway by chronic antidepressant treatment </vt:lpstr>
      <vt:lpstr>Neurochemical Basis of Affective Disorders (12 of 12)</vt:lpstr>
      <vt:lpstr>Review of Learning Objectives (2 of 3)</vt:lpstr>
      <vt:lpstr>Therapies for Affective Disorders (1 of 14)</vt:lpstr>
      <vt:lpstr>Therapies for Affective Disorders (2 of 14)</vt:lpstr>
      <vt:lpstr>FIGURE 18.12  Acute and long-term effects of MAOIs on synaptic function </vt:lpstr>
      <vt:lpstr>Therapies for Affective Disorders (3 of 14)</vt:lpstr>
      <vt:lpstr>Therapies for Affective Disorders (4 of 14)</vt:lpstr>
      <vt:lpstr>Therapies for Affective Disorders (5 of 14)</vt:lpstr>
      <vt:lpstr>Therapies for Affective Disorders (6 of 14)</vt:lpstr>
      <vt:lpstr>Therapies for Affective Disorders (7 of 14)</vt:lpstr>
      <vt:lpstr>Therapies for Affective Disorders (8 of 14)</vt:lpstr>
      <vt:lpstr>Therapies for Affective Disorders (9 of 14)</vt:lpstr>
      <vt:lpstr>Therapies for Affective Disorders (10 of 14)</vt:lpstr>
      <vt:lpstr>FIGURE 18.14  Ketamine’s rapid activation of mTOR  </vt:lpstr>
      <vt:lpstr>Therapies for Affective Disorders (11 of 14)</vt:lpstr>
      <vt:lpstr>Therapies for Affective Disorders (12 of 14)</vt:lpstr>
      <vt:lpstr>Therapies for Affective Disorders (13 of 14)</vt:lpstr>
      <vt:lpstr>Therapies for Affective Disorders (14 of 14)</vt:lpstr>
      <vt:lpstr>Review of Learning Objectives (3 of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Psychopharmacology: Drugs, the Brain, and Behavior</dc:title>
  <dc:creator>OUP</dc:creator>
  <cp:lastModifiedBy>Carter, Suzanne</cp:lastModifiedBy>
  <cp:revision>53</cp:revision>
  <dcterms:created xsi:type="dcterms:W3CDTF">2021-11-13T04:08:54Z</dcterms:created>
  <dcterms:modified xsi:type="dcterms:W3CDTF">2022-03-25T18:27:36Z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f61502-7731-4690-a118-333634878cc9_Enabled">
    <vt:lpwstr>true</vt:lpwstr>
  </property>
  <property fmtid="{D5CDD505-2E9C-101B-9397-08002B2CF9AE}" pid="3" name="MSIP_Label_89f61502-7731-4690-a118-333634878cc9_SetDate">
    <vt:lpwstr>2020-04-27T21:10:48Z</vt:lpwstr>
  </property>
  <property fmtid="{D5CDD505-2E9C-101B-9397-08002B2CF9AE}" pid="4" name="MSIP_Label_89f61502-7731-4690-a118-333634878cc9_Method">
    <vt:lpwstr>Standard</vt:lpwstr>
  </property>
  <property fmtid="{D5CDD505-2E9C-101B-9397-08002B2CF9AE}" pid="5" name="MSIP_Label_89f61502-7731-4690-a118-333634878cc9_Name">
    <vt:lpwstr>Internal</vt:lpwstr>
  </property>
  <property fmtid="{D5CDD505-2E9C-101B-9397-08002B2CF9AE}" pid="6" name="MSIP_Label_89f61502-7731-4690-a118-333634878cc9_SiteId">
    <vt:lpwstr>91761b62-4c45-43f5-9f0e-be8ad9b551ff</vt:lpwstr>
  </property>
  <property fmtid="{D5CDD505-2E9C-101B-9397-08002B2CF9AE}" pid="7" name="MSIP_Label_89f61502-7731-4690-a118-333634878cc9_ActionId">
    <vt:lpwstr>69912cf1-8f32-4f1f-9ade-00009ae8a75a</vt:lpwstr>
  </property>
  <property fmtid="{D5CDD505-2E9C-101B-9397-08002B2CF9AE}" pid="8" name="MSIP_Label_89f61502-7731-4690-a118-333634878cc9_ContentBits">
    <vt:lpwstr>0</vt:lpwstr>
  </property>
  <property fmtid="{D5CDD505-2E9C-101B-9397-08002B2CF9AE}" pid="9" name="ContentTypeId">
    <vt:lpwstr>0x0101006034735E286A8A478CDABE780C9EC78F</vt:lpwstr>
  </property>
</Properties>
</file>