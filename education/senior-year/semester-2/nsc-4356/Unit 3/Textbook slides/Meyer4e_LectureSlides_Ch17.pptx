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81" r:id="rId5"/>
  </p:sldMasterIdLst>
  <p:notesMasterIdLst>
    <p:notesMasterId r:id="rId69"/>
  </p:notesMasterIdLst>
  <p:handoutMasterIdLst>
    <p:handoutMasterId r:id="rId70"/>
  </p:handoutMasterIdLst>
  <p:sldIdLst>
    <p:sldId id="354" r:id="rId6"/>
    <p:sldId id="270" r:id="rId7"/>
    <p:sldId id="274" r:id="rId8"/>
    <p:sldId id="288" r:id="rId9"/>
    <p:sldId id="289" r:id="rId10"/>
    <p:sldId id="271" r:id="rId11"/>
    <p:sldId id="291" r:id="rId12"/>
    <p:sldId id="290" r:id="rId13"/>
    <p:sldId id="358" r:id="rId14"/>
    <p:sldId id="292" r:id="rId15"/>
    <p:sldId id="359" r:id="rId16"/>
    <p:sldId id="293" r:id="rId17"/>
    <p:sldId id="360" r:id="rId18"/>
    <p:sldId id="295" r:id="rId19"/>
    <p:sldId id="297" r:id="rId20"/>
    <p:sldId id="361" r:id="rId21"/>
    <p:sldId id="298" r:id="rId22"/>
    <p:sldId id="286" r:id="rId23"/>
    <p:sldId id="302" r:id="rId24"/>
    <p:sldId id="304" r:id="rId25"/>
    <p:sldId id="362" r:id="rId26"/>
    <p:sldId id="305" r:id="rId27"/>
    <p:sldId id="309" r:id="rId28"/>
    <p:sldId id="363" r:id="rId29"/>
    <p:sldId id="364" r:id="rId30"/>
    <p:sldId id="310" r:id="rId31"/>
    <p:sldId id="315" r:id="rId32"/>
    <p:sldId id="316" r:id="rId33"/>
    <p:sldId id="318" r:id="rId34"/>
    <p:sldId id="321" r:id="rId35"/>
    <p:sldId id="365" r:id="rId36"/>
    <p:sldId id="322" r:id="rId37"/>
    <p:sldId id="366" r:id="rId38"/>
    <p:sldId id="323" r:id="rId39"/>
    <p:sldId id="326" r:id="rId40"/>
    <p:sldId id="285" r:id="rId41"/>
    <p:sldId id="355" r:id="rId42"/>
    <p:sldId id="327" r:id="rId43"/>
    <p:sldId id="328" r:id="rId44"/>
    <p:sldId id="329" r:id="rId45"/>
    <p:sldId id="330" r:id="rId46"/>
    <p:sldId id="331" r:id="rId47"/>
    <p:sldId id="332" r:id="rId48"/>
    <p:sldId id="333" r:id="rId49"/>
    <p:sldId id="334" r:id="rId50"/>
    <p:sldId id="336" r:id="rId51"/>
    <p:sldId id="339" r:id="rId52"/>
    <p:sldId id="356" r:id="rId53"/>
    <p:sldId id="338" r:id="rId54"/>
    <p:sldId id="367" r:id="rId55"/>
    <p:sldId id="342" r:id="rId56"/>
    <p:sldId id="368" r:id="rId57"/>
    <p:sldId id="344" r:id="rId58"/>
    <p:sldId id="369" r:id="rId59"/>
    <p:sldId id="345" r:id="rId60"/>
    <p:sldId id="347" r:id="rId61"/>
    <p:sldId id="348" r:id="rId62"/>
    <p:sldId id="370" r:id="rId63"/>
    <p:sldId id="349" r:id="rId64"/>
    <p:sldId id="352" r:id="rId65"/>
    <p:sldId id="353" r:id="rId66"/>
    <p:sldId id="335" r:id="rId67"/>
    <p:sldId id="357" r:id="rId6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15" autoAdjust="0"/>
    <p:restoredTop sz="80843" autoAdjust="0"/>
  </p:normalViewPr>
  <p:slideViewPr>
    <p:cSldViewPr snapToGrid="0" snapToObjects="1">
      <p:cViewPr varScale="1">
        <p:scale>
          <a:sx n="74" d="100"/>
          <a:sy n="74" d="100"/>
        </p:scale>
        <p:origin x="84" y="852"/>
      </p:cViewPr>
      <p:guideLst>
        <p:guide orient="horz" pos="2160"/>
        <p:guide pos="3840"/>
      </p:guideLst>
    </p:cSldViewPr>
  </p:slideViewPr>
  <p:outlineViewPr>
    <p:cViewPr>
      <p:scale>
        <a:sx n="33" d="100"/>
        <a:sy n="33" d="100"/>
      </p:scale>
      <p:origin x="0" y="-53298"/>
    </p:cViewPr>
  </p:outlineViewPr>
  <p:notesTextViewPr>
    <p:cViewPr>
      <p:scale>
        <a:sx n="100" d="100"/>
        <a:sy n="100" d="100"/>
      </p:scale>
      <p:origin x="0" y="0"/>
    </p:cViewPr>
  </p:notesTextViewPr>
  <p:sorterViewPr>
    <p:cViewPr>
      <p:scale>
        <a:sx n="120" d="100"/>
        <a:sy n="120" d="100"/>
      </p:scale>
      <p:origin x="0" y="-12948"/>
    </p:cViewPr>
  </p:sorterViewPr>
  <p:notesViewPr>
    <p:cSldViewPr snapToGrid="0" snapToObject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 Type="http://schemas.openxmlformats.org/officeDocument/2006/relationships/slide" Target="slides/slide2.xml"/><Relationship Id="rId71"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685613-ADFF-4141-B66C-A45235623B50}" type="datetimeFigureOut">
              <a:rPr lang="en-US" smtClean="0"/>
              <a:t>3/25/2022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92E8A8-05A8-499B-9FC4-E546163481AE}" type="slidenum">
              <a:rPr lang="en-US" smtClean="0"/>
              <a:t>‹#›</a:t>
            </a:fld>
            <a:endParaRPr lang="en-US"/>
          </a:p>
        </p:txBody>
      </p:sp>
    </p:spTree>
    <p:extLst>
      <p:ext uri="{BB962C8B-B14F-4D97-AF65-F5344CB8AC3E}">
        <p14:creationId xmlns:p14="http://schemas.microsoft.com/office/powerpoint/2010/main" val="104911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F5199-F7F4-4FB2-A2CD-22A2CFC87608}" type="datetimeFigureOut">
              <a:rPr lang="en-US" smtClean="0"/>
              <a:t>3/25/2022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C0744-2FEF-4441-821D-70180A370937}" type="slidenum">
              <a:rPr lang="en-US" smtClean="0"/>
              <a:t>‹#›</a:t>
            </a:fld>
            <a:endParaRPr lang="en-US"/>
          </a:p>
        </p:txBody>
      </p:sp>
    </p:spTree>
    <p:extLst>
      <p:ext uri="{BB962C8B-B14F-4D97-AF65-F5344CB8AC3E}">
        <p14:creationId xmlns:p14="http://schemas.microsoft.com/office/powerpoint/2010/main" val="127170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6C0744-2FEF-4441-821D-70180A37093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627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6</a:t>
            </a:fld>
            <a:endParaRPr lang="en-US"/>
          </a:p>
        </p:txBody>
      </p:sp>
    </p:spTree>
    <p:extLst>
      <p:ext uri="{BB962C8B-B14F-4D97-AF65-F5344CB8AC3E}">
        <p14:creationId xmlns:p14="http://schemas.microsoft.com/office/powerpoint/2010/main" val="76603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7</a:t>
            </a:fld>
            <a:endParaRPr lang="en-US"/>
          </a:p>
        </p:txBody>
      </p:sp>
    </p:spTree>
    <p:extLst>
      <p:ext uri="{BB962C8B-B14F-4D97-AF65-F5344CB8AC3E}">
        <p14:creationId xmlns:p14="http://schemas.microsoft.com/office/powerpoint/2010/main" val="3352829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8</a:t>
            </a:fld>
            <a:endParaRPr lang="en-US"/>
          </a:p>
        </p:txBody>
      </p:sp>
    </p:spTree>
    <p:extLst>
      <p:ext uri="{BB962C8B-B14F-4D97-AF65-F5344CB8AC3E}">
        <p14:creationId xmlns:p14="http://schemas.microsoft.com/office/powerpoint/2010/main" val="961420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17.1</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Three-component model of anxiety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Stress induces the cyclical interaction of bodily response, ineffective behavior, and upsetting thoughts. Potential stressors may be perceived as a threat that initiates portions of the anxiety responses. Each of the three components influences the others, potentially escalating the overall damaging effect of anxiety. For other individuals, the stressor may be perceived as a challenge that engages more constructive behavior. Individual differences based on genetic traits and early experience may make some people more or less vulnerable to stressors. (After T. L. Rosenthal and R. Rosenthal. 1980. </a:t>
            </a:r>
            <a:r>
              <a:rPr lang="en-US" sz="1200" i="1" kern="1200" dirty="0">
                <a:solidFill>
                  <a:schemeClr val="tx1"/>
                </a:solidFill>
                <a:effectLst/>
                <a:latin typeface="+mn-lt"/>
                <a:ea typeface="+mn-ea"/>
                <a:cs typeface="+mn-cs"/>
              </a:rPr>
              <a:t>The Vicious Cycle of Stress Reaction</a:t>
            </a:r>
            <a:r>
              <a:rPr lang="en-US" sz="1200" kern="1200" dirty="0">
                <a:solidFill>
                  <a:schemeClr val="tx1"/>
                </a:solidFill>
                <a:effectLst/>
                <a:latin typeface="+mn-lt"/>
                <a:ea typeface="+mn-ea"/>
                <a:cs typeface="+mn-cs"/>
              </a:rPr>
              <a:t>. Stress Management Clinic, Department of Psychiatry, University of Tennessee College of Medicine: Memphis, TN.)</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9</a:t>
            </a:fld>
            <a:endParaRPr lang="en-US"/>
          </a:p>
        </p:txBody>
      </p:sp>
    </p:spTree>
    <p:extLst>
      <p:ext uri="{BB962C8B-B14F-4D97-AF65-F5344CB8AC3E}">
        <p14:creationId xmlns:p14="http://schemas.microsoft.com/office/powerpoint/2010/main" val="2297178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10</a:t>
            </a:fld>
            <a:endParaRPr lang="en-US"/>
          </a:p>
        </p:txBody>
      </p:sp>
    </p:spTree>
    <p:extLst>
      <p:ext uri="{BB962C8B-B14F-4D97-AF65-F5344CB8AC3E}">
        <p14:creationId xmlns:p14="http://schemas.microsoft.com/office/powerpoint/2010/main" val="2818709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17.2</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Flow diagram of connections of the amygdala 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much-simplified diagram shows how anxiety-related information processed by several brain areas inputs first to the lateral nucleus of the amygdala. From the lateral nucleus, it goes to the central nucleus (directly and indirectly) and the bed nucleus of the </a:t>
            </a:r>
            <a:r>
              <a:rPr lang="en-US" sz="1200" kern="1200" dirty="0" err="1">
                <a:solidFill>
                  <a:schemeClr val="tx1"/>
                </a:solidFill>
                <a:effectLst/>
                <a:latin typeface="+mn-lt"/>
                <a:ea typeface="+mn-ea"/>
                <a:cs typeface="+mn-cs"/>
              </a:rPr>
              <a:t>stria</a:t>
            </a:r>
            <a:r>
              <a:rPr lang="en-US" sz="1200" kern="1200" dirty="0">
                <a:solidFill>
                  <a:schemeClr val="tx1"/>
                </a:solidFill>
                <a:effectLst/>
                <a:latin typeface="+mn-lt"/>
                <a:ea typeface="+mn-ea"/>
                <a:cs typeface="+mn-cs"/>
              </a:rPr>
              <a:t> terminalis (BNST), which innervate widespread brain regions to orchestrate the components of emotion.</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11</a:t>
            </a:fld>
            <a:endParaRPr lang="en-US"/>
          </a:p>
        </p:txBody>
      </p:sp>
    </p:spTree>
    <p:extLst>
      <p:ext uri="{BB962C8B-B14F-4D97-AF65-F5344CB8AC3E}">
        <p14:creationId xmlns:p14="http://schemas.microsoft.com/office/powerpoint/2010/main" val="3481022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u="none" dirty="0"/>
              <a:t>BNST: </a:t>
            </a:r>
            <a:r>
              <a:rPr lang="en-US" dirty="0"/>
              <a:t>bed nucleus of the stria terminalis, the “extended amygdala” </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12</a:t>
            </a:fld>
            <a:endParaRPr lang="en-US"/>
          </a:p>
        </p:txBody>
      </p:sp>
    </p:spTree>
    <p:extLst>
      <p:ext uri="{BB962C8B-B14F-4D97-AF65-F5344CB8AC3E}">
        <p14:creationId xmlns:p14="http://schemas.microsoft.com/office/powerpoint/2010/main" val="510770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17.3</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amygdala coordinates components of emotion 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amygdala has neuronal connections with all of these brain areas that produce individual pieces of emotional expression. </a:t>
            </a:r>
            <a:r>
              <a:rPr lang="en-US" sz="1200" kern="1200" dirty="0" err="1">
                <a:solidFill>
                  <a:schemeClr val="tx1"/>
                </a:solidFill>
                <a:effectLst/>
                <a:latin typeface="+mn-lt"/>
                <a:ea typeface="+mn-ea"/>
                <a:cs typeface="+mn-cs"/>
              </a:rPr>
              <a:t>ACh</a:t>
            </a:r>
            <a:r>
              <a:rPr lang="en-US" sz="1200" kern="1200" dirty="0">
                <a:solidFill>
                  <a:schemeClr val="tx1"/>
                </a:solidFill>
                <a:effectLst/>
                <a:latin typeface="+mn-lt"/>
                <a:ea typeface="+mn-ea"/>
                <a:cs typeface="+mn-cs"/>
              </a:rPr>
              <a:t>, acetylcholine; ACTH, adrenocorticotropic hormone; DA, dopamine; LC, locus coeruleus; NE, norepinephrine; PPN, pedunculopontine nucleus; VTA, ventral tegmental area.</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13</a:t>
            </a:fld>
            <a:endParaRPr lang="en-US"/>
          </a:p>
        </p:txBody>
      </p:sp>
    </p:spTree>
    <p:extLst>
      <p:ext uri="{BB962C8B-B14F-4D97-AF65-F5344CB8AC3E}">
        <p14:creationId xmlns:p14="http://schemas.microsoft.com/office/powerpoint/2010/main" val="3194818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dirty="0"/>
              <a:t>CER: association of an environmental cue with an aversive stimulus.</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14</a:t>
            </a:fld>
            <a:endParaRPr lang="en-US"/>
          </a:p>
        </p:txBody>
      </p:sp>
    </p:spTree>
    <p:extLst>
      <p:ext uri="{BB962C8B-B14F-4D97-AF65-F5344CB8AC3E}">
        <p14:creationId xmlns:p14="http://schemas.microsoft.com/office/powerpoint/2010/main" val="1400863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15</a:t>
            </a:fld>
            <a:endParaRPr lang="en-US"/>
          </a:p>
        </p:txBody>
      </p:sp>
    </p:spTree>
    <p:extLst>
      <p:ext uri="{BB962C8B-B14F-4D97-AF65-F5344CB8AC3E}">
        <p14:creationId xmlns:p14="http://schemas.microsoft.com/office/powerpoint/2010/main" val="2353450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17.4</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Dual role for CRF 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Corticotropin-releasing factor (CRF) is released by the hypothalamus to act on the pituitary gland to control the release of glucocorticoids from the adrenal cortex (HPA axis) in response to stress (dashed arrow pathway). CRF also acts as a neurotransmitter in multiple brain areas associated with anxiety (solid arrow pathway) and is released following threatening stimuli. Intracerebral CRF causes behavioral signs of anxiety as well as altered autonomic nervous system function (open arrow pathways). ACTH, adrenocorticotropic hormone.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16</a:t>
            </a:fld>
            <a:endParaRPr lang="en-US"/>
          </a:p>
        </p:txBody>
      </p:sp>
    </p:spTree>
    <p:extLst>
      <p:ext uri="{BB962C8B-B14F-4D97-AF65-F5344CB8AC3E}">
        <p14:creationId xmlns:p14="http://schemas.microsoft.com/office/powerpoint/2010/main" val="3006347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17</a:t>
            </a:fld>
            <a:endParaRPr lang="en-US"/>
          </a:p>
        </p:txBody>
      </p:sp>
    </p:spTree>
    <p:extLst>
      <p:ext uri="{BB962C8B-B14F-4D97-AF65-F5344CB8AC3E}">
        <p14:creationId xmlns:p14="http://schemas.microsoft.com/office/powerpoint/2010/main" val="10347725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18</a:t>
            </a:fld>
            <a:endParaRPr lang="en-US"/>
          </a:p>
        </p:txBody>
      </p:sp>
    </p:spTree>
    <p:extLst>
      <p:ext uri="{BB962C8B-B14F-4D97-AF65-F5344CB8AC3E}">
        <p14:creationId xmlns:p14="http://schemas.microsoft.com/office/powerpoint/2010/main" val="24791111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19</a:t>
            </a:fld>
            <a:endParaRPr lang="en-US"/>
          </a:p>
        </p:txBody>
      </p:sp>
    </p:spTree>
    <p:extLst>
      <p:ext uri="{BB962C8B-B14F-4D97-AF65-F5344CB8AC3E}">
        <p14:creationId xmlns:p14="http://schemas.microsoft.com/office/powerpoint/2010/main" val="36739783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Tricyclic antidepressant: desipramine</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20</a:t>
            </a:fld>
            <a:endParaRPr lang="en-US"/>
          </a:p>
        </p:txBody>
      </p:sp>
    </p:spTree>
    <p:extLst>
      <p:ext uri="{BB962C8B-B14F-4D97-AF65-F5344CB8AC3E}">
        <p14:creationId xmlns:p14="http://schemas.microsoft.com/office/powerpoint/2010/main" val="29132893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17.5</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Drug effects on locus coeruleus (LC) cell firing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Some of the anxiolytic effects of the benzodiazepines (BDZs), tricyclic antidepressants (TCAs), monoamine oxidase inhibitors (MAOIs), and selective serotonin reuptake inhibitors (SSRIs) may be explained by their inhibitory effect on LC neurons. On the other hand, corticotropin-releasing factor (CRF) increases anxiety and has excitatory effects on the LC. CRF antagonists may be effective in reducing anxiety. 5-HT, serotonin.</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21</a:t>
            </a:fld>
            <a:endParaRPr lang="en-US"/>
          </a:p>
        </p:txBody>
      </p:sp>
    </p:spTree>
    <p:extLst>
      <p:ext uri="{BB962C8B-B14F-4D97-AF65-F5344CB8AC3E}">
        <p14:creationId xmlns:p14="http://schemas.microsoft.com/office/powerpoint/2010/main" val="27602757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22</a:t>
            </a:fld>
            <a:endParaRPr lang="en-US"/>
          </a:p>
        </p:txBody>
      </p:sp>
    </p:spTree>
    <p:extLst>
      <p:ext uri="{BB962C8B-B14F-4D97-AF65-F5344CB8AC3E}">
        <p14:creationId xmlns:p14="http://schemas.microsoft.com/office/powerpoint/2010/main" val="2402767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23</a:t>
            </a:fld>
            <a:endParaRPr lang="en-US"/>
          </a:p>
        </p:txBody>
      </p:sp>
    </p:spTree>
    <p:extLst>
      <p:ext uri="{BB962C8B-B14F-4D97-AF65-F5344CB8AC3E}">
        <p14:creationId xmlns:p14="http://schemas.microsoft.com/office/powerpoint/2010/main" val="41786981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17.7</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Modulation of GABA-induced chloride (Cl</a:t>
            </a:r>
            <a:r>
              <a:rPr lang="en-US" sz="1200" b="1" kern="1200" baseline="300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 flux 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anxiolytic BDZs are agonists (blue bars) and enhance the effects of GABA. The competitive antagonist flumazenil binds to the BDZ receptor but has no action of its own. However, it prevents either the BDZs or the inverse agonists from acting. The anxiety-producing </a:t>
            </a:r>
            <a:r>
              <a:rPr lang="en-US" sz="1200" u="none" strike="noStrike" kern="1200" dirty="0">
                <a:solidFill>
                  <a:schemeClr val="tx1"/>
                </a:solidFill>
                <a:effectLst/>
                <a:latin typeface="+mn-lt"/>
                <a:ea typeface="+mn-ea"/>
                <a:cs typeface="+mn-cs"/>
              </a:rPr>
              <a:t>β</a:t>
            </a:r>
            <a:r>
              <a:rPr lang="en-US" sz="1200" kern="1200" dirty="0">
                <a:solidFill>
                  <a:schemeClr val="tx1"/>
                </a:solidFill>
                <a:effectLst/>
                <a:latin typeface="+mn-lt"/>
                <a:ea typeface="+mn-ea"/>
                <a:cs typeface="+mn-cs"/>
              </a:rPr>
              <a:t>-carbolines (red bars) are inverse agonists at the BDZ receptor. They not only prevent the effect of GABA on Cl</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flux but also produce the opposite effect, which leads to cell excitation. </a:t>
            </a:r>
            <a:r>
              <a:rPr lang="en-US" sz="1200" u="none" strike="noStrike" kern="1200" dirty="0">
                <a:solidFill>
                  <a:schemeClr val="tx1"/>
                </a:solidFill>
                <a:effectLst/>
                <a:latin typeface="+mn-lt"/>
                <a:ea typeface="+mn-ea"/>
                <a:cs typeface="+mn-cs"/>
              </a:rPr>
              <a:t>β</a:t>
            </a:r>
            <a:r>
              <a:rPr lang="en-US" sz="1200" kern="1200" dirty="0">
                <a:solidFill>
                  <a:schemeClr val="tx1"/>
                </a:solidFill>
                <a:effectLst/>
                <a:latin typeface="+mn-lt"/>
                <a:ea typeface="+mn-ea"/>
                <a:cs typeface="+mn-cs"/>
              </a:rPr>
              <a:t>-CCE, </a:t>
            </a:r>
            <a:r>
              <a:rPr lang="en-US" sz="1200" u="none" strike="noStrike" kern="1200" dirty="0">
                <a:solidFill>
                  <a:schemeClr val="tx1"/>
                </a:solidFill>
                <a:effectLst/>
                <a:latin typeface="+mn-lt"/>
                <a:ea typeface="+mn-ea"/>
                <a:cs typeface="+mn-cs"/>
              </a:rPr>
              <a:t>β</a:t>
            </a:r>
            <a:r>
              <a:rPr lang="en-US" sz="1200" kern="1200" dirty="0">
                <a:solidFill>
                  <a:schemeClr val="tx1"/>
                </a:solidFill>
                <a:effectLst/>
                <a:latin typeface="+mn-lt"/>
                <a:ea typeface="+mn-ea"/>
                <a:cs typeface="+mn-cs"/>
              </a:rPr>
              <a:t>-carboline-3-carboxylic acid ethyl ester; </a:t>
            </a:r>
            <a:r>
              <a:rPr lang="en-US" sz="1200" u="none" strike="noStrike" kern="1200" dirty="0">
                <a:solidFill>
                  <a:schemeClr val="tx1"/>
                </a:solidFill>
                <a:effectLst/>
                <a:latin typeface="+mn-lt"/>
                <a:ea typeface="+mn-ea"/>
                <a:cs typeface="+mn-cs"/>
              </a:rPr>
              <a:t>β</a:t>
            </a:r>
            <a:r>
              <a:rPr lang="en-US" sz="1200" kern="1200" dirty="0">
                <a:solidFill>
                  <a:schemeClr val="tx1"/>
                </a:solidFill>
                <a:effectLst/>
                <a:latin typeface="+mn-lt"/>
                <a:ea typeface="+mn-ea"/>
                <a:cs typeface="+mn-cs"/>
              </a:rPr>
              <a:t>-CCM, methyl </a:t>
            </a:r>
            <a:r>
              <a:rPr lang="en-US" sz="1200" u="none" strike="noStrike" kern="1200" dirty="0">
                <a:solidFill>
                  <a:schemeClr val="tx1"/>
                </a:solidFill>
                <a:effectLst/>
                <a:latin typeface="+mn-lt"/>
                <a:ea typeface="+mn-ea"/>
                <a:cs typeface="+mn-cs"/>
              </a:rPr>
              <a:t>β</a:t>
            </a:r>
            <a:r>
              <a:rPr lang="en-US" sz="1200" kern="1200" dirty="0">
                <a:solidFill>
                  <a:schemeClr val="tx1"/>
                </a:solidFill>
                <a:effectLst/>
                <a:latin typeface="+mn-lt"/>
                <a:ea typeface="+mn-ea"/>
                <a:cs typeface="+mn-cs"/>
              </a:rPr>
              <a:t>-carboline-3-carboxylate; DMCM, methyl 6,7-dimethoxy-4-ethyl-</a:t>
            </a:r>
            <a:r>
              <a:rPr lang="en-US" sz="1200" u="none" strike="noStrike" kern="1200" dirty="0">
                <a:solidFill>
                  <a:schemeClr val="tx1"/>
                </a:solidFill>
                <a:effectLst/>
                <a:latin typeface="+mn-lt"/>
                <a:ea typeface="+mn-ea"/>
                <a:cs typeface="+mn-cs"/>
              </a:rPr>
              <a:t>β</a:t>
            </a:r>
            <a:r>
              <a:rPr lang="en-US" sz="1200" kern="1200" dirty="0">
                <a:solidFill>
                  <a:schemeClr val="tx1"/>
                </a:solidFill>
                <a:effectLst/>
                <a:latin typeface="+mn-lt"/>
                <a:ea typeface="+mn-ea"/>
                <a:cs typeface="+mn-cs"/>
              </a:rPr>
              <a:t>-carboline-3-carboxylate. (After J. G. Richards et al. 1991. In </a:t>
            </a:r>
            <a:r>
              <a:rPr lang="en-US" sz="1200" i="1" kern="1200" dirty="0">
                <a:solidFill>
                  <a:schemeClr val="tx1"/>
                </a:solidFill>
                <a:effectLst/>
                <a:latin typeface="+mn-lt"/>
                <a:ea typeface="+mn-ea"/>
                <a:cs typeface="+mn-cs"/>
              </a:rPr>
              <a:t>5-HT</a:t>
            </a:r>
            <a:r>
              <a:rPr lang="en-US" sz="1200" i="1" kern="1200" baseline="-25000" dirty="0">
                <a:solidFill>
                  <a:schemeClr val="tx1"/>
                </a:solidFill>
                <a:effectLst/>
                <a:latin typeface="+mn-lt"/>
                <a:ea typeface="+mn-ea"/>
                <a:cs typeface="+mn-cs"/>
              </a:rPr>
              <a:t>1A</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Agonists, 5-HT3 Antagonists and Benzodiazepines: Their Comparative Behavioral Pharmacology</a:t>
            </a:r>
            <a:r>
              <a:rPr lang="en-US" sz="1200" kern="1200" dirty="0">
                <a:solidFill>
                  <a:schemeClr val="tx1"/>
                </a:solidFill>
                <a:effectLst/>
                <a:latin typeface="+mn-lt"/>
                <a:ea typeface="+mn-ea"/>
                <a:cs typeface="+mn-cs"/>
              </a:rPr>
              <a:t>, R. J. Rogers and S. J. Cooper [Eds.], pp. 1–30. Wiley: New York.)</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24</a:t>
            </a:fld>
            <a:endParaRPr lang="en-US"/>
          </a:p>
        </p:txBody>
      </p:sp>
    </p:spTree>
    <p:extLst>
      <p:ext uri="{BB962C8B-B14F-4D97-AF65-F5344CB8AC3E}">
        <p14:creationId xmlns:p14="http://schemas.microsoft.com/office/powerpoint/2010/main" val="33528364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17.8</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PET scans of a control individual (left) and a patient with panic disorder (right) 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scans made in the horizontal plane with the frontal cortex at the top show decreased density of BDZ binding sites in the patient with panic disorder, particularly in the frontal cortex (Fr), anterior cingulate (A </a:t>
            </a:r>
            <a:r>
              <a:rPr lang="en-US" sz="1200" kern="1200" dirty="0" err="1">
                <a:solidFill>
                  <a:schemeClr val="tx1"/>
                </a:solidFill>
                <a:effectLst/>
                <a:latin typeface="+mn-lt"/>
                <a:ea typeface="+mn-ea"/>
                <a:cs typeface="+mn-cs"/>
              </a:rPr>
              <a:t>Cin</a:t>
            </a:r>
            <a:r>
              <a:rPr lang="en-US" sz="1200" kern="1200" dirty="0">
                <a:solidFill>
                  <a:schemeClr val="tx1"/>
                </a:solidFill>
                <a:effectLst/>
                <a:latin typeface="+mn-lt"/>
                <a:ea typeface="+mn-ea"/>
                <a:cs typeface="+mn-cs"/>
              </a:rPr>
              <a:t>), and insula (Ins), areas important in anxiety modulation. Other brain areas also show reduced numbers of BDZ binding sites. Warm colors indicate the most receptors; cool colors indicate fewer. Receptors were labeled with [</a:t>
            </a:r>
            <a:r>
              <a:rPr lang="en-US" sz="1200" kern="1200" baseline="30000" dirty="0">
                <a:solidFill>
                  <a:schemeClr val="tx1"/>
                </a:solidFill>
                <a:effectLst/>
                <a:latin typeface="+mn-lt"/>
                <a:ea typeface="+mn-ea"/>
                <a:cs typeface="+mn-cs"/>
              </a:rPr>
              <a:t>11</a:t>
            </a:r>
            <a:r>
              <a:rPr lang="en-US" sz="1200" kern="1200" dirty="0">
                <a:solidFill>
                  <a:schemeClr val="tx1"/>
                </a:solidFill>
                <a:effectLst/>
                <a:latin typeface="+mn-lt"/>
                <a:ea typeface="+mn-ea"/>
                <a:cs typeface="+mn-cs"/>
              </a:rPr>
              <a:t>C]flumazenil. CN, caudate nucleus; OC, occipital cortex; Th, thalamus; TL, temporal lobe.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25</a:t>
            </a:fld>
            <a:endParaRPr lang="en-US"/>
          </a:p>
        </p:txBody>
      </p:sp>
    </p:spTree>
    <p:extLst>
      <p:ext uri="{BB962C8B-B14F-4D97-AF65-F5344CB8AC3E}">
        <p14:creationId xmlns:p14="http://schemas.microsoft.com/office/powerpoint/2010/main" val="13030196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26</a:t>
            </a:fld>
            <a:endParaRPr lang="en-US"/>
          </a:p>
        </p:txBody>
      </p:sp>
    </p:spTree>
    <p:extLst>
      <p:ext uri="{BB962C8B-B14F-4D97-AF65-F5344CB8AC3E}">
        <p14:creationId xmlns:p14="http://schemas.microsoft.com/office/powerpoint/2010/main" val="41209264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27</a:t>
            </a:fld>
            <a:endParaRPr lang="en-US"/>
          </a:p>
        </p:txBody>
      </p:sp>
    </p:spTree>
    <p:extLst>
      <p:ext uri="{BB962C8B-B14F-4D97-AF65-F5344CB8AC3E}">
        <p14:creationId xmlns:p14="http://schemas.microsoft.com/office/powerpoint/2010/main" val="3808779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u="none" dirty="0"/>
              <a:t>SSRIs: selective serotonin reuptake inhibitors</a:t>
            </a:r>
          </a:p>
        </p:txBody>
      </p:sp>
      <p:sp>
        <p:nvSpPr>
          <p:cNvPr id="4" name="Slide Number Placeholder 3"/>
          <p:cNvSpPr>
            <a:spLocks noGrp="1"/>
          </p:cNvSpPr>
          <p:nvPr>
            <p:ph type="sldNum" sz="quarter" idx="5"/>
          </p:nvPr>
        </p:nvSpPr>
        <p:spPr/>
        <p:txBody>
          <a:bodyPr/>
          <a:lstStyle/>
          <a:p>
            <a:fld id="{556C0744-2FEF-4441-821D-70180A370937}" type="slidenum">
              <a:rPr lang="en-US" smtClean="0"/>
              <a:t>28</a:t>
            </a:fld>
            <a:endParaRPr lang="en-US"/>
          </a:p>
        </p:txBody>
      </p:sp>
    </p:spTree>
    <p:extLst>
      <p:ext uri="{BB962C8B-B14F-4D97-AF65-F5344CB8AC3E}">
        <p14:creationId xmlns:p14="http://schemas.microsoft.com/office/powerpoint/2010/main" val="36469385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29</a:t>
            </a:fld>
            <a:endParaRPr lang="en-US"/>
          </a:p>
        </p:txBody>
      </p:sp>
    </p:spTree>
    <p:extLst>
      <p:ext uri="{BB962C8B-B14F-4D97-AF65-F5344CB8AC3E}">
        <p14:creationId xmlns:p14="http://schemas.microsoft.com/office/powerpoint/2010/main" val="33069707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Trait anxiety: the enduring characteristic to experience anxiety in a variety of situations, a personality trait</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30</a:t>
            </a:fld>
            <a:endParaRPr lang="en-US"/>
          </a:p>
        </p:txBody>
      </p:sp>
    </p:spTree>
    <p:extLst>
      <p:ext uri="{BB962C8B-B14F-4D97-AF65-F5344CB8AC3E}">
        <p14:creationId xmlns:p14="http://schemas.microsoft.com/office/powerpoint/2010/main" val="32470358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17.10</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Stress pathway dysregulation following early prenatal stress 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Adult male mice exposed to early prenatal stress (E-PS) during the first 7 days of gestation showed elevated blood levels of corticosterone (the principal glucocorticoid in rodents) after 15 minutes of restraint stress compared with controls, indicating an increased HPA axis function. (B,C) In situ hybridization showed significantly increased CRF expression in the central nucleus of the amygdala in adult male E-PS mice compared with controls, indicating an enhancement of stress neurocircuitry. (D,E) In situ hybridization showed glucocorticoid receptors were significantly less expressed in the CA3 and dentate gyrus (DG) regions of the hippocampus in E-PS adult male mice compared with controls, indicating a reduction in HPA axis negative feedback. Glucocorticoid receptor expression was less, but not significantly, in the CA1 region, and there was no difference in CA2. (From B. R. Mueller and T. L. Bale. 2008. </a:t>
            </a:r>
            <a:r>
              <a:rPr lang="en-US" sz="1200" i="1" kern="1200" dirty="0">
                <a:solidFill>
                  <a:schemeClr val="tx1"/>
                </a:solidFill>
                <a:effectLst/>
                <a:latin typeface="+mn-lt"/>
                <a:ea typeface="+mn-ea"/>
                <a:cs typeface="+mn-cs"/>
              </a:rPr>
              <a:t>J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28: 9055–9065. © 2008 Society for Neuroscience.)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31</a:t>
            </a:fld>
            <a:endParaRPr lang="en-US"/>
          </a:p>
        </p:txBody>
      </p:sp>
    </p:spTree>
    <p:extLst>
      <p:ext uri="{BB962C8B-B14F-4D97-AF65-F5344CB8AC3E}">
        <p14:creationId xmlns:p14="http://schemas.microsoft.com/office/powerpoint/2010/main" val="35731344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32</a:t>
            </a:fld>
            <a:endParaRPr lang="en-US"/>
          </a:p>
        </p:txBody>
      </p:sp>
    </p:spTree>
    <p:extLst>
      <p:ext uri="{BB962C8B-B14F-4D97-AF65-F5344CB8AC3E}">
        <p14:creationId xmlns:p14="http://schemas.microsoft.com/office/powerpoint/2010/main" val="5324481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17.11</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Effects of 10 days of chronic immobilization stress on dendritic length and complexity in the hippocampus and basolateral amygdala 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Chronic immobilization stress (CIS) rats compared with controls showed decreased length (top) and number of branch points (bottom) of hippocampal apical dendrites. (B) Drawings of neurons processed with Golgi staining for computerized image analysis show clearly the shrinkage and reduced dendritic complexity in hippocampal neurons of stressed rats compared with controls.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 Similar drawings of neurons from the basolateral amygdala show the increased length and branching in animals exposed to CIS compared with controls. (D) Plots of median values and ranges for the length (top) and number of branch points (bottom) of basolateral amygdala neurons from control and CIS rats. (After A. Vyas et al. 2002. </a:t>
            </a:r>
            <a:r>
              <a:rPr lang="en-US" sz="1200" i="1" kern="1200" dirty="0">
                <a:solidFill>
                  <a:schemeClr val="tx1"/>
                </a:solidFill>
                <a:effectLst/>
                <a:latin typeface="+mn-lt"/>
                <a:ea typeface="+mn-ea"/>
                <a:cs typeface="+mn-cs"/>
              </a:rPr>
              <a:t>J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22: 6810–6818.)</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33</a:t>
            </a:fld>
            <a:endParaRPr lang="en-US"/>
          </a:p>
        </p:txBody>
      </p:sp>
    </p:spTree>
    <p:extLst>
      <p:ext uri="{BB962C8B-B14F-4D97-AF65-F5344CB8AC3E}">
        <p14:creationId xmlns:p14="http://schemas.microsoft.com/office/powerpoint/2010/main" val="27775739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34</a:t>
            </a:fld>
            <a:endParaRPr lang="en-US"/>
          </a:p>
        </p:txBody>
      </p:sp>
    </p:spTree>
    <p:extLst>
      <p:ext uri="{BB962C8B-B14F-4D97-AF65-F5344CB8AC3E}">
        <p14:creationId xmlns:p14="http://schemas.microsoft.com/office/powerpoint/2010/main" val="42099030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35</a:t>
            </a:fld>
            <a:endParaRPr lang="en-US"/>
          </a:p>
        </p:txBody>
      </p:sp>
    </p:spTree>
    <p:extLst>
      <p:ext uri="{BB962C8B-B14F-4D97-AF65-F5344CB8AC3E}">
        <p14:creationId xmlns:p14="http://schemas.microsoft.com/office/powerpoint/2010/main" val="18938649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Instructor Notes:</a:t>
            </a:r>
            <a:endParaRPr lang="en-US" u="none" dirty="0"/>
          </a:p>
          <a:p>
            <a:r>
              <a:rPr lang="en-US" dirty="0"/>
              <a:t>Correct answer: c</a:t>
            </a:r>
          </a:p>
        </p:txBody>
      </p:sp>
      <p:sp>
        <p:nvSpPr>
          <p:cNvPr id="4" name="Slide Number Placeholder 3"/>
          <p:cNvSpPr>
            <a:spLocks noGrp="1"/>
          </p:cNvSpPr>
          <p:nvPr>
            <p:ph type="sldNum" sz="quarter" idx="5"/>
          </p:nvPr>
        </p:nvSpPr>
        <p:spPr/>
        <p:txBody>
          <a:bodyPr/>
          <a:lstStyle/>
          <a:p>
            <a:fld id="{556C0744-2FEF-4441-821D-70180A370937}" type="slidenum">
              <a:rPr lang="en-US" smtClean="0"/>
              <a:t>36</a:t>
            </a:fld>
            <a:endParaRPr lang="en-US"/>
          </a:p>
        </p:txBody>
      </p:sp>
    </p:spTree>
    <p:extLst>
      <p:ext uri="{BB962C8B-B14F-4D97-AF65-F5344CB8AC3E}">
        <p14:creationId xmlns:p14="http://schemas.microsoft.com/office/powerpoint/2010/main" val="25842292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38</a:t>
            </a:fld>
            <a:endParaRPr lang="en-US"/>
          </a:p>
        </p:txBody>
      </p:sp>
    </p:spTree>
    <p:extLst>
      <p:ext uri="{BB962C8B-B14F-4D97-AF65-F5344CB8AC3E}">
        <p14:creationId xmlns:p14="http://schemas.microsoft.com/office/powerpoint/2010/main" val="13281162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39</a:t>
            </a:fld>
            <a:endParaRPr lang="en-US"/>
          </a:p>
        </p:txBody>
      </p:sp>
    </p:spTree>
    <p:extLst>
      <p:ext uri="{BB962C8B-B14F-4D97-AF65-F5344CB8AC3E}">
        <p14:creationId xmlns:p14="http://schemas.microsoft.com/office/powerpoint/2010/main" val="8406777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40</a:t>
            </a:fld>
            <a:endParaRPr lang="en-US"/>
          </a:p>
        </p:txBody>
      </p:sp>
    </p:spTree>
    <p:extLst>
      <p:ext uri="{BB962C8B-B14F-4D97-AF65-F5344CB8AC3E}">
        <p14:creationId xmlns:p14="http://schemas.microsoft.com/office/powerpoint/2010/main" val="39350367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41</a:t>
            </a:fld>
            <a:endParaRPr lang="en-US"/>
          </a:p>
        </p:txBody>
      </p:sp>
    </p:spTree>
    <p:extLst>
      <p:ext uri="{BB962C8B-B14F-4D97-AF65-F5344CB8AC3E}">
        <p14:creationId xmlns:p14="http://schemas.microsoft.com/office/powerpoint/2010/main" val="34608125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42</a:t>
            </a:fld>
            <a:endParaRPr lang="en-US"/>
          </a:p>
        </p:txBody>
      </p:sp>
    </p:spTree>
    <p:extLst>
      <p:ext uri="{BB962C8B-B14F-4D97-AF65-F5344CB8AC3E}">
        <p14:creationId xmlns:p14="http://schemas.microsoft.com/office/powerpoint/2010/main" val="4514237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43</a:t>
            </a:fld>
            <a:endParaRPr lang="en-US"/>
          </a:p>
        </p:txBody>
      </p:sp>
    </p:spTree>
    <p:extLst>
      <p:ext uri="{BB962C8B-B14F-4D97-AF65-F5344CB8AC3E}">
        <p14:creationId xmlns:p14="http://schemas.microsoft.com/office/powerpoint/2010/main" val="35407817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44</a:t>
            </a:fld>
            <a:endParaRPr lang="en-US"/>
          </a:p>
        </p:txBody>
      </p:sp>
    </p:spTree>
    <p:extLst>
      <p:ext uri="{BB962C8B-B14F-4D97-AF65-F5344CB8AC3E}">
        <p14:creationId xmlns:p14="http://schemas.microsoft.com/office/powerpoint/2010/main" val="20675369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45</a:t>
            </a:fld>
            <a:endParaRPr lang="en-US"/>
          </a:p>
        </p:txBody>
      </p:sp>
    </p:spTree>
    <p:extLst>
      <p:ext uri="{BB962C8B-B14F-4D97-AF65-F5344CB8AC3E}">
        <p14:creationId xmlns:p14="http://schemas.microsoft.com/office/powerpoint/2010/main" val="539897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46</a:t>
            </a:fld>
            <a:endParaRPr lang="en-US"/>
          </a:p>
        </p:txBody>
      </p:sp>
    </p:spTree>
    <p:extLst>
      <p:ext uri="{BB962C8B-B14F-4D97-AF65-F5344CB8AC3E}">
        <p14:creationId xmlns:p14="http://schemas.microsoft.com/office/powerpoint/2010/main" val="20009087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47</a:t>
            </a:fld>
            <a:endParaRPr lang="en-US"/>
          </a:p>
        </p:txBody>
      </p:sp>
    </p:spTree>
    <p:extLst>
      <p:ext uri="{BB962C8B-B14F-4D97-AF65-F5344CB8AC3E}">
        <p14:creationId xmlns:p14="http://schemas.microsoft.com/office/powerpoint/2010/main" val="26979255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49</a:t>
            </a:fld>
            <a:endParaRPr lang="en-US"/>
          </a:p>
        </p:txBody>
      </p:sp>
    </p:spTree>
    <p:extLst>
      <p:ext uri="{BB962C8B-B14F-4D97-AF65-F5344CB8AC3E}">
        <p14:creationId xmlns:p14="http://schemas.microsoft.com/office/powerpoint/2010/main" val="10308948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17.14</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Effects of GABA and diazepam on membrane potentials and chloride (Cl</a:t>
            </a:r>
            <a:r>
              <a:rPr lang="en-US" sz="1200" b="1" kern="1200" baseline="300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 flux 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Electrical recording of the hyperpolarizing effect of GABA and the enhanced hyperpolarization caused by the addition of diazepam to a mouse spinal cord neuron. Diazepam alone would produce little or no hyperpolarization. (B) GABA alone increases the conductance of Cl</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through its channel. Adding a BDZ enhances the amount of Cl</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movement into the cell. Blocking the BDZ binding site prevents the drug’s enhancement of GABA but not the effect of GABA itself. A GABA antagonist prevents GABA from opening the Cl</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channel, and the presence of BDZ has no effect. (After E. R. Kandel. 2000. In </a:t>
            </a:r>
            <a:r>
              <a:rPr lang="en-US" sz="1200" i="1" kern="1200" dirty="0">
                <a:solidFill>
                  <a:schemeClr val="tx1"/>
                </a:solidFill>
                <a:effectLst/>
                <a:latin typeface="+mn-lt"/>
                <a:ea typeface="+mn-ea"/>
                <a:cs typeface="+mn-cs"/>
              </a:rPr>
              <a:t>Principles of Neural Science</a:t>
            </a:r>
            <a:r>
              <a:rPr lang="en-US" sz="1200" kern="1200" dirty="0">
                <a:solidFill>
                  <a:schemeClr val="tx1"/>
                </a:solidFill>
                <a:effectLst/>
                <a:latin typeface="+mn-lt"/>
                <a:ea typeface="+mn-ea"/>
                <a:cs typeface="+mn-cs"/>
              </a:rPr>
              <a:t> (4th ed.), E. R. Kandel, et al. [Eds.], pp. 1209–1226. McGraw-Hill: New York. © McGraw-Hill)</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50</a:t>
            </a:fld>
            <a:endParaRPr lang="en-US"/>
          </a:p>
        </p:txBody>
      </p:sp>
    </p:spTree>
    <p:extLst>
      <p:ext uri="{BB962C8B-B14F-4D97-AF65-F5344CB8AC3E}">
        <p14:creationId xmlns:p14="http://schemas.microsoft.com/office/powerpoint/2010/main" val="6369381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51</a:t>
            </a:fld>
            <a:endParaRPr lang="en-US"/>
          </a:p>
        </p:txBody>
      </p:sp>
    </p:spTree>
    <p:extLst>
      <p:ext uri="{BB962C8B-B14F-4D97-AF65-F5344CB8AC3E}">
        <p14:creationId xmlns:p14="http://schemas.microsoft.com/office/powerpoint/2010/main" val="17617812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17.16</a:t>
            </a:r>
            <a:r>
              <a:rPr lang="en-US" sz="1200" b="1" kern="1200" dirty="0">
                <a:solidFill>
                  <a:schemeClr val="tx1"/>
                </a:solidFill>
                <a:effectLst/>
                <a:latin typeface="+mn-lt"/>
                <a:ea typeface="+mn-ea"/>
                <a:cs typeface="+mn-cs"/>
              </a:rPr>
              <a:t>  Margin of safety 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Dose–response curves for the barbiturate-induced desired effect (mood change or sedation) and lethal respiratory depression. The top panel shows that with early drug use (nontolerant), the individual experiences mood effects without significant respiratory depression. However, as tolerance develops with repeated use (bottom panel), larger amounts of drug are needed to experience the sedation (the curve shifts to the right), but no change in the dose causing depression of respiration occurs. The margin of safety shrinks dramatically in the tolerant individual.</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52</a:t>
            </a:fld>
            <a:endParaRPr lang="en-US"/>
          </a:p>
        </p:txBody>
      </p:sp>
    </p:spTree>
    <p:extLst>
      <p:ext uri="{BB962C8B-B14F-4D97-AF65-F5344CB8AC3E}">
        <p14:creationId xmlns:p14="http://schemas.microsoft.com/office/powerpoint/2010/main" val="26561152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u="none" dirty="0"/>
              <a:t>Some BDZs: </a:t>
            </a:r>
            <a:r>
              <a:rPr lang="en-US" sz="1800" b="0" i="0" u="none" strike="noStrike" baseline="0" dirty="0">
                <a:latin typeface="PalatinoLTStd-Roman"/>
              </a:rPr>
              <a:t>chlordiazepoxide (Librium), diazepam (Valium), oxazepam (</a:t>
            </a:r>
            <a:r>
              <a:rPr lang="en-US" sz="1800" b="0" i="0" u="none" strike="noStrike" baseline="0" dirty="0" err="1">
                <a:latin typeface="PalatinoLTStd-Roman"/>
              </a:rPr>
              <a:t>Serax</a:t>
            </a:r>
            <a:r>
              <a:rPr lang="en-US" sz="1800" b="0" i="0" u="none" strike="noStrike" baseline="0" dirty="0">
                <a:latin typeface="PalatinoLTStd-Roman"/>
              </a:rPr>
              <a:t>), flurazepam (</a:t>
            </a:r>
            <a:r>
              <a:rPr lang="en-US" sz="1800" b="0" i="0" u="none" strike="noStrike" baseline="0" dirty="0" err="1">
                <a:latin typeface="PalatinoLTStd-Roman"/>
              </a:rPr>
              <a:t>Dalmane</a:t>
            </a:r>
            <a:r>
              <a:rPr lang="en-US" sz="1800" b="0" i="0" u="none" strike="noStrike" baseline="0" dirty="0">
                <a:latin typeface="PalatinoLTStd-Roman"/>
              </a:rPr>
              <a:t>), </a:t>
            </a:r>
            <a:r>
              <a:rPr lang="pt-BR" sz="1800" b="0" i="0" u="none" strike="noStrike" baseline="0" dirty="0">
                <a:latin typeface="PalatinoLTStd-Roman"/>
              </a:rPr>
              <a:t>temazepam (Restoril), lorazepam (Ativan), </a:t>
            </a:r>
            <a:r>
              <a:rPr lang="en-US" sz="1800" b="0" i="0" u="none" strike="noStrike" baseline="0" dirty="0">
                <a:latin typeface="PalatinoLTStd-Roman"/>
              </a:rPr>
              <a:t>midazolam (Versed)</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53</a:t>
            </a:fld>
            <a:endParaRPr lang="en-US"/>
          </a:p>
        </p:txBody>
      </p:sp>
    </p:spTree>
    <p:extLst>
      <p:ext uri="{BB962C8B-B14F-4D97-AF65-F5344CB8AC3E}">
        <p14:creationId xmlns:p14="http://schemas.microsoft.com/office/powerpoint/2010/main" val="11217286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17.18</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BDZ metabolism 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long-acting BDZs (lavender) undergo several metabolic changes (phase I) that create active metabolites (A) before finally being conjugated (phase II) with glucuronide to form water-soluble inactive metabolites (green) that are excreted. These drugs remain in the body for long periods of time. The short-acting BDZs (yellow) are often metabolized in a single step by conjugation with glucuronide to an inactive metabolite and are cleared quickly from the body. UDP, uridine diphosphate.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54</a:t>
            </a:fld>
            <a:endParaRPr lang="en-US"/>
          </a:p>
        </p:txBody>
      </p:sp>
    </p:spTree>
    <p:extLst>
      <p:ext uri="{BB962C8B-B14F-4D97-AF65-F5344CB8AC3E}">
        <p14:creationId xmlns:p14="http://schemas.microsoft.com/office/powerpoint/2010/main" val="23798676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55</a:t>
            </a:fld>
            <a:endParaRPr lang="en-US"/>
          </a:p>
        </p:txBody>
      </p:sp>
    </p:spTree>
    <p:extLst>
      <p:ext uri="{BB962C8B-B14F-4D97-AF65-F5344CB8AC3E}">
        <p14:creationId xmlns:p14="http://schemas.microsoft.com/office/powerpoint/2010/main" val="160292512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56</a:t>
            </a:fld>
            <a:endParaRPr lang="en-US"/>
          </a:p>
        </p:txBody>
      </p:sp>
    </p:spTree>
    <p:extLst>
      <p:ext uri="{BB962C8B-B14F-4D97-AF65-F5344CB8AC3E}">
        <p14:creationId xmlns:p14="http://schemas.microsoft.com/office/powerpoint/2010/main" val="34798301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57</a:t>
            </a:fld>
            <a:endParaRPr lang="en-US"/>
          </a:p>
        </p:txBody>
      </p:sp>
    </p:spTree>
    <p:extLst>
      <p:ext uri="{BB962C8B-B14F-4D97-AF65-F5344CB8AC3E}">
        <p14:creationId xmlns:p14="http://schemas.microsoft.com/office/powerpoint/2010/main" val="28380020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17.19</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Neurosteroid</a:t>
            </a:r>
            <a:r>
              <a:rPr lang="en-US" sz="1200" b="1" kern="1200" dirty="0">
                <a:solidFill>
                  <a:schemeClr val="tx1"/>
                </a:solidFill>
                <a:effectLst/>
                <a:latin typeface="+mn-lt"/>
                <a:ea typeface="+mn-ea"/>
                <a:cs typeface="+mn-cs"/>
              </a:rPr>
              <a:t> synthesis 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TSPO is a translocator protein that is located on the outer mitochondrial membrane and transports cholesterol through the inner mito­chondrial membrane. The conversion of cholesterol to pregnenolone is the rate-limiting step in </a:t>
            </a:r>
            <a:r>
              <a:rPr lang="en-US" sz="1200" kern="1200" dirty="0" err="1">
                <a:solidFill>
                  <a:schemeClr val="tx1"/>
                </a:solidFill>
                <a:effectLst/>
                <a:latin typeface="+mn-lt"/>
                <a:ea typeface="+mn-ea"/>
                <a:cs typeface="+mn-cs"/>
              </a:rPr>
              <a:t>neurosteroid</a:t>
            </a:r>
            <a:r>
              <a:rPr lang="en-US" sz="1200" kern="1200" dirty="0">
                <a:solidFill>
                  <a:schemeClr val="tx1"/>
                </a:solidFill>
                <a:effectLst/>
                <a:latin typeface="+mn-lt"/>
                <a:ea typeface="+mn-ea"/>
                <a:cs typeface="+mn-cs"/>
              </a:rPr>
              <a:t> synthesis. Pregnenolone is further modified in several steps to allopregnanolone, which binds to the GABA</a:t>
            </a:r>
            <a:r>
              <a:rPr lang="en-US" sz="1200" kern="1200" baseline="-25000" dirty="0">
                <a:solidFill>
                  <a:schemeClr val="tx1"/>
                </a:solidFill>
                <a:effectLst/>
                <a:latin typeface="+mn-lt"/>
                <a:ea typeface="+mn-ea"/>
                <a:cs typeface="+mn-cs"/>
              </a:rPr>
              <a:t>A</a:t>
            </a:r>
            <a:r>
              <a:rPr lang="en-US" sz="1200" kern="1200" dirty="0">
                <a:solidFill>
                  <a:schemeClr val="tx1"/>
                </a:solidFill>
                <a:effectLst/>
                <a:latin typeface="+mn-lt"/>
                <a:ea typeface="+mn-ea"/>
                <a:cs typeface="+mn-cs"/>
              </a:rPr>
              <a:t> receptor modulatory site to enhance GABA-induced chloride influx, producing anxiolytic effects. Etifoxine is one drug that targets TSPO to increase </a:t>
            </a:r>
            <a:r>
              <a:rPr lang="en-US" sz="1200" kern="1200" dirty="0" err="1">
                <a:solidFill>
                  <a:schemeClr val="tx1"/>
                </a:solidFill>
                <a:effectLst/>
                <a:latin typeface="+mn-lt"/>
                <a:ea typeface="+mn-ea"/>
                <a:cs typeface="+mn-cs"/>
              </a:rPr>
              <a:t>neurosteroids</a:t>
            </a:r>
            <a:r>
              <a:rPr lang="en-US" sz="1200" kern="1200" dirty="0">
                <a:solidFill>
                  <a:schemeClr val="tx1"/>
                </a:solidFill>
                <a:effectLst/>
                <a:latin typeface="+mn-lt"/>
                <a:ea typeface="+mn-ea"/>
                <a:cs typeface="+mn-cs"/>
              </a:rPr>
              <a:t> and reduces anxiety. (After R. </a:t>
            </a:r>
            <a:r>
              <a:rPr lang="en-US" sz="1200" kern="1200" dirty="0" err="1">
                <a:solidFill>
                  <a:schemeClr val="tx1"/>
                </a:solidFill>
                <a:effectLst/>
                <a:latin typeface="+mn-lt"/>
                <a:ea typeface="+mn-ea"/>
                <a:cs typeface="+mn-cs"/>
              </a:rPr>
              <a:t>Rupprecht</a:t>
            </a:r>
            <a:r>
              <a:rPr lang="en-US" sz="1200" kern="1200" dirty="0">
                <a:solidFill>
                  <a:schemeClr val="tx1"/>
                </a:solidFill>
                <a:effectLst/>
                <a:latin typeface="+mn-lt"/>
                <a:ea typeface="+mn-ea"/>
                <a:cs typeface="+mn-cs"/>
              </a:rPr>
              <a:t> et al. 2010. </a:t>
            </a:r>
            <a:r>
              <a:rPr lang="en-US" sz="1200" i="1" kern="1200" dirty="0">
                <a:solidFill>
                  <a:schemeClr val="tx1"/>
                </a:solidFill>
                <a:effectLst/>
                <a:latin typeface="+mn-lt"/>
                <a:ea typeface="+mn-ea"/>
                <a:cs typeface="+mn-cs"/>
              </a:rPr>
              <a:t>Nat Rev Drug </a:t>
            </a:r>
            <a:r>
              <a:rPr lang="en-US" sz="1200" i="1" kern="1200" dirty="0" err="1">
                <a:solidFill>
                  <a:schemeClr val="tx1"/>
                </a:solidFill>
                <a:effectLst/>
                <a:latin typeface="+mn-lt"/>
                <a:ea typeface="+mn-ea"/>
                <a:cs typeface="+mn-cs"/>
              </a:rPr>
              <a:t>Discov</a:t>
            </a:r>
            <a:r>
              <a:rPr lang="en-US" sz="1200" kern="1200" dirty="0">
                <a:solidFill>
                  <a:schemeClr val="tx1"/>
                </a:solidFill>
                <a:effectLst/>
                <a:latin typeface="+mn-lt"/>
                <a:ea typeface="+mn-ea"/>
                <a:cs typeface="+mn-cs"/>
              </a:rPr>
              <a:t> 9: 971–988; and C. Schule et al. 2014. </a:t>
            </a:r>
            <a:r>
              <a:rPr lang="en-US" sz="1200" i="1" kern="1200" dirty="0">
                <a:solidFill>
                  <a:schemeClr val="tx1"/>
                </a:solidFill>
                <a:effectLst/>
                <a:latin typeface="+mn-lt"/>
                <a:ea typeface="+mn-ea"/>
                <a:cs typeface="+mn-cs"/>
              </a:rPr>
              <a:t>Prog </a:t>
            </a:r>
            <a:r>
              <a:rPr lang="en-US" sz="1200" i="1" kern="1200" dirty="0" err="1">
                <a:solidFill>
                  <a:schemeClr val="tx1"/>
                </a:solidFill>
                <a:effectLst/>
                <a:latin typeface="+mn-lt"/>
                <a:ea typeface="+mn-ea"/>
                <a:cs typeface="+mn-cs"/>
              </a:rPr>
              <a:t>Neurobiol</a:t>
            </a:r>
            <a:r>
              <a:rPr lang="en-US" sz="1200" kern="1200" dirty="0">
                <a:solidFill>
                  <a:schemeClr val="tx1"/>
                </a:solidFill>
                <a:effectLst/>
                <a:latin typeface="+mn-lt"/>
                <a:ea typeface="+mn-ea"/>
                <a:cs typeface="+mn-cs"/>
              </a:rPr>
              <a:t> 113: 79–87.)</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58</a:t>
            </a:fld>
            <a:endParaRPr lang="en-US"/>
          </a:p>
        </p:txBody>
      </p:sp>
    </p:spTree>
    <p:extLst>
      <p:ext uri="{BB962C8B-B14F-4D97-AF65-F5344CB8AC3E}">
        <p14:creationId xmlns:p14="http://schemas.microsoft.com/office/powerpoint/2010/main" val="23534440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59</a:t>
            </a:fld>
            <a:endParaRPr lang="en-US"/>
          </a:p>
        </p:txBody>
      </p:sp>
    </p:spTree>
    <p:extLst>
      <p:ext uri="{BB962C8B-B14F-4D97-AF65-F5344CB8AC3E}">
        <p14:creationId xmlns:p14="http://schemas.microsoft.com/office/powerpoint/2010/main" val="35422086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SSRIs include: clomipramine (Anafranil), fluoxetine (Prozac), fluvoxamine (Luvox), and sertraline (Zoloft)</a:t>
            </a:r>
          </a:p>
          <a:p>
            <a:pPr algn="l"/>
            <a:r>
              <a:rPr lang="en-US" sz="1800" b="0" i="0" u="none" strike="noStrike" baseline="0" dirty="0">
                <a:latin typeface="PalatinoLTStd-Roman"/>
              </a:rPr>
              <a:t>Tricyclic antidepressants: imipramine (Tofranil)</a:t>
            </a:r>
          </a:p>
          <a:p>
            <a:pPr algn="l"/>
            <a:r>
              <a:rPr lang="en-US" sz="1800" b="0" i="0" u="none" strike="noStrike" baseline="0" dirty="0">
                <a:latin typeface="PalatinoLTStd-Roman"/>
              </a:rPr>
              <a:t>MAOIs: phenelzine (</a:t>
            </a:r>
            <a:r>
              <a:rPr lang="en-US" sz="1800" b="0" i="0" u="none" strike="noStrike" baseline="0" dirty="0" err="1">
                <a:latin typeface="PalatinoLTStd-Roman"/>
              </a:rPr>
              <a:t>Nardil</a:t>
            </a:r>
            <a:r>
              <a:rPr lang="en-US" sz="1800" b="0" i="0" u="none" strike="noStrike" baseline="0" dirty="0">
                <a:latin typeface="PalatinoLTStd-Roman"/>
              </a:rPr>
              <a:t>), tranylcypromine (</a:t>
            </a:r>
            <a:r>
              <a:rPr lang="en-US" sz="1800" b="0" i="0" u="none" strike="noStrike" baseline="0" dirty="0" err="1">
                <a:latin typeface="PalatinoLTStd-Roman"/>
              </a:rPr>
              <a:t>Parnate</a:t>
            </a:r>
            <a:r>
              <a:rPr lang="en-US" sz="1800" b="0" i="0" u="none" strike="noStrike" baseline="0" dirty="0">
                <a:latin typeface="PalatinoLTStd-Roman"/>
              </a:rPr>
              <a:t>)</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60</a:t>
            </a:fld>
            <a:endParaRPr lang="en-US"/>
          </a:p>
        </p:txBody>
      </p:sp>
    </p:spTree>
    <p:extLst>
      <p:ext uri="{BB962C8B-B14F-4D97-AF65-F5344CB8AC3E}">
        <p14:creationId xmlns:p14="http://schemas.microsoft.com/office/powerpoint/2010/main" val="18463541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61</a:t>
            </a:fld>
            <a:endParaRPr lang="en-US"/>
          </a:p>
        </p:txBody>
      </p:sp>
    </p:spTree>
    <p:extLst>
      <p:ext uri="{BB962C8B-B14F-4D97-AF65-F5344CB8AC3E}">
        <p14:creationId xmlns:p14="http://schemas.microsoft.com/office/powerpoint/2010/main" val="41949433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endParaRPr lang="en-US" u="none" dirty="0"/>
          </a:p>
          <a:p>
            <a:r>
              <a:rPr lang="en-US" dirty="0"/>
              <a:t>Correct answer: b</a:t>
            </a:r>
          </a:p>
        </p:txBody>
      </p:sp>
      <p:sp>
        <p:nvSpPr>
          <p:cNvPr id="4" name="Slide Number Placeholder 3"/>
          <p:cNvSpPr>
            <a:spLocks noGrp="1"/>
          </p:cNvSpPr>
          <p:nvPr>
            <p:ph type="sldNum" sz="quarter" idx="5"/>
          </p:nvPr>
        </p:nvSpPr>
        <p:spPr/>
        <p:txBody>
          <a:bodyPr/>
          <a:lstStyle/>
          <a:p>
            <a:fld id="{556C0744-2FEF-4441-821D-70180A370937}" type="slidenum">
              <a:rPr lang="en-US" smtClean="0"/>
              <a:t>62</a:t>
            </a:fld>
            <a:endParaRPr lang="en-US"/>
          </a:p>
        </p:txBody>
      </p:sp>
    </p:spTree>
    <p:extLst>
      <p:ext uri="{BB962C8B-B14F-4D97-AF65-F5344CB8AC3E}">
        <p14:creationId xmlns:p14="http://schemas.microsoft.com/office/powerpoint/2010/main" val="16928424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0575" y="586409"/>
            <a:ext cx="11317356" cy="566530"/>
          </a:xfrm>
          <a:prstGeom prst="rect">
            <a:avLst/>
          </a:prstGeom>
        </p:spPr>
        <p:txBody>
          <a:bodyPr vert="horz" lIns="91440" tIns="45720" rIns="91440" bIns="45720" rtlCol="0" anchor="t">
            <a:normAutofit/>
          </a:bodyPr>
          <a:lstStyle>
            <a:lvl1pPr algn="ctr">
              <a:defRPr sz="3600" b="1" i="1"/>
            </a:lvl1pPr>
          </a:lstStyle>
          <a:p>
            <a:r>
              <a:rPr lang="en-US" dirty="0"/>
              <a:t>Title</a:t>
            </a:r>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a:lstStyle/>
          <a:p>
            <a:r>
              <a:rPr lang="en-US"/>
              <a:t>Click icon to add picture</a:t>
            </a:r>
            <a:endParaRPr lang="en-US" dirty="0"/>
          </a:p>
        </p:txBody>
      </p:sp>
      <p:pic>
        <p:nvPicPr>
          <p:cNvPr id="5" name="Picture 4" descr="Oxford University Press logo">
            <a:extLst>
              <a:ext uri="{FF2B5EF4-FFF2-40B4-BE49-F238E27FC236}">
                <a16:creationId xmlns:a16="http://schemas.microsoft.com/office/drawing/2014/main" id="{8590439F-3AAE-4FE6-B28E-69B3789AD63F}"/>
              </a:ext>
            </a:extLst>
          </p:cNvPr>
          <p:cNvPicPr>
            <a:picLocks noChangeAspect="1"/>
          </p:cNvPicPr>
          <p:nvPr userDrawn="1"/>
        </p:nvPicPr>
        <p:blipFill>
          <a:blip r:embed="rId2"/>
          <a:stretch>
            <a:fillRect/>
          </a:stretch>
        </p:blipFill>
        <p:spPr>
          <a:xfrm>
            <a:off x="0" y="5976152"/>
            <a:ext cx="2505812" cy="881848"/>
          </a:xfrm>
          <a:prstGeom prst="rect">
            <a:avLst/>
          </a:prstGeom>
        </p:spPr>
      </p:pic>
    </p:spTree>
    <p:extLst>
      <p:ext uri="{BB962C8B-B14F-4D97-AF65-F5344CB8AC3E}">
        <p14:creationId xmlns:p14="http://schemas.microsoft.com/office/powerpoint/2010/main" val="180465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571500" indent="-342900" algn="l" defTabSz="914400" rtl="0" eaLnBrk="1" latinLnBrk="0" hangingPunct="1">
              <a:spcBef>
                <a:spcPts val="1800"/>
              </a:spcBef>
              <a:buFont typeface="Arial" pitchFamily="34" charset="0"/>
              <a:buChar char="•"/>
              <a:defRPr lang="en-US" sz="2800" kern="1200" baseline="0" dirty="0">
                <a:solidFill>
                  <a:schemeClr val="tx1"/>
                </a:solidFill>
                <a:latin typeface="+mn-lt"/>
                <a:ea typeface="+mn-ea"/>
                <a:cs typeface="+mn-cs"/>
              </a:defRPr>
            </a:lvl1pPr>
            <a:lvl2pPr marL="1263650" indent="-349250" algn="l" defTabSz="914400" rtl="0" eaLnBrk="1" latinLnBrk="0" hangingPunct="1">
              <a:spcBef>
                <a:spcPts val="1800"/>
              </a:spcBef>
              <a:buFont typeface="Courier New" panose="02070309020205020404" pitchFamily="49" charset="0"/>
              <a:buChar char="o"/>
              <a:defRPr lang="en-US" sz="2800" kern="1200" baseline="0" dirty="0">
                <a:solidFill>
                  <a:schemeClr val="tx1"/>
                </a:solidFill>
                <a:latin typeface="+mn-lt"/>
                <a:ea typeface="+mn-ea"/>
                <a:cs typeface="+mn-cs"/>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88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21792"/>
          </a:xfrm>
        </p:spPr>
        <p:txBody>
          <a:bodyPr/>
          <a:lstStyle>
            <a:lvl1pPr>
              <a:defRPr/>
            </a:lvl1pPr>
          </a:lstStyle>
          <a:p>
            <a:r>
              <a:rPr lang="en-US" dirty="0"/>
              <a:t>Click to edit Master title style</a:t>
            </a:r>
          </a:p>
        </p:txBody>
      </p:sp>
      <p:sp>
        <p:nvSpPr>
          <p:cNvPr id="5" name="Content Placeholder 4">
            <a:extLst>
              <a:ext uri="{FF2B5EF4-FFF2-40B4-BE49-F238E27FC236}">
                <a16:creationId xmlns:a16="http://schemas.microsoft.com/office/drawing/2014/main" id="{8DBA5D03-AECA-2B4D-AD11-BC8666A45DCD}"/>
              </a:ext>
            </a:extLst>
          </p:cNvPr>
          <p:cNvSpPr>
            <a:spLocks noGrp="1"/>
          </p:cNvSpPr>
          <p:nvPr>
            <p:ph sz="quarter" idx="10"/>
          </p:nvPr>
        </p:nvSpPr>
        <p:spPr>
          <a:xfrm>
            <a:off x="408432" y="668867"/>
            <a:ext cx="11375136" cy="6108042"/>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9804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479776"/>
            <a:ext cx="11375136" cy="6300216"/>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28342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tif"/></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lvl="0"/>
            <a:r>
              <a:rPr lang="en-US" dirty="0"/>
              <a:t>Click to edit Master text styles</a:t>
            </a:r>
          </a:p>
          <a:p>
            <a:pPr lvl="0"/>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73" r:id="rId1"/>
    <p:sldLayoutId id="2147483652" r:id="rId2"/>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369332"/>
          </a:xfrm>
          <a:prstGeom prst="rect">
            <a:avLst/>
          </a:prstGeom>
          <a:solidFill>
            <a:srgbClr val="001A47"/>
          </a:solidFill>
        </p:spPr>
        <p:txBody>
          <a:bodyPr vert="horz" lIns="91440" tIns="45720" rIns="91440" bIns="45720" rtlCol="0" anchor="t" anchorCtr="0">
            <a:noAutofit/>
          </a:bodyPr>
          <a:lstStyle/>
          <a:p>
            <a:r>
              <a:rPr lang="en-US" dirty="0"/>
              <a:t>Click to edit Master title style</a:t>
            </a:r>
          </a:p>
        </p:txBody>
      </p:sp>
      <p:sp>
        <p:nvSpPr>
          <p:cNvPr id="4" name="Text Placeholder 3">
            <a:extLst>
              <a:ext uri="{FF2B5EF4-FFF2-40B4-BE49-F238E27FC236}">
                <a16:creationId xmlns:a16="http://schemas.microsoft.com/office/drawing/2014/main" id="{98CCD7AE-E6DE-4592-894F-F3E075B9E6C8}"/>
              </a:ext>
            </a:extLst>
          </p:cNvPr>
          <p:cNvSpPr>
            <a:spLocks noGrp="1"/>
          </p:cNvSpPr>
          <p:nvPr>
            <p:ph type="body" idx="1"/>
          </p:nvPr>
        </p:nvSpPr>
        <p:spPr>
          <a:xfrm>
            <a:off x="838200" y="952107"/>
            <a:ext cx="10515600" cy="52248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9565259"/>
      </p:ext>
    </p:extLst>
  </p:cSld>
  <p:clrMap bg1="lt1" tx1="dk1" bg2="lt2" tx2="dk2" accent1="accent1" accent2="accent2" accent3="accent3" accent4="accent4" accent5="accent5" accent6="accent6" hlink="hlink" folHlink="folHlink"/>
  <p:sldLayoutIdLst>
    <p:sldLayoutId id="2147483680" r:id="rId1"/>
    <p:sldLayoutId id="2147483679" r:id="rId2"/>
  </p:sldLayoutIdLst>
  <p:txStyles>
    <p:titleStyle>
      <a:lvl1pPr algn="l" defTabSz="914400" rtl="0" eaLnBrk="1" latinLnBrk="0" hangingPunct="1">
        <a:spcBef>
          <a:spcPct val="0"/>
        </a:spcBef>
        <a:buNone/>
        <a:defRPr sz="18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Psychopharmacology: Drugs, the Brain, and </a:t>
            </a:r>
            <a:r>
              <a:rPr lang="en-GB" dirty="0" err="1"/>
              <a:t>Behavior</a:t>
            </a:r>
            <a:endParaRPr lang="en-US" b="1" i="0" dirty="0"/>
          </a:p>
        </p:txBody>
      </p:sp>
      <p:sp>
        <p:nvSpPr>
          <p:cNvPr id="4" name="Text Placeholder 3"/>
          <p:cNvSpPr>
            <a:spLocks noGrp="1"/>
          </p:cNvSpPr>
          <p:nvPr>
            <p:ph type="body" sz="quarter" idx="11"/>
          </p:nvPr>
        </p:nvSpPr>
        <p:spPr/>
        <p:txBody>
          <a:bodyPr/>
          <a:lstStyle/>
          <a:p>
            <a:r>
              <a:rPr lang="en-US" dirty="0"/>
              <a:t>by Meyer, Farrar, </a:t>
            </a:r>
            <a:r>
              <a:rPr lang="en-US" dirty="0" err="1"/>
              <a:t>Biezonski</a:t>
            </a:r>
            <a:r>
              <a:rPr lang="en-US" dirty="0"/>
              <a:t>, Yates</a:t>
            </a:r>
          </a:p>
        </p:txBody>
      </p:sp>
      <p:pic>
        <p:nvPicPr>
          <p:cNvPr id="8" name="Picture Placeholder 7" descr="Cover image for Psychopharmacology, Fourth Edition.">
            <a:extLst>
              <a:ext uri="{FF2B5EF4-FFF2-40B4-BE49-F238E27FC236}">
                <a16:creationId xmlns:a16="http://schemas.microsoft.com/office/drawing/2014/main" id="{3C56F26D-84E7-4578-9ED6-ACB6F71FF233}"/>
              </a:ext>
            </a:extLst>
          </p:cNvPr>
          <p:cNvPicPr>
            <a:picLocks noGrp="1" noChangeAspect="1"/>
          </p:cNvPicPr>
          <p:nvPr>
            <p:ph type="pic" sz="quarter" idx="10"/>
          </p:nvPr>
        </p:nvPicPr>
        <p:blipFill>
          <a:blip r:embed="rId3"/>
          <a:stretch>
            <a:fillRect/>
          </a:stretch>
        </p:blipFill>
        <p:spPr>
          <a:xfrm>
            <a:off x="4267824" y="1818587"/>
            <a:ext cx="3656351" cy="4413095"/>
          </a:xfrm>
          <a:prstGeom prst="rect">
            <a:avLst/>
          </a:prstGeom>
        </p:spPr>
      </p:pic>
    </p:spTree>
    <p:extLst>
      <p:ext uri="{BB962C8B-B14F-4D97-AF65-F5344CB8AC3E}">
        <p14:creationId xmlns:p14="http://schemas.microsoft.com/office/powerpoint/2010/main" val="2844973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10243"/>
            <a:ext cx="10972800" cy="1143000"/>
          </a:xfrm>
        </p:spPr>
        <p:txBody>
          <a:bodyPr>
            <a:noAutofit/>
          </a:bodyPr>
          <a:lstStyle/>
          <a:p>
            <a:r>
              <a:rPr lang="en-US" sz="3200" dirty="0"/>
              <a:t>Chapter 17</a:t>
            </a:r>
            <a:br>
              <a:rPr lang="en-US" sz="3200" dirty="0"/>
            </a:br>
            <a:r>
              <a:rPr lang="en-US" sz="2800" i="1" dirty="0"/>
              <a:t>Disorders of Anxiety and Impulsivity and the Drugs Used to Treat Them</a:t>
            </a:r>
          </a:p>
        </p:txBody>
      </p:sp>
      <p:sp>
        <p:nvSpPr>
          <p:cNvPr id="3" name="Text Placeholder 2"/>
          <p:cNvSpPr>
            <a:spLocks noGrp="1"/>
          </p:cNvSpPr>
          <p:nvPr>
            <p:ph idx="1"/>
          </p:nvPr>
        </p:nvSpPr>
        <p:spPr/>
        <p:txBody>
          <a:bodyPr/>
          <a:lstStyle/>
          <a:p>
            <a:pPr marL="914400" indent="-914400">
              <a:spcBef>
                <a:spcPts val="2400"/>
              </a:spcBef>
              <a:buNone/>
            </a:pPr>
            <a:r>
              <a:rPr lang="en-US" dirty="0"/>
              <a:t>17.1  Neurobiology of Anxiety</a:t>
            </a:r>
          </a:p>
          <a:p>
            <a:pPr marL="914400" indent="-914400">
              <a:spcBef>
                <a:spcPts val="2400"/>
              </a:spcBef>
              <a:buNone/>
            </a:pPr>
            <a:r>
              <a:rPr lang="en-US" dirty="0"/>
              <a:t>17.2  Characteristics of Anxiety Disorders</a:t>
            </a:r>
          </a:p>
          <a:p>
            <a:pPr marL="914400" indent="-914400">
              <a:spcBef>
                <a:spcPts val="2400"/>
              </a:spcBef>
              <a:buNone/>
            </a:pPr>
            <a:r>
              <a:rPr lang="en-US" dirty="0"/>
              <a:t>17.3  Drugs for Treating Anxiety, OCD, and PTSD</a:t>
            </a:r>
          </a:p>
        </p:txBody>
      </p:sp>
    </p:spTree>
    <p:extLst>
      <p:ext uri="{BB962C8B-B14F-4D97-AF65-F5344CB8AC3E}">
        <p14:creationId xmlns:p14="http://schemas.microsoft.com/office/powerpoint/2010/main" val="729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tabLst>
                <a:tab pos="4625975" algn="l"/>
                <a:tab pos="4746625" algn="l"/>
              </a:tabLst>
            </a:pPr>
            <a:r>
              <a:rPr lang="en-US" dirty="0"/>
              <a:t>Chapter 17</a:t>
            </a:r>
            <a:br>
              <a:rPr lang="en-US" dirty="0"/>
            </a:br>
            <a:r>
              <a:rPr lang="en-US" sz="4000" dirty="0"/>
              <a:t>Learning Objectives </a:t>
            </a:r>
            <a:r>
              <a:rPr lang="en-US" sz="1300" dirty="0"/>
              <a:t>(1 of 3)</a:t>
            </a:r>
            <a:endParaRPr lang="en-US" dirty="0"/>
          </a:p>
        </p:txBody>
      </p:sp>
      <p:sp>
        <p:nvSpPr>
          <p:cNvPr id="3" name="Text Placeholder 2"/>
          <p:cNvSpPr>
            <a:spLocks noGrp="1"/>
          </p:cNvSpPr>
          <p:nvPr>
            <p:ph idx="1"/>
          </p:nvPr>
        </p:nvSpPr>
        <p:spPr/>
        <p:txBody>
          <a:bodyPr>
            <a:normAutofit/>
          </a:bodyPr>
          <a:lstStyle/>
          <a:p>
            <a:pPr marL="1149350" indent="-1149350">
              <a:lnSpc>
                <a:spcPct val="110000"/>
              </a:lnSpc>
              <a:spcBef>
                <a:spcPts val="1800"/>
              </a:spcBef>
              <a:buNone/>
            </a:pPr>
            <a:r>
              <a:rPr lang="en-US" sz="2800" dirty="0"/>
              <a:t>17.1.1  Describe the general psychological, behavioral, and physical manifestations of anxiety.</a:t>
            </a:r>
          </a:p>
          <a:p>
            <a:pPr marL="1149350" indent="-1149350">
              <a:lnSpc>
                <a:spcPct val="110000"/>
              </a:lnSpc>
              <a:spcBef>
                <a:spcPts val="1800"/>
              </a:spcBef>
              <a:buNone/>
            </a:pPr>
            <a:r>
              <a:rPr lang="en-US" sz="2800" dirty="0"/>
              <a:t>17.1.2  Detail the neurocircuitry of anxiety: the amygdala and its interactions with other limbic system structures. </a:t>
            </a:r>
          </a:p>
          <a:p>
            <a:pPr marL="1149350" indent="-1149350">
              <a:lnSpc>
                <a:spcPct val="110000"/>
              </a:lnSpc>
              <a:spcBef>
                <a:spcPts val="1800"/>
              </a:spcBef>
              <a:buNone/>
            </a:pPr>
            <a:r>
              <a:rPr lang="en-US" sz="2800" dirty="0"/>
              <a:t>17.1.3  Describe the role various neurotransmitter systems play in mediating anxiety.</a:t>
            </a:r>
          </a:p>
          <a:p>
            <a:pPr marL="1149350" indent="-1149350">
              <a:lnSpc>
                <a:spcPct val="110000"/>
              </a:lnSpc>
              <a:spcBef>
                <a:spcPts val="1800"/>
              </a:spcBef>
              <a:buNone/>
            </a:pPr>
            <a:r>
              <a:rPr lang="en-US" sz="2800" dirty="0"/>
              <a:t>17.1.4  Describe the role of genes, gender, and interactions with the environment in modulating anxiety.</a:t>
            </a:r>
          </a:p>
        </p:txBody>
      </p:sp>
    </p:spTree>
    <p:extLst>
      <p:ext uri="{BB962C8B-B14F-4D97-AF65-F5344CB8AC3E}">
        <p14:creationId xmlns:p14="http://schemas.microsoft.com/office/powerpoint/2010/main" val="146068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tabLst>
                <a:tab pos="4625975" algn="l"/>
                <a:tab pos="4746625" algn="l"/>
              </a:tabLst>
            </a:pPr>
            <a:r>
              <a:rPr kumimoji="0" lang="en-US" sz="3600" b="0" i="0" u="none" strike="noStrike" kern="1200" cap="none" spc="0" normalizeH="0" baseline="0" noProof="0" dirty="0">
                <a:ln>
                  <a:noFill/>
                </a:ln>
                <a:solidFill>
                  <a:srgbClr val="1F497D"/>
                </a:solidFill>
                <a:effectLst/>
                <a:uLnTx/>
                <a:uFillTx/>
                <a:latin typeface="Calibri"/>
                <a:ea typeface="+mj-ea"/>
                <a:cs typeface="+mj-cs"/>
              </a:rPr>
              <a:t>Chapter 17</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(2 of 3)</a:t>
            </a:r>
            <a:endParaRPr lang="en-US" dirty="0"/>
          </a:p>
        </p:txBody>
      </p:sp>
      <p:sp>
        <p:nvSpPr>
          <p:cNvPr id="3" name="Text Placeholder 2"/>
          <p:cNvSpPr>
            <a:spLocks noGrp="1"/>
          </p:cNvSpPr>
          <p:nvPr>
            <p:ph idx="1"/>
          </p:nvPr>
        </p:nvSpPr>
        <p:spPr/>
        <p:txBody>
          <a:bodyPr>
            <a:normAutofit/>
          </a:bodyPr>
          <a:lstStyle/>
          <a:p>
            <a:pPr marL="1149350" indent="-1149350">
              <a:lnSpc>
                <a:spcPct val="110000"/>
              </a:lnSpc>
              <a:spcBef>
                <a:spcPts val="1800"/>
              </a:spcBef>
              <a:buNone/>
            </a:pPr>
            <a:r>
              <a:rPr lang="en-US" sz="2800" dirty="0"/>
              <a:t>17.2.1  Describe the symptoms associated with generalized anxiety disorder, panic disorder, phobias, social anxiety disorder, post-traumatic stress disorder, and obsessive–compulsive disorder.</a:t>
            </a:r>
          </a:p>
          <a:p>
            <a:pPr marL="1149350" indent="-1149350">
              <a:lnSpc>
                <a:spcPct val="110000"/>
              </a:lnSpc>
              <a:spcBef>
                <a:spcPts val="1800"/>
              </a:spcBef>
              <a:buNone/>
            </a:pPr>
            <a:r>
              <a:rPr lang="en-US" sz="2800" dirty="0"/>
              <a:t>17.2.2  Detail the current understanding of the neurobiology of these disorders.</a:t>
            </a:r>
          </a:p>
          <a:p>
            <a:pPr marL="1149350" indent="-1149350">
              <a:lnSpc>
                <a:spcPct val="110000"/>
              </a:lnSpc>
              <a:spcBef>
                <a:spcPts val="1800"/>
              </a:spcBef>
              <a:buNone/>
            </a:pPr>
            <a:r>
              <a:rPr lang="en-US" sz="2800" dirty="0"/>
              <a:t>17.2.3  Describe treatments available to combat these disorders.</a:t>
            </a:r>
          </a:p>
        </p:txBody>
      </p:sp>
    </p:spTree>
    <p:extLst>
      <p:ext uri="{BB962C8B-B14F-4D97-AF65-F5344CB8AC3E}">
        <p14:creationId xmlns:p14="http://schemas.microsoft.com/office/powerpoint/2010/main" val="2991046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tabLst>
                <a:tab pos="4625975" algn="l"/>
                <a:tab pos="4746625" algn="l"/>
              </a:tabLst>
            </a:pPr>
            <a:r>
              <a:rPr kumimoji="0" lang="en-US" sz="3600" b="0" i="0" u="none" strike="noStrike" kern="1200" cap="none" spc="0" normalizeH="0" baseline="0" noProof="0" dirty="0">
                <a:ln>
                  <a:noFill/>
                </a:ln>
                <a:solidFill>
                  <a:srgbClr val="1F497D"/>
                </a:solidFill>
                <a:effectLst/>
                <a:uLnTx/>
                <a:uFillTx/>
                <a:latin typeface="Calibri"/>
                <a:ea typeface="+mj-ea"/>
                <a:cs typeface="+mj-cs"/>
              </a:rPr>
              <a:t>Chapter 17</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(3 of 3)</a:t>
            </a:r>
            <a:endParaRPr lang="en-US" dirty="0"/>
          </a:p>
        </p:txBody>
      </p:sp>
      <p:sp>
        <p:nvSpPr>
          <p:cNvPr id="3" name="Text Placeholder 2"/>
          <p:cNvSpPr>
            <a:spLocks noGrp="1"/>
          </p:cNvSpPr>
          <p:nvPr>
            <p:ph idx="1"/>
          </p:nvPr>
        </p:nvSpPr>
        <p:spPr/>
        <p:txBody>
          <a:bodyPr>
            <a:normAutofit fontScale="77500" lnSpcReduction="20000"/>
          </a:bodyPr>
          <a:lstStyle/>
          <a:p>
            <a:pPr marL="1149350" indent="-1149350">
              <a:lnSpc>
                <a:spcPct val="120000"/>
              </a:lnSpc>
              <a:spcBef>
                <a:spcPts val="1800"/>
              </a:spcBef>
              <a:buNone/>
            </a:pPr>
            <a:r>
              <a:rPr lang="en-US" sz="2800" dirty="0"/>
              <a:t>17.3.1  Describe how barbiturates and benzodiazepines reduce anxiety by modulating GABA neurotransmission.</a:t>
            </a:r>
          </a:p>
          <a:p>
            <a:pPr marL="1149350" indent="-1149350">
              <a:lnSpc>
                <a:spcPct val="120000"/>
              </a:lnSpc>
              <a:spcBef>
                <a:spcPts val="1800"/>
              </a:spcBef>
              <a:buNone/>
            </a:pPr>
            <a:r>
              <a:rPr lang="en-US" sz="2800" dirty="0"/>
              <a:t>17.3.2  Detail the pharmacokinetics and side- effect profiles of barbiturates and benzodiazepines.</a:t>
            </a:r>
          </a:p>
          <a:p>
            <a:pPr marL="1149350" indent="-1149350">
              <a:lnSpc>
                <a:spcPct val="120000"/>
              </a:lnSpc>
              <a:spcBef>
                <a:spcPts val="1800"/>
              </a:spcBef>
              <a:buNone/>
            </a:pPr>
            <a:r>
              <a:rPr lang="en-US" sz="2800" dirty="0"/>
              <a:t>17.3.3  Recognize the characteristics of dependence and withdrawal from benzodiazepine abuse.</a:t>
            </a:r>
          </a:p>
          <a:p>
            <a:pPr marL="1149350" indent="-1149350">
              <a:lnSpc>
                <a:spcPct val="120000"/>
              </a:lnSpc>
              <a:spcBef>
                <a:spcPts val="1800"/>
              </a:spcBef>
              <a:buNone/>
            </a:pPr>
            <a:r>
              <a:rPr lang="en-US" sz="2800" dirty="0"/>
              <a:t>17.3.4  Describe the mechanisms of action and anxiolytic properties of </a:t>
            </a:r>
            <a:r>
              <a:rPr lang="en-US" sz="2800" dirty="0" err="1"/>
              <a:t>neurosteroids</a:t>
            </a:r>
            <a:r>
              <a:rPr lang="en-US" sz="2800" dirty="0"/>
              <a:t>, second-generation anxiolytics, and antidepressants.</a:t>
            </a:r>
          </a:p>
          <a:p>
            <a:pPr marL="1149350" indent="-1149350">
              <a:lnSpc>
                <a:spcPct val="120000"/>
              </a:lnSpc>
              <a:spcBef>
                <a:spcPts val="1800"/>
              </a:spcBef>
              <a:buNone/>
            </a:pPr>
            <a:r>
              <a:rPr lang="en-US" sz="2800" dirty="0"/>
              <a:t>17.3.5  Detail novel approaches to anxiety treatment, including the use of MDMA, ketamine, and hallucinogens as adjuncts to psychotherapy.</a:t>
            </a:r>
          </a:p>
        </p:txBody>
      </p:sp>
    </p:spTree>
    <p:extLst>
      <p:ext uri="{BB962C8B-B14F-4D97-AF65-F5344CB8AC3E}">
        <p14:creationId xmlns:p14="http://schemas.microsoft.com/office/powerpoint/2010/main" val="2585619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(1 of 22)</a:t>
            </a:r>
            <a:endParaRPr lang="en-US" dirty="0"/>
          </a:p>
        </p:txBody>
      </p:sp>
      <p:sp>
        <p:nvSpPr>
          <p:cNvPr id="3" name="Text Placeholder 2"/>
          <p:cNvSpPr>
            <a:spLocks noGrp="1"/>
          </p:cNvSpPr>
          <p:nvPr>
            <p:ph idx="1"/>
          </p:nvPr>
        </p:nvSpPr>
        <p:spPr/>
        <p:txBody>
          <a:bodyPr/>
          <a:lstStyle/>
          <a:p>
            <a:pPr>
              <a:spcBef>
                <a:spcPts val="1200"/>
              </a:spcBef>
            </a:pPr>
            <a:r>
              <a:rPr lang="en-US" dirty="0"/>
              <a:t>DSM-5 classification of anxiety disorders:</a:t>
            </a:r>
          </a:p>
          <a:p>
            <a:pPr lvl="1">
              <a:spcBef>
                <a:spcPts val="1200"/>
              </a:spcBef>
            </a:pPr>
            <a:r>
              <a:rPr lang="en-US" altLang="en-US" dirty="0">
                <a:ea typeface="Geneva"/>
              </a:rPr>
              <a:t>Anxiety disorders</a:t>
            </a:r>
          </a:p>
          <a:p>
            <a:pPr lvl="1">
              <a:spcBef>
                <a:spcPts val="1200"/>
              </a:spcBef>
            </a:pPr>
            <a:r>
              <a:rPr lang="en-US" altLang="en-US" dirty="0">
                <a:ea typeface="Geneva"/>
              </a:rPr>
              <a:t>Obsessive-compulsive disorder (OCD) and related disorders</a:t>
            </a:r>
          </a:p>
          <a:p>
            <a:pPr lvl="1">
              <a:spcBef>
                <a:spcPts val="1200"/>
              </a:spcBef>
            </a:pPr>
            <a:r>
              <a:rPr lang="en-US" altLang="en-US" dirty="0">
                <a:ea typeface="Geneva"/>
              </a:rPr>
              <a:t>Trauma related disorders, including PTSD</a:t>
            </a:r>
          </a:p>
          <a:p>
            <a:pPr>
              <a:spcBef>
                <a:spcPts val="1200"/>
              </a:spcBef>
            </a:pPr>
            <a:r>
              <a:rPr lang="en-US" altLang="en-US" dirty="0">
                <a:ea typeface="Geneva"/>
              </a:rPr>
              <a:t>Anxiety is commonly associated with other psychopathology, particularly clinical depression</a:t>
            </a:r>
            <a:endParaRPr lang="en-US" dirty="0"/>
          </a:p>
        </p:txBody>
      </p:sp>
    </p:spTree>
    <p:extLst>
      <p:ext uri="{BB962C8B-B14F-4D97-AF65-F5344CB8AC3E}">
        <p14:creationId xmlns:p14="http://schemas.microsoft.com/office/powerpoint/2010/main" val="2666009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(2 of 22)</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What is anxiety?</a:t>
            </a:r>
          </a:p>
          <a:p>
            <a:pPr>
              <a:spcBef>
                <a:spcPts val="1200"/>
              </a:spcBef>
            </a:pPr>
            <a:r>
              <a:rPr lang="en-US" altLang="en-US" dirty="0">
                <a:ea typeface="Geneva"/>
              </a:rPr>
              <a:t>Most anxiety manifests as feelings of concern or worry</a:t>
            </a:r>
          </a:p>
          <a:p>
            <a:pPr>
              <a:spcBef>
                <a:spcPts val="1200"/>
              </a:spcBef>
            </a:pPr>
            <a:r>
              <a:rPr lang="en-US" altLang="en-US" dirty="0">
                <a:ea typeface="Geneva"/>
              </a:rPr>
              <a:t>Responses include increased muscle tension, restlessness, impaired concentration, sleep disturbances, and irritability</a:t>
            </a:r>
          </a:p>
          <a:p>
            <a:pPr>
              <a:spcBef>
                <a:spcPts val="1200"/>
              </a:spcBef>
            </a:pPr>
            <a:r>
              <a:rPr lang="en-US" altLang="en-US" dirty="0">
                <a:ea typeface="Geneva"/>
              </a:rPr>
              <a:t>Activation of the sympathetic ANS produces increased heart rate, sweating, and other signs of </a:t>
            </a:r>
            <a:r>
              <a:rPr lang="ja-JP" altLang="en-US" dirty="0">
                <a:ea typeface="Geneva"/>
              </a:rPr>
              <a:t>“</a:t>
            </a:r>
            <a:r>
              <a:rPr lang="en-US" altLang="ja-JP" dirty="0">
                <a:ea typeface="Geneva"/>
              </a:rPr>
              <a:t>fight-or-flight</a:t>
            </a:r>
            <a:r>
              <a:rPr lang="ja-JP" altLang="en-US" dirty="0">
                <a:ea typeface="Geneva"/>
              </a:rPr>
              <a:t>”</a:t>
            </a:r>
            <a:r>
              <a:rPr lang="en-US" altLang="ja-JP" dirty="0">
                <a:ea typeface="Geneva"/>
              </a:rPr>
              <a:t> response</a:t>
            </a:r>
          </a:p>
          <a:p>
            <a:pPr>
              <a:spcBef>
                <a:spcPts val="1200"/>
              </a:spcBef>
            </a:pPr>
            <a:r>
              <a:rPr lang="en-US" dirty="0"/>
              <a:t>Intensity can vary from feelings of vague discomfort to intense sensations of terror</a:t>
            </a:r>
          </a:p>
        </p:txBody>
      </p:sp>
    </p:spTree>
    <p:extLst>
      <p:ext uri="{BB962C8B-B14F-4D97-AF65-F5344CB8AC3E}">
        <p14:creationId xmlns:p14="http://schemas.microsoft.com/office/powerpoint/2010/main" val="2032498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(3 of 22)</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What is anxiety?</a:t>
            </a:r>
          </a:p>
          <a:p>
            <a:pPr>
              <a:spcBef>
                <a:spcPts val="1200"/>
              </a:spcBef>
            </a:pPr>
            <a:r>
              <a:rPr lang="en-US" altLang="en-US" dirty="0">
                <a:ea typeface="Geneva"/>
              </a:rPr>
              <a:t>Evolutionarily, it’s important to survival – warns of danger and activates fight-or-flight response; </a:t>
            </a:r>
          </a:p>
          <a:p>
            <a:pPr>
              <a:spcBef>
                <a:spcPts val="1200"/>
              </a:spcBef>
            </a:pPr>
            <a:r>
              <a:rPr lang="en-US" altLang="en-US" dirty="0">
                <a:ea typeface="Geneva"/>
              </a:rPr>
              <a:t>In modern life it’s </a:t>
            </a:r>
            <a:r>
              <a:rPr lang="en-US" dirty="0"/>
              <a:t>a necessary stimulus for optimal performance in many situations; but when too severe, </a:t>
            </a:r>
            <a:r>
              <a:rPr lang="en-US" altLang="en-US" dirty="0">
                <a:ea typeface="Geneva"/>
              </a:rPr>
              <a:t>performance deteriorates, especially on complex tasks</a:t>
            </a:r>
          </a:p>
          <a:p>
            <a:pPr>
              <a:spcBef>
                <a:spcPts val="1200"/>
              </a:spcBef>
            </a:pPr>
            <a:r>
              <a:rPr lang="en-US" altLang="en-US" dirty="0">
                <a:ea typeface="Geneva"/>
              </a:rPr>
              <a:t>High anxiety can lead to failure, which creates more anxiety</a:t>
            </a:r>
          </a:p>
          <a:p>
            <a:pPr>
              <a:spcBef>
                <a:spcPts val="1200"/>
              </a:spcBef>
            </a:pPr>
            <a:r>
              <a:rPr lang="en-US" altLang="en-US" dirty="0">
                <a:ea typeface="Geneva"/>
              </a:rPr>
              <a:t>Anxiety and fear are different emotions</a:t>
            </a:r>
          </a:p>
        </p:txBody>
      </p:sp>
    </p:spTree>
    <p:extLst>
      <p:ext uri="{BB962C8B-B14F-4D97-AF65-F5344CB8AC3E}">
        <p14:creationId xmlns:p14="http://schemas.microsoft.com/office/powerpoint/2010/main" val="3488305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0FE1-CB15-4D4C-89B5-997ABE96417C}"/>
              </a:ext>
            </a:extLst>
          </p:cNvPr>
          <p:cNvSpPr>
            <a:spLocks noGrp="1"/>
          </p:cNvSpPr>
          <p:nvPr>
            <p:ph type="title"/>
          </p:nvPr>
        </p:nvSpPr>
        <p:spPr/>
        <p:txBody>
          <a:bodyPr/>
          <a:lstStyle/>
          <a:p>
            <a:r>
              <a:rPr lang="en-US" cap="all" dirty="0"/>
              <a:t>FIGURE 17.1</a:t>
            </a:r>
            <a:r>
              <a:rPr lang="en-US" dirty="0"/>
              <a:t>  Three-component model of anxiety </a:t>
            </a:r>
          </a:p>
        </p:txBody>
      </p:sp>
      <p:pic>
        <p:nvPicPr>
          <p:cNvPr id="8" name="Content Placeholder 7" descr="A flow diagram depicts the three dimensional model of anxiety. The potential stressors such as failures, personal losses, frightening events, time pressures and insults are perceived by the mind as a threat and can lead to bodily effects like autonomic emergency response, shallow breathing, pounding heart, tense muscles, digestive problems, sleep disturbances, fatigue, psychosomatic illness and upsetting thoughts like anger, fears, preoccupations, self-doubts, negative self-talk, repeated danger thoughts, worry about body reactions and health. The bodily effects and upsetting thoughts go hand in hand. This can lead to ineffective behavior such as escape, avoidance, indecision, aggression, inflexible responses, poor judgment, in deficiency, drug use. The ineffective behaviors are hand in hand with the bodily effects and upsetting thoughts.">
            <a:extLst>
              <a:ext uri="{FF2B5EF4-FFF2-40B4-BE49-F238E27FC236}">
                <a16:creationId xmlns:a16="http://schemas.microsoft.com/office/drawing/2014/main" id="{28CFCBBE-807C-FB44-BD50-0EC53513E1DA}"/>
              </a:ext>
            </a:extLst>
          </p:cNvPr>
          <p:cNvPicPr>
            <a:picLocks noGrp="1" noChangeAspect="1"/>
          </p:cNvPicPr>
          <p:nvPr>
            <p:ph sz="quarter" idx="10"/>
          </p:nvPr>
        </p:nvPicPr>
        <p:blipFill>
          <a:blip r:embed="rId3"/>
          <a:stretch>
            <a:fillRect/>
          </a:stretch>
        </p:blipFill>
        <p:spPr>
          <a:xfrm>
            <a:off x="3470672" y="479425"/>
            <a:ext cx="5250656" cy="6300788"/>
          </a:xfrm>
        </p:spPr>
      </p:pic>
    </p:spTree>
    <p:extLst>
      <p:ext uri="{BB962C8B-B14F-4D97-AF65-F5344CB8AC3E}">
        <p14:creationId xmlns:p14="http://schemas.microsoft.com/office/powerpoint/2010/main" val="2495959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(4 of 22)</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The amygdala is important to emotion-processing circuits</a:t>
            </a:r>
          </a:p>
          <a:p>
            <a:pPr>
              <a:spcBef>
                <a:spcPts val="1200"/>
              </a:spcBef>
            </a:pPr>
            <a:r>
              <a:rPr lang="en-US" dirty="0"/>
              <a:t>Receives processed sensory and cognitive information from the sensory thalamus, sensory and association cortices, and hippocampus.</a:t>
            </a:r>
          </a:p>
          <a:p>
            <a:pPr>
              <a:spcBef>
                <a:spcPts val="1200"/>
              </a:spcBef>
            </a:pPr>
            <a:r>
              <a:rPr lang="en-US" dirty="0"/>
              <a:t>PET and fMRI: negative emotional stimuli activate the amygdala in humans; significantly more in people with anxiety disorders</a:t>
            </a:r>
          </a:p>
          <a:p>
            <a:pPr>
              <a:spcBef>
                <a:spcPts val="1200"/>
              </a:spcBef>
            </a:pPr>
            <a:r>
              <a:rPr lang="en-US" dirty="0"/>
              <a:t>In animals, electrical stimulation of the amygdala produces signs of anxiety and fear; bilateral lesions produce deficits in fearful responses</a:t>
            </a:r>
          </a:p>
        </p:txBody>
      </p:sp>
    </p:spTree>
    <p:extLst>
      <p:ext uri="{BB962C8B-B14F-4D97-AF65-F5344CB8AC3E}">
        <p14:creationId xmlns:p14="http://schemas.microsoft.com/office/powerpoint/2010/main" val="3382301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AFCC6-EE13-A24C-B81D-41BDDFD52C41}"/>
              </a:ext>
            </a:extLst>
          </p:cNvPr>
          <p:cNvSpPr>
            <a:spLocks noGrp="1"/>
          </p:cNvSpPr>
          <p:nvPr>
            <p:ph type="title"/>
          </p:nvPr>
        </p:nvSpPr>
        <p:spPr/>
        <p:txBody>
          <a:bodyPr/>
          <a:lstStyle/>
          <a:p>
            <a:r>
              <a:rPr lang="en-US" cap="all" dirty="0"/>
              <a:t>FIGURE 17.2</a:t>
            </a:r>
            <a:r>
              <a:rPr lang="en-US" dirty="0"/>
              <a:t>  Flow diagram of connections of the amygdala </a:t>
            </a:r>
          </a:p>
        </p:txBody>
      </p:sp>
      <p:pic>
        <p:nvPicPr>
          <p:cNvPr id="6" name="Content Placeholder 5" descr="A flow diagram depicts the connections of the amygdala. Signals from sensory association cortex, hippocampal formation and thalamus pass on to the lateral nucleus which directly passes signals to the central nucleus and indirectly to the central nucleus through basolateral nucleus. The lateral nucleus also sends signals to the B N S T and prefrontal cortex, hippocampus, prefrontal striatum. The central nucleus and B N S T further pass signals to the hypothalamus, pons, midbrain and medulla."/>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735918"/>
            <a:ext cx="11376025" cy="5787802"/>
          </a:xfrm>
        </p:spPr>
      </p:pic>
    </p:spTree>
    <p:extLst>
      <p:ext uri="{BB962C8B-B14F-4D97-AF65-F5344CB8AC3E}">
        <p14:creationId xmlns:p14="http://schemas.microsoft.com/office/powerpoint/2010/main" val="2610264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(5 of 22)</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The amygdala is important to emotion-processing circuits</a:t>
            </a:r>
          </a:p>
          <a:p>
            <a:pPr>
              <a:spcBef>
                <a:spcPts val="1200"/>
              </a:spcBef>
            </a:pPr>
            <a:r>
              <a:rPr lang="en-US" dirty="0"/>
              <a:t>Amygdala central nucleus coordinates components of emotion because it has connections to multiple brain areas</a:t>
            </a:r>
          </a:p>
          <a:p>
            <a:pPr>
              <a:spcBef>
                <a:spcPts val="1200"/>
              </a:spcBef>
            </a:pPr>
            <a:r>
              <a:rPr lang="en-US" dirty="0"/>
              <a:t>Responses in anxiety may be initiated by the BNST – it projects to the same regions as the central nucleus</a:t>
            </a:r>
          </a:p>
          <a:p>
            <a:pPr>
              <a:spcBef>
                <a:spcPts val="1200"/>
              </a:spcBef>
            </a:pPr>
            <a:r>
              <a:rPr lang="en-US" dirty="0"/>
              <a:t>Central nucleus mediates rapid response; BNST produces a state of sustained preparedness for an unclear danger</a:t>
            </a:r>
          </a:p>
          <a:p>
            <a:pPr>
              <a:spcBef>
                <a:spcPts val="1200"/>
              </a:spcBef>
            </a:pPr>
            <a:r>
              <a:rPr lang="en-US" dirty="0"/>
              <a:t>Anxiety in several animal tests is affected by manipulations of the BNST</a:t>
            </a:r>
          </a:p>
        </p:txBody>
      </p:sp>
    </p:spTree>
    <p:extLst>
      <p:ext uri="{BB962C8B-B14F-4D97-AF65-F5344CB8AC3E}">
        <p14:creationId xmlns:p14="http://schemas.microsoft.com/office/powerpoint/2010/main" val="448335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4EA1A-D9FB-6445-AF77-4EADB54B04C6}"/>
              </a:ext>
            </a:extLst>
          </p:cNvPr>
          <p:cNvSpPr>
            <a:spLocks noGrp="1"/>
          </p:cNvSpPr>
          <p:nvPr>
            <p:ph type="title"/>
          </p:nvPr>
        </p:nvSpPr>
        <p:spPr/>
        <p:txBody>
          <a:bodyPr/>
          <a:lstStyle/>
          <a:p>
            <a:r>
              <a:rPr lang="en-US" cap="all" dirty="0"/>
              <a:t>FIGURE 17.3</a:t>
            </a:r>
            <a:r>
              <a:rPr lang="en-US" dirty="0"/>
              <a:t>  The amygdala coordinates components of emotion </a:t>
            </a:r>
          </a:p>
        </p:txBody>
      </p:sp>
      <p:pic>
        <p:nvPicPr>
          <p:cNvPr id="6" name="Content Placeholder 5" descr="A table consists of eight rows and three columns. The columns headers are Brain area, Physiological effect, and Component of emotional response. Row entries are as follows. Row 1. Lateral hypothalamus. Sympathetic activation. Increased heart rate and blood pressure, paleness, pupil dilation. Row 2. Dorsal motor nucleus of vagus. Parasympathetic activation. Ulcers, urination, defecation. Row 3. Parabrachial nucleus. Increased respiration. Panting, gasping for breath. Row 4. V T A, L C, P P N. Activation of D A, N E, and A C h. Behavioral arousal and increased vigilance. Row 5. Nucleus reticularis. Increased re­flexes. Increased startle response. Row 6. Periaqueductal gray. Cessation of behavior. Freezing. Row 7. Trigeminal and facial nuclei. Mouth open and jaw movements. Facial fear expression. Row 8. Paraventricular nucleus of hypothalamus. A C T H release. Glucocorticoid release, stress response.&#10;&#10;An illustration of the medial view of the brain with amygdala marked in the lower part of the brain. A line is drawn diagonally on the brain. An enlarged view of the cut section along the line drawn on the brain depicts the two small areas shaded on the medial side of the lower part of the brain and is marked as amygdala. The shaded area on the right side is pointed by an arrow that indicates the site for conditioned fear and anxiety provoking stimuli."/>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522713" y="479425"/>
            <a:ext cx="11146574" cy="6300788"/>
          </a:xfrm>
        </p:spPr>
      </p:pic>
    </p:spTree>
    <p:extLst>
      <p:ext uri="{BB962C8B-B14F-4D97-AF65-F5344CB8AC3E}">
        <p14:creationId xmlns:p14="http://schemas.microsoft.com/office/powerpoint/2010/main" val="1754149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(6 of 22)</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The amygdala is important to emotion-processing circuits</a:t>
            </a:r>
          </a:p>
          <a:p>
            <a:pPr>
              <a:spcBef>
                <a:spcPts val="1200"/>
              </a:spcBef>
            </a:pPr>
            <a:r>
              <a:rPr lang="en-US" dirty="0"/>
              <a:t>Amygdala aids in forming emotional memories - conditioned emotional response (CER)</a:t>
            </a:r>
          </a:p>
          <a:p>
            <a:pPr>
              <a:spcBef>
                <a:spcPts val="1200"/>
              </a:spcBef>
            </a:pPr>
            <a:r>
              <a:rPr lang="en-US" dirty="0"/>
              <a:t>Also contributes to memory consolidation via connections with the hippocampus</a:t>
            </a:r>
          </a:p>
          <a:p>
            <a:pPr>
              <a:spcBef>
                <a:spcPts val="1200"/>
              </a:spcBef>
            </a:pPr>
            <a:r>
              <a:rPr lang="en-US" altLang="en-US" dirty="0">
                <a:ea typeface="Geneva"/>
              </a:rPr>
              <a:t>The PFC exerts inhibitory control over the primitive responses of subcortical regions, which allows us to cope with modern situations; anxiety disorders may be due to an imbalance between emotion generating centers and higher cortical control</a:t>
            </a:r>
          </a:p>
        </p:txBody>
      </p:sp>
    </p:spTree>
    <p:extLst>
      <p:ext uri="{BB962C8B-B14F-4D97-AF65-F5344CB8AC3E}">
        <p14:creationId xmlns:p14="http://schemas.microsoft.com/office/powerpoint/2010/main" val="3127349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(7 of 22)</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ct val="20000"/>
              </a:spcBef>
              <a:buNone/>
            </a:pPr>
            <a:r>
              <a:rPr lang="en-US" sz="3500" dirty="0"/>
              <a:t>Multiple neurotransmitters mediate anxiety: Corticotropin-releasing factor (CRF)</a:t>
            </a:r>
          </a:p>
          <a:p>
            <a:pPr>
              <a:spcBef>
                <a:spcPts val="1200"/>
              </a:spcBef>
            </a:pPr>
            <a:r>
              <a:rPr lang="en-US" dirty="0"/>
              <a:t>Released by the hypothalamus, acts on the pituitary to control release of glucocorticoids from the adrenal cortex (HPA axis) in response to stress</a:t>
            </a:r>
          </a:p>
          <a:p>
            <a:pPr>
              <a:spcBef>
                <a:spcPts val="1200"/>
              </a:spcBef>
            </a:pPr>
            <a:r>
              <a:rPr lang="en-US" dirty="0"/>
              <a:t>Glucocorticoids induce physiological changes that provide means to adapt to environmental challenges</a:t>
            </a:r>
          </a:p>
          <a:p>
            <a:pPr>
              <a:spcBef>
                <a:spcPts val="1200"/>
              </a:spcBef>
            </a:pPr>
            <a:r>
              <a:rPr lang="en-US" dirty="0"/>
              <a:t>High cortisol levels act as negative feedback to the HPA system to bring cortisol levels back to normal</a:t>
            </a:r>
          </a:p>
          <a:p>
            <a:pPr>
              <a:spcBef>
                <a:spcPts val="1200"/>
              </a:spcBef>
            </a:pPr>
            <a:r>
              <a:rPr lang="en-US" dirty="0"/>
              <a:t>CRF is also a neurotransmitter in multiple brain areas associated with anxiety; is released following threatening stimuli</a:t>
            </a:r>
          </a:p>
        </p:txBody>
      </p:sp>
    </p:spTree>
    <p:extLst>
      <p:ext uri="{BB962C8B-B14F-4D97-AF65-F5344CB8AC3E}">
        <p14:creationId xmlns:p14="http://schemas.microsoft.com/office/powerpoint/2010/main" val="3604387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DF696-8B30-A04F-8429-0B35070EC5C4}"/>
              </a:ext>
            </a:extLst>
          </p:cNvPr>
          <p:cNvSpPr>
            <a:spLocks noGrp="1"/>
          </p:cNvSpPr>
          <p:nvPr>
            <p:ph type="title"/>
          </p:nvPr>
        </p:nvSpPr>
        <p:spPr/>
        <p:txBody>
          <a:bodyPr/>
          <a:lstStyle/>
          <a:p>
            <a:r>
              <a:rPr lang="en-US" cap="all" dirty="0"/>
              <a:t>FIGURE 17.4</a:t>
            </a:r>
            <a:r>
              <a:rPr lang="en-US" dirty="0"/>
              <a:t>  Dual role for CRF </a:t>
            </a:r>
          </a:p>
        </p:txBody>
      </p:sp>
      <p:pic>
        <p:nvPicPr>
          <p:cNvPr id="6" name="Content Placeholder 5" descr="An illustration depicts the dual role of C R F. The C R F released from the brain acts on the pituitary gland to control the release of glucocorticoids by releasing A C T H which is depicted by a dotted line. C R F controls the release of adrenaline in response to stress which is depicted by a complete line. C R F also controls the autonomic nervous system depicted by a complete line drawn pointing to an illustration of heart."/>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692085" y="479425"/>
            <a:ext cx="4807830" cy="6300788"/>
          </a:xfrm>
        </p:spPr>
      </p:pic>
    </p:spTree>
    <p:extLst>
      <p:ext uri="{BB962C8B-B14F-4D97-AF65-F5344CB8AC3E}">
        <p14:creationId xmlns:p14="http://schemas.microsoft.com/office/powerpoint/2010/main" val="3975936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(8 of 22)</a:t>
            </a:r>
            <a:endParaRPr lang="en-US" dirty="0"/>
          </a:p>
        </p:txBody>
      </p:sp>
      <p:sp>
        <p:nvSpPr>
          <p:cNvPr id="3" name="Text Placeholder 2"/>
          <p:cNvSpPr>
            <a:spLocks noGrp="1"/>
          </p:cNvSpPr>
          <p:nvPr>
            <p:ph idx="1"/>
          </p:nvPr>
        </p:nvSpPr>
        <p:spPr/>
        <p:txBody>
          <a:bodyPr>
            <a:normAutofit fontScale="92500" lnSpcReduction="20000"/>
          </a:bodyPr>
          <a:lstStyle/>
          <a:p>
            <a:pPr marL="457200" indent="-457200">
              <a:spcBef>
                <a:spcPct val="20000"/>
              </a:spcBef>
              <a:buNone/>
            </a:pPr>
            <a:r>
              <a:rPr lang="en-US" sz="3500" dirty="0"/>
              <a:t>Multiple neurotransmitters mediate anxiety: Corticotropin-releasing factor (CRF)</a:t>
            </a:r>
          </a:p>
          <a:p>
            <a:pPr>
              <a:spcBef>
                <a:spcPts val="1200"/>
              </a:spcBef>
            </a:pPr>
            <a:r>
              <a:rPr lang="en-US" dirty="0"/>
              <a:t>In animal tests, CRF causes increased anxiety; stressful stimuli cause release of CRF in the amygdala.</a:t>
            </a:r>
          </a:p>
          <a:p>
            <a:pPr>
              <a:spcBef>
                <a:spcPts val="1200"/>
              </a:spcBef>
            </a:pPr>
            <a:r>
              <a:rPr lang="en-US" dirty="0"/>
              <a:t>Many behavioral effects can be prevented by pretreatment with a CRF antagonist</a:t>
            </a:r>
          </a:p>
          <a:p>
            <a:pPr>
              <a:spcBef>
                <a:spcPts val="1200"/>
              </a:spcBef>
            </a:pPr>
            <a:r>
              <a:rPr lang="en-US" altLang="en-US" dirty="0"/>
              <a:t>CRF neurons originating in the amygdala central nucleus project to the locus coeruleus (LC) and activate the adrenergic component of the stress response</a:t>
            </a:r>
          </a:p>
          <a:p>
            <a:pPr>
              <a:spcBef>
                <a:spcPts val="1200"/>
              </a:spcBef>
            </a:pPr>
            <a:r>
              <a:rPr lang="en-US" dirty="0"/>
              <a:t>Numerous studies indicate the significant role of the LC as a mediator of stress-induced anxiety</a:t>
            </a:r>
          </a:p>
        </p:txBody>
      </p:sp>
    </p:spTree>
    <p:extLst>
      <p:ext uri="{BB962C8B-B14F-4D97-AF65-F5344CB8AC3E}">
        <p14:creationId xmlns:p14="http://schemas.microsoft.com/office/powerpoint/2010/main" val="238723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(9 of 22)</a:t>
            </a:r>
            <a:endParaRPr lang="en-US" dirty="0"/>
          </a:p>
        </p:txBody>
      </p:sp>
      <p:sp>
        <p:nvSpPr>
          <p:cNvPr id="3" name="Text Placeholder 2"/>
          <p:cNvSpPr>
            <a:spLocks noGrp="1"/>
          </p:cNvSpPr>
          <p:nvPr>
            <p:ph idx="1"/>
          </p:nvPr>
        </p:nvSpPr>
        <p:spPr/>
        <p:txBody>
          <a:bodyPr>
            <a:normAutofit fontScale="92500" lnSpcReduction="10000"/>
          </a:bodyPr>
          <a:lstStyle/>
          <a:p>
            <a:pPr marL="0" indent="0">
              <a:spcBef>
                <a:spcPts val="1800"/>
              </a:spcBef>
              <a:buNone/>
            </a:pPr>
            <a:r>
              <a:rPr lang="en-US" sz="2600" u="sng" dirty="0"/>
              <a:t>BOX 17.1  THE CUTTING EDGE</a:t>
            </a:r>
          </a:p>
          <a:p>
            <a:pPr marL="457200" indent="-457200">
              <a:buNone/>
            </a:pPr>
            <a:r>
              <a:rPr lang="en-US" sz="3500" i="1" dirty="0"/>
              <a:t>Toward Unraveling the Cellular and Molecular Mechanisms Underlying LC-NE Modulation of Anxiety</a:t>
            </a:r>
          </a:p>
          <a:p>
            <a:pPr>
              <a:spcBef>
                <a:spcPts val="1200"/>
              </a:spcBef>
            </a:pPr>
            <a:r>
              <a:rPr lang="en-US" altLang="en-US" dirty="0"/>
              <a:t>Induction of anxiety in mice led to a tonic elevation in neural activity in LC-NE cells</a:t>
            </a:r>
          </a:p>
          <a:p>
            <a:pPr>
              <a:spcBef>
                <a:spcPts val="1200"/>
              </a:spcBef>
            </a:pPr>
            <a:r>
              <a:rPr lang="en-US" dirty="0"/>
              <a:t>Researchers used optogenetics and a variety of tracing methods to demonstrate that stimulation of LC-NE fibers in the basolateral amygdala induces anxiety-like behavior in mice</a:t>
            </a:r>
          </a:p>
          <a:p>
            <a:pPr>
              <a:spcBef>
                <a:spcPts val="1200"/>
              </a:spcBef>
            </a:pPr>
            <a:r>
              <a:rPr lang="en-US" dirty="0"/>
              <a:t>This could be blocked by pretreatment with a β-adrenergic receptor antagonist (propranolol), implicating a role of this receptor in anxiety</a:t>
            </a:r>
          </a:p>
        </p:txBody>
      </p:sp>
    </p:spTree>
    <p:extLst>
      <p:ext uri="{BB962C8B-B14F-4D97-AF65-F5344CB8AC3E}">
        <p14:creationId xmlns:p14="http://schemas.microsoft.com/office/powerpoint/2010/main" val="3563405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(10 of 22)</a:t>
            </a:r>
            <a:endParaRPr lang="en-US" dirty="0"/>
          </a:p>
        </p:txBody>
      </p:sp>
      <p:sp>
        <p:nvSpPr>
          <p:cNvPr id="3" name="Text Placeholder 2"/>
          <p:cNvSpPr>
            <a:spLocks noGrp="1"/>
          </p:cNvSpPr>
          <p:nvPr>
            <p:ph idx="1"/>
          </p:nvPr>
        </p:nvSpPr>
        <p:spPr/>
        <p:txBody>
          <a:bodyPr>
            <a:normAutofit fontScale="92500"/>
          </a:bodyPr>
          <a:lstStyle/>
          <a:p>
            <a:pPr marL="457200" indent="-457200">
              <a:spcBef>
                <a:spcPct val="20000"/>
              </a:spcBef>
              <a:buNone/>
            </a:pPr>
            <a:r>
              <a:rPr lang="en-US" sz="3500" dirty="0"/>
              <a:t>Multiple neurotransmitters mediate anxiety: NE</a:t>
            </a:r>
          </a:p>
          <a:p>
            <a:pPr>
              <a:spcBef>
                <a:spcPts val="1200"/>
              </a:spcBef>
            </a:pPr>
            <a:r>
              <a:rPr lang="en-US" altLang="en-US" dirty="0"/>
              <a:t>Patients with anxiety disorders have abnormal ANS response; NE is the transmitter released during sympathetic activation</a:t>
            </a:r>
          </a:p>
          <a:p>
            <a:pPr>
              <a:spcBef>
                <a:spcPts val="1200"/>
              </a:spcBef>
            </a:pPr>
            <a:r>
              <a:rPr lang="en-US" altLang="en-US" dirty="0"/>
              <a:t>NE and epinephrine are important in formation of emotional memories</a:t>
            </a:r>
          </a:p>
          <a:p>
            <a:pPr>
              <a:spcBef>
                <a:spcPts val="1200"/>
              </a:spcBef>
            </a:pPr>
            <a:r>
              <a:rPr lang="en-US" dirty="0"/>
              <a:t>It may be possible to interfere with the formation of traumatic memories by blocking β-adrenergic receptors right after a severe trauma, or modify existing memories</a:t>
            </a:r>
          </a:p>
          <a:p>
            <a:pPr>
              <a:spcBef>
                <a:spcPts val="1200"/>
              </a:spcBef>
            </a:pPr>
            <a:r>
              <a:rPr lang="en-US" dirty="0"/>
              <a:t>Propranolol given to patients after car accidents has been successful in preventing or easing PTSD symptoms</a:t>
            </a:r>
            <a:endParaRPr lang="en-US" altLang="en-US" dirty="0"/>
          </a:p>
        </p:txBody>
      </p:sp>
    </p:spTree>
    <p:extLst>
      <p:ext uri="{BB962C8B-B14F-4D97-AF65-F5344CB8AC3E}">
        <p14:creationId xmlns:p14="http://schemas.microsoft.com/office/powerpoint/2010/main" val="10772102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(11 of 22)</a:t>
            </a:r>
            <a:endParaRPr lang="en-US" dirty="0"/>
          </a:p>
        </p:txBody>
      </p:sp>
      <p:sp>
        <p:nvSpPr>
          <p:cNvPr id="3" name="Text Placeholder 2"/>
          <p:cNvSpPr>
            <a:spLocks noGrp="1"/>
          </p:cNvSpPr>
          <p:nvPr>
            <p:ph idx="1"/>
          </p:nvPr>
        </p:nvSpPr>
        <p:spPr>
          <a:xfrm>
            <a:off x="609600" y="1792465"/>
            <a:ext cx="10972800" cy="4725581"/>
          </a:xfrm>
        </p:spPr>
        <p:txBody>
          <a:bodyPr>
            <a:normAutofit/>
          </a:bodyPr>
          <a:lstStyle/>
          <a:p>
            <a:pPr marL="457200" indent="-457200">
              <a:spcBef>
                <a:spcPct val="20000"/>
              </a:spcBef>
              <a:buNone/>
            </a:pPr>
            <a:r>
              <a:rPr lang="en-US" sz="3200" dirty="0"/>
              <a:t>Multiple neurotransmitters mediate anxiety: NE</a:t>
            </a:r>
          </a:p>
          <a:p>
            <a:pPr algn="l"/>
            <a:r>
              <a:rPr lang="en-US" dirty="0"/>
              <a:t>Anxiolytic drug action can be explained by modulation of LC firing: LC NE cells are excited by CRF synaptic input and are inhibited by GABA, 5-HT, and by stimulation of α2-adrenergic </a:t>
            </a:r>
            <a:r>
              <a:rPr lang="en-US" dirty="0" err="1"/>
              <a:t>somatodendritic</a:t>
            </a:r>
            <a:r>
              <a:rPr lang="en-US" dirty="0"/>
              <a:t> </a:t>
            </a:r>
            <a:r>
              <a:rPr lang="en-US" dirty="0" err="1"/>
              <a:t>autoreceptors</a:t>
            </a:r>
            <a:endParaRPr lang="en-US" dirty="0"/>
          </a:p>
          <a:p>
            <a:pPr>
              <a:spcBef>
                <a:spcPts val="1200"/>
              </a:spcBef>
            </a:pPr>
            <a:r>
              <a:rPr lang="en-US" dirty="0"/>
              <a:t>Benzodiazepines enhance the inhibitory function of GABA; serotonin reuptake blockade by SSRIs would also reduce LC firing</a:t>
            </a:r>
          </a:p>
          <a:p>
            <a:pPr>
              <a:spcBef>
                <a:spcPts val="1200"/>
              </a:spcBef>
            </a:pPr>
            <a:r>
              <a:rPr lang="en-US" altLang="en-US" dirty="0"/>
              <a:t>Tricyclic antidepressants enhance NE function, which inhibits firing of LC neurons by acting on </a:t>
            </a:r>
            <a:r>
              <a:rPr lang="en-US" altLang="en-US" dirty="0">
                <a:latin typeface="PalatinoLT-Roman"/>
              </a:rPr>
              <a:t>α</a:t>
            </a:r>
            <a:r>
              <a:rPr lang="en-US" altLang="en-US" baseline="-25000" dirty="0"/>
              <a:t>2</a:t>
            </a:r>
            <a:r>
              <a:rPr lang="en-US" altLang="en-US" dirty="0"/>
              <a:t>-autoreceptors</a:t>
            </a:r>
          </a:p>
        </p:txBody>
      </p:sp>
    </p:spTree>
    <p:extLst>
      <p:ext uri="{BB962C8B-B14F-4D97-AF65-F5344CB8AC3E}">
        <p14:creationId xmlns:p14="http://schemas.microsoft.com/office/powerpoint/2010/main" val="754173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B4FFE-B1C6-A946-AAC5-91817C6C3EB0}"/>
              </a:ext>
            </a:extLst>
          </p:cNvPr>
          <p:cNvSpPr>
            <a:spLocks noGrp="1"/>
          </p:cNvSpPr>
          <p:nvPr>
            <p:ph type="title"/>
          </p:nvPr>
        </p:nvSpPr>
        <p:spPr/>
        <p:txBody>
          <a:bodyPr/>
          <a:lstStyle/>
          <a:p>
            <a:r>
              <a:rPr lang="en-US" cap="all" dirty="0"/>
              <a:t>FIGURE 17.5</a:t>
            </a:r>
            <a:r>
              <a:rPr lang="en-US" dirty="0"/>
              <a:t>  Drug effects on locus coeruleus (LC) cell firing </a:t>
            </a:r>
            <a:r>
              <a:rPr lang="en-US" sz="1100" dirty="0"/>
              <a:t>(1)</a:t>
            </a:r>
          </a:p>
        </p:txBody>
      </p:sp>
      <p:pic>
        <p:nvPicPr>
          <p:cNvPr id="6" name="Content Placeholder 5" descr="An illustration depicts the drug effects on locus coeruleus cell firing. The illustration has a star shaped L C neuron body with an axon extending towards limbic system and multiple dendrites and the space in between dendrites are in contact with various drug receptors. Benzodiazepines enhance the inhibitory function of G A B A on L C neurons. C R F increases anxiety and has an excitatory effect on L C neurons. S S R I reuptake blockade of 5 H T enhances 5 H T inhibition of L C neurons. An enlarged view of the contact surface between the receptor and neuron has multiple in turns on the surface of receptor from which release of N E takes place and encloses multiple spherical and oval shaped structures. The neuron has a chain of inhibitory somatodendritic autoreceptors onto which the N E attaches. T C As and M A O Is enhance N E action at inhibitory autoreceptors to reduce L C firing."/>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616650" y="479425"/>
            <a:ext cx="6958701" cy="6300788"/>
          </a:xfrm>
        </p:spPr>
      </p:pic>
    </p:spTree>
    <p:extLst>
      <p:ext uri="{BB962C8B-B14F-4D97-AF65-F5344CB8AC3E}">
        <p14:creationId xmlns:p14="http://schemas.microsoft.com/office/powerpoint/2010/main" val="305290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(12 of 22)</a:t>
            </a:r>
            <a:endParaRPr lang="en-US" dirty="0"/>
          </a:p>
        </p:txBody>
      </p:sp>
      <p:sp>
        <p:nvSpPr>
          <p:cNvPr id="3" name="Text Placeholder 2"/>
          <p:cNvSpPr>
            <a:spLocks noGrp="1"/>
          </p:cNvSpPr>
          <p:nvPr>
            <p:ph idx="1"/>
          </p:nvPr>
        </p:nvSpPr>
        <p:spPr/>
        <p:txBody>
          <a:bodyPr/>
          <a:lstStyle/>
          <a:p>
            <a:pPr marL="457200" indent="-457200">
              <a:spcBef>
                <a:spcPct val="20000"/>
              </a:spcBef>
              <a:buNone/>
            </a:pPr>
            <a:r>
              <a:rPr lang="en-US" sz="3200" dirty="0"/>
              <a:t>Multiple neurotransmitters mediate anxiety: GABA</a:t>
            </a:r>
          </a:p>
          <a:p>
            <a:pPr>
              <a:spcBef>
                <a:spcPts val="1200"/>
              </a:spcBef>
            </a:pPr>
            <a:r>
              <a:rPr lang="en-US" dirty="0"/>
              <a:t>Inhibitory GABA has a major role in modulating anxiety: glutamatergic neurons from the PFC stimulate GABA neurons in the amygdala – top-down control of amygdaloid activity</a:t>
            </a:r>
          </a:p>
          <a:p>
            <a:pPr>
              <a:spcBef>
                <a:spcPts val="1200"/>
              </a:spcBef>
            </a:pPr>
            <a:r>
              <a:rPr lang="en-US" altLang="en-US" dirty="0">
                <a:ea typeface="Geneva"/>
              </a:rPr>
              <a:t>Benzodiazepines (BDZ) and barbiturates bind to modulatory sites on GABA</a:t>
            </a:r>
            <a:r>
              <a:rPr lang="en-US" altLang="en-US" baseline="-25000" dirty="0">
                <a:ea typeface="Geneva"/>
              </a:rPr>
              <a:t>A</a:t>
            </a:r>
            <a:r>
              <a:rPr lang="en-US" altLang="en-US" dirty="0">
                <a:ea typeface="Geneva"/>
              </a:rPr>
              <a:t> receptors to enhance function</a:t>
            </a:r>
          </a:p>
          <a:p>
            <a:pPr>
              <a:spcBef>
                <a:spcPts val="1200"/>
              </a:spcBef>
            </a:pPr>
            <a:r>
              <a:rPr lang="en-US" dirty="0">
                <a:ea typeface="Geneva"/>
              </a:rPr>
              <a:t>Other modulators also enhance GABA function: alcohol, and naturally occurring </a:t>
            </a:r>
            <a:r>
              <a:rPr lang="en-US" dirty="0" err="1">
                <a:ea typeface="Geneva"/>
              </a:rPr>
              <a:t>neurosteroids</a:t>
            </a:r>
            <a:r>
              <a:rPr lang="en-US" dirty="0">
                <a:ea typeface="Geneva"/>
              </a:rPr>
              <a:t> such as </a:t>
            </a:r>
            <a:r>
              <a:rPr lang="en-US" dirty="0" err="1">
                <a:ea typeface="Geneva"/>
              </a:rPr>
              <a:t>allopregnanalone</a:t>
            </a:r>
            <a:endParaRPr lang="en-US" dirty="0"/>
          </a:p>
        </p:txBody>
      </p:sp>
    </p:spTree>
    <p:extLst>
      <p:ext uri="{BB962C8B-B14F-4D97-AF65-F5344CB8AC3E}">
        <p14:creationId xmlns:p14="http://schemas.microsoft.com/office/powerpoint/2010/main" val="2103627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(13 of 22)</a:t>
            </a:r>
            <a:endParaRPr lang="en-US" dirty="0"/>
          </a:p>
        </p:txBody>
      </p:sp>
      <p:sp>
        <p:nvSpPr>
          <p:cNvPr id="3" name="Text Placeholder 2"/>
          <p:cNvSpPr>
            <a:spLocks noGrp="1"/>
          </p:cNvSpPr>
          <p:nvPr>
            <p:ph idx="1"/>
          </p:nvPr>
        </p:nvSpPr>
        <p:spPr/>
        <p:txBody>
          <a:bodyPr/>
          <a:lstStyle/>
          <a:p>
            <a:pPr marL="457200" indent="-457200">
              <a:spcBef>
                <a:spcPct val="20000"/>
              </a:spcBef>
              <a:buNone/>
            </a:pPr>
            <a:r>
              <a:rPr lang="en-US" sz="3200" dirty="0"/>
              <a:t>Multiple neurotransmitters mediate anxiety: GABA</a:t>
            </a:r>
          </a:p>
          <a:p>
            <a:pPr>
              <a:spcBef>
                <a:spcPts val="1200"/>
              </a:spcBef>
            </a:pPr>
            <a:r>
              <a:rPr lang="en-US" dirty="0"/>
              <a:t>To study BDZ action: the receptor antagonist flumazenil prevents effects of BDZ binding; inverse agonists </a:t>
            </a:r>
            <a:r>
              <a:rPr lang="el-GR" b="1" dirty="0"/>
              <a:t>β-</a:t>
            </a:r>
            <a:r>
              <a:rPr lang="en-US" b="1" dirty="0"/>
              <a:t>carbolines</a:t>
            </a:r>
            <a:r>
              <a:rPr lang="en-US" dirty="0"/>
              <a:t> produce the opposite actions of BDZs</a:t>
            </a:r>
          </a:p>
          <a:p>
            <a:pPr>
              <a:spcBef>
                <a:spcPts val="1200"/>
              </a:spcBef>
            </a:pPr>
            <a:r>
              <a:rPr lang="en-US" dirty="0"/>
              <a:t>PET scans show that patients with panic disorder, GAD, and PTSD have less benzodiazepine binding in the CNS and are less sensitive to BDZs</a:t>
            </a:r>
          </a:p>
        </p:txBody>
      </p:sp>
    </p:spTree>
    <p:extLst>
      <p:ext uri="{BB962C8B-B14F-4D97-AF65-F5344CB8AC3E}">
        <p14:creationId xmlns:p14="http://schemas.microsoft.com/office/powerpoint/2010/main" val="846406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CA3F1-1AE1-9D44-ACC4-AD2CEF58E69C}"/>
              </a:ext>
            </a:extLst>
          </p:cNvPr>
          <p:cNvSpPr>
            <a:spLocks noGrp="1"/>
          </p:cNvSpPr>
          <p:nvPr>
            <p:ph type="title"/>
          </p:nvPr>
        </p:nvSpPr>
        <p:spPr/>
        <p:txBody>
          <a:bodyPr/>
          <a:lstStyle/>
          <a:p>
            <a:r>
              <a:rPr lang="en-US" cap="all" dirty="0"/>
              <a:t>FIGURE 17.7</a:t>
            </a:r>
            <a:r>
              <a:rPr lang="en-US" dirty="0"/>
              <a:t>  Modulation of GABA-induced chloride (Cl</a:t>
            </a:r>
            <a:r>
              <a:rPr lang="en-US" baseline="30000" dirty="0"/>
              <a:t>−</a:t>
            </a:r>
            <a:r>
              <a:rPr lang="en-US" dirty="0"/>
              <a:t>) flux  </a:t>
            </a:r>
          </a:p>
        </p:txBody>
      </p:sp>
      <p:pic>
        <p:nvPicPr>
          <p:cNvPr id="6" name="Content Placeholder 5" descr="A horizontal bar graph depicts the modulation of G A B A induced chloride flux. The horizontal axis is labeled, modulation of G A B A stimulated C l flux in percentage and ranges from minus 40 to 40 in increments of 20. The vertical axis lists various B D Z agonists, competitive antagonist, beta carboline inverse agonists. The approximate data from the graph, presented in the format’ drug: modulation of GABA induced chloride flux. Diazepam: 38, flunitrazepam: 30, clonazepam: 28, midazolam: 30, flumazenil: minus 2, beta C C E: 20, beta C C M: 30, D M C M: 38."/>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850715" y="479425"/>
            <a:ext cx="6490570" cy="6300788"/>
          </a:xfrm>
        </p:spPr>
      </p:pic>
    </p:spTree>
    <p:extLst>
      <p:ext uri="{BB962C8B-B14F-4D97-AF65-F5344CB8AC3E}">
        <p14:creationId xmlns:p14="http://schemas.microsoft.com/office/powerpoint/2010/main" val="3669683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5E404-3C42-264F-97BF-F1FC64768930}"/>
              </a:ext>
            </a:extLst>
          </p:cNvPr>
          <p:cNvSpPr>
            <a:spLocks noGrp="1"/>
          </p:cNvSpPr>
          <p:nvPr>
            <p:ph type="title"/>
          </p:nvPr>
        </p:nvSpPr>
        <p:spPr/>
        <p:txBody>
          <a:bodyPr/>
          <a:lstStyle/>
          <a:p>
            <a:r>
              <a:rPr lang="en-US" cap="all" dirty="0"/>
              <a:t>FIGURE 17.8</a:t>
            </a:r>
            <a:r>
              <a:rPr lang="en-US" dirty="0"/>
              <a:t>  PET scans of a control individual (left) and a patient with panic disorder (right) </a:t>
            </a:r>
          </a:p>
        </p:txBody>
      </p:sp>
      <p:pic>
        <p:nvPicPr>
          <p:cNvPr id="6" name="Content Placeholder 5" descr="Two photos, left and right of the axial view of the brain in a P E T scan. Left: the brain is shaded in yellow with multiple areas of red in it covering a thick portion of the periphery indicating increased concentration of B D Z receptors, while the border of the brain and the central portion in the shape of x are shaded in blue. Right: the brain is shaded irregularly in the periphery of the brain in yellow which involves the portions of F r and A C i n anteriorly, T L and I N S laterally and O C posteriorly. These portions represent decreased activity of B D Z. The border of the brain and increased central portion involving regions of C N and T h are shaded In blu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806910" y="479425"/>
            <a:ext cx="8578181" cy="6300788"/>
          </a:xfrm>
        </p:spPr>
      </p:pic>
    </p:spTree>
    <p:extLst>
      <p:ext uri="{BB962C8B-B14F-4D97-AF65-F5344CB8AC3E}">
        <p14:creationId xmlns:p14="http://schemas.microsoft.com/office/powerpoint/2010/main" val="766712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(14 of 22)</a:t>
            </a:r>
            <a:endParaRPr lang="en-US" dirty="0"/>
          </a:p>
        </p:txBody>
      </p:sp>
      <p:sp>
        <p:nvSpPr>
          <p:cNvPr id="3" name="Text Placeholder 2"/>
          <p:cNvSpPr>
            <a:spLocks noGrp="1"/>
          </p:cNvSpPr>
          <p:nvPr>
            <p:ph idx="1"/>
          </p:nvPr>
        </p:nvSpPr>
        <p:spPr/>
        <p:txBody>
          <a:bodyPr>
            <a:normAutofit fontScale="92500"/>
          </a:bodyPr>
          <a:lstStyle/>
          <a:p>
            <a:pPr marL="457200" indent="-457200">
              <a:spcBef>
                <a:spcPct val="20000"/>
              </a:spcBef>
              <a:buNone/>
            </a:pPr>
            <a:r>
              <a:rPr lang="en-US" sz="3500" dirty="0"/>
              <a:t>Multiple neurotransmitters mediate anxiety: </a:t>
            </a:r>
            <a:r>
              <a:rPr lang="en-US" sz="3500" dirty="0" err="1"/>
              <a:t>neurosteroids</a:t>
            </a:r>
            <a:endParaRPr lang="en-US" sz="3500" dirty="0"/>
          </a:p>
          <a:p>
            <a:pPr>
              <a:spcBef>
                <a:spcPts val="1200"/>
              </a:spcBef>
            </a:pPr>
            <a:r>
              <a:rPr lang="en-US" dirty="0"/>
              <a:t>Allopregnanolone </a:t>
            </a:r>
            <a:r>
              <a:rPr lang="en-US" altLang="en-US" dirty="0">
                <a:ea typeface="Geneva"/>
              </a:rPr>
              <a:t>binds to a separate site on GABA</a:t>
            </a:r>
            <a:r>
              <a:rPr lang="en-US" altLang="en-US" baseline="-25000" dirty="0">
                <a:ea typeface="Geneva"/>
              </a:rPr>
              <a:t>A</a:t>
            </a:r>
            <a:r>
              <a:rPr lang="en-US" altLang="en-US" dirty="0">
                <a:ea typeface="Geneva"/>
              </a:rPr>
              <a:t> receptors and increases duration of GABA-induced Cl</a:t>
            </a:r>
            <a:r>
              <a:rPr lang="en-US" altLang="en-US" baseline="30000" dirty="0">
                <a:ea typeface="Geneva"/>
              </a:rPr>
              <a:t>–</a:t>
            </a:r>
            <a:r>
              <a:rPr lang="en-US" altLang="en-US" dirty="0">
                <a:ea typeface="Geneva"/>
              </a:rPr>
              <a:t> channel opening</a:t>
            </a:r>
          </a:p>
          <a:p>
            <a:pPr>
              <a:spcBef>
                <a:spcPts val="1200"/>
              </a:spcBef>
            </a:pPr>
            <a:r>
              <a:rPr lang="en-US" altLang="en-US" dirty="0">
                <a:ea typeface="Geneva"/>
              </a:rPr>
              <a:t>Baseline levels of </a:t>
            </a:r>
            <a:r>
              <a:rPr lang="en-US" altLang="en-US" dirty="0" err="1">
                <a:ea typeface="Geneva"/>
              </a:rPr>
              <a:t>neurosteroids</a:t>
            </a:r>
            <a:r>
              <a:rPr lang="en-US" altLang="en-US" dirty="0">
                <a:ea typeface="Geneva"/>
              </a:rPr>
              <a:t> are elevated in panic disorder but drop when a panic attack is induced, indicating reduced GABA control of the anxiety</a:t>
            </a:r>
          </a:p>
          <a:p>
            <a:pPr>
              <a:spcBef>
                <a:spcPts val="1200"/>
              </a:spcBef>
            </a:pPr>
            <a:r>
              <a:rPr lang="en-US" altLang="en-US" dirty="0" err="1">
                <a:ea typeface="Geneva"/>
              </a:rPr>
              <a:t>Neurosteroid</a:t>
            </a:r>
            <a:r>
              <a:rPr lang="en-US" altLang="en-US" dirty="0">
                <a:ea typeface="Geneva"/>
              </a:rPr>
              <a:t> levels tend to be lower in individuals with GAD and social phobia</a:t>
            </a:r>
          </a:p>
          <a:p>
            <a:pPr>
              <a:spcBef>
                <a:spcPts val="1200"/>
              </a:spcBef>
            </a:pPr>
            <a:r>
              <a:rPr lang="en-US" altLang="en-US" dirty="0" err="1">
                <a:ea typeface="Geneva"/>
              </a:rPr>
              <a:t>Neurosteroid</a:t>
            </a:r>
            <a:r>
              <a:rPr lang="en-US" altLang="en-US" dirty="0">
                <a:ea typeface="Geneva"/>
              </a:rPr>
              <a:t> levels may be used to distinguish among anxiety disorders </a:t>
            </a:r>
          </a:p>
        </p:txBody>
      </p:sp>
    </p:spTree>
    <p:extLst>
      <p:ext uri="{BB962C8B-B14F-4D97-AF65-F5344CB8AC3E}">
        <p14:creationId xmlns:p14="http://schemas.microsoft.com/office/powerpoint/2010/main" val="1730459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(15 of 22)</a:t>
            </a:r>
            <a:endParaRPr lang="en-US" dirty="0"/>
          </a:p>
        </p:txBody>
      </p:sp>
      <p:sp>
        <p:nvSpPr>
          <p:cNvPr id="3" name="Text Placeholder 2"/>
          <p:cNvSpPr>
            <a:spLocks noGrp="1"/>
          </p:cNvSpPr>
          <p:nvPr>
            <p:ph idx="1"/>
          </p:nvPr>
        </p:nvSpPr>
        <p:spPr/>
        <p:txBody>
          <a:bodyPr>
            <a:normAutofit fontScale="92500"/>
          </a:bodyPr>
          <a:lstStyle/>
          <a:p>
            <a:pPr marL="457200" indent="-457200">
              <a:spcBef>
                <a:spcPct val="20000"/>
              </a:spcBef>
              <a:buNone/>
            </a:pPr>
            <a:r>
              <a:rPr lang="en-US" sz="3500" dirty="0"/>
              <a:t>Multiple neurotransmitters mediate anxiety: serotonin</a:t>
            </a:r>
          </a:p>
          <a:p>
            <a:pPr>
              <a:spcBef>
                <a:spcPts val="1200"/>
              </a:spcBef>
            </a:pPr>
            <a:r>
              <a:rPr lang="en-US" altLang="en-US" dirty="0">
                <a:ea typeface="Geneva"/>
              </a:rPr>
              <a:t>5-HT modulates anxiety in a complex fashion</a:t>
            </a:r>
          </a:p>
          <a:p>
            <a:pPr>
              <a:spcBef>
                <a:spcPts val="1200"/>
              </a:spcBef>
            </a:pPr>
            <a:r>
              <a:rPr lang="en-US" dirty="0"/>
              <a:t>Injections of 5-HT</a:t>
            </a:r>
            <a:r>
              <a:rPr lang="en-US" baseline="-25000" dirty="0"/>
              <a:t>1A</a:t>
            </a:r>
            <a:r>
              <a:rPr lang="en-US" dirty="0"/>
              <a:t> agonists show that the site of injection determines outcome:</a:t>
            </a:r>
          </a:p>
          <a:p>
            <a:pPr lvl="1">
              <a:spcBef>
                <a:spcPts val="1200"/>
              </a:spcBef>
            </a:pPr>
            <a:r>
              <a:rPr lang="en-US" dirty="0"/>
              <a:t>Hippocampus or amygdala, 5-HT</a:t>
            </a:r>
            <a:r>
              <a:rPr lang="en-US" baseline="-25000" dirty="0"/>
              <a:t>1A</a:t>
            </a:r>
            <a:r>
              <a:rPr lang="en-US" dirty="0"/>
              <a:t> receptors are located </a:t>
            </a:r>
            <a:r>
              <a:rPr lang="en-US" dirty="0" err="1"/>
              <a:t>postsynaptically</a:t>
            </a:r>
            <a:r>
              <a:rPr lang="en-US" dirty="0"/>
              <a:t>—anxious behaviors increase</a:t>
            </a:r>
          </a:p>
          <a:p>
            <a:pPr lvl="1">
              <a:spcBef>
                <a:spcPts val="1200"/>
              </a:spcBef>
            </a:pPr>
            <a:r>
              <a:rPr lang="en-US" dirty="0"/>
              <a:t>Raphe nuclei, 5-HT</a:t>
            </a:r>
            <a:r>
              <a:rPr lang="en-US" baseline="-25000" dirty="0"/>
              <a:t>1A</a:t>
            </a:r>
            <a:r>
              <a:rPr lang="en-US" dirty="0"/>
              <a:t> receptors are </a:t>
            </a:r>
            <a:r>
              <a:rPr lang="en-US" dirty="0" err="1"/>
              <a:t>somatodendritic</a:t>
            </a:r>
            <a:r>
              <a:rPr lang="en-US" dirty="0"/>
              <a:t> </a:t>
            </a:r>
            <a:r>
              <a:rPr lang="en-US" dirty="0" err="1"/>
              <a:t>autoreceptors</a:t>
            </a:r>
            <a:r>
              <a:rPr lang="en-US" dirty="0"/>
              <a:t>—an anxiolytic effect results</a:t>
            </a:r>
          </a:p>
          <a:p>
            <a:pPr>
              <a:spcBef>
                <a:spcPts val="1200"/>
              </a:spcBef>
            </a:pPr>
            <a:r>
              <a:rPr lang="en-US" dirty="0"/>
              <a:t>Individuals with anxiety disorders show reduced 5-HT</a:t>
            </a:r>
            <a:r>
              <a:rPr lang="en-US" baseline="-25000" dirty="0"/>
              <a:t>1A</a:t>
            </a:r>
            <a:r>
              <a:rPr lang="en-US" dirty="0"/>
              <a:t> binding in the raphe</a:t>
            </a:r>
          </a:p>
        </p:txBody>
      </p:sp>
    </p:spTree>
    <p:extLst>
      <p:ext uri="{BB962C8B-B14F-4D97-AF65-F5344CB8AC3E}">
        <p14:creationId xmlns:p14="http://schemas.microsoft.com/office/powerpoint/2010/main" val="34887954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(16 of 22)</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Multiple neurotransmitters mediate anxiety: serotonin</a:t>
            </a:r>
          </a:p>
          <a:p>
            <a:pPr>
              <a:spcBef>
                <a:spcPts val="1200"/>
              </a:spcBef>
            </a:pPr>
            <a:r>
              <a:rPr lang="en-US" altLang="en-US" dirty="0">
                <a:ea typeface="Geneva"/>
              </a:rPr>
              <a:t>SSRIs block reuptake of 5-HT, prolonging its effects; may initially increase anxiety but over several weeks produces neuronal adaptations and therapeutic effect</a:t>
            </a:r>
          </a:p>
          <a:p>
            <a:pPr>
              <a:spcBef>
                <a:spcPts val="1200"/>
              </a:spcBef>
            </a:pPr>
            <a:r>
              <a:rPr lang="en-US" altLang="en-US" dirty="0">
                <a:ea typeface="Geneva"/>
              </a:rPr>
              <a:t>The neurotrophic effect of 5-HT is needed for normal fetal development</a:t>
            </a:r>
          </a:p>
          <a:p>
            <a:pPr>
              <a:spcBef>
                <a:spcPts val="1200"/>
              </a:spcBef>
            </a:pPr>
            <a:r>
              <a:rPr lang="en-US" dirty="0"/>
              <a:t>A polymorphism in the promoter of the 5-HT transporter gene results in higher prenatal 5-HT levels; individuals show increased emotionality, reduced volume of the amygdala and ACC, and weaker connections between these structures as adults</a:t>
            </a:r>
          </a:p>
        </p:txBody>
      </p:sp>
    </p:spTree>
    <p:extLst>
      <p:ext uri="{BB962C8B-B14F-4D97-AF65-F5344CB8AC3E}">
        <p14:creationId xmlns:p14="http://schemas.microsoft.com/office/powerpoint/2010/main" val="8117756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(17 of 22)</a:t>
            </a:r>
            <a:endParaRPr lang="en-US" dirty="0"/>
          </a:p>
        </p:txBody>
      </p:sp>
      <p:sp>
        <p:nvSpPr>
          <p:cNvPr id="3" name="Text Placeholder 2"/>
          <p:cNvSpPr>
            <a:spLocks noGrp="1"/>
          </p:cNvSpPr>
          <p:nvPr>
            <p:ph idx="1"/>
          </p:nvPr>
        </p:nvSpPr>
        <p:spPr/>
        <p:txBody>
          <a:bodyPr>
            <a:normAutofit fontScale="92500" lnSpcReduction="20000"/>
          </a:bodyPr>
          <a:lstStyle/>
          <a:p>
            <a:pPr marL="457200" indent="-457200">
              <a:spcBef>
                <a:spcPct val="20000"/>
              </a:spcBef>
              <a:buNone/>
            </a:pPr>
            <a:r>
              <a:rPr lang="en-US" sz="3500" dirty="0"/>
              <a:t>Multiple neurotransmitters mediate anxiety: dopamine</a:t>
            </a:r>
          </a:p>
          <a:p>
            <a:r>
              <a:rPr lang="en-US" altLang="en-US" sz="3000" dirty="0"/>
              <a:t>DA projections from the VTA to the </a:t>
            </a:r>
            <a:r>
              <a:rPr lang="en-US" altLang="en-US" sz="3000" dirty="0" err="1"/>
              <a:t>mPFC</a:t>
            </a:r>
            <a:r>
              <a:rPr lang="en-US" altLang="en-US" sz="3000" dirty="0"/>
              <a:t> and limbic regions that are activated by threatening stimuli </a:t>
            </a:r>
            <a:r>
              <a:rPr lang="en-US" sz="3000" dirty="0"/>
              <a:t>reduce inhibitory control from the </a:t>
            </a:r>
            <a:r>
              <a:rPr lang="en-US" sz="3000" dirty="0" err="1"/>
              <a:t>mPFC</a:t>
            </a:r>
            <a:r>
              <a:rPr lang="en-US" sz="3000" dirty="0"/>
              <a:t> and increase emotional responses</a:t>
            </a:r>
          </a:p>
          <a:p>
            <a:r>
              <a:rPr lang="en-US" altLang="en-US" sz="3000" dirty="0"/>
              <a:t>DA release reduces inhibitory control of local GABA interneurons, which increases amygdaloid activation</a:t>
            </a:r>
          </a:p>
          <a:p>
            <a:r>
              <a:rPr lang="en-US" altLang="en-US" sz="3000" dirty="0"/>
              <a:t>Phasic burst firing by VTA cells is increased by stress and correlated with enhanced DA release, especially in the </a:t>
            </a:r>
            <a:r>
              <a:rPr lang="en-US" altLang="en-US" sz="3000" dirty="0" err="1"/>
              <a:t>Nacc</a:t>
            </a:r>
            <a:r>
              <a:rPr lang="en-US" altLang="en-US" sz="3000" dirty="0"/>
              <a:t>; chronic activation persisting when threats are no longer present may predict dysfunctional responses in social interaction</a:t>
            </a:r>
          </a:p>
        </p:txBody>
      </p:sp>
    </p:spTree>
    <p:extLst>
      <p:ext uri="{BB962C8B-B14F-4D97-AF65-F5344CB8AC3E}">
        <p14:creationId xmlns:p14="http://schemas.microsoft.com/office/powerpoint/2010/main" val="36577485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(18 of 22)</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Genes and environment interact to modulate anxiety</a:t>
            </a:r>
          </a:p>
          <a:p>
            <a:pPr>
              <a:spcBef>
                <a:spcPts val="1200"/>
              </a:spcBef>
            </a:pPr>
            <a:r>
              <a:rPr lang="en-US" dirty="0"/>
              <a:t>Levels of trait anxiety vary among individuals; reasonably consistent over one’s lifetime; indicates genetically determined brain differences</a:t>
            </a:r>
          </a:p>
          <a:p>
            <a:pPr>
              <a:spcBef>
                <a:spcPts val="1200"/>
              </a:spcBef>
            </a:pPr>
            <a:r>
              <a:rPr lang="en-US" dirty="0"/>
              <a:t>Rodents vary in innate anxiety level; inbred strains are used to study the neurobiology and treatment of anxiety</a:t>
            </a:r>
          </a:p>
          <a:p>
            <a:pPr>
              <a:spcBef>
                <a:spcPts val="1200"/>
              </a:spcBef>
            </a:pPr>
            <a:r>
              <a:rPr lang="en-US" dirty="0"/>
              <a:t>Family and twin studies estimate heritability of anxiety disorders at 30% to 60%</a:t>
            </a:r>
          </a:p>
          <a:p>
            <a:pPr>
              <a:spcBef>
                <a:spcPts val="1200"/>
              </a:spcBef>
            </a:pPr>
            <a:r>
              <a:rPr lang="en-US" dirty="0"/>
              <a:t>Animal and human studies: early exposure to stress and neglect alters the developing brain and can produce lifelong enhanced anxiety</a:t>
            </a:r>
          </a:p>
        </p:txBody>
      </p:sp>
    </p:spTree>
    <p:extLst>
      <p:ext uri="{BB962C8B-B14F-4D97-AF65-F5344CB8AC3E}">
        <p14:creationId xmlns:p14="http://schemas.microsoft.com/office/powerpoint/2010/main" val="6906254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C915E-FCDD-7240-AF21-2E69503D9E05}"/>
              </a:ext>
            </a:extLst>
          </p:cNvPr>
          <p:cNvSpPr>
            <a:spLocks noGrp="1"/>
          </p:cNvSpPr>
          <p:nvPr>
            <p:ph type="title"/>
          </p:nvPr>
        </p:nvSpPr>
        <p:spPr/>
        <p:txBody>
          <a:bodyPr/>
          <a:lstStyle/>
          <a:p>
            <a:r>
              <a:rPr lang="en-US" cap="all" dirty="0"/>
              <a:t>FIGURE 17.10</a:t>
            </a:r>
            <a:r>
              <a:rPr lang="en-US" dirty="0"/>
              <a:t>  Stress pathway dysregulation following early prenatal stress </a:t>
            </a:r>
          </a:p>
        </p:txBody>
      </p:sp>
      <p:pic>
        <p:nvPicPr>
          <p:cNvPr id="6" name="Content Placeholder 5" descr="A line graph depicts the levels of corticosterone in response to early prenatal stress with time. The horizontal axis is labeled, time in minutes and ranges from 0 to 60 in increments of 15. The vertical axis is labeled, corticosterone in nanograms per millimeter and ranges from 0 to 400 in increments of 50 all data are approximate. The line for control is plotted through (0, 25), (15, 150), (30, 180), (45, 160), (60, 120). The line for E-P S is plotted through (0, 50), (15, 250), (30, 280), (45, 225), (60, 160).&#10;&#10;Two micrographs, left and right of the central nucleus of amygdala in control and E P S. Left: A micrograph of the central nucleus of amygdala consists of a few white patches interspersed in multiple white dots in a black background. Right: A micrograph of the central nucleus of amygdala in E P S. It consists of many bright white patches interspersed in multiple white dots on a black background.&#10;&#10;A bar graph depicts the optical density of E P S when compared to a control. The horizontal axis lists control and E P S. The vertical axis is labeled, optical density and ranges from 0 to 750 in increments of 150. All data are approximate and are as follows. Control: 175, E P S: 610.&#10;&#10;Two micrographs left and right of hippocampus region in E P S when compared to control. Left: A micrograph of region in hippocampus which consists of a bright white line in the shape of a loop with multiple white dots around in a black background. Right: A micrograph of region in hippocampus which consists of a dull white line in the shape of a loop with multiple white dots around in a black background.&#10;&#10;A bar graph depicts the optical density of E P S when compared to a control in various regions of the brain. The horizontal axis lists the various regions such as C A 1, C A 2, C A 3, D G. The vertical axis is labeled, optical density and ranges from 0 to 500 in increments of 100. All data are approximate and presented in the format; region: control, E P S. C A 1: 450, 300. C A 2: 200, 220. C A 3: 200, 75. D G: 450, 21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098388" y="479425"/>
            <a:ext cx="9995225" cy="6300788"/>
          </a:xfrm>
        </p:spPr>
      </p:pic>
    </p:spTree>
    <p:extLst>
      <p:ext uri="{BB962C8B-B14F-4D97-AF65-F5344CB8AC3E}">
        <p14:creationId xmlns:p14="http://schemas.microsoft.com/office/powerpoint/2010/main" val="2900292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(19 of 22)</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Genes and environment interact to modulate anxiety</a:t>
            </a:r>
          </a:p>
          <a:p>
            <a:pPr>
              <a:spcBef>
                <a:spcPts val="1200"/>
              </a:spcBef>
            </a:pPr>
            <a:r>
              <a:rPr lang="en-US" dirty="0"/>
              <a:t>Early stress also alters the HPA axis, causing a hyperactive hormonal response to challenge that persists throughout adulthood; may be due to epigenetic factors</a:t>
            </a:r>
          </a:p>
          <a:p>
            <a:pPr>
              <a:spcBef>
                <a:spcPts val="1200"/>
              </a:spcBef>
            </a:pPr>
            <a:r>
              <a:rPr lang="en-US" dirty="0"/>
              <a:t>Prolonged stress apparently produces opposite effects on the hippocampus, where synaptic structures atrophy, and on the amygdala, where dendritic growth, increased arborization, and increased spine connectivity are seen</a:t>
            </a:r>
          </a:p>
        </p:txBody>
      </p:sp>
    </p:spTree>
    <p:extLst>
      <p:ext uri="{BB962C8B-B14F-4D97-AF65-F5344CB8AC3E}">
        <p14:creationId xmlns:p14="http://schemas.microsoft.com/office/powerpoint/2010/main" val="1027825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04DEA-2742-7641-8BED-B9FF6127C293}"/>
              </a:ext>
            </a:extLst>
          </p:cNvPr>
          <p:cNvSpPr>
            <a:spLocks noGrp="1"/>
          </p:cNvSpPr>
          <p:nvPr>
            <p:ph type="title"/>
          </p:nvPr>
        </p:nvSpPr>
        <p:spPr/>
        <p:txBody>
          <a:bodyPr/>
          <a:lstStyle/>
          <a:p>
            <a:r>
              <a:rPr lang="en-US" cap="all" dirty="0"/>
              <a:t>FIGURE 17.11</a:t>
            </a:r>
            <a:r>
              <a:rPr lang="en-US" dirty="0"/>
              <a:t>  Effects of 10 days of chronic immobilization stress on dendritic length and complexity in the hippocampus and basolateral amygdala </a:t>
            </a:r>
          </a:p>
        </p:txBody>
      </p:sp>
      <p:pic>
        <p:nvPicPr>
          <p:cNvPr id="6" name="Content Placeholder 5" descr="A line graph depicts the dendritic length in C I S when compared with a control. The horizontal axis is labeled, radial distance from soma in micrometers and ranges from 0 to 400 in increments of 100. The vertical axis is labeled, dendritic length in micrometers and ranges from 0 to 1000 in increments of 200. All data are approximate. The line for control is plotted through (100, 300), (150, 600), (200, 590), (250, 400), (300, 200), (350, 100), (400, 0). The line for CIS is plotted through (50, 100), (100, 300), (150, 420), (200, 380), (250, 200), (300, 200), (350, 100), (400, 0).&#10;&#10;A line graph depicts the number of branch points in C I S when compared with a control. The horizontal axis is labeled, radial distance from soma in micrometers and ranges from 0 to 400 in increments of 100. The vertical axis is labeled, number of branch points and ranges from 0 to 12 in increments of 2. All data are approximate. The line for control is plotted through (50, 1), (100, 4), (150, 5), (200, 2), (250, 1), (300, 0), (400, 0). The line for C I S is plotted through (50, 1), (100, 4), (150, 3), (200, 1), (300, 0.5), (400, 0). &#10;&#10;Two illustrations left and right of neurons in C I S when compared to a control. Left: the illustration of a neuron used as a control with an elongated body and a bunch of long dendrites radiating each from the upper and lower extremity. Right: the illustration of a neuron in C I S with an elongated body and a bunch of few short dendrites radiating each from the upper and lower extremity.&#10;&#10;Two illustrations left and right of neurons of basolateral amygdala in C I S when compared to a control. Left: the illustration of a neuron used as a control with an elongated body with short and less branches of dendrites from the extremities. Right: the illustration of a neuron in C I S with an elongated body with long and more branches of dendrites from the extremities.&#10;&#10;A box plot of total dendritic length in C I S when compared to a control. The vertical axis is labeled total dendritic length in micrometers and ranges from 500 to 2000 in increments of 500. All data are approximate. Control- lower quartile: 1000, median: 1250, upper quartile: 1600. C I S-lower quartile: 1250, median: 1700, upper quartile: 1950.&#10;&#10;A box plot of total number of branch length in C I S when compared to a control. The vertical axis is labeled total dendritic length in micrometers and ranges from 10 to 19 in increments of 3. All data are approximate. Control-lower quartile: 12, median: 14, upper quartile: 16. C I S-lower quartile: 14.5, median: 15, upper quartile: 17."/>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965998"/>
            <a:ext cx="11376025" cy="5513380"/>
          </a:xfrm>
        </p:spPr>
      </p:pic>
    </p:spTree>
    <p:extLst>
      <p:ext uri="{BB962C8B-B14F-4D97-AF65-F5344CB8AC3E}">
        <p14:creationId xmlns:p14="http://schemas.microsoft.com/office/powerpoint/2010/main" val="33442826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(20 of 22)</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The effects of early stress are dependent on timing</a:t>
            </a:r>
          </a:p>
          <a:p>
            <a:pPr>
              <a:spcBef>
                <a:spcPts val="1200"/>
              </a:spcBef>
            </a:pPr>
            <a:r>
              <a:rPr lang="en-US" dirty="0"/>
              <a:t>Nervous system development continues throughout gestation and even after birth; the PFC is not fully mature until adolescence</a:t>
            </a:r>
          </a:p>
          <a:p>
            <a:pPr>
              <a:spcBef>
                <a:spcPts val="1200"/>
              </a:spcBef>
            </a:pPr>
            <a:r>
              <a:rPr lang="en-US" dirty="0"/>
              <a:t>Human and animal studies are providing information on the effects of stress at different stages of development.</a:t>
            </a:r>
          </a:p>
        </p:txBody>
      </p:sp>
    </p:spTree>
    <p:extLst>
      <p:ext uri="{BB962C8B-B14F-4D97-AF65-F5344CB8AC3E}">
        <p14:creationId xmlns:p14="http://schemas.microsoft.com/office/powerpoint/2010/main" val="10360689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(21 of 22)</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The effects of early stress vary with gender</a:t>
            </a:r>
          </a:p>
          <a:p>
            <a:pPr>
              <a:spcBef>
                <a:spcPts val="1200"/>
              </a:spcBef>
            </a:pPr>
            <a:r>
              <a:rPr lang="en-US" altLang="en-US" dirty="0">
                <a:ea typeface="Geneva"/>
              </a:rPr>
              <a:t>Brain imaging has shown significant differences in structure and neurotransmitter systems in males and females.</a:t>
            </a:r>
          </a:p>
          <a:p>
            <a:pPr>
              <a:spcBef>
                <a:spcPts val="1200"/>
              </a:spcBef>
            </a:pPr>
            <a:r>
              <a:rPr lang="en-US" dirty="0"/>
              <a:t>Women have higher rates of anxiety disorders, though this may not hold true for social anxiety disorder; some differences may be explained by sociocultural influences.</a:t>
            </a:r>
          </a:p>
          <a:p>
            <a:pPr>
              <a:spcBef>
                <a:spcPts val="1200"/>
              </a:spcBef>
            </a:pPr>
            <a:r>
              <a:rPr lang="en-US" dirty="0"/>
              <a:t>Hormonal changes during the menstrual cycle impact HPA axis function; when estrogen levels are elevated, sensitivity to stress is greater, and glucocorticoid release is increased.</a:t>
            </a:r>
          </a:p>
        </p:txBody>
      </p:sp>
    </p:spTree>
    <p:extLst>
      <p:ext uri="{BB962C8B-B14F-4D97-AF65-F5344CB8AC3E}">
        <p14:creationId xmlns:p14="http://schemas.microsoft.com/office/powerpoint/2010/main" val="42107017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Neurobiology of Anxiety </a:t>
            </a:r>
            <a:r>
              <a:rPr lang="en-US" sz="1200" dirty="0"/>
              <a:t>(22 of 22)</a:t>
            </a:r>
            <a:endParaRPr lang="en-US" dirty="0"/>
          </a:p>
        </p:txBody>
      </p:sp>
      <p:sp>
        <p:nvSpPr>
          <p:cNvPr id="3" name="Text Placeholder 2"/>
          <p:cNvSpPr>
            <a:spLocks noGrp="1"/>
          </p:cNvSpPr>
          <p:nvPr>
            <p:ph idx="1"/>
          </p:nvPr>
        </p:nvSpPr>
        <p:spPr/>
        <p:txBody>
          <a:bodyPr>
            <a:normAutofit lnSpcReduction="10000"/>
          </a:bodyPr>
          <a:lstStyle/>
          <a:p>
            <a:pPr marL="0" indent="0">
              <a:spcBef>
                <a:spcPts val="1200"/>
              </a:spcBef>
              <a:buNone/>
            </a:pPr>
            <a:r>
              <a:rPr lang="en-US" sz="2400" u="sng" dirty="0"/>
              <a:t>CLICKER QUESTION 1</a:t>
            </a:r>
          </a:p>
          <a:p>
            <a:pPr marL="457200" indent="-457200">
              <a:spcBef>
                <a:spcPts val="2400"/>
              </a:spcBef>
              <a:buNone/>
            </a:pPr>
            <a:r>
              <a:rPr lang="en-US" sz="3200" dirty="0"/>
              <a:t>Which area of the brain plays an important role in initiating sustained emotional responses in preparation for an unclear danger?</a:t>
            </a:r>
          </a:p>
          <a:p>
            <a:pPr marL="914400" indent="-457200">
              <a:spcBef>
                <a:spcPts val="1200"/>
              </a:spcBef>
              <a:buFont typeface="Arial" pitchFamily="34" charset="0"/>
              <a:buAutoNum type="alphaLcPeriod"/>
            </a:pPr>
            <a:r>
              <a:rPr lang="en-US" sz="3200" dirty="0"/>
              <a:t>Central nucleus of the amygdala</a:t>
            </a:r>
          </a:p>
          <a:p>
            <a:pPr marL="914400" indent="-457200">
              <a:spcBef>
                <a:spcPts val="1200"/>
              </a:spcBef>
              <a:buFont typeface="Arial" pitchFamily="34" charset="0"/>
              <a:buAutoNum type="alphaLcPeriod"/>
            </a:pPr>
            <a:r>
              <a:rPr lang="en-US" sz="3200" dirty="0"/>
              <a:t>Prefrontal cortex</a:t>
            </a:r>
          </a:p>
          <a:p>
            <a:pPr marL="914400" indent="-457200">
              <a:spcBef>
                <a:spcPts val="1200"/>
              </a:spcBef>
              <a:buFont typeface="Arial" pitchFamily="34" charset="0"/>
              <a:buAutoNum type="alphaLcPeriod"/>
            </a:pPr>
            <a:r>
              <a:rPr lang="en-US" sz="3200" dirty="0"/>
              <a:t>BNST</a:t>
            </a:r>
          </a:p>
          <a:p>
            <a:pPr marL="914400" indent="-457200">
              <a:spcBef>
                <a:spcPts val="1200"/>
              </a:spcBef>
              <a:buFont typeface="Arial" pitchFamily="34" charset="0"/>
              <a:buAutoNum type="alphaLcPeriod"/>
            </a:pPr>
            <a:r>
              <a:rPr lang="en-US" sz="3200" dirty="0"/>
              <a:t>Hippocampus </a:t>
            </a:r>
          </a:p>
        </p:txBody>
      </p:sp>
    </p:spTree>
    <p:extLst>
      <p:ext uri="{BB962C8B-B14F-4D97-AF65-F5344CB8AC3E}">
        <p14:creationId xmlns:p14="http://schemas.microsoft.com/office/powerpoint/2010/main" val="22446861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tabLst>
                <a:tab pos="4625975" algn="l"/>
                <a:tab pos="4746625" algn="l"/>
              </a:tabLst>
            </a:pPr>
            <a:r>
              <a:rPr lang="en-US" dirty="0"/>
              <a:t>Review of Learning Objectives </a:t>
            </a:r>
            <a:r>
              <a:rPr lang="en-US" sz="1200" dirty="0"/>
              <a:t>(1 of 3)</a:t>
            </a:r>
            <a:endParaRPr lang="en-US" dirty="0"/>
          </a:p>
        </p:txBody>
      </p:sp>
      <p:sp>
        <p:nvSpPr>
          <p:cNvPr id="3" name="Text Placeholder 2"/>
          <p:cNvSpPr>
            <a:spLocks noGrp="1"/>
          </p:cNvSpPr>
          <p:nvPr>
            <p:ph idx="1"/>
          </p:nvPr>
        </p:nvSpPr>
        <p:spPr/>
        <p:txBody>
          <a:bodyPr>
            <a:normAutofit/>
          </a:bodyPr>
          <a:lstStyle/>
          <a:p>
            <a:pPr marL="1149350" indent="-1149350">
              <a:lnSpc>
                <a:spcPct val="110000"/>
              </a:lnSpc>
              <a:spcBef>
                <a:spcPts val="1800"/>
              </a:spcBef>
              <a:buNone/>
            </a:pPr>
            <a:r>
              <a:rPr lang="en-US" sz="2800" dirty="0"/>
              <a:t>17.1.1  Describe the general psychological, behavioral, and physical manifestations of anxiety.</a:t>
            </a:r>
          </a:p>
          <a:p>
            <a:pPr marL="1149350" indent="-1149350">
              <a:lnSpc>
                <a:spcPct val="110000"/>
              </a:lnSpc>
              <a:spcBef>
                <a:spcPts val="1800"/>
              </a:spcBef>
              <a:buNone/>
            </a:pPr>
            <a:r>
              <a:rPr lang="en-US" sz="2800" dirty="0"/>
              <a:t>17.1.2  Detail the neurocircuitry of anxiety: the amygdala and its interactions with other limbic system structures. </a:t>
            </a:r>
          </a:p>
          <a:p>
            <a:pPr marL="1149350" indent="-1149350">
              <a:lnSpc>
                <a:spcPct val="110000"/>
              </a:lnSpc>
              <a:spcBef>
                <a:spcPts val="1800"/>
              </a:spcBef>
              <a:buNone/>
            </a:pPr>
            <a:r>
              <a:rPr lang="en-US" sz="2800" dirty="0"/>
              <a:t>17.1.3  Describe the role various neurotransmitter systems play in mediating anxiety.</a:t>
            </a:r>
          </a:p>
          <a:p>
            <a:pPr marL="1149350" indent="-1149350">
              <a:lnSpc>
                <a:spcPct val="110000"/>
              </a:lnSpc>
              <a:spcBef>
                <a:spcPts val="1800"/>
              </a:spcBef>
              <a:buNone/>
            </a:pPr>
            <a:r>
              <a:rPr lang="en-US" sz="2800" dirty="0"/>
              <a:t>17.1.4  Describe the role of genes, gender, and interactions with the environment in modulating anxiety.</a:t>
            </a:r>
          </a:p>
        </p:txBody>
      </p:sp>
    </p:spTree>
    <p:extLst>
      <p:ext uri="{BB962C8B-B14F-4D97-AF65-F5344CB8AC3E}">
        <p14:creationId xmlns:p14="http://schemas.microsoft.com/office/powerpoint/2010/main" val="41448898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Anxiety Disorders </a:t>
            </a:r>
            <a:r>
              <a:rPr lang="en-US" sz="1200" dirty="0"/>
              <a:t>(1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Generalized anxiety disorder</a:t>
            </a:r>
          </a:p>
          <a:p>
            <a:pPr>
              <a:spcBef>
                <a:spcPts val="1200"/>
              </a:spcBef>
            </a:pPr>
            <a:r>
              <a:rPr lang="en-US" dirty="0"/>
              <a:t>Symptoms of anxiety have no real focus; can be present for months or years; constant worry and anticipation of dreadful events; </a:t>
            </a:r>
            <a:r>
              <a:rPr lang="en-US" altLang="en-US" dirty="0">
                <a:ea typeface="Geneva"/>
              </a:rPr>
              <a:t>reduces the individual</a:t>
            </a:r>
            <a:r>
              <a:rPr lang="ja-JP" altLang="en-US" dirty="0">
                <a:ea typeface="Geneva"/>
              </a:rPr>
              <a:t>’</a:t>
            </a:r>
            <a:r>
              <a:rPr lang="en-US" altLang="ja-JP" dirty="0">
                <a:ea typeface="Geneva"/>
              </a:rPr>
              <a:t>s performance on many tasks and decreases pleasure</a:t>
            </a:r>
            <a:endParaRPr lang="en-US" dirty="0"/>
          </a:p>
          <a:p>
            <a:pPr>
              <a:spcBef>
                <a:spcPts val="1200"/>
              </a:spcBef>
            </a:pPr>
            <a:r>
              <a:rPr lang="en-US" dirty="0"/>
              <a:t>Chronic anxiety in GAD is associated with enlargement and hyperactivity of the amygdala and too little inhibitory control by the PFC</a:t>
            </a:r>
          </a:p>
        </p:txBody>
      </p:sp>
    </p:spTree>
    <p:extLst>
      <p:ext uri="{BB962C8B-B14F-4D97-AF65-F5344CB8AC3E}">
        <p14:creationId xmlns:p14="http://schemas.microsoft.com/office/powerpoint/2010/main" val="39689897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Anxiety Disorders </a:t>
            </a:r>
            <a:r>
              <a:rPr lang="en-US" sz="1200" dirty="0"/>
              <a:t>(2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Panic attacks and panic disorder with anticipatory anxiety</a:t>
            </a:r>
          </a:p>
          <a:p>
            <a:pPr>
              <a:spcBef>
                <a:spcPts val="1200"/>
              </a:spcBef>
            </a:pPr>
            <a:r>
              <a:rPr lang="en-US" altLang="en-US" b="1" dirty="0">
                <a:ea typeface="Geneva"/>
              </a:rPr>
              <a:t>Panic attack</a:t>
            </a:r>
            <a:r>
              <a:rPr lang="en-US" altLang="en-US" dirty="0">
                <a:ea typeface="Geneva"/>
              </a:rPr>
              <a:t>: individual experiences effects of a fear reaction in the absence of a threatening stimulus</a:t>
            </a:r>
          </a:p>
          <a:p>
            <a:pPr>
              <a:spcBef>
                <a:spcPts val="1200"/>
              </a:spcBef>
            </a:pPr>
            <a:r>
              <a:rPr lang="en-US" altLang="en-US" dirty="0">
                <a:ea typeface="Geneva"/>
              </a:rPr>
              <a:t>If in response to a particular environmental cue, it produces a phobia</a:t>
            </a:r>
          </a:p>
          <a:p>
            <a:pPr>
              <a:spcBef>
                <a:spcPts val="1200"/>
              </a:spcBef>
            </a:pPr>
            <a:r>
              <a:rPr lang="en-US" altLang="en-US" b="1" dirty="0">
                <a:ea typeface="Geneva"/>
              </a:rPr>
              <a:t>Panic disorder</a:t>
            </a:r>
            <a:r>
              <a:rPr lang="en-US" altLang="en-US" dirty="0">
                <a:ea typeface="Geneva"/>
              </a:rPr>
              <a:t>: individuals have panic attacks (without warning or in a situation where an attack occurred previously) and </a:t>
            </a:r>
            <a:r>
              <a:rPr lang="en-US" altLang="en-US" b="1" dirty="0">
                <a:ea typeface="Geneva"/>
              </a:rPr>
              <a:t>anticipatory anxiety</a:t>
            </a:r>
            <a:r>
              <a:rPr lang="en-US" altLang="en-US" dirty="0">
                <a:ea typeface="Geneva"/>
              </a:rPr>
              <a:t> – worry that they may have an attack in a place that is not safe; can lead to </a:t>
            </a:r>
            <a:r>
              <a:rPr lang="en-US" altLang="en-US" b="1" dirty="0">
                <a:ea typeface="Geneva"/>
              </a:rPr>
              <a:t>agoraphobia</a:t>
            </a:r>
            <a:r>
              <a:rPr lang="en-US" altLang="en-US" dirty="0">
                <a:ea typeface="Geneva"/>
              </a:rPr>
              <a:t>, fear of public places</a:t>
            </a:r>
          </a:p>
        </p:txBody>
      </p:sp>
    </p:spTree>
    <p:extLst>
      <p:ext uri="{BB962C8B-B14F-4D97-AF65-F5344CB8AC3E}">
        <p14:creationId xmlns:p14="http://schemas.microsoft.com/office/powerpoint/2010/main" val="3564589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Anxiety Disorders </a:t>
            </a:r>
            <a:r>
              <a:rPr lang="en-US" sz="1200" dirty="0"/>
              <a:t>(3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Panic attacks and panic disorder with anticipatory anxiety</a:t>
            </a:r>
          </a:p>
          <a:p>
            <a:pPr>
              <a:spcBef>
                <a:spcPts val="1200"/>
              </a:spcBef>
            </a:pPr>
            <a:r>
              <a:rPr lang="en-US" dirty="0"/>
              <a:t>A genetic predisposition for panic is well documented</a:t>
            </a:r>
          </a:p>
          <a:p>
            <a:pPr>
              <a:spcBef>
                <a:spcPts val="1200"/>
              </a:spcBef>
            </a:pPr>
            <a:r>
              <a:rPr lang="en-US" dirty="0"/>
              <a:t>Dysregulation of adrenergic neurons in the ANS and LC may be involved; a polymorphism of the NE transporter gene is associated with increased vulnerability to panic</a:t>
            </a:r>
          </a:p>
          <a:p>
            <a:pPr>
              <a:spcBef>
                <a:spcPts val="1200"/>
              </a:spcBef>
            </a:pPr>
            <a:r>
              <a:rPr lang="en-US" dirty="0"/>
              <a:t>Amygdala and hippocampus volumes are reduced</a:t>
            </a:r>
          </a:p>
          <a:p>
            <a:pPr>
              <a:spcBef>
                <a:spcPts val="1200"/>
              </a:spcBef>
            </a:pPr>
            <a:r>
              <a:rPr lang="en-US" dirty="0"/>
              <a:t>During a panic attack, neural activity increases in the amygdala, cingulate cortex, and insula, and is reduced in the PFC</a:t>
            </a:r>
          </a:p>
        </p:txBody>
      </p:sp>
    </p:spTree>
    <p:extLst>
      <p:ext uri="{BB962C8B-B14F-4D97-AF65-F5344CB8AC3E}">
        <p14:creationId xmlns:p14="http://schemas.microsoft.com/office/powerpoint/2010/main" val="6360780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Anxiety Disorders </a:t>
            </a:r>
            <a:r>
              <a:rPr lang="en-US" sz="1200" dirty="0"/>
              <a:t>(4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b="1" dirty="0"/>
              <a:t>Phobias</a:t>
            </a:r>
          </a:p>
          <a:p>
            <a:pPr>
              <a:spcBef>
                <a:spcPts val="1200"/>
              </a:spcBef>
            </a:pPr>
            <a:r>
              <a:rPr lang="en-US" dirty="0"/>
              <a:t>Fears that the individual recognizes as irrational; may focus on specific objects or situations such as high places</a:t>
            </a:r>
          </a:p>
          <a:p>
            <a:pPr>
              <a:spcBef>
                <a:spcPts val="1200"/>
              </a:spcBef>
            </a:pPr>
            <a:r>
              <a:rPr lang="en-US" dirty="0"/>
              <a:t>What people fear is at least partially determined by culture, e.g., </a:t>
            </a:r>
            <a:r>
              <a:rPr lang="en-US" i="1" dirty="0"/>
              <a:t>pa-</a:t>
            </a:r>
            <a:r>
              <a:rPr lang="en-US" i="1" dirty="0" err="1"/>
              <a:t>leng</a:t>
            </a:r>
            <a:r>
              <a:rPr lang="en-US" dirty="0"/>
              <a:t> in Chinese culture</a:t>
            </a:r>
          </a:p>
          <a:p>
            <a:pPr>
              <a:spcBef>
                <a:spcPts val="1200"/>
              </a:spcBef>
            </a:pPr>
            <a:r>
              <a:rPr lang="en-US" dirty="0"/>
              <a:t>Can be treated with behavior therapy: presenting the fear-inducing stimulus in gradual increments - </a:t>
            </a:r>
            <a:r>
              <a:rPr lang="en-US" b="1" dirty="0"/>
              <a:t>behavioral desensitization</a:t>
            </a:r>
            <a:r>
              <a:rPr lang="en-US" dirty="0"/>
              <a:t>; sometimes uses virtual reality settings</a:t>
            </a:r>
          </a:p>
        </p:txBody>
      </p:sp>
    </p:spTree>
    <p:extLst>
      <p:ext uri="{BB962C8B-B14F-4D97-AF65-F5344CB8AC3E}">
        <p14:creationId xmlns:p14="http://schemas.microsoft.com/office/powerpoint/2010/main" val="9194006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Anxiety Disorders </a:t>
            </a:r>
            <a:r>
              <a:rPr lang="en-US" sz="1200" dirty="0"/>
              <a:t>(5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b="1" dirty="0"/>
              <a:t>Social anxiety disorder (SAD)</a:t>
            </a:r>
          </a:p>
          <a:p>
            <a:pPr>
              <a:spcBef>
                <a:spcPts val="1200"/>
              </a:spcBef>
            </a:pPr>
            <a:r>
              <a:rPr lang="en-US" dirty="0"/>
              <a:t>Also known as social phobia; extreme fear of being evaluated or criticized by others</a:t>
            </a:r>
          </a:p>
          <a:p>
            <a:pPr>
              <a:spcBef>
                <a:spcPts val="1200"/>
              </a:spcBef>
            </a:pPr>
            <a:r>
              <a:rPr lang="en-US" dirty="0"/>
              <a:t>Sufferers tend to avoid most interpersonal situations or, if unavoidable, suffer extreme anxiety, which may take the form of a panic attack</a:t>
            </a:r>
          </a:p>
          <a:p>
            <a:pPr>
              <a:spcBef>
                <a:spcPts val="1200"/>
              </a:spcBef>
            </a:pPr>
            <a:r>
              <a:rPr lang="en-US" altLang="en-US" dirty="0">
                <a:ea typeface="Geneva"/>
              </a:rPr>
              <a:t>Like other anxiety disorders, there is increased activity in the amygdala, and other limbic areas which would lead to the anticipatory anxiety and autonomic response</a:t>
            </a:r>
            <a:endParaRPr lang="en-US" dirty="0"/>
          </a:p>
        </p:txBody>
      </p:sp>
    </p:spTree>
    <p:extLst>
      <p:ext uri="{BB962C8B-B14F-4D97-AF65-F5344CB8AC3E}">
        <p14:creationId xmlns:p14="http://schemas.microsoft.com/office/powerpoint/2010/main" val="24704003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Anxiety Disorders </a:t>
            </a:r>
            <a:r>
              <a:rPr lang="en-US" sz="1200" dirty="0"/>
              <a:t>(6 of 10)</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ct val="20000"/>
              </a:spcBef>
              <a:buNone/>
            </a:pPr>
            <a:r>
              <a:rPr lang="en-US" sz="3500" b="1" dirty="0"/>
              <a:t>Posttraumatic stress disorder (PTSD)</a:t>
            </a:r>
          </a:p>
          <a:p>
            <a:pPr>
              <a:spcBef>
                <a:spcPts val="1200"/>
              </a:spcBef>
            </a:pPr>
            <a:r>
              <a:rPr lang="en-US" dirty="0"/>
              <a:t>After witnessing severely traumatic events (e.g., war, natural disasters), an individual feels fear and senses of helplessness and horror; experiences nightmares and flashbacks about the event</a:t>
            </a:r>
          </a:p>
          <a:p>
            <a:pPr>
              <a:spcBef>
                <a:spcPts val="1200"/>
              </a:spcBef>
            </a:pPr>
            <a:r>
              <a:rPr lang="en-US" dirty="0"/>
              <a:t>Other symptoms: reactivity to reminders of the trauma, sleep disturbances, avoidance of stimuli associated with the trauma, numbing of emotional responses; can last for many years</a:t>
            </a:r>
          </a:p>
          <a:p>
            <a:pPr>
              <a:spcBef>
                <a:spcPts val="1200"/>
              </a:spcBef>
            </a:pPr>
            <a:r>
              <a:rPr lang="en-US" dirty="0"/>
              <a:t>Some people have sudden outbursts of irritability</a:t>
            </a:r>
          </a:p>
          <a:p>
            <a:pPr>
              <a:spcBef>
                <a:spcPts val="1200"/>
              </a:spcBef>
            </a:pPr>
            <a:r>
              <a:rPr lang="en-US" dirty="0"/>
              <a:t>Increased probability of </a:t>
            </a:r>
            <a:r>
              <a:rPr lang="en-US" altLang="en-US" dirty="0">
                <a:ea typeface="Geneva"/>
              </a:rPr>
              <a:t>attempting suicide,</a:t>
            </a:r>
            <a:r>
              <a:rPr lang="en-US" dirty="0"/>
              <a:t> </a:t>
            </a:r>
            <a:r>
              <a:rPr lang="en-US" altLang="en-US" dirty="0">
                <a:ea typeface="Geneva"/>
              </a:rPr>
              <a:t>substance abuse</a:t>
            </a:r>
            <a:r>
              <a:rPr lang="en-US" altLang="en-US" b="1" dirty="0">
                <a:ea typeface="Geneva"/>
              </a:rPr>
              <a:t>, </a:t>
            </a:r>
            <a:r>
              <a:rPr lang="en-US" altLang="en-US" dirty="0">
                <a:ea typeface="Geneva"/>
              </a:rPr>
              <a:t>marital problems, depression, feelings of guilt and anger</a:t>
            </a:r>
            <a:endParaRPr lang="en-US" dirty="0"/>
          </a:p>
        </p:txBody>
      </p:sp>
    </p:spTree>
    <p:extLst>
      <p:ext uri="{BB962C8B-B14F-4D97-AF65-F5344CB8AC3E}">
        <p14:creationId xmlns:p14="http://schemas.microsoft.com/office/powerpoint/2010/main" val="26142906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Anxiety Disorders </a:t>
            </a:r>
            <a:r>
              <a:rPr lang="en-US" sz="1200" dirty="0"/>
              <a:t>(7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Posttraumatic stress disorder (PTSD)</a:t>
            </a:r>
          </a:p>
          <a:p>
            <a:pPr>
              <a:spcBef>
                <a:spcPts val="1200"/>
              </a:spcBef>
            </a:pPr>
            <a:r>
              <a:rPr lang="en-US" dirty="0"/>
              <a:t>PTSD is related to the intensity of the trauma but not all trauma victims develop PTSD</a:t>
            </a:r>
          </a:p>
          <a:p>
            <a:pPr>
              <a:spcBef>
                <a:spcPts val="1200"/>
              </a:spcBef>
            </a:pPr>
            <a:r>
              <a:rPr lang="en-US" dirty="0"/>
              <a:t>Genetic component: </a:t>
            </a:r>
            <a:r>
              <a:rPr lang="en-US" altLang="en-US" dirty="0">
                <a:ea typeface="Geneva"/>
              </a:rPr>
              <a:t>concordance in monozygotic twins; as many as 74% of PTSD sufferers had a family history of PTSD, anxiety, depression, or antisocial behavior</a:t>
            </a:r>
          </a:p>
          <a:p>
            <a:pPr>
              <a:spcBef>
                <a:spcPts val="1200"/>
              </a:spcBef>
            </a:pPr>
            <a:r>
              <a:rPr lang="en-US" dirty="0"/>
              <a:t>Women have a greater incidence of PTSD than men; chronic stress, abuse, or trauma also increases vulnerability</a:t>
            </a:r>
          </a:p>
        </p:txBody>
      </p:sp>
    </p:spTree>
    <p:extLst>
      <p:ext uri="{BB962C8B-B14F-4D97-AF65-F5344CB8AC3E}">
        <p14:creationId xmlns:p14="http://schemas.microsoft.com/office/powerpoint/2010/main" val="42536521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Anxiety Disorders </a:t>
            </a:r>
            <a:r>
              <a:rPr lang="en-US" sz="1200" dirty="0"/>
              <a:t>(8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Posttraumatic stress disorder (PTSD)</a:t>
            </a:r>
          </a:p>
          <a:p>
            <a:pPr>
              <a:spcBef>
                <a:spcPts val="1200"/>
              </a:spcBef>
            </a:pPr>
            <a:r>
              <a:rPr lang="en-US" dirty="0"/>
              <a:t>Low blood cortisol is a marker of vulnerability; </a:t>
            </a:r>
            <a:r>
              <a:rPr lang="en-US" altLang="en-US" dirty="0">
                <a:ea typeface="Geneva"/>
              </a:rPr>
              <a:t>in PTSD the normal feed-back mechanism that turns off cortisol and ACTH secretion is hypersensitive, related to high density of glucocorticoid receptors</a:t>
            </a:r>
          </a:p>
          <a:p>
            <a:pPr>
              <a:spcBef>
                <a:spcPts val="1200"/>
              </a:spcBef>
            </a:pPr>
            <a:r>
              <a:rPr lang="en-US" altLang="en-US" dirty="0">
                <a:ea typeface="Geneva"/>
              </a:rPr>
              <a:t>Imaging studies: reduced volume of hippocampus; amygdala shows increased neural activity, and the ACC and </a:t>
            </a:r>
            <a:r>
              <a:rPr lang="en-US" altLang="en-US" dirty="0" err="1">
                <a:ea typeface="Geneva"/>
              </a:rPr>
              <a:t>mPFC</a:t>
            </a:r>
            <a:r>
              <a:rPr lang="en-US" altLang="en-US" dirty="0">
                <a:ea typeface="Geneva"/>
              </a:rPr>
              <a:t> are less active and fail to inhibit the limbic structures.</a:t>
            </a:r>
          </a:p>
        </p:txBody>
      </p:sp>
    </p:spTree>
    <p:extLst>
      <p:ext uri="{BB962C8B-B14F-4D97-AF65-F5344CB8AC3E}">
        <p14:creationId xmlns:p14="http://schemas.microsoft.com/office/powerpoint/2010/main" val="24532970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Anxiety Disorders </a:t>
            </a:r>
            <a:r>
              <a:rPr lang="en-US" sz="1200" dirty="0"/>
              <a:t>(9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b="1" dirty="0"/>
              <a:t>Obsessive–compulsive disorder (OCD)</a:t>
            </a:r>
          </a:p>
          <a:p>
            <a:pPr>
              <a:spcBef>
                <a:spcPts val="1200"/>
              </a:spcBef>
            </a:pPr>
            <a:r>
              <a:rPr lang="en-US" dirty="0"/>
              <a:t>Recurring, persistent, intrusive thoughts of contamination, violence, sex, or religion (</a:t>
            </a:r>
            <a:r>
              <a:rPr lang="en-US" b="1" dirty="0"/>
              <a:t>obsessions</a:t>
            </a:r>
            <a:r>
              <a:rPr lang="en-US" dirty="0"/>
              <a:t>) that the individual tries to resist but that cause a great deal of anxiety, guilt, and shame.</a:t>
            </a:r>
          </a:p>
          <a:p>
            <a:pPr>
              <a:spcBef>
                <a:spcPts val="1200"/>
              </a:spcBef>
            </a:pPr>
            <a:r>
              <a:rPr lang="en-US" b="1" dirty="0"/>
              <a:t>Compulsions</a:t>
            </a:r>
            <a:r>
              <a:rPr lang="en-US" dirty="0"/>
              <a:t> are repetitive rituals to relieve the tremendous anxiety generated by the obsessive thoughts</a:t>
            </a:r>
          </a:p>
          <a:p>
            <a:pPr>
              <a:spcBef>
                <a:spcPts val="1200"/>
              </a:spcBef>
            </a:pPr>
            <a:r>
              <a:rPr lang="en-US" dirty="0"/>
              <a:t>The individual is convinced that unless the compulsive ritual is completed, disastrous consequences will occur; they recognize that the compulsions are inappropriate or irrational</a:t>
            </a:r>
          </a:p>
        </p:txBody>
      </p:sp>
    </p:spTree>
    <p:extLst>
      <p:ext uri="{BB962C8B-B14F-4D97-AF65-F5344CB8AC3E}">
        <p14:creationId xmlns:p14="http://schemas.microsoft.com/office/powerpoint/2010/main" val="7872162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Anxiety Disorders </a:t>
            </a:r>
            <a:r>
              <a:rPr lang="en-US" sz="1200" dirty="0"/>
              <a:t>(10 of 10)</a:t>
            </a:r>
            <a:endParaRPr lang="en-US" dirty="0"/>
          </a:p>
        </p:txBody>
      </p:sp>
      <p:sp>
        <p:nvSpPr>
          <p:cNvPr id="3" name="Text Placeholder 2"/>
          <p:cNvSpPr>
            <a:spLocks noGrp="1"/>
          </p:cNvSpPr>
          <p:nvPr>
            <p:ph idx="1"/>
          </p:nvPr>
        </p:nvSpPr>
        <p:spPr/>
        <p:txBody>
          <a:bodyPr>
            <a:normAutofit lnSpcReduction="10000"/>
          </a:bodyPr>
          <a:lstStyle/>
          <a:p>
            <a:pPr marL="0" indent="0">
              <a:spcBef>
                <a:spcPts val="1200"/>
              </a:spcBef>
              <a:buNone/>
            </a:pPr>
            <a:r>
              <a:rPr lang="en-US" sz="3200" dirty="0"/>
              <a:t>Obsessive–compulsive disorder (OCD)</a:t>
            </a:r>
          </a:p>
          <a:p>
            <a:pPr>
              <a:spcBef>
                <a:spcPts val="1200"/>
              </a:spcBef>
            </a:pPr>
            <a:r>
              <a:rPr lang="en-US" dirty="0"/>
              <a:t>The caudate nucleus has a central role in the pathophysiology of OCD; it is a component in the dysfunctional cortico-striatal-thalamic-cortical loop</a:t>
            </a:r>
          </a:p>
          <a:p>
            <a:pPr>
              <a:spcBef>
                <a:spcPts val="1200"/>
              </a:spcBef>
            </a:pPr>
            <a:r>
              <a:rPr lang="en-US" dirty="0"/>
              <a:t>Some animals engage in repetitious and meaningless behaviors, providing naturalistic models of OCD</a:t>
            </a:r>
          </a:p>
          <a:p>
            <a:pPr>
              <a:spcBef>
                <a:spcPts val="1200"/>
              </a:spcBef>
            </a:pPr>
            <a:r>
              <a:rPr lang="en-US" dirty="0"/>
              <a:t>Transgenic animal models have also been developed </a:t>
            </a:r>
          </a:p>
          <a:p>
            <a:pPr>
              <a:spcBef>
                <a:spcPts val="1200"/>
              </a:spcBef>
            </a:pPr>
            <a:r>
              <a:rPr lang="en-US" dirty="0"/>
              <a:t>Animal models can be used with optogenetic and electrophysiology techniques to clarify the pathophysiology of OCD-like symptoms</a:t>
            </a:r>
          </a:p>
        </p:txBody>
      </p:sp>
    </p:spTree>
    <p:extLst>
      <p:ext uri="{BB962C8B-B14F-4D97-AF65-F5344CB8AC3E}">
        <p14:creationId xmlns:p14="http://schemas.microsoft.com/office/powerpoint/2010/main" val="41177997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tabLst>
                <a:tab pos="4625975" algn="l"/>
                <a:tab pos="4746625" algn="l"/>
              </a:tabLst>
            </a:pPr>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3)</a:t>
            </a:r>
            <a:endParaRPr lang="en-US" dirty="0"/>
          </a:p>
        </p:txBody>
      </p:sp>
      <p:sp>
        <p:nvSpPr>
          <p:cNvPr id="3" name="Text Placeholder 2"/>
          <p:cNvSpPr>
            <a:spLocks noGrp="1"/>
          </p:cNvSpPr>
          <p:nvPr>
            <p:ph idx="1"/>
          </p:nvPr>
        </p:nvSpPr>
        <p:spPr/>
        <p:txBody>
          <a:bodyPr>
            <a:normAutofit/>
          </a:bodyPr>
          <a:lstStyle/>
          <a:p>
            <a:pPr marL="1149350" indent="-1149350">
              <a:lnSpc>
                <a:spcPct val="110000"/>
              </a:lnSpc>
              <a:spcBef>
                <a:spcPts val="1800"/>
              </a:spcBef>
              <a:buNone/>
            </a:pPr>
            <a:r>
              <a:rPr lang="en-US" sz="2800" dirty="0"/>
              <a:t>17.2.1  Describe the symptoms associated with generalized anxiety disorder, panic disorder, phobias, social anxiety disorder, post-traumatic stress disorder, and obsessive–compulsive disorder.</a:t>
            </a:r>
          </a:p>
          <a:p>
            <a:pPr marL="1149350" indent="-1149350">
              <a:lnSpc>
                <a:spcPct val="110000"/>
              </a:lnSpc>
              <a:spcBef>
                <a:spcPts val="1800"/>
              </a:spcBef>
              <a:buNone/>
            </a:pPr>
            <a:r>
              <a:rPr lang="en-US" sz="2800" dirty="0"/>
              <a:t>17.2.2  Detail the current understanding of the neurobiology of these disorders.</a:t>
            </a:r>
          </a:p>
          <a:p>
            <a:pPr marL="1149350" indent="-1149350">
              <a:lnSpc>
                <a:spcPct val="110000"/>
              </a:lnSpc>
              <a:spcBef>
                <a:spcPts val="1800"/>
              </a:spcBef>
              <a:buNone/>
            </a:pPr>
            <a:r>
              <a:rPr lang="en-US" sz="2800" dirty="0"/>
              <a:t>17.2.3  Describe treatments available to combat these disorders.</a:t>
            </a:r>
          </a:p>
        </p:txBody>
      </p:sp>
    </p:spTree>
    <p:extLst>
      <p:ext uri="{BB962C8B-B14F-4D97-AF65-F5344CB8AC3E}">
        <p14:creationId xmlns:p14="http://schemas.microsoft.com/office/powerpoint/2010/main" val="14941373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Drugs for Treating Anxiety, OCD, and PTSD </a:t>
            </a:r>
            <a:r>
              <a:rPr lang="en-US" sz="1200" dirty="0"/>
              <a:t>(1 of 10)</a:t>
            </a:r>
            <a:endParaRPr lang="en-US" dirty="0"/>
          </a:p>
        </p:txBody>
      </p:sp>
      <p:sp>
        <p:nvSpPr>
          <p:cNvPr id="3" name="Text Placeholder 2"/>
          <p:cNvSpPr>
            <a:spLocks noGrp="1"/>
          </p:cNvSpPr>
          <p:nvPr>
            <p:ph idx="1"/>
          </p:nvPr>
        </p:nvSpPr>
        <p:spPr/>
        <p:txBody>
          <a:bodyPr>
            <a:normAutofit/>
          </a:bodyPr>
          <a:lstStyle/>
          <a:p>
            <a:pPr>
              <a:spcBef>
                <a:spcPts val="1200"/>
              </a:spcBef>
            </a:pPr>
            <a:r>
              <a:rPr lang="en-US" b="1" dirty="0"/>
              <a:t>Anxiolytics</a:t>
            </a:r>
            <a:r>
              <a:rPr lang="en-US" dirty="0"/>
              <a:t>: drugs to relieve anxiety; many are </a:t>
            </a:r>
            <a:r>
              <a:rPr lang="en-US" b="1" dirty="0"/>
              <a:t>sedative–hypnotic</a:t>
            </a:r>
            <a:r>
              <a:rPr lang="en-US" dirty="0"/>
              <a:t> drugs, which are </a:t>
            </a:r>
            <a:r>
              <a:rPr lang="en-US" b="1" dirty="0"/>
              <a:t>CNS depressants</a:t>
            </a:r>
          </a:p>
          <a:p>
            <a:pPr>
              <a:spcBef>
                <a:spcPts val="1200"/>
              </a:spcBef>
            </a:pPr>
            <a:r>
              <a:rPr lang="en-US" dirty="0"/>
              <a:t>An anxiolytic should relieve tension, worry, and stress with minimal side effects such as sedation</a:t>
            </a:r>
          </a:p>
          <a:p>
            <a:pPr>
              <a:spcBef>
                <a:spcPts val="1200"/>
              </a:spcBef>
            </a:pPr>
            <a:r>
              <a:rPr lang="en-US" dirty="0"/>
              <a:t>Primary mechanism of action: enhancing GABA transmission</a:t>
            </a:r>
          </a:p>
          <a:p>
            <a:pPr>
              <a:spcBef>
                <a:spcPts val="1200"/>
              </a:spcBef>
            </a:pPr>
            <a:r>
              <a:rPr lang="en-US" dirty="0"/>
              <a:t>BDZs and </a:t>
            </a:r>
            <a:r>
              <a:rPr lang="en-US" dirty="0" err="1"/>
              <a:t>barbituates</a:t>
            </a:r>
            <a:r>
              <a:rPr lang="en-US" dirty="0"/>
              <a:t> have binding sites on GABA</a:t>
            </a:r>
            <a:r>
              <a:rPr lang="en-US" baseline="-25000" dirty="0"/>
              <a:t>A</a:t>
            </a:r>
            <a:r>
              <a:rPr lang="en-US" dirty="0"/>
              <a:t> receptors – enhance the hyperpolarization caused by GABA by increasing the number of times the channel opens</a:t>
            </a:r>
          </a:p>
        </p:txBody>
      </p:sp>
    </p:spTree>
    <p:extLst>
      <p:ext uri="{BB962C8B-B14F-4D97-AF65-F5344CB8AC3E}">
        <p14:creationId xmlns:p14="http://schemas.microsoft.com/office/powerpoint/2010/main" val="13091747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57664-1C12-7F4E-A053-6535EE2F6F05}"/>
              </a:ext>
            </a:extLst>
          </p:cNvPr>
          <p:cNvSpPr>
            <a:spLocks noGrp="1"/>
          </p:cNvSpPr>
          <p:nvPr>
            <p:ph type="title"/>
          </p:nvPr>
        </p:nvSpPr>
        <p:spPr/>
        <p:txBody>
          <a:bodyPr/>
          <a:lstStyle/>
          <a:p>
            <a:r>
              <a:rPr lang="en-US" cap="all" dirty="0"/>
              <a:t>FIGURE 17.14</a:t>
            </a:r>
            <a:r>
              <a:rPr lang="en-US" dirty="0"/>
              <a:t>  Effects of GABA and diazepam on membrane potentials and chloride (Cl</a:t>
            </a:r>
            <a:r>
              <a:rPr lang="en-US" baseline="30000" dirty="0"/>
              <a:t>−</a:t>
            </a:r>
            <a:r>
              <a:rPr lang="en-US" dirty="0"/>
              <a:t>) flux </a:t>
            </a:r>
          </a:p>
        </p:txBody>
      </p:sp>
      <p:pic>
        <p:nvPicPr>
          <p:cNvPr id="6" name="Content Placeholder 5" descr="Two line graphs, top and bottom depict the effects of G A B A alone and G A B A with diazepam respectively on membrane potential. Top: the horizontal axis is labeled, time in seconds and ranges from 1 to 4 in unit increments. The vertical axis is labeled, membrane potential in megavolts and ranges from minus 4 to 2 in increments of 2. All data are approximate. The line for G A B A is plotted through (1, 0), (2, minus 1), (3, 0), (4, 0.2). Bottom: The horizontal axis is labeled, time in seconds and ranges from 1 to 4 in unit increments. The vertical axis is labeled, membrane potential in megavolts and ranges from minus 4 to 2 in increments of 2. All data are approximate. The line for G A B A plus diazepam is plotted through (1, 0.1), (2, minus 1.8), (3, 0), (4, 0.4).&#10;&#10;A bar graph depicts the chloride current conduction in various combination of drugs. The horizontal axis lists various combinations of drugs. The vertical axis is labeled, C l current conduction in percentage and ranges from 0 to 200 in increments of 100. All data are approximate and presented in the format, drug: C l current conduction. G A B A: 100. G A B A plus B D Z: 200. G A B A plus B D Z plus B D Z antagonist: 100. G A B A plus B D Z plus G A B A antagonist: 2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761672" y="479425"/>
            <a:ext cx="4668656" cy="6300788"/>
          </a:xfrm>
        </p:spPr>
      </p:pic>
    </p:spTree>
    <p:extLst>
      <p:ext uri="{BB962C8B-B14F-4D97-AF65-F5344CB8AC3E}">
        <p14:creationId xmlns:p14="http://schemas.microsoft.com/office/powerpoint/2010/main" val="34196392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Drugs for Treating Anxiety, OCD, and PTSD </a:t>
            </a:r>
            <a:r>
              <a:rPr lang="en-US" sz="1200" dirty="0"/>
              <a:t>(2 of 10)</a:t>
            </a:r>
            <a:endParaRPr lang="en-US" dirty="0"/>
          </a:p>
        </p:txBody>
      </p:sp>
      <p:sp>
        <p:nvSpPr>
          <p:cNvPr id="3" name="Text Placeholder 2"/>
          <p:cNvSpPr>
            <a:spLocks noGrp="1"/>
          </p:cNvSpPr>
          <p:nvPr>
            <p:ph idx="1"/>
          </p:nvPr>
        </p:nvSpPr>
        <p:spPr/>
        <p:txBody>
          <a:bodyPr>
            <a:normAutofit fontScale="92500" lnSpcReduction="20000"/>
          </a:bodyPr>
          <a:lstStyle/>
          <a:p>
            <a:pPr marL="457200" indent="-457200">
              <a:spcBef>
                <a:spcPct val="20000"/>
              </a:spcBef>
              <a:buNone/>
            </a:pPr>
            <a:r>
              <a:rPr lang="en-US" sz="3500" dirty="0"/>
              <a:t>Barbiturates are the oldest sedative–hypnotics</a:t>
            </a:r>
          </a:p>
          <a:p>
            <a:pPr>
              <a:spcBef>
                <a:spcPts val="1200"/>
              </a:spcBef>
            </a:pPr>
            <a:r>
              <a:rPr lang="en-US" dirty="0"/>
              <a:t>Have been replaced by BDZs for treatment of anxiety disorders; still used for anesthesia and seizure control</a:t>
            </a:r>
          </a:p>
          <a:p>
            <a:pPr>
              <a:spcBef>
                <a:spcPts val="1200"/>
              </a:spcBef>
            </a:pPr>
            <a:r>
              <a:rPr lang="en-US" dirty="0"/>
              <a:t>Side effects: induces sleep but reduces amount of REM sleep; mental clouding, loss of judgment, slowed reflexes</a:t>
            </a:r>
          </a:p>
          <a:p>
            <a:pPr>
              <a:spcBef>
                <a:spcPts val="1200"/>
              </a:spcBef>
            </a:pPr>
            <a:r>
              <a:rPr lang="en-US" dirty="0"/>
              <a:t>High doses – intoxication, coma and death from respiratory depression; extremely dangerous with alcohol</a:t>
            </a:r>
          </a:p>
          <a:p>
            <a:pPr>
              <a:spcBef>
                <a:spcPts val="1200"/>
              </a:spcBef>
            </a:pPr>
            <a:r>
              <a:rPr lang="en-US" dirty="0"/>
              <a:t>Chronic use increases liver microsomal enzymes, enhancing drug metabolism and reducing effectiveness</a:t>
            </a:r>
          </a:p>
          <a:p>
            <a:pPr>
              <a:spcBef>
                <a:spcPts val="1200"/>
              </a:spcBef>
            </a:pPr>
            <a:r>
              <a:rPr lang="en-US" dirty="0"/>
              <a:t>Tolerance develops and the margin of safety (therapeutic index) declines; dependence produces potential for abuse </a:t>
            </a:r>
          </a:p>
        </p:txBody>
      </p:sp>
    </p:spTree>
    <p:extLst>
      <p:ext uri="{BB962C8B-B14F-4D97-AF65-F5344CB8AC3E}">
        <p14:creationId xmlns:p14="http://schemas.microsoft.com/office/powerpoint/2010/main" val="42391969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731D3-2006-BD46-BBFE-FCBA3E25F4D5}"/>
              </a:ext>
            </a:extLst>
          </p:cNvPr>
          <p:cNvSpPr>
            <a:spLocks noGrp="1"/>
          </p:cNvSpPr>
          <p:nvPr>
            <p:ph type="title"/>
          </p:nvPr>
        </p:nvSpPr>
        <p:spPr/>
        <p:txBody>
          <a:bodyPr/>
          <a:lstStyle/>
          <a:p>
            <a:r>
              <a:rPr lang="en-US" cap="all" dirty="0"/>
              <a:t>FIGURE 17.16</a:t>
            </a:r>
            <a:r>
              <a:rPr lang="en-US" dirty="0"/>
              <a:t>  Margin of safety </a:t>
            </a:r>
          </a:p>
        </p:txBody>
      </p:sp>
      <p:pic>
        <p:nvPicPr>
          <p:cNvPr id="6" name="Content Placeholder 5" descr="A line graph depicts the dose related response. The horizontal axis is labeled, dose. The vertical axis is labeled, response. Two sets of graphs are drawn one on the top and the other below it. Top graph: The line graph depicts the initial drug use. The line for desired effect is a complete s shaped line and the line for respiratory depression is a dotted s shaped line drawn apart and the area between them is depicted by arrows as margin of safety. Bottom graph: The line graph depicts the tolerance of drug. The line for desired effect is a complete s shaped line and the line for respiratory depression is a dotted s shaped line drawn close to each other and the area between them marked by a dual sided arrow."/>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489431"/>
            <a:ext cx="11376025" cy="6280776"/>
          </a:xfrm>
        </p:spPr>
      </p:pic>
    </p:spTree>
    <p:extLst>
      <p:ext uri="{BB962C8B-B14F-4D97-AF65-F5344CB8AC3E}">
        <p14:creationId xmlns:p14="http://schemas.microsoft.com/office/powerpoint/2010/main" val="33358763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Drugs for Treating Anxiety, OCD, and PTSD </a:t>
            </a:r>
            <a:r>
              <a:rPr lang="en-US" sz="1200" dirty="0"/>
              <a:t>(3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BDZs are highly effective for anxiety reduction</a:t>
            </a:r>
          </a:p>
          <a:p>
            <a:pPr>
              <a:spcBef>
                <a:spcPts val="1200"/>
              </a:spcBef>
            </a:pPr>
            <a:r>
              <a:rPr lang="en-US" dirty="0"/>
              <a:t>Don’t have the undesirable side effects of barbiturates: less tolerance, less severe withdrawal, and safe therapeutic index</a:t>
            </a:r>
          </a:p>
          <a:p>
            <a:pPr>
              <a:spcBef>
                <a:spcPts val="1200"/>
              </a:spcBef>
            </a:pPr>
            <a:r>
              <a:rPr lang="en-US" dirty="0"/>
              <a:t>BDZ choice based on speed of onset (determined by lipid solubility) and duration of drug action (depends on liver metabolism)</a:t>
            </a:r>
          </a:p>
          <a:p>
            <a:pPr>
              <a:spcBef>
                <a:spcPts val="1200"/>
              </a:spcBef>
            </a:pPr>
            <a:r>
              <a:rPr lang="en-US" dirty="0"/>
              <a:t>Presurgical anesthetics – relax patient before surgery or dental work; midazolam (Versed) rapid onset for brief surgical procedures –short half-life and rapid recovery</a:t>
            </a:r>
          </a:p>
        </p:txBody>
      </p:sp>
    </p:spTree>
    <p:extLst>
      <p:ext uri="{BB962C8B-B14F-4D97-AF65-F5344CB8AC3E}">
        <p14:creationId xmlns:p14="http://schemas.microsoft.com/office/powerpoint/2010/main" val="32486632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8E2C2-E2A0-9E42-A9BE-3EC2AB5C1A31}"/>
              </a:ext>
            </a:extLst>
          </p:cNvPr>
          <p:cNvSpPr>
            <a:spLocks noGrp="1"/>
          </p:cNvSpPr>
          <p:nvPr>
            <p:ph type="title"/>
          </p:nvPr>
        </p:nvSpPr>
        <p:spPr/>
        <p:txBody>
          <a:bodyPr/>
          <a:lstStyle/>
          <a:p>
            <a:r>
              <a:rPr lang="en-US" cap="all" dirty="0"/>
              <a:t>FIGURE 17.18</a:t>
            </a:r>
            <a:r>
              <a:rPr lang="en-US" dirty="0"/>
              <a:t>  BDZ metabolism </a:t>
            </a:r>
          </a:p>
        </p:txBody>
      </p:sp>
      <p:pic>
        <p:nvPicPr>
          <p:cNvPr id="6" name="Content Placeholder 5" descr="A flow diagram of metabolism of benzodiazepines. Long acting B D Zs such as chlordiazepoxide, flurazepam, diazepam and chlorazepate with half-life of 8 to 100, 70 to 160, 20 to 100, 50 to 100 hours respectively undergo metabolism in phase one to form active metabolites depicted by symbol A. Chlordiazepoxide forms four metabolites, flurazepam forms three metabolites, diazepam and chlorazepate form two metabolites and step into phase two to undergo conjugation process. Short acting B D Zs such as lorazepam, oxazepam, temazepam with half-life of 10 to 24, 4 to 15, 2 to 5 hours respectively directly undergo conjugation process. During conjugation the B D Zs with the help of U D P form inactive metabolites which are later excreted from the body"/>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617418"/>
            <a:ext cx="11376025" cy="6024802"/>
          </a:xfrm>
        </p:spPr>
      </p:pic>
    </p:spTree>
    <p:extLst>
      <p:ext uri="{BB962C8B-B14F-4D97-AF65-F5344CB8AC3E}">
        <p14:creationId xmlns:p14="http://schemas.microsoft.com/office/powerpoint/2010/main" val="30890012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Drugs for Treating Anxiety, OCD, and PTSD </a:t>
            </a:r>
            <a:r>
              <a:rPr lang="en-US" sz="1200" dirty="0"/>
              <a:t>(4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BDZs are highly effective for anxiety reduction</a:t>
            </a:r>
          </a:p>
          <a:p>
            <a:pPr>
              <a:spcBef>
                <a:spcPts val="1200"/>
              </a:spcBef>
            </a:pPr>
            <a:r>
              <a:rPr lang="en-US" dirty="0"/>
              <a:t>BDZs as anxiolytics: used to treat GAD, panic disorder, OCD, and SAD; little or no tolerance</a:t>
            </a:r>
          </a:p>
          <a:p>
            <a:pPr>
              <a:spcBef>
                <a:spcPts val="1200"/>
              </a:spcBef>
            </a:pPr>
            <a:r>
              <a:rPr lang="en-US" dirty="0"/>
              <a:t>Longer-acting BDZs are useful </a:t>
            </a:r>
            <a:r>
              <a:rPr lang="en-US" b="1" dirty="0"/>
              <a:t>hypnotics</a:t>
            </a:r>
            <a:r>
              <a:rPr lang="en-US" dirty="0"/>
              <a:t> (sleep aids)</a:t>
            </a:r>
          </a:p>
          <a:p>
            <a:pPr>
              <a:spcBef>
                <a:spcPts val="1200"/>
              </a:spcBef>
            </a:pPr>
            <a:r>
              <a:rPr lang="en-US" dirty="0"/>
              <a:t>Other uses: </a:t>
            </a:r>
            <a:r>
              <a:rPr lang="en-US" b="1" dirty="0"/>
              <a:t>muscle relaxants</a:t>
            </a:r>
            <a:r>
              <a:rPr lang="en-US" dirty="0"/>
              <a:t>, </a:t>
            </a:r>
            <a:r>
              <a:rPr lang="en-US" b="1" dirty="0"/>
              <a:t>anticonvulsants</a:t>
            </a:r>
            <a:r>
              <a:rPr lang="en-US" dirty="0"/>
              <a:t>, preventing acute alcohol or barbiturate withdrawal symptoms (BDZs are cross-dependent)</a:t>
            </a:r>
          </a:p>
          <a:p>
            <a:pPr>
              <a:spcBef>
                <a:spcPts val="1200"/>
              </a:spcBef>
            </a:pPr>
            <a:r>
              <a:rPr lang="en-US" dirty="0"/>
              <a:t>Chronic use can lead to dependence</a:t>
            </a:r>
          </a:p>
        </p:txBody>
      </p:sp>
    </p:spTree>
    <p:extLst>
      <p:ext uri="{BB962C8B-B14F-4D97-AF65-F5344CB8AC3E}">
        <p14:creationId xmlns:p14="http://schemas.microsoft.com/office/powerpoint/2010/main" val="16583605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Drugs for Treating Anxiety, OCD, and PTSD </a:t>
            </a:r>
            <a:r>
              <a:rPr lang="en-US" sz="1200" dirty="0"/>
              <a:t>(5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BDZs are highly effective for anxiety reduction</a:t>
            </a:r>
          </a:p>
          <a:p>
            <a:pPr>
              <a:spcBef>
                <a:spcPts val="1200"/>
              </a:spcBef>
            </a:pPr>
            <a:r>
              <a:rPr lang="en-US" dirty="0"/>
              <a:t>Abuse of BDZs: some are listed as Schedule IV drugs</a:t>
            </a:r>
          </a:p>
          <a:p>
            <a:pPr>
              <a:spcBef>
                <a:spcPts val="1200"/>
              </a:spcBef>
            </a:pPr>
            <a:r>
              <a:rPr lang="en-US" dirty="0"/>
              <a:t>High-profile examples: Elvis Presley, Betty Ford</a:t>
            </a:r>
          </a:p>
          <a:p>
            <a:pPr>
              <a:spcBef>
                <a:spcPts val="1200"/>
              </a:spcBef>
            </a:pPr>
            <a:r>
              <a:rPr lang="en-US" dirty="0"/>
              <a:t>Probability of abuse almost always associated with polydrug use—people who have a history of drug or alcohol abuse</a:t>
            </a:r>
          </a:p>
          <a:p>
            <a:pPr>
              <a:spcBef>
                <a:spcPts val="1200"/>
              </a:spcBef>
            </a:pPr>
            <a:r>
              <a:rPr lang="en-US" dirty="0"/>
              <a:t>Animal studies suggest that the reinforcement value of BDZs is much less than barbiturates and other drugs of abuse</a:t>
            </a:r>
          </a:p>
        </p:txBody>
      </p:sp>
    </p:spTree>
    <p:extLst>
      <p:ext uri="{BB962C8B-B14F-4D97-AF65-F5344CB8AC3E}">
        <p14:creationId xmlns:p14="http://schemas.microsoft.com/office/powerpoint/2010/main" val="17897978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Drugs for Treating Anxiety, OCD, and PTSD </a:t>
            </a:r>
            <a:r>
              <a:rPr lang="en-US" sz="1200" dirty="0"/>
              <a:t>(6 of 10)</a:t>
            </a:r>
            <a:endParaRPr lang="en-US" dirty="0"/>
          </a:p>
        </p:txBody>
      </p:sp>
      <p:sp>
        <p:nvSpPr>
          <p:cNvPr id="3" name="Text Placeholder 2"/>
          <p:cNvSpPr>
            <a:spLocks noGrp="1"/>
          </p:cNvSpPr>
          <p:nvPr>
            <p:ph idx="1"/>
          </p:nvPr>
        </p:nvSpPr>
        <p:spPr>
          <a:xfrm>
            <a:off x="609600" y="1792465"/>
            <a:ext cx="10972800" cy="4725581"/>
          </a:xfrm>
        </p:spPr>
        <p:txBody>
          <a:bodyPr>
            <a:normAutofit lnSpcReduction="10000"/>
          </a:bodyPr>
          <a:lstStyle/>
          <a:p>
            <a:pPr marL="457200" indent="-457200">
              <a:spcBef>
                <a:spcPct val="20000"/>
              </a:spcBef>
              <a:buNone/>
            </a:pPr>
            <a:r>
              <a:rPr lang="en-US" sz="3200" dirty="0"/>
              <a:t>BDZs are highly effective for anxiety reduction</a:t>
            </a:r>
          </a:p>
          <a:p>
            <a:pPr>
              <a:spcBef>
                <a:spcPts val="1200"/>
              </a:spcBef>
            </a:pPr>
            <a:r>
              <a:rPr lang="en-US" dirty="0"/>
              <a:t>Multiple forms of the GABA</a:t>
            </a:r>
            <a:r>
              <a:rPr lang="en-US" baseline="-25000" dirty="0"/>
              <a:t>A</a:t>
            </a:r>
            <a:r>
              <a:rPr lang="en-US" dirty="0"/>
              <a:t> receptor subunits are being studied to develop drugs that increase selectivity and reduce side effects</a:t>
            </a:r>
          </a:p>
          <a:p>
            <a:pPr>
              <a:spcBef>
                <a:spcPts val="1200"/>
              </a:spcBef>
            </a:pPr>
            <a:r>
              <a:rPr lang="en-US" dirty="0"/>
              <a:t>Synthetic </a:t>
            </a:r>
            <a:r>
              <a:rPr lang="en-US" dirty="0" err="1"/>
              <a:t>neurosteroids</a:t>
            </a:r>
            <a:r>
              <a:rPr lang="en-US" dirty="0"/>
              <a:t> have potential to enhance GABA</a:t>
            </a:r>
            <a:r>
              <a:rPr lang="en-US" baseline="-25000" dirty="0"/>
              <a:t>A</a:t>
            </a:r>
            <a:r>
              <a:rPr lang="en-US" dirty="0"/>
              <a:t> action by increasing synthesis of allopregnanolone</a:t>
            </a:r>
          </a:p>
          <a:p>
            <a:pPr>
              <a:spcBef>
                <a:spcPts val="1200"/>
              </a:spcBef>
            </a:pPr>
            <a:r>
              <a:rPr lang="en-US" dirty="0"/>
              <a:t>Etifoxine increases transport of cholesterol into mitochondria where it is converted to allopregnanolone</a:t>
            </a:r>
          </a:p>
          <a:p>
            <a:pPr>
              <a:spcBef>
                <a:spcPts val="1200"/>
              </a:spcBef>
            </a:pPr>
            <a:r>
              <a:rPr lang="en-US" dirty="0" err="1"/>
              <a:t>Neurosteroid</a:t>
            </a:r>
            <a:r>
              <a:rPr lang="en-US" dirty="0"/>
              <a:t> enhancers hold promise for development of anxiolytics with fewer side effects than BDZs and work more quickly than antidepressants</a:t>
            </a:r>
          </a:p>
        </p:txBody>
      </p:sp>
    </p:spTree>
    <p:extLst>
      <p:ext uri="{BB962C8B-B14F-4D97-AF65-F5344CB8AC3E}">
        <p14:creationId xmlns:p14="http://schemas.microsoft.com/office/powerpoint/2010/main" val="29935280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B7934-9819-CA4B-A044-258B58D2DA66}"/>
              </a:ext>
            </a:extLst>
          </p:cNvPr>
          <p:cNvSpPr>
            <a:spLocks noGrp="1"/>
          </p:cNvSpPr>
          <p:nvPr>
            <p:ph type="title"/>
          </p:nvPr>
        </p:nvSpPr>
        <p:spPr/>
        <p:txBody>
          <a:bodyPr/>
          <a:lstStyle/>
          <a:p>
            <a:r>
              <a:rPr lang="en-US" cap="all" dirty="0"/>
              <a:t>FIGURE 17.19</a:t>
            </a:r>
            <a:r>
              <a:rPr lang="en-US" dirty="0"/>
              <a:t>  </a:t>
            </a:r>
            <a:r>
              <a:rPr lang="en-US" dirty="0" err="1"/>
              <a:t>Neurosteroid</a:t>
            </a:r>
            <a:r>
              <a:rPr lang="en-US" dirty="0"/>
              <a:t> synthesis </a:t>
            </a:r>
          </a:p>
        </p:txBody>
      </p:sp>
      <p:pic>
        <p:nvPicPr>
          <p:cNvPr id="6" name="Content Placeholder 5" descr="An illustration depicts the neurosteroid synthesis. The mitochondria consist of an outer mitochondrial membrane and an inner mitochondrial membrane. The T S P O receptor is a tubular structure present across the membrane. Etifoxine is attached to the receptor on the outer end. Cholesterol from external environment passes through the T S P O receptor to enter the mitochondria. The cholesterol gets converted into pregnenolone which in turn gets converted into allopregnenolone in later stages. The allopregnenalone attaches onto the G A B A receptor and chloride ions enter into the receptor. This leads to increased anxiolytic effect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172868" y="479425"/>
            <a:ext cx="3846264" cy="6300788"/>
          </a:xfrm>
        </p:spPr>
      </p:pic>
    </p:spTree>
    <p:extLst>
      <p:ext uri="{BB962C8B-B14F-4D97-AF65-F5344CB8AC3E}">
        <p14:creationId xmlns:p14="http://schemas.microsoft.com/office/powerpoint/2010/main" val="18724709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Drugs for Treating Anxiety, OCD, and PTSD </a:t>
            </a:r>
            <a:r>
              <a:rPr lang="en-US" sz="1200" dirty="0"/>
              <a:t>(7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Second-generation anxiolytics produce distinctive clinical effects</a:t>
            </a:r>
          </a:p>
          <a:p>
            <a:pPr>
              <a:spcBef>
                <a:spcPts val="1200"/>
              </a:spcBef>
            </a:pPr>
            <a:r>
              <a:rPr lang="en-US" b="1" dirty="0"/>
              <a:t>Buspirone</a:t>
            </a:r>
            <a:r>
              <a:rPr lang="en-US" dirty="0"/>
              <a:t> (</a:t>
            </a:r>
            <a:r>
              <a:rPr lang="en-US" b="1" dirty="0"/>
              <a:t>BuSpar</a:t>
            </a:r>
            <a:r>
              <a:rPr lang="en-US" dirty="0"/>
              <a:t>): partial agonist at 5-HT</a:t>
            </a:r>
            <a:r>
              <a:rPr lang="en-US" baseline="-25000" dirty="0"/>
              <a:t>1A</a:t>
            </a:r>
            <a:r>
              <a:rPr lang="en-US" dirty="0"/>
              <a:t> receptors; does not enhance GABA action</a:t>
            </a:r>
          </a:p>
          <a:p>
            <a:pPr>
              <a:spcBef>
                <a:spcPts val="1200"/>
              </a:spcBef>
            </a:pPr>
            <a:r>
              <a:rPr lang="en-US" dirty="0"/>
              <a:t>Advantages: reduces anxiety and depression without sedation or mental clouding, does not enhance other sedative–hypnotics, has no withdrawal syndrome or abuse potential</a:t>
            </a:r>
          </a:p>
          <a:p>
            <a:pPr>
              <a:spcBef>
                <a:spcPts val="1200"/>
              </a:spcBef>
            </a:pPr>
            <a:r>
              <a:rPr lang="en-US" dirty="0"/>
              <a:t>Disadvantages: slow onset of anxiolytic effects; ineffective for relieving alcohol or barbiturate withdrawal, insomnia, or seizures; lack of muscle relaxant effects</a:t>
            </a:r>
          </a:p>
        </p:txBody>
      </p:sp>
    </p:spTree>
    <p:extLst>
      <p:ext uri="{BB962C8B-B14F-4D97-AF65-F5344CB8AC3E}">
        <p14:creationId xmlns:p14="http://schemas.microsoft.com/office/powerpoint/2010/main" val="17428952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Drugs for Treating Anxiety, OCD, and PTSD </a:t>
            </a:r>
            <a:r>
              <a:rPr lang="en-US" sz="1200" dirty="0"/>
              <a:t>(8 of 10)</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ct val="20000"/>
              </a:spcBef>
              <a:buNone/>
            </a:pPr>
            <a:r>
              <a:rPr lang="en-US" sz="3500" dirty="0"/>
              <a:t>Antidepressants relieve anxiety and depression</a:t>
            </a:r>
          </a:p>
          <a:p>
            <a:pPr>
              <a:spcBef>
                <a:spcPts val="1200"/>
              </a:spcBef>
            </a:pPr>
            <a:r>
              <a:rPr lang="en-US" dirty="0"/>
              <a:t>Anxiety and depression often occur together</a:t>
            </a:r>
          </a:p>
          <a:p>
            <a:pPr>
              <a:spcBef>
                <a:spcPts val="1200"/>
              </a:spcBef>
            </a:pPr>
            <a:r>
              <a:rPr lang="en-US" dirty="0"/>
              <a:t>SSRIs have a high therapeutic index and low abuse potential but take 4 to 6 weeks to show effectiveness</a:t>
            </a:r>
          </a:p>
          <a:p>
            <a:pPr>
              <a:spcBef>
                <a:spcPts val="1200"/>
              </a:spcBef>
            </a:pPr>
            <a:r>
              <a:rPr lang="en-US" dirty="0"/>
              <a:t>SSRIs side effects: increased anxiety, insomnia, sexual dysfunction; cause physical dependence</a:t>
            </a:r>
          </a:p>
          <a:p>
            <a:pPr>
              <a:spcBef>
                <a:spcPts val="1200"/>
              </a:spcBef>
            </a:pPr>
            <a:r>
              <a:rPr lang="en-US" dirty="0"/>
              <a:t>Tricyclic antidepressants and MAOIs can treat some anxiety disorders but have troubling side effects</a:t>
            </a:r>
          </a:p>
          <a:p>
            <a:pPr>
              <a:spcBef>
                <a:spcPts val="1200"/>
              </a:spcBef>
            </a:pPr>
            <a:r>
              <a:rPr lang="en-US" dirty="0"/>
              <a:t>A new drug (vilazodone) combines 5-HT reuptake inhibition with potent partial agonist activity at 5-HT</a:t>
            </a:r>
            <a:r>
              <a:rPr lang="en-US" baseline="-25000" dirty="0"/>
              <a:t>1A</a:t>
            </a:r>
            <a:r>
              <a:rPr lang="en-US" dirty="0"/>
              <a:t> receptors</a:t>
            </a:r>
          </a:p>
        </p:txBody>
      </p:sp>
    </p:spTree>
    <p:extLst>
      <p:ext uri="{BB962C8B-B14F-4D97-AF65-F5344CB8AC3E}">
        <p14:creationId xmlns:p14="http://schemas.microsoft.com/office/powerpoint/2010/main" val="34869242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Drugs for Treating Anxiety, OCD, and PTSD </a:t>
            </a:r>
            <a:r>
              <a:rPr lang="en-US" sz="1200" dirty="0"/>
              <a:t>(9 of 10)</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Many novel approaches to treating anxiety are being developed</a:t>
            </a:r>
          </a:p>
          <a:p>
            <a:pPr>
              <a:spcBef>
                <a:spcPts val="1200"/>
              </a:spcBef>
            </a:pPr>
            <a:r>
              <a:rPr lang="en-US" dirty="0"/>
              <a:t>Ketamine has been successfully used in clinical studies to mitigate symptoms of OCD and PTSD</a:t>
            </a:r>
          </a:p>
          <a:p>
            <a:pPr>
              <a:spcBef>
                <a:spcPts val="1200"/>
              </a:spcBef>
            </a:pPr>
            <a:r>
              <a:rPr lang="en-US" dirty="0"/>
              <a:t>LSD and psilocybin have shown long-term efficacy in treating depression and anxiety when combined with psychotherapy</a:t>
            </a:r>
          </a:p>
          <a:p>
            <a:pPr>
              <a:spcBef>
                <a:spcPts val="1200"/>
              </a:spcBef>
            </a:pPr>
            <a:r>
              <a:rPr lang="en-US" dirty="0"/>
              <a:t>MDMA reduces existential anxiety in terminally ill cancer patients</a:t>
            </a:r>
          </a:p>
          <a:p>
            <a:pPr>
              <a:spcBef>
                <a:spcPts val="1200"/>
              </a:spcBef>
            </a:pPr>
            <a:r>
              <a:rPr lang="en-US" dirty="0"/>
              <a:t>It is thought that the dissociative, mystic, and empathogenic effects of these substances allows patients to safely identify and face the underlying trauma than with therapy alone</a:t>
            </a:r>
          </a:p>
        </p:txBody>
      </p:sp>
    </p:spTree>
    <p:extLst>
      <p:ext uri="{BB962C8B-B14F-4D97-AF65-F5344CB8AC3E}">
        <p14:creationId xmlns:p14="http://schemas.microsoft.com/office/powerpoint/2010/main" val="3942338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Drugs for Treating Anxiety, OCD, and PTSD </a:t>
            </a:r>
            <a:r>
              <a:rPr lang="en-US" sz="1200" dirty="0"/>
              <a:t>(10 of 10)</a:t>
            </a:r>
            <a:endParaRPr lang="en-US" dirty="0"/>
          </a:p>
        </p:txBody>
      </p:sp>
      <p:sp>
        <p:nvSpPr>
          <p:cNvPr id="3" name="Text Placeholder 2"/>
          <p:cNvSpPr>
            <a:spLocks noGrp="1"/>
          </p:cNvSpPr>
          <p:nvPr>
            <p:ph idx="1"/>
          </p:nvPr>
        </p:nvSpPr>
        <p:spPr/>
        <p:txBody>
          <a:bodyPr>
            <a:normAutofit/>
          </a:bodyPr>
          <a:lstStyle/>
          <a:p>
            <a:pPr marL="0" indent="0">
              <a:spcBef>
                <a:spcPts val="1200"/>
              </a:spcBef>
              <a:buNone/>
            </a:pPr>
            <a:r>
              <a:rPr lang="en-US" sz="2400" u="sng" dirty="0"/>
              <a:t>CLICKER QUESTION 2</a:t>
            </a:r>
          </a:p>
          <a:p>
            <a:pPr marL="457200" indent="-457200">
              <a:spcBef>
                <a:spcPts val="2400"/>
              </a:spcBef>
              <a:buNone/>
            </a:pPr>
            <a:r>
              <a:rPr lang="en-US" sz="3200" dirty="0"/>
              <a:t>Which of the following is </a:t>
            </a:r>
            <a:r>
              <a:rPr lang="en-US" sz="3200" i="1" dirty="0"/>
              <a:t>not</a:t>
            </a:r>
            <a:r>
              <a:rPr lang="en-US" sz="3200" dirty="0"/>
              <a:t> a therapeutic use of BDZs?</a:t>
            </a:r>
          </a:p>
          <a:p>
            <a:pPr marL="914400" indent="-457200">
              <a:spcBef>
                <a:spcPts val="1200"/>
              </a:spcBef>
              <a:buFont typeface="Arial" pitchFamily="34" charset="0"/>
              <a:buAutoNum type="alphaLcPeriod"/>
            </a:pPr>
            <a:r>
              <a:rPr lang="en-US" sz="3200" dirty="0"/>
              <a:t>Presurgical anesthesia</a:t>
            </a:r>
          </a:p>
          <a:p>
            <a:pPr marL="914400" indent="-457200">
              <a:spcBef>
                <a:spcPts val="1200"/>
              </a:spcBef>
              <a:buFont typeface="Arial" pitchFamily="34" charset="0"/>
              <a:buAutoNum type="alphaLcPeriod"/>
            </a:pPr>
            <a:r>
              <a:rPr lang="en-US" sz="3200" dirty="0"/>
              <a:t>Deep anesthesia</a:t>
            </a:r>
          </a:p>
          <a:p>
            <a:pPr marL="914400" indent="-457200">
              <a:spcBef>
                <a:spcPts val="1200"/>
              </a:spcBef>
              <a:buFont typeface="Arial" pitchFamily="34" charset="0"/>
              <a:buAutoNum type="alphaLcPeriod"/>
            </a:pPr>
            <a:r>
              <a:rPr lang="en-US" sz="3200" dirty="0"/>
              <a:t>Insomnia treatment</a:t>
            </a:r>
          </a:p>
          <a:p>
            <a:pPr marL="914400" indent="-457200">
              <a:spcBef>
                <a:spcPts val="1200"/>
              </a:spcBef>
              <a:buFont typeface="Arial" pitchFamily="34" charset="0"/>
              <a:buAutoNum type="alphaLcPeriod"/>
            </a:pPr>
            <a:r>
              <a:rPr lang="en-US" sz="3200" dirty="0"/>
              <a:t>Muscle relaxation </a:t>
            </a:r>
          </a:p>
        </p:txBody>
      </p:sp>
    </p:spTree>
    <p:extLst>
      <p:ext uri="{BB962C8B-B14F-4D97-AF65-F5344CB8AC3E}">
        <p14:creationId xmlns:p14="http://schemas.microsoft.com/office/powerpoint/2010/main" val="22139205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tabLst>
                <a:tab pos="4625975" algn="l"/>
                <a:tab pos="4746625" algn="l"/>
              </a:tabLst>
            </a:pPr>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(3 of 3)</a:t>
            </a:r>
            <a:endParaRPr lang="en-US" dirty="0"/>
          </a:p>
        </p:txBody>
      </p:sp>
      <p:sp>
        <p:nvSpPr>
          <p:cNvPr id="3" name="Text Placeholder 2"/>
          <p:cNvSpPr>
            <a:spLocks noGrp="1"/>
          </p:cNvSpPr>
          <p:nvPr>
            <p:ph idx="1"/>
          </p:nvPr>
        </p:nvSpPr>
        <p:spPr/>
        <p:txBody>
          <a:bodyPr>
            <a:normAutofit fontScale="77500" lnSpcReduction="20000"/>
          </a:bodyPr>
          <a:lstStyle/>
          <a:p>
            <a:pPr marL="1149350" indent="-1149350">
              <a:lnSpc>
                <a:spcPct val="120000"/>
              </a:lnSpc>
              <a:spcBef>
                <a:spcPts val="1800"/>
              </a:spcBef>
              <a:buNone/>
            </a:pPr>
            <a:r>
              <a:rPr lang="en-US" sz="2800" dirty="0"/>
              <a:t>17.3.1  Describe how barbiturates and benzodiazepines reduce anxiety by modulating GABA neurotransmission.</a:t>
            </a:r>
          </a:p>
          <a:p>
            <a:pPr marL="1149350" indent="-1149350">
              <a:lnSpc>
                <a:spcPct val="120000"/>
              </a:lnSpc>
              <a:spcBef>
                <a:spcPts val="1800"/>
              </a:spcBef>
              <a:buNone/>
            </a:pPr>
            <a:r>
              <a:rPr lang="en-US" sz="2800" dirty="0"/>
              <a:t>17.3.2  Detail the pharmacokinetics and side- effect profiles of barbiturates and benzodiazepines.</a:t>
            </a:r>
          </a:p>
          <a:p>
            <a:pPr marL="1149350" indent="-1149350">
              <a:lnSpc>
                <a:spcPct val="120000"/>
              </a:lnSpc>
              <a:spcBef>
                <a:spcPts val="1800"/>
              </a:spcBef>
              <a:buNone/>
            </a:pPr>
            <a:r>
              <a:rPr lang="en-US" sz="2800" dirty="0"/>
              <a:t>17.3.3  Recognize the characteristics of dependence and withdrawal from benzodiazepine abuse.</a:t>
            </a:r>
          </a:p>
          <a:p>
            <a:pPr marL="1149350" indent="-1149350">
              <a:lnSpc>
                <a:spcPct val="120000"/>
              </a:lnSpc>
              <a:spcBef>
                <a:spcPts val="1800"/>
              </a:spcBef>
              <a:buNone/>
            </a:pPr>
            <a:r>
              <a:rPr lang="en-US" sz="2800" dirty="0"/>
              <a:t>17.3.4  Describe the mechanisms of action and anxiolytic properties of </a:t>
            </a:r>
            <a:r>
              <a:rPr lang="en-US" sz="2800" dirty="0" err="1"/>
              <a:t>neurosteroids</a:t>
            </a:r>
            <a:r>
              <a:rPr lang="en-US" sz="2800" dirty="0"/>
              <a:t>, second-generation anxiolytics, and antidepressants.</a:t>
            </a:r>
          </a:p>
          <a:p>
            <a:pPr marL="1149350" indent="-1149350">
              <a:lnSpc>
                <a:spcPct val="120000"/>
              </a:lnSpc>
              <a:spcBef>
                <a:spcPts val="1800"/>
              </a:spcBef>
              <a:buNone/>
            </a:pPr>
            <a:r>
              <a:rPr lang="en-US" sz="2800" dirty="0"/>
              <a:t>17.3.5  Detail novel approaches to anxiety treatment, including the use of MDMA, ketamine, and hallucinogens as adjuncts to psychotherapy.</a:t>
            </a:r>
          </a:p>
        </p:txBody>
      </p:sp>
    </p:spTree>
    <p:extLst>
      <p:ext uri="{BB962C8B-B14F-4D97-AF65-F5344CB8AC3E}">
        <p14:creationId xmlns:p14="http://schemas.microsoft.com/office/powerpoint/2010/main" val="414101734"/>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2.xml><?xml version="1.0" encoding="utf-8"?>
<a:theme xmlns:a="http://schemas.openxmlformats.org/drawingml/2006/main" name="Figure-Only Templates">
  <a:themeElements>
    <a:clrScheme name="Custom 105">
      <a:dk1>
        <a:srgbClr val="000000"/>
      </a:dk1>
      <a:lt1>
        <a:srgbClr val="FFFFFF"/>
      </a:lt1>
      <a:dk2>
        <a:srgbClr val="1F497D"/>
      </a:dk2>
      <a:lt2>
        <a:srgbClr val="EEECE1"/>
      </a:lt2>
      <a:accent1>
        <a:srgbClr val="001A47"/>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034735E286A8A478CDABE780C9EC78F" ma:contentTypeVersion="13" ma:contentTypeDescription="Create a new document." ma:contentTypeScope="" ma:versionID="9b8825675e62d57985c81b74d5b14a7f">
  <xsd:schema xmlns:xsd="http://www.w3.org/2001/XMLSchema" xmlns:xs="http://www.w3.org/2001/XMLSchema" xmlns:p="http://schemas.microsoft.com/office/2006/metadata/properties" xmlns:ns3="fd39d560-5c7d-4158-98a0-f420f8fdebce" xmlns:ns4="a6c716b4-9090-4de7-aadc-2aa5f812ad24" targetNamespace="http://schemas.microsoft.com/office/2006/metadata/properties" ma:root="true" ma:fieldsID="bdbc9fd47a72f6438c4442bb9222e145" ns3:_="" ns4:_="">
    <xsd:import namespace="fd39d560-5c7d-4158-98a0-f420f8fdebce"/>
    <xsd:import namespace="a6c716b4-9090-4de7-aadc-2aa5f812ad2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39d560-5c7d-4158-98a0-f420f8fdeb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c716b4-9090-4de7-aadc-2aa5f812ad2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57C1AB-C2BF-4446-AECB-681D5785527F}">
  <ds:schemaRefs>
    <ds:schemaRef ds:uri="http://schemas.microsoft.com/sharepoint/v3/contenttype/forms"/>
  </ds:schemaRefs>
</ds:datastoreItem>
</file>

<file path=customXml/itemProps2.xml><?xml version="1.0" encoding="utf-8"?>
<ds:datastoreItem xmlns:ds="http://schemas.openxmlformats.org/officeDocument/2006/customXml" ds:itemID="{2856919D-3723-464B-9967-427A087CBD61}">
  <ds:schemaRefs>
    <ds:schemaRef ds:uri="http://purl.org/dc/elements/1.1/"/>
    <ds:schemaRef ds:uri="http://schemas.microsoft.com/office/2006/metadata/properties"/>
    <ds:schemaRef ds:uri="fd39d560-5c7d-4158-98a0-f420f8fdebce"/>
    <ds:schemaRef ds:uri="http://purl.org/dc/terms/"/>
    <ds:schemaRef ds:uri="http://schemas.openxmlformats.org/package/2006/metadata/core-properties"/>
    <ds:schemaRef ds:uri="a6c716b4-9090-4de7-aadc-2aa5f812ad24"/>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7E307B2A-FA70-43CE-A010-B3D8154DEA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39d560-5c7d-4158-98a0-f420f8fdebce"/>
    <ds:schemaRef ds:uri="a6c716b4-9090-4de7-aadc-2aa5f812ad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OUP US HE Widescreen Template 3.1 (TH)</Template>
  <TotalTime>3201</TotalTime>
  <Words>4360</Words>
  <Application>Microsoft Office PowerPoint</Application>
  <PresentationFormat>Widescreen</PresentationFormat>
  <Paragraphs>415</Paragraphs>
  <Slides>63</Slides>
  <Notes>56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63</vt:i4>
      </vt:variant>
    </vt:vector>
  </HeadingPairs>
  <TitlesOfParts>
    <vt:vector size="72" baseType="lpstr">
      <vt:lpstr>ＭＳ Ｐゴシック</vt:lpstr>
      <vt:lpstr>Arial</vt:lpstr>
      <vt:lpstr>Calibri</vt:lpstr>
      <vt:lpstr>Courier New</vt:lpstr>
      <vt:lpstr>Geneva</vt:lpstr>
      <vt:lpstr>PalatinoLT-Roman</vt:lpstr>
      <vt:lpstr>PalatinoLTStd-Roman</vt:lpstr>
      <vt:lpstr>Text Content Templates</vt:lpstr>
      <vt:lpstr>Figure-Only Templates</vt:lpstr>
      <vt:lpstr>Psychopharmacology: Drugs, the Brain, and Behavior</vt:lpstr>
      <vt:lpstr>Chapter 17 Disorders of Anxiety and Impulsivity and the Drugs Used to Treat Them</vt:lpstr>
      <vt:lpstr>Chapter 17 Learning Objectives (1 of 3)</vt:lpstr>
      <vt:lpstr>Chapter 17 Learning Objectives (2 of 3)</vt:lpstr>
      <vt:lpstr>Chapter 17 Learning Objectives (3 of 3)</vt:lpstr>
      <vt:lpstr>Neurobiology of Anxiety (1 of 22)</vt:lpstr>
      <vt:lpstr>Neurobiology of Anxiety (2 of 22)</vt:lpstr>
      <vt:lpstr>Neurobiology of Anxiety (3 of 22)</vt:lpstr>
      <vt:lpstr>FIGURE 17.1  Three-component model of anxiety </vt:lpstr>
      <vt:lpstr>Neurobiology of Anxiety (4 of 22)</vt:lpstr>
      <vt:lpstr>FIGURE 17.2  Flow diagram of connections of the amygdala </vt:lpstr>
      <vt:lpstr>Neurobiology of Anxiety (5 of 22)</vt:lpstr>
      <vt:lpstr>FIGURE 17.3  The amygdala coordinates components of emotion </vt:lpstr>
      <vt:lpstr>Neurobiology of Anxiety (6 of 22)</vt:lpstr>
      <vt:lpstr>Neurobiology of Anxiety (7 of 22)</vt:lpstr>
      <vt:lpstr>FIGURE 17.4  Dual role for CRF </vt:lpstr>
      <vt:lpstr>Neurobiology of Anxiety (8 of 22)</vt:lpstr>
      <vt:lpstr>Neurobiology of Anxiety (9 of 22)</vt:lpstr>
      <vt:lpstr>Neurobiology of Anxiety (10 of 22)</vt:lpstr>
      <vt:lpstr>Neurobiology of Anxiety (11 of 22)</vt:lpstr>
      <vt:lpstr>FIGURE 17.5  Drug effects on locus coeruleus (LC) cell firing (1)</vt:lpstr>
      <vt:lpstr>Neurobiology of Anxiety (12 of 22)</vt:lpstr>
      <vt:lpstr>Neurobiology of Anxiety (13 of 22)</vt:lpstr>
      <vt:lpstr>FIGURE 17.7  Modulation of GABA-induced chloride (Cl−) flux  </vt:lpstr>
      <vt:lpstr>FIGURE 17.8  PET scans of a control individual (left) and a patient with panic disorder (right) </vt:lpstr>
      <vt:lpstr>Neurobiology of Anxiety (14 of 22)</vt:lpstr>
      <vt:lpstr>Neurobiology of Anxiety (15 of 22)</vt:lpstr>
      <vt:lpstr>Neurobiology of Anxiety (16 of 22)</vt:lpstr>
      <vt:lpstr>Neurobiology of Anxiety (17 of 22)</vt:lpstr>
      <vt:lpstr>Neurobiology of Anxiety (18 of 22)</vt:lpstr>
      <vt:lpstr>FIGURE 17.10  Stress pathway dysregulation following early prenatal stress </vt:lpstr>
      <vt:lpstr>Neurobiology of Anxiety (19 of 22)</vt:lpstr>
      <vt:lpstr>FIGURE 17.11  Effects of 10 days of chronic immobilization stress on dendritic length and complexity in the hippocampus and basolateral amygdala </vt:lpstr>
      <vt:lpstr>Neurobiology of Anxiety (20 of 22)</vt:lpstr>
      <vt:lpstr>Neurobiology of Anxiety (21 of 22)</vt:lpstr>
      <vt:lpstr>Neurobiology of Anxiety (22 of 22)</vt:lpstr>
      <vt:lpstr>Review of Learning Objectives (1 of 3)</vt:lpstr>
      <vt:lpstr>Characteristics of Anxiety Disorders (1 of 10)</vt:lpstr>
      <vt:lpstr>Characteristics of Anxiety Disorders (2 of 10)</vt:lpstr>
      <vt:lpstr>Characteristics of Anxiety Disorders (3 of 10)</vt:lpstr>
      <vt:lpstr>Characteristics of Anxiety Disorders (4 of 10)</vt:lpstr>
      <vt:lpstr>Characteristics of Anxiety Disorders (5 of 10)</vt:lpstr>
      <vt:lpstr>Characteristics of Anxiety Disorders (6 of 10)</vt:lpstr>
      <vt:lpstr>Characteristics of Anxiety Disorders (7 of 10)</vt:lpstr>
      <vt:lpstr>Characteristics of Anxiety Disorders (8 of 10)</vt:lpstr>
      <vt:lpstr>Characteristics of Anxiety Disorders (9 of 10)</vt:lpstr>
      <vt:lpstr>Characteristics of Anxiety Disorders (10 of 10)</vt:lpstr>
      <vt:lpstr>Review of Learning Objectives (2 of 3)</vt:lpstr>
      <vt:lpstr>Drugs for Treating Anxiety, OCD, and PTSD (1 of 10)</vt:lpstr>
      <vt:lpstr>FIGURE 17.14  Effects of GABA and diazepam on membrane potentials and chloride (Cl−) flux </vt:lpstr>
      <vt:lpstr>Drugs for Treating Anxiety, OCD, and PTSD (2 of 10)</vt:lpstr>
      <vt:lpstr>FIGURE 17.16  Margin of safety </vt:lpstr>
      <vt:lpstr>Drugs for Treating Anxiety, OCD, and PTSD (3 of 10)</vt:lpstr>
      <vt:lpstr>FIGURE 17.18  BDZ metabolism </vt:lpstr>
      <vt:lpstr>Drugs for Treating Anxiety, OCD, and PTSD (4 of 10)</vt:lpstr>
      <vt:lpstr>Drugs for Treating Anxiety, OCD, and PTSD (5 of 10)</vt:lpstr>
      <vt:lpstr>Drugs for Treating Anxiety, OCD, and PTSD (6 of 10)</vt:lpstr>
      <vt:lpstr>FIGURE 17.19  Neurosteroid synthesis </vt:lpstr>
      <vt:lpstr>Drugs for Treating Anxiety, OCD, and PTSD (7 of 10)</vt:lpstr>
      <vt:lpstr>Drugs for Treating Anxiety, OCD, and PTSD (8 of 10)</vt:lpstr>
      <vt:lpstr>Drugs for Treating Anxiety, OCD, and PTSD (9 of 10)</vt:lpstr>
      <vt:lpstr>Drugs for Treating Anxiety, OCD, and PTSD (10 of 10)</vt:lpstr>
      <vt:lpstr>Review of Learning Objectives (3 of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Psychopharmacology: Drugs, the Brain, and Behavior</dc:title>
  <dc:creator>OUP</dc:creator>
  <cp:lastModifiedBy>Carter, Suzanne</cp:lastModifiedBy>
  <cp:revision>51</cp:revision>
  <dcterms:created xsi:type="dcterms:W3CDTF">2021-11-13T04:08:54Z</dcterms:created>
  <dcterms:modified xsi:type="dcterms:W3CDTF">2022-03-25T18:04:07Z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0x0101006034735E286A8A478CDABE780C9EC78F</vt:lpwstr>
  </property>
</Properties>
</file>