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1" r:id="rId5"/>
  </p:sldMasterIdLst>
  <p:notesMasterIdLst>
    <p:notesMasterId r:id="rId71"/>
  </p:notesMasterIdLst>
  <p:handoutMasterIdLst>
    <p:handoutMasterId r:id="rId72"/>
  </p:handoutMasterIdLst>
  <p:sldIdLst>
    <p:sldId id="352" r:id="rId6"/>
    <p:sldId id="270" r:id="rId7"/>
    <p:sldId id="274" r:id="rId8"/>
    <p:sldId id="353" r:id="rId9"/>
    <p:sldId id="291" r:id="rId10"/>
    <p:sldId id="354" r:id="rId11"/>
    <p:sldId id="312" r:id="rId12"/>
    <p:sldId id="293" r:id="rId13"/>
    <p:sldId id="355" r:id="rId14"/>
    <p:sldId id="271" r:id="rId15"/>
    <p:sldId id="295" r:id="rId16"/>
    <p:sldId id="296" r:id="rId17"/>
    <p:sldId id="363" r:id="rId18"/>
    <p:sldId id="301" r:id="rId19"/>
    <p:sldId id="364" r:id="rId20"/>
    <p:sldId id="365" r:id="rId21"/>
    <p:sldId id="299" r:id="rId22"/>
    <p:sldId id="356" r:id="rId23"/>
    <p:sldId id="300" r:id="rId24"/>
    <p:sldId id="306" r:id="rId25"/>
    <p:sldId id="307" r:id="rId26"/>
    <p:sldId id="308" r:id="rId27"/>
    <p:sldId id="309" r:id="rId28"/>
    <p:sldId id="310" r:id="rId29"/>
    <p:sldId id="311" r:id="rId30"/>
    <p:sldId id="285" r:id="rId31"/>
    <p:sldId id="357" r:id="rId32"/>
    <p:sldId id="314" r:id="rId33"/>
    <p:sldId id="315" r:id="rId34"/>
    <p:sldId id="366" r:id="rId35"/>
    <p:sldId id="316" r:id="rId36"/>
    <p:sldId id="367" r:id="rId37"/>
    <p:sldId id="320" r:id="rId38"/>
    <p:sldId id="322" r:id="rId39"/>
    <p:sldId id="368" r:id="rId40"/>
    <p:sldId id="318" r:id="rId41"/>
    <p:sldId id="323" r:id="rId42"/>
    <p:sldId id="324" r:id="rId43"/>
    <p:sldId id="325" r:id="rId44"/>
    <p:sldId id="326" r:id="rId45"/>
    <p:sldId id="369" r:id="rId46"/>
    <p:sldId id="358" r:id="rId47"/>
    <p:sldId id="327" r:id="rId48"/>
    <p:sldId id="370" r:id="rId49"/>
    <p:sldId id="331" r:id="rId50"/>
    <p:sldId id="332" r:id="rId51"/>
    <p:sldId id="359" r:id="rId52"/>
    <p:sldId id="333" r:id="rId53"/>
    <p:sldId id="371" r:id="rId54"/>
    <p:sldId id="335" r:id="rId55"/>
    <p:sldId id="337" r:id="rId56"/>
    <p:sldId id="338" r:id="rId57"/>
    <p:sldId id="339" r:id="rId58"/>
    <p:sldId id="340" r:id="rId59"/>
    <p:sldId id="350" r:id="rId60"/>
    <p:sldId id="360" r:id="rId61"/>
    <p:sldId id="341" r:id="rId62"/>
    <p:sldId id="344" r:id="rId63"/>
    <p:sldId id="372" r:id="rId64"/>
    <p:sldId id="343" r:id="rId65"/>
    <p:sldId id="351" r:id="rId66"/>
    <p:sldId id="361" r:id="rId67"/>
    <p:sldId id="345" r:id="rId68"/>
    <p:sldId id="373" r:id="rId69"/>
    <p:sldId id="362"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20" autoAdjust="0"/>
    <p:restoredTop sz="83333" autoAdjust="0"/>
  </p:normalViewPr>
  <p:slideViewPr>
    <p:cSldViewPr snapToGrid="0" snapToObjects="1">
      <p:cViewPr varScale="1">
        <p:scale>
          <a:sx n="86" d="100"/>
          <a:sy n="86" d="100"/>
        </p:scale>
        <p:origin x="96" y="74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2582"/>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3/11/2022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3/11/2022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spcBef>
                <a:spcPts val="1200"/>
              </a:spcBef>
            </a:pPr>
            <a:r>
              <a:rPr lang="en-US" altLang="en-US" dirty="0">
                <a:ea typeface="Geneva" pitchFamily="121" charset="-128"/>
              </a:rPr>
              <a:t>Two synthetic cocaine-like drugs have been synthesized; more potent than cocaine, but used only experimentally: WIN 35,428 (also known as CFT) &amp;  RTI-55 (also called </a:t>
            </a:r>
            <a:r>
              <a:rPr lang="el-GR" altLang="en-US" dirty="0">
                <a:latin typeface="PalatinoLT-Roman" charset="0"/>
                <a:ea typeface="Geneva" pitchFamily="121" charset="-128"/>
              </a:rPr>
              <a:t>β</a:t>
            </a:r>
            <a:r>
              <a:rPr lang="en-US" altLang="en-US" dirty="0">
                <a:ea typeface="Geneva" pitchFamily="121" charset="-128"/>
              </a:rPr>
              <a:t>-CIT).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u="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u="none" dirty="0"/>
              <a:t>Freebasing</a:t>
            </a:r>
            <a:r>
              <a:rPr lang="en-US" u="none" dirty="0"/>
              <a:t>: </a:t>
            </a:r>
            <a:r>
              <a:rPr lang="en-US" altLang="en-US" dirty="0">
                <a:ea typeface="Geneva" pitchFamily="121" charset="-128"/>
              </a:rPr>
              <a:t>Dissolve in water, add an alkaline solution such as ammonia, extract the cocaine base with an organic solvent, typically ether. The term freebasing refers to smoking cocaine that was obtained in this manner.</a:t>
            </a:r>
          </a:p>
          <a:p>
            <a:endParaRPr lang="en-US" u="none" dirty="0"/>
          </a:p>
          <a:p>
            <a:r>
              <a:rPr lang="en-US" b="1" u="none" dirty="0"/>
              <a:t>Crack</a:t>
            </a:r>
            <a:r>
              <a:rPr lang="en-US" u="none" dirty="0"/>
              <a:t>: </a:t>
            </a:r>
            <a:r>
              <a:rPr lang="en-US" altLang="en-US" dirty="0"/>
              <a:t>Mix dissolved cocaine HCl with baking soda, heat the mixture, then dry it. Chunks of crack are heated and the vapor inhaled.</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631294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1034159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12.5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Time course of plasma cocaine concentrations following different routes of administration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Each curve shows the mean for 10 human participants. For cocaine freebase smoking, participants were allowed only one to three puffs of the vapor from 100 mg of drug heated in a flask. The peak plasma concentrations produced under these conditions probably underestimate the levels occurring from recreational use. (After R. T. Jones. 1990. </a:t>
            </a:r>
            <a:r>
              <a:rPr lang="en-US" sz="1200" i="1" kern="1200" dirty="0">
                <a:solidFill>
                  <a:schemeClr val="tx1"/>
                </a:solidFill>
                <a:effectLst/>
                <a:latin typeface="+mn-lt"/>
                <a:ea typeface="+mn-ea"/>
                <a:cs typeface="+mn-cs"/>
              </a:rPr>
              <a:t>NIDA Res </a:t>
            </a:r>
            <a:r>
              <a:rPr lang="en-US" sz="1200" i="1" kern="1200" dirty="0" err="1">
                <a:solidFill>
                  <a:schemeClr val="tx1"/>
                </a:solidFill>
                <a:effectLst/>
                <a:latin typeface="+mn-lt"/>
                <a:ea typeface="+mn-ea"/>
                <a:cs typeface="+mn-cs"/>
              </a:rPr>
              <a:t>Monogr</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99: 30–41.)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836006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998775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12.6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Mechanisms of cocaine action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Cocaine increases synaptic DA levels by binding to the plasma membrane DA transporter and blocking reuptake of the neurotransmitter. A similar process occurs at serotonergic and noradrenergic synapses because of cocaine’s inhibition of 5-HT and NE re­uptake. VMAT2, vesicular monoamine transporter 2.</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374681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12.7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Time course of striatal cocaine and DA concentrations following rapid IV cocaine infusion</a:t>
            </a:r>
            <a:r>
              <a:rPr lang="en-US" sz="1200" kern="1200" dirty="0">
                <a:solidFill>
                  <a:schemeClr val="tx1"/>
                </a:solidFill>
                <a:effectLst/>
                <a:latin typeface="+mn-lt"/>
                <a:ea typeface="+mn-ea"/>
                <a:cs typeface="+mn-cs"/>
              </a:rPr>
              <a:t> </a:t>
            </a:r>
          </a:p>
          <a:p>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probes aimed at the dorsal striatum collected samples for measurement of cocaine and DA concentrations at 2-minute intervals following a 5-second infusion of 2 mg/kg cocaine. The close relationship between these variables is consistent with cocaine causing rapid increases in extracellular DA in this brain region. Note that the DA concentrations measured in the extracellular fluid were much lower than the respective cocaine concentrations; however, because </a:t>
            </a:r>
            <a:r>
              <a:rPr lang="en-US" sz="1200" kern="1200" dirty="0" err="1">
                <a:solidFill>
                  <a:schemeClr val="tx1"/>
                </a:solidFill>
                <a:effectLst/>
                <a:latin typeface="+mn-lt"/>
                <a:ea typeface="+mn-ea"/>
                <a:cs typeface="+mn-cs"/>
              </a:rPr>
              <a:t>microdialysis</a:t>
            </a:r>
            <a:r>
              <a:rPr lang="en-US" sz="1200" kern="1200" dirty="0">
                <a:solidFill>
                  <a:schemeClr val="tx1"/>
                </a:solidFill>
                <a:effectLst/>
                <a:latin typeface="+mn-lt"/>
                <a:ea typeface="+mn-ea"/>
                <a:cs typeface="+mn-cs"/>
              </a:rPr>
              <a:t> assesses neurotransmitter </a:t>
            </a:r>
            <a:r>
              <a:rPr lang="en-US" sz="1200" i="1" kern="1200" dirty="0">
                <a:solidFill>
                  <a:schemeClr val="tx1"/>
                </a:solidFill>
                <a:effectLst/>
                <a:latin typeface="+mn-lt"/>
                <a:ea typeface="+mn-ea"/>
                <a:cs typeface="+mn-cs"/>
              </a:rPr>
              <a:t>overflow</a:t>
            </a:r>
            <a:r>
              <a:rPr lang="en-US" sz="1200" kern="1200" dirty="0">
                <a:solidFill>
                  <a:schemeClr val="tx1"/>
                </a:solidFill>
                <a:effectLst/>
                <a:latin typeface="+mn-lt"/>
                <a:ea typeface="+mn-ea"/>
                <a:cs typeface="+mn-cs"/>
              </a:rPr>
              <a:t> (i.e., transmitter molecules that have eluded uptake mechanisms), the </a:t>
            </a:r>
            <a:r>
              <a:rPr lang="en-US" sz="1200" i="1" kern="1200" dirty="0">
                <a:solidFill>
                  <a:schemeClr val="tx1"/>
                </a:solidFill>
                <a:effectLst/>
                <a:latin typeface="+mn-lt"/>
                <a:ea typeface="+mn-ea"/>
                <a:cs typeface="+mn-cs"/>
              </a:rPr>
              <a:t>synaptic</a:t>
            </a:r>
            <a:r>
              <a:rPr lang="en-US" sz="1200" kern="1200" dirty="0">
                <a:solidFill>
                  <a:schemeClr val="tx1"/>
                </a:solidFill>
                <a:effectLst/>
                <a:latin typeface="+mn-lt"/>
                <a:ea typeface="+mn-ea"/>
                <a:cs typeface="+mn-cs"/>
              </a:rPr>
              <a:t> DA levels were likely much greater than those shown here. (After E.-A. </a:t>
            </a:r>
            <a:r>
              <a:rPr lang="en-US" sz="1200" kern="1200" dirty="0" err="1">
                <a:solidFill>
                  <a:schemeClr val="tx1"/>
                </a:solidFill>
                <a:effectLst/>
                <a:latin typeface="+mn-lt"/>
                <a:ea typeface="+mn-ea"/>
                <a:cs typeface="+mn-cs"/>
              </a:rPr>
              <a:t>Minogianis</a:t>
            </a:r>
            <a:r>
              <a:rPr lang="en-US" sz="1200" kern="1200" dirty="0">
                <a:solidFill>
                  <a:schemeClr val="tx1"/>
                </a:solidFill>
                <a:effectLst/>
                <a:latin typeface="+mn-lt"/>
                <a:ea typeface="+mn-ea"/>
                <a:cs typeface="+mn-cs"/>
              </a:rPr>
              <a:t> et al. 2019. </a:t>
            </a:r>
            <a:r>
              <a:rPr lang="en-US" sz="1200" i="1" kern="1200" dirty="0" err="1">
                <a:solidFill>
                  <a:schemeClr val="tx1"/>
                </a:solidFill>
                <a:effectLst/>
                <a:latin typeface="+mn-lt"/>
                <a:ea typeface="+mn-ea"/>
                <a:cs typeface="+mn-cs"/>
              </a:rPr>
              <a:t>Eur</a:t>
            </a:r>
            <a:r>
              <a:rPr lang="en-US" sz="1200" i="1" kern="1200" dirty="0">
                <a:solidFill>
                  <a:schemeClr val="tx1"/>
                </a:solidFill>
                <a:effectLst/>
                <a:latin typeface="+mn-lt"/>
                <a:ea typeface="+mn-ea"/>
                <a:cs typeface="+mn-cs"/>
              </a:rPr>
              <a:t> 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50: 2054–2064. © 2018 Federation of European Neuro­science Societies and John Wiley &amp; Sons Ltd.)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671418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692823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708705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DINPro-Bold"/>
              </a:rPr>
              <a:t>Focused stereotypies: </a:t>
            </a:r>
            <a:r>
              <a:rPr lang="en-US" sz="1800" b="0" i="0" u="none" strike="noStrike" baseline="0" dirty="0">
                <a:latin typeface="PalatinoLTStd-Roman"/>
              </a:rPr>
              <a:t>repetitive, seemingly aimless behaviors performed in a relatively invariant manner.</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11407608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indent="0">
              <a:spcBef>
                <a:spcPts val="1200"/>
              </a:spcBef>
              <a:buNone/>
            </a:pPr>
            <a:r>
              <a:rPr lang="en-US" b="0" dirty="0"/>
              <a:t>Sympathomimetic</a:t>
            </a:r>
            <a:r>
              <a:rPr lang="en-US" b="0" u="none" dirty="0"/>
              <a:t>: </a:t>
            </a:r>
            <a:r>
              <a:rPr lang="en-US" dirty="0"/>
              <a:t>produces symptoms of sympathetic nervous system activation</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4045194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491302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The </a:t>
            </a:r>
            <a:r>
              <a:rPr lang="en-US" sz="1800" b="0" i="0" u="none" strike="noStrike" baseline="0" dirty="0" err="1">
                <a:latin typeface="PalatinoLTStd-Roman"/>
              </a:rPr>
              <a:t>NAcc</a:t>
            </a:r>
            <a:r>
              <a:rPr lang="en-US" sz="1800" b="0" i="0" u="none" strike="noStrike" baseline="0" dirty="0">
                <a:latin typeface="PalatinoLTStd-Roman"/>
              </a:rPr>
              <a:t> contains two subareas, termed the </a:t>
            </a:r>
            <a:r>
              <a:rPr lang="en-US" sz="1800" b="0" i="0" u="none" strike="noStrike" baseline="0" dirty="0" err="1">
                <a:latin typeface="PalatinoLTStd-Roman"/>
              </a:rPr>
              <a:t>NAcc</a:t>
            </a:r>
            <a:r>
              <a:rPr lang="en-US" sz="1800" b="0" i="0" u="none" strike="noStrike" baseline="0" dirty="0">
                <a:latin typeface="PalatinoLTStd-Roman"/>
              </a:rPr>
              <a:t> </a:t>
            </a:r>
            <a:r>
              <a:rPr lang="en-US" sz="1800" b="1" i="0" u="none" strike="noStrike" baseline="0" dirty="0">
                <a:latin typeface="DINPro-Bold"/>
              </a:rPr>
              <a:t>shell </a:t>
            </a:r>
            <a:r>
              <a:rPr lang="en-US" sz="1800" b="0" i="0" u="none" strike="noStrike" baseline="0" dirty="0">
                <a:latin typeface="PalatinoLTStd-Roman"/>
              </a:rPr>
              <a:t>and </a:t>
            </a:r>
            <a:r>
              <a:rPr lang="en-US" sz="1800" b="1" i="0" u="none" strike="noStrike" baseline="0" dirty="0">
                <a:latin typeface="DINPro-Bold"/>
              </a:rPr>
              <a:t>core</a:t>
            </a:r>
            <a:r>
              <a:rPr lang="en-US" sz="1800" b="0" i="0" u="none" strike="noStrike" baseline="0" dirty="0">
                <a:latin typeface="PalatinoLTStd-Roman"/>
              </a:rPr>
              <a:t>; differences in innervation, projections, and behavioral functions. The </a:t>
            </a:r>
            <a:r>
              <a:rPr lang="en-US" sz="1800" b="0" i="0" u="none" strike="noStrike" baseline="0" dirty="0" err="1">
                <a:latin typeface="PalatinoLTStd-Roman"/>
              </a:rPr>
              <a:t>NAcc</a:t>
            </a:r>
            <a:r>
              <a:rPr lang="en-US" sz="1800" b="0" i="0" u="none" strike="noStrike" baseline="0" dirty="0">
                <a:latin typeface="PalatinoLTStd-Roman"/>
              </a:rPr>
              <a:t> shell is most closely associated</a:t>
            </a:r>
          </a:p>
          <a:p>
            <a:pPr algn="l"/>
            <a:r>
              <a:rPr lang="en-US" sz="1800" b="0" i="0" u="none" strike="noStrike" baseline="0" dirty="0">
                <a:latin typeface="PalatinoLTStd-Roman"/>
              </a:rPr>
              <a:t>with psychostimulant-related reward and reinforcement; the </a:t>
            </a:r>
            <a:r>
              <a:rPr lang="en-US" sz="1800" b="0" i="0" u="none" strike="noStrike" baseline="0" dirty="0" err="1">
                <a:latin typeface="PalatinoLTStd-Roman"/>
              </a:rPr>
              <a:t>NAcc</a:t>
            </a:r>
            <a:r>
              <a:rPr lang="en-US" sz="1800" b="0" i="0" u="none" strike="noStrike" baseline="0" dirty="0">
                <a:latin typeface="PalatinoLTStd-Roman"/>
              </a:rPr>
              <a:t> core is more closely related to psychostimulant-induced hyperlocomotion.</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3859321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b="0" u="none" dirty="0"/>
              <a:t>DAT: </a:t>
            </a:r>
            <a:r>
              <a:rPr lang="en-US" b="0" u="none"/>
              <a:t>DA Transporters</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019530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1922155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1525053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3099857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12.10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Relationship between striatal DA release and craving elicited by exposure to cocaine-related visual stimuli</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Cocaine-addicted individuals were exposed to a video of cocaine-related cues including purchase, preparation, and smoking of the drug while undergoing PET scanning of striatal DA release measured by DA displacement of radiolabeled raclopride from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receptors. The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-axis of the graph plots changes in subjective cocaine craving from before to the end of the video. The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-axis plots changes in DA release measured by alterations in raclopride binding. Significant positive correlations were found for both the caudate nucleus and the putamen, indicating that cue-induced cocaine craving is associated with heightened striatal DA release. (After N. D. Volkow et al. 2006. </a:t>
            </a:r>
            <a:r>
              <a:rPr lang="en-US" sz="1200" i="1" kern="1200" dirty="0">
                <a:solidFill>
                  <a:schemeClr val="tx1"/>
                </a:solidFill>
                <a:effectLst/>
                <a:latin typeface="+mn-lt"/>
                <a:ea typeface="+mn-ea"/>
                <a:cs typeface="+mn-cs"/>
              </a:rPr>
              <a:t>J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26: 6583–6588. © 2006 Society for Neuroscience.)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242084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42080589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12.11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Summary of altered striatal dopaminergic markers in chronic psychostimulant users compared to non-using controls</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Brain imaging methods such as PET were used to quantify several markers of striatal dopaminergic activity including DA synthesis, DA release, VMAT2 binding, DAT binding, and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/D</a:t>
            </a:r>
            <a:r>
              <a:rPr lang="en-US" sz="1200" kern="1200" baseline="-25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 receptor binding. Relative levels of each marker are shown for non-using controls (A) versus chronic psychostimulant (cocaine, amphetamine, or methamphetamine) users (B). The figure illustrates that the psychostimulant users showed decreased DA synthesis (illustrated by fewer DA molecules per synaptic vesicle and fewer vesicles), decreased DA release (illustrated by fewer DA molecules in the synaptic cleft), less DAT binding, and less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/D</a:t>
            </a:r>
            <a:r>
              <a:rPr lang="en-US" sz="1200" kern="1200" baseline="-25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 receptor binding. Note that because the drug used to label the DA receptors did not differentiate between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and D</a:t>
            </a:r>
            <a:r>
              <a:rPr lang="en-US" sz="1200" kern="1200" baseline="-25000" dirty="0">
                <a:solidFill>
                  <a:schemeClr val="tx1"/>
                </a:solidFill>
                <a:effectLst/>
                <a:latin typeface="+mn-lt"/>
                <a:ea typeface="+mn-ea"/>
                <a:cs typeface="+mn-cs"/>
              </a:rPr>
              <a:t>3</a:t>
            </a:r>
            <a:r>
              <a:rPr lang="en-US" sz="1200" kern="1200" dirty="0">
                <a:solidFill>
                  <a:schemeClr val="tx1"/>
                </a:solidFill>
                <a:effectLst/>
                <a:latin typeface="+mn-lt"/>
                <a:ea typeface="+mn-ea"/>
                <a:cs typeface="+mn-cs"/>
              </a:rPr>
              <a:t> receptors, this uncertainty is reflected in a decrease in both receptor subtypes. Not shown are the VMAT2 binding results, which varied depending on the period of abstinence from psychostimulant use. Elevated VMAT2 binding was observed in users who were recently abstinent at the time of the study, whereas decreased binding was found after prolonged drug abstinence. (Adapted from A. H. Ashok et al. 2017. </a:t>
            </a:r>
            <a:r>
              <a:rPr lang="en-US" sz="1200" i="1" kern="1200" dirty="0">
                <a:solidFill>
                  <a:schemeClr val="tx1"/>
                </a:solidFill>
                <a:effectLst/>
                <a:latin typeface="+mn-lt"/>
                <a:ea typeface="+mn-ea"/>
                <a:cs typeface="+mn-cs"/>
              </a:rPr>
              <a:t>JAMA Psychiatry</a:t>
            </a:r>
            <a:r>
              <a:rPr lang="en-US" sz="1200" kern="1200" dirty="0">
                <a:solidFill>
                  <a:schemeClr val="tx1"/>
                </a:solidFill>
                <a:effectLst/>
                <a:latin typeface="+mn-lt"/>
                <a:ea typeface="+mn-ea"/>
                <a:cs typeface="+mn-cs"/>
              </a:rPr>
              <a:t> 74: 511–519. doi:10.1001/jamapsychiatry.2017.0135.)</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1440516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u="sng" dirty="0"/>
              <a:t>Instructor Notes:  </a:t>
            </a:r>
          </a:p>
          <a:p>
            <a:r>
              <a:rPr lang="en-US" b="0" dirty="0"/>
              <a:t>Sensitization = </a:t>
            </a:r>
            <a:r>
              <a:rPr lang="en-US" b="1" dirty="0"/>
              <a:t>reverse tolerance  </a:t>
            </a:r>
          </a:p>
          <a:p>
            <a:r>
              <a:rPr lang="en-US" altLang="en-US" b="1" dirty="0">
                <a:ea typeface="Geneva" pitchFamily="121" charset="-128"/>
              </a:rPr>
              <a:t>Induction</a:t>
            </a:r>
            <a:r>
              <a:rPr lang="en-US" altLang="en-US" dirty="0">
                <a:ea typeface="Geneva" pitchFamily="121" charset="-128"/>
              </a:rPr>
              <a:t>—the process by which sensitization is established.</a:t>
            </a:r>
          </a:p>
          <a:p>
            <a:r>
              <a:rPr lang="en-US" altLang="en-US" b="1" dirty="0">
                <a:ea typeface="Geneva" pitchFamily="121" charset="-128"/>
              </a:rPr>
              <a:t>Expression</a:t>
            </a:r>
            <a:r>
              <a:rPr lang="en-US" altLang="en-US" dirty="0">
                <a:ea typeface="Geneva" pitchFamily="121" charset="-128"/>
              </a:rPr>
              <a:t>—the process by which the sensitized response is manifested</a:t>
            </a:r>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2760032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8374447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Box 12.1  </a:t>
            </a:r>
            <a:r>
              <a:rPr lang="en-US" sz="1200" b="1" kern="1200" dirty="0">
                <a:solidFill>
                  <a:schemeClr val="tx1"/>
                </a:solidFill>
                <a:effectLst/>
                <a:latin typeface="+mn-lt"/>
                <a:ea typeface="+mn-ea"/>
                <a:cs typeface="+mn-cs"/>
              </a:rPr>
              <a:t>The Cutting Edge: </a:t>
            </a:r>
            <a:r>
              <a:rPr lang="en-GB" sz="1200" b="1" kern="1200" dirty="0">
                <a:solidFill>
                  <a:schemeClr val="tx1"/>
                </a:solidFill>
                <a:effectLst/>
                <a:latin typeface="+mn-lt"/>
                <a:ea typeface="+mn-ea"/>
                <a:cs typeface="+mn-cs"/>
              </a:rPr>
              <a:t>Neurochemical Mechanisms of Cocaine Tolerance and Sensitization</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FIGURE A  Molecular adaptations in the nucleus </a:t>
            </a:r>
            <a:r>
              <a:rPr lang="en-US" sz="1200" b="1" kern="1200" dirty="0" err="1">
                <a:solidFill>
                  <a:schemeClr val="tx1"/>
                </a:solidFill>
                <a:effectLst/>
                <a:latin typeface="+mn-lt"/>
                <a:ea typeface="+mn-ea"/>
                <a:cs typeface="+mn-cs"/>
              </a:rPr>
              <a:t>accumbens</a:t>
            </a:r>
            <a:r>
              <a:rPr lang="en-US" sz="1200" b="1" kern="1200" dirty="0">
                <a:solidFill>
                  <a:schemeClr val="tx1"/>
                </a:solidFill>
                <a:effectLst/>
                <a:latin typeface="+mn-lt"/>
                <a:ea typeface="+mn-ea"/>
                <a:cs typeface="+mn-cs"/>
              </a:rPr>
              <a:t> underlying tolerance due to long-access cocaine self-administration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(After C. A. </a:t>
            </a:r>
            <a:r>
              <a:rPr lang="en-US" sz="1200" kern="1200" dirty="0" err="1">
                <a:solidFill>
                  <a:schemeClr val="tx1"/>
                </a:solidFill>
                <a:effectLst/>
                <a:latin typeface="+mn-lt"/>
                <a:ea typeface="+mn-ea"/>
                <a:cs typeface="+mn-cs"/>
              </a:rPr>
              <a:t>Siciliano</a:t>
            </a:r>
            <a:r>
              <a:rPr lang="en-US" sz="1200" kern="1200" dirty="0">
                <a:solidFill>
                  <a:schemeClr val="tx1"/>
                </a:solidFill>
                <a:effectLst/>
                <a:latin typeface="+mn-lt"/>
                <a:ea typeface="+mn-ea"/>
                <a:cs typeface="+mn-cs"/>
              </a:rPr>
              <a:t> et al. 2015. </a:t>
            </a:r>
            <a:r>
              <a:rPr lang="en-US" sz="1200" i="1" kern="1200" dirty="0" err="1">
                <a:solidFill>
                  <a:schemeClr val="tx1"/>
                </a:solidFill>
                <a:effectLst/>
                <a:latin typeface="+mn-lt"/>
                <a:ea typeface="+mn-ea"/>
                <a:cs typeface="+mn-cs"/>
              </a:rPr>
              <a:t>Chem</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6: 27–36. http://</a:t>
            </a:r>
            <a:r>
              <a:rPr lang="en-US" sz="1200" kern="1200" dirty="0" err="1">
                <a:solidFill>
                  <a:schemeClr val="tx1"/>
                </a:solidFill>
                <a:effectLst/>
                <a:latin typeface="+mn-lt"/>
                <a:ea typeface="+mn-ea"/>
                <a:cs typeface="+mn-cs"/>
              </a:rPr>
              <a:t>pubs.acs.org</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doi</a:t>
            </a:r>
            <a:r>
              <a:rPr lang="en-US" sz="1200" kern="1200" dirty="0">
                <a:solidFill>
                  <a:schemeClr val="tx1"/>
                </a:solidFill>
                <a:effectLst/>
                <a:latin typeface="+mn-lt"/>
                <a:ea typeface="+mn-ea"/>
                <a:cs typeface="+mn-cs"/>
              </a:rPr>
              <a:t>/10.1021/cn5002705. Further permissions related to the material excerpted should be directed to the ACS.)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1493846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33296269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20469151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b="0"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980251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r>
              <a:rPr lang="en-US" b="0" u="none" dirty="0"/>
              <a:t>CBT is also called </a:t>
            </a:r>
            <a:r>
              <a:rPr lang="en-US" b="1" u="none" dirty="0"/>
              <a:t>relapse prevention therapy</a:t>
            </a:r>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24609347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40289929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FIGURE 12.12</a:t>
            </a:r>
            <a:r>
              <a:rPr lang="en-US" sz="1200" b="1" kern="1200" dirty="0">
                <a:solidFill>
                  <a:schemeClr val="tx1"/>
                </a:solidFill>
                <a:effectLst/>
                <a:latin typeface="+mn-lt"/>
                <a:ea typeface="+mn-ea"/>
                <a:cs typeface="+mn-cs"/>
              </a:rPr>
              <a:t>  Brain stimulation methods being tested for the treatment of substance use disorders </a:t>
            </a:r>
            <a:endParaRPr lang="en-US" sz="1200" kern="1200" dirty="0">
              <a:solidFill>
                <a:schemeClr val="tx1"/>
              </a:solidFill>
              <a:effectLst/>
              <a:latin typeface="+mn-lt"/>
              <a:ea typeface="+mn-ea"/>
              <a:cs typeface="+mn-cs"/>
            </a:endParaRPr>
          </a:p>
          <a:p>
            <a:pPr fontAlgn="ctr"/>
            <a:r>
              <a:rPr lang="en-US" sz="1200" kern="1200" dirty="0">
                <a:solidFill>
                  <a:schemeClr val="tx1"/>
                </a:solidFill>
                <a:effectLst/>
                <a:latin typeface="+mn-lt"/>
                <a:ea typeface="+mn-ea"/>
                <a:cs typeface="+mn-cs"/>
              </a:rPr>
              <a:t>The brain stimulation methods illustrated are being tested for the treatment of substance use disorders, including cocaine use disorder. The methods are repetitive transcranial magnetic stimulation (</a:t>
            </a:r>
            <a:r>
              <a:rPr lang="en-US" sz="1200" kern="1200" dirty="0" err="1">
                <a:solidFill>
                  <a:schemeClr val="tx1"/>
                </a:solidFill>
                <a:effectLst/>
                <a:latin typeface="+mn-lt"/>
                <a:ea typeface="+mn-ea"/>
                <a:cs typeface="+mn-cs"/>
              </a:rPr>
              <a:t>rTMS</a:t>
            </a:r>
            <a:r>
              <a:rPr lang="en-US" sz="1200" kern="1200" dirty="0">
                <a:solidFill>
                  <a:schemeClr val="tx1"/>
                </a:solidFill>
                <a:effectLst/>
                <a:latin typeface="+mn-lt"/>
                <a:ea typeface="+mn-ea"/>
                <a:cs typeface="+mn-cs"/>
              </a:rPr>
              <a:t>), transcranial direct current stimulation (</a:t>
            </a:r>
            <a:r>
              <a:rPr lang="en-US" sz="1200" kern="1200" dirty="0" err="1">
                <a:solidFill>
                  <a:schemeClr val="tx1"/>
                </a:solidFill>
                <a:effectLst/>
                <a:latin typeface="+mn-lt"/>
                <a:ea typeface="+mn-ea"/>
                <a:cs typeface="+mn-cs"/>
              </a:rPr>
              <a:t>tDCS</a:t>
            </a:r>
            <a:r>
              <a:rPr lang="en-US" sz="1200" kern="1200" dirty="0">
                <a:solidFill>
                  <a:schemeClr val="tx1"/>
                </a:solidFill>
                <a:effectLst/>
                <a:latin typeface="+mn-lt"/>
                <a:ea typeface="+mn-ea"/>
                <a:cs typeface="+mn-cs"/>
              </a:rPr>
              <a:t>), and deep brain stimulation (DBS). (After A. S. Coles et al. 2018. </a:t>
            </a:r>
            <a:r>
              <a:rPr lang="en-US" sz="1200" i="1" kern="1200" dirty="0">
                <a:solidFill>
                  <a:schemeClr val="tx1"/>
                </a:solidFill>
                <a:effectLst/>
                <a:latin typeface="+mn-lt"/>
                <a:ea typeface="+mn-ea"/>
                <a:cs typeface="+mn-cs"/>
              </a:rPr>
              <a:t>Am J Addict</a:t>
            </a:r>
            <a:r>
              <a:rPr lang="en-US" sz="1200" kern="1200" dirty="0">
                <a:solidFill>
                  <a:schemeClr val="tx1"/>
                </a:solidFill>
                <a:effectLst/>
                <a:latin typeface="+mn-lt"/>
                <a:ea typeface="+mn-ea"/>
                <a:cs typeface="+mn-cs"/>
              </a:rPr>
              <a:t> 27: 71–91. © 2018 American Academy of Addiction Psychiatry.)</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33747315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31756204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FIGURE 12.13</a:t>
            </a:r>
            <a:r>
              <a:rPr lang="en-US" sz="1200" b="1" kern="1200" dirty="0">
                <a:solidFill>
                  <a:schemeClr val="tx1"/>
                </a:solidFill>
                <a:effectLst/>
                <a:latin typeface="+mn-lt"/>
                <a:ea typeface="+mn-ea"/>
                <a:cs typeface="+mn-cs"/>
              </a:rPr>
              <a:t>  Amphetamine and related psychostimulants resemble the neurotransmitter DA in their chemical structure </a:t>
            </a:r>
            <a:endParaRPr lang="en-US" sz="1200" kern="1200" dirty="0">
              <a:solidFill>
                <a:schemeClr val="tx1"/>
              </a:solidFill>
              <a:effectLst/>
              <a:latin typeface="+mn-lt"/>
              <a:ea typeface="+mn-ea"/>
              <a:cs typeface="+mn-cs"/>
            </a:endParaRPr>
          </a:p>
          <a:p>
            <a:pPr fontAlgn="ctr"/>
            <a:r>
              <a:rPr lang="en-US" sz="1200" kern="1200" dirty="0">
                <a:solidFill>
                  <a:schemeClr val="tx1"/>
                </a:solidFill>
                <a:effectLst/>
                <a:latin typeface="+mn-lt"/>
                <a:ea typeface="+mn-ea"/>
                <a:cs typeface="+mn-cs"/>
              </a:rPr>
              <a:t>This accounts for their potent effects on the dopaminergic system.</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31953355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Street names for amphetamine include “uppers,” “bennies,” “</a:t>
            </a:r>
            <a:r>
              <a:rPr lang="en-US" sz="1800" b="0" i="0" u="none" strike="noStrike" baseline="0" dirty="0" err="1">
                <a:latin typeface="PalatinoLTStd-Roman"/>
              </a:rPr>
              <a:t>dexies</a:t>
            </a:r>
            <a:r>
              <a:rPr lang="en-US" sz="1800" b="0" i="0" u="none" strike="noStrike" baseline="0" dirty="0">
                <a:latin typeface="PalatinoLTStd-Roman"/>
              </a:rPr>
              <a:t>,” “black beauties,” and “diet pills.” </a:t>
            </a:r>
          </a:p>
          <a:p>
            <a:pPr algn="l"/>
            <a:r>
              <a:rPr lang="en-US" sz="1800" b="0" i="0" u="none" strike="noStrike" baseline="0" dirty="0">
                <a:latin typeface="PalatinoLTStd-Roman"/>
              </a:rPr>
              <a:t>Street names for methamphetamine are “meth,” “speed,” “crank,” “zip,” and “go.”</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2113050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718139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u="none" dirty="0"/>
              <a:t>High doses can also i</a:t>
            </a:r>
            <a:r>
              <a:rPr lang="en-US" sz="1800" b="0" i="0" u="none" strike="noStrike" baseline="0" dirty="0">
                <a:latin typeface="PalatinoLTStd-Roman"/>
              </a:rPr>
              <a:t>nhibit catecholamine metabolism by monoamine oxidase.  </a:t>
            </a:r>
          </a:p>
          <a:p>
            <a:pPr algn="l"/>
            <a:r>
              <a:rPr lang="en-US" sz="1800" b="0" i="0" u="none" strike="noStrike" baseline="0" dirty="0">
                <a:latin typeface="DINPro-Regular"/>
              </a:rPr>
              <a:t>Reversal of DA transport is mediated by DAT phosphorylation by the protein kinases calcium/calmodulin kinase II (CaMKII) and protein kinase C (PKC).</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27531486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FIGURE 12.14</a:t>
            </a:r>
            <a:r>
              <a:rPr lang="en-US" sz="1200" b="1" kern="1200" dirty="0">
                <a:solidFill>
                  <a:schemeClr val="tx1"/>
                </a:solidFill>
                <a:effectLst/>
                <a:latin typeface="+mn-lt"/>
                <a:ea typeface="+mn-ea"/>
                <a:cs typeface="+mn-cs"/>
              </a:rPr>
              <a:t>  Mechanisms of amphetamine-stimulated DA release </a:t>
            </a:r>
            <a:endParaRPr lang="en-US" sz="1200" kern="1200" dirty="0">
              <a:solidFill>
                <a:schemeClr val="tx1"/>
              </a:solidFill>
              <a:effectLst/>
              <a:latin typeface="+mn-lt"/>
              <a:ea typeface="+mn-ea"/>
              <a:cs typeface="+mn-cs"/>
            </a:endParaRPr>
          </a:p>
          <a:p>
            <a:pPr fontAlgn="ctr"/>
            <a:r>
              <a:rPr lang="en-US" sz="1200" kern="1200" dirty="0">
                <a:solidFill>
                  <a:schemeClr val="tx1"/>
                </a:solidFill>
                <a:effectLst/>
                <a:latin typeface="+mn-lt"/>
                <a:ea typeface="+mn-ea"/>
                <a:cs typeface="+mn-cs"/>
              </a:rPr>
              <a:t>(A) Amphetamine (AMPH) molecules enter DA nerve terminals in part through uptake by the dopamine transporter (DAT). Once inside the terminal, the drug provokes DA release from the synaptic vesicles into the cytoplasm. (B) Amphetamine additionally alters DAT function so that the transporter acts in a reverse direction to release DA from the cytoplasm into the extracellular fluid. Reversal of DA transport is mediated by DAT phosphorylation by the protein kinases calcium/calmodulin kinase II (CaMKII) and protein kinase C (PKC). Acting together, the processes of vesicular DA release and DAT reversal result in a massive increase in synaptic DA levels. (B after C. S. </a:t>
            </a:r>
            <a:r>
              <a:rPr lang="en-US" sz="1200" kern="1200" dirty="0" err="1">
                <a:solidFill>
                  <a:schemeClr val="tx1"/>
                </a:solidFill>
                <a:effectLst/>
                <a:latin typeface="+mn-lt"/>
                <a:ea typeface="+mn-ea"/>
                <a:cs typeface="+mn-cs"/>
              </a:rPr>
              <a:t>Karam</a:t>
            </a:r>
            <a:r>
              <a:rPr lang="en-US" sz="1200" kern="1200" dirty="0">
                <a:solidFill>
                  <a:schemeClr val="tx1"/>
                </a:solidFill>
                <a:effectLst/>
                <a:latin typeface="+mn-lt"/>
                <a:ea typeface="+mn-ea"/>
                <a:cs typeface="+mn-cs"/>
              </a:rPr>
              <a:t> and J. A. </a:t>
            </a:r>
            <a:r>
              <a:rPr lang="en-US" sz="1200" kern="1200" dirty="0" err="1">
                <a:solidFill>
                  <a:schemeClr val="tx1"/>
                </a:solidFill>
                <a:effectLst/>
                <a:latin typeface="+mn-lt"/>
                <a:ea typeface="+mn-ea"/>
                <a:cs typeface="+mn-cs"/>
              </a:rPr>
              <a:t>Javitch</a:t>
            </a:r>
            <a:r>
              <a:rPr lang="en-US" sz="1200" kern="1200" dirty="0">
                <a:solidFill>
                  <a:schemeClr val="tx1"/>
                </a:solidFill>
                <a:effectLst/>
                <a:latin typeface="+mn-lt"/>
                <a:ea typeface="+mn-ea"/>
                <a:cs typeface="+mn-cs"/>
              </a:rPr>
              <a:t>. 2018. In </a:t>
            </a:r>
            <a:r>
              <a:rPr lang="en-US" sz="1200" i="1" kern="1200" dirty="0">
                <a:solidFill>
                  <a:schemeClr val="tx1"/>
                </a:solidFill>
                <a:effectLst/>
                <a:latin typeface="+mn-lt"/>
                <a:ea typeface="+mn-ea"/>
                <a:cs typeface="+mn-cs"/>
              </a:rPr>
              <a:t>Advances in Pharmacology</a:t>
            </a:r>
            <a:r>
              <a:rPr lang="en-US" sz="1200" kern="1200" dirty="0">
                <a:solidFill>
                  <a:schemeClr val="tx1"/>
                </a:solidFill>
                <a:effectLst/>
                <a:latin typeface="+mn-lt"/>
                <a:ea typeface="+mn-ea"/>
                <a:cs typeface="+mn-cs"/>
              </a:rPr>
              <a:t>. G. W. Pasternak and J. T. Coyle [Eds.], 82: 205–234. Academic Press: San Diego.)</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25094228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30564299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11968942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34532428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8405996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18486694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14311463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4797674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ADHD: </a:t>
            </a:r>
            <a:r>
              <a:rPr lang="en-US" sz="1800" b="0" i="0" u="none" strike="noStrike" baseline="0" dirty="0">
                <a:latin typeface="DINPro-Regular"/>
              </a:rPr>
              <a:t>attention-deficit/hyperactivity disorder</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8710143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Box 12.2  </a:t>
            </a:r>
            <a:r>
              <a:rPr lang="en-US" sz="1200" b="1" kern="1200" cap="none" dirty="0">
                <a:solidFill>
                  <a:schemeClr val="tx1"/>
                </a:solidFill>
                <a:effectLst/>
                <a:latin typeface="+mn-lt"/>
                <a:ea typeface="+mn-ea"/>
                <a:cs typeface="+mn-cs"/>
              </a:rPr>
              <a:t>Clinical Applications: Psychostimulants and ADHD</a:t>
            </a:r>
            <a:endParaRPr lang="en-US" sz="1200" kern="1200" dirty="0">
              <a:solidFill>
                <a:schemeClr val="tx1"/>
              </a:solidFill>
              <a:effectLst/>
              <a:latin typeface="+mn-lt"/>
              <a:ea typeface="+mn-ea"/>
              <a:cs typeface="+mn-cs"/>
            </a:endParaRPr>
          </a:p>
          <a:p>
            <a:pPr fontAlgn="ctr"/>
            <a:r>
              <a:rPr lang="en-US" sz="1200" b="1" kern="1200" dirty="0">
                <a:solidFill>
                  <a:schemeClr val="tx1"/>
                </a:solidFill>
                <a:effectLst/>
                <a:latin typeface="+mn-lt"/>
                <a:ea typeface="+mn-ea"/>
                <a:cs typeface="+mn-cs"/>
              </a:rPr>
              <a:t>Hypothesized role of prefrontal cortical α</a:t>
            </a:r>
            <a:r>
              <a:rPr lang="en-US" sz="1200" b="1" kern="1200" baseline="-25000" dirty="0">
                <a:solidFill>
                  <a:schemeClr val="tx1"/>
                </a:solidFill>
                <a:effectLst/>
                <a:latin typeface="+mn-lt"/>
                <a:ea typeface="+mn-ea"/>
                <a:cs typeface="+mn-cs"/>
              </a:rPr>
              <a:t>2A</a:t>
            </a:r>
            <a:r>
              <a:rPr lang="en-US" sz="1200" b="1" kern="1200" dirty="0">
                <a:solidFill>
                  <a:schemeClr val="tx1"/>
                </a:solidFill>
                <a:effectLst/>
                <a:latin typeface="+mn-lt"/>
                <a:ea typeface="+mn-ea"/>
                <a:cs typeface="+mn-cs"/>
              </a:rPr>
              <a:t> and D</a:t>
            </a:r>
            <a:r>
              <a:rPr lang="en-US" sz="1200" b="1" kern="1200" baseline="-25000" dirty="0">
                <a:solidFill>
                  <a:schemeClr val="tx1"/>
                </a:solidFill>
                <a:effectLst/>
                <a:latin typeface="+mn-lt"/>
                <a:ea typeface="+mn-ea"/>
                <a:cs typeface="+mn-cs"/>
              </a:rPr>
              <a:t>1</a:t>
            </a:r>
            <a:r>
              <a:rPr lang="en-US" sz="1200" b="1" kern="1200" dirty="0">
                <a:solidFill>
                  <a:schemeClr val="tx1"/>
                </a:solidFill>
                <a:effectLst/>
                <a:latin typeface="+mn-lt"/>
                <a:ea typeface="+mn-ea"/>
                <a:cs typeface="+mn-cs"/>
              </a:rPr>
              <a:t> receptors in cognitive performance and the treatment of ADHD </a:t>
            </a:r>
            <a:endParaRPr lang="en-US" sz="1200" kern="1200" dirty="0">
              <a:solidFill>
                <a:schemeClr val="tx1"/>
              </a:solidFill>
              <a:effectLst/>
              <a:latin typeface="+mn-lt"/>
              <a:ea typeface="+mn-ea"/>
              <a:cs typeface="+mn-cs"/>
            </a:endParaRPr>
          </a:p>
          <a:p>
            <a:pPr fontAlgn="ctr"/>
            <a:r>
              <a:rPr lang="en-US" sz="1200" kern="1200" dirty="0">
                <a:solidFill>
                  <a:schemeClr val="tx1"/>
                </a:solidFill>
                <a:effectLst/>
                <a:latin typeface="+mn-lt"/>
                <a:ea typeface="+mn-ea"/>
                <a:cs typeface="+mn-cs"/>
              </a:rPr>
              <a:t>Activation of α</a:t>
            </a:r>
            <a:r>
              <a:rPr lang="en-US" sz="1200" kern="1200" baseline="-25000" dirty="0">
                <a:solidFill>
                  <a:schemeClr val="tx1"/>
                </a:solidFill>
                <a:effectLst/>
                <a:latin typeface="+mn-lt"/>
                <a:ea typeface="+mn-ea"/>
                <a:cs typeface="+mn-cs"/>
              </a:rPr>
              <a:t>2A</a:t>
            </a:r>
            <a:r>
              <a:rPr lang="en-US" sz="1200" kern="1200" dirty="0">
                <a:solidFill>
                  <a:schemeClr val="tx1"/>
                </a:solidFill>
                <a:effectLst/>
                <a:latin typeface="+mn-lt"/>
                <a:ea typeface="+mn-ea"/>
                <a:cs typeface="+mn-cs"/>
              </a:rPr>
              <a:t> and D</a:t>
            </a:r>
            <a:r>
              <a:rPr lang="en-US" sz="1200" kern="1200" baseline="-25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receptors in the PFC is thought to depend on the organism’s state of arousal. A moderate level of arousal leads to intermediate levels of receptor activation that are optimal for PFC functioning, whereas either too little or too much activation has detrimental effects on PFC functioning and cognitive performance. (After A. F. T. </a:t>
            </a:r>
            <a:r>
              <a:rPr lang="en-US" sz="1200" kern="1200" dirty="0" err="1">
                <a:solidFill>
                  <a:schemeClr val="tx1"/>
                </a:solidFill>
                <a:effectLst/>
                <a:latin typeface="+mn-lt"/>
                <a:ea typeface="+mn-ea"/>
                <a:cs typeface="+mn-cs"/>
              </a:rPr>
              <a:t>Arnsten</a:t>
            </a:r>
            <a:r>
              <a:rPr lang="en-US" sz="1200" kern="1200" dirty="0">
                <a:solidFill>
                  <a:schemeClr val="tx1"/>
                </a:solidFill>
                <a:effectLst/>
                <a:latin typeface="+mn-lt"/>
                <a:ea typeface="+mn-ea"/>
                <a:cs typeface="+mn-cs"/>
              </a:rPr>
              <a:t>. 2009. </a:t>
            </a:r>
            <a:r>
              <a:rPr lang="en-US" sz="1200" i="1" kern="1200" dirty="0">
                <a:solidFill>
                  <a:schemeClr val="tx1"/>
                </a:solidFill>
                <a:effectLst/>
                <a:latin typeface="+mn-lt"/>
                <a:ea typeface="+mn-ea"/>
                <a:cs typeface="+mn-cs"/>
              </a:rPr>
              <a:t>CNS Drugs</a:t>
            </a:r>
            <a:r>
              <a:rPr lang="en-US" sz="1200" kern="1200" dirty="0">
                <a:solidFill>
                  <a:schemeClr val="tx1"/>
                </a:solidFill>
                <a:effectLst/>
                <a:latin typeface="+mn-lt"/>
                <a:ea typeface="+mn-ea"/>
                <a:cs typeface="+mn-cs"/>
              </a:rPr>
              <a:t> 23 (Suppl. 1): 33–41; and C. </a:t>
            </a:r>
            <a:r>
              <a:rPr lang="en-US" sz="1200" kern="1200" dirty="0" err="1">
                <a:solidFill>
                  <a:schemeClr val="tx1"/>
                </a:solidFill>
                <a:effectLst/>
                <a:latin typeface="+mn-lt"/>
                <a:ea typeface="+mn-ea"/>
                <a:cs typeface="+mn-cs"/>
              </a:rPr>
              <a:t>Berridge</a:t>
            </a:r>
            <a:r>
              <a:rPr lang="en-US" sz="1200" kern="1200" dirty="0">
                <a:solidFill>
                  <a:schemeClr val="tx1"/>
                </a:solidFill>
                <a:effectLst/>
                <a:latin typeface="+mn-lt"/>
                <a:ea typeface="+mn-ea"/>
                <a:cs typeface="+mn-cs"/>
              </a:rPr>
              <a:t> et al. 2012. In </a:t>
            </a:r>
            <a:r>
              <a:rPr lang="en-US" sz="1200" i="1" kern="1200" dirty="0">
                <a:solidFill>
                  <a:schemeClr val="tx1"/>
                </a:solidFill>
                <a:effectLst/>
                <a:latin typeface="+mn-lt"/>
                <a:ea typeface="+mn-ea"/>
                <a:cs typeface="+mn-cs"/>
              </a:rPr>
              <a:t>Translational Neuroscience: Applications in Psychiatry, Neurology and Neurodevelopmental Disorders</a:t>
            </a:r>
            <a:r>
              <a:rPr lang="en-US" sz="1200" kern="1200" dirty="0">
                <a:solidFill>
                  <a:schemeClr val="tx1"/>
                </a:solidFill>
                <a:effectLst/>
                <a:latin typeface="+mn-lt"/>
                <a:ea typeface="+mn-ea"/>
                <a:cs typeface="+mn-cs"/>
              </a:rPr>
              <a:t>, J. E. Barrett et al. [</a:t>
            </a:r>
            <a:r>
              <a:rPr lang="en-US" sz="1200" kern="1200" dirty="0" err="1">
                <a:solidFill>
                  <a:schemeClr val="tx1"/>
                </a:solidFill>
                <a:effectLst/>
                <a:latin typeface="+mn-lt"/>
                <a:ea typeface="+mn-ea"/>
                <a:cs typeface="+mn-cs"/>
              </a:rPr>
              <a:t>Eds</a:t>
            </a:r>
            <a:r>
              <a:rPr lang="en-US" sz="1200" kern="1200" dirty="0">
                <a:solidFill>
                  <a:schemeClr val="tx1"/>
                </a:solidFill>
                <a:effectLst/>
                <a:latin typeface="+mn-lt"/>
                <a:ea typeface="+mn-ea"/>
                <a:cs typeface="+mn-cs"/>
              </a:rPr>
              <a:t>], pp. 303–320. Cambridge University Press: Cambridge, UK.)</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34078543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31743793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61</a:t>
            </a:fld>
            <a:endParaRPr lang="en-US"/>
          </a:p>
        </p:txBody>
      </p:sp>
    </p:spTree>
    <p:extLst>
      <p:ext uri="{BB962C8B-B14F-4D97-AF65-F5344CB8AC3E}">
        <p14:creationId xmlns:p14="http://schemas.microsoft.com/office/powerpoint/2010/main" val="1803633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1" i="0" u="none" strike="noStrike" baseline="0" dirty="0">
                <a:latin typeface="DINPro-Bold"/>
              </a:rPr>
              <a:t>mephedrone </a:t>
            </a:r>
            <a:r>
              <a:rPr lang="en-US" sz="1800" b="0" i="0" u="none" strike="noStrike" baseline="0" dirty="0">
                <a:latin typeface="PalatinoLTStd-Roman"/>
              </a:rPr>
              <a:t>(4-methylmethcathinone),</a:t>
            </a:r>
          </a:p>
          <a:p>
            <a:pPr algn="l"/>
            <a:r>
              <a:rPr lang="en-US" sz="1800" b="1" i="0" u="none" strike="noStrike" baseline="0" dirty="0" err="1">
                <a:latin typeface="DINPro-Bold"/>
              </a:rPr>
              <a:t>methylone</a:t>
            </a:r>
            <a:r>
              <a:rPr lang="en-US" sz="1800" b="1" i="0" u="none" strike="noStrike" baseline="0" dirty="0">
                <a:latin typeface="DINPro-Bold"/>
              </a:rPr>
              <a:t> </a:t>
            </a:r>
            <a:r>
              <a:rPr lang="en-US" sz="1800" b="0" i="0" u="none" strike="noStrike" baseline="0" dirty="0">
                <a:latin typeface="PalatinoLTStd-Roman"/>
              </a:rPr>
              <a:t>(3,4-methylenedioxy-</a:t>
            </a:r>
            <a:r>
              <a:rPr lang="en-US" sz="1800" b="0" i="1" u="none" strike="noStrike" baseline="0" dirty="0">
                <a:latin typeface="PalatinoLTStd-Italic"/>
              </a:rPr>
              <a:t>N</a:t>
            </a:r>
            <a:r>
              <a:rPr lang="en-US" sz="1800" b="0" i="0" u="none" strike="noStrike" baseline="0" dirty="0">
                <a:latin typeface="PalatinoLTStd-Roman"/>
              </a:rPr>
              <a:t>-methylcathinone),</a:t>
            </a:r>
          </a:p>
          <a:p>
            <a:pPr algn="l"/>
            <a:r>
              <a:rPr lang="en-US" sz="1800" b="1" i="0" u="none" strike="noStrike" baseline="0" dirty="0">
                <a:latin typeface="DINPro-Bold"/>
              </a:rPr>
              <a:t>MDPV </a:t>
            </a:r>
            <a:r>
              <a:rPr lang="en-US" sz="1800" b="0" i="0" u="none" strike="noStrike" baseline="0" dirty="0">
                <a:latin typeface="PalatinoLTStd-Roman"/>
              </a:rPr>
              <a:t>(3,4-methylenedioxypyrovalerone)</a:t>
            </a:r>
          </a:p>
          <a:p>
            <a:pPr algn="l"/>
            <a:r>
              <a:rPr lang="el-GR" sz="1800" b="1" i="0" u="none" strike="noStrike" baseline="0" dirty="0">
                <a:latin typeface="STIXTwoText-Bold"/>
              </a:rPr>
              <a:t>α</a:t>
            </a:r>
            <a:r>
              <a:rPr lang="el-GR" sz="1800" b="1" i="0" u="none" strike="noStrike" baseline="0" dirty="0">
                <a:latin typeface="DINPro-Bold"/>
              </a:rPr>
              <a:t>-</a:t>
            </a:r>
            <a:r>
              <a:rPr lang="en-US" sz="1800" b="1" i="0" u="none" strike="noStrike" baseline="0" dirty="0">
                <a:latin typeface="DINPro-Bold"/>
              </a:rPr>
              <a:t>PVP </a:t>
            </a:r>
            <a:r>
              <a:rPr lang="el-GR" sz="1800" b="0" i="0" u="none" strike="noStrike" baseline="0" dirty="0">
                <a:latin typeface="PalatinoLTStd-Roman"/>
              </a:rPr>
              <a:t>(</a:t>
            </a:r>
            <a:r>
              <a:rPr lang="el-GR" sz="1800" b="0" i="0" u="none" strike="noStrike" baseline="0" dirty="0">
                <a:latin typeface="STIXTwoText"/>
              </a:rPr>
              <a:t>α-</a:t>
            </a:r>
            <a:r>
              <a:rPr lang="en-US" sz="1800" b="0" i="0" u="none" strike="noStrike" baseline="0" dirty="0" err="1">
                <a:latin typeface="PalatinoLTStd-Roman"/>
              </a:rPr>
              <a:t>pyrrolidinovalerophenone</a:t>
            </a:r>
            <a:r>
              <a:rPr lang="en-US" sz="1800" b="0" i="0" u="none" strike="noStrike" baseline="0" dirty="0">
                <a:latin typeface="PalatinoLTStd-Roman"/>
              </a:rPr>
              <a:t>)</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63</a:t>
            </a:fld>
            <a:endParaRPr lang="en-US"/>
          </a:p>
        </p:txBody>
      </p:sp>
    </p:spTree>
    <p:extLst>
      <p:ext uri="{BB962C8B-B14F-4D97-AF65-F5344CB8AC3E}">
        <p14:creationId xmlns:p14="http://schemas.microsoft.com/office/powerpoint/2010/main" val="35812734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FIGURE 12.22</a:t>
            </a:r>
            <a:r>
              <a:rPr lang="en-US" sz="1200" b="1" kern="1200" dirty="0">
                <a:solidFill>
                  <a:schemeClr val="tx1"/>
                </a:solidFill>
                <a:effectLst/>
                <a:latin typeface="+mn-lt"/>
                <a:ea typeface="+mn-ea"/>
                <a:cs typeface="+mn-cs"/>
              </a:rPr>
              <a:t>  Dose-dependent IV self-administration of MDPV, α-PVP, cocaine, and methamphetamine in rhesus monkeys </a:t>
            </a:r>
            <a:endParaRPr lang="en-US" sz="1200" kern="1200" dirty="0">
              <a:solidFill>
                <a:schemeClr val="tx1"/>
              </a:solidFill>
              <a:effectLst/>
              <a:latin typeface="+mn-lt"/>
              <a:ea typeface="+mn-ea"/>
              <a:cs typeface="+mn-cs"/>
            </a:endParaRPr>
          </a:p>
          <a:p>
            <a:pPr fontAlgn="ctr"/>
            <a:r>
              <a:rPr lang="en-US" sz="1200" kern="1200" dirty="0">
                <a:solidFill>
                  <a:schemeClr val="tx1"/>
                </a:solidFill>
                <a:effectLst/>
                <a:latin typeface="+mn-lt"/>
                <a:ea typeface="+mn-ea"/>
                <a:cs typeface="+mn-cs"/>
              </a:rPr>
              <a:t>Four monkeys were trained to self-administer the listed drugs intravenously and were then tested on a progressive ratio (PR) schedule to determine the reinforcing effectiveness (</a:t>
            </a:r>
            <a:r>
              <a:rPr lang="en-US" sz="1200" kern="1200" dirty="0" err="1">
                <a:solidFill>
                  <a:schemeClr val="tx1"/>
                </a:solidFill>
                <a:effectLst/>
                <a:latin typeface="+mn-lt"/>
                <a:ea typeface="+mn-ea"/>
                <a:cs typeface="+mn-cs"/>
              </a:rPr>
              <a:t>E</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of each compound based on the highest completed response ratio, similar to the breakpoint discussed earlier in the chapter. The graph illustrates the mean number of completed ratios for each drug at the indicated dose (dose = mg/kg per infusion). At low to moderate doses, both synthetic </a:t>
            </a:r>
            <a:r>
              <a:rPr lang="en-US" sz="1200" kern="1200" dirty="0" err="1">
                <a:solidFill>
                  <a:schemeClr val="tx1"/>
                </a:solidFill>
                <a:effectLst/>
                <a:latin typeface="+mn-lt"/>
                <a:ea typeface="+mn-ea"/>
                <a:cs typeface="+mn-cs"/>
              </a:rPr>
              <a:t>cathinones</a:t>
            </a:r>
            <a:r>
              <a:rPr lang="en-US" sz="1200" kern="1200" dirty="0">
                <a:solidFill>
                  <a:schemeClr val="tx1"/>
                </a:solidFill>
                <a:effectLst/>
                <a:latin typeface="+mn-lt"/>
                <a:ea typeface="+mn-ea"/>
                <a:cs typeface="+mn-cs"/>
              </a:rPr>
              <a:t> yielded a higher </a:t>
            </a:r>
            <a:r>
              <a:rPr lang="en-US" sz="1200" kern="1200" dirty="0" err="1">
                <a:solidFill>
                  <a:schemeClr val="tx1"/>
                </a:solidFill>
                <a:effectLst/>
                <a:latin typeface="+mn-lt"/>
                <a:ea typeface="+mn-ea"/>
                <a:cs typeface="+mn-cs"/>
              </a:rPr>
              <a:t>E</a:t>
            </a:r>
            <a:r>
              <a:rPr lang="en-US" sz="1200" kern="1200" baseline="-25000" dirty="0" err="1">
                <a:solidFill>
                  <a:schemeClr val="tx1"/>
                </a:solidFill>
                <a:effectLst/>
                <a:latin typeface="+mn-lt"/>
                <a:ea typeface="+mn-ea"/>
                <a:cs typeface="+mn-cs"/>
              </a:rPr>
              <a:t>max</a:t>
            </a:r>
            <a:r>
              <a:rPr lang="en-US" sz="1200" kern="1200" dirty="0">
                <a:solidFill>
                  <a:schemeClr val="tx1"/>
                </a:solidFill>
                <a:effectLst/>
                <a:latin typeface="+mn-lt"/>
                <a:ea typeface="+mn-ea"/>
                <a:cs typeface="+mn-cs"/>
              </a:rPr>
              <a:t> than either cocaine or methamphetamine, indicative of greater reinforcing value at those doses. The highest drug doses showed either a flattening or a downward inflection of the dose–response function, which may be related to the onset of aversive drug effects at those doses (see King and Riley, 2017). SAL shows the mean number of responses for saline vehicle instead of drug. (After G. T. Collins et al. 2019. </a:t>
            </a:r>
            <a:r>
              <a:rPr lang="en-US" sz="1200" i="1" kern="1200" dirty="0">
                <a:solidFill>
                  <a:schemeClr val="tx1"/>
                </a:solidFill>
                <a:effectLst/>
                <a:latin typeface="+mn-lt"/>
                <a:ea typeface="+mn-ea"/>
                <a:cs typeface="+mn-cs"/>
              </a:rPr>
              <a:t>Psychopharmacology</a:t>
            </a:r>
            <a:r>
              <a:rPr lang="en-US" sz="1200" kern="1200" dirty="0">
                <a:solidFill>
                  <a:schemeClr val="tx1"/>
                </a:solidFill>
                <a:effectLst/>
                <a:latin typeface="+mn-lt"/>
                <a:ea typeface="+mn-ea"/>
                <a:cs typeface="+mn-cs"/>
              </a:rPr>
              <a:t> 236: 3677–3685.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/10.1007/s00213-019-05339-4)</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64</a:t>
            </a:fld>
            <a:endParaRPr lang="en-US"/>
          </a:p>
        </p:txBody>
      </p:sp>
    </p:spTree>
    <p:extLst>
      <p:ext uri="{BB962C8B-B14F-4D97-AF65-F5344CB8AC3E}">
        <p14:creationId xmlns:p14="http://schemas.microsoft.com/office/powerpoint/2010/main" val="1138623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21792"/>
          </a:xfrm>
        </p:spPr>
        <p:txBody>
          <a:bodyPr/>
          <a:lstStyle>
            <a:lvl1pPr>
              <a:defRPr/>
            </a:lvl1pPr>
          </a:lstStyle>
          <a:p>
            <a:r>
              <a:rPr lang="en-US" dirty="0"/>
              <a:t>Click to edit Master title style</a:t>
            </a:r>
          </a:p>
        </p:txBody>
      </p:sp>
      <p:sp>
        <p:nvSpPr>
          <p:cNvPr id="5" name="Content Placeholder 4">
            <a:extLst>
              <a:ext uri="{FF2B5EF4-FFF2-40B4-BE49-F238E27FC236}">
                <a16:creationId xmlns:a16="http://schemas.microsoft.com/office/drawing/2014/main" id="{8DBA5D03-AECA-2B4D-AD11-BC8666A45DCD}"/>
              </a:ext>
            </a:extLst>
          </p:cNvPr>
          <p:cNvSpPr>
            <a:spLocks noGrp="1"/>
          </p:cNvSpPr>
          <p:nvPr>
            <p:ph sz="quarter" idx="10"/>
          </p:nvPr>
        </p:nvSpPr>
        <p:spPr>
          <a:xfrm>
            <a:off x="408432" y="668867"/>
            <a:ext cx="11375136" cy="6108042"/>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9804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80" r:id="rId1"/>
    <p:sldLayoutId id="2147483679" r:id="rId2"/>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1154437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t>Chapter 12</a:t>
            </a:r>
            <a:br>
              <a:rPr lang="en-US" sz="2400" dirty="0"/>
            </a:br>
            <a:r>
              <a:rPr lang="en-US" sz="2800" i="1" dirty="0"/>
              <a:t>Psychomotor Stimulants: Cocaine, Amphetamine, and Related Drugs</a:t>
            </a:r>
            <a:endParaRPr lang="en-US" sz="2400" i="1" dirty="0"/>
          </a:p>
        </p:txBody>
      </p:sp>
      <p:sp>
        <p:nvSpPr>
          <p:cNvPr id="3" name="Text Placeholder 2"/>
          <p:cNvSpPr>
            <a:spLocks noGrp="1"/>
          </p:cNvSpPr>
          <p:nvPr>
            <p:ph idx="1"/>
          </p:nvPr>
        </p:nvSpPr>
        <p:spPr/>
        <p:txBody>
          <a:bodyPr>
            <a:normAutofit fontScale="92500"/>
          </a:bodyPr>
          <a:lstStyle/>
          <a:p>
            <a:pPr marL="914400" indent="-914400">
              <a:spcBef>
                <a:spcPts val="1800"/>
              </a:spcBef>
              <a:buNone/>
            </a:pPr>
            <a:r>
              <a:rPr lang="en-US" dirty="0"/>
              <a:t>12.1  Background, Basic Pharmacology, and Mechanisms of Action of Cocaine</a:t>
            </a:r>
          </a:p>
          <a:p>
            <a:pPr marL="914400" indent="-914400">
              <a:spcBef>
                <a:spcPts val="1800"/>
              </a:spcBef>
              <a:buNone/>
            </a:pPr>
            <a:r>
              <a:rPr lang="en-US" dirty="0"/>
              <a:t>12.2  Acute Behavioral and Physiological Effects of Cocaine</a:t>
            </a:r>
          </a:p>
          <a:p>
            <a:pPr marL="914400" indent="-914400">
              <a:spcBef>
                <a:spcPts val="1800"/>
              </a:spcBef>
              <a:buNone/>
            </a:pPr>
            <a:r>
              <a:rPr lang="en-US" dirty="0"/>
              <a:t>12.3  Cocaine Use and the Effects of Chronic Cocaine Exposure</a:t>
            </a:r>
          </a:p>
          <a:p>
            <a:pPr marL="914400" indent="-914400">
              <a:spcBef>
                <a:spcPts val="1800"/>
              </a:spcBef>
              <a:buNone/>
            </a:pPr>
            <a:r>
              <a:rPr lang="en-US" dirty="0"/>
              <a:t>12.4  Background, History, and Basic Pharmacology of the Amphetamines</a:t>
            </a:r>
          </a:p>
          <a:p>
            <a:pPr marL="914400" indent="-914400">
              <a:spcBef>
                <a:spcPts val="1800"/>
              </a:spcBef>
              <a:buNone/>
            </a:pPr>
            <a:r>
              <a:rPr lang="en-US" dirty="0"/>
              <a:t>12.5  Mechanisms of Action and Neurobehavioral Effects of Amphetamines</a:t>
            </a:r>
          </a:p>
          <a:p>
            <a:pPr marL="914400" indent="-914400">
              <a:spcBef>
                <a:spcPts val="1800"/>
              </a:spcBef>
              <a:buNone/>
            </a:pPr>
            <a:r>
              <a:rPr lang="en-US" dirty="0"/>
              <a:t>12.6  Methylphenidate and Modafinil</a:t>
            </a:r>
          </a:p>
          <a:p>
            <a:pPr marL="914400" indent="-914400">
              <a:spcBef>
                <a:spcPts val="1800"/>
              </a:spcBef>
              <a:buNone/>
            </a:pPr>
            <a:r>
              <a:rPr lang="en-US" dirty="0"/>
              <a:t>12.7  Synthetic </a:t>
            </a:r>
            <a:r>
              <a:rPr lang="en-US" dirty="0" err="1"/>
              <a:t>Cathinones</a:t>
            </a:r>
            <a:endParaRPr lang="en-US" dirty="0"/>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dirty="0"/>
              <a:t>Chapter 12</a:t>
            </a:r>
            <a:br>
              <a:rPr lang="en-US" dirty="0"/>
            </a:br>
            <a:r>
              <a:rPr lang="en-US" sz="4000" dirty="0"/>
              <a:t>Learning Objectives </a:t>
            </a:r>
            <a:r>
              <a:rPr lang="en-US" sz="1300" dirty="0"/>
              <a:t>(1 of 7)</a:t>
            </a:r>
          </a:p>
        </p:txBody>
      </p:sp>
      <p:sp>
        <p:nvSpPr>
          <p:cNvPr id="3" name="Text Placeholder 2"/>
          <p:cNvSpPr>
            <a:spLocks noGrp="1"/>
          </p:cNvSpPr>
          <p:nvPr>
            <p:ph idx="1"/>
          </p:nvPr>
        </p:nvSpPr>
        <p:spPr>
          <a:xfrm>
            <a:off x="609600" y="1857781"/>
            <a:ext cx="10972800" cy="4525963"/>
          </a:xfrm>
        </p:spPr>
        <p:txBody>
          <a:bodyPr>
            <a:normAutofit/>
          </a:bodyPr>
          <a:lstStyle/>
          <a:p>
            <a:pPr marL="1371600" indent="-1371600">
              <a:lnSpc>
                <a:spcPct val="110000"/>
              </a:lnSpc>
              <a:buNone/>
            </a:pPr>
            <a:r>
              <a:rPr lang="en-US" dirty="0"/>
              <a:t>12.1.1  Describe the history of coca and cocaine use beginning in South America and later reaching the Western world.</a:t>
            </a:r>
          </a:p>
          <a:p>
            <a:pPr marL="1371600" indent="-1371600">
              <a:lnSpc>
                <a:spcPct val="110000"/>
              </a:lnSpc>
              <a:buNone/>
            </a:pPr>
            <a:r>
              <a:rPr lang="en-US" dirty="0"/>
              <a:t>12.1.2  Discuss the basic pharmacology of cocaine, including its different chemical forms and routes of administration.</a:t>
            </a:r>
          </a:p>
          <a:p>
            <a:pPr marL="1371600" indent="-1371600">
              <a:lnSpc>
                <a:spcPct val="110000"/>
              </a:lnSpc>
              <a:buNone/>
            </a:pPr>
            <a:r>
              <a:rPr lang="en-US" dirty="0"/>
              <a:t>12.1.3  Describe cocaine’s mechanisms of action, particularly with respect to relevant neurotransmitter systems. </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1371600" indent="-1371600">
              <a:lnSpc>
                <a:spcPct val="110000"/>
              </a:lnSpc>
              <a:buNone/>
            </a:pPr>
            <a:r>
              <a:rPr lang="en-US" dirty="0"/>
              <a:t>12.2.1  Describe (a) the behavioral and psychological effects of differing doses of cocaine, and (b) cocaine’s physiological effects that are mediated by the sympathetic nervous system.</a:t>
            </a:r>
          </a:p>
          <a:p>
            <a:pPr marL="1371600" indent="-1371600">
              <a:lnSpc>
                <a:spcPct val="110000"/>
              </a:lnSpc>
              <a:buNone/>
            </a:pPr>
            <a:r>
              <a:rPr lang="en-US" dirty="0"/>
              <a:t>12.2.2  Discuss the evidence supporting a key role for DA in the behavioral effects of cocaine and other psychostimulants, including both preclinical animal studies and brain imaging studies in humans.</a:t>
            </a:r>
          </a:p>
          <a:p>
            <a:pPr marL="1371600" indent="-1371600">
              <a:lnSpc>
                <a:spcPct val="110000"/>
              </a:lnSpc>
              <a:buNone/>
            </a:pPr>
            <a:r>
              <a:rPr lang="en-US" dirty="0"/>
              <a:t>12.2.3  Discuss the involvement of DA receptor subtypes in mediating the functional effects of psychostimulants.</a:t>
            </a:r>
          </a:p>
        </p:txBody>
      </p:sp>
    </p:spTree>
    <p:extLst>
      <p:ext uri="{BB962C8B-B14F-4D97-AF65-F5344CB8AC3E}">
        <p14:creationId xmlns:p14="http://schemas.microsoft.com/office/powerpoint/2010/main" val="737123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12.3.1  Describe the identified patterns of cocaine use, the characteristics of cocaine binges, and the development of cocaine use disorder.</a:t>
            </a:r>
          </a:p>
          <a:p>
            <a:pPr marL="1371600" indent="-1371600">
              <a:lnSpc>
                <a:spcPct val="110000"/>
              </a:lnSpc>
              <a:buNone/>
            </a:pPr>
            <a:r>
              <a:rPr lang="en-US" dirty="0"/>
              <a:t>12.3.2  Discuss the neurobiological and behavioral changes caused by chronic cocaine exposure.</a:t>
            </a:r>
          </a:p>
          <a:p>
            <a:pPr marL="1371600" indent="-1371600">
              <a:lnSpc>
                <a:spcPct val="110000"/>
              </a:lnSpc>
              <a:buNone/>
            </a:pPr>
            <a:r>
              <a:rPr lang="en-US" dirty="0"/>
              <a:t>12.3.3  List the major health consequences that can occur as a result of repeated and/or high-dose cocaine use.</a:t>
            </a:r>
          </a:p>
          <a:p>
            <a:pPr marL="1371600" indent="-1371600">
              <a:lnSpc>
                <a:spcPct val="110000"/>
              </a:lnSpc>
              <a:buNone/>
            </a:pPr>
            <a:r>
              <a:rPr lang="en-US" dirty="0"/>
              <a:t>12.3.4  Describe the various therapeutic approaches available to treat cocaine use disorder.</a:t>
            </a:r>
          </a:p>
        </p:txBody>
      </p:sp>
    </p:spTree>
    <p:extLst>
      <p:ext uri="{BB962C8B-B14F-4D97-AF65-F5344CB8AC3E}">
        <p14:creationId xmlns:p14="http://schemas.microsoft.com/office/powerpoint/2010/main" val="915208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(4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12.4.1  Discuss the history and uses (medical and recreational) of the family of psychostimulants that includes amphetamine, methamphetamine, cathinone, and ephedrine.</a:t>
            </a:r>
          </a:p>
          <a:p>
            <a:pPr marL="1371600" indent="-1371600">
              <a:lnSpc>
                <a:spcPct val="110000"/>
              </a:lnSpc>
              <a:buNone/>
            </a:pPr>
            <a:r>
              <a:rPr lang="en-US" dirty="0"/>
              <a:t>12.4.2  Describe the basic pharmacology of amphetamine and methamphetamine.</a:t>
            </a:r>
          </a:p>
        </p:txBody>
      </p:sp>
    </p:spTree>
    <p:extLst>
      <p:ext uri="{BB962C8B-B14F-4D97-AF65-F5344CB8AC3E}">
        <p14:creationId xmlns:p14="http://schemas.microsoft.com/office/powerpoint/2010/main" val="846232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(5 of 7)</a:t>
            </a:r>
            <a:endParaRPr lang="en-US" dirty="0"/>
          </a:p>
        </p:txBody>
      </p:sp>
      <p:sp>
        <p:nvSpPr>
          <p:cNvPr id="3" name="Text Placeholder 2"/>
          <p:cNvSpPr>
            <a:spLocks noGrp="1"/>
          </p:cNvSpPr>
          <p:nvPr>
            <p:ph idx="1"/>
          </p:nvPr>
        </p:nvSpPr>
        <p:spPr/>
        <p:txBody>
          <a:bodyPr>
            <a:normAutofit lnSpcReduction="10000"/>
          </a:bodyPr>
          <a:lstStyle/>
          <a:p>
            <a:pPr marL="1371600" indent="-1371600">
              <a:buNone/>
            </a:pPr>
            <a:r>
              <a:rPr lang="en-US" dirty="0"/>
              <a:t>12.5.1  Explain the mechanisms of action of amphetamines on the dopaminergic system.</a:t>
            </a:r>
          </a:p>
          <a:p>
            <a:pPr marL="1371600" indent="-1371600">
              <a:buNone/>
            </a:pPr>
            <a:r>
              <a:rPr lang="en-US" dirty="0"/>
              <a:t>12.5.2  Contrast the therapeutic uses of amphetamines with their illicit use.</a:t>
            </a:r>
          </a:p>
          <a:p>
            <a:pPr marL="1371600" indent="-1371600">
              <a:buNone/>
            </a:pPr>
            <a:r>
              <a:rPr lang="en-US" dirty="0"/>
              <a:t>12.5.3  Discuss the features of methamphetamine misuse, including (a) dependence and withdrawal and (b) impaired cognitive function.</a:t>
            </a:r>
          </a:p>
          <a:p>
            <a:pPr marL="1371600" indent="-1371600">
              <a:buNone/>
            </a:pPr>
            <a:r>
              <a:rPr lang="en-US" dirty="0"/>
              <a:t>12.5.4  Describe evidence showing that high-dose methamphetamine use causes psychotic reactions, neurotoxicity, and other health problems.</a:t>
            </a:r>
          </a:p>
        </p:txBody>
      </p:sp>
    </p:spTree>
    <p:extLst>
      <p:ext uri="{BB962C8B-B14F-4D97-AF65-F5344CB8AC3E}">
        <p14:creationId xmlns:p14="http://schemas.microsoft.com/office/powerpoint/2010/main" val="3627313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(6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12.6.1  Discuss the pharmacology of methylphenidate.</a:t>
            </a:r>
          </a:p>
          <a:p>
            <a:pPr marL="1371600" indent="-1371600">
              <a:lnSpc>
                <a:spcPct val="110000"/>
              </a:lnSpc>
              <a:buNone/>
            </a:pPr>
            <a:r>
              <a:rPr lang="en-US" dirty="0"/>
              <a:t>12.6.2  Describe the features of ADHD, including symptoms, proposed dysfunction of the PFC catecholamine symptoms, and the mechanisms of action of drugs (including psychostimulants) used to treat this disorder.</a:t>
            </a:r>
          </a:p>
          <a:p>
            <a:pPr marL="1371600" indent="-1371600">
              <a:lnSpc>
                <a:spcPct val="110000"/>
              </a:lnSpc>
              <a:buNone/>
            </a:pPr>
            <a:r>
              <a:rPr lang="en-US" dirty="0"/>
              <a:t>12.6.3  Discuss the pharmacology of modafinil and its therapeutic use in the treatment of narcolepsy.</a:t>
            </a:r>
          </a:p>
        </p:txBody>
      </p:sp>
    </p:spTree>
    <p:extLst>
      <p:ext uri="{BB962C8B-B14F-4D97-AF65-F5344CB8AC3E}">
        <p14:creationId xmlns:p14="http://schemas.microsoft.com/office/powerpoint/2010/main" val="2309135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12</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(7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12.7.1  Name the four synthetic </a:t>
            </a:r>
            <a:r>
              <a:rPr lang="en-US" dirty="0" err="1"/>
              <a:t>cathinones</a:t>
            </a:r>
            <a:r>
              <a:rPr lang="en-US" dirty="0"/>
              <a:t> that have been studied most extensively, and describe their introduction as “street drugs.”</a:t>
            </a:r>
          </a:p>
          <a:p>
            <a:pPr marL="1371600" indent="-1371600">
              <a:lnSpc>
                <a:spcPct val="110000"/>
              </a:lnSpc>
              <a:buNone/>
            </a:pPr>
            <a:r>
              <a:rPr lang="en-US" dirty="0"/>
              <a:t>12.7.2  Discuss the basic pharmacology of synthetic </a:t>
            </a:r>
            <a:r>
              <a:rPr lang="en-US" dirty="0" err="1"/>
              <a:t>cathinones</a:t>
            </a:r>
            <a:r>
              <a:rPr lang="en-US" dirty="0"/>
              <a:t>, including routes of administration, subjective effects, and mechanisms of action.</a:t>
            </a:r>
          </a:p>
          <a:p>
            <a:pPr marL="1371600" indent="-1371600">
              <a:lnSpc>
                <a:spcPct val="110000"/>
              </a:lnSpc>
              <a:buNone/>
            </a:pPr>
            <a:r>
              <a:rPr lang="en-US" dirty="0"/>
              <a:t>12.7.3  Describe the evidence for potential neurotoxic effects of synthetic </a:t>
            </a:r>
            <a:r>
              <a:rPr lang="en-US" dirty="0" err="1"/>
              <a:t>cathinones</a:t>
            </a:r>
            <a:r>
              <a:rPr lang="en-US" dirty="0"/>
              <a:t>.</a:t>
            </a:r>
          </a:p>
        </p:txBody>
      </p:sp>
    </p:spTree>
    <p:extLst>
      <p:ext uri="{BB962C8B-B14F-4D97-AF65-F5344CB8AC3E}">
        <p14:creationId xmlns:p14="http://schemas.microsoft.com/office/powerpoint/2010/main" val="33421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fontScale="90000"/>
          </a:bodyPr>
          <a:lstStyle/>
          <a:p>
            <a:r>
              <a:rPr lang="en-US" dirty="0"/>
              <a:t>Background, Pharmacology, and </a:t>
            </a:r>
            <a:br>
              <a:rPr lang="en-US" dirty="0"/>
            </a:br>
            <a:r>
              <a:rPr lang="en-US" dirty="0"/>
              <a:t>Mechanisms of Action of Cocaine </a:t>
            </a:r>
            <a:r>
              <a:rPr lang="en-US" sz="1300" dirty="0"/>
              <a:t>(1 of 5)</a:t>
            </a:r>
            <a:endParaRPr lang="en-US" dirty="0"/>
          </a:p>
        </p:txBody>
      </p:sp>
      <p:sp>
        <p:nvSpPr>
          <p:cNvPr id="3" name="Text Placeholder 2"/>
          <p:cNvSpPr>
            <a:spLocks noGrp="1"/>
          </p:cNvSpPr>
          <p:nvPr>
            <p:ph idx="1"/>
          </p:nvPr>
        </p:nvSpPr>
        <p:spPr>
          <a:xfrm>
            <a:off x="609600" y="1857781"/>
            <a:ext cx="10972800" cy="4525963"/>
          </a:xfrm>
        </p:spPr>
        <p:txBody>
          <a:bodyPr>
            <a:normAutofit fontScale="85000" lnSpcReduction="20000"/>
          </a:bodyPr>
          <a:lstStyle/>
          <a:p>
            <a:pPr marL="457200" indent="-457200">
              <a:spcBef>
                <a:spcPct val="20000"/>
              </a:spcBef>
              <a:buNone/>
            </a:pPr>
            <a:r>
              <a:rPr lang="en-US" sz="3800" dirty="0"/>
              <a:t>Background</a:t>
            </a:r>
          </a:p>
          <a:p>
            <a:r>
              <a:rPr lang="en-US" altLang="en-US" dirty="0"/>
              <a:t>Cocaine: alkaloid in leaves of the shrub Erythroxylon coca native to South America</a:t>
            </a:r>
          </a:p>
          <a:p>
            <a:r>
              <a:rPr lang="en-US" altLang="en-US" dirty="0"/>
              <a:t>The practice of chewing coca leaves began 5000 years ago.</a:t>
            </a:r>
          </a:p>
          <a:p>
            <a:r>
              <a:rPr lang="en-US" dirty="0"/>
              <a:t>Pure cocaine isolated in 1850s; there were many famous users, including Freud</a:t>
            </a:r>
          </a:p>
          <a:p>
            <a:r>
              <a:rPr lang="en-US" dirty="0"/>
              <a:t>Cocaine was used in many medications—Coca Cola was introduced in 1886</a:t>
            </a:r>
          </a:p>
          <a:p>
            <a:r>
              <a:rPr lang="en-US" altLang="en-US" dirty="0"/>
              <a:t>Cocaine abuse became widespread; 1914 Harrison act prohibited cocaine in OTC medicines</a:t>
            </a:r>
          </a:p>
          <a:p>
            <a:r>
              <a:rPr lang="en-US" altLang="en-US" dirty="0"/>
              <a:t>Cocaine use by snorting or IV injection increased in the 1970s; more recently, “crack” cocaine became popular</a:t>
            </a:r>
          </a:p>
        </p:txBody>
      </p:sp>
    </p:spTree>
    <p:extLst>
      <p:ext uri="{BB962C8B-B14F-4D97-AF65-F5344CB8AC3E}">
        <p14:creationId xmlns:p14="http://schemas.microsoft.com/office/powerpoint/2010/main" val="2666009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3200" b="0" i="0" u="none" strike="noStrike" kern="1200" cap="none" spc="0" normalizeH="0" baseline="0" noProof="0" dirty="0">
                <a:ln>
                  <a:noFill/>
                </a:ln>
                <a:solidFill>
                  <a:srgbClr val="1F497D"/>
                </a:solidFill>
                <a:effectLst/>
                <a:uLnTx/>
                <a:uFillTx/>
                <a:latin typeface="Calibri"/>
                <a:ea typeface="+mj-ea"/>
                <a:cs typeface="+mj-cs"/>
              </a:rPr>
              <a:t>Background, Pharmacology, and </a:t>
            </a:r>
            <a:br>
              <a:rPr kumimoji="0" lang="en-US" sz="3200" b="0" i="0" u="none" strike="noStrike" kern="1200" cap="none" spc="0" normalizeH="0" baseline="0" noProof="0" dirty="0">
                <a:ln>
                  <a:noFill/>
                </a:ln>
                <a:solidFill>
                  <a:srgbClr val="1F497D"/>
                </a:solidFill>
                <a:effectLst/>
                <a:uLnTx/>
                <a:uFillTx/>
                <a:latin typeface="Calibri"/>
                <a:ea typeface="+mj-ea"/>
                <a:cs typeface="+mj-cs"/>
              </a:rPr>
            </a:br>
            <a:r>
              <a:rPr kumimoji="0" lang="en-US" sz="3200" b="0" i="0" u="none" strike="noStrike" kern="1200" cap="none" spc="0" normalizeH="0" baseline="0" noProof="0" dirty="0">
                <a:ln>
                  <a:noFill/>
                </a:ln>
                <a:solidFill>
                  <a:srgbClr val="1F497D"/>
                </a:solidFill>
                <a:effectLst/>
                <a:uLnTx/>
                <a:uFillTx/>
                <a:latin typeface="Calibri"/>
                <a:ea typeface="+mj-ea"/>
                <a:cs typeface="+mj-cs"/>
              </a:rPr>
              <a:t>Mechanisms of Action of Cocaine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5)</a:t>
            </a:r>
            <a:endParaRPr lang="en-US" dirty="0"/>
          </a:p>
        </p:txBody>
      </p:sp>
      <p:sp>
        <p:nvSpPr>
          <p:cNvPr id="3" name="Text Placeholder 2"/>
          <p:cNvSpPr>
            <a:spLocks noGrp="1"/>
          </p:cNvSpPr>
          <p:nvPr>
            <p:ph idx="1"/>
          </p:nvPr>
        </p:nvSpPr>
        <p:spPr/>
        <p:txBody>
          <a:bodyPr>
            <a:normAutofit fontScale="92500" lnSpcReduction="20000"/>
          </a:bodyPr>
          <a:lstStyle/>
          <a:p>
            <a:pPr marL="457200" indent="-457200">
              <a:spcBef>
                <a:spcPct val="20000"/>
              </a:spcBef>
              <a:buNone/>
            </a:pPr>
            <a:r>
              <a:rPr lang="en-US" sz="3500" dirty="0"/>
              <a:t>Basic pharmacology</a:t>
            </a:r>
          </a:p>
          <a:p>
            <a:r>
              <a:rPr lang="en-US" altLang="en-US" dirty="0">
                <a:ea typeface="Geneva" pitchFamily="121" charset="-128"/>
              </a:rPr>
              <a:t>Cocaine is extracted from coca leaves, converted to a hydrochloride (HCl) salt and crystallized.</a:t>
            </a:r>
          </a:p>
          <a:p>
            <a:r>
              <a:rPr lang="en-US" altLang="en-US" dirty="0">
                <a:ea typeface="Geneva" pitchFamily="121" charset="-128"/>
              </a:rPr>
              <a:t>Cocaine HCl is water-soluble and thus can be taken orally, intranasally (snorting), or by IV injection; can not be smoked</a:t>
            </a:r>
          </a:p>
          <a:p>
            <a:r>
              <a:rPr lang="en-US" altLang="en-US" dirty="0">
                <a:ea typeface="Geneva" pitchFamily="121" charset="-128"/>
              </a:rPr>
              <a:t>Cocaine HCl can be transformed back into cocaine that can be smoked by two methods:</a:t>
            </a:r>
          </a:p>
          <a:p>
            <a:pPr lvl="1"/>
            <a:r>
              <a:rPr lang="en-US" altLang="en-US" b="1" dirty="0">
                <a:ea typeface="Geneva" pitchFamily="121" charset="-128"/>
              </a:rPr>
              <a:t>Freebasing</a:t>
            </a:r>
          </a:p>
          <a:p>
            <a:pPr lvl="1"/>
            <a:r>
              <a:rPr lang="en-US" altLang="en-US" b="1" dirty="0">
                <a:ea typeface="Geneva" pitchFamily="121" charset="-128"/>
              </a:rPr>
              <a:t>Crack</a:t>
            </a:r>
            <a:endParaRPr lang="en-US" altLang="en-US" dirty="0">
              <a:ea typeface="Geneva" pitchFamily="121" charset="-128"/>
            </a:endParaRPr>
          </a:p>
        </p:txBody>
      </p:sp>
    </p:spTree>
    <p:extLst>
      <p:ext uri="{BB962C8B-B14F-4D97-AF65-F5344CB8AC3E}">
        <p14:creationId xmlns:p14="http://schemas.microsoft.com/office/powerpoint/2010/main" val="423708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Pharmacology, and </a:t>
            </a:r>
            <a:br>
              <a:rPr lang="en-US" dirty="0"/>
            </a:br>
            <a:r>
              <a:rPr lang="en-US" dirty="0"/>
              <a:t>Mechanisms of Action of Cocaine </a:t>
            </a:r>
            <a:r>
              <a:rPr lang="en-US" sz="1300" dirty="0"/>
              <a:t>(3 of 5)</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Basic pharmacology</a:t>
            </a:r>
          </a:p>
          <a:p>
            <a:pPr>
              <a:spcBef>
                <a:spcPts val="1200"/>
              </a:spcBef>
            </a:pPr>
            <a:r>
              <a:rPr lang="en-US" altLang="en-US" dirty="0">
                <a:ea typeface="Geneva" pitchFamily="121" charset="-128"/>
              </a:rPr>
              <a:t>Extremely rapid absorption occurs with IV injection and smoking; slower with snorting and oral use.</a:t>
            </a:r>
          </a:p>
          <a:p>
            <a:pPr>
              <a:spcBef>
                <a:spcPts val="1200"/>
              </a:spcBef>
            </a:pPr>
            <a:r>
              <a:rPr lang="en-US" dirty="0"/>
              <a:t>Once absorbed, cocaine is rapidly broken down and excreted; the subjective high lasts about 30 minutes.</a:t>
            </a:r>
          </a:p>
          <a:p>
            <a:pPr>
              <a:spcBef>
                <a:spcPts val="1200"/>
              </a:spcBef>
            </a:pPr>
            <a:r>
              <a:rPr lang="en-US" dirty="0"/>
              <a:t>Metabolites such as </a:t>
            </a:r>
            <a:r>
              <a:rPr lang="en-US" b="1" dirty="0"/>
              <a:t>benzoylecgonine</a:t>
            </a:r>
            <a:r>
              <a:rPr lang="en-US" dirty="0"/>
              <a:t> can be detected in the urine for several days</a:t>
            </a:r>
          </a:p>
          <a:p>
            <a:pPr>
              <a:spcBef>
                <a:spcPts val="1200"/>
              </a:spcBef>
            </a:pPr>
            <a:r>
              <a:rPr lang="en-US" dirty="0"/>
              <a:t>Cocaine plus alcohol produce a unique metabolite called </a:t>
            </a:r>
            <a:r>
              <a:rPr lang="en-US" b="1" dirty="0" err="1"/>
              <a:t>cocaethylene</a:t>
            </a:r>
            <a:r>
              <a:rPr lang="en-US" dirty="0"/>
              <a:t> – has activity similar to cocaine</a:t>
            </a:r>
          </a:p>
        </p:txBody>
      </p:sp>
    </p:spTree>
    <p:extLst>
      <p:ext uri="{BB962C8B-B14F-4D97-AF65-F5344CB8AC3E}">
        <p14:creationId xmlns:p14="http://schemas.microsoft.com/office/powerpoint/2010/main" val="4111763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1FFE1-6B7B-D545-9D4A-1B94CE8E0D6E}"/>
              </a:ext>
            </a:extLst>
          </p:cNvPr>
          <p:cNvSpPr>
            <a:spLocks noGrp="1"/>
          </p:cNvSpPr>
          <p:nvPr>
            <p:ph type="title"/>
          </p:nvPr>
        </p:nvSpPr>
        <p:spPr/>
        <p:txBody>
          <a:bodyPr/>
          <a:lstStyle/>
          <a:p>
            <a:r>
              <a:rPr lang="en-US" cap="all" dirty="0"/>
              <a:t>FIGURE 12.5</a:t>
            </a:r>
            <a:r>
              <a:rPr lang="en-US" dirty="0"/>
              <a:t>  Time course of plasma cocaine concentrations following different routes of administration </a:t>
            </a:r>
          </a:p>
        </p:txBody>
      </p:sp>
      <p:pic>
        <p:nvPicPr>
          <p:cNvPr id="6" name="Content Placeholder 5" descr="A trend graph depicts four different channels of drug administration for 10 people. The horizontal axis represents time in minutes ranging from 60 to 480. The vertical axis represents plasma cocaine concentration in nanograms per milliliter. The approximate data is as follows. Intravenous (0.6 milligrams per kilogram): (0, 380), (0, 600), (12, 450), (11, 600), (13, 450), (15, 360), (40, 290), (60, 250), (65, 160), (90, 150), (120, 70), (180, 50), (360, 2). Smoked (100 milligrams base): (0, 200), (11, 230), (15, 199), (30, 156), (45, 150), (60, 100), (75, 98), (90, 99), (120, 50), (180, 30), (240, 40), (360, 50), (480, 25). Intranasal (2 milligrams per kilogram): (0, 0), (15, 240), (30, 280), (40, 330), (60, 340), (75, 280), (90, 260), (120, 200), (180, 100), (240, 80), (360, 40), (480, 25). Oral (2 milligrams per kilogram): (30, 0), (45, 90), (60, 260), (75, 300), (90, 230), (120, 170), (180, 80), (240, 50), (360, 30), (480, 1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180627" y="479425"/>
            <a:ext cx="9830747" cy="6300788"/>
          </a:xfrm>
        </p:spPr>
      </p:pic>
    </p:spTree>
    <p:extLst>
      <p:ext uri="{BB962C8B-B14F-4D97-AF65-F5344CB8AC3E}">
        <p14:creationId xmlns:p14="http://schemas.microsoft.com/office/powerpoint/2010/main" val="1313830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Pharmacology, and </a:t>
            </a:r>
            <a:br>
              <a:rPr lang="en-US" dirty="0"/>
            </a:br>
            <a:r>
              <a:rPr lang="en-US" dirty="0"/>
              <a:t>Mechanisms of Action of Cocaine </a:t>
            </a:r>
            <a:r>
              <a:rPr lang="en-US" sz="1300" dirty="0"/>
              <a:t>(4 of 5)</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Mechanisms of action</a:t>
            </a:r>
          </a:p>
          <a:p>
            <a:pPr>
              <a:spcBef>
                <a:spcPts val="1200"/>
              </a:spcBef>
            </a:pPr>
            <a:r>
              <a:rPr lang="en-US" altLang="en-US" dirty="0">
                <a:ea typeface="Geneva" pitchFamily="121" charset="-128"/>
              </a:rPr>
              <a:t>Most of cocaine</a:t>
            </a:r>
            <a:r>
              <a:rPr lang="ja-JP" altLang="en-US" dirty="0">
                <a:ea typeface="Geneva" pitchFamily="121" charset="-128"/>
              </a:rPr>
              <a:t>’</a:t>
            </a:r>
            <a:r>
              <a:rPr lang="en-US" altLang="ja-JP" dirty="0">
                <a:ea typeface="Geneva" pitchFamily="121" charset="-128"/>
              </a:rPr>
              <a:t>s actions are due to its ability to block reuptake of DA, NE, and 5-HT by inhibiting their membrane transporters; </a:t>
            </a:r>
            <a:r>
              <a:rPr lang="en-US" altLang="en-US" dirty="0">
                <a:ea typeface="Geneva" pitchFamily="121" charset="-128"/>
              </a:rPr>
              <a:t>increased synaptic concentrations of transmitters increases rate of transmission</a:t>
            </a:r>
          </a:p>
          <a:p>
            <a:pPr algn="l"/>
            <a:r>
              <a:rPr lang="en-US" b="0" i="0" u="none" strike="noStrike" baseline="0" dirty="0">
                <a:latin typeface="DINPro-Light"/>
              </a:rPr>
              <a:t>Inhibition of DA reuptake is most important for cocaine’s behavioral effects and addictive potential</a:t>
            </a:r>
          </a:p>
          <a:p>
            <a:r>
              <a:rPr lang="en-US" altLang="en-US" dirty="0">
                <a:latin typeface="DINPro-Light"/>
                <a:ea typeface="Geneva" pitchFamily="121" charset="-128"/>
              </a:rPr>
              <a:t>Inhibition of DA reuptake can occur very rapidly, as shown by </a:t>
            </a:r>
            <a:r>
              <a:rPr lang="en-US" altLang="en-US" dirty="0" err="1">
                <a:latin typeface="DINPro-Light"/>
                <a:ea typeface="Geneva" pitchFamily="121" charset="-128"/>
              </a:rPr>
              <a:t>microdialysis</a:t>
            </a:r>
            <a:r>
              <a:rPr lang="en-US" altLang="en-US" dirty="0">
                <a:latin typeface="DINPro-Light"/>
                <a:ea typeface="Geneva" pitchFamily="121" charset="-128"/>
              </a:rPr>
              <a:t> studies</a:t>
            </a:r>
          </a:p>
        </p:txBody>
      </p:sp>
    </p:spTree>
    <p:extLst>
      <p:ext uri="{BB962C8B-B14F-4D97-AF65-F5344CB8AC3E}">
        <p14:creationId xmlns:p14="http://schemas.microsoft.com/office/powerpoint/2010/main" val="344317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3C91D-8E88-8841-AEDC-B252F069264B}"/>
              </a:ext>
            </a:extLst>
          </p:cNvPr>
          <p:cNvSpPr>
            <a:spLocks noGrp="1"/>
          </p:cNvSpPr>
          <p:nvPr>
            <p:ph type="title"/>
          </p:nvPr>
        </p:nvSpPr>
        <p:spPr/>
        <p:txBody>
          <a:bodyPr/>
          <a:lstStyle/>
          <a:p>
            <a:r>
              <a:rPr lang="en-US" cap="all" dirty="0"/>
              <a:t>FIGURE 12.6</a:t>
            </a:r>
            <a:r>
              <a:rPr lang="en-US" dirty="0"/>
              <a:t>  Mechanisms of cocaine action </a:t>
            </a:r>
          </a:p>
        </p:txBody>
      </p:sp>
      <p:pic>
        <p:nvPicPr>
          <p:cNvPr id="6" name="Content Placeholder 5" descr="An illustration depicts the mechanism of how cocaine hinders dopamine transporter in the plasma membrane resulting in an accumulation in extracellular dopamine levels in the cell membrane. At this level of inhibition, the transporter will cause a substantial increase in the extracellular concentrations of the neurotransmitter.&#10;&#10;An illustration depicts the mechanism of cocaine blocking the dopamine transporter in the plasma membrane.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03892"/>
            <a:ext cx="11376025" cy="5051853"/>
          </a:xfrm>
        </p:spPr>
      </p:pic>
    </p:spTree>
    <p:extLst>
      <p:ext uri="{BB962C8B-B14F-4D97-AF65-F5344CB8AC3E}">
        <p14:creationId xmlns:p14="http://schemas.microsoft.com/office/powerpoint/2010/main" val="2249203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7943F-A38C-A040-9206-BCE7370666B8}"/>
              </a:ext>
            </a:extLst>
          </p:cNvPr>
          <p:cNvSpPr>
            <a:spLocks noGrp="1"/>
          </p:cNvSpPr>
          <p:nvPr>
            <p:ph type="title"/>
          </p:nvPr>
        </p:nvSpPr>
        <p:spPr/>
        <p:txBody>
          <a:bodyPr/>
          <a:lstStyle/>
          <a:p>
            <a:r>
              <a:rPr lang="en-US" cap="all" dirty="0"/>
              <a:t>FIGURE 12.7</a:t>
            </a:r>
            <a:r>
              <a:rPr lang="en-US" dirty="0"/>
              <a:t>  Time course of striatal cocaine and DA concentrations following rapid IV cocaine infusion </a:t>
            </a:r>
          </a:p>
        </p:txBody>
      </p:sp>
      <p:pic>
        <p:nvPicPr>
          <p:cNvPr id="6" name="Content Placeholder 5" descr="A trend graph plots the time course of striatal cocaine and D A concentrations. The horizontal axis represents the time in minutes ranging from minus 4 to 14. The vertical axis represents cocaine and dopamine in nanometer. The vertical axis represents plasma cocaine concentration in nanograms per milliliter. The approximate data is as follows. Cocaine: (minus 4, 0), (minus 3, 0), (minus 2, 0), (minus 1, 0), (0, 0), (1, 40), (3, 230), (4, 210), (5, 210), (6, 200), (7, 170), (8, 120), (9, 110), (10, 150), (11, 140), (12, 100), (13, 100), (14, 90). Dopamine: (minus 4, 10), (minus 3, 10), (minus 2, 8), (minus 1, 11), (0, 10), (1, 50), (2, 201), (3, 250), (4, 209), (5, 180), (6, 150), (7, 110), (8, 100), (9, 100), (10, 140), (11, 110), (12, 99), (13, 99), (14, 80)."/>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402040" y="479425"/>
            <a:ext cx="9387921" cy="6300788"/>
          </a:xfrm>
        </p:spPr>
      </p:pic>
    </p:spTree>
    <p:extLst>
      <p:ext uri="{BB962C8B-B14F-4D97-AF65-F5344CB8AC3E}">
        <p14:creationId xmlns:p14="http://schemas.microsoft.com/office/powerpoint/2010/main" val="1912667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Background, Pharmacology, and </a:t>
            </a:r>
            <a:br>
              <a:rPr lang="en-US" dirty="0"/>
            </a:br>
            <a:r>
              <a:rPr lang="en-US" dirty="0"/>
              <a:t>Mechanisms of Action of Cocaine </a:t>
            </a:r>
            <a:r>
              <a:rPr lang="en-US" sz="1300" dirty="0"/>
              <a:t>(5 of 5)</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Mechanisms of action</a:t>
            </a:r>
          </a:p>
          <a:p>
            <a:pPr>
              <a:spcBef>
                <a:spcPts val="1200"/>
              </a:spcBef>
            </a:pPr>
            <a:r>
              <a:rPr lang="en-US" altLang="en-US" dirty="0">
                <a:latin typeface="DINPro-Light"/>
                <a:ea typeface="Geneva" pitchFamily="121" charset="-128"/>
              </a:rPr>
              <a:t>Cocai</a:t>
            </a:r>
            <a:r>
              <a:rPr lang="en-US" altLang="en-US" dirty="0">
                <a:ea typeface="Geneva" pitchFamily="121" charset="-128"/>
              </a:rPr>
              <a:t>ne also increases frequency of transient DA release events; it inhibits NE uptake in the PFC, causing an α</a:t>
            </a:r>
            <a:r>
              <a:rPr lang="en-US" altLang="en-US" baseline="-25000" dirty="0">
                <a:ea typeface="Geneva" pitchFamily="121" charset="-128"/>
              </a:rPr>
              <a:t>1</a:t>
            </a:r>
            <a:r>
              <a:rPr lang="en-US" altLang="en-US" dirty="0">
                <a:ea typeface="Geneva" pitchFamily="121" charset="-128"/>
              </a:rPr>
              <a:t>-adreno-ceptor–mediated stimulation of glutamatergic pyramidal neurons that project to the VTA.</a:t>
            </a:r>
          </a:p>
          <a:p>
            <a:pPr>
              <a:spcBef>
                <a:spcPts val="1200"/>
              </a:spcBef>
            </a:pPr>
            <a:r>
              <a:rPr lang="en-US" altLang="en-US" dirty="0">
                <a:ea typeface="Geneva" pitchFamily="121" charset="-128"/>
              </a:rPr>
              <a:t>Striatal cholinergic interneurons and </a:t>
            </a:r>
            <a:r>
              <a:rPr lang="en-US" altLang="en-US" dirty="0" err="1">
                <a:ea typeface="Geneva" pitchFamily="121" charset="-128"/>
              </a:rPr>
              <a:t>ACh</a:t>
            </a:r>
            <a:r>
              <a:rPr lang="en-US" altLang="en-US" dirty="0">
                <a:ea typeface="Geneva" pitchFamily="121" charset="-128"/>
              </a:rPr>
              <a:t> release are regulated by DA – they exert a blunting effect on cocaine-associated responses</a:t>
            </a:r>
          </a:p>
          <a:p>
            <a:pPr>
              <a:spcBef>
                <a:spcPts val="1200"/>
              </a:spcBef>
            </a:pPr>
            <a:r>
              <a:rPr lang="en-US" dirty="0"/>
              <a:t>Activation of serotonergic signaling specifically counteracts cocaine-related reward and reinforcement.</a:t>
            </a:r>
          </a:p>
          <a:p>
            <a:pPr>
              <a:spcBef>
                <a:spcPts val="1200"/>
              </a:spcBef>
            </a:pPr>
            <a:r>
              <a:rPr lang="en-US" dirty="0"/>
              <a:t>At higher concentrations, cocaine also blocks voltage-gated Na</a:t>
            </a:r>
            <a:r>
              <a:rPr lang="en-US" baseline="30000" dirty="0"/>
              <a:t>+</a:t>
            </a:r>
            <a:r>
              <a:rPr lang="en-US" dirty="0"/>
              <a:t> channels; leads to a local anesthetic effect.</a:t>
            </a:r>
          </a:p>
        </p:txBody>
      </p:sp>
    </p:spTree>
    <p:extLst>
      <p:ext uri="{BB962C8B-B14F-4D97-AF65-F5344CB8AC3E}">
        <p14:creationId xmlns:p14="http://schemas.microsoft.com/office/powerpoint/2010/main" val="3116794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Review of Learning Objectives </a:t>
            </a:r>
            <a:r>
              <a:rPr lang="en-US" sz="1200" dirty="0"/>
              <a:t>(1 of 7)</a:t>
            </a:r>
            <a:endParaRPr lang="en-US" sz="1300" dirty="0"/>
          </a:p>
        </p:txBody>
      </p:sp>
      <p:sp>
        <p:nvSpPr>
          <p:cNvPr id="3" name="Text Placeholder 2"/>
          <p:cNvSpPr>
            <a:spLocks noGrp="1"/>
          </p:cNvSpPr>
          <p:nvPr>
            <p:ph idx="1"/>
          </p:nvPr>
        </p:nvSpPr>
        <p:spPr>
          <a:xfrm>
            <a:off x="609600" y="1857781"/>
            <a:ext cx="10972800" cy="4525963"/>
          </a:xfrm>
        </p:spPr>
        <p:txBody>
          <a:bodyPr>
            <a:normAutofit/>
          </a:bodyPr>
          <a:lstStyle/>
          <a:p>
            <a:pPr marL="1371600" indent="-1371600">
              <a:lnSpc>
                <a:spcPct val="110000"/>
              </a:lnSpc>
              <a:buNone/>
            </a:pPr>
            <a:r>
              <a:rPr lang="en-US" dirty="0"/>
              <a:t>12.1.1  Describe the history of coca and cocaine use beginning in South America and later reaching the Western world.</a:t>
            </a:r>
          </a:p>
          <a:p>
            <a:pPr marL="1371600" indent="-1371600">
              <a:lnSpc>
                <a:spcPct val="110000"/>
              </a:lnSpc>
              <a:buNone/>
            </a:pPr>
            <a:r>
              <a:rPr lang="en-US" dirty="0"/>
              <a:t>12.1.2  Discuss the basic pharmacology of cocaine, including its different chemical forms and routes of administration.</a:t>
            </a:r>
          </a:p>
          <a:p>
            <a:pPr marL="1371600" indent="-1371600">
              <a:lnSpc>
                <a:spcPct val="110000"/>
              </a:lnSpc>
              <a:buNone/>
            </a:pPr>
            <a:r>
              <a:rPr lang="en-US" dirty="0"/>
              <a:t>12.1.3  Describe cocaine’s mechanisms of action, particularly with respect to relevant neurotransmitter systems. </a:t>
            </a:r>
          </a:p>
        </p:txBody>
      </p:sp>
    </p:spTree>
    <p:extLst>
      <p:ext uri="{BB962C8B-B14F-4D97-AF65-F5344CB8AC3E}">
        <p14:creationId xmlns:p14="http://schemas.microsoft.com/office/powerpoint/2010/main" val="599108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(1 of 8)</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Cocaine stimulates mood and behavior</a:t>
            </a:r>
          </a:p>
          <a:p>
            <a:pPr>
              <a:spcBef>
                <a:spcPts val="1200"/>
              </a:spcBef>
            </a:pPr>
            <a:r>
              <a:rPr lang="en-US" dirty="0"/>
              <a:t>The cocaine high: feelings of exhilaration, euphoria, well-being, heightened energy, and self-confidence</a:t>
            </a:r>
          </a:p>
          <a:p>
            <a:pPr>
              <a:spcBef>
                <a:spcPts val="1200"/>
              </a:spcBef>
            </a:pPr>
            <a:r>
              <a:rPr lang="en-US" dirty="0"/>
              <a:t>Smoked or IV cocaine also causes a “rush”</a:t>
            </a:r>
          </a:p>
          <a:p>
            <a:pPr>
              <a:spcBef>
                <a:spcPts val="1200"/>
              </a:spcBef>
            </a:pPr>
            <a:r>
              <a:rPr lang="en-US" dirty="0"/>
              <a:t>Many positive characteristics that may contribute to its reinforcing properties become negative or aversive with higher dose and duration</a:t>
            </a:r>
          </a:p>
        </p:txBody>
      </p:sp>
    </p:spTree>
    <p:extLst>
      <p:ext uri="{BB962C8B-B14F-4D97-AF65-F5344CB8AC3E}">
        <p14:creationId xmlns:p14="http://schemas.microsoft.com/office/powerpoint/2010/main" val="1693872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(2 of 8)</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Cocaine stimulates mood and behavior</a:t>
            </a:r>
          </a:p>
          <a:p>
            <a:pPr>
              <a:spcBef>
                <a:spcPts val="1200"/>
              </a:spcBef>
            </a:pPr>
            <a:r>
              <a:rPr lang="en-US" dirty="0"/>
              <a:t>As dose is increased in animal models, behaviors become focused stereotypies; humans may also exhibit motor stereotypies</a:t>
            </a:r>
          </a:p>
          <a:p>
            <a:pPr>
              <a:spcBef>
                <a:spcPts val="1200"/>
              </a:spcBef>
            </a:pPr>
            <a:r>
              <a:rPr lang="en-US" dirty="0"/>
              <a:t>Animal studies underscore cocaine’s powerful reinforcing properties, but when cocaine is pitted against an alternative reinforcer, preference for the drug in both monkeys and humans depends on the relative magnitude of each reinforcer</a:t>
            </a:r>
          </a:p>
        </p:txBody>
      </p:sp>
    </p:spTree>
    <p:extLst>
      <p:ext uri="{BB962C8B-B14F-4D97-AF65-F5344CB8AC3E}">
        <p14:creationId xmlns:p14="http://schemas.microsoft.com/office/powerpoint/2010/main" val="3300370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(3 of 8)</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Cocaine’s physiological effects are mediated by the sympathetic nervous system</a:t>
            </a:r>
          </a:p>
          <a:p>
            <a:pPr>
              <a:spcBef>
                <a:spcPts val="1200"/>
              </a:spcBef>
            </a:pPr>
            <a:r>
              <a:rPr lang="en-US" b="1" dirty="0"/>
              <a:t>Sympathomimetic</a:t>
            </a:r>
            <a:r>
              <a:rPr lang="en-US" dirty="0"/>
              <a:t>: physiological effects include </a:t>
            </a:r>
            <a:r>
              <a:rPr lang="en-US" altLang="en-US" dirty="0">
                <a:ea typeface="Geneva" pitchFamily="121" charset="-128"/>
              </a:rPr>
              <a:t>increased heart rate, vasoconstriction, hypertension, hyperthermia</a:t>
            </a:r>
          </a:p>
          <a:p>
            <a:pPr>
              <a:spcBef>
                <a:spcPts val="1200"/>
              </a:spcBef>
            </a:pPr>
            <a:r>
              <a:rPr lang="en-US" altLang="en-US" dirty="0">
                <a:ea typeface="Geneva" pitchFamily="121" charset="-128"/>
              </a:rPr>
              <a:t>Psychological/behavioral symptoms can include agitation, mania, paranoia, and a state of delirium</a:t>
            </a:r>
          </a:p>
          <a:p>
            <a:pPr>
              <a:spcBef>
                <a:spcPts val="1200"/>
              </a:spcBef>
            </a:pPr>
            <a:r>
              <a:rPr lang="en-US" dirty="0">
                <a:ea typeface="Geneva" pitchFamily="121" charset="-128"/>
              </a:rPr>
              <a:t>High doses can be fatal: </a:t>
            </a:r>
            <a:r>
              <a:rPr lang="en-US" altLang="en-US" dirty="0">
                <a:ea typeface="Geneva" pitchFamily="121" charset="-128"/>
              </a:rPr>
              <a:t>seizures, heart failure, stroke, intracranial hemorrhage</a:t>
            </a:r>
            <a:endParaRPr lang="en-US" dirty="0">
              <a:ea typeface="Geneva" pitchFamily="121" charset="-128"/>
            </a:endParaRPr>
          </a:p>
        </p:txBody>
      </p:sp>
    </p:spTree>
    <p:extLst>
      <p:ext uri="{BB962C8B-B14F-4D97-AF65-F5344CB8AC3E}">
        <p14:creationId xmlns:p14="http://schemas.microsoft.com/office/powerpoint/2010/main" val="3271094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(4 of 8)</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Dopaminergic pathways from the midbrain to the striatum are critical for the behavioral effects of cocaine and other psychostimulants</a:t>
            </a:r>
          </a:p>
          <a:p>
            <a:pPr>
              <a:spcBef>
                <a:spcPts val="1200"/>
              </a:spcBef>
            </a:pPr>
            <a:r>
              <a:rPr lang="en-US" altLang="en-US" dirty="0">
                <a:ea typeface="Geneva" pitchFamily="121" charset="-128"/>
              </a:rPr>
              <a:t>DA plays the most important role in mediating behavioral responses to psychostimulant drugs</a:t>
            </a:r>
          </a:p>
          <a:p>
            <a:pPr>
              <a:spcBef>
                <a:spcPts val="1200"/>
              </a:spcBef>
            </a:pPr>
            <a:r>
              <a:rPr lang="en-US" altLang="en-US" dirty="0">
                <a:ea typeface="Geneva" pitchFamily="121" charset="-128"/>
              </a:rPr>
              <a:t>Especially relevant: dopaminergic projections from the midbrain (substantia nigra and VTA) to the striatum and </a:t>
            </a:r>
            <a:r>
              <a:rPr lang="en-US" altLang="en-US" dirty="0" err="1">
                <a:ea typeface="Geneva" pitchFamily="121" charset="-128"/>
              </a:rPr>
              <a:t>NAcc</a:t>
            </a:r>
            <a:endParaRPr lang="en-US" altLang="en-US" dirty="0">
              <a:ea typeface="Geneva" pitchFamily="121" charset="-128"/>
            </a:endParaRPr>
          </a:p>
          <a:p>
            <a:pPr>
              <a:spcBef>
                <a:spcPts val="1200"/>
              </a:spcBef>
            </a:pPr>
            <a:r>
              <a:rPr lang="en-US" altLang="en-US" dirty="0">
                <a:ea typeface="Geneva" pitchFamily="121" charset="-128"/>
              </a:rPr>
              <a:t>Numerous microinjection and lesion studies have been done to illustrate the involvement of these DA systems</a:t>
            </a:r>
          </a:p>
        </p:txBody>
      </p:sp>
    </p:spTree>
    <p:extLst>
      <p:ext uri="{BB962C8B-B14F-4D97-AF65-F5344CB8AC3E}">
        <p14:creationId xmlns:p14="http://schemas.microsoft.com/office/powerpoint/2010/main" val="1034152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(5 of 8)</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Dopaminergic pathways from the midbrain to the striatum are critical for the behavioral effects of cocaine and other psychostimulants</a:t>
            </a:r>
          </a:p>
          <a:p>
            <a:r>
              <a:rPr lang="en-US" altLang="en-US" dirty="0" err="1">
                <a:ea typeface="Geneva" pitchFamily="121" charset="-128"/>
              </a:rPr>
              <a:t>NAcc</a:t>
            </a:r>
            <a:r>
              <a:rPr lang="en-US" altLang="en-US" dirty="0">
                <a:ea typeface="Geneva" pitchFamily="121" charset="-128"/>
              </a:rPr>
              <a:t> DA is implicated in cocaine reward using paradigms that test for </a:t>
            </a:r>
            <a:r>
              <a:rPr lang="en-US" altLang="en-US" b="1" dirty="0">
                <a:ea typeface="Geneva" pitchFamily="121" charset="-128"/>
              </a:rPr>
              <a:t>drug-seeking behavior</a:t>
            </a:r>
            <a:r>
              <a:rPr lang="en-US" altLang="en-US" dirty="0">
                <a:ea typeface="Geneva" pitchFamily="121" charset="-128"/>
              </a:rPr>
              <a:t> as a model of relapse.</a:t>
            </a:r>
          </a:p>
          <a:p>
            <a:r>
              <a:rPr lang="en-US" altLang="en-US" dirty="0">
                <a:ea typeface="Geneva" pitchFamily="121" charset="-128"/>
              </a:rPr>
              <a:t>Reinstatement of cocaine-seeking behavior in previously extinguished rats can be stimulated by microinjection of DA receptor agonists directly into the </a:t>
            </a:r>
            <a:r>
              <a:rPr lang="en-US" altLang="en-US" dirty="0" err="1">
                <a:ea typeface="Geneva" pitchFamily="121" charset="-128"/>
              </a:rPr>
              <a:t>NAcc</a:t>
            </a:r>
            <a:r>
              <a:rPr lang="en-US" altLang="en-US" dirty="0">
                <a:ea typeface="Geneva" pitchFamily="121" charset="-128"/>
              </a:rPr>
              <a:t>.</a:t>
            </a:r>
            <a:endParaRPr lang="en-US" dirty="0"/>
          </a:p>
        </p:txBody>
      </p:sp>
    </p:spTree>
    <p:extLst>
      <p:ext uri="{BB962C8B-B14F-4D97-AF65-F5344CB8AC3E}">
        <p14:creationId xmlns:p14="http://schemas.microsoft.com/office/powerpoint/2010/main" val="34581099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(6 of 8)</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Brain imaging has revealed the neural mechanisms of psychostimulant action in humans</a:t>
            </a:r>
          </a:p>
          <a:p>
            <a:pPr>
              <a:spcBef>
                <a:spcPts val="1200"/>
              </a:spcBef>
            </a:pPr>
            <a:r>
              <a:rPr lang="en-US" altLang="en-US" dirty="0">
                <a:ea typeface="Geneva" pitchFamily="121" charset="-128"/>
              </a:rPr>
              <a:t>PET imaging estimates DAT occupancy by cocaine or methylphenidate.</a:t>
            </a:r>
          </a:p>
          <a:p>
            <a:pPr>
              <a:spcBef>
                <a:spcPts val="1200"/>
              </a:spcBef>
            </a:pPr>
            <a:r>
              <a:rPr lang="en-US" altLang="en-US" dirty="0">
                <a:ea typeface="Geneva" pitchFamily="121" charset="-128"/>
              </a:rPr>
              <a:t>Once a certain minimum level of DAT occupancy is attained the subject may experience a drug-induced </a:t>
            </a:r>
            <a:r>
              <a:rPr lang="en-US" altLang="ja-JP" dirty="0">
                <a:ea typeface="Geneva" pitchFamily="121" charset="-128"/>
              </a:rPr>
              <a:t>high </a:t>
            </a:r>
          </a:p>
          <a:p>
            <a:pPr lvl="1">
              <a:spcBef>
                <a:spcPts val="1200"/>
              </a:spcBef>
            </a:pPr>
            <a:r>
              <a:rPr lang="en-US" altLang="ja-JP" dirty="0">
                <a:ea typeface="Geneva" pitchFamily="121" charset="-128"/>
              </a:rPr>
              <a:t>Smoking or IV – cocaine reaches brain faster and rate of transporter occupation is faster than for oral or intranasal routes</a:t>
            </a:r>
          </a:p>
          <a:p>
            <a:pPr>
              <a:spcBef>
                <a:spcPts val="1200"/>
              </a:spcBef>
            </a:pPr>
            <a:r>
              <a:rPr lang="en-US" altLang="en-US" dirty="0">
                <a:ea typeface="Geneva" pitchFamily="121" charset="-128"/>
              </a:rPr>
              <a:t>Individuals vary in sensitivity to psychostimulants; may be due to different levels of baseline DA or DAT levels</a:t>
            </a:r>
          </a:p>
        </p:txBody>
      </p:sp>
    </p:spTree>
    <p:extLst>
      <p:ext uri="{BB962C8B-B14F-4D97-AF65-F5344CB8AC3E}">
        <p14:creationId xmlns:p14="http://schemas.microsoft.com/office/powerpoint/2010/main" val="632636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Acute Behavioral and Physiological Effects of Cocaine </a:t>
            </a:r>
            <a:r>
              <a:rPr lang="en-US" sz="1200" dirty="0"/>
              <a:t>(7 of 8)</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Several DA receptor subtypes mediate the functional effects of psychostimulants</a:t>
            </a:r>
          </a:p>
          <a:p>
            <a:pPr>
              <a:spcBef>
                <a:spcPts val="1200"/>
              </a:spcBef>
            </a:pPr>
            <a:r>
              <a:rPr lang="en-US" dirty="0"/>
              <a:t>Receptor-specific antagonists are used to study the roles of different DA receptor subtypes</a:t>
            </a:r>
          </a:p>
          <a:p>
            <a:pPr>
              <a:spcBef>
                <a:spcPts val="1200"/>
              </a:spcBef>
            </a:pPr>
            <a:r>
              <a:rPr lang="en-US" dirty="0"/>
              <a:t>Studies using DA receptor knockout mice show that D</a:t>
            </a:r>
            <a:r>
              <a:rPr lang="en-US" baseline="-25000" dirty="0"/>
              <a:t>1</a:t>
            </a:r>
            <a:r>
              <a:rPr lang="en-US" dirty="0"/>
              <a:t> receptors are required for </a:t>
            </a:r>
            <a:r>
              <a:rPr lang="en-US" dirty="0" err="1"/>
              <a:t>locomoter</a:t>
            </a:r>
            <a:r>
              <a:rPr lang="en-US" dirty="0"/>
              <a:t>-stimulating effects</a:t>
            </a:r>
          </a:p>
          <a:p>
            <a:pPr>
              <a:spcBef>
                <a:spcPts val="1200"/>
              </a:spcBef>
            </a:pPr>
            <a:r>
              <a:rPr lang="en-US" dirty="0"/>
              <a:t>D</a:t>
            </a:r>
            <a:r>
              <a:rPr lang="en-US" baseline="-25000" dirty="0"/>
              <a:t>1</a:t>
            </a:r>
            <a:r>
              <a:rPr lang="en-US" dirty="0"/>
              <a:t> knockout mice don’t self-administer cocaine, suggesting a critical role for this receptor in reinforcement</a:t>
            </a:r>
          </a:p>
          <a:p>
            <a:pPr>
              <a:spcBef>
                <a:spcPts val="1200"/>
              </a:spcBef>
            </a:pPr>
            <a:r>
              <a:rPr lang="en-US" dirty="0"/>
              <a:t>D</a:t>
            </a:r>
            <a:r>
              <a:rPr lang="en-US" baseline="-25000" dirty="0"/>
              <a:t>2</a:t>
            </a:r>
            <a:r>
              <a:rPr lang="en-US" dirty="0"/>
              <a:t> and D</a:t>
            </a:r>
            <a:r>
              <a:rPr lang="en-US" baseline="-25000" dirty="0"/>
              <a:t>3</a:t>
            </a:r>
            <a:r>
              <a:rPr lang="en-US" dirty="0"/>
              <a:t> do self-administer, but with differences from wild-type mice; suggests a contribution to reinforcement</a:t>
            </a:r>
          </a:p>
        </p:txBody>
      </p:sp>
    </p:spTree>
    <p:extLst>
      <p:ext uri="{BB962C8B-B14F-4D97-AF65-F5344CB8AC3E}">
        <p14:creationId xmlns:p14="http://schemas.microsoft.com/office/powerpoint/2010/main" val="38014880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Acute Behavioral and Physiological Effects of Cocaine </a:t>
            </a:r>
            <a:r>
              <a:rPr lang="en-US" sz="1200" dirty="0"/>
              <a:t>(8 of 8)</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sz="3200" dirty="0"/>
              <a:t>What is the main mode of action of cocaine?</a:t>
            </a:r>
          </a:p>
          <a:p>
            <a:pPr marL="914400" indent="-457200">
              <a:spcBef>
                <a:spcPts val="1200"/>
              </a:spcBef>
              <a:buFont typeface="Arial" pitchFamily="34" charset="0"/>
              <a:buAutoNum type="alphaLcPeriod"/>
            </a:pPr>
            <a:r>
              <a:rPr lang="en-US" sz="3200" dirty="0"/>
              <a:t>Acts as a DA receptor antagonist</a:t>
            </a:r>
          </a:p>
          <a:p>
            <a:pPr marL="914400" indent="-457200">
              <a:spcBef>
                <a:spcPts val="1200"/>
              </a:spcBef>
              <a:buFont typeface="Arial" pitchFamily="34" charset="0"/>
              <a:buAutoNum type="alphaLcPeriod"/>
            </a:pPr>
            <a:r>
              <a:rPr lang="en-US" sz="3200" dirty="0"/>
              <a:t>Blocks reuptake of DA</a:t>
            </a:r>
          </a:p>
          <a:p>
            <a:pPr marL="914400" indent="-457200">
              <a:spcBef>
                <a:spcPts val="1200"/>
              </a:spcBef>
              <a:buFont typeface="Arial" pitchFamily="34" charset="0"/>
              <a:buAutoNum type="alphaLcPeriod"/>
            </a:pPr>
            <a:r>
              <a:rPr lang="en-US" sz="3200" dirty="0"/>
              <a:t>Inhibits dopamine β-hydroxylase</a:t>
            </a:r>
          </a:p>
        </p:txBody>
      </p:sp>
    </p:spTree>
    <p:extLst>
      <p:ext uri="{BB962C8B-B14F-4D97-AF65-F5344CB8AC3E}">
        <p14:creationId xmlns:p14="http://schemas.microsoft.com/office/powerpoint/2010/main" val="22446861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7)</a:t>
            </a:r>
            <a:endParaRPr lang="en-US" dirty="0"/>
          </a:p>
        </p:txBody>
      </p:sp>
      <p:sp>
        <p:nvSpPr>
          <p:cNvPr id="3" name="Text Placeholder 2"/>
          <p:cNvSpPr>
            <a:spLocks noGrp="1"/>
          </p:cNvSpPr>
          <p:nvPr>
            <p:ph idx="1"/>
          </p:nvPr>
        </p:nvSpPr>
        <p:spPr>
          <a:xfrm>
            <a:off x="609600" y="1857781"/>
            <a:ext cx="10972800" cy="4525963"/>
          </a:xfrm>
        </p:spPr>
        <p:txBody>
          <a:bodyPr>
            <a:normAutofit/>
          </a:bodyPr>
          <a:lstStyle/>
          <a:p>
            <a:pPr marL="1371600" indent="-1371600">
              <a:lnSpc>
                <a:spcPct val="110000"/>
              </a:lnSpc>
              <a:buNone/>
            </a:pPr>
            <a:r>
              <a:rPr lang="en-US" dirty="0"/>
              <a:t>12.2.1  Describe (a) the behavioral and psychological effects of differing doses of cocaine, and (b) cocaine’s physiological effects that are mediated by the sympathetic nervous system.</a:t>
            </a:r>
          </a:p>
          <a:p>
            <a:pPr marL="1371600" indent="-1371600">
              <a:lnSpc>
                <a:spcPct val="110000"/>
              </a:lnSpc>
              <a:buNone/>
            </a:pPr>
            <a:r>
              <a:rPr lang="en-US" dirty="0"/>
              <a:t>12.2.2  Discuss the evidence supporting a key role for DA in the behavioral effects of cocaine and other psychostimulants, including both preclinical animal studies and brain imaging studies in humans.</a:t>
            </a:r>
          </a:p>
          <a:p>
            <a:pPr marL="1371600" indent="-1371600">
              <a:lnSpc>
                <a:spcPct val="110000"/>
              </a:lnSpc>
              <a:buNone/>
            </a:pPr>
            <a:r>
              <a:rPr lang="en-US" dirty="0"/>
              <a:t>12.2.3  Discuss the involvement of DA receptor subtypes in mediating the functional effects of psychostimulants.</a:t>
            </a:r>
          </a:p>
        </p:txBody>
      </p:sp>
    </p:spTree>
    <p:extLst>
      <p:ext uri="{BB962C8B-B14F-4D97-AF65-F5344CB8AC3E}">
        <p14:creationId xmlns:p14="http://schemas.microsoft.com/office/powerpoint/2010/main" val="3600151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(1 of 10)</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Experimental cocaine use may escalate over time to the development of a cocaine use disorder</a:t>
            </a:r>
          </a:p>
          <a:p>
            <a:pPr>
              <a:spcBef>
                <a:spcPts val="1200"/>
              </a:spcBef>
            </a:pPr>
            <a:r>
              <a:rPr lang="en-US" dirty="0"/>
              <a:t>Most individuals who try cocaine don’t progress to misuse</a:t>
            </a:r>
          </a:p>
          <a:p>
            <a:pPr>
              <a:spcBef>
                <a:spcPts val="1200"/>
              </a:spcBef>
            </a:pPr>
            <a:r>
              <a:rPr lang="en-US" altLang="en-US" dirty="0">
                <a:ea typeface="Geneva" pitchFamily="121" charset="-128"/>
              </a:rPr>
              <a:t>People usually start by snorting; some have a strong anxiety response and don’t</a:t>
            </a:r>
            <a:r>
              <a:rPr lang="en-US" altLang="ja-JP" dirty="0">
                <a:ea typeface="Geneva" pitchFamily="121" charset="-128"/>
              </a:rPr>
              <a:t> try it again</a:t>
            </a:r>
          </a:p>
          <a:p>
            <a:pPr>
              <a:spcBef>
                <a:spcPts val="1200"/>
              </a:spcBef>
            </a:pPr>
            <a:r>
              <a:rPr lang="en-US" altLang="en-US" dirty="0">
                <a:ea typeface="Geneva" pitchFamily="121" charset="-128"/>
              </a:rPr>
              <a:t>Other factors that discourage habitual use: cost and availability, social and legal consequences, fear of addiction</a:t>
            </a:r>
          </a:p>
          <a:p>
            <a:pPr>
              <a:spcBef>
                <a:spcPts val="1200"/>
              </a:spcBef>
            </a:pPr>
            <a:r>
              <a:rPr lang="en-US" altLang="en-US" dirty="0">
                <a:ea typeface="Geneva" pitchFamily="121" charset="-128"/>
              </a:rPr>
              <a:t>Progression to cocaine use disorder: amount of cocaine use escalates, user usually switches from snorting to crack, freebasing or IV injection </a:t>
            </a:r>
          </a:p>
        </p:txBody>
      </p:sp>
    </p:spTree>
    <p:extLst>
      <p:ext uri="{BB962C8B-B14F-4D97-AF65-F5344CB8AC3E}">
        <p14:creationId xmlns:p14="http://schemas.microsoft.com/office/powerpoint/2010/main" val="877170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(2 of 10)</a:t>
            </a:r>
            <a:endParaRPr lang="en-US" dirty="0"/>
          </a:p>
        </p:txBody>
      </p:sp>
      <p:sp>
        <p:nvSpPr>
          <p:cNvPr id="3" name="Text Placeholder 2"/>
          <p:cNvSpPr>
            <a:spLocks noGrp="1"/>
          </p:cNvSpPr>
          <p:nvPr>
            <p:ph idx="1"/>
          </p:nvPr>
        </p:nvSpPr>
        <p:spPr>
          <a:xfrm>
            <a:off x="609600" y="1727152"/>
            <a:ext cx="10972800" cy="4804276"/>
          </a:xfrm>
        </p:spPr>
        <p:txBody>
          <a:bodyPr>
            <a:normAutofit fontScale="92500" lnSpcReduction="10000"/>
          </a:bodyPr>
          <a:lstStyle/>
          <a:p>
            <a:pPr marL="457200" indent="-457200">
              <a:spcBef>
                <a:spcPct val="20000"/>
              </a:spcBef>
              <a:buNone/>
            </a:pPr>
            <a:r>
              <a:rPr lang="en-US" sz="3500" dirty="0"/>
              <a:t>Experimental cocaine use may escalate over time to the development of a cocaine use disorder</a:t>
            </a:r>
          </a:p>
          <a:p>
            <a:pPr>
              <a:spcBef>
                <a:spcPts val="1200"/>
              </a:spcBef>
            </a:pPr>
            <a:r>
              <a:rPr lang="en-US" b="1" dirty="0"/>
              <a:t>Cocaine binges</a:t>
            </a:r>
            <a:r>
              <a:rPr lang="en-US" dirty="0"/>
              <a:t>: episodic bouts of repeated use lasting hours to days with little or no sleep; users suffer withdrawal afterward</a:t>
            </a:r>
          </a:p>
          <a:p>
            <a:pPr>
              <a:spcBef>
                <a:spcPts val="1200"/>
              </a:spcBef>
            </a:pPr>
            <a:r>
              <a:rPr lang="en-US" dirty="0"/>
              <a:t>Factors that may contribute to use disorder: comorbidity with other psychiatric disorders, stress, environment cues, cocaine priming</a:t>
            </a:r>
          </a:p>
          <a:p>
            <a:pPr>
              <a:spcBef>
                <a:spcPts val="1200"/>
              </a:spcBef>
            </a:pPr>
            <a:r>
              <a:rPr lang="en-US" altLang="en-US" b="1" dirty="0">
                <a:ea typeface="Geneva" pitchFamily="121" charset="-128"/>
              </a:rPr>
              <a:t>Incubation</a:t>
            </a:r>
            <a:r>
              <a:rPr lang="en-US" altLang="en-US" dirty="0">
                <a:ea typeface="Geneva" pitchFamily="121" charset="-128"/>
              </a:rPr>
              <a:t> of cocaine craving—craving and relapse increase over time following withdrawal</a:t>
            </a:r>
          </a:p>
          <a:p>
            <a:pPr>
              <a:spcBef>
                <a:spcPts val="1200"/>
              </a:spcBef>
            </a:pPr>
            <a:r>
              <a:rPr lang="en-US" dirty="0"/>
              <a:t>PET imaging: DA release is increased in the striatum, amygdala, hippocampus, and PFC when users are presented with cocaine-related stimuli</a:t>
            </a:r>
          </a:p>
        </p:txBody>
      </p:sp>
    </p:spTree>
    <p:extLst>
      <p:ext uri="{BB962C8B-B14F-4D97-AF65-F5344CB8AC3E}">
        <p14:creationId xmlns:p14="http://schemas.microsoft.com/office/powerpoint/2010/main" val="488115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34F09-3616-EB4D-9A05-A5AB7F2EAA37}"/>
              </a:ext>
            </a:extLst>
          </p:cNvPr>
          <p:cNvSpPr>
            <a:spLocks noGrp="1"/>
          </p:cNvSpPr>
          <p:nvPr>
            <p:ph type="title"/>
          </p:nvPr>
        </p:nvSpPr>
        <p:spPr/>
        <p:txBody>
          <a:bodyPr/>
          <a:lstStyle/>
          <a:p>
            <a:r>
              <a:rPr lang="en-US" cap="all" dirty="0"/>
              <a:t>FIGURE 12.10</a:t>
            </a:r>
            <a:r>
              <a:rPr lang="en-US" dirty="0"/>
              <a:t>  Relationship between striatal DA release and craving elicited by exposure to cocaine-related visual stimuli </a:t>
            </a:r>
          </a:p>
        </p:txBody>
      </p:sp>
      <p:pic>
        <p:nvPicPr>
          <p:cNvPr id="6" name="Content Placeholder 5" descr="A scatterplot of binding ratios in caudate nucleus. The horizontal axis represents the change in craving values between minus 0.5 and 2.5. The vertical axis represents change in B max over K d in percentages ranging from 30 and minus 40. The approximate data is as follows. A vertical line begins at (20, minus 0.5) and extends toward (minus 40, 1.7). The majority of values lie scattered above the line. A few points lie below the line.&#10;&#10;A scatterplot of binding ratios in putamen. The horizontal axis represents the change in craving values between minus 0.5 and 2.5. The vertical axis represents change in B max over K d in percentages ranging from 20 and minus 40. The approximate data is as follows. A vertical line begins at (15, minus 0.5) and extends toward (minus 40, 1.7). The majority of values lie scattered below the line. A few points scatter above the lin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29891"/>
            <a:ext cx="11376025" cy="5999855"/>
          </a:xfrm>
        </p:spPr>
      </p:pic>
    </p:spTree>
    <p:extLst>
      <p:ext uri="{BB962C8B-B14F-4D97-AF65-F5344CB8AC3E}">
        <p14:creationId xmlns:p14="http://schemas.microsoft.com/office/powerpoint/2010/main" val="2417544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(3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Chronic cocaine exposure leads to significant neurobiological and behavioral changes</a:t>
            </a:r>
          </a:p>
          <a:p>
            <a:pPr>
              <a:spcBef>
                <a:spcPts val="1200"/>
              </a:spcBef>
            </a:pPr>
            <a:r>
              <a:rPr lang="en-US" dirty="0"/>
              <a:t>Brain imaging studies show reduced striatal dopaminergic activity in drug users</a:t>
            </a:r>
          </a:p>
          <a:p>
            <a:pPr>
              <a:spcBef>
                <a:spcPts val="1200"/>
              </a:spcBef>
            </a:pPr>
            <a:r>
              <a:rPr lang="en-US" dirty="0"/>
              <a:t>The findings demonstrate down-regulation of dopaminergic activity with chronic use of cocaine and other psychostimulants; such down-regulation would be expected to result in tolerance</a:t>
            </a:r>
          </a:p>
        </p:txBody>
      </p:sp>
    </p:spTree>
    <p:extLst>
      <p:ext uri="{BB962C8B-B14F-4D97-AF65-F5344CB8AC3E}">
        <p14:creationId xmlns:p14="http://schemas.microsoft.com/office/powerpoint/2010/main" val="550260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30E66-D118-6444-BD11-105A2FD92286}"/>
              </a:ext>
            </a:extLst>
          </p:cNvPr>
          <p:cNvSpPr>
            <a:spLocks noGrp="1"/>
          </p:cNvSpPr>
          <p:nvPr>
            <p:ph type="title"/>
          </p:nvPr>
        </p:nvSpPr>
        <p:spPr/>
        <p:txBody>
          <a:bodyPr/>
          <a:lstStyle/>
          <a:p>
            <a:r>
              <a:rPr lang="en-US" cap="all" dirty="0"/>
              <a:t>FIGURE 12.11</a:t>
            </a:r>
            <a:r>
              <a:rPr lang="en-US" dirty="0"/>
              <a:t>  Summary of altered striatal dopaminergic markers in chronic psychostimulant users compared to non-using controls </a:t>
            </a:r>
          </a:p>
        </p:txBody>
      </p:sp>
      <p:pic>
        <p:nvPicPr>
          <p:cNvPr id="6" name="Content Placeholder 5" descr="An illustration depicts the association of vesicular monoamine transporter in chronic psychostimulant users. V M A T 2 transports D A from the cytoplasmic space into synaptic vesicles within presynaptic terminals. A large group of postsynaptic receptors line in the neuromuscular junctions.&#10;&#10;An illustration depicts the effect of dopamine markers in psychostimulant users. The level of D A and postsynaptic receptors is comparatively lesser."/>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959761"/>
            <a:ext cx="11376025" cy="5525854"/>
          </a:xfrm>
        </p:spPr>
      </p:pic>
    </p:spTree>
    <p:extLst>
      <p:ext uri="{BB962C8B-B14F-4D97-AF65-F5344CB8AC3E}">
        <p14:creationId xmlns:p14="http://schemas.microsoft.com/office/powerpoint/2010/main" val="9089023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(4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Chronic cocaine exposure leads to significant neurobiological and behavioral changes</a:t>
            </a:r>
          </a:p>
          <a:p>
            <a:pPr>
              <a:spcBef>
                <a:spcPts val="1200"/>
              </a:spcBef>
            </a:pPr>
            <a:r>
              <a:rPr lang="en-US" dirty="0"/>
              <a:t>Psychostimulants can produce both </a:t>
            </a:r>
            <a:r>
              <a:rPr lang="en-US" b="1" dirty="0"/>
              <a:t>tolerance</a:t>
            </a:r>
            <a:r>
              <a:rPr lang="en-US" dirty="0"/>
              <a:t> and </a:t>
            </a:r>
            <a:r>
              <a:rPr lang="en-US" b="1" dirty="0"/>
              <a:t>sensitization</a:t>
            </a:r>
            <a:r>
              <a:rPr lang="en-US" dirty="0"/>
              <a:t>; depends on pattern of drug exposure, response that’s being measured, and time since last dose.</a:t>
            </a:r>
          </a:p>
          <a:p>
            <a:pPr>
              <a:spcBef>
                <a:spcPts val="1200"/>
              </a:spcBef>
            </a:pPr>
            <a:r>
              <a:rPr lang="en-US" dirty="0"/>
              <a:t>Two phases of sensitization: </a:t>
            </a:r>
            <a:r>
              <a:rPr lang="en-US" b="1" dirty="0"/>
              <a:t>induction</a:t>
            </a:r>
            <a:r>
              <a:rPr lang="en-US" dirty="0"/>
              <a:t> and </a:t>
            </a:r>
            <a:r>
              <a:rPr lang="en-US" b="1" dirty="0"/>
              <a:t>expression</a:t>
            </a:r>
            <a:r>
              <a:rPr lang="en-US" dirty="0"/>
              <a:t>; between the two phases (</a:t>
            </a:r>
            <a:r>
              <a:rPr lang="en-US" altLang="en-US" dirty="0">
                <a:ea typeface="Geneva" pitchFamily="121" charset="-128"/>
              </a:rPr>
              <a:t>after last drug dose), sensitization can increase in strength as a result of ongoing neurochemical changes in the brain.</a:t>
            </a:r>
            <a:endParaRPr lang="en-US" dirty="0"/>
          </a:p>
        </p:txBody>
      </p:sp>
    </p:spTree>
    <p:extLst>
      <p:ext uri="{BB962C8B-B14F-4D97-AF65-F5344CB8AC3E}">
        <p14:creationId xmlns:p14="http://schemas.microsoft.com/office/powerpoint/2010/main" val="4016880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685" y="274638"/>
            <a:ext cx="11582400" cy="1143000"/>
          </a:xfrm>
        </p:spPr>
        <p:txBody>
          <a:bodyPr/>
          <a:lstStyle/>
          <a:p>
            <a:r>
              <a:rPr lang="en-US" dirty="0"/>
              <a:t>Cocaine Use and the Effects of Chronic Cocaine Exposure </a:t>
            </a:r>
            <a:r>
              <a:rPr lang="en-US" sz="1200" dirty="0"/>
              <a:t>(5 of 10)</a:t>
            </a:r>
            <a:endParaRPr lang="en-US" dirty="0"/>
          </a:p>
        </p:txBody>
      </p:sp>
      <p:sp>
        <p:nvSpPr>
          <p:cNvPr id="3" name="Text Placeholder 2"/>
          <p:cNvSpPr>
            <a:spLocks noGrp="1"/>
          </p:cNvSpPr>
          <p:nvPr>
            <p:ph idx="1"/>
          </p:nvPr>
        </p:nvSpPr>
        <p:spPr/>
        <p:txBody>
          <a:bodyPr>
            <a:normAutofit fontScale="85000" lnSpcReduction="10000"/>
          </a:bodyPr>
          <a:lstStyle/>
          <a:p>
            <a:pPr marL="0" indent="0">
              <a:spcBef>
                <a:spcPts val="1800"/>
              </a:spcBef>
              <a:buNone/>
            </a:pPr>
            <a:r>
              <a:rPr lang="en-US" sz="2600" u="sng" dirty="0"/>
              <a:t>BOX 12.1  THE CUTTING EDGE</a:t>
            </a:r>
          </a:p>
          <a:p>
            <a:pPr marL="0" indent="0">
              <a:buNone/>
            </a:pPr>
            <a:r>
              <a:rPr lang="en-US" sz="3500" i="1" dirty="0"/>
              <a:t>Neurochemical Mechanisms of Cocaine Tolerance and Sensitization</a:t>
            </a:r>
            <a:endParaRPr lang="en-GB" sz="3500" i="1" dirty="0"/>
          </a:p>
          <a:p>
            <a:pPr>
              <a:spcBef>
                <a:spcPts val="1800"/>
              </a:spcBef>
            </a:pPr>
            <a:r>
              <a:rPr lang="en-US" dirty="0"/>
              <a:t>Long-access self-administering rats (constant high brain cocaine levels) show molecular adaptations in </a:t>
            </a:r>
            <a:r>
              <a:rPr lang="en-US" dirty="0" err="1"/>
              <a:t>NAcc</a:t>
            </a:r>
            <a:r>
              <a:rPr lang="en-US" dirty="0"/>
              <a:t> dopaminergic nerves and behavioral tolerance</a:t>
            </a:r>
          </a:p>
          <a:p>
            <a:pPr>
              <a:spcBef>
                <a:spcPts val="1800"/>
              </a:spcBef>
            </a:pPr>
            <a:r>
              <a:rPr lang="en-US" dirty="0"/>
              <a:t>Intermittent access self-administration (repeated spikes in brain cocaine) leads to increased potency of cocaine to inhibit DA uptake and behavioral sensitization</a:t>
            </a:r>
          </a:p>
          <a:p>
            <a:pPr>
              <a:spcBef>
                <a:spcPts val="1800"/>
              </a:spcBef>
            </a:pPr>
            <a:r>
              <a:rPr lang="en-US" dirty="0"/>
              <a:t>There is also evidence for rapid sensitization of the mesolimbic DA pathway produced by a single drug exposure</a:t>
            </a:r>
          </a:p>
        </p:txBody>
      </p:sp>
    </p:spTree>
    <p:extLst>
      <p:ext uri="{BB962C8B-B14F-4D97-AF65-F5344CB8AC3E}">
        <p14:creationId xmlns:p14="http://schemas.microsoft.com/office/powerpoint/2010/main" val="507450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2A5F-1F58-B741-A94F-A2BE3414DFCD}"/>
              </a:ext>
            </a:extLst>
          </p:cNvPr>
          <p:cNvSpPr>
            <a:spLocks noGrp="1"/>
          </p:cNvSpPr>
          <p:nvPr>
            <p:ph type="title"/>
          </p:nvPr>
        </p:nvSpPr>
        <p:spPr/>
        <p:txBody>
          <a:bodyPr/>
          <a:lstStyle/>
          <a:p>
            <a:r>
              <a:rPr lang="en-US" cap="all" dirty="0"/>
              <a:t>Box 12.1  </a:t>
            </a:r>
            <a:r>
              <a:rPr lang="en-US" dirty="0"/>
              <a:t>The Cutting </a:t>
            </a:r>
            <a:r>
              <a:rPr lang="en-GB" dirty="0"/>
              <a:t>Edge: Neurochemical Mechanisms of Cocaine Tolerance and Sensitization</a:t>
            </a:r>
            <a:r>
              <a:rPr lang="en-US" dirty="0"/>
              <a:t> (Part 1)</a:t>
            </a:r>
          </a:p>
        </p:txBody>
      </p:sp>
      <p:pic>
        <p:nvPicPr>
          <p:cNvPr id="8" name="Content Placeholder 7" descr="An illustration depicts a controlled cocaine inhibition mechanism in the plasma membrane resulting in an increased accumulation in extracellular and intracellular D A levels in the cell membrane. At this stage of inhibition, D 2 receptors bind to subregions of the membrane. Cocaine binds to the dopamine transporter and blocks the removal of dopamine from the synapse.&#10;&#10;An illustration depicts the long-term cocaine self-administration resulting in a decreased accumulation in extracellular and intracellular D A levels in the cell membrane. At this stage of inhibition, the count of D 2 receptors becomes less. Cocaine that binds to the dopamine transporter is less effective in inhibiting uptake at the synapse.&#10;&#10;">
            <a:extLst>
              <a:ext uri="{FF2B5EF4-FFF2-40B4-BE49-F238E27FC236}">
                <a16:creationId xmlns:a16="http://schemas.microsoft.com/office/drawing/2014/main" id="{D3142DC7-FFA1-1C48-AFFB-39AEDE771B01}"/>
              </a:ext>
            </a:extLst>
          </p:cNvPr>
          <p:cNvPicPr>
            <a:picLocks noGrp="1" noChangeAspect="1"/>
          </p:cNvPicPr>
          <p:nvPr>
            <p:ph sz="quarter" idx="10"/>
          </p:nvPr>
        </p:nvPicPr>
        <p:blipFill>
          <a:blip r:embed="rId3"/>
          <a:stretch>
            <a:fillRect/>
          </a:stretch>
        </p:blipFill>
        <p:spPr>
          <a:xfrm>
            <a:off x="407988" y="1041524"/>
            <a:ext cx="11376025" cy="5176590"/>
          </a:xfrm>
        </p:spPr>
      </p:pic>
    </p:spTree>
    <p:extLst>
      <p:ext uri="{BB962C8B-B14F-4D97-AF65-F5344CB8AC3E}">
        <p14:creationId xmlns:p14="http://schemas.microsoft.com/office/powerpoint/2010/main" val="3564329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(6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Chronic cocaine exposure leads to significant neurobiological and behavioral changes</a:t>
            </a:r>
          </a:p>
          <a:p>
            <a:pPr>
              <a:spcBef>
                <a:spcPts val="1200"/>
              </a:spcBef>
            </a:pPr>
            <a:r>
              <a:rPr lang="en-US" dirty="0"/>
              <a:t>Individuals with cocaine use disorder show deficits in many cognitive domains; but this is disputed by some researchers</a:t>
            </a:r>
          </a:p>
          <a:p>
            <a:pPr>
              <a:spcBef>
                <a:spcPts val="1200"/>
              </a:spcBef>
            </a:pPr>
            <a:r>
              <a:rPr lang="en-US" dirty="0"/>
              <a:t>Brain imaging shows differences in many brain areas between users and non-users</a:t>
            </a:r>
          </a:p>
          <a:p>
            <a:pPr>
              <a:spcBef>
                <a:spcPts val="1200"/>
              </a:spcBef>
            </a:pPr>
            <a:r>
              <a:rPr lang="en-US" dirty="0"/>
              <a:t>One study: loss of gray matter with increasing age was much greater in the cocaine-dependent group</a:t>
            </a:r>
          </a:p>
        </p:txBody>
      </p:sp>
    </p:spTree>
    <p:extLst>
      <p:ext uri="{BB962C8B-B14F-4D97-AF65-F5344CB8AC3E}">
        <p14:creationId xmlns:p14="http://schemas.microsoft.com/office/powerpoint/2010/main" val="3668480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(7 of 10)</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Repeated or high-dose cocaine use can produce serious health consequences</a:t>
            </a:r>
          </a:p>
          <a:p>
            <a:pPr>
              <a:spcBef>
                <a:spcPts val="1200"/>
              </a:spcBef>
            </a:pPr>
            <a:r>
              <a:rPr lang="en-US" dirty="0"/>
              <a:t>Stroke, seizures, panic attacks, and </a:t>
            </a:r>
            <a:r>
              <a:rPr lang="en-US" altLang="en-US" dirty="0">
                <a:ea typeface="Geneva" pitchFamily="121" charset="-128"/>
              </a:rPr>
              <a:t>temporary paranoid psychosis with delusions and hallucinations</a:t>
            </a:r>
          </a:p>
          <a:p>
            <a:pPr>
              <a:spcBef>
                <a:spcPts val="1200"/>
              </a:spcBef>
            </a:pPr>
            <a:r>
              <a:rPr lang="en-US" dirty="0">
                <a:ea typeface="Geneva" pitchFamily="121" charset="-128"/>
              </a:rPr>
              <a:t>Other organ systems such as cardiovascular, lungs, kidneys, and GI system can be adversely affected</a:t>
            </a:r>
          </a:p>
          <a:p>
            <a:pPr>
              <a:spcBef>
                <a:spcPts val="1200"/>
              </a:spcBef>
            </a:pPr>
            <a:r>
              <a:rPr lang="en-US" altLang="en-US" dirty="0">
                <a:ea typeface="Geneva" pitchFamily="121" charset="-128"/>
              </a:rPr>
              <a:t>Frequent snorting can cause perforation of the nasal septum</a:t>
            </a:r>
          </a:p>
          <a:p>
            <a:pPr>
              <a:spcBef>
                <a:spcPts val="1200"/>
              </a:spcBef>
            </a:pPr>
            <a:r>
              <a:rPr lang="en-US" altLang="en-US" dirty="0">
                <a:ea typeface="Geneva" pitchFamily="121" charset="-128"/>
              </a:rPr>
              <a:t>Cocaine use during pregnancy can result in attention deficits or other behavioral or cognitive abnormalities in the child</a:t>
            </a:r>
          </a:p>
        </p:txBody>
      </p:sp>
    </p:spTree>
    <p:extLst>
      <p:ext uri="{BB962C8B-B14F-4D97-AF65-F5344CB8AC3E}">
        <p14:creationId xmlns:p14="http://schemas.microsoft.com/office/powerpoint/2010/main" val="3365727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(8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Pharmacological, behavioral, and psychosocial methods are used to treat cocaine use disorder</a:t>
            </a:r>
          </a:p>
          <a:p>
            <a:pPr>
              <a:spcBef>
                <a:spcPts val="1200"/>
              </a:spcBef>
            </a:pPr>
            <a:r>
              <a:rPr lang="en-US" dirty="0"/>
              <a:t>Many compounds have been tested as potential medications, but none have been approved for cocaine use disorder</a:t>
            </a:r>
          </a:p>
          <a:p>
            <a:pPr>
              <a:spcBef>
                <a:spcPts val="1200"/>
              </a:spcBef>
            </a:pPr>
            <a:r>
              <a:rPr lang="en-US" dirty="0"/>
              <a:t>Potential options: full or partial DA agonists and psycho-stimulants such as amphetamine, as potential replacement drugs</a:t>
            </a:r>
          </a:p>
          <a:p>
            <a:pPr>
              <a:spcBef>
                <a:spcPts val="1200"/>
              </a:spcBef>
            </a:pPr>
            <a:r>
              <a:rPr lang="en-US" dirty="0"/>
              <a:t>Vaccines: antibodies to bind cocaine molecules, or they may be engineered to break down cocaine in the bloodstream</a:t>
            </a:r>
          </a:p>
        </p:txBody>
      </p:sp>
    </p:spTree>
    <p:extLst>
      <p:ext uri="{BB962C8B-B14F-4D97-AF65-F5344CB8AC3E}">
        <p14:creationId xmlns:p14="http://schemas.microsoft.com/office/powerpoint/2010/main" val="7519710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(9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Pharmacological, behavioral, and psychosocial methods are used to treat cocaine use disorder</a:t>
            </a:r>
          </a:p>
          <a:p>
            <a:pPr>
              <a:spcBef>
                <a:spcPts val="1200"/>
              </a:spcBef>
            </a:pPr>
            <a:r>
              <a:rPr lang="en-US" altLang="en-US" b="1" dirty="0">
                <a:ea typeface="Geneva" pitchFamily="121" charset="-128"/>
              </a:rPr>
              <a:t>Psychosocial treatment programs</a:t>
            </a:r>
            <a:r>
              <a:rPr lang="en-US" altLang="en-US" dirty="0">
                <a:ea typeface="Geneva" pitchFamily="121" charset="-128"/>
              </a:rPr>
              <a:t> involve individual, group, or family counseling</a:t>
            </a:r>
          </a:p>
          <a:p>
            <a:pPr>
              <a:spcBef>
                <a:spcPts val="1200"/>
              </a:spcBef>
            </a:pPr>
            <a:r>
              <a:rPr lang="en-US" b="1" dirty="0"/>
              <a:t>Cognitive behavioral</a:t>
            </a:r>
            <a:r>
              <a:rPr lang="en-US" dirty="0"/>
              <a:t> </a:t>
            </a:r>
            <a:r>
              <a:rPr lang="en-US" b="1" dirty="0"/>
              <a:t>therapy</a:t>
            </a:r>
            <a:r>
              <a:rPr lang="en-US" dirty="0"/>
              <a:t> (</a:t>
            </a:r>
            <a:r>
              <a:rPr lang="en-US" b="1" dirty="0"/>
              <a:t>CBT</a:t>
            </a:r>
            <a:r>
              <a:rPr lang="en-US" dirty="0"/>
              <a:t>) aimed at restructuring cognitive processes and training</a:t>
            </a:r>
          </a:p>
          <a:p>
            <a:pPr>
              <a:spcBef>
                <a:spcPts val="1200"/>
              </a:spcBef>
            </a:pPr>
            <a:r>
              <a:rPr lang="en-US" dirty="0"/>
              <a:t>12-step programs: Narcotics Anonymous, Cocaine Anonymous</a:t>
            </a:r>
          </a:p>
          <a:p>
            <a:pPr>
              <a:spcBef>
                <a:spcPts val="1200"/>
              </a:spcBef>
            </a:pPr>
            <a:r>
              <a:rPr lang="en-US" altLang="en-US" b="1" dirty="0">
                <a:ea typeface="Geneva" pitchFamily="121" charset="-128"/>
              </a:rPr>
              <a:t>Contingency management programs</a:t>
            </a:r>
            <a:endParaRPr lang="en-US" dirty="0"/>
          </a:p>
        </p:txBody>
      </p:sp>
    </p:spTree>
    <p:extLst>
      <p:ext uri="{BB962C8B-B14F-4D97-AF65-F5344CB8AC3E}">
        <p14:creationId xmlns:p14="http://schemas.microsoft.com/office/powerpoint/2010/main" val="3671099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Cocaine Use and the Effects of Chronic Cocaine Exposure </a:t>
            </a:r>
            <a:r>
              <a:rPr lang="en-US" sz="1200" dirty="0"/>
              <a:t>(10 of 10)</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Pharmacological, behavioral, and psychosocial methods are used to treat cocaine use disorder</a:t>
            </a:r>
          </a:p>
          <a:p>
            <a:pPr>
              <a:spcBef>
                <a:spcPts val="1200"/>
              </a:spcBef>
            </a:pPr>
            <a:r>
              <a:rPr lang="en-US" dirty="0"/>
              <a:t>Brain stimulation to alter the brain circuitry underlying drug craving, impulsive drug seeking, etc.</a:t>
            </a:r>
          </a:p>
          <a:p>
            <a:pPr lvl="1">
              <a:spcBef>
                <a:spcPts val="1200"/>
              </a:spcBef>
            </a:pPr>
            <a:r>
              <a:rPr lang="en-US" b="1" dirty="0"/>
              <a:t>Repetitive transcranial magnetic stimulation </a:t>
            </a:r>
            <a:r>
              <a:rPr lang="en-US" dirty="0"/>
              <a:t>(</a:t>
            </a:r>
            <a:r>
              <a:rPr lang="en-US" b="1" dirty="0" err="1"/>
              <a:t>rTMS</a:t>
            </a:r>
            <a:r>
              <a:rPr lang="en-US" dirty="0"/>
              <a:t>)</a:t>
            </a:r>
          </a:p>
          <a:p>
            <a:pPr lvl="1">
              <a:spcBef>
                <a:spcPts val="1200"/>
              </a:spcBef>
            </a:pPr>
            <a:r>
              <a:rPr lang="en-US" b="1" dirty="0"/>
              <a:t>Transcranial direct current stimulation </a:t>
            </a:r>
            <a:r>
              <a:rPr lang="en-US" dirty="0"/>
              <a:t>(</a:t>
            </a:r>
            <a:r>
              <a:rPr lang="en-US" b="1" dirty="0" err="1"/>
              <a:t>tDCS</a:t>
            </a:r>
            <a:r>
              <a:rPr lang="en-US" dirty="0"/>
              <a:t>)</a:t>
            </a:r>
          </a:p>
          <a:p>
            <a:pPr lvl="1">
              <a:spcBef>
                <a:spcPts val="1200"/>
              </a:spcBef>
            </a:pPr>
            <a:r>
              <a:rPr lang="en-US" b="1" dirty="0"/>
              <a:t>Deep brain stimulation </a:t>
            </a:r>
            <a:r>
              <a:rPr lang="en-US" dirty="0"/>
              <a:t>(</a:t>
            </a:r>
            <a:r>
              <a:rPr lang="en-US" b="1" dirty="0"/>
              <a:t>DBS</a:t>
            </a:r>
            <a:r>
              <a:rPr lang="en-US" dirty="0"/>
              <a:t>)</a:t>
            </a:r>
          </a:p>
        </p:txBody>
      </p:sp>
    </p:spTree>
    <p:extLst>
      <p:ext uri="{BB962C8B-B14F-4D97-AF65-F5344CB8AC3E}">
        <p14:creationId xmlns:p14="http://schemas.microsoft.com/office/powerpoint/2010/main" val="2735324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E0C9A-D67E-D547-9B0D-56A1E3B0B888}"/>
              </a:ext>
            </a:extLst>
          </p:cNvPr>
          <p:cNvSpPr>
            <a:spLocks noGrp="1"/>
          </p:cNvSpPr>
          <p:nvPr>
            <p:ph type="title"/>
          </p:nvPr>
        </p:nvSpPr>
        <p:spPr/>
        <p:txBody>
          <a:bodyPr/>
          <a:lstStyle/>
          <a:p>
            <a:r>
              <a:rPr lang="en-US" cap="all" dirty="0"/>
              <a:t>FIGURE 12.12</a:t>
            </a:r>
            <a:r>
              <a:rPr lang="en-US" dirty="0"/>
              <a:t>  Brain stimulation methods being tested for the treatment of substance use disorders </a:t>
            </a:r>
          </a:p>
        </p:txBody>
      </p:sp>
      <p:pic>
        <p:nvPicPr>
          <p:cNvPr id="6" name="Content Placeholder 5" descr="An illustration depicts the repetitive transcranial magnetic stimulation method of the brain. A paddle with two loops is placed near the patient's head. A callout reads, figure eight coil. &#10;&#10;An illustration depicts the transcranial direct current stimulation method of the brain. Anodal and cathodal electrodes are put on the left and right supraorbital regions. Callouts read, Anode (positive) electrode, cathode (negative) electrode, and t D C S; source of electrical current.&#10;&#10;An illustration depicts the deep brain stimulation (DBS) method of the brain. An electrode is implanted into the brain. Callouts read, nucleus membrane, and DBS electrode.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84551"/>
            <a:ext cx="11376025" cy="4490536"/>
          </a:xfrm>
        </p:spPr>
      </p:pic>
    </p:spTree>
    <p:extLst>
      <p:ext uri="{BB962C8B-B14F-4D97-AF65-F5344CB8AC3E}">
        <p14:creationId xmlns:p14="http://schemas.microsoft.com/office/powerpoint/2010/main" val="3357230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12.3.1  Describe the identified patterns of cocaine use, the characteristics of cocaine binges, and the development of cocaine use disorder.</a:t>
            </a:r>
          </a:p>
          <a:p>
            <a:pPr marL="1371600" indent="-1371600">
              <a:lnSpc>
                <a:spcPct val="110000"/>
              </a:lnSpc>
              <a:buNone/>
            </a:pPr>
            <a:r>
              <a:rPr lang="en-US" dirty="0"/>
              <a:t>12.3.2  Discuss the neurobiological and behavioral changes caused by chronic cocaine exposure.</a:t>
            </a:r>
          </a:p>
          <a:p>
            <a:pPr marL="1371600" indent="-1371600">
              <a:lnSpc>
                <a:spcPct val="110000"/>
              </a:lnSpc>
              <a:buNone/>
            </a:pPr>
            <a:r>
              <a:rPr lang="en-US" dirty="0"/>
              <a:t>12.3.3  List the major health consequences that can occur as a result of repeated and/or high-dose cocaine use.</a:t>
            </a:r>
          </a:p>
          <a:p>
            <a:pPr marL="1371600" indent="-1371600">
              <a:lnSpc>
                <a:spcPct val="110000"/>
              </a:lnSpc>
              <a:buNone/>
            </a:pPr>
            <a:r>
              <a:rPr lang="en-US" dirty="0"/>
              <a:t>12.3.4  Describe the various therapeutic approaches available to treat cocaine use disorder.</a:t>
            </a:r>
          </a:p>
        </p:txBody>
      </p:sp>
    </p:spTree>
    <p:extLst>
      <p:ext uri="{BB962C8B-B14F-4D97-AF65-F5344CB8AC3E}">
        <p14:creationId xmlns:p14="http://schemas.microsoft.com/office/powerpoint/2010/main" val="1968873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Background, History, and Basic Pharmacology of the Amphetamines </a:t>
            </a:r>
            <a:r>
              <a:rPr lang="en-US" sz="1300" dirty="0"/>
              <a:t>(1 of 3)</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dirty="0"/>
              <a:t>Background and history</a:t>
            </a:r>
          </a:p>
          <a:p>
            <a:pPr>
              <a:spcBef>
                <a:spcPts val="1200"/>
              </a:spcBef>
            </a:pPr>
            <a:r>
              <a:rPr lang="en-US" dirty="0"/>
              <a:t>Amphetamines: synthetic; structurally related to DA</a:t>
            </a:r>
          </a:p>
          <a:p>
            <a:pPr lvl="1">
              <a:spcBef>
                <a:spcPts val="1200"/>
              </a:spcBef>
            </a:pPr>
            <a:r>
              <a:rPr lang="en-US" cap="small" dirty="0"/>
              <a:t>L</a:t>
            </a:r>
            <a:r>
              <a:rPr lang="en-US" dirty="0"/>
              <a:t>-amphetamine (Benzedrine)</a:t>
            </a:r>
          </a:p>
          <a:p>
            <a:pPr lvl="1">
              <a:spcBef>
                <a:spcPts val="1200"/>
              </a:spcBef>
            </a:pPr>
            <a:r>
              <a:rPr lang="en-US" cap="small" dirty="0"/>
              <a:t>D</a:t>
            </a:r>
            <a:r>
              <a:rPr lang="en-US" dirty="0"/>
              <a:t>-amphetamine (dextroamphetamine; Dexedrine). </a:t>
            </a:r>
          </a:p>
          <a:p>
            <a:pPr lvl="1">
              <a:spcBef>
                <a:spcPts val="1200"/>
              </a:spcBef>
            </a:pPr>
            <a:r>
              <a:rPr lang="en-US" b="1" dirty="0"/>
              <a:t>Methamphetamine</a:t>
            </a:r>
            <a:r>
              <a:rPr lang="en-US" dirty="0"/>
              <a:t> – synthesized from pseudoephedrine</a:t>
            </a:r>
          </a:p>
          <a:p>
            <a:pPr>
              <a:spcBef>
                <a:spcPts val="1200"/>
              </a:spcBef>
            </a:pPr>
            <a:r>
              <a:rPr lang="en-US" dirty="0"/>
              <a:t>Plant compounds:</a:t>
            </a:r>
          </a:p>
          <a:p>
            <a:pPr lvl="1">
              <a:spcBef>
                <a:spcPts val="1200"/>
              </a:spcBef>
            </a:pPr>
            <a:r>
              <a:rPr lang="en-US" b="1" dirty="0"/>
              <a:t>Cathinone</a:t>
            </a:r>
            <a:r>
              <a:rPr lang="en-US" dirty="0"/>
              <a:t> – active ingredient in khat; from a shrub</a:t>
            </a:r>
          </a:p>
          <a:p>
            <a:pPr lvl="1">
              <a:spcBef>
                <a:spcPts val="1200"/>
              </a:spcBef>
            </a:pPr>
            <a:r>
              <a:rPr lang="en-US" b="1" dirty="0"/>
              <a:t>Ephedrine</a:t>
            </a:r>
            <a:r>
              <a:rPr lang="en-US" dirty="0"/>
              <a:t> – from the herb </a:t>
            </a:r>
            <a:r>
              <a:rPr lang="en-US" i="1" dirty="0"/>
              <a:t>Ephedra</a:t>
            </a:r>
            <a:r>
              <a:rPr lang="en-US" dirty="0"/>
              <a:t>; sold for weight loss but has dangerous side effects</a:t>
            </a:r>
          </a:p>
        </p:txBody>
      </p:sp>
    </p:spTree>
    <p:extLst>
      <p:ext uri="{BB962C8B-B14F-4D97-AF65-F5344CB8AC3E}">
        <p14:creationId xmlns:p14="http://schemas.microsoft.com/office/powerpoint/2010/main" val="143009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4B89E-CF66-6E42-ABB2-F731C2CCBC23}"/>
              </a:ext>
            </a:extLst>
          </p:cNvPr>
          <p:cNvSpPr>
            <a:spLocks noGrp="1"/>
          </p:cNvSpPr>
          <p:nvPr>
            <p:ph type="title"/>
          </p:nvPr>
        </p:nvSpPr>
        <p:spPr/>
        <p:txBody>
          <a:bodyPr/>
          <a:lstStyle/>
          <a:p>
            <a:r>
              <a:rPr lang="en-US" cap="all" dirty="0"/>
              <a:t>FIGURE 12.13</a:t>
            </a:r>
            <a:r>
              <a:rPr lang="en-US" dirty="0"/>
              <a:t>  Amphetamine and related psychostimulants resemble the neurotransmitter DA in their chemical structure </a:t>
            </a:r>
          </a:p>
        </p:txBody>
      </p:sp>
      <p:pic>
        <p:nvPicPr>
          <p:cNvPr id="6" name="Content Placeholder 5" descr="A set of five chemical bonding structures is depicted. The structure for DA shows a six-membered ring single-bonded to H O on two sides, and single-bonded to C H 2 single-bond C H 2 single-bond N H 2. The structure for Amphetamine shows a six-membered ring singe-bonded to C H 2 single-bond C H which is single-bonded to C H 3 on one end and single-bonded to N H 2 on the other end. The structure for Methamphetamine shows a six-membered ring single-bonded to C H 2 single-bond C H which is single-bonded to C H 3 on one end and single-bonded to N H single-bond C H 3 on the other end. The structure for Ephedrine shows C H single bond C H linked to a six-membered ring, where one C H is single-bonded to O H and another C H is single-bonded to C H 3 on one end and on the other end single-bonded to N H single-bond C H 3. The structure of Cathinone shows a six-membered ring single-bonded to C double-bond O, where C is single-bonded to C H single-bond C H 3, where C H is single-bonded to N H 2."/>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256540" y="479425"/>
            <a:ext cx="9678921" cy="6300788"/>
          </a:xfrm>
        </p:spPr>
      </p:pic>
    </p:spTree>
    <p:extLst>
      <p:ext uri="{BB962C8B-B14F-4D97-AF65-F5344CB8AC3E}">
        <p14:creationId xmlns:p14="http://schemas.microsoft.com/office/powerpoint/2010/main" val="4081135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Background, History, and Basic Pharmacology of the Amphetamines </a:t>
            </a:r>
            <a:r>
              <a:rPr lang="en-US" sz="1300" dirty="0"/>
              <a:t>(2 of 3)</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Basic pharmacology</a:t>
            </a:r>
          </a:p>
          <a:p>
            <a:pPr>
              <a:spcBef>
                <a:spcPts val="1200"/>
              </a:spcBef>
            </a:pPr>
            <a:r>
              <a:rPr lang="en-US" dirty="0"/>
              <a:t>Amphetamine is typically taken orally or IV or subcutaneous injection (skin popping)</a:t>
            </a:r>
          </a:p>
          <a:p>
            <a:pPr>
              <a:spcBef>
                <a:spcPts val="1200"/>
              </a:spcBef>
            </a:pPr>
            <a:r>
              <a:rPr lang="en-US" dirty="0"/>
              <a:t>Absorption from GI tract is slow; IV injection provides a rapid and intense “high;” has much greater addictive potential.</a:t>
            </a:r>
          </a:p>
          <a:p>
            <a:pPr>
              <a:spcBef>
                <a:spcPts val="1200"/>
              </a:spcBef>
            </a:pPr>
            <a:r>
              <a:rPr lang="en-US" dirty="0"/>
              <a:t>Methamphetamine is more potent; can be taken orally, snorted, injected intravenously, or smoked</a:t>
            </a:r>
          </a:p>
          <a:p>
            <a:pPr>
              <a:spcBef>
                <a:spcPts val="1200"/>
              </a:spcBef>
            </a:pPr>
            <a:r>
              <a:rPr lang="en-US" dirty="0"/>
              <a:t>Methamphetamine hydrochloride in a crystalline form suitable for smoking is called “ice” or “crystal;” highly addictive</a:t>
            </a:r>
          </a:p>
        </p:txBody>
      </p:sp>
    </p:spTree>
    <p:extLst>
      <p:ext uri="{BB962C8B-B14F-4D97-AF65-F5344CB8AC3E}">
        <p14:creationId xmlns:p14="http://schemas.microsoft.com/office/powerpoint/2010/main" val="5887951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Background, History, and Basic Pharmacology of the Amphetamines </a:t>
            </a:r>
            <a:r>
              <a:rPr lang="en-US" sz="1300" dirty="0"/>
              <a:t>(3 of 3)</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Basic pharmacology</a:t>
            </a:r>
          </a:p>
          <a:p>
            <a:pPr>
              <a:spcBef>
                <a:spcPts val="1200"/>
              </a:spcBef>
            </a:pPr>
            <a:r>
              <a:rPr lang="en-US" dirty="0"/>
              <a:t>Some users go on binges or runs – repeated injections every 2 hours for 3 to 6 days, with little sleep or eating</a:t>
            </a:r>
          </a:p>
          <a:p>
            <a:pPr>
              <a:spcBef>
                <a:spcPts val="1200"/>
              </a:spcBef>
            </a:pPr>
            <a:r>
              <a:rPr lang="en-US" dirty="0"/>
              <a:t>Amphetamine and methamphetamine are metabolized slowly by the liver; metabolites are excreted in the urine</a:t>
            </a:r>
          </a:p>
          <a:p>
            <a:pPr>
              <a:spcBef>
                <a:spcPts val="1200"/>
              </a:spcBef>
            </a:pPr>
            <a:r>
              <a:rPr lang="en-US" dirty="0"/>
              <a:t>Because of long half-lives, users obtain a much longer-lasting high from a single dose of amphetamine or methamphetamine than from a dose of cocaine.</a:t>
            </a:r>
          </a:p>
        </p:txBody>
      </p:sp>
    </p:spTree>
    <p:extLst>
      <p:ext uri="{BB962C8B-B14F-4D97-AF65-F5344CB8AC3E}">
        <p14:creationId xmlns:p14="http://schemas.microsoft.com/office/powerpoint/2010/main" val="36450157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12.4.1  Discuss the history and uses (medical and recreational) of the family of psychostimulants that includes amphetamine, methamphetamine, cathinone, and ephedrine.</a:t>
            </a:r>
          </a:p>
          <a:p>
            <a:pPr marL="1371600" indent="-1371600">
              <a:lnSpc>
                <a:spcPct val="110000"/>
              </a:lnSpc>
              <a:buNone/>
            </a:pPr>
            <a:r>
              <a:rPr lang="en-US" dirty="0"/>
              <a:t>12.4.2  Describe the basic pharmacology of amphetamine and methamphetamine.</a:t>
            </a:r>
          </a:p>
        </p:txBody>
      </p:sp>
    </p:spTree>
    <p:extLst>
      <p:ext uri="{BB962C8B-B14F-4D97-AF65-F5344CB8AC3E}">
        <p14:creationId xmlns:p14="http://schemas.microsoft.com/office/powerpoint/2010/main" val="3213170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Mechanisms of Action and </a:t>
            </a:r>
            <a:br>
              <a:rPr lang="en-US" dirty="0"/>
            </a:br>
            <a:r>
              <a:rPr lang="en-US" dirty="0"/>
              <a:t>Neurobehavioral Effects of Amphetamines </a:t>
            </a:r>
            <a:r>
              <a:rPr lang="en-US" sz="1300" dirty="0"/>
              <a:t>(1 of 7)</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Mechanisms of amphetamine and methamphetamine action</a:t>
            </a:r>
          </a:p>
          <a:p>
            <a:pPr>
              <a:spcBef>
                <a:spcPts val="1200"/>
              </a:spcBef>
            </a:pPr>
            <a:r>
              <a:rPr lang="en-US" dirty="0"/>
              <a:t>Amphetamines are indirect catecholamine agonists; stimulate DA and NE release and block reuptake</a:t>
            </a:r>
          </a:p>
          <a:p>
            <a:pPr>
              <a:spcBef>
                <a:spcPts val="1200"/>
              </a:spcBef>
            </a:pPr>
            <a:r>
              <a:rPr lang="en-US" dirty="0"/>
              <a:t>Stimulate massive DA release by two means:</a:t>
            </a:r>
          </a:p>
          <a:p>
            <a:pPr lvl="1">
              <a:spcBef>
                <a:spcPts val="1200"/>
              </a:spcBef>
            </a:pPr>
            <a:r>
              <a:rPr lang="en-US" dirty="0"/>
              <a:t>Enters nerve terminal by DAT; stimulates DA release from vesicles</a:t>
            </a:r>
          </a:p>
          <a:p>
            <a:pPr lvl="1">
              <a:spcBef>
                <a:spcPts val="1200"/>
              </a:spcBef>
            </a:pPr>
            <a:r>
              <a:rPr lang="en-US" dirty="0"/>
              <a:t>Alters DAT to act in reverse direction to release DA into synapse</a:t>
            </a:r>
          </a:p>
          <a:p>
            <a:pPr>
              <a:spcBef>
                <a:spcPts val="1200"/>
              </a:spcBef>
            </a:pPr>
            <a:r>
              <a:rPr lang="en-US" dirty="0"/>
              <a:t>NE release also affects sympathetic nervous system</a:t>
            </a:r>
          </a:p>
        </p:txBody>
      </p:sp>
    </p:spTree>
    <p:extLst>
      <p:ext uri="{BB962C8B-B14F-4D97-AF65-F5344CB8AC3E}">
        <p14:creationId xmlns:p14="http://schemas.microsoft.com/office/powerpoint/2010/main" val="11888350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EC492-C5A9-C541-980F-EC20E23AD416}"/>
              </a:ext>
            </a:extLst>
          </p:cNvPr>
          <p:cNvSpPr>
            <a:spLocks noGrp="1"/>
          </p:cNvSpPr>
          <p:nvPr>
            <p:ph type="title"/>
          </p:nvPr>
        </p:nvSpPr>
        <p:spPr/>
        <p:txBody>
          <a:bodyPr/>
          <a:lstStyle/>
          <a:p>
            <a:r>
              <a:rPr lang="en-US" cap="all" dirty="0"/>
              <a:t>FIGURE 12.14</a:t>
            </a:r>
            <a:r>
              <a:rPr lang="en-US" dirty="0"/>
              <a:t>  Mechanisms of amphetamine-stimulated DA release </a:t>
            </a:r>
          </a:p>
        </p:txBody>
      </p:sp>
      <p:pic>
        <p:nvPicPr>
          <p:cNvPr id="6" name="Content Placeholder 5" descr="An illustration depicts the penetration of amphetamine molecules through the D A nerve terminals and uptake by the dopamine transporter inside the presynaptic terminal. Callout reads, A M P H, D A, and D A T.&#10;&#10;An illustration depicts the function of how amphetamine changes the D A T function resulting in a reverse direction to release D A through protein kinases in the cytoplasm into the extracellular fluid."/>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60024"/>
            <a:ext cx="11376025" cy="4939589"/>
          </a:xfrm>
        </p:spPr>
      </p:pic>
    </p:spTree>
    <p:extLst>
      <p:ext uri="{BB962C8B-B14F-4D97-AF65-F5344CB8AC3E}">
        <p14:creationId xmlns:p14="http://schemas.microsoft.com/office/powerpoint/2010/main" val="12325351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Mechanisms of Action and </a:t>
            </a:r>
            <a:br>
              <a:rPr lang="en-US" dirty="0"/>
            </a:br>
            <a:r>
              <a:rPr lang="en-US" dirty="0"/>
              <a:t>Neurobehavioral Effects of Amphetamines </a:t>
            </a:r>
            <a:r>
              <a:rPr lang="en-US" sz="1300" dirty="0"/>
              <a:t>(2 of 7)</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Neurobehavioral effects of amphetamines</a:t>
            </a:r>
          </a:p>
          <a:p>
            <a:pPr>
              <a:spcBef>
                <a:spcPts val="1200"/>
              </a:spcBef>
            </a:pPr>
            <a:r>
              <a:rPr lang="en-US" dirty="0"/>
              <a:t>Amphetamines cause heightened alertness, increased confidence, feelings of exhilaration, reduced fatigue, and generalized sense of well-being</a:t>
            </a:r>
          </a:p>
          <a:p>
            <a:pPr>
              <a:spcBef>
                <a:spcPts val="1200"/>
              </a:spcBef>
            </a:pPr>
            <a:r>
              <a:rPr lang="en-US" dirty="0"/>
              <a:t>Reduced sleep time, especially REM sleep; permits sustained physical effort without rest or sleep</a:t>
            </a:r>
          </a:p>
          <a:p>
            <a:pPr>
              <a:spcBef>
                <a:spcPts val="1200"/>
              </a:spcBef>
            </a:pPr>
            <a:r>
              <a:rPr lang="en-US" dirty="0"/>
              <a:t>Can enhance athletic performance; banned in competitions</a:t>
            </a:r>
          </a:p>
        </p:txBody>
      </p:sp>
    </p:spTree>
    <p:extLst>
      <p:ext uri="{BB962C8B-B14F-4D97-AF65-F5344CB8AC3E}">
        <p14:creationId xmlns:p14="http://schemas.microsoft.com/office/powerpoint/2010/main" val="14994874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Mechanisms of Action and </a:t>
            </a:r>
            <a:br>
              <a:rPr lang="en-US" dirty="0"/>
            </a:br>
            <a:r>
              <a:rPr lang="en-US" dirty="0"/>
              <a:t>Neurobehavioral Effects of Amphetamines </a:t>
            </a:r>
            <a:r>
              <a:rPr lang="en-US" sz="1300" dirty="0"/>
              <a:t>(3 of 7)</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Amphetamine and methamphetamine have therapeutic uses</a:t>
            </a:r>
          </a:p>
          <a:p>
            <a:pPr>
              <a:spcBef>
                <a:spcPts val="1200"/>
              </a:spcBef>
            </a:pPr>
            <a:r>
              <a:rPr lang="en-US" altLang="en-US" dirty="0">
                <a:ea typeface="Geneva" pitchFamily="121" charset="-128"/>
              </a:rPr>
              <a:t>Narcolepsy: recurring and irresistible attacks of sleepiness during daytime hours, cataplexy, hypnagogic hallucinations, sleep paralysis</a:t>
            </a:r>
          </a:p>
          <a:p>
            <a:pPr>
              <a:spcBef>
                <a:spcPts val="1200"/>
              </a:spcBef>
            </a:pPr>
            <a:r>
              <a:rPr lang="en-US" altLang="en-US" dirty="0">
                <a:ea typeface="Geneva" pitchFamily="121" charset="-128"/>
              </a:rPr>
              <a:t>Treatment of ADHD</a:t>
            </a:r>
          </a:p>
          <a:p>
            <a:pPr>
              <a:spcBef>
                <a:spcPts val="1200"/>
              </a:spcBef>
            </a:pPr>
            <a:r>
              <a:rPr lang="en-US" altLang="en-US" dirty="0">
                <a:ea typeface="Geneva" pitchFamily="121" charset="-128"/>
              </a:rPr>
              <a:t>Appetite suppressant and </a:t>
            </a:r>
            <a:r>
              <a:rPr lang="en-US" altLang="en-US" dirty="0" err="1">
                <a:ea typeface="Geneva" pitchFamily="121" charset="-128"/>
              </a:rPr>
              <a:t>antiobesity</a:t>
            </a:r>
            <a:r>
              <a:rPr lang="en-US" altLang="en-US" dirty="0">
                <a:ea typeface="Geneva" pitchFamily="121" charset="-128"/>
              </a:rPr>
              <a:t> treatment; because of high abuse potential, is it now rarely used</a:t>
            </a:r>
          </a:p>
        </p:txBody>
      </p:sp>
    </p:spTree>
    <p:extLst>
      <p:ext uri="{BB962C8B-B14F-4D97-AF65-F5344CB8AC3E}">
        <p14:creationId xmlns:p14="http://schemas.microsoft.com/office/powerpoint/2010/main" val="2018125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Mechanisms of Action and </a:t>
            </a:r>
            <a:br>
              <a:rPr lang="en-US" dirty="0"/>
            </a:br>
            <a:r>
              <a:rPr lang="en-US" dirty="0"/>
              <a:t>Neurobehavioral Effects of Amphetamines </a:t>
            </a:r>
            <a:r>
              <a:rPr lang="en-US" sz="1300" dirty="0"/>
              <a:t>(4 of 7)</a:t>
            </a:r>
            <a:endParaRPr lang="en-US" dirty="0"/>
          </a:p>
        </p:txBody>
      </p:sp>
      <p:sp>
        <p:nvSpPr>
          <p:cNvPr id="3" name="Text Placeholder 2"/>
          <p:cNvSpPr>
            <a:spLocks noGrp="1"/>
          </p:cNvSpPr>
          <p:nvPr>
            <p:ph idx="1"/>
          </p:nvPr>
        </p:nvSpPr>
        <p:spPr/>
        <p:txBody>
          <a:bodyPr>
            <a:normAutofit lnSpcReduction="10000"/>
          </a:bodyPr>
          <a:lstStyle/>
          <a:p>
            <a:pPr marL="457200" indent="-457200">
              <a:spcBef>
                <a:spcPct val="20000"/>
              </a:spcBef>
              <a:buNone/>
            </a:pPr>
            <a:r>
              <a:rPr lang="en-US" sz="3200" dirty="0"/>
              <a:t>High doses or chronic use of amphetamines can cause a variety of adverse effects</a:t>
            </a:r>
          </a:p>
          <a:p>
            <a:pPr>
              <a:spcBef>
                <a:spcPts val="1200"/>
              </a:spcBef>
            </a:pPr>
            <a:r>
              <a:rPr lang="en-US" dirty="0"/>
              <a:t>Heavy methamphetamine use leads to dependence</a:t>
            </a:r>
          </a:p>
          <a:p>
            <a:pPr>
              <a:spcBef>
                <a:spcPts val="1200"/>
              </a:spcBef>
            </a:pPr>
            <a:r>
              <a:rPr lang="en-US" dirty="0"/>
              <a:t>Withdrawal syndrome less severe than with opioids or alcohol; negative reinforcement has less impact</a:t>
            </a:r>
          </a:p>
          <a:p>
            <a:pPr>
              <a:spcBef>
                <a:spcPts val="1200"/>
              </a:spcBef>
            </a:pPr>
            <a:r>
              <a:rPr lang="en-US" dirty="0"/>
              <a:t>Methamphetamine users show impairments in multiple cognitive domains - impulse control, verbal learning, working memory, and social cognition</a:t>
            </a:r>
          </a:p>
          <a:p>
            <a:pPr>
              <a:spcBef>
                <a:spcPts val="1200"/>
              </a:spcBef>
            </a:pPr>
            <a:r>
              <a:rPr lang="en-US" dirty="0"/>
              <a:t>Women are more likely than men to become dependent</a:t>
            </a:r>
          </a:p>
        </p:txBody>
      </p:sp>
    </p:spTree>
    <p:extLst>
      <p:ext uri="{BB962C8B-B14F-4D97-AF65-F5344CB8AC3E}">
        <p14:creationId xmlns:p14="http://schemas.microsoft.com/office/powerpoint/2010/main" val="29621850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Mechanisms of Action and </a:t>
            </a:r>
            <a:br>
              <a:rPr lang="en-US" dirty="0"/>
            </a:br>
            <a:r>
              <a:rPr lang="en-US" dirty="0"/>
              <a:t>Neurobehavioral Effects of Amphetamines </a:t>
            </a:r>
            <a:r>
              <a:rPr lang="en-US" sz="1300" dirty="0"/>
              <a:t>(5 of 7)</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High doses or chronic use of amphetamines can cause a variety of adverse effects</a:t>
            </a:r>
          </a:p>
          <a:p>
            <a:pPr>
              <a:spcBef>
                <a:spcPts val="1200"/>
              </a:spcBef>
            </a:pPr>
            <a:r>
              <a:rPr lang="en-US" dirty="0"/>
              <a:t>As methamphetamine use has increased, incidence of psychotic reactions has also grown, especially if there are pre-existing psychotic symptoms</a:t>
            </a:r>
          </a:p>
          <a:p>
            <a:pPr>
              <a:spcBef>
                <a:spcPts val="1200"/>
              </a:spcBef>
            </a:pPr>
            <a:r>
              <a:rPr lang="en-US" dirty="0"/>
              <a:t>Continued methamphetamine use can cause a transition to a  psychotic state that persists long after abstinence, similar to schizophrenia</a:t>
            </a:r>
          </a:p>
          <a:p>
            <a:pPr>
              <a:spcBef>
                <a:spcPts val="1200"/>
              </a:spcBef>
            </a:pPr>
            <a:r>
              <a:rPr lang="en-US" dirty="0"/>
              <a:t>Neurotoxicity: damage or death of DA system neurons</a:t>
            </a:r>
          </a:p>
        </p:txBody>
      </p:sp>
    </p:spTree>
    <p:extLst>
      <p:ext uri="{BB962C8B-B14F-4D97-AF65-F5344CB8AC3E}">
        <p14:creationId xmlns:p14="http://schemas.microsoft.com/office/powerpoint/2010/main" val="4935355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fontScale="90000"/>
          </a:bodyPr>
          <a:lstStyle/>
          <a:p>
            <a:r>
              <a:rPr lang="en-US" dirty="0"/>
              <a:t>Mechanisms of Action and </a:t>
            </a:r>
            <a:br>
              <a:rPr lang="en-US" dirty="0"/>
            </a:br>
            <a:r>
              <a:rPr lang="en-US" dirty="0"/>
              <a:t>Neurobehavioral Effects of Amphetamines </a:t>
            </a:r>
            <a:r>
              <a:rPr lang="en-US" sz="1300" dirty="0"/>
              <a:t>(6 of 7)</a:t>
            </a:r>
            <a:endParaRPr lang="en-US" dirty="0"/>
          </a:p>
        </p:txBody>
      </p:sp>
      <p:sp>
        <p:nvSpPr>
          <p:cNvPr id="3" name="Text Placeholder 2"/>
          <p:cNvSpPr>
            <a:spLocks noGrp="1"/>
          </p:cNvSpPr>
          <p:nvPr>
            <p:ph idx="1"/>
          </p:nvPr>
        </p:nvSpPr>
        <p:spPr/>
        <p:txBody>
          <a:bodyPr>
            <a:normAutofit/>
          </a:bodyPr>
          <a:lstStyle/>
          <a:p>
            <a:pPr marL="457200" indent="-457200">
              <a:spcBef>
                <a:spcPct val="20000"/>
              </a:spcBef>
              <a:buNone/>
            </a:pPr>
            <a:r>
              <a:rPr lang="en-US" sz="3200" dirty="0"/>
              <a:t>High doses or chronic use of amphetamines can cause a variety of adverse effects</a:t>
            </a:r>
          </a:p>
          <a:p>
            <a:pPr>
              <a:spcBef>
                <a:spcPts val="1200"/>
              </a:spcBef>
            </a:pPr>
            <a:r>
              <a:rPr lang="en-US" dirty="0"/>
              <a:t>Hard-core methamphetamine users have increased risk of Parkinson’s disease, cardiovascular disease, gastrointestinal distress, increased susceptibility to infection, male sexual dysfunction, and oral diseases</a:t>
            </a:r>
          </a:p>
          <a:p>
            <a:pPr>
              <a:spcBef>
                <a:spcPts val="1200"/>
              </a:spcBef>
            </a:pPr>
            <a:r>
              <a:rPr lang="en-US" dirty="0"/>
              <a:t>Chronic users show premature aging and increased mortality rate </a:t>
            </a:r>
          </a:p>
        </p:txBody>
      </p:sp>
    </p:spTree>
    <p:extLst>
      <p:ext uri="{BB962C8B-B14F-4D97-AF65-F5344CB8AC3E}">
        <p14:creationId xmlns:p14="http://schemas.microsoft.com/office/powerpoint/2010/main" val="39600888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Mechanisms of Action and </a:t>
            </a:r>
            <a:br>
              <a:rPr lang="en-US" dirty="0"/>
            </a:br>
            <a:r>
              <a:rPr lang="en-US" dirty="0"/>
              <a:t>Neurobehavioral Effects of Amphetamines </a:t>
            </a:r>
            <a:r>
              <a:rPr lang="en-US" sz="1300" dirty="0"/>
              <a:t>(7 of 7)</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2</a:t>
            </a:r>
          </a:p>
          <a:p>
            <a:pPr marL="457200" indent="-457200">
              <a:spcBef>
                <a:spcPts val="2400"/>
              </a:spcBef>
              <a:buNone/>
            </a:pPr>
            <a:r>
              <a:rPr lang="en-US" sz="3200" dirty="0"/>
              <a:t>Reversing dopamine transporter function is a mechanism of which drug?</a:t>
            </a:r>
          </a:p>
          <a:p>
            <a:pPr marL="914400" indent="-457200">
              <a:spcBef>
                <a:spcPts val="1200"/>
              </a:spcBef>
              <a:buFont typeface="Arial" pitchFamily="34" charset="0"/>
              <a:buAutoNum type="alphaLcPeriod"/>
            </a:pPr>
            <a:r>
              <a:rPr lang="en-US" sz="3200" dirty="0"/>
              <a:t>Amphetamines </a:t>
            </a:r>
          </a:p>
          <a:p>
            <a:pPr marL="914400" indent="-457200">
              <a:spcBef>
                <a:spcPts val="1200"/>
              </a:spcBef>
              <a:buFont typeface="Arial" pitchFamily="34" charset="0"/>
              <a:buAutoNum type="alphaLcPeriod"/>
            </a:pPr>
            <a:r>
              <a:rPr lang="en-US" sz="3200" dirty="0"/>
              <a:t>Cocaine</a:t>
            </a:r>
          </a:p>
          <a:p>
            <a:pPr marL="914400" indent="-457200">
              <a:spcBef>
                <a:spcPts val="1200"/>
              </a:spcBef>
              <a:buFont typeface="Arial" pitchFamily="34" charset="0"/>
              <a:buAutoNum type="alphaLcPeriod"/>
            </a:pPr>
            <a:r>
              <a:rPr lang="en-US" sz="3200" dirty="0" err="1"/>
              <a:t>Cathinones</a:t>
            </a:r>
            <a:endParaRPr lang="en-US" sz="3200" dirty="0"/>
          </a:p>
          <a:p>
            <a:pPr marL="914400" indent="-457200">
              <a:spcBef>
                <a:spcPts val="1200"/>
              </a:spcBef>
              <a:buFont typeface="Arial" pitchFamily="34" charset="0"/>
              <a:buAutoNum type="alphaLcPeriod"/>
            </a:pPr>
            <a:r>
              <a:rPr lang="en-US" sz="3200" dirty="0" err="1"/>
              <a:t>Methyphenidate</a:t>
            </a:r>
            <a:endParaRPr lang="en-US" sz="3200" dirty="0"/>
          </a:p>
        </p:txBody>
      </p:sp>
    </p:spTree>
    <p:extLst>
      <p:ext uri="{BB962C8B-B14F-4D97-AF65-F5344CB8AC3E}">
        <p14:creationId xmlns:p14="http://schemas.microsoft.com/office/powerpoint/2010/main" val="1206873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(5 of 7)</a:t>
            </a:r>
            <a:endParaRPr lang="en-US" dirty="0"/>
          </a:p>
        </p:txBody>
      </p:sp>
      <p:sp>
        <p:nvSpPr>
          <p:cNvPr id="3" name="Text Placeholder 2"/>
          <p:cNvSpPr>
            <a:spLocks noGrp="1"/>
          </p:cNvSpPr>
          <p:nvPr>
            <p:ph idx="1"/>
          </p:nvPr>
        </p:nvSpPr>
        <p:spPr/>
        <p:txBody>
          <a:bodyPr>
            <a:normAutofit lnSpcReduction="10000"/>
          </a:bodyPr>
          <a:lstStyle/>
          <a:p>
            <a:pPr marL="1371600" indent="-1371600">
              <a:buNone/>
            </a:pPr>
            <a:r>
              <a:rPr lang="en-US" dirty="0"/>
              <a:t>12.5.1  Explain the mechanisms of action of amphetamines on the dopaminergic system.</a:t>
            </a:r>
          </a:p>
          <a:p>
            <a:pPr marL="1371600" indent="-1371600">
              <a:buNone/>
            </a:pPr>
            <a:r>
              <a:rPr lang="en-US" dirty="0"/>
              <a:t>12.5.2  Contrast the therapeutic uses of amphetamines with their illicit use.</a:t>
            </a:r>
          </a:p>
          <a:p>
            <a:pPr marL="1371600" indent="-1371600">
              <a:buNone/>
            </a:pPr>
            <a:r>
              <a:rPr lang="en-US" dirty="0"/>
              <a:t>12.5.3  Discuss the features of methamphetamine misuse, including (a) dependence and withdrawal and (b) impaired cognitive function.</a:t>
            </a:r>
          </a:p>
          <a:p>
            <a:pPr marL="1371600" indent="-1371600">
              <a:buNone/>
            </a:pPr>
            <a:r>
              <a:rPr lang="en-US" dirty="0"/>
              <a:t>12.5.4  Describe evidence showing that high-dose methamphetamine use causes psychotic reactions, neurotoxicity, and other health problems.</a:t>
            </a:r>
          </a:p>
        </p:txBody>
      </p:sp>
    </p:spTree>
    <p:extLst>
      <p:ext uri="{BB962C8B-B14F-4D97-AF65-F5344CB8AC3E}">
        <p14:creationId xmlns:p14="http://schemas.microsoft.com/office/powerpoint/2010/main" val="7903454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Methylphenidate and Modafinil </a:t>
            </a:r>
            <a:r>
              <a:rPr lang="en-US" sz="1200" dirty="0"/>
              <a:t>(1 of 4)</a:t>
            </a:r>
            <a:endParaRPr lang="en-US" dirty="0"/>
          </a:p>
        </p:txBody>
      </p:sp>
      <p:sp>
        <p:nvSpPr>
          <p:cNvPr id="3" name="Text Placeholder 2"/>
          <p:cNvSpPr>
            <a:spLocks noGrp="1"/>
          </p:cNvSpPr>
          <p:nvPr>
            <p:ph idx="1"/>
          </p:nvPr>
        </p:nvSpPr>
        <p:spPr/>
        <p:txBody>
          <a:bodyPr>
            <a:normAutofit fontScale="92500" lnSpcReduction="10000"/>
          </a:bodyPr>
          <a:lstStyle/>
          <a:p>
            <a:pPr marL="457200" indent="-457200">
              <a:spcBef>
                <a:spcPct val="20000"/>
              </a:spcBef>
              <a:buNone/>
            </a:pPr>
            <a:r>
              <a:rPr lang="en-US" sz="3500" b="1" dirty="0"/>
              <a:t>Methylphenidate (Ritalin)</a:t>
            </a:r>
          </a:p>
          <a:p>
            <a:pPr>
              <a:spcBef>
                <a:spcPts val="1200"/>
              </a:spcBef>
            </a:pPr>
            <a:r>
              <a:rPr lang="en-US" dirty="0"/>
              <a:t>Activates catecholamine transmission by blocking DAT and NET - increases extracellular levels of DA and NE</a:t>
            </a:r>
          </a:p>
          <a:p>
            <a:pPr>
              <a:spcBef>
                <a:spcPts val="1200"/>
              </a:spcBef>
            </a:pPr>
            <a:r>
              <a:rPr lang="en-US" dirty="0"/>
              <a:t>Effects include increased arousal, alertness, ability to concentrate; elevated mood; low to medium doses have a positive influence on cognitive functions</a:t>
            </a:r>
          </a:p>
          <a:p>
            <a:pPr>
              <a:spcBef>
                <a:spcPts val="1200"/>
              </a:spcBef>
            </a:pPr>
            <a:r>
              <a:rPr lang="en-US" dirty="0"/>
              <a:t>Oral </a:t>
            </a:r>
            <a:r>
              <a:rPr lang="en-US" dirty="0" err="1"/>
              <a:t>methyphenidate</a:t>
            </a:r>
            <a:r>
              <a:rPr lang="en-US" dirty="0"/>
              <a:t> has little risk of misuse but tablets can be crushed for snorting or IV injection – could lead to dependence</a:t>
            </a:r>
          </a:p>
          <a:p>
            <a:pPr>
              <a:spcBef>
                <a:spcPts val="1200"/>
              </a:spcBef>
            </a:pPr>
            <a:r>
              <a:rPr lang="en-US" dirty="0"/>
              <a:t>A possible therapeutic application is to accelerate emergence from general anesthesia</a:t>
            </a:r>
          </a:p>
        </p:txBody>
      </p:sp>
    </p:spTree>
    <p:extLst>
      <p:ext uri="{BB962C8B-B14F-4D97-AF65-F5344CB8AC3E}">
        <p14:creationId xmlns:p14="http://schemas.microsoft.com/office/powerpoint/2010/main" val="22001970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685" y="274638"/>
            <a:ext cx="11582400" cy="1143000"/>
          </a:xfrm>
        </p:spPr>
        <p:txBody>
          <a:bodyPr/>
          <a:lstStyle/>
          <a:p>
            <a:r>
              <a:rPr lang="en-US" dirty="0"/>
              <a:t>Methylphenidate and Modafinil </a:t>
            </a:r>
            <a:r>
              <a:rPr lang="en-US" sz="1200" dirty="0"/>
              <a:t>(2 of 4)</a:t>
            </a:r>
            <a:endParaRPr lang="en-US" dirty="0"/>
          </a:p>
        </p:txBody>
      </p:sp>
      <p:sp>
        <p:nvSpPr>
          <p:cNvPr id="3" name="Text Placeholder 2"/>
          <p:cNvSpPr>
            <a:spLocks noGrp="1"/>
          </p:cNvSpPr>
          <p:nvPr>
            <p:ph idx="1"/>
          </p:nvPr>
        </p:nvSpPr>
        <p:spPr/>
        <p:txBody>
          <a:bodyPr>
            <a:normAutofit lnSpcReduction="10000"/>
          </a:bodyPr>
          <a:lstStyle/>
          <a:p>
            <a:pPr marL="0" indent="0">
              <a:spcBef>
                <a:spcPts val="1800"/>
              </a:spcBef>
              <a:buNone/>
            </a:pPr>
            <a:r>
              <a:rPr lang="en-US" sz="2400" u="sng" dirty="0"/>
              <a:t>BOX 12.2  CLINICAL APPLICATIONS</a:t>
            </a:r>
          </a:p>
          <a:p>
            <a:pPr marL="0" indent="0">
              <a:buNone/>
            </a:pPr>
            <a:r>
              <a:rPr lang="en-US" sz="3200" i="1" dirty="0"/>
              <a:t>Psychostimulants and ADHD</a:t>
            </a:r>
          </a:p>
          <a:p>
            <a:pPr>
              <a:spcBef>
                <a:spcPts val="1800"/>
              </a:spcBef>
            </a:pPr>
            <a:r>
              <a:rPr lang="en-US" dirty="0"/>
              <a:t>Major use of methylphenidate is treatment of ADHD: characterized by extreme inattentiveness, impulsivity, and hyperkinesis; thought to be related to dysfunction in complex neural circuits that include the PFC</a:t>
            </a:r>
          </a:p>
          <a:p>
            <a:pPr>
              <a:spcBef>
                <a:spcPts val="1800"/>
              </a:spcBef>
            </a:pPr>
            <a:r>
              <a:rPr lang="en-US" altLang="en-US" dirty="0">
                <a:ea typeface="Geneva" pitchFamily="121" charset="-128"/>
              </a:rPr>
              <a:t>Psychostimulants have a seemingly paradoxical calming effect</a:t>
            </a:r>
          </a:p>
          <a:p>
            <a:pPr>
              <a:spcBef>
                <a:spcPts val="1800"/>
              </a:spcBef>
            </a:pPr>
            <a:r>
              <a:rPr lang="en-US" altLang="en-US" dirty="0">
                <a:ea typeface="Geneva" pitchFamily="121" charset="-128"/>
              </a:rPr>
              <a:t>Other pharmacological treatments include various amphetamine formulations, the NE reuptake inhibitor atomoxetine, and </a:t>
            </a:r>
            <a:r>
              <a:rPr lang="el-GR" altLang="en-US" dirty="0">
                <a:ea typeface="Geneva" pitchFamily="121" charset="-128"/>
              </a:rPr>
              <a:t>α</a:t>
            </a:r>
            <a:r>
              <a:rPr lang="el-GR" altLang="en-US" baseline="-25000" dirty="0">
                <a:ea typeface="Geneva" pitchFamily="121" charset="-128"/>
              </a:rPr>
              <a:t>2</a:t>
            </a:r>
            <a:r>
              <a:rPr lang="en-US" altLang="en-US" baseline="-25000" dirty="0">
                <a:ea typeface="Geneva" pitchFamily="121" charset="-128"/>
              </a:rPr>
              <a:t>A</a:t>
            </a:r>
            <a:r>
              <a:rPr lang="en-US" altLang="en-US" dirty="0">
                <a:ea typeface="Geneva" pitchFamily="121" charset="-128"/>
              </a:rPr>
              <a:t>-receptor agonists.</a:t>
            </a:r>
          </a:p>
        </p:txBody>
      </p:sp>
    </p:spTree>
    <p:extLst>
      <p:ext uri="{BB962C8B-B14F-4D97-AF65-F5344CB8AC3E}">
        <p14:creationId xmlns:p14="http://schemas.microsoft.com/office/powerpoint/2010/main" val="36010231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1397C-7DEB-424F-9225-8FC44D03D09B}"/>
              </a:ext>
            </a:extLst>
          </p:cNvPr>
          <p:cNvSpPr>
            <a:spLocks noGrp="1"/>
          </p:cNvSpPr>
          <p:nvPr>
            <p:ph type="title"/>
          </p:nvPr>
        </p:nvSpPr>
        <p:spPr/>
        <p:txBody>
          <a:bodyPr/>
          <a:lstStyle/>
          <a:p>
            <a:r>
              <a:rPr lang="en-US" cap="all" dirty="0"/>
              <a:t>Box 12.2  </a:t>
            </a:r>
            <a:r>
              <a:rPr lang="en-US" dirty="0"/>
              <a:t>Clinical Applications: Psychostimulants and ADHD</a:t>
            </a:r>
          </a:p>
        </p:txBody>
      </p:sp>
      <p:pic>
        <p:nvPicPr>
          <p:cNvPr id="6" name="Content Placeholder 5" descr="A graph represents the hypothesized role of cortical alpha 2 A and D 1 receptors in cognitive performance and the treatment of A D H D. The levels of catecholamine release increases with arousal state from fatigue to alert and thereon to stressed. During the fatigue stage, the catecholamine is too little. During the altering stage, it has an optimal alpha 2 A and D 1 activation. During the stressed stage, the catecholamine is excessive. The P P C abilities shoot from distracted, disorganized, forgetful, and impulsive stages to focused, organized, and responsible levels. "/>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649235" y="479425"/>
            <a:ext cx="10893531" cy="6300788"/>
          </a:xfrm>
        </p:spPr>
      </p:pic>
    </p:spTree>
    <p:extLst>
      <p:ext uri="{BB962C8B-B14F-4D97-AF65-F5344CB8AC3E}">
        <p14:creationId xmlns:p14="http://schemas.microsoft.com/office/powerpoint/2010/main" val="18863776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Methylphenidate and Modafinil </a:t>
            </a:r>
            <a:r>
              <a:rPr lang="en-US" sz="1200" dirty="0"/>
              <a:t>(3 of 4)</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3200" b="1" dirty="0"/>
              <a:t>Modafinil (Provigil)</a:t>
            </a:r>
            <a:r>
              <a:rPr lang="en-US" dirty="0"/>
              <a:t>	</a:t>
            </a:r>
          </a:p>
          <a:p>
            <a:pPr>
              <a:spcBef>
                <a:spcPts val="1200"/>
              </a:spcBef>
            </a:pPr>
            <a:r>
              <a:rPr lang="en-US" altLang="en-US" dirty="0">
                <a:ea typeface="Geneva" pitchFamily="121" charset="-128"/>
              </a:rPr>
              <a:t>Modafinil binds to DAT with low affinity and acts as a weak DA uptake inhibitor</a:t>
            </a:r>
          </a:p>
          <a:p>
            <a:r>
              <a:rPr lang="en-US" altLang="en-US" dirty="0">
                <a:ea typeface="Geneva" pitchFamily="121" charset="-128"/>
              </a:rPr>
              <a:t>Also stimulates release of NE and orexin, integral components of the brain’s arousal system and inhibits GABA release.</a:t>
            </a:r>
          </a:p>
          <a:p>
            <a:r>
              <a:rPr lang="en-US" altLang="en-US" dirty="0">
                <a:ea typeface="Geneva" pitchFamily="121" charset="-128"/>
              </a:rPr>
              <a:t>Approved for treatment of narcolepsy, obstructive sleep apnea, and individuals with disordered sleep due to shift work.</a:t>
            </a:r>
          </a:p>
        </p:txBody>
      </p:sp>
    </p:spTree>
    <p:extLst>
      <p:ext uri="{BB962C8B-B14F-4D97-AF65-F5344CB8AC3E}">
        <p14:creationId xmlns:p14="http://schemas.microsoft.com/office/powerpoint/2010/main" val="30502954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Methylphenidate and Modafinil </a:t>
            </a:r>
            <a:r>
              <a:rPr lang="en-US" sz="1200" dirty="0"/>
              <a:t>(4 of 4)</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3</a:t>
            </a:r>
          </a:p>
          <a:p>
            <a:pPr marL="457200" indent="-457200">
              <a:spcBef>
                <a:spcPts val="2400"/>
              </a:spcBef>
              <a:buNone/>
            </a:pPr>
            <a:r>
              <a:rPr lang="en-US" sz="3200" dirty="0" err="1"/>
              <a:t>Methyphenidate</a:t>
            </a:r>
            <a:r>
              <a:rPr lang="en-US" sz="3200" dirty="0"/>
              <a:t> is most commonly used to treat</a:t>
            </a:r>
          </a:p>
          <a:p>
            <a:pPr marL="914400" indent="-457200">
              <a:spcBef>
                <a:spcPts val="1200"/>
              </a:spcBef>
              <a:buFont typeface="Arial" pitchFamily="34" charset="0"/>
              <a:buAutoNum type="alphaLcPeriod"/>
            </a:pPr>
            <a:r>
              <a:rPr lang="en-US" sz="3200" dirty="0"/>
              <a:t>Parkinson’s disease.</a:t>
            </a:r>
          </a:p>
          <a:p>
            <a:pPr marL="914400" indent="-457200">
              <a:spcBef>
                <a:spcPts val="1200"/>
              </a:spcBef>
              <a:buFont typeface="Arial" pitchFamily="34" charset="0"/>
              <a:buAutoNum type="alphaLcPeriod"/>
            </a:pPr>
            <a:r>
              <a:rPr lang="en-US" sz="3200" dirty="0"/>
              <a:t>cocaine use disorder.</a:t>
            </a:r>
          </a:p>
          <a:p>
            <a:pPr marL="914400" indent="-457200">
              <a:spcBef>
                <a:spcPts val="1200"/>
              </a:spcBef>
              <a:buFont typeface="Arial" pitchFamily="34" charset="0"/>
              <a:buAutoNum type="alphaLcPeriod"/>
            </a:pPr>
            <a:r>
              <a:rPr lang="en-US" sz="3200" dirty="0"/>
              <a:t>narcolepsy.</a:t>
            </a:r>
          </a:p>
          <a:p>
            <a:pPr marL="914400" indent="-457200">
              <a:spcBef>
                <a:spcPts val="1200"/>
              </a:spcBef>
              <a:buFont typeface="Arial" pitchFamily="34" charset="0"/>
              <a:buAutoNum type="alphaLcPeriod"/>
            </a:pPr>
            <a:r>
              <a:rPr lang="en-US" sz="3200" dirty="0"/>
              <a:t>ADHD.</a:t>
            </a:r>
          </a:p>
        </p:txBody>
      </p:sp>
    </p:spTree>
    <p:extLst>
      <p:ext uri="{BB962C8B-B14F-4D97-AF65-F5344CB8AC3E}">
        <p14:creationId xmlns:p14="http://schemas.microsoft.com/office/powerpoint/2010/main" val="11382430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(6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12.6.1  Discuss the pharmacology of methylphenidate.</a:t>
            </a:r>
          </a:p>
          <a:p>
            <a:pPr marL="1371600" indent="-1371600">
              <a:lnSpc>
                <a:spcPct val="110000"/>
              </a:lnSpc>
              <a:buNone/>
            </a:pPr>
            <a:r>
              <a:rPr lang="en-US" dirty="0"/>
              <a:t>12.6.2  Describe the features of ADHD, including symptoms, proposed dysfunction of the PFC catecholamine symptoms, and the mechanisms of action of drugs (including psychostimulants) used to treat this disorder.</a:t>
            </a:r>
          </a:p>
          <a:p>
            <a:pPr marL="1371600" indent="-1371600">
              <a:lnSpc>
                <a:spcPct val="110000"/>
              </a:lnSpc>
              <a:buNone/>
            </a:pPr>
            <a:r>
              <a:rPr lang="en-US" dirty="0"/>
              <a:t>12.6.3  Discuss the pharmacology of modafinil and its therapeutic use in the treatment of narcolepsy.</a:t>
            </a:r>
          </a:p>
        </p:txBody>
      </p:sp>
    </p:spTree>
    <p:extLst>
      <p:ext uri="{BB962C8B-B14F-4D97-AF65-F5344CB8AC3E}">
        <p14:creationId xmlns:p14="http://schemas.microsoft.com/office/powerpoint/2010/main" val="11334871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274638"/>
            <a:ext cx="11462657" cy="1143000"/>
          </a:xfrm>
        </p:spPr>
        <p:txBody>
          <a:bodyPr>
            <a:normAutofit/>
          </a:bodyPr>
          <a:lstStyle/>
          <a:p>
            <a:r>
              <a:rPr lang="en-US" dirty="0"/>
              <a:t>Synthetic </a:t>
            </a:r>
            <a:r>
              <a:rPr lang="en-US" dirty="0" err="1"/>
              <a:t>Cathinones</a:t>
            </a:r>
            <a:endParaRPr lang="en-US" dirty="0"/>
          </a:p>
        </p:txBody>
      </p:sp>
      <p:sp>
        <p:nvSpPr>
          <p:cNvPr id="3" name="Text Placeholder 2"/>
          <p:cNvSpPr>
            <a:spLocks noGrp="1"/>
          </p:cNvSpPr>
          <p:nvPr>
            <p:ph idx="1"/>
          </p:nvPr>
        </p:nvSpPr>
        <p:spPr/>
        <p:txBody>
          <a:bodyPr>
            <a:normAutofit fontScale="92500" lnSpcReduction="10000"/>
          </a:bodyPr>
          <a:lstStyle/>
          <a:p>
            <a:pPr>
              <a:spcBef>
                <a:spcPts val="1200"/>
              </a:spcBef>
            </a:pPr>
            <a:r>
              <a:rPr lang="en-US" dirty="0"/>
              <a:t>Many derivatives have been identified; four have been studied: </a:t>
            </a:r>
            <a:r>
              <a:rPr lang="en-US" b="1" dirty="0"/>
              <a:t>mephedrone</a:t>
            </a:r>
            <a:r>
              <a:rPr lang="en-US" dirty="0"/>
              <a:t>, </a:t>
            </a:r>
            <a:r>
              <a:rPr lang="en-US" b="1" dirty="0" err="1"/>
              <a:t>methylone</a:t>
            </a:r>
            <a:r>
              <a:rPr lang="en-US" dirty="0"/>
              <a:t>, </a:t>
            </a:r>
            <a:r>
              <a:rPr lang="en-US" b="1" dirty="0"/>
              <a:t>MDPV</a:t>
            </a:r>
            <a:r>
              <a:rPr lang="en-US" dirty="0"/>
              <a:t>, </a:t>
            </a:r>
            <a:r>
              <a:rPr lang="el-GR" sz="3200" b="1" i="0" u="none" strike="noStrike" baseline="0" dirty="0">
                <a:latin typeface="STIXTwoText-Bold"/>
              </a:rPr>
              <a:t>α</a:t>
            </a:r>
            <a:r>
              <a:rPr lang="el-GR" sz="3200" b="1" i="0" u="none" strike="noStrike" baseline="0" dirty="0">
                <a:latin typeface="DINPro-Bold"/>
              </a:rPr>
              <a:t>-</a:t>
            </a:r>
            <a:r>
              <a:rPr lang="en-US" b="1" dirty="0"/>
              <a:t>PVP </a:t>
            </a:r>
          </a:p>
          <a:p>
            <a:pPr>
              <a:spcBef>
                <a:spcPts val="1200"/>
              </a:spcBef>
            </a:pPr>
            <a:r>
              <a:rPr lang="en-US" dirty="0"/>
              <a:t>Recent surge in recreational use, under many street names; acute effects are similar to other psychostimulants</a:t>
            </a:r>
          </a:p>
          <a:p>
            <a:pPr>
              <a:spcBef>
                <a:spcPts val="1200"/>
              </a:spcBef>
            </a:pPr>
            <a:r>
              <a:rPr lang="en-US" dirty="0"/>
              <a:t>Mephedrone and </a:t>
            </a:r>
            <a:r>
              <a:rPr lang="en-US" dirty="0" err="1"/>
              <a:t>methylone</a:t>
            </a:r>
            <a:r>
              <a:rPr lang="en-US" dirty="0"/>
              <a:t> are similar to amphetamine: they are substrates for DAT, NET, and SERT – cause acute release of DA, NE, and 5-HT. </a:t>
            </a:r>
          </a:p>
          <a:p>
            <a:pPr>
              <a:spcBef>
                <a:spcPts val="1200"/>
              </a:spcBef>
            </a:pPr>
            <a:r>
              <a:rPr lang="en-US" dirty="0"/>
              <a:t>MDPV and α-PVP are selective reuptake inhibitors of DA and NE; similar to the action of methylphenidate.</a:t>
            </a:r>
          </a:p>
          <a:p>
            <a:pPr>
              <a:spcBef>
                <a:spcPts val="1200"/>
              </a:spcBef>
            </a:pPr>
            <a:r>
              <a:rPr lang="en-US" dirty="0"/>
              <a:t>Animal studies have shown that synthetic </a:t>
            </a:r>
            <a:r>
              <a:rPr lang="en-US" dirty="0" err="1"/>
              <a:t>cathinones</a:t>
            </a:r>
            <a:r>
              <a:rPr lang="en-US" dirty="0"/>
              <a:t> are highly rewarding and reinforcing</a:t>
            </a:r>
          </a:p>
        </p:txBody>
      </p:sp>
    </p:spTree>
    <p:extLst>
      <p:ext uri="{BB962C8B-B14F-4D97-AF65-F5344CB8AC3E}">
        <p14:creationId xmlns:p14="http://schemas.microsoft.com/office/powerpoint/2010/main" val="11379574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A60DB-E07D-A24C-A449-21587C7044C6}"/>
              </a:ext>
            </a:extLst>
          </p:cNvPr>
          <p:cNvSpPr>
            <a:spLocks noGrp="1"/>
          </p:cNvSpPr>
          <p:nvPr>
            <p:ph type="title"/>
          </p:nvPr>
        </p:nvSpPr>
        <p:spPr/>
        <p:txBody>
          <a:bodyPr/>
          <a:lstStyle/>
          <a:p>
            <a:r>
              <a:rPr lang="en-US" cap="all" dirty="0"/>
              <a:t>FIGURE 12.22</a:t>
            </a:r>
            <a:r>
              <a:rPr lang="en-US" dirty="0"/>
              <a:t>  Dose-dependent IV self-administration of MDPV, α-PVP, cocaine, and methamphetamine in rhesus monkeys </a:t>
            </a:r>
          </a:p>
        </p:txBody>
      </p:sp>
      <p:pic>
        <p:nvPicPr>
          <p:cNvPr id="6" name="Content Placeholder 5" descr="A trend graph plots the self-administration of four drugs. The horizontal axis represents the dose in milligrams per kilogram per infusion. The vertical axis represents final ratio completed ranging from 32 to 4484. The approximate data is as follows. Cocaine: (0.0032, 77), (0.032, 603), (0.32, 1645). Methamphetamine: (0.0032, 80), (0.032, 603), (0.28, 384). M D P V: (0.00032, 90), (0.0032, 608), (0.28, 1043). Alpha P V P: (0.00032, 160), (0.0032, 500), (0.32, 2838)."/>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388910" y="479425"/>
            <a:ext cx="7414180" cy="6300788"/>
          </a:xfrm>
        </p:spPr>
      </p:pic>
    </p:spTree>
    <p:extLst>
      <p:ext uri="{BB962C8B-B14F-4D97-AF65-F5344CB8AC3E}">
        <p14:creationId xmlns:p14="http://schemas.microsoft.com/office/powerpoint/2010/main" val="17777679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(7 of 7)</a:t>
            </a:r>
            <a:endParaRPr lang="en-US" dirty="0"/>
          </a:p>
        </p:txBody>
      </p:sp>
      <p:sp>
        <p:nvSpPr>
          <p:cNvPr id="3" name="Text Placeholder 2"/>
          <p:cNvSpPr>
            <a:spLocks noGrp="1"/>
          </p:cNvSpPr>
          <p:nvPr>
            <p:ph idx="1"/>
          </p:nvPr>
        </p:nvSpPr>
        <p:spPr/>
        <p:txBody>
          <a:bodyPr>
            <a:normAutofit/>
          </a:bodyPr>
          <a:lstStyle/>
          <a:p>
            <a:pPr marL="1371600" indent="-1371600">
              <a:lnSpc>
                <a:spcPct val="110000"/>
              </a:lnSpc>
              <a:buNone/>
            </a:pPr>
            <a:r>
              <a:rPr lang="en-US" dirty="0"/>
              <a:t>12.7.1  Name the four synthetic </a:t>
            </a:r>
            <a:r>
              <a:rPr lang="en-US" dirty="0" err="1"/>
              <a:t>cathinones</a:t>
            </a:r>
            <a:r>
              <a:rPr lang="en-US" dirty="0"/>
              <a:t> that have been studied most extensively, and describe their introduction as “street drugs.”</a:t>
            </a:r>
          </a:p>
          <a:p>
            <a:pPr marL="1371600" indent="-1371600">
              <a:lnSpc>
                <a:spcPct val="110000"/>
              </a:lnSpc>
              <a:buNone/>
            </a:pPr>
            <a:r>
              <a:rPr lang="en-US" dirty="0"/>
              <a:t>12.7.2  Discuss the basic pharmacology of synthetic </a:t>
            </a:r>
            <a:r>
              <a:rPr lang="en-US" dirty="0" err="1"/>
              <a:t>cathinones</a:t>
            </a:r>
            <a:r>
              <a:rPr lang="en-US" dirty="0"/>
              <a:t>, including routes of administration, subjective effects, and mechanisms of action.</a:t>
            </a:r>
          </a:p>
          <a:p>
            <a:pPr marL="1371600" indent="-1371600">
              <a:lnSpc>
                <a:spcPct val="110000"/>
              </a:lnSpc>
              <a:buNone/>
            </a:pPr>
            <a:r>
              <a:rPr lang="en-US" dirty="0"/>
              <a:t>12.7.3  Describe the evidence for potential neurotoxic effects of synthetic </a:t>
            </a:r>
            <a:r>
              <a:rPr lang="en-US" dirty="0" err="1"/>
              <a:t>cathinones</a:t>
            </a:r>
            <a:r>
              <a:rPr lang="en-US" dirty="0"/>
              <a:t>.</a:t>
            </a:r>
          </a:p>
        </p:txBody>
      </p:sp>
    </p:spTree>
    <p:extLst>
      <p:ext uri="{BB962C8B-B14F-4D97-AF65-F5344CB8AC3E}">
        <p14:creationId xmlns:p14="http://schemas.microsoft.com/office/powerpoint/2010/main" val="3843289684"/>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100">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56919D-3723-464B-9967-427A087CBD61}">
  <ds:schemaRefs>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purl.org/dc/elements/1.1/"/>
    <ds:schemaRef ds:uri="http://schemas.microsoft.com/office/2006/metadata/properties"/>
    <ds:schemaRef ds:uri="fd39d560-5c7d-4158-98a0-f420f8fdebce"/>
    <ds:schemaRef ds:uri="http://schemas.microsoft.com/office/2006/documentManagement/typ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3651</TotalTime>
  <Words>4490</Words>
  <Application>Microsoft Office PowerPoint</Application>
  <PresentationFormat>Widescreen</PresentationFormat>
  <Paragraphs>432</Paragraphs>
  <Slides>65</Slides>
  <Notes>50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65</vt:i4>
      </vt:variant>
    </vt:vector>
  </HeadingPairs>
  <TitlesOfParts>
    <vt:vector size="80" baseType="lpstr">
      <vt:lpstr>ＭＳ Ｐゴシック</vt:lpstr>
      <vt:lpstr>Arial</vt:lpstr>
      <vt:lpstr>Calibri</vt:lpstr>
      <vt:lpstr>Courier New</vt:lpstr>
      <vt:lpstr>DINPro-Bold</vt:lpstr>
      <vt:lpstr>DINPro-Light</vt:lpstr>
      <vt:lpstr>DINPro-Regular</vt:lpstr>
      <vt:lpstr>Geneva</vt:lpstr>
      <vt:lpstr>PalatinoLT-Roman</vt:lpstr>
      <vt:lpstr>PalatinoLTStd-Italic</vt:lpstr>
      <vt:lpstr>PalatinoLTStd-Roman</vt:lpstr>
      <vt:lpstr>STIXTwoText</vt:lpstr>
      <vt:lpstr>STIXTwoText-Bold</vt:lpstr>
      <vt:lpstr>Text Content Templates</vt:lpstr>
      <vt:lpstr>Figure-Only Templates</vt:lpstr>
      <vt:lpstr>Psychopharmacology: Drugs, the Brain, and Behavior</vt:lpstr>
      <vt:lpstr>Chapter 12 Psychomotor Stimulants: Cocaine, Amphetamine, and Related Drugs</vt:lpstr>
      <vt:lpstr>Chapter 12 Learning Objectives (1 of 7)</vt:lpstr>
      <vt:lpstr>Chapter 12 Learning Objectives (2 of 7)</vt:lpstr>
      <vt:lpstr>Chapter 12 Learning Objectives (3 of 7)</vt:lpstr>
      <vt:lpstr>Chapter 12 Learning Objectives (4 of 7)</vt:lpstr>
      <vt:lpstr>Chapter 12 Learning Objectives (5 of 7)</vt:lpstr>
      <vt:lpstr>Chapter 12 Learning Objectives (6 of 7)</vt:lpstr>
      <vt:lpstr>Chapter 12 Learning Objectives (7 of 7)</vt:lpstr>
      <vt:lpstr>Background, Pharmacology, and  Mechanisms of Action of Cocaine (1 of 5)</vt:lpstr>
      <vt:lpstr>Background, Pharmacology, and  Mechanisms of Action of Cocaine (2 of 5)</vt:lpstr>
      <vt:lpstr>Background, Pharmacology, and  Mechanisms of Action of Cocaine (3 of 5)</vt:lpstr>
      <vt:lpstr>FIGURE 12.5  Time course of plasma cocaine concentrations following different routes of administration </vt:lpstr>
      <vt:lpstr>Background, Pharmacology, and  Mechanisms of Action of Cocaine (4 of 5)</vt:lpstr>
      <vt:lpstr>FIGURE 12.6  Mechanisms of cocaine action </vt:lpstr>
      <vt:lpstr>FIGURE 12.7  Time course of striatal cocaine and DA concentrations following rapid IV cocaine infusion </vt:lpstr>
      <vt:lpstr>Background, Pharmacology, and  Mechanisms of Action of Cocaine (5 of 5)</vt:lpstr>
      <vt:lpstr>Review of Learning Objectives (1 of 7)</vt:lpstr>
      <vt:lpstr>Acute Behavioral and Physiological Effects of Cocaine (1 of 8)</vt:lpstr>
      <vt:lpstr>Acute Behavioral and Physiological Effects of Cocaine (2 of 8)</vt:lpstr>
      <vt:lpstr>Acute Behavioral and Physiological Effects of Cocaine (3 of 8)</vt:lpstr>
      <vt:lpstr>Acute Behavioral and Physiological Effects of Cocaine (4 of 8)</vt:lpstr>
      <vt:lpstr>Acute Behavioral and Physiological Effects of Cocaine (5 of 8)</vt:lpstr>
      <vt:lpstr>Acute Behavioral and Physiological Effects of Cocaine (6 of 8)</vt:lpstr>
      <vt:lpstr>Acute Behavioral and Physiological Effects of Cocaine (7 of 8)</vt:lpstr>
      <vt:lpstr>Acute Behavioral and Physiological Effects of Cocaine (8 of 8)</vt:lpstr>
      <vt:lpstr>Review of Learning Objectives (2 of 7)</vt:lpstr>
      <vt:lpstr>Cocaine Use and the Effects of Chronic Cocaine Exposure (1 of 10)</vt:lpstr>
      <vt:lpstr>Cocaine Use and the Effects of Chronic Cocaine Exposure (2 of 10)</vt:lpstr>
      <vt:lpstr>FIGURE 12.10  Relationship between striatal DA release and craving elicited by exposure to cocaine-related visual stimuli </vt:lpstr>
      <vt:lpstr>Cocaine Use and the Effects of Chronic Cocaine Exposure (3 of 10)</vt:lpstr>
      <vt:lpstr>FIGURE 12.11  Summary of altered striatal dopaminergic markers in chronic psychostimulant users compared to non-using controls </vt:lpstr>
      <vt:lpstr>Cocaine Use and the Effects of Chronic Cocaine Exposure (4 of 10)</vt:lpstr>
      <vt:lpstr>Cocaine Use and the Effects of Chronic Cocaine Exposure (5 of 10)</vt:lpstr>
      <vt:lpstr>Box 12.1  The Cutting Edge: Neurochemical Mechanisms of Cocaine Tolerance and Sensitization (Part 1)</vt:lpstr>
      <vt:lpstr>Cocaine Use and the Effects of Chronic Cocaine Exposure (6 of 10)</vt:lpstr>
      <vt:lpstr>Cocaine Use and the Effects of Chronic Cocaine Exposure (7 of 10)</vt:lpstr>
      <vt:lpstr>Cocaine Use and the Effects of Chronic Cocaine Exposure (8 of 10)</vt:lpstr>
      <vt:lpstr>Cocaine Use and the Effects of Chronic Cocaine Exposure (9 of 10)</vt:lpstr>
      <vt:lpstr>Cocaine Use and the Effects of Chronic Cocaine Exposure (10 of 10)</vt:lpstr>
      <vt:lpstr>FIGURE 12.12  Brain stimulation methods being tested for the treatment of substance use disorders </vt:lpstr>
      <vt:lpstr>Review of Learning Objectives (3 of 7)</vt:lpstr>
      <vt:lpstr>Background, History, and Basic Pharmacology of the Amphetamines (1 of 3)</vt:lpstr>
      <vt:lpstr>FIGURE 12.13  Amphetamine and related psychostimulants resemble the neurotransmitter DA in their chemical structure </vt:lpstr>
      <vt:lpstr>Background, History, and Basic Pharmacology of the Amphetamines (2 of 3)</vt:lpstr>
      <vt:lpstr>Background, History, and Basic Pharmacology of the Amphetamines (3 of 3)</vt:lpstr>
      <vt:lpstr>Review of Learning Objectives (4 of 7)</vt:lpstr>
      <vt:lpstr>Mechanisms of Action and  Neurobehavioral Effects of Amphetamines (1 of 7)</vt:lpstr>
      <vt:lpstr>FIGURE 12.14  Mechanisms of amphetamine-stimulated DA release </vt:lpstr>
      <vt:lpstr>Mechanisms of Action and  Neurobehavioral Effects of Amphetamines (2 of 7)</vt:lpstr>
      <vt:lpstr>Mechanisms of Action and  Neurobehavioral Effects of Amphetamines (3 of 7)</vt:lpstr>
      <vt:lpstr>Mechanisms of Action and  Neurobehavioral Effects of Amphetamines (4 of 7)</vt:lpstr>
      <vt:lpstr>Mechanisms of Action and  Neurobehavioral Effects of Amphetamines (5 of 7)</vt:lpstr>
      <vt:lpstr>Mechanisms of Action and  Neurobehavioral Effects of Amphetamines (6 of 7)</vt:lpstr>
      <vt:lpstr>Mechanisms of Action and  Neurobehavioral Effects of Amphetamines (7 of 7)</vt:lpstr>
      <vt:lpstr>Review of Learning Objectives (5 of 7)</vt:lpstr>
      <vt:lpstr>Methylphenidate and Modafinil (1 of 4)</vt:lpstr>
      <vt:lpstr>Methylphenidate and Modafinil (2 of 4)</vt:lpstr>
      <vt:lpstr>Box 12.2  Clinical Applications: Psychostimulants and ADHD</vt:lpstr>
      <vt:lpstr>Methylphenidate and Modafinil (3 of 4)</vt:lpstr>
      <vt:lpstr>Methylphenidate and Modafinil (4 of 4)</vt:lpstr>
      <vt:lpstr>Review of Learning Objectives (6 of 7)</vt:lpstr>
      <vt:lpstr>Synthetic Cathinones</vt:lpstr>
      <vt:lpstr>FIGURE 12.22  Dose-dependent IV self-administration of MDPV, α-PVP, cocaine, and methamphetamine in rhesus monkeys </vt:lpstr>
      <vt:lpstr>Review of Learning Objectives (7 of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57</cp:revision>
  <dcterms:created xsi:type="dcterms:W3CDTF">2021-11-13T04:08:54Z</dcterms:created>
  <dcterms:modified xsi:type="dcterms:W3CDTF">2022-03-11T22:25:31Z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