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80" r:id="rId5"/>
  </p:sldMasterIdLst>
  <p:notesMasterIdLst>
    <p:notesMasterId r:id="rId65"/>
  </p:notesMasterIdLst>
  <p:handoutMasterIdLst>
    <p:handoutMasterId r:id="rId66"/>
  </p:handoutMasterIdLst>
  <p:sldIdLst>
    <p:sldId id="261" r:id="rId6"/>
    <p:sldId id="270" r:id="rId7"/>
    <p:sldId id="274" r:id="rId8"/>
    <p:sldId id="288" r:id="rId9"/>
    <p:sldId id="289" r:id="rId10"/>
    <p:sldId id="271" r:id="rId11"/>
    <p:sldId id="280" r:id="rId12"/>
    <p:sldId id="341" r:id="rId13"/>
    <p:sldId id="290" r:id="rId14"/>
    <p:sldId id="291" r:id="rId15"/>
    <p:sldId id="342" r:id="rId16"/>
    <p:sldId id="292" r:id="rId17"/>
    <p:sldId id="293" r:id="rId18"/>
    <p:sldId id="294" r:id="rId19"/>
    <p:sldId id="343" r:id="rId20"/>
    <p:sldId id="297" r:id="rId21"/>
    <p:sldId id="344" r:id="rId22"/>
    <p:sldId id="299" r:id="rId23"/>
    <p:sldId id="300" r:id="rId24"/>
    <p:sldId id="285" r:id="rId25"/>
    <p:sldId id="302" r:id="rId26"/>
    <p:sldId id="301" r:id="rId27"/>
    <p:sldId id="345" r:id="rId28"/>
    <p:sldId id="303" r:id="rId29"/>
    <p:sldId id="346" r:id="rId30"/>
    <p:sldId id="305" r:id="rId31"/>
    <p:sldId id="307" r:id="rId32"/>
    <p:sldId id="347" r:id="rId33"/>
    <p:sldId id="309" r:id="rId34"/>
    <p:sldId id="348" r:id="rId35"/>
    <p:sldId id="312" r:id="rId36"/>
    <p:sldId id="310" r:id="rId37"/>
    <p:sldId id="313" r:id="rId38"/>
    <p:sldId id="315" r:id="rId39"/>
    <p:sldId id="316" r:id="rId40"/>
    <p:sldId id="286" r:id="rId41"/>
    <p:sldId id="349" r:id="rId42"/>
    <p:sldId id="320" r:id="rId43"/>
    <p:sldId id="350" r:id="rId44"/>
    <p:sldId id="318" r:id="rId45"/>
    <p:sldId id="319" r:id="rId46"/>
    <p:sldId id="317" r:id="rId47"/>
    <p:sldId id="351" r:id="rId48"/>
    <p:sldId id="323" r:id="rId49"/>
    <p:sldId id="325" r:id="rId50"/>
    <p:sldId id="326" r:id="rId51"/>
    <p:sldId id="352" r:id="rId52"/>
    <p:sldId id="327" r:id="rId53"/>
    <p:sldId id="353" r:id="rId54"/>
    <p:sldId id="329" r:id="rId55"/>
    <p:sldId id="354" r:id="rId56"/>
    <p:sldId id="355" r:id="rId57"/>
    <p:sldId id="330" r:id="rId58"/>
    <p:sldId id="356" r:id="rId59"/>
    <p:sldId id="335" r:id="rId60"/>
    <p:sldId id="338" r:id="rId61"/>
    <p:sldId id="340" r:id="rId62"/>
    <p:sldId id="337" r:id="rId63"/>
    <p:sldId id="336"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08" autoAdjust="0"/>
    <p:restoredTop sz="74719" autoAdjust="0"/>
  </p:normalViewPr>
  <p:slideViewPr>
    <p:cSldViewPr snapToGrid="0" snapToObjects="1">
      <p:cViewPr>
        <p:scale>
          <a:sx n="80" d="100"/>
          <a:sy n="80" d="100"/>
        </p:scale>
        <p:origin x="174" y="60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0572"/>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3/7/2022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3/7/2022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6C0744-2FEF-4441-821D-70180A370937}" type="slidenum">
              <a:rPr lang="en-US" smtClean="0"/>
              <a:t>1</a:t>
            </a:fld>
            <a:endParaRPr lang="en-US"/>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sz="1800" b="0" i="0" u="none" strike="noStrike" baseline="0" dirty="0">
                <a:latin typeface="AvenirLTStd-Heavy"/>
              </a:rPr>
              <a:t>Biogenic amines – made by living organisms </a:t>
            </a:r>
          </a:p>
          <a:p>
            <a:pPr algn="l"/>
            <a:r>
              <a:rPr lang="en-US" sz="1800" b="0" i="0" u="none" strike="noStrike" baseline="0" dirty="0">
                <a:latin typeface="AvenirLTStd-Heavy"/>
              </a:rPr>
              <a:t>Monoamines </a:t>
            </a:r>
            <a:r>
              <a:rPr lang="en-US" sz="1800" b="0" i="0" u="none" strike="noStrike" baseline="0" dirty="0">
                <a:latin typeface="PalatinoLTStd-Roman"/>
              </a:rPr>
              <a:t>(transmitters that have ne amine group)</a:t>
            </a:r>
            <a:endParaRPr lang="en-US" sz="1800" b="0" i="0" u="none" strike="noStrike" baseline="0" dirty="0">
              <a:latin typeface="AvenirLTStd-Heavy"/>
            </a:endParaRPr>
          </a:p>
        </p:txBody>
      </p:sp>
      <p:sp>
        <p:nvSpPr>
          <p:cNvPr id="4" name="Slide Number Placeholder 3"/>
          <p:cNvSpPr>
            <a:spLocks noGrp="1"/>
          </p:cNvSpPr>
          <p:nvPr>
            <p:ph type="sldNum" sz="quarter" idx="5"/>
          </p:nvPr>
        </p:nvSpPr>
        <p:spPr/>
        <p:txBody>
          <a:bodyPr/>
          <a:lstStyle/>
          <a:p>
            <a:fld id="{556C0744-2FEF-4441-821D-70180A370937}" type="slidenum">
              <a:rPr lang="en-US" smtClean="0"/>
              <a:t>6</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4400" dirty="0"/>
              <a:t>Neurotransmitters are synthesized in steps – synthetic pathways; this provides a mechanism for regulating </a:t>
            </a:r>
            <a:r>
              <a:rPr lang="en-US" sz="1800" b="0" i="0" u="none" strike="noStrike" baseline="0" dirty="0">
                <a:latin typeface="PalatinoLTStd-Roman"/>
              </a:rPr>
              <a:t>the amount of transmitter available for release, plus opportunity to intervene with drugs that alter transmitter synthesis in specific ways.  </a:t>
            </a:r>
          </a:p>
          <a:p>
            <a:pPr algn="l"/>
            <a:endParaRPr lang="en-US" sz="1800" b="0" i="0" u="none" strike="noStrike" baseline="0" dirty="0">
              <a:latin typeface="PalatinoLTStd-Roman"/>
            </a:endParaRPr>
          </a:p>
          <a:p>
            <a:pPr algn="l"/>
            <a:r>
              <a:rPr lang="en-US" sz="1800" b="1" i="0" u="none" strike="noStrike" baseline="0" dirty="0">
                <a:latin typeface="DINPro-Bold"/>
              </a:rPr>
              <a:t>Aromatic amino acid decarboxylase </a:t>
            </a:r>
            <a:r>
              <a:rPr lang="en-US" sz="1800" b="0" i="0" u="none" strike="noStrike" baseline="0" dirty="0">
                <a:latin typeface="PalatinoLTStd-Roman"/>
              </a:rPr>
              <a:t>(</a:t>
            </a:r>
            <a:r>
              <a:rPr lang="en-US" sz="1800" b="1" i="0" u="none" strike="noStrike" baseline="0" dirty="0">
                <a:latin typeface="DINPro-Bold"/>
              </a:rPr>
              <a:t>AADC</a:t>
            </a:r>
            <a:r>
              <a:rPr lang="en-US" sz="1800" b="0" i="0" u="none" strike="noStrike" baseline="0" dirty="0">
                <a:latin typeface="PalatinoLTStd-Roman"/>
              </a:rPr>
              <a:t>) catalyzes conversion of DOPA to dopamine; </a:t>
            </a:r>
            <a:r>
              <a:rPr lang="en-US" sz="1800" b="1" i="0" u="none" strike="noStrike" baseline="0" dirty="0">
                <a:latin typeface="DINPro-Bold"/>
              </a:rPr>
              <a:t>dopamine </a:t>
            </a:r>
            <a:r>
              <a:rPr lang="el-GR" sz="1800" b="1" i="0" u="none" strike="noStrike" baseline="0" dirty="0">
                <a:latin typeface="DINPro-Bold"/>
              </a:rPr>
              <a:t>β-</a:t>
            </a:r>
            <a:r>
              <a:rPr lang="en-US" sz="1800" b="1" i="0" u="none" strike="noStrike" baseline="0" dirty="0">
                <a:latin typeface="DINPro-Bold"/>
              </a:rPr>
              <a:t>hydroxylase </a:t>
            </a:r>
            <a:r>
              <a:rPr lang="en-US" sz="1800" b="0" i="0" u="none" strike="noStrike" baseline="0" dirty="0">
                <a:latin typeface="PalatinoLTStd-Roman"/>
              </a:rPr>
              <a:t>(</a:t>
            </a:r>
            <a:r>
              <a:rPr lang="en-US" sz="1800" b="1" i="0" u="none" strike="noStrike" baseline="0" dirty="0">
                <a:latin typeface="DINPro-Bold"/>
              </a:rPr>
              <a:t>DBH</a:t>
            </a:r>
            <a:r>
              <a:rPr lang="en-US" sz="1800" b="0" i="0" u="none" strike="noStrike" baseline="0" dirty="0">
                <a:latin typeface="PalatinoLTStd-Roman"/>
              </a:rPr>
              <a:t>) catalyzes conversion of dopamine to norepinephrine.</a:t>
            </a:r>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3314831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5.2  Multistep pathway of catecholamine synthesis 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Catecholamines are synthesized from the precursor amino acid tyrosine. Tyrosine hydroxylase and aromatic amino acid decarboxylase are found in all catecholaminergic neurons, whereas dopamine β-hydroxylase is present only in cells that use norepinephrine as their neurotransmitter.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803674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341993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dirty="0"/>
              <a:t>VMAT1 </a:t>
            </a:r>
            <a:r>
              <a:rPr lang="en-US" sz="1800" b="0" i="0" u="none" strike="noStrike" baseline="0" dirty="0">
                <a:latin typeface="PalatinoLTStd-Roman"/>
              </a:rPr>
              <a:t>is found in the adrenal medulla, VMAT2 is present in the brain. Both can be blocked by reserpine.</a:t>
            </a:r>
          </a:p>
          <a:p>
            <a:pPr algn="l"/>
            <a:r>
              <a:rPr lang="en-US" dirty="0"/>
              <a:t>Reversible VMAT2 inhibitors: </a:t>
            </a:r>
            <a:r>
              <a:rPr lang="en-US" b="1" dirty="0"/>
              <a:t>tetrabenazine</a:t>
            </a:r>
            <a:r>
              <a:rPr lang="en-US" dirty="0"/>
              <a:t> (trade name </a:t>
            </a:r>
            <a:r>
              <a:rPr lang="en-US" b="1" dirty="0" err="1"/>
              <a:t>Xenazine</a:t>
            </a:r>
            <a:r>
              <a:rPr lang="en-US" dirty="0"/>
              <a:t>), </a:t>
            </a:r>
            <a:r>
              <a:rPr lang="en-US" b="1" dirty="0" err="1"/>
              <a:t>deutetrabenazine</a:t>
            </a:r>
            <a:r>
              <a:rPr lang="en-US" b="1" dirty="0"/>
              <a:t> </a:t>
            </a:r>
            <a:r>
              <a:rPr lang="en-US" dirty="0"/>
              <a:t>(</a:t>
            </a:r>
            <a:r>
              <a:rPr lang="en-US" b="1" dirty="0" err="1"/>
              <a:t>Austedo</a:t>
            </a:r>
            <a:r>
              <a:rPr lang="en-US" dirty="0"/>
              <a:t>), and </a:t>
            </a:r>
            <a:r>
              <a:rPr lang="en-US" b="1" dirty="0" err="1"/>
              <a:t>valbenazine</a:t>
            </a:r>
            <a:r>
              <a:rPr lang="en-US" dirty="0"/>
              <a:t> (</a:t>
            </a:r>
            <a:r>
              <a:rPr lang="en-US" b="1" dirty="0" err="1"/>
              <a:t>Ingrezza</a:t>
            </a:r>
            <a:r>
              <a:rPr lang="en-US" dirty="0"/>
              <a:t>)</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1021953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5.5  A typical dopaminergic neuron 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membrane of its terminals possesses </a:t>
            </a:r>
            <a:r>
              <a:rPr lang="en-US" sz="1200" kern="1200" dirty="0" err="1">
                <a:solidFill>
                  <a:schemeClr val="tx1"/>
                </a:solidFill>
                <a:effectLst/>
                <a:latin typeface="+mn-lt"/>
                <a:ea typeface="+mn-ea"/>
                <a:cs typeface="+mn-cs"/>
              </a:rPr>
              <a:t>autoreceptors</a:t>
            </a:r>
            <a:r>
              <a:rPr lang="en-US" sz="1200" kern="1200" dirty="0">
                <a:solidFill>
                  <a:schemeClr val="tx1"/>
                </a:solidFill>
                <a:effectLst/>
                <a:latin typeface="+mn-lt"/>
                <a:ea typeface="+mn-ea"/>
                <a:cs typeface="+mn-cs"/>
              </a:rPr>
              <a:t>. When these receptors are stimulated, they inhibit sub­sequent DA release by the cell.</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76468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dirty="0"/>
              <a:t>Stereotyped behaviors include </a:t>
            </a:r>
            <a:r>
              <a:rPr lang="en-US" sz="1800" b="0" i="0" u="none" strike="noStrike" baseline="0" dirty="0">
                <a:latin typeface="PalatinoLTStd-Roman"/>
              </a:rPr>
              <a:t>intense sniffing, repetitive head and limb movements, and licking and biting.</a:t>
            </a:r>
            <a:endParaRPr lang="en-US"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4130987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0" i="0" u="none" strike="noStrike" baseline="0" dirty="0">
                <a:latin typeface="PalatinoLTStd-Roman"/>
              </a:rPr>
              <a:t>The </a:t>
            </a:r>
            <a:r>
              <a:rPr lang="en-US" sz="1800" b="0" i="0" u="none" strike="noStrike" baseline="0" dirty="0" err="1">
                <a:latin typeface="PalatinoLTStd-Roman"/>
              </a:rPr>
              <a:t>autoreceptors</a:t>
            </a:r>
            <a:r>
              <a:rPr lang="en-US" sz="1800" b="0" i="0" u="none" strike="noStrike" baseline="0" dirty="0">
                <a:latin typeface="PalatinoLTStd-Roman"/>
              </a:rPr>
              <a:t> inhibit neurotransmitter release through two combined mechanisms: (1) inhibiting action of voltage-gated Ca2+ channels - reduces DA release by directly reducing amount of activity-mediated Ca2+ influx needed for vesicular exocytosis</a:t>
            </a:r>
          </a:p>
          <a:p>
            <a:pPr algn="l"/>
            <a:r>
              <a:rPr lang="en-US" sz="1800" b="0" i="0" u="none" strike="noStrike" baseline="0" dirty="0">
                <a:latin typeface="PalatinoLTStd-Roman"/>
              </a:rPr>
              <a:t>(2) enhancing the opening of a type of voltage-gated K+ channel - indirectly reduces Ca2+ influx by shortening the duration of action potentials</a:t>
            </a: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734623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26574535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5.7</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Varicosities along the lengths of dopaminergic fibers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As depicted in this cartoon, dopaminergic fibers possess intermittent swellings that are filled with synaptic vesicles and that serve as the sites of DA release. (B) This photomicrograph obtained from cultured rat midbrain tissue depicts dopaminergic fibers and their associated varicosities in close proximity to the dendrites and cell body of a non-dopaminergic cell. To obtain the image, tissue from the midbrain of a young rat was removed and the cells were allowed to grow in a Petri dish. Some of the neurons in this brain area synthesize DA, whereas others use a different neurotransmitter. After 21 days in culture, the cells were stained using an antibody to TH, causing any structure containing this enzyme to appear dark in the photomicrograph. Note the large gray cell in the center of the image, which is labeled TH</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This means that the cell lacked the TH stain and, therefore, was not a dopaminergic neuron. The relatively thick fibers emanating from the cell body are its dendrites, which are studded with many small dark oblong structures that are TH</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(i.e., dopaminergic) varicosities that appear to be making connections with the non-DA neuron’s dendrites. Even axons such as the one in the mid-left region of the photomicrograph that don’t come into proximity with a dendrite still possess varicosities along their length. Finally, note the presence of the 10-μm scale bar at the lower right. This is a common method of showing the size of the cellular structures visible in the image. (A after L. </a:t>
            </a:r>
            <a:r>
              <a:rPr lang="en-US" sz="1200" kern="1200" dirty="0" err="1">
                <a:solidFill>
                  <a:schemeClr val="tx1"/>
                </a:solidFill>
                <a:effectLst/>
                <a:latin typeface="+mn-lt"/>
                <a:ea typeface="+mn-ea"/>
                <a:cs typeface="+mn-cs"/>
              </a:rPr>
              <a:t>Changliang</a:t>
            </a:r>
            <a:r>
              <a:rPr lang="en-US" sz="1200" kern="1200" dirty="0">
                <a:solidFill>
                  <a:schemeClr val="tx1"/>
                </a:solidFill>
                <a:effectLst/>
                <a:latin typeface="+mn-lt"/>
                <a:ea typeface="+mn-ea"/>
                <a:cs typeface="+mn-cs"/>
              </a:rPr>
              <a:t> and P. S. </a:t>
            </a:r>
            <a:r>
              <a:rPr lang="en-US" sz="1200" kern="1200" dirty="0" err="1">
                <a:solidFill>
                  <a:schemeClr val="tx1"/>
                </a:solidFill>
                <a:effectLst/>
                <a:latin typeface="+mn-lt"/>
                <a:ea typeface="+mn-ea"/>
                <a:cs typeface="+mn-cs"/>
              </a:rPr>
              <a:t>Kaeser</a:t>
            </a:r>
            <a:r>
              <a:rPr lang="en-US" sz="1200" kern="1200" dirty="0">
                <a:solidFill>
                  <a:schemeClr val="tx1"/>
                </a:solidFill>
                <a:effectLst/>
                <a:latin typeface="+mn-lt"/>
                <a:ea typeface="+mn-ea"/>
                <a:cs typeface="+mn-cs"/>
              </a:rPr>
              <a:t>. 2019. </a:t>
            </a:r>
            <a:r>
              <a:rPr lang="en-US" sz="1200" i="1" kern="1200" dirty="0" err="1">
                <a:solidFill>
                  <a:schemeClr val="tx1"/>
                </a:solidFill>
                <a:effectLst/>
                <a:latin typeface="+mn-lt"/>
                <a:ea typeface="+mn-ea"/>
                <a:cs typeface="+mn-cs"/>
              </a:rPr>
              <a:t>Curr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Opin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Neurobiol</a:t>
            </a:r>
            <a:r>
              <a:rPr lang="en-US" sz="1200" kern="1200" dirty="0">
                <a:solidFill>
                  <a:schemeClr val="tx1"/>
                </a:solidFill>
                <a:effectLst/>
                <a:latin typeface="+mn-lt"/>
                <a:ea typeface="+mn-ea"/>
                <a:cs typeface="+mn-cs"/>
              </a:rPr>
              <a:t> 57: 46–53.)</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1151122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0" i="0" u="none" strike="noStrike" baseline="0" dirty="0">
                <a:latin typeface="PalatinoLTStd-Roman"/>
              </a:rPr>
              <a:t>Compounds that block both DA and NE reuptake include </a:t>
            </a:r>
            <a:r>
              <a:rPr lang="en-US" sz="1800" b="1" i="0" u="none" strike="noStrike" baseline="0" dirty="0">
                <a:latin typeface="DINPro-Bold"/>
              </a:rPr>
              <a:t>methylphenidate </a:t>
            </a:r>
            <a:r>
              <a:rPr lang="en-US" sz="1800" b="0" i="0" u="none" strike="noStrike" baseline="0" dirty="0">
                <a:latin typeface="PalatinoLTStd-Roman"/>
              </a:rPr>
              <a:t>(</a:t>
            </a:r>
            <a:r>
              <a:rPr lang="en-US" sz="1800" b="1" i="0" u="none" strike="noStrike" baseline="0" dirty="0">
                <a:latin typeface="DINPro-Bold"/>
              </a:rPr>
              <a:t>Ritalin</a:t>
            </a:r>
            <a:r>
              <a:rPr lang="en-US" sz="1800" b="0" i="0" u="none" strike="noStrike" baseline="0" dirty="0">
                <a:latin typeface="PalatinoLTStd-Roman"/>
              </a:rPr>
              <a:t>) and </a:t>
            </a:r>
            <a:r>
              <a:rPr lang="en-US" sz="1800" b="1" i="0" u="none" strike="noStrike" baseline="0" dirty="0">
                <a:latin typeface="DINPro-Bold"/>
              </a:rPr>
              <a:t>amphetamine </a:t>
            </a:r>
            <a:r>
              <a:rPr lang="en-US" sz="1800" b="0" i="0" u="none" strike="noStrike" baseline="0" dirty="0">
                <a:latin typeface="PalatinoLTStd-Roman"/>
              </a:rPr>
              <a:t>(</a:t>
            </a:r>
            <a:r>
              <a:rPr lang="en-US" sz="1800" b="1" i="0" u="none" strike="noStrike" baseline="0" dirty="0">
                <a:latin typeface="DINPro-Bold"/>
              </a:rPr>
              <a:t>Adderall</a:t>
            </a:r>
            <a:r>
              <a:rPr lang="en-US" sz="1800" b="0" i="0" u="none" strike="noStrike" baseline="0" dirty="0">
                <a:latin typeface="PalatinoLTStd-Roman"/>
              </a:rPr>
              <a:t>) –standard treatments for attention-deficit/hyperactivity disorder (ADHD)</a:t>
            </a:r>
          </a:p>
          <a:p>
            <a:pPr algn="l"/>
            <a:r>
              <a:rPr lang="en-US" dirty="0"/>
              <a:t>Compounds that block NE transporters include </a:t>
            </a:r>
            <a:r>
              <a:rPr lang="en-US" sz="1800" b="1" i="0" u="none" strike="noStrike" baseline="0" dirty="0">
                <a:latin typeface="DINPro-Bold"/>
              </a:rPr>
              <a:t>atomoxetine </a:t>
            </a:r>
            <a:r>
              <a:rPr lang="en-US" sz="1800" b="0" i="0" u="none" strike="noStrike" baseline="0" dirty="0">
                <a:latin typeface="PalatinoLTStd-Roman"/>
              </a:rPr>
              <a:t>(</a:t>
            </a:r>
            <a:r>
              <a:rPr lang="en-US" sz="1800" b="1" i="0" u="none" strike="noStrike" baseline="0" dirty="0">
                <a:latin typeface="DINPro-Bold"/>
              </a:rPr>
              <a:t>Strattera</a:t>
            </a:r>
            <a:r>
              <a:rPr lang="en-US" sz="1800" b="0" i="0" u="none" strike="noStrike" baseline="0" dirty="0">
                <a:latin typeface="PalatinoLTStd-Roman"/>
              </a:rPr>
              <a:t>), a newer ADHD medication, and </a:t>
            </a:r>
            <a:r>
              <a:rPr lang="en-US" sz="1800" b="1" i="0" u="none" strike="noStrike" baseline="0" dirty="0">
                <a:latin typeface="DINPro-Bold"/>
              </a:rPr>
              <a:t>reboxetine </a:t>
            </a:r>
            <a:r>
              <a:rPr lang="en-US" sz="1800" b="0" i="0" u="none" strike="noStrike" baseline="0" dirty="0">
                <a:latin typeface="PalatinoLTStd-Roman"/>
              </a:rPr>
              <a:t>(</a:t>
            </a:r>
            <a:r>
              <a:rPr lang="en-US" sz="1800" b="1" i="0" u="none" strike="noStrike" baseline="0" dirty="0" err="1">
                <a:latin typeface="DINPro-Bold"/>
              </a:rPr>
              <a:t>Edronax</a:t>
            </a:r>
            <a:r>
              <a:rPr lang="en-US" sz="1800" b="0" i="0" u="none" strike="noStrike" baseline="0" dirty="0">
                <a:latin typeface="PalatinoLTStd-Roman"/>
              </a:rPr>
              <a:t>), a newer-generation antidepressant drug.</a:t>
            </a:r>
          </a:p>
          <a:p>
            <a:pPr algn="l"/>
            <a:r>
              <a:rPr lang="en-US" sz="1800" b="0" i="0" u="none" strike="noStrike" baseline="0" dirty="0">
                <a:latin typeface="PalatinoLTStd-Roman"/>
              </a:rPr>
              <a:t>Compounds that block combinations of catecholamine and serotonin (5-HT) reuptake: </a:t>
            </a:r>
            <a:r>
              <a:rPr lang="en-US" sz="1800" b="1" i="0" u="none" strike="noStrike" baseline="0" dirty="0">
                <a:solidFill>
                  <a:srgbClr val="000000"/>
                </a:solidFill>
                <a:latin typeface="DINPro-Bold"/>
              </a:rPr>
              <a:t>tricyclic antidepressants</a:t>
            </a:r>
            <a:r>
              <a:rPr lang="en-US" sz="1800" b="0" i="0" u="none" strike="noStrike" baseline="0" dirty="0">
                <a:solidFill>
                  <a:srgbClr val="000000"/>
                </a:solidFill>
                <a:latin typeface="PalatinoLTStd-Roman"/>
              </a:rPr>
              <a:t>, which block the NE and 5-HT transporters, and </a:t>
            </a:r>
            <a:r>
              <a:rPr lang="en-US" sz="1800" b="1" i="0" u="none" strike="noStrike" baseline="0" dirty="0">
                <a:solidFill>
                  <a:srgbClr val="000000"/>
                </a:solidFill>
                <a:latin typeface="DINPro-Bold"/>
              </a:rPr>
              <a:t>cocaine</a:t>
            </a:r>
            <a:r>
              <a:rPr lang="en-US" sz="1800" b="0" i="0" u="none" strike="noStrike" baseline="0" dirty="0">
                <a:solidFill>
                  <a:srgbClr val="000000"/>
                </a:solidFill>
                <a:latin typeface="PalatinoLTStd-Roman"/>
              </a:rPr>
              <a:t>, which inhibits reuptake</a:t>
            </a:r>
          </a:p>
          <a:p>
            <a:pPr algn="l"/>
            <a:r>
              <a:rPr lang="en-US" sz="1800" b="0" i="0" u="none" strike="noStrike" baseline="0" dirty="0">
                <a:solidFill>
                  <a:srgbClr val="000000"/>
                </a:solidFill>
                <a:latin typeface="PalatinoLTStd-Roman"/>
              </a:rPr>
              <a:t>of all three major monoamine transmitters: DA, NE, and 5-HT.</a:t>
            </a: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3948679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5.8  Extracellular DA levels are strongly elevated by treatment with a DA reuptake inhibitor </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Microdialysis</a:t>
            </a:r>
            <a:r>
              <a:rPr lang="en-US" sz="1200" kern="1200" dirty="0">
                <a:solidFill>
                  <a:schemeClr val="tx1"/>
                </a:solidFill>
                <a:effectLst/>
                <a:latin typeface="+mn-lt"/>
                <a:ea typeface="+mn-ea"/>
                <a:cs typeface="+mn-cs"/>
              </a:rPr>
              <a:t> probes were surgically implanted in the nucleus </a:t>
            </a:r>
            <a:r>
              <a:rPr lang="en-US" sz="1200" kern="1200" dirty="0" err="1">
                <a:solidFill>
                  <a:schemeClr val="tx1"/>
                </a:solidFill>
                <a:effectLst/>
                <a:latin typeface="+mn-lt"/>
                <a:ea typeface="+mn-ea"/>
                <a:cs typeface="+mn-cs"/>
              </a:rPr>
              <a:t>accumbens</a:t>
            </a:r>
            <a:r>
              <a:rPr lang="en-US" sz="1200" kern="1200" dirty="0">
                <a:solidFill>
                  <a:schemeClr val="tx1"/>
                </a:solidFill>
                <a:effectLst/>
                <a:latin typeface="+mn-lt"/>
                <a:ea typeface="+mn-ea"/>
                <a:cs typeface="+mn-cs"/>
              </a:rPr>
              <a:t> of mice. Two days later, mice were injected intraperitoneally with either 10 mg/kg of the selective DA reuptake inhibitor GBR 12909 or saline vehicle. Samples of extracellular fluid were collected at 20-minute intervals and analyzed for DA. In genetically intact control mice with two copies of the transporter gene (designated +/+), the inhibitor caused extracellular DA levels to rise to more than 200% of baseline for at least 3 hours. Saline treatment of the control mice showed no change in DA. When mice that had been genetically engineered to eliminate the DA transporter (i.e., DA transporter knockout mice, designated −/−) were given either GBR 12909 or saline, there was no change in extracellular DA levels. This demonstrated that the enhancing effect of GBR 12909 was mediated by its effects on the DA transporter. Note that all DA levels are expressed as percent of the baseline at time 0. This obscures the fact that baseline extracellular DA is markedly increased in the transporter knockout mice because they cannot efficiently remove DA from the extracellular fluid. (From E. </a:t>
            </a:r>
            <a:r>
              <a:rPr lang="en-US" sz="1200" kern="1200" dirty="0" err="1">
                <a:solidFill>
                  <a:schemeClr val="tx1"/>
                </a:solidFill>
                <a:effectLst/>
                <a:latin typeface="+mn-lt"/>
                <a:ea typeface="+mn-ea"/>
                <a:cs typeface="+mn-cs"/>
              </a:rPr>
              <a:t>Carboni</a:t>
            </a:r>
            <a:r>
              <a:rPr lang="en-US" sz="1200" kern="1200" dirty="0">
                <a:solidFill>
                  <a:schemeClr val="tx1"/>
                </a:solidFill>
                <a:effectLst/>
                <a:latin typeface="+mn-lt"/>
                <a:ea typeface="+mn-ea"/>
                <a:cs typeface="+mn-cs"/>
              </a:rPr>
              <a:t> et al. 2001.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21: RC141. © 2001 Society for Neuroscience.)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4245844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Two types of MAO: MAO-A is expressed by catecholamine neurons; MAO-B is found in other types of neurons and glial cells (astrocytes) </a:t>
            </a:r>
          </a:p>
          <a:p>
            <a:pPr algn="l"/>
            <a:r>
              <a:rPr lang="en-US" sz="1800" b="1" i="0" u="none" strike="noStrike" baseline="0" dirty="0">
                <a:latin typeface="DINPro-Bold"/>
              </a:rPr>
              <a:t>Nonselective MAO inhibitors </a:t>
            </a:r>
            <a:r>
              <a:rPr lang="en-US" sz="1800" b="0" i="0" u="none" strike="noStrike" baseline="0" dirty="0">
                <a:latin typeface="PalatinoLTStd-Roman"/>
              </a:rPr>
              <a:t>(block both MAO-A and MAO-B): </a:t>
            </a:r>
            <a:r>
              <a:rPr lang="en-US" sz="1800" b="1" i="0" u="none" strike="noStrike" baseline="0" dirty="0">
                <a:latin typeface="DINPro-Bold"/>
              </a:rPr>
              <a:t>phenelzine </a:t>
            </a:r>
            <a:r>
              <a:rPr lang="en-US" sz="1800" b="0" i="0" u="none" strike="noStrike" baseline="0" dirty="0">
                <a:latin typeface="PalatinoLTStd-Roman"/>
              </a:rPr>
              <a:t>(</a:t>
            </a:r>
            <a:r>
              <a:rPr lang="en-US" sz="1800" b="1" i="0" u="none" strike="noStrike" baseline="0" dirty="0" err="1">
                <a:latin typeface="DINPro-Bold"/>
              </a:rPr>
              <a:t>Nardil</a:t>
            </a:r>
            <a:r>
              <a:rPr lang="en-US" sz="1800" b="0" i="0" u="none" strike="noStrike" baseline="0" dirty="0">
                <a:latin typeface="PalatinoLTStd-Roman"/>
              </a:rPr>
              <a:t>) or </a:t>
            </a:r>
            <a:r>
              <a:rPr lang="en-US" sz="1800" b="1" i="0" u="none" strike="noStrike" baseline="0" dirty="0">
                <a:latin typeface="DINPro-Bold"/>
              </a:rPr>
              <a:t>tranylcypromine </a:t>
            </a:r>
            <a:r>
              <a:rPr lang="en-US" sz="1800" b="0" i="0" u="none" strike="noStrike" baseline="0" dirty="0">
                <a:latin typeface="PalatinoLTStd-Roman"/>
              </a:rPr>
              <a:t>(</a:t>
            </a:r>
            <a:r>
              <a:rPr lang="en-US" sz="1800" b="1" i="0" u="none" strike="noStrike" baseline="0" dirty="0" err="1">
                <a:latin typeface="DINPro-Bold"/>
              </a:rPr>
              <a:t>Parnate</a:t>
            </a:r>
            <a:r>
              <a:rPr lang="en-US" sz="1800" b="0" i="0" u="none" strike="noStrike" baseline="0" dirty="0">
                <a:latin typeface="PalatinoLTStd-Roman"/>
              </a:rPr>
              <a:t>) – used to treat depression have dangerous side effects. </a:t>
            </a:r>
          </a:p>
          <a:p>
            <a:pPr algn="l"/>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2011876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COMT inhibitors to enhance </a:t>
            </a:r>
            <a:r>
              <a:rPr lang="en-US" sz="1800" b="0" i="0" u="none" strike="noStrike" baseline="0" dirty="0" err="1">
                <a:latin typeface="PalatinoLTStd-Roman"/>
              </a:rPr>
              <a:t>l-DOPA</a:t>
            </a:r>
            <a:r>
              <a:rPr lang="en-US" sz="1800" b="0" i="0" u="none" strike="noStrike" baseline="0" dirty="0">
                <a:latin typeface="PalatinoLTStd-Roman"/>
              </a:rPr>
              <a:t> availability in Parkinson’s patients: </a:t>
            </a:r>
            <a:r>
              <a:rPr lang="en-US" sz="1800" b="1" i="0" u="none" strike="noStrike" baseline="0" dirty="0">
                <a:latin typeface="DINPro-Bold"/>
              </a:rPr>
              <a:t>entacapone </a:t>
            </a:r>
            <a:r>
              <a:rPr lang="en-US" sz="1800" b="0" i="0" u="none" strike="noStrike" baseline="0" dirty="0">
                <a:latin typeface="PalatinoLTStd-Roman"/>
              </a:rPr>
              <a:t>(</a:t>
            </a:r>
            <a:r>
              <a:rPr lang="en-US" sz="1800" b="1" i="0" u="none" strike="noStrike" baseline="0" dirty="0" err="1">
                <a:latin typeface="DINPro-Bold"/>
              </a:rPr>
              <a:t>Comtan</a:t>
            </a:r>
            <a:r>
              <a:rPr lang="en-US" sz="1800" b="0" i="0" u="none" strike="noStrike" baseline="0" dirty="0">
                <a:latin typeface="PalatinoLTStd-Roman"/>
              </a:rPr>
              <a:t>), </a:t>
            </a:r>
            <a:r>
              <a:rPr lang="en-US" sz="1800" b="1" i="0" u="none" strike="noStrike" baseline="0" dirty="0" err="1">
                <a:latin typeface="DINPro-Bold"/>
              </a:rPr>
              <a:t>opicapone</a:t>
            </a:r>
            <a:r>
              <a:rPr lang="en-US" sz="1800" b="1" i="0" u="none" strike="noStrike" baseline="0" dirty="0">
                <a:latin typeface="DINPro-Bold"/>
              </a:rPr>
              <a:t> </a:t>
            </a:r>
            <a:r>
              <a:rPr lang="en-US" sz="1800" b="0" i="0" u="none" strike="noStrike" baseline="0" dirty="0">
                <a:latin typeface="PalatinoLTStd-Roman"/>
              </a:rPr>
              <a:t>(</a:t>
            </a:r>
            <a:r>
              <a:rPr lang="en-US" sz="1800" b="1" i="0" u="none" strike="noStrike" baseline="0" dirty="0" err="1">
                <a:latin typeface="DINPro-Bold"/>
              </a:rPr>
              <a:t>Ongentys</a:t>
            </a:r>
            <a:r>
              <a:rPr lang="en-US" sz="1800" b="0" i="0" u="none" strike="noStrike" baseline="0" dirty="0">
                <a:latin typeface="PalatinoLTStd-Roman"/>
              </a:rPr>
              <a:t>), and </a:t>
            </a:r>
            <a:r>
              <a:rPr lang="en-US" sz="1800" b="1" i="0" u="none" strike="noStrike" baseline="0" dirty="0">
                <a:latin typeface="DINPro-Bold"/>
              </a:rPr>
              <a:t>tolcapone </a:t>
            </a:r>
            <a:r>
              <a:rPr lang="en-US" sz="1800" b="0" i="0" u="none" strike="noStrike" baseline="0" dirty="0">
                <a:latin typeface="PalatinoLTStd-Roman"/>
              </a:rPr>
              <a:t>(</a:t>
            </a:r>
            <a:r>
              <a:rPr lang="en-US" sz="1800" b="1" i="0" u="none" strike="noStrike" baseline="0" dirty="0" err="1">
                <a:latin typeface="DINPro-Bold"/>
              </a:rPr>
              <a:t>Tasmar</a:t>
            </a:r>
            <a:r>
              <a:rPr lang="en-US" sz="1800" b="0" i="0" u="none" strike="noStrike" baseline="0" dirty="0">
                <a:latin typeface="PalatinoLTStd-Roman"/>
              </a:rPr>
              <a:t>),</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1477612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b</a:t>
            </a:r>
          </a:p>
        </p:txBody>
      </p:sp>
      <p:sp>
        <p:nvSpPr>
          <p:cNvPr id="4" name="Slide Number Placeholder 3"/>
          <p:cNvSpPr>
            <a:spLocks noGrp="1"/>
          </p:cNvSpPr>
          <p:nvPr>
            <p:ph type="sldNum" sz="quarter" idx="5"/>
          </p:nvPr>
        </p:nvSpPr>
        <p:spPr/>
        <p:txBody>
          <a:bodyPr/>
          <a:lstStyle/>
          <a:p>
            <a:fld id="{556C0744-2FEF-4441-821D-70180A370937}" type="slidenum">
              <a:rPr lang="en-US" smtClean="0"/>
              <a:t>20</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A small group of cells in the hypothalamus gives rise to the </a:t>
            </a:r>
            <a:r>
              <a:rPr lang="en-US" sz="1800" b="1" i="0" u="none" strike="noStrike" baseline="0" dirty="0" err="1">
                <a:latin typeface="DINPro-Bold"/>
              </a:rPr>
              <a:t>tuberohypophyseal</a:t>
            </a:r>
            <a:r>
              <a:rPr lang="en-US" sz="1800" b="1" i="0" u="none" strike="noStrike" baseline="0" dirty="0">
                <a:latin typeface="DINPro-Bold"/>
              </a:rPr>
              <a:t> dopamine pathway; </a:t>
            </a:r>
            <a:r>
              <a:rPr lang="en-US" sz="1800" b="0" i="0" u="none" strike="noStrike" baseline="0" dirty="0">
                <a:latin typeface="PalatinoLTStd-Roman"/>
              </a:rPr>
              <a:t>important in controlling secretion of prolactin by the pituitary gland. </a:t>
            </a:r>
          </a:p>
          <a:p>
            <a:pPr algn="l"/>
            <a:r>
              <a:rPr lang="en-US" sz="1800" b="0" i="0" u="none" strike="noStrike" baseline="0" dirty="0">
                <a:latin typeface="PalatinoLTStd-Roman"/>
              </a:rPr>
              <a:t>There are also DA-containing neurons within sensory structures such as the olfactory bulbs and the retina.</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31561293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5.9  The ascending DA system can be divided into three pathways 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nigrostriatal pathway (A) originates in the substantia </a:t>
            </a:r>
            <a:r>
              <a:rPr lang="en-US" sz="1200" kern="1200" dirty="0" err="1">
                <a:solidFill>
                  <a:schemeClr val="tx1"/>
                </a:solidFill>
                <a:effectLst/>
                <a:latin typeface="+mn-lt"/>
                <a:ea typeface="+mn-ea"/>
                <a:cs typeface="+mn-cs"/>
              </a:rPr>
              <a:t>nigra</a:t>
            </a:r>
            <a:r>
              <a:rPr lang="en-US" sz="1200" kern="1200" dirty="0">
                <a:solidFill>
                  <a:schemeClr val="tx1"/>
                </a:solidFill>
                <a:effectLst/>
                <a:latin typeface="+mn-lt"/>
                <a:ea typeface="+mn-ea"/>
                <a:cs typeface="+mn-cs"/>
              </a:rPr>
              <a:t> (A9 cell cluster) and innervates the caudate–putamen (dorsal striatum). The mesolimbic pathway (B and C) originates in the VTA (A10 cell cluster) and innervates various limbic system structures such as the nucleus </a:t>
            </a:r>
            <a:r>
              <a:rPr lang="en-US" sz="1200" kern="1200" dirty="0" err="1">
                <a:solidFill>
                  <a:schemeClr val="tx1"/>
                </a:solidFill>
                <a:effectLst/>
                <a:latin typeface="+mn-lt"/>
                <a:ea typeface="+mn-ea"/>
                <a:cs typeface="+mn-cs"/>
              </a:rPr>
              <a:t>accumbens</a:t>
            </a:r>
            <a:r>
              <a:rPr lang="en-US" sz="1200" kern="1200" dirty="0">
                <a:solidFill>
                  <a:schemeClr val="tx1"/>
                </a:solidFill>
                <a:effectLst/>
                <a:latin typeface="+mn-lt"/>
                <a:ea typeface="+mn-ea"/>
                <a:cs typeface="+mn-cs"/>
              </a:rPr>
              <a:t>, hippocampus, lateral septum, and amygdala (not shown here). The </a:t>
            </a:r>
            <a:r>
              <a:rPr lang="en-US" sz="1200" kern="1200" dirty="0" err="1">
                <a:solidFill>
                  <a:schemeClr val="tx1"/>
                </a:solidFill>
                <a:effectLst/>
                <a:latin typeface="+mn-lt"/>
                <a:ea typeface="+mn-ea"/>
                <a:cs typeface="+mn-cs"/>
              </a:rPr>
              <a:t>mesocortical</a:t>
            </a:r>
            <a:r>
              <a:rPr lang="en-US" sz="1200" kern="1200" dirty="0">
                <a:solidFill>
                  <a:schemeClr val="tx1"/>
                </a:solidFill>
                <a:effectLst/>
                <a:latin typeface="+mn-lt"/>
                <a:ea typeface="+mn-ea"/>
                <a:cs typeface="+mn-cs"/>
              </a:rPr>
              <a:t> pathway (C) also originates in the VTA and innervates the cerebral cortex. The pathways have been depicted in a sagittal view of a rodent (e.g., rat or mouse) brain for ease in identification.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17043976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u="none" dirty="0"/>
              <a:t>Neurotoxins used for lesioning: </a:t>
            </a:r>
            <a:r>
              <a:rPr lang="en-US" sz="1800" b="1" i="0" u="none" strike="noStrike" baseline="0" dirty="0">
                <a:latin typeface="DINPro-Bold"/>
              </a:rPr>
              <a:t>6-hydroxydopamine </a:t>
            </a:r>
            <a:r>
              <a:rPr lang="en-US" sz="1800" b="0" i="0" u="none" strike="noStrike" baseline="0" dirty="0">
                <a:latin typeface="PalatinoLTStd-Roman"/>
              </a:rPr>
              <a:t>(</a:t>
            </a:r>
            <a:r>
              <a:rPr lang="en-US" sz="1800" b="1" i="0" u="none" strike="noStrike" baseline="0" dirty="0">
                <a:latin typeface="DINPro-Bold"/>
              </a:rPr>
              <a:t>6-OHDA</a:t>
            </a:r>
            <a:r>
              <a:rPr lang="en-US" sz="1800" b="0" i="0" u="none" strike="noStrike" baseline="0" dirty="0">
                <a:latin typeface="PalatinoLTStd-Roman"/>
              </a:rPr>
              <a:t>) and </a:t>
            </a:r>
            <a:r>
              <a:rPr lang="en-US" sz="1800" b="1" i="0" u="none" strike="noStrike" baseline="0" dirty="0">
                <a:latin typeface="DINPro-Bold"/>
              </a:rPr>
              <a:t>1-methyl-4-phenyl-1,2,3,6-tetrahydropyridine </a:t>
            </a:r>
            <a:r>
              <a:rPr lang="en-US" sz="1800" b="0" i="0" u="none" strike="noStrike" baseline="0" dirty="0">
                <a:latin typeface="PalatinoLTStd-Roman"/>
              </a:rPr>
              <a:t>(</a:t>
            </a:r>
            <a:r>
              <a:rPr lang="en-US" sz="1800" b="1" i="0" u="none" strike="noStrike" baseline="0" dirty="0">
                <a:latin typeface="DINPro-Bold"/>
              </a:rPr>
              <a:t>MPTP</a:t>
            </a:r>
            <a:r>
              <a:rPr lang="en-US" sz="1800" b="0" i="0" u="none" strike="noStrike" baseline="0" dirty="0">
                <a:latin typeface="PalatinoLTStd-Roman"/>
              </a:rPr>
              <a:t>).</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17039087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5.10  Unilateral damage to the nigrostriatal pathway 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Shown here is a photomicrograph of a tissue section from the brain of a rat that had received a unilateral 6-OHDA lesion of the medial forebrain bundle, which contains the axons of the nigrostriatal pathway. The section, which was stained using an antibody against tyrosine hydroxylase, depicts the loss of dopaminergic fibers and terminals in the striatum on the side of the lesion. </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3661258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22992954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18866392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5.11  Different subsets of VTA dopaminergic neurons mediate the effects of rewarding versus aversive stimuli 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diagram depicts a sagittal section through a rodent brain illustrating the features of VTA dopaminergic neurons that help encode rewarding versus aversive stimuli. The reward-mediating pathway (green) includes input to the VTA from the </a:t>
            </a:r>
            <a:r>
              <a:rPr lang="en-US" sz="1200" kern="1200" dirty="0" err="1">
                <a:solidFill>
                  <a:schemeClr val="tx1"/>
                </a:solidFill>
                <a:effectLst/>
                <a:latin typeface="+mn-lt"/>
                <a:ea typeface="+mn-ea"/>
                <a:cs typeface="+mn-cs"/>
              </a:rPr>
              <a:t>laterodorsal</a:t>
            </a:r>
            <a:r>
              <a:rPr lang="en-US" sz="1200" kern="1200" dirty="0">
                <a:solidFill>
                  <a:schemeClr val="tx1"/>
                </a:solidFill>
                <a:effectLst/>
                <a:latin typeface="+mn-lt"/>
                <a:ea typeface="+mn-ea"/>
                <a:cs typeface="+mn-cs"/>
              </a:rPr>
              <a:t> tegmentum (LDT) and dopaminergic output from the VTA to the nucleus </a:t>
            </a:r>
            <a:r>
              <a:rPr lang="en-US" sz="1200" kern="1200" dirty="0" err="1">
                <a:solidFill>
                  <a:schemeClr val="tx1"/>
                </a:solidFill>
                <a:effectLst/>
                <a:latin typeface="+mn-lt"/>
                <a:ea typeface="+mn-ea"/>
                <a:cs typeface="+mn-cs"/>
              </a:rPr>
              <a:t>accumbens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NAc</a:t>
            </a:r>
            <a:r>
              <a:rPr lang="en-US" sz="1200" kern="1200" dirty="0">
                <a:solidFill>
                  <a:schemeClr val="tx1"/>
                </a:solidFill>
                <a:effectLst/>
                <a:latin typeface="+mn-lt"/>
                <a:ea typeface="+mn-ea"/>
                <a:cs typeface="+mn-cs"/>
              </a:rPr>
              <a:t>). The aversion-mediating pathway (red) includes input to the VTA from the lateral habenula (</a:t>
            </a:r>
            <a:r>
              <a:rPr lang="en-US" sz="1200" kern="1200" dirty="0" err="1">
                <a:solidFill>
                  <a:schemeClr val="tx1"/>
                </a:solidFill>
                <a:effectLst/>
                <a:latin typeface="+mn-lt"/>
                <a:ea typeface="+mn-ea"/>
                <a:cs typeface="+mn-cs"/>
              </a:rPr>
              <a:t>LHb</a:t>
            </a:r>
            <a:r>
              <a:rPr lang="en-US" sz="1200" kern="1200" dirty="0">
                <a:solidFill>
                  <a:schemeClr val="tx1"/>
                </a:solidFill>
                <a:effectLst/>
                <a:latin typeface="+mn-lt"/>
                <a:ea typeface="+mn-ea"/>
                <a:cs typeface="+mn-cs"/>
              </a:rPr>
              <a:t>) and dopaminergic output from the VTA to the medial prefrontal cortex (</a:t>
            </a:r>
            <a:r>
              <a:rPr lang="en-US" sz="1200" kern="1200" dirty="0" err="1">
                <a:solidFill>
                  <a:schemeClr val="tx1"/>
                </a:solidFill>
                <a:effectLst/>
                <a:latin typeface="+mn-lt"/>
                <a:ea typeface="+mn-ea"/>
                <a:cs typeface="+mn-cs"/>
              </a:rPr>
              <a:t>mPFC</a:t>
            </a:r>
            <a:r>
              <a:rPr lang="en-US" sz="1200" kern="1200" dirty="0">
                <a:solidFill>
                  <a:schemeClr val="tx1"/>
                </a:solidFill>
                <a:effectLst/>
                <a:latin typeface="+mn-lt"/>
                <a:ea typeface="+mn-ea"/>
                <a:cs typeface="+mn-cs"/>
              </a:rPr>
              <a:t>). (From D. J. Chandler et al. 2014. </a:t>
            </a:r>
            <a:r>
              <a:rPr lang="en-US" sz="1200" i="1" kern="1200" dirty="0">
                <a:solidFill>
                  <a:schemeClr val="tx1"/>
                </a:solidFill>
                <a:effectLst/>
                <a:latin typeface="+mn-lt"/>
                <a:ea typeface="+mn-ea"/>
                <a:cs typeface="+mn-cs"/>
              </a:rPr>
              <a:t>Front Neural Circuits</a:t>
            </a:r>
            <a:r>
              <a:rPr lang="en-US" sz="1200" kern="1200" dirty="0">
                <a:solidFill>
                  <a:schemeClr val="tx1"/>
                </a:solidFill>
                <a:effectLst/>
                <a:latin typeface="+mn-lt"/>
                <a:ea typeface="+mn-ea"/>
                <a:cs typeface="+mn-cs"/>
              </a:rPr>
              <a:t> 8: 53. </a:t>
            </a:r>
            <a:r>
              <a:rPr lang="en-US" sz="1200" kern="1200" dirty="0" err="1">
                <a:solidFill>
                  <a:schemeClr val="tx1"/>
                </a:solidFill>
                <a:effectLst/>
                <a:latin typeface="+mn-lt"/>
                <a:ea typeface="+mn-ea"/>
                <a:cs typeface="+mn-cs"/>
              </a:rPr>
              <a:t>doi</a:t>
            </a:r>
            <a:r>
              <a:rPr lang="en-US" sz="1200" kern="1200" dirty="0">
                <a:solidFill>
                  <a:schemeClr val="tx1"/>
                </a:solidFill>
                <a:effectLst/>
                <a:latin typeface="+mn-lt"/>
                <a:ea typeface="+mn-ea"/>
                <a:cs typeface="+mn-cs"/>
              </a:rPr>
              <a:t>: 10.3389/fncir.2014.00053; CC BY 3.0, https://</a:t>
            </a:r>
            <a:r>
              <a:rPr lang="en-US" sz="1200" kern="1200" dirty="0" err="1">
                <a:solidFill>
                  <a:schemeClr val="tx1"/>
                </a:solidFill>
                <a:effectLst/>
                <a:latin typeface="+mn-lt"/>
                <a:ea typeface="+mn-ea"/>
                <a:cs typeface="+mn-cs"/>
              </a:rPr>
              <a:t>creativecommons.org</a:t>
            </a:r>
            <a:r>
              <a:rPr lang="en-US" sz="1200" kern="1200" dirty="0">
                <a:solidFill>
                  <a:schemeClr val="tx1"/>
                </a:solidFill>
                <a:effectLst/>
                <a:latin typeface="+mn-lt"/>
                <a:ea typeface="+mn-ea"/>
                <a:cs typeface="+mn-cs"/>
              </a:rPr>
              <a:t>/licenses/by/3.0/us/)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17291572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Metabotropic receptors interact with G proteins and function  through second messengers.</a:t>
            </a:r>
          </a:p>
          <a:p>
            <a:r>
              <a:rPr lang="en-US" altLang="en-US" dirty="0"/>
              <a:t>D</a:t>
            </a:r>
            <a:r>
              <a:rPr lang="en-US" altLang="en-US" baseline="-25000" dirty="0"/>
              <a:t>1</a:t>
            </a:r>
            <a:r>
              <a:rPr lang="en-US" altLang="en-US" dirty="0"/>
              <a:t> and D</a:t>
            </a:r>
            <a:r>
              <a:rPr lang="en-US" altLang="en-US" baseline="-25000" dirty="0"/>
              <a:t>5</a:t>
            </a:r>
            <a:r>
              <a:rPr lang="en-US" altLang="en-US" dirty="0"/>
              <a:t> are similar (D</a:t>
            </a:r>
            <a:r>
              <a:rPr lang="en-US" altLang="en-US" baseline="-25000" dirty="0"/>
              <a:t>1</a:t>
            </a:r>
            <a:r>
              <a:rPr lang="en-US" altLang="en-US" dirty="0"/>
              <a:t>-like receptors). D</a:t>
            </a:r>
            <a:r>
              <a:rPr lang="en-US" altLang="en-US" baseline="-25000" dirty="0"/>
              <a:t>2</a:t>
            </a:r>
            <a:r>
              <a:rPr lang="en-US" altLang="en-US" dirty="0"/>
              <a:t>, D</a:t>
            </a:r>
            <a:r>
              <a:rPr lang="en-US" altLang="en-US" baseline="-25000" dirty="0"/>
              <a:t>3</a:t>
            </a:r>
            <a:r>
              <a:rPr lang="en-US" altLang="en-US" dirty="0"/>
              <a:t>, and D</a:t>
            </a:r>
            <a:r>
              <a:rPr lang="en-US" altLang="en-US" baseline="-25000" dirty="0"/>
              <a:t>4</a:t>
            </a:r>
            <a:r>
              <a:rPr lang="en-US" altLang="en-US" dirty="0"/>
              <a:t> are a separate family (D</a:t>
            </a:r>
            <a:r>
              <a:rPr lang="en-US" altLang="en-US" baseline="-25000" dirty="0"/>
              <a:t>2</a:t>
            </a:r>
            <a:r>
              <a:rPr lang="en-US" altLang="en-US" dirty="0"/>
              <a:t>-like receptors).</a:t>
            </a:r>
          </a:p>
          <a:p>
            <a:pPr algn="l"/>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10907396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5.12  Signaling mechanisms of D</a:t>
            </a:r>
            <a:r>
              <a:rPr lang="en-US" sz="1200" b="1" kern="1200" baseline="-25000" dirty="0">
                <a:solidFill>
                  <a:schemeClr val="tx1"/>
                </a:solidFill>
                <a:effectLst/>
                <a:latin typeface="+mn-lt"/>
                <a:ea typeface="+mn-ea"/>
                <a:cs typeface="+mn-cs"/>
              </a:rPr>
              <a:t>1</a:t>
            </a:r>
            <a:r>
              <a:rPr lang="en-US" sz="1200" b="1" kern="1200" dirty="0">
                <a:solidFill>
                  <a:schemeClr val="tx1"/>
                </a:solidFill>
                <a:effectLst/>
                <a:latin typeface="+mn-lt"/>
                <a:ea typeface="+mn-ea"/>
                <a:cs typeface="+mn-cs"/>
              </a:rPr>
              <a:t> and D</a:t>
            </a:r>
            <a:r>
              <a:rPr lang="en-US" sz="1200" b="1" kern="1200" baseline="-25000" dirty="0">
                <a:solidFill>
                  <a:schemeClr val="tx1"/>
                </a:solidFill>
                <a:effectLst/>
                <a:latin typeface="+mn-lt"/>
                <a:ea typeface="+mn-ea"/>
                <a:cs typeface="+mn-cs"/>
              </a:rPr>
              <a:t>2</a:t>
            </a:r>
            <a:r>
              <a:rPr lang="en-US" sz="1200" b="1" kern="1200" dirty="0">
                <a:solidFill>
                  <a:schemeClr val="tx1"/>
                </a:solidFill>
                <a:effectLst/>
                <a:latin typeface="+mn-lt"/>
                <a:ea typeface="+mn-ea"/>
                <a:cs typeface="+mn-cs"/>
              </a:rPr>
              <a:t> receptors 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Activation of D</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receptors stimulates the enzyme adenylyl cyclase and enhances DA synthesis, whereas activation of D</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receptors inhibits adenylyl cyclase and decreases DA synthesis. These effects are produced by the activation of different G proteins in the postsynaptic cell membrane, namely </a:t>
            </a:r>
            <a:r>
              <a:rPr lang="en-US" sz="1200"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s</a:t>
            </a:r>
            <a:r>
              <a:rPr lang="en-US" sz="1200" kern="1200" dirty="0">
                <a:solidFill>
                  <a:schemeClr val="tx1"/>
                </a:solidFill>
                <a:effectLst/>
                <a:latin typeface="+mn-lt"/>
                <a:ea typeface="+mn-ea"/>
                <a:cs typeface="+mn-cs"/>
              </a:rPr>
              <a:t> for the D</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receptor and </a:t>
            </a:r>
            <a:r>
              <a:rPr lang="en-US" sz="1200"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for the D</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receptor.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20512292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31</a:t>
            </a:fld>
            <a:endParaRPr lang="en-US"/>
          </a:p>
        </p:txBody>
      </p:sp>
    </p:spTree>
    <p:extLst>
      <p:ext uri="{BB962C8B-B14F-4D97-AF65-F5344CB8AC3E}">
        <p14:creationId xmlns:p14="http://schemas.microsoft.com/office/powerpoint/2010/main" val="4962255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A relatively new use for apomorphine is treating erectile dysfunction in men (trade name </a:t>
            </a:r>
            <a:r>
              <a:rPr lang="en-US" sz="1800" b="1" i="0" u="none" strike="noStrike" baseline="0" dirty="0" err="1">
                <a:latin typeface="DINPro-Bold"/>
              </a:rPr>
              <a:t>Uprima</a:t>
            </a:r>
            <a:r>
              <a:rPr lang="en-US" sz="1800" b="0" i="0" u="none" strike="noStrike" baseline="0" dirty="0">
                <a:latin typeface="PalatinoLTStd-Roman"/>
              </a:rPr>
              <a:t>). </a:t>
            </a:r>
          </a:p>
          <a:p>
            <a:pPr algn="l"/>
            <a:r>
              <a:rPr lang="en-US" sz="1800" b="1" i="0" u="none" strike="noStrike" baseline="0" dirty="0">
                <a:latin typeface="DINPro-Bold"/>
              </a:rPr>
              <a:t>Tachyphylaxis: </a:t>
            </a:r>
            <a:r>
              <a:rPr lang="en-US" sz="1800" b="0" i="0" u="none" strike="noStrike" baseline="0" dirty="0">
                <a:latin typeface="PalatinoLTStd-Roman"/>
              </a:rPr>
              <a:t>a form of rapid tolerance involving diminished responses following repeated drug dosing.</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21555106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Three other clinically used D</a:t>
            </a:r>
            <a:r>
              <a:rPr lang="en-US" sz="1800" b="0" i="0" u="none" strike="noStrike" baseline="-25000" dirty="0">
                <a:latin typeface="PalatinoLTStd-Roman"/>
              </a:rPr>
              <a:t>2</a:t>
            </a:r>
            <a:r>
              <a:rPr lang="en-US" sz="1800" b="0" i="0" u="none" strike="noStrike" baseline="0" dirty="0">
                <a:latin typeface="PalatinoLTStd-Roman"/>
              </a:rPr>
              <a:t>/D</a:t>
            </a:r>
            <a:r>
              <a:rPr lang="en-US" sz="1800" b="0" i="0" u="none" strike="noStrike" baseline="-25000" dirty="0">
                <a:latin typeface="PalatinoLTStd-Roman"/>
              </a:rPr>
              <a:t>3</a:t>
            </a:r>
            <a:r>
              <a:rPr lang="en-US" sz="1800" b="0" i="0" u="none" strike="noStrike" baseline="0" dirty="0">
                <a:latin typeface="PalatinoLTStd-Roman"/>
              </a:rPr>
              <a:t> agonists are </a:t>
            </a:r>
            <a:r>
              <a:rPr lang="en-US" sz="1800" b="1" i="0" u="none" strike="noStrike" baseline="0" dirty="0">
                <a:latin typeface="DINPro-Bold"/>
              </a:rPr>
              <a:t>pramipexole </a:t>
            </a:r>
            <a:r>
              <a:rPr lang="en-US" sz="1800" b="0" i="0" u="none" strike="noStrike" baseline="0" dirty="0">
                <a:latin typeface="PalatinoLTStd-Roman"/>
              </a:rPr>
              <a:t>(</a:t>
            </a:r>
            <a:r>
              <a:rPr lang="en-US" sz="1800" b="1" i="0" u="none" strike="noStrike" baseline="0" dirty="0">
                <a:latin typeface="DINPro-Bold"/>
              </a:rPr>
              <a:t>Mirapex</a:t>
            </a:r>
            <a:r>
              <a:rPr lang="en-US" sz="1800" b="0" i="0" u="none" strike="noStrike" baseline="0" dirty="0">
                <a:latin typeface="PalatinoLTStd-Roman"/>
              </a:rPr>
              <a:t>), </a:t>
            </a:r>
            <a:r>
              <a:rPr lang="en-US" sz="1800" b="1" i="0" u="none" strike="noStrike" baseline="0" dirty="0">
                <a:latin typeface="DINPro-Bold"/>
              </a:rPr>
              <a:t>ropinirole </a:t>
            </a:r>
            <a:r>
              <a:rPr lang="en-US" sz="1800" b="0" i="0" u="none" strike="noStrike" baseline="0" dirty="0">
                <a:latin typeface="PalatinoLTStd-Roman"/>
              </a:rPr>
              <a:t>(</a:t>
            </a:r>
            <a:r>
              <a:rPr lang="en-US" sz="1800" b="1" i="0" u="none" strike="noStrike" baseline="0" dirty="0" err="1">
                <a:latin typeface="DINPro-Bold"/>
              </a:rPr>
              <a:t>Requip</a:t>
            </a:r>
            <a:r>
              <a:rPr lang="en-US" sz="1800" b="0" i="0" u="none" strike="noStrike" baseline="0" dirty="0">
                <a:latin typeface="PalatinoLTStd-Roman"/>
              </a:rPr>
              <a:t>), and </a:t>
            </a:r>
            <a:r>
              <a:rPr lang="en-US" sz="1800" b="1" i="0" u="none" strike="noStrike" baseline="0" dirty="0" err="1">
                <a:latin typeface="DINPro-Bold"/>
              </a:rPr>
              <a:t>rotigatine</a:t>
            </a:r>
            <a:r>
              <a:rPr lang="en-US" sz="1800" b="1" i="0" u="none" strike="noStrike" baseline="0" dirty="0">
                <a:latin typeface="DINPro-Bold"/>
              </a:rPr>
              <a:t> </a:t>
            </a:r>
            <a:r>
              <a:rPr lang="en-US" sz="1800" b="0" i="0" u="none" strike="noStrike" baseline="0" dirty="0">
                <a:latin typeface="PalatinoLTStd-Roman"/>
              </a:rPr>
              <a:t>(</a:t>
            </a:r>
            <a:r>
              <a:rPr lang="en-US" sz="1800" b="1" i="0" u="none" strike="noStrike" baseline="0" dirty="0" err="1">
                <a:latin typeface="DINPro-Bold"/>
              </a:rPr>
              <a:t>Neupro</a:t>
            </a:r>
            <a:r>
              <a:rPr lang="en-US" sz="1800" b="0" i="0" u="none" strike="noStrike" baseline="0" dirty="0">
                <a:latin typeface="PalatinoLTStd-Roman"/>
              </a:rPr>
              <a:t>); for Parkinson’s and </a:t>
            </a:r>
            <a:r>
              <a:rPr lang="en-US" sz="1800" b="1" i="0" u="none" strike="noStrike" baseline="0" dirty="0">
                <a:latin typeface="PalatinoLTStd-Roman"/>
              </a:rPr>
              <a:t>restless legs syndrome</a:t>
            </a:r>
            <a:r>
              <a:rPr lang="en-US" sz="1800" b="0" i="0" u="none" strike="noStrike" baseline="0" dirty="0">
                <a:latin typeface="PalatinoLTStd-Roman"/>
              </a:rPr>
              <a:t>. </a:t>
            </a:r>
          </a:p>
          <a:p>
            <a:pPr algn="l"/>
            <a:r>
              <a:rPr lang="en-US" sz="1800" b="0" i="0" u="none" strike="noStrike" baseline="0" dirty="0">
                <a:latin typeface="PalatinoLTStd-Roman"/>
              </a:rPr>
              <a:t>Hyperprolactinemia: excessive prolactin blood levels</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23401542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33980852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5181985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24791111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Box 5.1  </a:t>
            </a:r>
            <a:r>
              <a:rPr lang="en-US" sz="1200" b="1" kern="1200" dirty="0">
                <a:solidFill>
                  <a:schemeClr val="tx1"/>
                </a:solidFill>
                <a:effectLst/>
                <a:latin typeface="+mn-lt"/>
                <a:ea typeface="+mn-ea"/>
                <a:cs typeface="+mn-cs"/>
              </a:rPr>
              <a:t>The Cutting Edge: </a:t>
            </a:r>
            <a:r>
              <a:rPr lang="en-GB" sz="1200" b="1" kern="1200" dirty="0">
                <a:solidFill>
                  <a:schemeClr val="tx1"/>
                </a:solidFill>
                <a:effectLst/>
                <a:latin typeface="+mn-lt"/>
                <a:ea typeface="+mn-ea"/>
                <a:cs typeface="+mn-cs"/>
              </a:rPr>
              <a:t>Using Molecular Genetics to Study the Dopaminergic System</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 A  Dopamine transporter (DAT) knockout mice show increased locomotor activity 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Mutant mice lacking a functional DAT (homozygous DAT−/−) were compared with wild-type mice (DAT+/+) and with heterozygous mice (DAT+/−) that carry one functional copy of the DAT gene. Mice were tested in a photo­cell apparatus, and the number of photobeam breaks was recorded every 20 minutes for a total of 3 hours. All groups showed a gradual habituation to the apparatus, as indicated by decreasing beam breaks over time, but the activity of the DAT knockout mice (DAT−/−) was consistently higher than that of the other two groups. (After B. </a:t>
            </a:r>
            <a:r>
              <a:rPr lang="en-US" sz="1200" kern="1200" dirty="0" err="1">
                <a:solidFill>
                  <a:schemeClr val="tx1"/>
                </a:solidFill>
                <a:effectLst/>
                <a:latin typeface="+mn-lt"/>
                <a:ea typeface="+mn-ea"/>
                <a:cs typeface="+mn-cs"/>
              </a:rPr>
              <a:t>Giros</a:t>
            </a:r>
            <a:r>
              <a:rPr lang="en-US" sz="1200" kern="1200" dirty="0">
                <a:solidFill>
                  <a:schemeClr val="tx1"/>
                </a:solidFill>
                <a:effectLst/>
                <a:latin typeface="+mn-lt"/>
                <a:ea typeface="+mn-ea"/>
                <a:cs typeface="+mn-cs"/>
              </a:rPr>
              <a:t> et al. 1996. </a:t>
            </a:r>
            <a:r>
              <a:rPr lang="en-US" sz="1200" i="1" kern="1200" dirty="0">
                <a:solidFill>
                  <a:schemeClr val="tx1"/>
                </a:solidFill>
                <a:effectLst/>
                <a:latin typeface="+mn-lt"/>
                <a:ea typeface="+mn-ea"/>
                <a:cs typeface="+mn-cs"/>
              </a:rPr>
              <a:t>Nature</a:t>
            </a:r>
            <a:r>
              <a:rPr lang="en-US" sz="1200" kern="1200" dirty="0">
                <a:solidFill>
                  <a:schemeClr val="tx1"/>
                </a:solidFill>
                <a:effectLst/>
                <a:latin typeface="+mn-lt"/>
                <a:ea typeface="+mn-ea"/>
                <a:cs typeface="+mn-cs"/>
              </a:rPr>
              <a:t> 379: 606–612.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/10.1038/379606a0)</a:t>
            </a:r>
          </a:p>
        </p:txBody>
      </p:sp>
      <p:sp>
        <p:nvSpPr>
          <p:cNvPr id="4" name="Slide Number Placeholder 3"/>
          <p:cNvSpPr>
            <a:spLocks noGrp="1"/>
          </p:cNvSpPr>
          <p:nvPr>
            <p:ph type="sldNum" sz="quarter" idx="5"/>
          </p:nvPr>
        </p:nvSpPr>
        <p:spPr/>
        <p:txBody>
          <a:bodyPr/>
          <a:lstStyle/>
          <a:p>
            <a:fld id="{556C0744-2FEF-4441-821D-70180A370937}" type="slidenum">
              <a:rPr lang="en-US" smtClean="0"/>
              <a:t>37</a:t>
            </a:fld>
            <a:endParaRPr lang="en-US"/>
          </a:p>
        </p:txBody>
      </p:sp>
    </p:spTree>
    <p:extLst>
      <p:ext uri="{BB962C8B-B14F-4D97-AF65-F5344CB8AC3E}">
        <p14:creationId xmlns:p14="http://schemas.microsoft.com/office/powerpoint/2010/main" val="13687198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38</a:t>
            </a:fld>
            <a:endParaRPr lang="en-US"/>
          </a:p>
        </p:txBody>
      </p:sp>
    </p:spTree>
    <p:extLst>
      <p:ext uri="{BB962C8B-B14F-4D97-AF65-F5344CB8AC3E}">
        <p14:creationId xmlns:p14="http://schemas.microsoft.com/office/powerpoint/2010/main" val="12657610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Box 5.1  </a:t>
            </a:r>
            <a:r>
              <a:rPr lang="en-US" sz="1200" b="1" kern="1200" dirty="0">
                <a:solidFill>
                  <a:schemeClr val="tx1"/>
                </a:solidFill>
                <a:effectLst/>
                <a:latin typeface="+mn-lt"/>
                <a:ea typeface="+mn-ea"/>
                <a:cs typeface="+mn-cs"/>
              </a:rPr>
              <a:t>The Cutting Edge: </a:t>
            </a:r>
            <a:r>
              <a:rPr lang="en-GB" sz="1200" b="1" kern="1200" dirty="0">
                <a:solidFill>
                  <a:schemeClr val="tx1"/>
                </a:solidFill>
                <a:effectLst/>
                <a:latin typeface="+mn-lt"/>
                <a:ea typeface="+mn-ea"/>
                <a:cs typeface="+mn-cs"/>
              </a:rPr>
              <a:t>Using Molecular Genetics to Study the Dopaminergic System</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 B  D1 receptor knockout mice show decreased reaction to a psychostimulant drug 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Mutant mice lacking D</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receptors (D</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are insensitive to the locomotor-stimulating effects of cocaine. Wild-type (D</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and homozygous mutant mice were injected twice daily for 7 consecutive days with either cocaine (20 mg/kg intraperitoneally) or a saline control solution. The animals were tested in a photocell apparatus for 30 minutes after each injection to record their locomotor activity. Cocaine greatly increased locomotor activity in the wild-type but not the mutant mice on all test days. (After M. Xu et al. 2000. </a:t>
            </a:r>
            <a:r>
              <a:rPr lang="en-US" sz="1200" i="1" kern="1200" dirty="0">
                <a:solidFill>
                  <a:schemeClr val="tx1"/>
                </a:solidFill>
                <a:effectLst/>
                <a:latin typeface="+mn-lt"/>
                <a:ea typeface="+mn-ea"/>
                <a:cs typeface="+mn-cs"/>
              </a:rPr>
              <a:t>Brain Res</a:t>
            </a:r>
            <a:r>
              <a:rPr lang="en-US" sz="1200" kern="1200" dirty="0">
                <a:solidFill>
                  <a:schemeClr val="tx1"/>
                </a:solidFill>
                <a:effectLst/>
                <a:latin typeface="+mn-lt"/>
                <a:ea typeface="+mn-ea"/>
                <a:cs typeface="+mn-cs"/>
              </a:rPr>
              <a:t> 852: 198–207. © 2000. Reprinted with permission from Elsevier.)</a:t>
            </a:r>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3970748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Instructor Notes:</a:t>
            </a:r>
          </a:p>
          <a:p>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40</a:t>
            </a:fld>
            <a:endParaRPr lang="en-US"/>
          </a:p>
        </p:txBody>
      </p:sp>
    </p:spTree>
    <p:extLst>
      <p:ext uri="{BB962C8B-B14F-4D97-AF65-F5344CB8AC3E}">
        <p14:creationId xmlns:p14="http://schemas.microsoft.com/office/powerpoint/2010/main" val="35664326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7515343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5.15  The locus coeruleus (LC) sends fibers to much of the brain 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LC contains a dense cluster of noradrenergic neurons designated the A6 cell group. These cells send their fibers to almost all regions of the forebrain, as well as to the cerebellum and spinal cord.</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43</a:t>
            </a:fld>
            <a:endParaRPr lang="en-US"/>
          </a:p>
        </p:txBody>
      </p:sp>
    </p:spTree>
    <p:extLst>
      <p:ext uri="{BB962C8B-B14F-4D97-AF65-F5344CB8AC3E}">
        <p14:creationId xmlns:p14="http://schemas.microsoft.com/office/powerpoint/2010/main" val="41437826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44</a:t>
            </a:fld>
            <a:endParaRPr lang="en-US"/>
          </a:p>
        </p:txBody>
      </p:sp>
    </p:spTree>
    <p:extLst>
      <p:ext uri="{BB962C8B-B14F-4D97-AF65-F5344CB8AC3E}">
        <p14:creationId xmlns:p14="http://schemas.microsoft.com/office/powerpoint/2010/main" val="20194547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35261270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6643667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5.16  Effects of pro- and anti-anxiety drugs on open-arm time in the humanized elevated plus-maze 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Healthy men and women (age 18–50 years) were tested for the amount of time spent in the open arms of a humanized version of the elevated plus-maze test of anxiety-like behavior. (A) The maze consisted of a wooden platform with arm dimensions of 30 cm width, 175 cm length, and 20 cm height, placed on the floor of the laboratory (left). During testing, the participants found themselves in a virtual reality consisting of a mountainous environment in which the “closed” arms (oriented E–W) appeared to be surrounded by rocks, whereas the “open” arms (oriented N–S) appeared to reach out over water that was placed visually about 55 m below (right). Note that the rocks depicted on the left-hand diagram were only visible in the virtual environment. Participants were permitted to physically explore the simulated environment and spend time in the open or closed arms for a total of 300 s. The numbers shown on the arms are the mean reported anxiety levels (on a 0–9 scale with 9 representing very strong anxiety) at each position on the maze. (B) Administration of the α</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-adrenoceptor antagonist yohimbine significantly reduced the amount of time spent in the open arms compared to placebo (indicating increased anxious behavior), whereas the antianxiety GABAergic drug lorazepam significantly increased the amount of time spent in the open arms. (From S. V. </a:t>
            </a:r>
            <a:r>
              <a:rPr lang="en-US" sz="1200" kern="1200" dirty="0" err="1">
                <a:solidFill>
                  <a:schemeClr val="tx1"/>
                </a:solidFill>
                <a:effectLst/>
                <a:latin typeface="+mn-lt"/>
                <a:ea typeface="+mn-ea"/>
                <a:cs typeface="+mn-cs"/>
              </a:rPr>
              <a:t>Biedermann</a:t>
            </a:r>
            <a:r>
              <a:rPr lang="en-US" sz="1200" kern="1200" dirty="0">
                <a:solidFill>
                  <a:schemeClr val="tx1"/>
                </a:solidFill>
                <a:effectLst/>
                <a:latin typeface="+mn-lt"/>
                <a:ea typeface="+mn-ea"/>
                <a:cs typeface="+mn-cs"/>
              </a:rPr>
              <a:t> et al. 2017. </a:t>
            </a:r>
            <a:r>
              <a:rPr lang="en-US" sz="1200" i="1" kern="1200" dirty="0">
                <a:solidFill>
                  <a:schemeClr val="tx1"/>
                </a:solidFill>
                <a:effectLst/>
                <a:latin typeface="+mn-lt"/>
                <a:ea typeface="+mn-ea"/>
                <a:cs typeface="+mn-cs"/>
              </a:rPr>
              <a:t>BMC </a:t>
            </a:r>
            <a:r>
              <a:rPr lang="en-US" sz="1200" i="1" kern="1200" dirty="0" err="1">
                <a:solidFill>
                  <a:schemeClr val="tx1"/>
                </a:solidFill>
                <a:effectLst/>
                <a:latin typeface="+mn-lt"/>
                <a:ea typeface="+mn-ea"/>
                <a:cs typeface="+mn-cs"/>
              </a:rPr>
              <a:t>Biol</a:t>
            </a:r>
            <a:r>
              <a:rPr lang="en-US" sz="1200" kern="1200" dirty="0">
                <a:solidFill>
                  <a:schemeClr val="tx1"/>
                </a:solidFill>
                <a:effectLst/>
                <a:latin typeface="+mn-lt"/>
                <a:ea typeface="+mn-ea"/>
                <a:cs typeface="+mn-cs"/>
              </a:rPr>
              <a:t> 15: 125/CC BY 4.0, https://</a:t>
            </a:r>
            <a:r>
              <a:rPr lang="en-US" sz="1200" kern="1200" dirty="0" err="1">
                <a:solidFill>
                  <a:schemeClr val="tx1"/>
                </a:solidFill>
                <a:effectLst/>
                <a:latin typeface="+mn-lt"/>
                <a:ea typeface="+mn-ea"/>
                <a:cs typeface="+mn-cs"/>
              </a:rPr>
              <a:t>creativecommons.org</a:t>
            </a:r>
            <a:r>
              <a:rPr lang="en-US" sz="1200" kern="1200" dirty="0">
                <a:solidFill>
                  <a:schemeClr val="tx1"/>
                </a:solidFill>
                <a:effectLst/>
                <a:latin typeface="+mn-lt"/>
                <a:ea typeface="+mn-ea"/>
                <a:cs typeface="+mn-cs"/>
              </a:rPr>
              <a:t>/licenses/by/4.0/)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47</a:t>
            </a:fld>
            <a:endParaRPr lang="en-US"/>
          </a:p>
        </p:txBody>
      </p:sp>
    </p:spTree>
    <p:extLst>
      <p:ext uri="{BB962C8B-B14F-4D97-AF65-F5344CB8AC3E}">
        <p14:creationId xmlns:p14="http://schemas.microsoft.com/office/powerpoint/2010/main" val="6560497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48</a:t>
            </a:fld>
            <a:endParaRPr lang="en-US"/>
          </a:p>
        </p:txBody>
      </p:sp>
    </p:spTree>
    <p:extLst>
      <p:ext uri="{BB962C8B-B14F-4D97-AF65-F5344CB8AC3E}">
        <p14:creationId xmlns:p14="http://schemas.microsoft.com/office/powerpoint/2010/main" val="40092086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5.17  Wakefulness-promoting effects of adrenergic agonists infused into the lateral hypothalamic area 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Rats were given infusions of varying doses of the α</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-agonist phenylephrine (PHEN) and/or the β-agonist isoproterenol (ISO) directly into the lateral hypothalamic area. Control injections were of the vehicle (VEH) used to dissolve the active drugs. Behavioral state (awake or asleep) was determined for two 30-minute intervals prior to drug administration (Pre 1 and Pre 2) as well as three 30-minute </a:t>
            </a:r>
            <a:r>
              <a:rPr lang="en-US" sz="1200" kern="1200" dirty="0" err="1">
                <a:solidFill>
                  <a:schemeClr val="tx1"/>
                </a:solidFill>
                <a:effectLst/>
                <a:latin typeface="+mn-lt"/>
                <a:ea typeface="+mn-ea"/>
                <a:cs typeface="+mn-cs"/>
              </a:rPr>
              <a:t>postdrug</a:t>
            </a:r>
            <a:r>
              <a:rPr lang="en-US" sz="1200" kern="1200" dirty="0">
                <a:solidFill>
                  <a:schemeClr val="tx1"/>
                </a:solidFill>
                <a:effectLst/>
                <a:latin typeface="+mn-lt"/>
                <a:ea typeface="+mn-ea"/>
                <a:cs typeface="+mn-cs"/>
              </a:rPr>
              <a:t> intervals (Post 1, Post 2, and Post 3). All animals received unilateral infusions except for one group denoted as BILAT. (A) Infusions of PHEN alone markedly increased the amount of time spent awake, with the largest effect seen in the 20-nanomole (20 nmol) BILAT group. (B) Infusions of ISO alone exerted a modest effect on time spent awake, with a significant increase only seen in the 30 nmol ISO group. (C) Infusions of 10 nmol PHEN or ISO individually produced nonsignificant increases in time spent awake; however, infusion of both drugs together at the same doses produced a larger, statistically significant increase in waking time. (From B. E. Schmeichel and C. W. </a:t>
            </a:r>
            <a:r>
              <a:rPr lang="en-US" sz="1200" kern="1200" dirty="0" err="1">
                <a:solidFill>
                  <a:schemeClr val="tx1"/>
                </a:solidFill>
                <a:effectLst/>
                <a:latin typeface="+mn-lt"/>
                <a:ea typeface="+mn-ea"/>
                <a:cs typeface="+mn-cs"/>
              </a:rPr>
              <a:t>Berridge</a:t>
            </a:r>
            <a:r>
              <a:rPr lang="en-US" sz="1200" kern="1200" dirty="0">
                <a:solidFill>
                  <a:schemeClr val="tx1"/>
                </a:solidFill>
                <a:effectLst/>
                <a:latin typeface="+mn-lt"/>
                <a:ea typeface="+mn-ea"/>
                <a:cs typeface="+mn-cs"/>
              </a:rPr>
              <a:t>. 2013. </a:t>
            </a:r>
            <a:r>
              <a:rPr lang="en-US" sz="1200" i="1" kern="1200" dirty="0" err="1">
                <a:solidFill>
                  <a:schemeClr val="tx1"/>
                </a:solidFill>
                <a:effectLst/>
                <a:latin typeface="+mn-lt"/>
                <a:ea typeface="+mn-ea"/>
                <a:cs typeface="+mn-cs"/>
              </a:rPr>
              <a:t>Eur</a:t>
            </a:r>
            <a:r>
              <a:rPr lang="en-US" sz="1200" i="1" kern="1200" dirty="0">
                <a:solidFill>
                  <a:schemeClr val="tx1"/>
                </a:solidFill>
                <a:effectLst/>
                <a:latin typeface="+mn-lt"/>
                <a:ea typeface="+mn-ea"/>
                <a:cs typeface="+mn-cs"/>
              </a:rPr>
              <a:t> J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37: 891–900.)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6304419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50</a:t>
            </a:fld>
            <a:endParaRPr lang="en-US"/>
          </a:p>
        </p:txBody>
      </p:sp>
    </p:spTree>
    <p:extLst>
      <p:ext uri="{BB962C8B-B14F-4D97-AF65-F5344CB8AC3E}">
        <p14:creationId xmlns:p14="http://schemas.microsoft.com/office/powerpoint/2010/main" val="32697960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5.18  Guanfacine facilitation of working memory in aged monkeys 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Working memory was tested in aged rhesus monkeys using a two-choice spatial delayed response task. This task requires that the animals remember the location of a food treat with a delay period interposed between presentation of the treat and the opportunity to make a response. Distracting stimuli can be presented during the delay period to determine their influence on response accuracy. The first two bars demonstrate that in monkeys given saline vehicle (SAL), distracters impaired working memory performance (SAL/DIST) compared to the no-distracter control condition (SAL/CON). The third bar shows that guanfacine administration abolished the deleterious effect of the distracters (GFC/DIST) and returned performance to the control condition or slightly better. (From A. F. T. </a:t>
            </a:r>
            <a:r>
              <a:rPr lang="en-US" sz="1200" kern="1200" dirty="0" err="1">
                <a:solidFill>
                  <a:schemeClr val="tx1"/>
                </a:solidFill>
                <a:effectLst/>
                <a:latin typeface="+mn-lt"/>
                <a:ea typeface="+mn-ea"/>
                <a:cs typeface="+mn-cs"/>
              </a:rPr>
              <a:t>Arnsten</a:t>
            </a:r>
            <a:r>
              <a:rPr lang="en-US" sz="1200" kern="1200" dirty="0">
                <a:solidFill>
                  <a:schemeClr val="tx1"/>
                </a:solidFill>
                <a:effectLst/>
                <a:latin typeface="+mn-lt"/>
                <a:ea typeface="+mn-ea"/>
                <a:cs typeface="+mn-cs"/>
              </a:rPr>
              <a:t> and L. E. </a:t>
            </a:r>
            <a:r>
              <a:rPr lang="en-US" sz="1200" kern="1200" dirty="0" err="1">
                <a:solidFill>
                  <a:schemeClr val="tx1"/>
                </a:solidFill>
                <a:effectLst/>
                <a:latin typeface="+mn-lt"/>
                <a:ea typeface="+mn-ea"/>
                <a:cs typeface="+mn-cs"/>
              </a:rPr>
              <a:t>Jin</a:t>
            </a:r>
            <a:r>
              <a:rPr lang="en-US" sz="1200" kern="1200" dirty="0">
                <a:solidFill>
                  <a:schemeClr val="tx1"/>
                </a:solidFill>
                <a:effectLst/>
                <a:latin typeface="+mn-lt"/>
                <a:ea typeface="+mn-ea"/>
                <a:cs typeface="+mn-cs"/>
              </a:rPr>
              <a:t>. 2012. </a:t>
            </a:r>
            <a:r>
              <a:rPr lang="en-US" sz="1200" i="1" kern="1200" dirty="0">
                <a:solidFill>
                  <a:schemeClr val="tx1"/>
                </a:solidFill>
                <a:effectLst/>
                <a:latin typeface="+mn-lt"/>
                <a:ea typeface="+mn-ea"/>
                <a:cs typeface="+mn-cs"/>
              </a:rPr>
              <a:t>Yale J </a:t>
            </a:r>
            <a:r>
              <a:rPr lang="en-US" sz="1200" i="1" kern="1200" dirty="0" err="1">
                <a:solidFill>
                  <a:schemeClr val="tx1"/>
                </a:solidFill>
                <a:effectLst/>
                <a:latin typeface="+mn-lt"/>
                <a:ea typeface="+mn-ea"/>
                <a:cs typeface="+mn-cs"/>
              </a:rPr>
              <a:t>Biol</a:t>
            </a:r>
            <a:r>
              <a:rPr lang="en-US" sz="1200" i="1" kern="1200" dirty="0">
                <a:solidFill>
                  <a:schemeClr val="tx1"/>
                </a:solidFill>
                <a:effectLst/>
                <a:latin typeface="+mn-lt"/>
                <a:ea typeface="+mn-ea"/>
                <a:cs typeface="+mn-cs"/>
              </a:rPr>
              <a:t> Med</a:t>
            </a:r>
            <a:r>
              <a:rPr lang="en-US" sz="1200" kern="1200" dirty="0">
                <a:solidFill>
                  <a:schemeClr val="tx1"/>
                </a:solidFill>
                <a:effectLst/>
                <a:latin typeface="+mn-lt"/>
                <a:ea typeface="+mn-ea"/>
                <a:cs typeface="+mn-cs"/>
              </a:rPr>
              <a:t> 85: 45–58.)</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51</a:t>
            </a:fld>
            <a:endParaRPr lang="en-US"/>
          </a:p>
        </p:txBody>
      </p:sp>
    </p:spTree>
    <p:extLst>
      <p:ext uri="{BB962C8B-B14F-4D97-AF65-F5344CB8AC3E}">
        <p14:creationId xmlns:p14="http://schemas.microsoft.com/office/powerpoint/2010/main" val="29605436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5.19  Modulation of arousal and working memory by adrenergic receptor subtypes in the prefrontal cortex 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figure depicts an inverted U-shaped curve relating arousal and working memory function to noradrenergic activity in the prefrontal cortex (PFC). Activation of high-affinity α</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-adrenoceptors increases arousal and facilitates working memory, whereas activation of lower-affinity α</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-receptors has the opposite effect. Consequently, abnormally low levels of noradrenergic activity in the PFC, which can be caused by certain drugs or by locus coeruleus lesions, result in behavioral sedation and impaired working memory. These effects are due to </a:t>
            </a:r>
            <a:r>
              <a:rPr lang="en-US" sz="1200" kern="1200" dirty="0" err="1">
                <a:solidFill>
                  <a:schemeClr val="tx1"/>
                </a:solidFill>
                <a:effectLst/>
                <a:latin typeface="+mn-lt"/>
                <a:ea typeface="+mn-ea"/>
                <a:cs typeface="+mn-cs"/>
              </a:rPr>
              <a:t>understimulation</a:t>
            </a:r>
            <a:r>
              <a:rPr lang="en-US" sz="1200" kern="1200" dirty="0">
                <a:solidFill>
                  <a:schemeClr val="tx1"/>
                </a:solidFill>
                <a:effectLst/>
                <a:latin typeface="+mn-lt"/>
                <a:ea typeface="+mn-ea"/>
                <a:cs typeface="+mn-cs"/>
              </a:rPr>
              <a:t> of α</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-adrenoceptors, since they can be reversed by selective activation of this receptor subtype. On the other hand, abnormally high levels of noradrenergic activity in the PFC, which can be caused by stress, activate the α</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-receptors and result in memory impairment. Optimal working memory is, therefore, predicted to occur at intermediate levels of PFC noradrenergic activity. (After C. W. </a:t>
            </a:r>
            <a:r>
              <a:rPr lang="en-US" sz="1200" kern="1200" dirty="0" err="1">
                <a:solidFill>
                  <a:schemeClr val="tx1"/>
                </a:solidFill>
                <a:effectLst/>
                <a:latin typeface="+mn-lt"/>
                <a:ea typeface="+mn-ea"/>
                <a:cs typeface="+mn-cs"/>
              </a:rPr>
              <a:t>Berridge</a:t>
            </a:r>
            <a:r>
              <a:rPr lang="en-US" sz="1200" kern="1200" dirty="0">
                <a:solidFill>
                  <a:schemeClr val="tx1"/>
                </a:solidFill>
                <a:effectLst/>
                <a:latin typeface="+mn-lt"/>
                <a:ea typeface="+mn-ea"/>
                <a:cs typeface="+mn-cs"/>
              </a:rPr>
              <a:t> and R. C. Spencer. 2016. </a:t>
            </a:r>
            <a:r>
              <a:rPr lang="en-US" sz="1200" i="1" kern="1200" dirty="0">
                <a:solidFill>
                  <a:schemeClr val="tx1"/>
                </a:solidFill>
                <a:effectLst/>
                <a:latin typeface="+mn-lt"/>
                <a:ea typeface="+mn-ea"/>
                <a:cs typeface="+mn-cs"/>
              </a:rPr>
              <a:t>Brain Res</a:t>
            </a:r>
            <a:r>
              <a:rPr lang="en-US" sz="1200" kern="1200" dirty="0">
                <a:solidFill>
                  <a:schemeClr val="tx1"/>
                </a:solidFill>
                <a:effectLst/>
                <a:latin typeface="+mn-lt"/>
                <a:ea typeface="+mn-ea"/>
                <a:cs typeface="+mn-cs"/>
              </a:rPr>
              <a:t> 1641: 189–196. © 2015. Reprinted with permission from Elsevier, and C. </a:t>
            </a:r>
            <a:r>
              <a:rPr lang="en-US" sz="1200" kern="1200" dirty="0" err="1">
                <a:solidFill>
                  <a:schemeClr val="tx1"/>
                </a:solidFill>
                <a:effectLst/>
                <a:latin typeface="+mn-lt"/>
                <a:ea typeface="+mn-ea"/>
                <a:cs typeface="+mn-cs"/>
              </a:rPr>
              <a:t>Berridge</a:t>
            </a:r>
            <a:r>
              <a:rPr lang="en-US" sz="1200" kern="1200" dirty="0">
                <a:solidFill>
                  <a:schemeClr val="tx1"/>
                </a:solidFill>
                <a:effectLst/>
                <a:latin typeface="+mn-lt"/>
                <a:ea typeface="+mn-ea"/>
                <a:cs typeface="+mn-cs"/>
              </a:rPr>
              <a:t> et al. 2012. In </a:t>
            </a:r>
            <a:r>
              <a:rPr lang="en-US" sz="1200" i="1" kern="1200" dirty="0">
                <a:solidFill>
                  <a:schemeClr val="tx1"/>
                </a:solidFill>
                <a:effectLst/>
                <a:latin typeface="+mn-lt"/>
                <a:ea typeface="+mn-ea"/>
                <a:cs typeface="+mn-cs"/>
              </a:rPr>
              <a:t>Translational Neuroscience: Applications in Psychiatry, Neurology and Neurodevelopmental Disorders</a:t>
            </a:r>
            <a:r>
              <a:rPr lang="en-US" sz="1200" kern="1200" dirty="0">
                <a:solidFill>
                  <a:schemeClr val="tx1"/>
                </a:solidFill>
                <a:effectLst/>
                <a:latin typeface="+mn-lt"/>
                <a:ea typeface="+mn-ea"/>
                <a:cs typeface="+mn-cs"/>
              </a:rPr>
              <a:t>, J. E. Barrett, J. T. Coyle, and M. Williams [Eds.] pp. 303–320. Cambridge University Press: Cambridge, UK.)</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52</a:t>
            </a:fld>
            <a:endParaRPr lang="en-US"/>
          </a:p>
        </p:txBody>
      </p:sp>
    </p:spTree>
    <p:extLst>
      <p:ext uri="{BB962C8B-B14F-4D97-AF65-F5344CB8AC3E}">
        <p14:creationId xmlns:p14="http://schemas.microsoft.com/office/powerpoint/2010/main" val="20087235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Passive avoidance learning </a:t>
            </a:r>
            <a:r>
              <a:rPr lang="en-US" dirty="0"/>
              <a:t>– an experimental approach to study consolidation of emotional memories</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53</a:t>
            </a:fld>
            <a:endParaRPr lang="en-US"/>
          </a:p>
        </p:txBody>
      </p:sp>
    </p:spTree>
    <p:extLst>
      <p:ext uri="{BB962C8B-B14F-4D97-AF65-F5344CB8AC3E}">
        <p14:creationId xmlns:p14="http://schemas.microsoft.com/office/powerpoint/2010/main" val="16348753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5.20  Hypothesized mechanism of emotional memory consolidation 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Studies primarily using laboratory animals suggest that consolidation of emotional memories involves the neural circuit depicted in the diagram. The black solid arrows indicate that learned infor­ma­tion from any type of event (arousing or not) is processed by various parts of the circuit, depending on the kind of learning involved. If, however, the event is emotionally arousing, it additionally elicits activation of the basolateral amygdala (BLA) and increased release of epinephrine and glucocorticoids (corticosterone in rodents, cortisol in humans) from the adrenal glands (blue open arrows). Epinephrine acts at a peripheral site to signal release of NE by LC noradrenergic fibers terminating in the BLA (red dashed arrows). Glucocorticoids freely enter the brain to coordinate with NE in the BLA and to additionally modulate information processing in other brain areas shown in the diagram (green dotted arrows). Lastly, projections from the BLA to the memory-processing system (purple dash-dotted arrows) strengthen the consolidation process, resulting in longer-lasting and more vivid recall of the emotional event. (After R. T. </a:t>
            </a:r>
            <a:r>
              <a:rPr lang="en-US" sz="1200" kern="1200" dirty="0" err="1">
                <a:solidFill>
                  <a:schemeClr val="tx1"/>
                </a:solidFill>
                <a:effectLst/>
                <a:latin typeface="+mn-lt"/>
                <a:ea typeface="+mn-ea"/>
                <a:cs typeface="+mn-cs"/>
              </a:rPr>
              <a:t>LaLumiere</a:t>
            </a:r>
            <a:r>
              <a:rPr lang="en-US" sz="1200" kern="1200" dirty="0">
                <a:solidFill>
                  <a:schemeClr val="tx1"/>
                </a:solidFill>
                <a:effectLst/>
                <a:latin typeface="+mn-lt"/>
                <a:ea typeface="+mn-ea"/>
                <a:cs typeface="+mn-cs"/>
              </a:rPr>
              <a:t> et al. 2017. </a:t>
            </a:r>
            <a:r>
              <a:rPr lang="en-US" sz="1200" i="1" kern="1200" dirty="0" err="1">
                <a:solidFill>
                  <a:schemeClr val="tx1"/>
                </a:solidFill>
                <a:effectLst/>
                <a:latin typeface="+mn-lt"/>
                <a:ea typeface="+mn-ea"/>
                <a:cs typeface="+mn-cs"/>
              </a:rPr>
              <a:t>Pharmacol</a:t>
            </a:r>
            <a:r>
              <a:rPr lang="en-US" sz="1200" i="1" kern="1200" dirty="0">
                <a:solidFill>
                  <a:schemeClr val="tx1"/>
                </a:solidFill>
                <a:effectLst/>
                <a:latin typeface="+mn-lt"/>
                <a:ea typeface="+mn-ea"/>
                <a:cs typeface="+mn-cs"/>
              </a:rPr>
              <a:t> Rev</a:t>
            </a:r>
            <a:r>
              <a:rPr lang="en-US" sz="1200" kern="1200" dirty="0">
                <a:solidFill>
                  <a:schemeClr val="tx1"/>
                </a:solidFill>
                <a:effectLst/>
                <a:latin typeface="+mn-lt"/>
                <a:ea typeface="+mn-ea"/>
                <a:cs typeface="+mn-cs"/>
              </a:rPr>
              <a:t> 69: 236–255. © 2017 by The American Society for Pharmacology and Experimental Therapeutics.)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54</a:t>
            </a:fld>
            <a:endParaRPr lang="en-US"/>
          </a:p>
        </p:txBody>
      </p:sp>
    </p:spTree>
    <p:extLst>
      <p:ext uri="{BB962C8B-B14F-4D97-AF65-F5344CB8AC3E}">
        <p14:creationId xmlns:p14="http://schemas.microsoft.com/office/powerpoint/2010/main" val="145800076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55</a:t>
            </a:fld>
            <a:endParaRPr lang="en-US"/>
          </a:p>
        </p:txBody>
      </p:sp>
    </p:spTree>
    <p:extLst>
      <p:ext uri="{BB962C8B-B14F-4D97-AF65-F5344CB8AC3E}">
        <p14:creationId xmlns:p14="http://schemas.microsoft.com/office/powerpoint/2010/main" val="4067248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56</a:t>
            </a:fld>
            <a:endParaRPr lang="en-US"/>
          </a:p>
        </p:txBody>
      </p:sp>
    </p:spTree>
    <p:extLst>
      <p:ext uri="{BB962C8B-B14F-4D97-AF65-F5344CB8AC3E}">
        <p14:creationId xmlns:p14="http://schemas.microsoft.com/office/powerpoint/2010/main" val="21392992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57</a:t>
            </a:fld>
            <a:endParaRPr lang="en-US"/>
          </a:p>
        </p:txBody>
      </p:sp>
    </p:spTree>
    <p:extLst>
      <p:ext uri="{BB962C8B-B14F-4D97-AF65-F5344CB8AC3E}">
        <p14:creationId xmlns:p14="http://schemas.microsoft.com/office/powerpoint/2010/main" val="29078246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a</a:t>
            </a:r>
          </a:p>
        </p:txBody>
      </p:sp>
      <p:sp>
        <p:nvSpPr>
          <p:cNvPr id="4" name="Slide Number Placeholder 3"/>
          <p:cNvSpPr>
            <a:spLocks noGrp="1"/>
          </p:cNvSpPr>
          <p:nvPr>
            <p:ph type="sldNum" sz="quarter" idx="5"/>
          </p:nvPr>
        </p:nvSpPr>
        <p:spPr/>
        <p:txBody>
          <a:bodyPr/>
          <a:lstStyle/>
          <a:p>
            <a:fld id="{556C0744-2FEF-4441-821D-70180A370937}" type="slidenum">
              <a:rPr lang="en-US" smtClean="0"/>
              <a:t>58</a:t>
            </a:fld>
            <a:endParaRPr lang="en-US"/>
          </a:p>
        </p:txBody>
      </p:sp>
    </p:spTree>
    <p:extLst>
      <p:ext uri="{BB962C8B-B14F-4D97-AF65-F5344CB8AC3E}">
        <p14:creationId xmlns:p14="http://schemas.microsoft.com/office/powerpoint/2010/main" val="8406786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9863394-D683-4BC6-87E1-05B0623053C4}"/>
              </a:ext>
            </a:extLst>
          </p:cNvPr>
          <p:cNvSpPr>
            <a:spLocks noGrp="1"/>
          </p:cNvSpPr>
          <p:nvPr>
            <p:ph type="title"/>
          </p:nvPr>
        </p:nvSpPr>
        <p:spPr>
          <a:xfrm>
            <a:off x="450575" y="586409"/>
            <a:ext cx="11317356" cy="566530"/>
          </a:xfrm>
        </p:spPr>
        <p:txBody>
          <a:bodyPr>
            <a:normAutofit fontScale="90000"/>
          </a:bodyPr>
          <a:lstStyle/>
          <a:p>
            <a:r>
              <a:rPr lang="en-GB" dirty="0"/>
              <a:t>Psychopharmacology: Drugs, the Brain, and </a:t>
            </a:r>
            <a:r>
              <a:rPr lang="en-GB" dirty="0" err="1"/>
              <a:t>Behavior</a:t>
            </a:r>
            <a:endParaRPr lang="en-US" b="1" i="0" dirty="0"/>
          </a:p>
        </p:txBody>
      </p:sp>
      <p:sp>
        <p:nvSpPr>
          <p:cNvPr id="12" name="Text Placeholder 3">
            <a:extLst>
              <a:ext uri="{FF2B5EF4-FFF2-40B4-BE49-F238E27FC236}">
                <a16:creationId xmlns:a16="http://schemas.microsoft.com/office/drawing/2014/main" id="{79537712-1087-4F11-91C3-CCEFD0EB4367}"/>
              </a:ext>
            </a:extLst>
          </p:cNvPr>
          <p:cNvSpPr>
            <a:spLocks noGrp="1"/>
          </p:cNvSpPr>
          <p:nvPr>
            <p:ph type="body" sz="quarter" idx="11"/>
          </p:nvPr>
        </p:nvSpPr>
        <p:spPr>
          <a:xfrm>
            <a:off x="450851" y="1152525"/>
            <a:ext cx="11317816" cy="477838"/>
          </a:xfrm>
        </p:spPr>
        <p:txBody>
          <a:bodyPr/>
          <a:lstStyle/>
          <a:p>
            <a:r>
              <a:rPr lang="en-US"/>
              <a:t>by Meyer, Farrar, Biezonski, Yates</a:t>
            </a:r>
            <a:endParaRPr lang="en-US" dirty="0"/>
          </a:p>
        </p:txBody>
      </p:sp>
      <p:pic>
        <p:nvPicPr>
          <p:cNvPr id="13" name="Picture Placeholder 7" descr="Cover image for Psychopharmacology, Fourth Edition.">
            <a:extLst>
              <a:ext uri="{FF2B5EF4-FFF2-40B4-BE49-F238E27FC236}">
                <a16:creationId xmlns:a16="http://schemas.microsoft.com/office/drawing/2014/main" id="{772EF08C-F8E1-4BA8-98F7-BBD8AF837C1F}"/>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2820496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fontScale="90000"/>
          </a:bodyPr>
          <a:lstStyle/>
          <a:p>
            <a:r>
              <a:rPr lang="en-US" dirty="0"/>
              <a:t>Chapter 5</a:t>
            </a:r>
            <a:br>
              <a:rPr lang="en-US" dirty="0"/>
            </a:br>
            <a:r>
              <a:rPr lang="en-US" sz="4000" i="1" dirty="0"/>
              <a:t>Catecholamines</a:t>
            </a:r>
            <a:endParaRPr lang="en-US" i="1" dirty="0"/>
          </a:p>
        </p:txBody>
      </p:sp>
      <p:sp>
        <p:nvSpPr>
          <p:cNvPr id="3" name="Text Placeholder 2"/>
          <p:cNvSpPr>
            <a:spLocks noGrp="1"/>
          </p:cNvSpPr>
          <p:nvPr>
            <p:ph idx="1"/>
          </p:nvPr>
        </p:nvSpPr>
        <p:spPr>
          <a:xfrm>
            <a:off x="609600" y="1857781"/>
            <a:ext cx="10972800" cy="4525963"/>
          </a:xfrm>
        </p:spPr>
        <p:txBody>
          <a:bodyPr/>
          <a:lstStyle/>
          <a:p>
            <a:pPr marL="914400" indent="-914400">
              <a:spcBef>
                <a:spcPts val="2400"/>
              </a:spcBef>
              <a:buNone/>
            </a:pPr>
            <a:r>
              <a:rPr lang="en-US" dirty="0"/>
              <a:t>5.1  Catecholamine Synthesis, Release, and Inactivation</a:t>
            </a:r>
          </a:p>
          <a:p>
            <a:pPr marL="914400" indent="-914400">
              <a:spcBef>
                <a:spcPts val="2400"/>
              </a:spcBef>
              <a:buNone/>
            </a:pPr>
            <a:r>
              <a:rPr lang="en-US" dirty="0"/>
              <a:t>5.2  Organization and Function of the Dopaminergic System</a:t>
            </a:r>
          </a:p>
          <a:p>
            <a:pPr marL="914400" indent="-914400">
              <a:spcBef>
                <a:spcPts val="2400"/>
              </a:spcBef>
              <a:buNone/>
            </a:pPr>
            <a:r>
              <a:rPr lang="en-US" dirty="0"/>
              <a:t>5.3  Organization and Function of the Noradrenergic System</a:t>
            </a:r>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5</a:t>
            </a:r>
            <a:br>
              <a:rPr lang="en-US" dirty="0"/>
            </a:br>
            <a:r>
              <a:rPr lang="en-US" sz="4000" dirty="0"/>
              <a:t>Learning Objectives </a:t>
            </a:r>
            <a:r>
              <a:rPr lang="en-US" sz="1300" dirty="0"/>
              <a:t>(1 of 3)</a:t>
            </a:r>
            <a:endParaRPr lang="en-US" dirty="0"/>
          </a:p>
        </p:txBody>
      </p:sp>
      <p:sp>
        <p:nvSpPr>
          <p:cNvPr id="3" name="Text Placeholder 2"/>
          <p:cNvSpPr>
            <a:spLocks noGrp="1"/>
          </p:cNvSpPr>
          <p:nvPr>
            <p:ph idx="1"/>
          </p:nvPr>
        </p:nvSpPr>
        <p:spPr/>
        <p:txBody>
          <a:bodyPr>
            <a:normAutofit/>
          </a:bodyPr>
          <a:lstStyle/>
          <a:p>
            <a:pPr marL="914400" indent="-914400">
              <a:lnSpc>
                <a:spcPct val="110000"/>
              </a:lnSpc>
              <a:spcBef>
                <a:spcPts val="1800"/>
              </a:spcBef>
              <a:buNone/>
            </a:pPr>
            <a:r>
              <a:rPr lang="en-US" sz="2800" dirty="0"/>
              <a:t>5.1.1  Describe the processes involved in catecholamine synthesis, storage, and release.</a:t>
            </a:r>
          </a:p>
          <a:p>
            <a:pPr marL="914400" indent="-914400">
              <a:lnSpc>
                <a:spcPct val="110000"/>
              </a:lnSpc>
              <a:spcBef>
                <a:spcPts val="1800"/>
              </a:spcBef>
              <a:buNone/>
            </a:pPr>
            <a:r>
              <a:rPr lang="en-US" sz="2800" dirty="0"/>
              <a:t>5.1.2  Explain how catecholamines are inactivated, including both reuptake and metabolism.</a:t>
            </a:r>
          </a:p>
          <a:p>
            <a:pPr marL="914400" indent="-914400">
              <a:lnSpc>
                <a:spcPct val="110000"/>
              </a:lnSpc>
              <a:spcBef>
                <a:spcPts val="1800"/>
              </a:spcBef>
              <a:buNone/>
            </a:pPr>
            <a:r>
              <a:rPr lang="en-US" sz="2800" dirty="0"/>
              <a:t>5.1.3  List and explain the clinical uses of drugs that act on catecholamine reuptake or metabolism.</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5</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p:txBody>
          <a:bodyPr>
            <a:normAutofit fontScale="85000" lnSpcReduction="10000"/>
          </a:bodyPr>
          <a:lstStyle/>
          <a:p>
            <a:pPr marL="914400" indent="-914400">
              <a:lnSpc>
                <a:spcPct val="110000"/>
              </a:lnSpc>
              <a:spcBef>
                <a:spcPts val="1800"/>
              </a:spcBef>
              <a:buNone/>
            </a:pPr>
            <a:r>
              <a:rPr lang="en-US" sz="2800" dirty="0"/>
              <a:t>5.2.1  Name the major ascending dopaminergic pathways that originate in the midbrain, and identify the locations of the cell bodies and the projection areas of each pathway.</a:t>
            </a:r>
          </a:p>
          <a:p>
            <a:pPr marL="914400" indent="-914400">
              <a:lnSpc>
                <a:spcPct val="110000"/>
              </a:lnSpc>
              <a:spcBef>
                <a:spcPts val="1800"/>
              </a:spcBef>
              <a:buNone/>
            </a:pPr>
            <a:r>
              <a:rPr lang="en-US" sz="2800" dirty="0"/>
              <a:t>5.2.2  Explain the role of DA in behavioral regulation, including the initiation and control of voluntary movement, responses to rewarding stimuli, and cognitive functioning.</a:t>
            </a:r>
          </a:p>
          <a:p>
            <a:pPr marL="914400" indent="-914400">
              <a:lnSpc>
                <a:spcPct val="110000"/>
              </a:lnSpc>
              <a:spcBef>
                <a:spcPts val="1800"/>
              </a:spcBef>
              <a:buNone/>
            </a:pPr>
            <a:r>
              <a:rPr lang="en-US" sz="2800" dirty="0"/>
              <a:t>5.2.3  Describe the family of DA receptors, including the various subtypes, signaling mechanisms, and roles as both postsynaptic receptors and </a:t>
            </a:r>
            <a:r>
              <a:rPr lang="en-US" sz="2800" dirty="0" err="1"/>
              <a:t>autoreceptors</a:t>
            </a:r>
            <a:r>
              <a:rPr lang="en-US" sz="2800" dirty="0"/>
              <a:t>.</a:t>
            </a:r>
          </a:p>
          <a:p>
            <a:pPr marL="914400" indent="-914400">
              <a:lnSpc>
                <a:spcPct val="110000"/>
              </a:lnSpc>
              <a:spcBef>
                <a:spcPts val="1800"/>
              </a:spcBef>
              <a:buNone/>
            </a:pPr>
            <a:r>
              <a:rPr lang="en-US" sz="2800" dirty="0"/>
              <a:t>5.2.4  Describe the behavioral and physiological effects of DA receptor agonists and antagonists, including their clinical applications where relevant.</a:t>
            </a:r>
          </a:p>
        </p:txBody>
      </p:sp>
    </p:spTree>
    <p:extLst>
      <p:ext uri="{BB962C8B-B14F-4D97-AF65-F5344CB8AC3E}">
        <p14:creationId xmlns:p14="http://schemas.microsoft.com/office/powerpoint/2010/main" val="3273607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5</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(3 of 3)</a:t>
            </a:r>
            <a:endParaRPr lang="en-US" dirty="0"/>
          </a:p>
        </p:txBody>
      </p:sp>
      <p:sp>
        <p:nvSpPr>
          <p:cNvPr id="3" name="Text Placeholder 2"/>
          <p:cNvSpPr>
            <a:spLocks noGrp="1"/>
          </p:cNvSpPr>
          <p:nvPr>
            <p:ph idx="1"/>
          </p:nvPr>
        </p:nvSpPr>
        <p:spPr/>
        <p:txBody>
          <a:bodyPr>
            <a:normAutofit fontScale="85000" lnSpcReduction="10000"/>
          </a:bodyPr>
          <a:lstStyle/>
          <a:p>
            <a:pPr marL="914400" indent="-914400">
              <a:lnSpc>
                <a:spcPct val="110000"/>
              </a:lnSpc>
              <a:spcBef>
                <a:spcPts val="1800"/>
              </a:spcBef>
              <a:buNone/>
            </a:pPr>
            <a:r>
              <a:rPr lang="en-US" sz="2800" dirty="0"/>
              <a:t>5.3.1  Identify the primary source of forebrain NE, the main target areas innervated by noradrenergic fibers, and the physiological effects of peripheral NE originating in the sympathetic nervous system and the adrenal glands.</a:t>
            </a:r>
          </a:p>
          <a:p>
            <a:pPr marL="914400" indent="-914400">
              <a:lnSpc>
                <a:spcPct val="110000"/>
              </a:lnSpc>
              <a:spcBef>
                <a:spcPts val="1800"/>
              </a:spcBef>
              <a:buNone/>
            </a:pPr>
            <a:r>
              <a:rPr lang="en-US" sz="2800" dirty="0"/>
              <a:t>5.3.2  List the adrenergic receptor subtypes and their respective signaling mechanisms.</a:t>
            </a:r>
          </a:p>
          <a:p>
            <a:pPr marL="914400" indent="-914400">
              <a:lnSpc>
                <a:spcPct val="110000"/>
              </a:lnSpc>
              <a:spcBef>
                <a:spcPts val="1800"/>
              </a:spcBef>
              <a:buNone/>
            </a:pPr>
            <a:r>
              <a:rPr lang="en-US" sz="2800" dirty="0"/>
              <a:t>5.3.3  Explain the mechanisms by which the noradrenergic system helps regulate anxiety, arousal, cognition, and the consolidation of emotional memories.</a:t>
            </a:r>
          </a:p>
          <a:p>
            <a:pPr marL="914400" indent="-914400">
              <a:lnSpc>
                <a:spcPct val="110000"/>
              </a:lnSpc>
              <a:spcBef>
                <a:spcPts val="1800"/>
              </a:spcBef>
              <a:buNone/>
            </a:pPr>
            <a:r>
              <a:rPr lang="en-US" sz="2800" dirty="0"/>
              <a:t>5.3.4  Identify medical conditions or disorders that can be treated with peripherally acting noradrenergic drugs, and name the drugs used for these disorders.</a:t>
            </a:r>
          </a:p>
        </p:txBody>
      </p:sp>
    </p:spTree>
    <p:extLst>
      <p:ext uri="{BB962C8B-B14F-4D97-AF65-F5344CB8AC3E}">
        <p14:creationId xmlns:p14="http://schemas.microsoft.com/office/powerpoint/2010/main" val="49834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Catecholamine Synthesis, Release, and Inactivation </a:t>
            </a:r>
            <a:r>
              <a:rPr lang="en-US" sz="1200"/>
              <a:t>(1 of 11)</a:t>
            </a:r>
            <a:endParaRPr lang="en-US" dirty="0"/>
          </a:p>
        </p:txBody>
      </p:sp>
      <p:sp>
        <p:nvSpPr>
          <p:cNvPr id="3" name="Text Placeholder 2"/>
          <p:cNvSpPr>
            <a:spLocks noGrp="1"/>
          </p:cNvSpPr>
          <p:nvPr>
            <p:ph idx="1"/>
          </p:nvPr>
        </p:nvSpPr>
        <p:spPr/>
        <p:txBody>
          <a:bodyPr>
            <a:normAutofit/>
          </a:bodyPr>
          <a:lstStyle/>
          <a:p>
            <a:pPr marL="571500">
              <a:spcBef>
                <a:spcPts val="1800"/>
              </a:spcBef>
            </a:pPr>
            <a:r>
              <a:rPr lang="en-US" sz="2800" b="1" dirty="0"/>
              <a:t>Catecholamines</a:t>
            </a:r>
            <a:r>
              <a:rPr lang="en-US" sz="2800" dirty="0"/>
              <a:t> are </a:t>
            </a:r>
            <a:r>
              <a:rPr lang="en-US" sz="2800" b="1" dirty="0" err="1"/>
              <a:t>monamines</a:t>
            </a:r>
            <a:r>
              <a:rPr lang="en-US" sz="2800" dirty="0"/>
              <a:t>: a catechol + amine group</a:t>
            </a:r>
          </a:p>
          <a:p>
            <a:pPr marL="1263650" lvl="1" indent="-349250">
              <a:spcBef>
                <a:spcPts val="1800"/>
              </a:spcBef>
              <a:buFont typeface="Courier New" panose="02070309020205020404" pitchFamily="49" charset="0"/>
              <a:buChar char="o"/>
            </a:pPr>
            <a:r>
              <a:rPr lang="en-US" altLang="en-US" b="1" dirty="0"/>
              <a:t>Dopamine (DA)</a:t>
            </a:r>
          </a:p>
          <a:p>
            <a:pPr marL="1263650" lvl="1" indent="-349250">
              <a:spcBef>
                <a:spcPts val="1800"/>
              </a:spcBef>
              <a:buFont typeface="Courier New" panose="02070309020205020404" pitchFamily="49" charset="0"/>
              <a:buChar char="o"/>
            </a:pPr>
            <a:r>
              <a:rPr lang="en-US" altLang="en-US" b="1" dirty="0"/>
              <a:t>Norepinephrine (NE)</a:t>
            </a:r>
          </a:p>
          <a:p>
            <a:pPr marL="1263650" lvl="1" indent="-349250">
              <a:spcBef>
                <a:spcPts val="1800"/>
              </a:spcBef>
              <a:buFont typeface="Courier New" panose="02070309020205020404" pitchFamily="49" charset="0"/>
              <a:buChar char="o"/>
            </a:pPr>
            <a:r>
              <a:rPr lang="en-US" altLang="en-US" b="1" dirty="0"/>
              <a:t>Epinephrine (EPI)</a:t>
            </a:r>
          </a:p>
          <a:p>
            <a:pPr marL="571500">
              <a:spcBef>
                <a:spcPts val="1800"/>
              </a:spcBef>
            </a:pPr>
            <a:r>
              <a:rPr lang="en-US" sz="2800" dirty="0"/>
              <a:t>Adjective forms: </a:t>
            </a:r>
            <a:r>
              <a:rPr lang="en-US" sz="2800" b="1" dirty="0"/>
              <a:t>dopaminergic</a:t>
            </a:r>
            <a:r>
              <a:rPr lang="en-US" sz="2800" dirty="0"/>
              <a:t>, </a:t>
            </a:r>
            <a:r>
              <a:rPr lang="en-US" sz="2800" b="1" dirty="0"/>
              <a:t>noradrenergic</a:t>
            </a:r>
            <a:r>
              <a:rPr lang="en-US" sz="2800" dirty="0"/>
              <a:t>, and </a:t>
            </a:r>
            <a:r>
              <a:rPr lang="en-US" sz="2800" b="1" dirty="0"/>
              <a:t>adrenergic</a:t>
            </a:r>
          </a:p>
          <a:p>
            <a:pPr marL="571500">
              <a:spcBef>
                <a:spcPts val="1800"/>
              </a:spcBef>
            </a:pPr>
            <a:r>
              <a:rPr lang="en-US" sz="2800" dirty="0"/>
              <a:t>Adrenal medulla secretes EPI and NE into the bloodstream where they act as hormones.</a:t>
            </a:r>
          </a:p>
        </p:txBody>
      </p:sp>
    </p:spTree>
    <p:extLst>
      <p:ext uri="{BB962C8B-B14F-4D97-AF65-F5344CB8AC3E}">
        <p14:creationId xmlns:p14="http://schemas.microsoft.com/office/powerpoint/2010/main" val="266600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Catecholamine Synthesis, Release, and Inactivation </a:t>
            </a:r>
            <a:r>
              <a:rPr lang="en-US" sz="1200"/>
              <a:t>(2 of 11)</a:t>
            </a:r>
            <a:endParaRPr lang="en-US" dirty="0"/>
          </a:p>
        </p:txBody>
      </p:sp>
      <p:sp>
        <p:nvSpPr>
          <p:cNvPr id="3" name="Text Placeholder 2"/>
          <p:cNvSpPr>
            <a:spLocks noGrp="1"/>
          </p:cNvSpPr>
          <p:nvPr>
            <p:ph idx="1"/>
          </p:nvPr>
        </p:nvSpPr>
        <p:spPr/>
        <p:txBody>
          <a:bodyPr>
            <a:normAutofit lnSpcReduction="10000"/>
          </a:bodyPr>
          <a:lstStyle/>
          <a:p>
            <a:pPr marL="457200" indent="-457200">
              <a:buNone/>
            </a:pPr>
            <a:r>
              <a:rPr lang="en-US" dirty="0"/>
              <a:t>Catecholamines are synthesized by a multistep pathway in which tyrosine hydroxylase catalyzes the rate-limiting step</a:t>
            </a:r>
          </a:p>
          <a:p>
            <a:pPr marL="571500">
              <a:spcBef>
                <a:spcPts val="1800"/>
              </a:spcBef>
            </a:pPr>
            <a:r>
              <a:rPr lang="en-US" sz="2800" dirty="0"/>
              <a:t>Catecholamines are synthesized from </a:t>
            </a:r>
            <a:r>
              <a:rPr lang="en-US" sz="2800" b="1" dirty="0"/>
              <a:t>tyrosine</a:t>
            </a:r>
          </a:p>
          <a:p>
            <a:pPr marL="571500">
              <a:spcBef>
                <a:spcPts val="1800"/>
              </a:spcBef>
            </a:pPr>
            <a:r>
              <a:rPr lang="en-US" sz="2800" b="1" dirty="0"/>
              <a:t>Tyrosine hydroxylase (TH)</a:t>
            </a:r>
            <a:r>
              <a:rPr lang="en-US" sz="2800" dirty="0"/>
              <a:t> is the </a:t>
            </a:r>
            <a:r>
              <a:rPr lang="en-US" sz="2800" b="1" dirty="0"/>
              <a:t>rate-limiting enzyme</a:t>
            </a:r>
          </a:p>
          <a:p>
            <a:pPr marL="571500">
              <a:spcBef>
                <a:spcPts val="1800"/>
              </a:spcBef>
            </a:pPr>
            <a:r>
              <a:rPr lang="en-US" sz="2800" dirty="0"/>
              <a:t>Factors affecting TH activity:</a:t>
            </a:r>
          </a:p>
          <a:p>
            <a:pPr marL="1263650" lvl="1" indent="-349250">
              <a:spcBef>
                <a:spcPts val="1800"/>
              </a:spcBef>
              <a:buFont typeface="Courier New" panose="02070309020205020404" pitchFamily="49" charset="0"/>
              <a:buChar char="o"/>
            </a:pPr>
            <a:r>
              <a:rPr lang="en-US" dirty="0"/>
              <a:t>DA and NE levels in the nerve terminal (negative feedback)</a:t>
            </a:r>
          </a:p>
          <a:p>
            <a:pPr marL="1263650" lvl="1" indent="-349250">
              <a:spcBef>
                <a:spcPts val="1800"/>
              </a:spcBef>
              <a:buFont typeface="Courier New" panose="02070309020205020404" pitchFamily="49" charset="0"/>
              <a:buChar char="o"/>
            </a:pPr>
            <a:r>
              <a:rPr lang="en-US" dirty="0"/>
              <a:t>Cell firing stimulates TH activity through phosphorylation of the enzyme by protein kinases</a:t>
            </a:r>
          </a:p>
        </p:txBody>
      </p:sp>
    </p:spTree>
    <p:extLst>
      <p:ext uri="{BB962C8B-B14F-4D97-AF65-F5344CB8AC3E}">
        <p14:creationId xmlns:p14="http://schemas.microsoft.com/office/powerpoint/2010/main" val="3521927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E3B55-0FF4-E24A-8F40-C5675492C9C0}"/>
              </a:ext>
            </a:extLst>
          </p:cNvPr>
          <p:cNvSpPr>
            <a:spLocks noGrp="1"/>
          </p:cNvSpPr>
          <p:nvPr>
            <p:ph type="title"/>
          </p:nvPr>
        </p:nvSpPr>
        <p:spPr/>
        <p:txBody>
          <a:bodyPr/>
          <a:lstStyle/>
          <a:p>
            <a:r>
              <a:rPr lang="en-US" dirty="0"/>
              <a:t>FIGURE 5.2  Multistep pathway of catecholamine synthesis </a:t>
            </a:r>
          </a:p>
        </p:txBody>
      </p:sp>
      <p:pic>
        <p:nvPicPr>
          <p:cNvPr id="8" name="Content Placeholder 7" descr="A pathway of catecholamine synthesis flows from top to bottom over 4 diagrams. The first is for tyrosine which has a single H O connection with a hexagon structure having alternative double bonds within. This is connected at right via a single bond to C, single bonds above and below to H, single bond at right to CH, right to N H base 2 and below via single bond to C O O H. Tyrosine flows below to D O P A. D O P A has H O connected via single bonds from top and below to the hexagon structure with alternate double bonds. This is connected at right via a single bond to C, single bonds above and below to H, single bond at right to C H, right to N H base 2 and below via single bond to C O O H. D O P A flows below to Dopamine. Dopamine has H O connected via single bonds from top and below to the hexagon structure with alternate double bonds. This is connected at right via a single bond to C, single bonds above and below to H, single bond at right to C H base 2, and leading right to N H base 2. Dopamine flows below to Norepinephrine. Norepinephrine has H O connected via single bonds from top and below to the hexagon structure with alternate double bonds. This is connected at right via a single bond to C, single bonds above to H and below to O H, single bond at right to C H base 2, and leading right to N H base 2.">
            <a:extLst>
              <a:ext uri="{FF2B5EF4-FFF2-40B4-BE49-F238E27FC236}">
                <a16:creationId xmlns:a16="http://schemas.microsoft.com/office/drawing/2014/main" id="{5BF7505E-1BB7-4F4A-A8A9-F63611D35C0C}"/>
              </a:ext>
            </a:extLst>
          </p:cNvPr>
          <p:cNvPicPr>
            <a:picLocks noGrp="1" noChangeAspect="1"/>
          </p:cNvPicPr>
          <p:nvPr>
            <p:ph sz="quarter" idx="10"/>
          </p:nvPr>
        </p:nvPicPr>
        <p:blipFill>
          <a:blip r:embed="rId3"/>
          <a:stretch>
            <a:fillRect/>
          </a:stretch>
        </p:blipFill>
        <p:spPr>
          <a:xfrm>
            <a:off x="4470195" y="479425"/>
            <a:ext cx="3251611" cy="6300788"/>
          </a:xfrm>
        </p:spPr>
      </p:pic>
    </p:spTree>
    <p:extLst>
      <p:ext uri="{BB962C8B-B14F-4D97-AF65-F5344CB8AC3E}">
        <p14:creationId xmlns:p14="http://schemas.microsoft.com/office/powerpoint/2010/main" val="832656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Catecholamine Synthesis, Release, and Inactivation </a:t>
            </a:r>
            <a:r>
              <a:rPr lang="en-US" sz="1200" dirty="0"/>
              <a:t>(3 of 11)</a:t>
            </a:r>
            <a:endParaRPr lang="en-US" dirty="0"/>
          </a:p>
        </p:txBody>
      </p:sp>
      <p:sp>
        <p:nvSpPr>
          <p:cNvPr id="3" name="Text Placeholder 2"/>
          <p:cNvSpPr>
            <a:spLocks noGrp="1"/>
          </p:cNvSpPr>
          <p:nvPr>
            <p:ph idx="1"/>
          </p:nvPr>
        </p:nvSpPr>
        <p:spPr/>
        <p:txBody>
          <a:bodyPr/>
          <a:lstStyle/>
          <a:p>
            <a:pPr marL="457200" indent="-457200">
              <a:buNone/>
            </a:pPr>
            <a:r>
              <a:rPr lang="en-US" dirty="0"/>
              <a:t>Catecholamines are synthesized by a multistep pathway in which tyrosine hydroxylase catalyzes the rate-limiting step</a:t>
            </a:r>
          </a:p>
          <a:p>
            <a:pPr marL="571500">
              <a:spcBef>
                <a:spcPts val="1800"/>
              </a:spcBef>
            </a:pPr>
            <a:r>
              <a:rPr lang="en-US" altLang="en-US" sz="2800" dirty="0"/>
              <a:t>Catecholamine synthesis can be increased by administering precursors such as tyrosine or </a:t>
            </a:r>
            <a:r>
              <a:rPr lang="en-US" altLang="en-US" sz="2800" b="1" cap="small" dirty="0" err="1"/>
              <a:t>l</a:t>
            </a:r>
            <a:r>
              <a:rPr lang="en-US" altLang="en-US" sz="2800" b="1" dirty="0" err="1"/>
              <a:t>-DOPA</a:t>
            </a:r>
            <a:r>
              <a:rPr lang="en-US" altLang="en-US" sz="2800" dirty="0"/>
              <a:t>, used to treat Parkinson’</a:t>
            </a:r>
            <a:r>
              <a:rPr lang="en-US" altLang="ja-JP" sz="2800" dirty="0"/>
              <a:t>s disease.</a:t>
            </a:r>
          </a:p>
          <a:p>
            <a:pPr marL="571500">
              <a:spcBef>
                <a:spcPts val="1800"/>
              </a:spcBef>
            </a:pPr>
            <a:r>
              <a:rPr lang="en-US" sz="2800" dirty="0"/>
              <a:t>Drugs that reduce synthesis inhibit one of the enzymes; </a:t>
            </a:r>
            <a:r>
              <a:rPr lang="en-US" sz="2800" b="1" dirty="0"/>
              <a:t>α-methyl-para-tyrosine (AMPT) </a:t>
            </a:r>
            <a:r>
              <a:rPr lang="en-US" sz="2800" dirty="0"/>
              <a:t>blocks TH </a:t>
            </a:r>
          </a:p>
        </p:txBody>
      </p:sp>
    </p:spTree>
    <p:extLst>
      <p:ext uri="{BB962C8B-B14F-4D97-AF65-F5344CB8AC3E}">
        <p14:creationId xmlns:p14="http://schemas.microsoft.com/office/powerpoint/2010/main" val="1026707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Catecholamine Synthesis, Release, and Inactivation </a:t>
            </a:r>
            <a:r>
              <a:rPr lang="en-US" sz="1200" dirty="0"/>
              <a:t>(4 of 11)</a:t>
            </a:r>
            <a:endParaRPr lang="en-US" dirty="0"/>
          </a:p>
        </p:txBody>
      </p:sp>
      <p:sp>
        <p:nvSpPr>
          <p:cNvPr id="3" name="Text Placeholder 2"/>
          <p:cNvSpPr>
            <a:spLocks noGrp="1"/>
          </p:cNvSpPr>
          <p:nvPr>
            <p:ph idx="1"/>
          </p:nvPr>
        </p:nvSpPr>
        <p:spPr/>
        <p:txBody>
          <a:bodyPr>
            <a:normAutofit/>
          </a:bodyPr>
          <a:lstStyle/>
          <a:p>
            <a:pPr marL="457200" indent="-457200">
              <a:buNone/>
            </a:pPr>
            <a:r>
              <a:rPr lang="en-US" dirty="0"/>
              <a:t>Catecholamine storage and release are regulated by vesicular uptake, </a:t>
            </a:r>
            <a:r>
              <a:rPr lang="en-US" dirty="0" err="1"/>
              <a:t>autoreceptor</a:t>
            </a:r>
            <a:r>
              <a:rPr lang="en-US" dirty="0"/>
              <a:t> activity, and cell firing rate</a:t>
            </a:r>
          </a:p>
          <a:p>
            <a:pPr marL="571500">
              <a:spcBef>
                <a:spcPts val="1800"/>
              </a:spcBef>
            </a:pPr>
            <a:r>
              <a:rPr lang="en-US" sz="2800" dirty="0"/>
              <a:t>Catecholamines are loaded into synaptic vesicles by </a:t>
            </a:r>
            <a:r>
              <a:rPr lang="en-US" sz="2800" b="1" dirty="0"/>
              <a:t>vesicular monoamine transporters (VMAT)</a:t>
            </a:r>
            <a:r>
              <a:rPr lang="en-US" sz="2800" dirty="0"/>
              <a:t> </a:t>
            </a:r>
          </a:p>
          <a:p>
            <a:pPr marL="571500">
              <a:spcBef>
                <a:spcPts val="1800"/>
              </a:spcBef>
            </a:pPr>
            <a:r>
              <a:rPr lang="en-US" sz="2800" dirty="0"/>
              <a:t>VMAT can be blocked by </a:t>
            </a:r>
            <a:r>
              <a:rPr lang="en-US" sz="2800" b="1" dirty="0"/>
              <a:t>reserpine</a:t>
            </a:r>
            <a:r>
              <a:rPr lang="en-US" sz="2800" dirty="0"/>
              <a:t>, an </a:t>
            </a:r>
            <a:r>
              <a:rPr lang="en-US" sz="2800" b="1" dirty="0"/>
              <a:t>irreversible inhibitor</a:t>
            </a:r>
            <a:r>
              <a:rPr lang="en-US" sz="2800" dirty="0"/>
              <a:t>; causes sedation and depressive symptoms</a:t>
            </a:r>
          </a:p>
          <a:p>
            <a:pPr marL="571500">
              <a:spcBef>
                <a:spcPts val="1800"/>
              </a:spcBef>
            </a:pPr>
            <a:r>
              <a:rPr lang="en-US" sz="2800" dirty="0"/>
              <a:t>Reversible inhibitors of VMAT are used to reduce uncontrolled movements in Huntington’s disease and tardive dyskinesia.</a:t>
            </a:r>
          </a:p>
        </p:txBody>
      </p:sp>
    </p:spTree>
    <p:extLst>
      <p:ext uri="{BB962C8B-B14F-4D97-AF65-F5344CB8AC3E}">
        <p14:creationId xmlns:p14="http://schemas.microsoft.com/office/powerpoint/2010/main" val="541858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60979-967F-DC4A-9C83-46B57C30CB69}"/>
              </a:ext>
            </a:extLst>
          </p:cNvPr>
          <p:cNvSpPr>
            <a:spLocks noGrp="1"/>
          </p:cNvSpPr>
          <p:nvPr>
            <p:ph type="title"/>
          </p:nvPr>
        </p:nvSpPr>
        <p:spPr/>
        <p:txBody>
          <a:bodyPr/>
          <a:lstStyle/>
          <a:p>
            <a:r>
              <a:rPr lang="en-US" dirty="0"/>
              <a:t>FIGURE 5.5  A typical dopaminergic neuron </a:t>
            </a:r>
          </a:p>
        </p:txBody>
      </p:sp>
      <p:pic>
        <p:nvPicPr>
          <p:cNvPr id="6" name="Content Placeholder 5" descr="An illustration depicts a typical dopaminergic neuron. The neuron has tyrosine flowing from the side into D O P A at the middle, which flows further as dopamine flows into the synaptic vesicle below. Postsynapic receptors D subscript 2 and D subscript 1 are present on the wall below. Synaptic vesicles with neurotransmitter molecules within are present around. A couple of these vesicles break p and transmit the molecules outside. D subscript 2 autoreceptor depicts the flow from postsynaptic receptor to the vesicle. Dopamine transporter at left depicts the flow of a molecule to a vesicular monoamine transporter, V M A T 2 at the end of another vesicle within."/>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261911" y="479425"/>
            <a:ext cx="5668178" cy="6300788"/>
          </a:xfrm>
        </p:spPr>
      </p:pic>
    </p:spTree>
    <p:extLst>
      <p:ext uri="{BB962C8B-B14F-4D97-AF65-F5344CB8AC3E}">
        <p14:creationId xmlns:p14="http://schemas.microsoft.com/office/powerpoint/2010/main" val="2509397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Catecholamine Synthesis, Release, and Inactivation </a:t>
            </a:r>
            <a:r>
              <a:rPr lang="en-US" sz="1200" dirty="0"/>
              <a:t>(5 of 11)</a:t>
            </a:r>
            <a:endParaRPr lang="en-US" dirty="0"/>
          </a:p>
        </p:txBody>
      </p:sp>
      <p:sp>
        <p:nvSpPr>
          <p:cNvPr id="3" name="Text Placeholder 2"/>
          <p:cNvSpPr>
            <a:spLocks noGrp="1"/>
          </p:cNvSpPr>
          <p:nvPr>
            <p:ph idx="1"/>
          </p:nvPr>
        </p:nvSpPr>
        <p:spPr/>
        <p:txBody>
          <a:bodyPr>
            <a:normAutofit/>
          </a:bodyPr>
          <a:lstStyle/>
          <a:p>
            <a:pPr marL="457200" indent="-457200">
              <a:buNone/>
            </a:pPr>
            <a:r>
              <a:rPr lang="en-US" dirty="0"/>
              <a:t>Catecholamine storage and release are regulated by vesicular uptake, </a:t>
            </a:r>
            <a:r>
              <a:rPr lang="en-US" dirty="0" err="1"/>
              <a:t>autoreceptor</a:t>
            </a:r>
            <a:r>
              <a:rPr lang="en-US" dirty="0"/>
              <a:t> activity, and cell firing rate</a:t>
            </a:r>
          </a:p>
          <a:p>
            <a:pPr marL="571500">
              <a:spcBef>
                <a:spcPts val="1800"/>
              </a:spcBef>
            </a:pPr>
            <a:r>
              <a:rPr lang="en-US" sz="2800" dirty="0"/>
              <a:t>Psychostimulants </a:t>
            </a:r>
            <a:r>
              <a:rPr lang="en-US" sz="2800" b="1" dirty="0"/>
              <a:t>amphetamine</a:t>
            </a:r>
            <a:r>
              <a:rPr lang="en-US" sz="2800" dirty="0"/>
              <a:t> and </a:t>
            </a:r>
            <a:r>
              <a:rPr lang="en-US" sz="2800" b="1" dirty="0"/>
              <a:t>methamphetamine</a:t>
            </a:r>
            <a:r>
              <a:rPr lang="en-US" sz="2800" dirty="0"/>
              <a:t> cause release of catecholamines without nerve firing.</a:t>
            </a:r>
          </a:p>
          <a:p>
            <a:pPr marL="571500">
              <a:spcBef>
                <a:spcPts val="1800"/>
              </a:spcBef>
            </a:pPr>
            <a:r>
              <a:rPr lang="en-US" sz="2800" dirty="0"/>
              <a:t>Lab animals show increased activity; at high doses </a:t>
            </a:r>
            <a:r>
              <a:rPr lang="en-US" sz="2800" b="1" dirty="0"/>
              <a:t>stereotyped behaviors</a:t>
            </a:r>
            <a:r>
              <a:rPr lang="en-US" sz="2800" dirty="0"/>
              <a:t> occur.</a:t>
            </a:r>
          </a:p>
          <a:p>
            <a:pPr marL="571500">
              <a:spcBef>
                <a:spcPts val="1800"/>
              </a:spcBef>
            </a:pPr>
            <a:r>
              <a:rPr lang="en-US" sz="2800" dirty="0"/>
              <a:t>In humans, drug effects include increased alertness, high energy levels, euphoria, insomnia</a:t>
            </a:r>
          </a:p>
        </p:txBody>
      </p:sp>
    </p:spTree>
    <p:extLst>
      <p:ext uri="{BB962C8B-B14F-4D97-AF65-F5344CB8AC3E}">
        <p14:creationId xmlns:p14="http://schemas.microsoft.com/office/powerpoint/2010/main" val="1767957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Catecholamine Synthesis, Release, and Inactivation </a:t>
            </a:r>
            <a:r>
              <a:rPr lang="en-US" sz="1300" dirty="0"/>
              <a:t>(6 of 11)</a:t>
            </a:r>
          </a:p>
        </p:txBody>
      </p:sp>
      <p:sp>
        <p:nvSpPr>
          <p:cNvPr id="3" name="Text Placeholder 2"/>
          <p:cNvSpPr>
            <a:spLocks noGrp="1"/>
          </p:cNvSpPr>
          <p:nvPr>
            <p:ph idx="1"/>
          </p:nvPr>
        </p:nvSpPr>
        <p:spPr>
          <a:xfrm>
            <a:off x="609600" y="1857781"/>
            <a:ext cx="10972800" cy="4525963"/>
          </a:xfrm>
        </p:spPr>
        <p:txBody>
          <a:bodyPr>
            <a:normAutofit fontScale="92500" lnSpcReduction="10000"/>
          </a:bodyPr>
          <a:lstStyle/>
          <a:p>
            <a:pPr marL="457200" indent="-457200">
              <a:buNone/>
            </a:pPr>
            <a:r>
              <a:rPr lang="en-US" sz="3500" dirty="0"/>
              <a:t>Catecholamine storage and release are regulated by vesicular uptake, </a:t>
            </a:r>
            <a:r>
              <a:rPr lang="en-US" sz="3500" dirty="0" err="1"/>
              <a:t>autoreceptor</a:t>
            </a:r>
            <a:r>
              <a:rPr lang="en-US" sz="3500" dirty="0"/>
              <a:t> activity, and cell firing rate</a:t>
            </a:r>
          </a:p>
          <a:p>
            <a:pPr marL="571500">
              <a:spcBef>
                <a:spcPts val="1800"/>
              </a:spcBef>
            </a:pPr>
            <a:r>
              <a:rPr lang="en-US" altLang="en-US" sz="2800" dirty="0"/>
              <a:t>DA release is inhibited by </a:t>
            </a:r>
            <a:r>
              <a:rPr lang="en-US" altLang="en-US" sz="2800" dirty="0" err="1"/>
              <a:t>autoreceptors</a:t>
            </a:r>
            <a:r>
              <a:rPr lang="en-US" altLang="en-US" sz="2800" dirty="0"/>
              <a:t> </a:t>
            </a:r>
          </a:p>
          <a:p>
            <a:pPr marL="571500">
              <a:spcBef>
                <a:spcPts val="1800"/>
              </a:spcBef>
            </a:pPr>
            <a:r>
              <a:rPr lang="en-US" altLang="en-US" sz="2800" dirty="0"/>
              <a:t>Neuron firing pattern also influences DA release:</a:t>
            </a:r>
          </a:p>
          <a:p>
            <a:pPr marL="1263650" lvl="1" indent="-349250">
              <a:spcBef>
                <a:spcPts val="1800"/>
              </a:spcBef>
              <a:buFont typeface="Courier New" panose="02070309020205020404" pitchFamily="49" charset="0"/>
              <a:buChar char="o"/>
            </a:pPr>
            <a:r>
              <a:rPr lang="en-US" altLang="en-US" b="1" dirty="0"/>
              <a:t>Single-spiking mode</a:t>
            </a:r>
            <a:r>
              <a:rPr lang="en-US" altLang="en-US" dirty="0"/>
              <a:t>: action potentials appear at irregular intervals (</a:t>
            </a:r>
            <a:r>
              <a:rPr lang="en-US" altLang="en-US" b="1" dirty="0"/>
              <a:t>tonic release</a:t>
            </a:r>
            <a:r>
              <a:rPr lang="en-US" altLang="en-US" dirty="0"/>
              <a:t>)</a:t>
            </a:r>
          </a:p>
          <a:p>
            <a:pPr marL="1263650" lvl="1" indent="-349250">
              <a:spcBef>
                <a:spcPts val="1800"/>
              </a:spcBef>
              <a:buFont typeface="Courier New" panose="02070309020205020404" pitchFamily="49" charset="0"/>
              <a:buChar char="o"/>
            </a:pPr>
            <a:r>
              <a:rPr lang="en-US" altLang="en-US" b="1" dirty="0"/>
              <a:t>Burst mode</a:t>
            </a:r>
            <a:r>
              <a:rPr lang="en-US" altLang="en-US" dirty="0"/>
              <a:t>: trains of 2–20 spikes at higher frequency (</a:t>
            </a:r>
            <a:r>
              <a:rPr lang="en-US" altLang="en-US" b="1" dirty="0"/>
              <a:t>phasic</a:t>
            </a:r>
            <a:r>
              <a:rPr lang="en-US" altLang="en-US" dirty="0"/>
              <a:t> </a:t>
            </a:r>
            <a:r>
              <a:rPr lang="en-US" altLang="en-US" b="1" dirty="0"/>
              <a:t>release</a:t>
            </a:r>
            <a:r>
              <a:rPr lang="en-US" altLang="en-US" dirty="0"/>
              <a:t>); transmitter release occurring faster than it can be cleared and/or metabolized</a:t>
            </a:r>
            <a:endParaRPr lang="en-US" dirty="0"/>
          </a:p>
        </p:txBody>
      </p:sp>
    </p:spTree>
    <p:extLst>
      <p:ext uri="{BB962C8B-B14F-4D97-AF65-F5344CB8AC3E}">
        <p14:creationId xmlns:p14="http://schemas.microsoft.com/office/powerpoint/2010/main" val="2414371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Catecholamine Synthesis, Release, and Inactivation </a:t>
            </a:r>
            <a:r>
              <a:rPr lang="en-US" sz="1200"/>
              <a:t>(7 of 11)</a:t>
            </a:r>
            <a:endParaRPr lang="en-US" dirty="0"/>
          </a:p>
        </p:txBody>
      </p:sp>
      <p:sp>
        <p:nvSpPr>
          <p:cNvPr id="3" name="Text Placeholder 2"/>
          <p:cNvSpPr>
            <a:spLocks noGrp="1"/>
          </p:cNvSpPr>
          <p:nvPr>
            <p:ph idx="1"/>
          </p:nvPr>
        </p:nvSpPr>
        <p:spPr/>
        <p:txBody>
          <a:bodyPr>
            <a:normAutofit/>
          </a:bodyPr>
          <a:lstStyle/>
          <a:p>
            <a:pPr marL="457200" indent="-457200">
              <a:buNone/>
            </a:pPr>
            <a:r>
              <a:rPr lang="en-US" dirty="0"/>
              <a:t>Catecholamine storage and release are regulated by vesicular uptake, </a:t>
            </a:r>
            <a:r>
              <a:rPr lang="en-US" dirty="0" err="1"/>
              <a:t>autoreceptor</a:t>
            </a:r>
            <a:r>
              <a:rPr lang="en-US" dirty="0"/>
              <a:t> activity, and cell firing rate</a:t>
            </a:r>
          </a:p>
          <a:p>
            <a:pPr marL="571500">
              <a:spcBef>
                <a:spcPts val="1800"/>
              </a:spcBef>
            </a:pPr>
            <a:r>
              <a:rPr lang="en-US" altLang="en-US" sz="2800" dirty="0"/>
              <a:t>DA and NE axons form </a:t>
            </a:r>
            <a:r>
              <a:rPr lang="en-US" altLang="en-US" sz="2800" dirty="0" err="1"/>
              <a:t>en</a:t>
            </a:r>
            <a:r>
              <a:rPr lang="en-US" altLang="en-US" sz="2800" dirty="0"/>
              <a:t> passant (</a:t>
            </a:r>
            <a:r>
              <a:rPr lang="ja-JP" altLang="en-US" sz="2800" dirty="0"/>
              <a:t>“</a:t>
            </a:r>
            <a:r>
              <a:rPr lang="en-US" altLang="ja-JP" sz="2800" dirty="0"/>
              <a:t>in passing</a:t>
            </a:r>
            <a:r>
              <a:rPr lang="ja-JP" altLang="en-US" sz="2800" dirty="0"/>
              <a:t>”</a:t>
            </a:r>
            <a:r>
              <a:rPr lang="en-US" altLang="ja-JP" sz="2800" dirty="0"/>
              <a:t>) synapses: </a:t>
            </a:r>
          </a:p>
          <a:p>
            <a:pPr marL="1263650" lvl="1" indent="-349250">
              <a:spcBef>
                <a:spcPts val="1800"/>
              </a:spcBef>
              <a:buFont typeface="Courier New" panose="02070309020205020404" pitchFamily="49" charset="0"/>
              <a:buChar char="o"/>
            </a:pPr>
            <a:r>
              <a:rPr lang="en-US" altLang="en-US" dirty="0"/>
              <a:t>Fibers have repeated swellings (</a:t>
            </a:r>
            <a:r>
              <a:rPr lang="en-US" altLang="en-US" b="1" dirty="0"/>
              <a:t>varicosities</a:t>
            </a:r>
            <a:r>
              <a:rPr lang="en-US" altLang="en-US" dirty="0"/>
              <a:t>) along their length, filled with synaptic vesicles.</a:t>
            </a:r>
          </a:p>
          <a:p>
            <a:pPr marL="1263650" lvl="1" indent="-349250">
              <a:spcBef>
                <a:spcPts val="1800"/>
              </a:spcBef>
              <a:buFont typeface="Courier New" panose="02070309020205020404" pitchFamily="49" charset="0"/>
              <a:buChar char="o"/>
            </a:pPr>
            <a:r>
              <a:rPr lang="en-US" altLang="en-US" dirty="0"/>
              <a:t>But only 30% of varicosities have release sites for DA; questions regarding their function remain.</a:t>
            </a:r>
            <a:endParaRPr lang="en-US" dirty="0"/>
          </a:p>
        </p:txBody>
      </p:sp>
    </p:spTree>
    <p:extLst>
      <p:ext uri="{BB962C8B-B14F-4D97-AF65-F5344CB8AC3E}">
        <p14:creationId xmlns:p14="http://schemas.microsoft.com/office/powerpoint/2010/main" val="3006045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5BC53-EE7D-6647-8A0C-43F1B1B95956}"/>
              </a:ext>
            </a:extLst>
          </p:cNvPr>
          <p:cNvSpPr>
            <a:spLocks noGrp="1"/>
          </p:cNvSpPr>
          <p:nvPr>
            <p:ph type="title"/>
          </p:nvPr>
        </p:nvSpPr>
        <p:spPr/>
        <p:txBody>
          <a:bodyPr/>
          <a:lstStyle/>
          <a:p>
            <a:r>
              <a:rPr lang="en-US" cap="all" dirty="0"/>
              <a:t>FIGURE 5.7</a:t>
            </a:r>
            <a:r>
              <a:rPr lang="en-US" dirty="0"/>
              <a:t>  Varicosities along the lengths of dopaminergic fibers </a:t>
            </a:r>
          </a:p>
        </p:txBody>
      </p:sp>
      <p:pic>
        <p:nvPicPr>
          <p:cNvPr id="6" name="Content Placeholder 5" descr="An illustration depicts the dopamine vesicles containing spherical globules. At the bottom, a vesicle reaches the end and opens up to release the globules. Pointer reads, Active zone-like release site.&#10;&#10;A photomicrograph of a culture rat's midbrain tissue depicts a nerve cell. Text at the middle reads T H superscript minus. The nerve fibers, dendrites, are covered with dark oblong structure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111040" y="479425"/>
            <a:ext cx="9969921" cy="6300788"/>
          </a:xfrm>
        </p:spPr>
      </p:pic>
    </p:spTree>
    <p:extLst>
      <p:ext uri="{BB962C8B-B14F-4D97-AF65-F5344CB8AC3E}">
        <p14:creationId xmlns:p14="http://schemas.microsoft.com/office/powerpoint/2010/main" val="3655908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Catecholamine Synthesis, Release, and Inactivation </a:t>
            </a:r>
            <a:r>
              <a:rPr lang="en-US" sz="1200" dirty="0"/>
              <a:t>(8 of 11)</a:t>
            </a:r>
            <a:endParaRPr lang="en-US" dirty="0"/>
          </a:p>
        </p:txBody>
      </p:sp>
      <p:sp>
        <p:nvSpPr>
          <p:cNvPr id="3" name="Text Placeholder 2"/>
          <p:cNvSpPr>
            <a:spLocks noGrp="1"/>
          </p:cNvSpPr>
          <p:nvPr>
            <p:ph idx="1"/>
          </p:nvPr>
        </p:nvSpPr>
        <p:spPr/>
        <p:txBody>
          <a:bodyPr>
            <a:normAutofit/>
          </a:bodyPr>
          <a:lstStyle/>
          <a:p>
            <a:pPr marL="457200" indent="-457200">
              <a:buNone/>
            </a:pPr>
            <a:r>
              <a:rPr lang="en-US" dirty="0"/>
              <a:t>Catecholamines are recycled after release by a process of reuptake</a:t>
            </a:r>
          </a:p>
          <a:p>
            <a:pPr marL="571500">
              <a:spcBef>
                <a:spcPts val="1800"/>
              </a:spcBef>
            </a:pPr>
            <a:r>
              <a:rPr lang="en-US" sz="2800" b="1" dirty="0"/>
              <a:t>Reuptake</a:t>
            </a:r>
            <a:r>
              <a:rPr lang="en-US" sz="2800" dirty="0"/>
              <a:t>: </a:t>
            </a:r>
            <a:r>
              <a:rPr lang="en-US" sz="2800" b="1" dirty="0"/>
              <a:t>DA</a:t>
            </a:r>
            <a:r>
              <a:rPr lang="en-US" sz="2800" dirty="0"/>
              <a:t> and </a:t>
            </a:r>
            <a:r>
              <a:rPr lang="en-US" sz="2800" b="1" dirty="0"/>
              <a:t>NE transporters </a:t>
            </a:r>
            <a:r>
              <a:rPr lang="en-US" sz="2800" dirty="0"/>
              <a:t>return the transmitters to the releasing cell for breakdown or repackaging into vesicles</a:t>
            </a:r>
          </a:p>
          <a:p>
            <a:pPr marL="571500">
              <a:spcBef>
                <a:spcPts val="1800"/>
              </a:spcBef>
            </a:pPr>
            <a:r>
              <a:rPr lang="en-US" sz="2800" dirty="0"/>
              <a:t>Uptake: by postsynaptic cell or glial cells by non-selective transporters</a:t>
            </a:r>
          </a:p>
          <a:p>
            <a:pPr marL="571500">
              <a:spcBef>
                <a:spcPts val="1800"/>
              </a:spcBef>
            </a:pPr>
            <a:r>
              <a:rPr lang="en-US" sz="2800" dirty="0"/>
              <a:t>Transporter-blocking drugs enhance DA or NE transmission by increasing the amount of neurotransmitter available</a:t>
            </a:r>
          </a:p>
        </p:txBody>
      </p:sp>
    </p:spTree>
    <p:extLst>
      <p:ext uri="{BB962C8B-B14F-4D97-AF65-F5344CB8AC3E}">
        <p14:creationId xmlns:p14="http://schemas.microsoft.com/office/powerpoint/2010/main" val="904414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1E170-90C8-0B40-95EC-6FE1B8FAF4EF}"/>
              </a:ext>
            </a:extLst>
          </p:cNvPr>
          <p:cNvSpPr>
            <a:spLocks noGrp="1"/>
          </p:cNvSpPr>
          <p:nvPr>
            <p:ph type="title"/>
          </p:nvPr>
        </p:nvSpPr>
        <p:spPr/>
        <p:txBody>
          <a:bodyPr/>
          <a:lstStyle/>
          <a:p>
            <a:r>
              <a:rPr lang="en-US" dirty="0"/>
              <a:t>FIGURE 5.8  Extracellular DA levels are strongly elevated by treatment with a DA reuptake inhibitor </a:t>
            </a:r>
          </a:p>
        </p:txBody>
      </p:sp>
      <p:pic>
        <p:nvPicPr>
          <p:cNvPr id="6" name="Content Placeholder 5" descr="Four line graphs depict data on extracellular D A levels as elevated by treatment with a D A reuptake inhibitor. The X axis measures time after drug treatment in minutes. The values range from 0 through 800. The Y axis measures percent baseline dopamine from 0 through 300 with increments of 100. Approximate values follow. For G B R 12909, double negative. 0, 100. 20, 110. 40, 120. 60, 90. 80, 80. 100, 80. 120, 90. 140, 80. 160, 85. 800, 90. For G B R 12909, double positive: G B R 12909 with a double positive: 0, 100. 20, 90. 40, 175. 60, 200. 80, 225. 100, 240. 120, 220. 140, 250. 160, 230. 800, 240. For saline with double negative: 0, 100. 20, 105. 40, 100. 60, 110. 80, 100. 100, 105. 120, 100. 140, 95. 160, 100. 800, 95. For saline with double positive: 0, 100. 20, 95. 40, 100. 60, 102. 80, 100. 100, 100. 120, 100. 140, 95. 160, 100. 800, 105."/>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275041" y="479425"/>
            <a:ext cx="7641919" cy="6300788"/>
          </a:xfrm>
        </p:spPr>
      </p:pic>
    </p:spTree>
    <p:extLst>
      <p:ext uri="{BB962C8B-B14F-4D97-AF65-F5344CB8AC3E}">
        <p14:creationId xmlns:p14="http://schemas.microsoft.com/office/powerpoint/2010/main" val="3899237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Catecholamine Synthesis, Release, and Inactivation </a:t>
            </a:r>
            <a:r>
              <a:rPr lang="en-US" sz="1200" dirty="0"/>
              <a:t>(9 of 11)</a:t>
            </a:r>
            <a:endParaRPr lang="en-US" dirty="0"/>
          </a:p>
        </p:txBody>
      </p:sp>
      <p:sp>
        <p:nvSpPr>
          <p:cNvPr id="3" name="Text Placeholder 2"/>
          <p:cNvSpPr>
            <a:spLocks noGrp="1"/>
          </p:cNvSpPr>
          <p:nvPr>
            <p:ph idx="1"/>
          </p:nvPr>
        </p:nvSpPr>
        <p:spPr/>
        <p:txBody>
          <a:bodyPr>
            <a:normAutofit/>
          </a:bodyPr>
          <a:lstStyle/>
          <a:p>
            <a:pPr marL="457200" indent="-457200">
              <a:buNone/>
            </a:pPr>
            <a:r>
              <a:rPr lang="en-US" dirty="0"/>
              <a:t>Catecholamine levels are regulated by metabolizing enzymes</a:t>
            </a:r>
          </a:p>
          <a:p>
            <a:pPr marL="571500">
              <a:spcBef>
                <a:spcPts val="1800"/>
              </a:spcBef>
            </a:pPr>
            <a:r>
              <a:rPr lang="en-US" sz="2800" dirty="0"/>
              <a:t>Breakdown of catecholamines involves </a:t>
            </a:r>
            <a:r>
              <a:rPr lang="en-US" sz="2800" b="1" dirty="0"/>
              <a:t>monoamine oxidase (MAO) </a:t>
            </a:r>
            <a:r>
              <a:rPr lang="en-US" sz="2800" dirty="0"/>
              <a:t>and </a:t>
            </a:r>
            <a:r>
              <a:rPr lang="en-US" sz="2800" b="1" dirty="0"/>
              <a:t>catechol-O-methyltransferase (COMT)</a:t>
            </a:r>
            <a:r>
              <a:rPr lang="en-US" sz="2800" dirty="0"/>
              <a:t>.</a:t>
            </a:r>
          </a:p>
          <a:p>
            <a:pPr marL="571500">
              <a:spcBef>
                <a:spcPts val="1800"/>
              </a:spcBef>
            </a:pPr>
            <a:r>
              <a:rPr lang="en-US" sz="2800" b="1" dirty="0"/>
              <a:t>Nonselective MAO inhibitors </a:t>
            </a:r>
            <a:r>
              <a:rPr lang="en-US" sz="2800" dirty="0"/>
              <a:t>used to treat depression had dangerous side effects.  </a:t>
            </a:r>
          </a:p>
          <a:p>
            <a:pPr marL="571500">
              <a:spcBef>
                <a:spcPts val="1800"/>
              </a:spcBef>
            </a:pPr>
            <a:r>
              <a:rPr lang="en-US" sz="2800" dirty="0"/>
              <a:t>Selective MAO inhibitors: </a:t>
            </a:r>
            <a:r>
              <a:rPr lang="en-US" sz="2800" b="1" dirty="0"/>
              <a:t>moclobemide</a:t>
            </a:r>
            <a:r>
              <a:rPr lang="en-US" sz="2800" dirty="0"/>
              <a:t> (MAO-A) for depression and </a:t>
            </a:r>
            <a:r>
              <a:rPr lang="en-US" sz="2800" b="1" dirty="0"/>
              <a:t>Selegiline (</a:t>
            </a:r>
            <a:r>
              <a:rPr lang="en-US" sz="2800" b="1" dirty="0" err="1"/>
              <a:t>Eldepryl</a:t>
            </a:r>
            <a:r>
              <a:rPr lang="en-US" sz="2800" b="1" dirty="0"/>
              <a:t>)</a:t>
            </a:r>
            <a:r>
              <a:rPr lang="en-US" sz="2800" dirty="0"/>
              <a:t> and </a:t>
            </a:r>
            <a:r>
              <a:rPr lang="en-US" sz="2800" b="1" dirty="0" err="1"/>
              <a:t>rasagiline</a:t>
            </a:r>
            <a:r>
              <a:rPr lang="en-US" sz="2800" b="1" dirty="0"/>
              <a:t> (</a:t>
            </a:r>
            <a:r>
              <a:rPr lang="en-US" sz="2800" b="1" dirty="0" err="1"/>
              <a:t>Azilect</a:t>
            </a:r>
            <a:r>
              <a:rPr lang="en-US" sz="2800" b="1" dirty="0"/>
              <a:t>)</a:t>
            </a:r>
            <a:r>
              <a:rPr lang="en-US" sz="2800" dirty="0"/>
              <a:t> (MAO-B) for Parkinson’s disease.</a:t>
            </a:r>
          </a:p>
        </p:txBody>
      </p:sp>
    </p:spTree>
    <p:extLst>
      <p:ext uri="{BB962C8B-B14F-4D97-AF65-F5344CB8AC3E}">
        <p14:creationId xmlns:p14="http://schemas.microsoft.com/office/powerpoint/2010/main" val="3271478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Catecholamine Synthesis, Release, and Inactivation </a:t>
            </a:r>
            <a:r>
              <a:rPr lang="en-US" sz="1200" dirty="0"/>
              <a:t>(10 of 11)</a:t>
            </a:r>
            <a:endParaRPr lang="en-US" dirty="0"/>
          </a:p>
        </p:txBody>
      </p:sp>
      <p:sp>
        <p:nvSpPr>
          <p:cNvPr id="3" name="Text Placeholder 2"/>
          <p:cNvSpPr>
            <a:spLocks noGrp="1"/>
          </p:cNvSpPr>
          <p:nvPr>
            <p:ph idx="1"/>
          </p:nvPr>
        </p:nvSpPr>
        <p:spPr/>
        <p:txBody>
          <a:bodyPr>
            <a:normAutofit lnSpcReduction="10000"/>
          </a:bodyPr>
          <a:lstStyle/>
          <a:p>
            <a:pPr marL="457200" indent="-457200">
              <a:buNone/>
            </a:pPr>
            <a:r>
              <a:rPr lang="en-US" dirty="0"/>
              <a:t>Catecholamine levels are regulated by metabolizing enzymes</a:t>
            </a:r>
          </a:p>
          <a:p>
            <a:pPr marL="571500">
              <a:spcBef>
                <a:spcPts val="1800"/>
              </a:spcBef>
            </a:pPr>
            <a:r>
              <a:rPr lang="en-US" sz="2800" dirty="0"/>
              <a:t>COMT acts on compounds containing the catechol structure</a:t>
            </a:r>
          </a:p>
          <a:p>
            <a:pPr marL="571500">
              <a:spcBef>
                <a:spcPts val="1800"/>
              </a:spcBef>
            </a:pPr>
            <a:r>
              <a:rPr lang="en-US" sz="2800" dirty="0"/>
              <a:t>Action of MAO and COMT produce metabolites:</a:t>
            </a:r>
          </a:p>
          <a:p>
            <a:pPr marL="1263650" lvl="1" indent="-349250">
              <a:spcBef>
                <a:spcPts val="1800"/>
              </a:spcBef>
              <a:buFont typeface="Courier New" panose="02070309020205020404" pitchFamily="49" charset="0"/>
              <a:buChar char="o"/>
            </a:pPr>
            <a:r>
              <a:rPr lang="en-US" dirty="0"/>
              <a:t>DA metabolite: </a:t>
            </a:r>
            <a:r>
              <a:rPr lang="en-US" b="1" dirty="0" err="1"/>
              <a:t>homovanillic</a:t>
            </a:r>
            <a:r>
              <a:rPr lang="en-US" b="1" dirty="0"/>
              <a:t> acid (HVA)</a:t>
            </a:r>
          </a:p>
          <a:p>
            <a:pPr marL="1263650" lvl="1" indent="-349250">
              <a:spcBef>
                <a:spcPts val="1800"/>
              </a:spcBef>
              <a:buFont typeface="Courier New" panose="02070309020205020404" pitchFamily="49" charset="0"/>
              <a:buChar char="o"/>
            </a:pPr>
            <a:r>
              <a:rPr lang="en-US" altLang="en-US" dirty="0"/>
              <a:t>NE metabolites: </a:t>
            </a:r>
            <a:r>
              <a:rPr lang="en-US" altLang="en-US" b="1" dirty="0"/>
              <a:t>3-methoxy-4-hydroxy-phenylglycol (MHPG)</a:t>
            </a:r>
            <a:r>
              <a:rPr lang="en-US" altLang="en-US" dirty="0"/>
              <a:t> in the brain and </a:t>
            </a:r>
            <a:r>
              <a:rPr lang="en-US" altLang="en-US" b="1" dirty="0" err="1"/>
              <a:t>vanillymandelic</a:t>
            </a:r>
            <a:r>
              <a:rPr lang="en-US" altLang="en-US" b="1" dirty="0"/>
              <a:t> acid (VMA) </a:t>
            </a:r>
            <a:r>
              <a:rPr lang="en-US" altLang="en-US" dirty="0"/>
              <a:t>in the PNS.</a:t>
            </a:r>
          </a:p>
          <a:p>
            <a:pPr marL="571500">
              <a:spcBef>
                <a:spcPts val="1800"/>
              </a:spcBef>
            </a:pPr>
            <a:r>
              <a:rPr lang="en-US" sz="2800" dirty="0"/>
              <a:t>Levels of metabolites in blood, urine, and CSF provide an indication of catecholaminergic activity.</a:t>
            </a:r>
          </a:p>
        </p:txBody>
      </p:sp>
    </p:spTree>
    <p:extLst>
      <p:ext uri="{BB962C8B-B14F-4D97-AF65-F5344CB8AC3E}">
        <p14:creationId xmlns:p14="http://schemas.microsoft.com/office/powerpoint/2010/main" val="4110213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Catecholamine Synthesis, Release, and Inactivation </a:t>
            </a:r>
            <a:r>
              <a:rPr lang="en-US" sz="1200"/>
              <a:t>(11 of 11)</a:t>
            </a:r>
            <a:endParaRPr lang="en-US" dirty="0"/>
          </a:p>
        </p:txBody>
      </p:sp>
      <p:sp>
        <p:nvSpPr>
          <p:cNvPr id="3" name="Text Placeholder 2"/>
          <p:cNvSpPr>
            <a:spLocks noGrp="1"/>
          </p:cNvSpPr>
          <p:nvPr>
            <p:ph idx="1"/>
          </p:nvPr>
        </p:nvSpPr>
        <p:spPr/>
        <p:txBody>
          <a:bodyPr/>
          <a:lstStyle/>
          <a:p>
            <a:pPr marL="0" indent="0">
              <a:spcBef>
                <a:spcPts val="1200"/>
              </a:spcBef>
              <a:buNone/>
            </a:pPr>
            <a:r>
              <a:rPr lang="en-US" sz="2000" u="sng" dirty="0"/>
              <a:t>CLICKER QUESTION 1</a:t>
            </a:r>
          </a:p>
          <a:p>
            <a:pPr marL="457200" indent="-457200">
              <a:spcBef>
                <a:spcPts val="2400"/>
              </a:spcBef>
              <a:buNone/>
            </a:pPr>
            <a:r>
              <a:rPr lang="en-US" dirty="0"/>
              <a:t>What type of compound would reduce the availability of NE?</a:t>
            </a:r>
          </a:p>
          <a:p>
            <a:pPr marL="914400" indent="-457200">
              <a:spcBef>
                <a:spcPts val="1200"/>
              </a:spcBef>
              <a:buFont typeface="Arial" pitchFamily="34" charset="0"/>
              <a:buAutoNum type="alphaLcPeriod"/>
            </a:pPr>
            <a:r>
              <a:rPr lang="en-US" cap="small" dirty="0" err="1"/>
              <a:t>l</a:t>
            </a:r>
            <a:r>
              <a:rPr lang="en-US" dirty="0" err="1"/>
              <a:t>-DOPA</a:t>
            </a:r>
            <a:endParaRPr lang="en-US" dirty="0"/>
          </a:p>
          <a:p>
            <a:pPr marL="914400" indent="-457200">
              <a:spcBef>
                <a:spcPts val="1200"/>
              </a:spcBef>
              <a:buFont typeface="Arial" pitchFamily="34" charset="0"/>
              <a:buAutoNum type="alphaLcPeriod"/>
            </a:pPr>
            <a:r>
              <a:rPr lang="en-US" dirty="0"/>
              <a:t>Tyrosine hydroxylase inhibitor</a:t>
            </a:r>
          </a:p>
          <a:p>
            <a:pPr marL="914400" indent="-457200">
              <a:spcBef>
                <a:spcPts val="1200"/>
              </a:spcBef>
              <a:buFont typeface="Arial" pitchFamily="34" charset="0"/>
              <a:buAutoNum type="alphaLcPeriod"/>
            </a:pPr>
            <a:r>
              <a:rPr lang="en-US" dirty="0"/>
              <a:t>NE transporters</a:t>
            </a:r>
          </a:p>
        </p:txBody>
      </p:sp>
    </p:spTree>
    <p:extLst>
      <p:ext uri="{BB962C8B-B14F-4D97-AF65-F5344CB8AC3E}">
        <p14:creationId xmlns:p14="http://schemas.microsoft.com/office/powerpoint/2010/main" val="2244686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2CA17-7BBF-4D9C-AABD-54BD71C979AE}"/>
              </a:ext>
            </a:extLst>
          </p:cNvPr>
          <p:cNvSpPr>
            <a:spLocks noGrp="1"/>
          </p:cNvSpPr>
          <p:nvPr>
            <p:ph type="title"/>
          </p:nvPr>
        </p:nvSpPr>
        <p:spPr/>
        <p:txBody>
          <a:bodyPr/>
          <a:lstStyle/>
          <a:p>
            <a:r>
              <a:rPr lang="en-US" dirty="0"/>
              <a:t>Review of Learning Objectives </a:t>
            </a:r>
            <a:r>
              <a:rPr lang="en-US" sz="1200" dirty="0"/>
              <a:t>(1 of 3)</a:t>
            </a:r>
            <a:endParaRPr lang="en-US" dirty="0"/>
          </a:p>
        </p:txBody>
      </p:sp>
      <p:sp>
        <p:nvSpPr>
          <p:cNvPr id="3" name="Content Placeholder 2">
            <a:extLst>
              <a:ext uri="{FF2B5EF4-FFF2-40B4-BE49-F238E27FC236}">
                <a16:creationId xmlns:a16="http://schemas.microsoft.com/office/drawing/2014/main" id="{76BCC762-1F9F-49D6-A465-52284DB267D5}"/>
              </a:ext>
            </a:extLst>
          </p:cNvPr>
          <p:cNvSpPr>
            <a:spLocks noGrp="1"/>
          </p:cNvSpPr>
          <p:nvPr>
            <p:ph idx="1"/>
          </p:nvPr>
        </p:nvSpPr>
        <p:spPr/>
        <p:txBody>
          <a:bodyPr/>
          <a:lstStyle/>
          <a:p>
            <a:pPr marL="914400" indent="-914400">
              <a:lnSpc>
                <a:spcPct val="110000"/>
              </a:lnSpc>
              <a:spcBef>
                <a:spcPts val="1800"/>
              </a:spcBef>
              <a:buNone/>
            </a:pPr>
            <a:r>
              <a:rPr lang="en-US" sz="2800" dirty="0"/>
              <a:t>5.1.1  Describe the processes involved in catecholamine synthesis, storage, and release.</a:t>
            </a:r>
          </a:p>
          <a:p>
            <a:pPr marL="914400" indent="-914400">
              <a:lnSpc>
                <a:spcPct val="110000"/>
              </a:lnSpc>
              <a:spcBef>
                <a:spcPts val="1800"/>
              </a:spcBef>
              <a:buNone/>
            </a:pPr>
            <a:r>
              <a:rPr lang="en-US" sz="2800" dirty="0"/>
              <a:t>5.1.2  Explain how catecholamines are inactivated, including both reuptake and metabolism.</a:t>
            </a:r>
          </a:p>
          <a:p>
            <a:pPr marL="914400" indent="-914400">
              <a:lnSpc>
                <a:spcPct val="110000"/>
              </a:lnSpc>
              <a:spcBef>
                <a:spcPts val="1800"/>
              </a:spcBef>
              <a:buNone/>
            </a:pPr>
            <a:r>
              <a:rPr lang="en-US" sz="2800" dirty="0"/>
              <a:t>5.1.3  List and explain the clinical uses of drugs that act on catecholamine reuptake or metabolism.</a:t>
            </a:r>
          </a:p>
        </p:txBody>
      </p:sp>
    </p:spTree>
    <p:extLst>
      <p:ext uri="{BB962C8B-B14F-4D97-AF65-F5344CB8AC3E}">
        <p14:creationId xmlns:p14="http://schemas.microsoft.com/office/powerpoint/2010/main" val="2882083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503" y="274638"/>
            <a:ext cx="11092665" cy="1143000"/>
          </a:xfrm>
        </p:spPr>
        <p:txBody>
          <a:bodyPr>
            <a:norm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Organization and Function of the Dopaminergic System </a:t>
            </a:r>
            <a:r>
              <a:rPr kumimoji="0" lang="en-US" sz="1200" b="0" i="0" u="none" strike="noStrike" kern="1200" cap="none" spc="0" normalizeH="0" baseline="0" noProof="0" dirty="0">
                <a:ln>
                  <a:noFill/>
                </a:ln>
                <a:solidFill>
                  <a:srgbClr val="1F497D"/>
                </a:solidFill>
                <a:effectLst/>
                <a:uLnTx/>
                <a:uFillTx/>
                <a:latin typeface="Calibri"/>
                <a:ea typeface="+mj-ea"/>
                <a:cs typeface="+mj-cs"/>
              </a:rPr>
              <a:t>(1 of 13)</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Two important dopaminergic cell groups are found in the midbrain</a:t>
            </a:r>
          </a:p>
          <a:p>
            <a:pPr marL="571500">
              <a:lnSpc>
                <a:spcPct val="110000"/>
              </a:lnSpc>
              <a:spcBef>
                <a:spcPts val="1200"/>
              </a:spcBef>
            </a:pPr>
            <a:r>
              <a:rPr lang="en-US" sz="2800" dirty="0"/>
              <a:t>A9 in the substantia nigra: axons ascend to the dorsal striatum in the forebrain—the </a:t>
            </a:r>
            <a:r>
              <a:rPr lang="en-US" sz="2800" b="1" dirty="0"/>
              <a:t>nigrostriatal tract</a:t>
            </a:r>
          </a:p>
          <a:p>
            <a:pPr marL="571500">
              <a:lnSpc>
                <a:spcPct val="110000"/>
              </a:lnSpc>
              <a:spcBef>
                <a:spcPts val="1200"/>
              </a:spcBef>
            </a:pPr>
            <a:r>
              <a:rPr lang="en-US" sz="2800" dirty="0"/>
              <a:t>A10 in the ventral tegmental area (VTA)</a:t>
            </a:r>
          </a:p>
          <a:p>
            <a:pPr marL="1263650" lvl="1" indent="-349250">
              <a:spcBef>
                <a:spcPts val="1800"/>
              </a:spcBef>
              <a:buFont typeface="Courier New" panose="02070309020205020404" pitchFamily="49" charset="0"/>
              <a:buChar char="o"/>
            </a:pPr>
            <a:r>
              <a:rPr lang="en-US" b="1" dirty="0"/>
              <a:t>Mesolimbic dopamine pathway</a:t>
            </a:r>
            <a:r>
              <a:rPr lang="en-US" dirty="0"/>
              <a:t>: VTA to limbic system</a:t>
            </a:r>
          </a:p>
          <a:p>
            <a:pPr marL="1263650" lvl="1" indent="-349250">
              <a:spcBef>
                <a:spcPts val="1800"/>
              </a:spcBef>
              <a:buFont typeface="Courier New" panose="02070309020205020404" pitchFamily="49" charset="0"/>
              <a:buChar char="o"/>
            </a:pPr>
            <a:r>
              <a:rPr lang="en-US" b="1" dirty="0" err="1"/>
              <a:t>Mesocortical</a:t>
            </a:r>
            <a:r>
              <a:rPr lang="en-US" b="1" dirty="0"/>
              <a:t> dopamine pathway</a:t>
            </a:r>
            <a:r>
              <a:rPr lang="en-US" dirty="0"/>
              <a:t>: VTA to cerebral cortex</a:t>
            </a:r>
          </a:p>
        </p:txBody>
      </p:sp>
    </p:spTree>
    <p:extLst>
      <p:ext uri="{BB962C8B-B14F-4D97-AF65-F5344CB8AC3E}">
        <p14:creationId xmlns:p14="http://schemas.microsoft.com/office/powerpoint/2010/main" val="504091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86023-13AA-7C42-9042-7EB9044A4BB9}"/>
              </a:ext>
            </a:extLst>
          </p:cNvPr>
          <p:cNvSpPr>
            <a:spLocks noGrp="1"/>
          </p:cNvSpPr>
          <p:nvPr>
            <p:ph type="title"/>
          </p:nvPr>
        </p:nvSpPr>
        <p:spPr/>
        <p:txBody>
          <a:bodyPr/>
          <a:lstStyle/>
          <a:p>
            <a:r>
              <a:rPr lang="en-US" dirty="0"/>
              <a:t>FIGURE 5.9  The ascending DA system can be divided into three pathways </a:t>
            </a:r>
          </a:p>
        </p:txBody>
      </p:sp>
      <p:pic>
        <p:nvPicPr>
          <p:cNvPr id="6" name="Content Placeholder 5" descr="An illustration of a sagittal view of a rodent's neural pathways depicts the globus pallidus at the bottom and caudateputamen at left. Text pointer at right reads, A 9 substantianigra.&#10;&#10;An illustration of a sagittal view of a rodent's neural pathways depicts the olfactory tubercule at left bottom and the nucleus accumbens portions at top of that. Text pointer at far right reads, A 10 ventral tegmental area.&#10;&#10;An illustration of a sagittal view of a rodent's neural pathways depicts the pathway portions of anterior olfactory nucleus at bottom left, the cerebral cortex above that, the lateral septum to its right, and the hippocampus to its right. Text pointer at far right reads, A 10 ventral tegmental area."/>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217151" y="479425"/>
            <a:ext cx="3757698" cy="6300788"/>
          </a:xfrm>
        </p:spPr>
      </p:pic>
    </p:spTree>
    <p:extLst>
      <p:ext uri="{BB962C8B-B14F-4D97-AF65-F5344CB8AC3E}">
        <p14:creationId xmlns:p14="http://schemas.microsoft.com/office/powerpoint/2010/main" val="865085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503" y="274638"/>
            <a:ext cx="11092665" cy="1143000"/>
          </a:xfrm>
        </p:spPr>
        <p:txBody>
          <a:bodyPr>
            <a:norm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Organization and Function of the Dopaminergic System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13)</a:t>
            </a:r>
            <a:endParaRPr lang="en-US" dirty="0"/>
          </a:p>
        </p:txBody>
      </p:sp>
      <p:sp>
        <p:nvSpPr>
          <p:cNvPr id="3" name="Text Placeholder 2"/>
          <p:cNvSpPr>
            <a:spLocks noGrp="1"/>
          </p:cNvSpPr>
          <p:nvPr>
            <p:ph idx="1"/>
          </p:nvPr>
        </p:nvSpPr>
        <p:spPr/>
        <p:txBody>
          <a:bodyPr>
            <a:normAutofit fontScale="92500" lnSpcReduction="20000"/>
          </a:bodyPr>
          <a:lstStyle/>
          <a:p>
            <a:pPr marL="457200" indent="-457200">
              <a:spcBef>
                <a:spcPts val="1200"/>
              </a:spcBef>
              <a:buNone/>
            </a:pPr>
            <a:r>
              <a:rPr lang="en-US" dirty="0"/>
              <a:t>Ascending dopamine pathways have been implicated in several important behavioral functions</a:t>
            </a:r>
          </a:p>
          <a:p>
            <a:pPr marL="571500">
              <a:lnSpc>
                <a:spcPct val="110000"/>
              </a:lnSpc>
              <a:spcBef>
                <a:spcPts val="1200"/>
              </a:spcBef>
            </a:pPr>
            <a:r>
              <a:rPr lang="en-US" altLang="en-US" sz="2800" dirty="0"/>
              <a:t>Nigrostriatal tract facilitates voluntary movement. </a:t>
            </a:r>
          </a:p>
          <a:p>
            <a:pPr marL="571500">
              <a:lnSpc>
                <a:spcPct val="110000"/>
              </a:lnSpc>
              <a:spcBef>
                <a:spcPts val="1200"/>
              </a:spcBef>
            </a:pPr>
            <a:r>
              <a:rPr lang="en-US" altLang="en-US" sz="2800" dirty="0"/>
              <a:t>Research on the motor functions of DA:</a:t>
            </a:r>
          </a:p>
          <a:p>
            <a:pPr marL="1263650" lvl="1" indent="-349250">
              <a:spcBef>
                <a:spcPts val="1800"/>
              </a:spcBef>
              <a:buFont typeface="Courier New" panose="02070309020205020404" pitchFamily="49" charset="0"/>
              <a:buChar char="o"/>
            </a:pPr>
            <a:r>
              <a:rPr lang="en-US" altLang="en-US" dirty="0"/>
              <a:t>Parkinson’s disease (loss of DA neurons in the substantia nigra)</a:t>
            </a:r>
          </a:p>
          <a:p>
            <a:pPr marL="1263650" lvl="1" indent="-349250">
              <a:spcBef>
                <a:spcPts val="1800"/>
              </a:spcBef>
              <a:buFont typeface="Courier New" panose="02070309020205020404" pitchFamily="49" charset="0"/>
              <a:buChar char="o"/>
            </a:pPr>
            <a:r>
              <a:rPr lang="en-US" altLang="en-US" dirty="0"/>
              <a:t>Mutations in genes for TH, AADC, </a:t>
            </a:r>
            <a:r>
              <a:rPr lang="en-US" altLang="en-US" b="1" dirty="0"/>
              <a:t>tetrahydrobiopterin</a:t>
            </a:r>
            <a:r>
              <a:rPr lang="en-US" altLang="en-US" dirty="0"/>
              <a:t> (TH cofactor) (</a:t>
            </a:r>
            <a:r>
              <a:rPr lang="en-US" altLang="en-US" b="1" dirty="0"/>
              <a:t>rare inborn errors of metabolism</a:t>
            </a:r>
            <a:r>
              <a:rPr lang="en-US" altLang="en-US" dirty="0"/>
              <a:t>)</a:t>
            </a:r>
          </a:p>
          <a:p>
            <a:pPr marL="1263650" lvl="1" indent="-349250">
              <a:spcBef>
                <a:spcPts val="1800"/>
              </a:spcBef>
              <a:buFont typeface="Courier New" panose="02070309020205020404" pitchFamily="49" charset="0"/>
              <a:buChar char="o"/>
            </a:pPr>
            <a:r>
              <a:rPr lang="en-US" altLang="en-US" dirty="0"/>
              <a:t>Experimental lesions of the nigrostriatal tract by neurotoxins</a:t>
            </a:r>
          </a:p>
          <a:p>
            <a:pPr marL="1263650" lvl="1" indent="-349250">
              <a:spcBef>
                <a:spcPts val="1800"/>
              </a:spcBef>
              <a:buFont typeface="Courier New" panose="02070309020205020404" pitchFamily="49" charset="0"/>
              <a:buChar char="o"/>
            </a:pPr>
            <a:r>
              <a:rPr lang="en-US" altLang="en-US" dirty="0"/>
              <a:t>Mice genetically engineered to lack DA</a:t>
            </a:r>
          </a:p>
        </p:txBody>
      </p:sp>
    </p:spTree>
    <p:extLst>
      <p:ext uri="{BB962C8B-B14F-4D97-AF65-F5344CB8AC3E}">
        <p14:creationId xmlns:p14="http://schemas.microsoft.com/office/powerpoint/2010/main" val="3651273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9B247-E123-AA48-80A8-FEEC18D1B330}"/>
              </a:ext>
            </a:extLst>
          </p:cNvPr>
          <p:cNvSpPr>
            <a:spLocks noGrp="1"/>
          </p:cNvSpPr>
          <p:nvPr>
            <p:ph type="title"/>
          </p:nvPr>
        </p:nvSpPr>
        <p:spPr/>
        <p:txBody>
          <a:bodyPr/>
          <a:lstStyle/>
          <a:p>
            <a:r>
              <a:rPr lang="en-US" dirty="0"/>
              <a:t>FIGURE 5.10  Unilateral damage to the nigrostriatal pathway </a:t>
            </a:r>
          </a:p>
        </p:txBody>
      </p:sp>
      <p:pic>
        <p:nvPicPr>
          <p:cNvPr id="6" name="Content Placeholder 5" descr="A photomicrograph of a rat's brain tissue has a pointer showing the striatum on the left, lesioned side that has a lot of boil like eruptions. The right side depicts the intact striatum."/>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421018" y="479425"/>
            <a:ext cx="9349964" cy="6300788"/>
          </a:xfrm>
        </p:spPr>
      </p:pic>
    </p:spTree>
    <p:extLst>
      <p:ext uri="{BB962C8B-B14F-4D97-AF65-F5344CB8AC3E}">
        <p14:creationId xmlns:p14="http://schemas.microsoft.com/office/powerpoint/2010/main" val="16182461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503" y="274638"/>
            <a:ext cx="11092665" cy="1143000"/>
          </a:xfrm>
        </p:spPr>
        <p:txBody>
          <a:bodyPr>
            <a:norm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Organization and Function of the Dopaminergic System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13)</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ts val="1200"/>
              </a:spcBef>
              <a:buNone/>
            </a:pPr>
            <a:r>
              <a:rPr lang="en-US" sz="3500" dirty="0"/>
              <a:t>Ascending dopamine pathways have been implicated in several important behavioral functions</a:t>
            </a:r>
          </a:p>
          <a:p>
            <a:pPr marL="571500">
              <a:lnSpc>
                <a:spcPct val="110000"/>
              </a:lnSpc>
              <a:spcBef>
                <a:spcPts val="1200"/>
              </a:spcBef>
            </a:pPr>
            <a:r>
              <a:rPr lang="en-US" sz="3000" b="1" dirty="0"/>
              <a:t>Dopamine-deficient (DD) mouse</a:t>
            </a:r>
            <a:r>
              <a:rPr lang="en-US" sz="3000" dirty="0"/>
              <a:t>: gene for TH is knocked out but not the gene for DBH – NE can be synthesized but not DA.</a:t>
            </a:r>
          </a:p>
          <a:p>
            <a:pPr marL="571500">
              <a:lnSpc>
                <a:spcPct val="110000"/>
              </a:lnSpc>
              <a:spcBef>
                <a:spcPts val="1200"/>
              </a:spcBef>
            </a:pPr>
            <a:r>
              <a:rPr lang="en-US" sz="3000" dirty="0"/>
              <a:t>DD mice exhibit severe </a:t>
            </a:r>
            <a:r>
              <a:rPr lang="en-US" sz="3000" b="1" dirty="0"/>
              <a:t>aphagia</a:t>
            </a:r>
            <a:r>
              <a:rPr lang="en-US" sz="3000" dirty="0"/>
              <a:t> (lack of feeding behavior), </a:t>
            </a:r>
            <a:r>
              <a:rPr lang="en-US" sz="3000" b="1" dirty="0"/>
              <a:t>adipsia</a:t>
            </a:r>
            <a:r>
              <a:rPr lang="en-US" sz="3000" dirty="0"/>
              <a:t> (lack of drinking), and hypoactivity; behaviors can be restored by </a:t>
            </a:r>
            <a:r>
              <a:rPr lang="en-US" sz="3000" cap="small" dirty="0" err="1"/>
              <a:t>l</a:t>
            </a:r>
            <a:r>
              <a:rPr lang="en-US" sz="3000" dirty="0" err="1"/>
              <a:t>-DOPA</a:t>
            </a:r>
            <a:r>
              <a:rPr lang="en-US" sz="3000" dirty="0"/>
              <a:t>.</a:t>
            </a:r>
          </a:p>
          <a:p>
            <a:pPr marL="571500">
              <a:lnSpc>
                <a:spcPct val="110000"/>
              </a:lnSpc>
              <a:spcBef>
                <a:spcPts val="1200"/>
              </a:spcBef>
            </a:pPr>
            <a:r>
              <a:rPr lang="en-US" sz="3000" dirty="0"/>
              <a:t>Mouse models confirmed a critical role for the dorsal striatum in many of the </a:t>
            </a:r>
            <a:r>
              <a:rPr lang="en-US" sz="3000" dirty="0" err="1"/>
              <a:t>activational</a:t>
            </a:r>
            <a:r>
              <a:rPr lang="en-US" sz="3000" dirty="0"/>
              <a:t>, motivational, and cognitive functions of DA.</a:t>
            </a:r>
            <a:endParaRPr lang="en-US" altLang="en-US" sz="3000" dirty="0"/>
          </a:p>
        </p:txBody>
      </p:sp>
    </p:spTree>
    <p:extLst>
      <p:ext uri="{BB962C8B-B14F-4D97-AF65-F5344CB8AC3E}">
        <p14:creationId xmlns:p14="http://schemas.microsoft.com/office/powerpoint/2010/main" val="3098901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503" y="274638"/>
            <a:ext cx="11092665" cy="1143000"/>
          </a:xfrm>
        </p:spPr>
        <p:txBody>
          <a:bodyPr>
            <a:norm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Organization and Function of the Dopaminergic System </a:t>
            </a:r>
            <a:r>
              <a:rPr kumimoji="0" lang="en-US" sz="1200" b="0" i="0" u="none" strike="noStrike" kern="1200" cap="none" spc="0" normalizeH="0" baseline="0" noProof="0" dirty="0">
                <a:ln>
                  <a:noFill/>
                </a:ln>
                <a:solidFill>
                  <a:srgbClr val="1F497D"/>
                </a:solidFill>
                <a:effectLst/>
                <a:uLnTx/>
                <a:uFillTx/>
                <a:latin typeface="Calibri"/>
                <a:ea typeface="+mj-ea"/>
                <a:cs typeface="+mj-cs"/>
              </a:rPr>
              <a:t>(4 of 13)</a:t>
            </a:r>
            <a:endParaRPr lang="en-US" dirty="0"/>
          </a:p>
        </p:txBody>
      </p:sp>
      <p:sp>
        <p:nvSpPr>
          <p:cNvPr id="3" name="Text Placeholder 2"/>
          <p:cNvSpPr>
            <a:spLocks noGrp="1"/>
          </p:cNvSpPr>
          <p:nvPr>
            <p:ph idx="1"/>
          </p:nvPr>
        </p:nvSpPr>
        <p:spPr/>
        <p:txBody>
          <a:bodyPr>
            <a:normAutofit fontScale="92500" lnSpcReduction="10000"/>
          </a:bodyPr>
          <a:lstStyle/>
          <a:p>
            <a:pPr marL="457200" indent="-457200">
              <a:lnSpc>
                <a:spcPct val="90000"/>
              </a:lnSpc>
              <a:spcBef>
                <a:spcPts val="1200"/>
              </a:spcBef>
              <a:buNone/>
            </a:pPr>
            <a:r>
              <a:rPr lang="en-US" sz="3500" dirty="0"/>
              <a:t>Ascending dopamine pathways have been implicated in several important behavioral functions</a:t>
            </a:r>
          </a:p>
          <a:p>
            <a:pPr marL="571500">
              <a:spcBef>
                <a:spcPts val="1200"/>
              </a:spcBef>
            </a:pPr>
            <a:r>
              <a:rPr lang="en-US" sz="3000" dirty="0"/>
              <a:t>Mesolimbic dopamine pathway activates arousal and locomotor behavior; different neurons mediate the effects of rewarding and aversive stimuli.</a:t>
            </a:r>
          </a:p>
          <a:p>
            <a:pPr marL="571500">
              <a:spcBef>
                <a:spcPts val="1200"/>
              </a:spcBef>
            </a:pPr>
            <a:r>
              <a:rPr lang="en-US" sz="3000" dirty="0" err="1"/>
              <a:t>Mesocortical</a:t>
            </a:r>
            <a:r>
              <a:rPr lang="en-US" sz="3000" dirty="0"/>
              <a:t> pathway: input to the PFC helps regulate cognitive functions such as attention and working memory.</a:t>
            </a:r>
          </a:p>
          <a:p>
            <a:pPr marL="1263650" lvl="1" indent="-349250">
              <a:spcBef>
                <a:spcPts val="1800"/>
              </a:spcBef>
              <a:buFont typeface="Courier New" panose="02070309020205020404" pitchFamily="49" charset="0"/>
              <a:buChar char="o"/>
            </a:pPr>
            <a:r>
              <a:rPr lang="en-US" sz="3000" dirty="0"/>
              <a:t>COMT metabolizes DA in the PFC; a point mutation in the COMT gene makes the enzyme less active which may influence working memory in adults.</a:t>
            </a:r>
          </a:p>
        </p:txBody>
      </p:sp>
    </p:spTree>
    <p:extLst>
      <p:ext uri="{BB962C8B-B14F-4D97-AF65-F5344CB8AC3E}">
        <p14:creationId xmlns:p14="http://schemas.microsoft.com/office/powerpoint/2010/main" val="1951900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FF342-BA76-3140-A852-4C10690D9BF2}"/>
              </a:ext>
            </a:extLst>
          </p:cNvPr>
          <p:cNvSpPr>
            <a:spLocks noGrp="1"/>
          </p:cNvSpPr>
          <p:nvPr>
            <p:ph type="title"/>
          </p:nvPr>
        </p:nvSpPr>
        <p:spPr/>
        <p:txBody>
          <a:bodyPr/>
          <a:lstStyle/>
          <a:p>
            <a:r>
              <a:rPr lang="en-US" dirty="0"/>
              <a:t>FIGURE 5.11  Different subsets of VTA dopaminergic neurons mediate the effects of rewarding versus aversive stimuli </a:t>
            </a:r>
          </a:p>
        </p:txBody>
      </p:sp>
      <p:pic>
        <p:nvPicPr>
          <p:cNvPr id="6" name="Content Placeholder 5" descr="An illustration of the sagittal section through a rodent brain depicts the various areas. In the middle is he L D T leading via the V T A to the D A below, which leads further left to N A c, marked as reward. The L H b to the left of L D T leads to D A below, which leads to far left via m P F C to aversion at top left.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860655"/>
            <a:ext cx="11376025" cy="5538327"/>
          </a:xfrm>
        </p:spPr>
      </p:pic>
    </p:spTree>
    <p:extLst>
      <p:ext uri="{BB962C8B-B14F-4D97-AF65-F5344CB8AC3E}">
        <p14:creationId xmlns:p14="http://schemas.microsoft.com/office/powerpoint/2010/main" val="3099269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503" y="274638"/>
            <a:ext cx="11092665" cy="1143000"/>
          </a:xfrm>
        </p:spPr>
        <p:txBody>
          <a:bodyPr>
            <a:norm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Organization and Function of the Dopaminergic System </a:t>
            </a:r>
            <a:r>
              <a:rPr kumimoji="0" lang="en-US" sz="1200" b="0" i="0" u="none" strike="noStrike" kern="1200" cap="none" spc="0" normalizeH="0" baseline="0" noProof="0" dirty="0">
                <a:ln>
                  <a:noFill/>
                </a:ln>
                <a:solidFill>
                  <a:srgbClr val="1F497D"/>
                </a:solidFill>
                <a:effectLst/>
                <a:uLnTx/>
                <a:uFillTx/>
                <a:latin typeface="Calibri"/>
                <a:ea typeface="+mj-ea"/>
                <a:cs typeface="+mj-cs"/>
              </a:rPr>
              <a:t>(5 of 13)</a:t>
            </a:r>
            <a:endParaRPr lang="en-US" dirty="0"/>
          </a:p>
        </p:txBody>
      </p:sp>
      <p:sp>
        <p:nvSpPr>
          <p:cNvPr id="3" name="Text Placeholder 2"/>
          <p:cNvSpPr>
            <a:spLocks noGrp="1"/>
          </p:cNvSpPr>
          <p:nvPr>
            <p:ph idx="1"/>
          </p:nvPr>
        </p:nvSpPr>
        <p:spPr/>
        <p:txBody>
          <a:bodyPr>
            <a:normAutofit/>
          </a:bodyPr>
          <a:lstStyle/>
          <a:p>
            <a:pPr marL="457200" indent="-457200">
              <a:lnSpc>
                <a:spcPct val="80000"/>
              </a:lnSpc>
              <a:spcBef>
                <a:spcPts val="1200"/>
              </a:spcBef>
              <a:buNone/>
            </a:pPr>
            <a:r>
              <a:rPr lang="en-US" dirty="0"/>
              <a:t>There are five main subtypes of dopamine receptors organized into D</a:t>
            </a:r>
            <a:r>
              <a:rPr lang="en-US" baseline="-25000" dirty="0"/>
              <a:t>1</a:t>
            </a:r>
            <a:r>
              <a:rPr lang="en-US" dirty="0"/>
              <a:t>- and D</a:t>
            </a:r>
            <a:r>
              <a:rPr lang="en-US" baseline="-25000" dirty="0"/>
              <a:t>2</a:t>
            </a:r>
            <a:r>
              <a:rPr lang="en-US" dirty="0"/>
              <a:t>-like families</a:t>
            </a:r>
          </a:p>
          <a:p>
            <a:pPr marL="571500">
              <a:spcBef>
                <a:spcPts val="1200"/>
              </a:spcBef>
            </a:pPr>
            <a:r>
              <a:rPr lang="en-US" sz="2800" dirty="0"/>
              <a:t>All are metabotropic receptors; D</a:t>
            </a:r>
            <a:r>
              <a:rPr lang="en-US" sz="2800" baseline="-25000" dirty="0"/>
              <a:t>1</a:t>
            </a:r>
            <a:r>
              <a:rPr lang="en-US" sz="2800" dirty="0"/>
              <a:t> and D</a:t>
            </a:r>
            <a:r>
              <a:rPr lang="en-US" sz="2800" baseline="-25000" dirty="0"/>
              <a:t>2</a:t>
            </a:r>
            <a:r>
              <a:rPr lang="en-US" sz="2800" dirty="0"/>
              <a:t> are most common</a:t>
            </a:r>
          </a:p>
          <a:p>
            <a:pPr marL="571500">
              <a:spcBef>
                <a:spcPts val="1200"/>
              </a:spcBef>
            </a:pPr>
            <a:r>
              <a:rPr lang="en-US" sz="2800" dirty="0"/>
              <a:t>D</a:t>
            </a:r>
            <a:r>
              <a:rPr lang="en-US" sz="2800" baseline="-25000" dirty="0"/>
              <a:t>1</a:t>
            </a:r>
            <a:r>
              <a:rPr lang="en-US" sz="2800" dirty="0"/>
              <a:t> receptors stimulate adenylyl cyclase – increasing the rate of cAMP synthesis</a:t>
            </a:r>
          </a:p>
          <a:p>
            <a:pPr marL="571500">
              <a:spcBef>
                <a:spcPts val="1200"/>
              </a:spcBef>
            </a:pPr>
            <a:r>
              <a:rPr lang="en-US" sz="2800" dirty="0"/>
              <a:t>D</a:t>
            </a:r>
            <a:r>
              <a:rPr lang="en-US" sz="2800" baseline="-25000" dirty="0"/>
              <a:t>2</a:t>
            </a:r>
            <a:r>
              <a:rPr lang="en-US" sz="2800" dirty="0"/>
              <a:t> receptors inhibit adenylyl cyclase – decreasing the rate of cAMP synthesis</a:t>
            </a:r>
          </a:p>
          <a:p>
            <a:pPr marL="571500">
              <a:spcBef>
                <a:spcPts val="1200"/>
              </a:spcBef>
            </a:pPr>
            <a:r>
              <a:rPr lang="en-US" sz="2800" dirty="0"/>
              <a:t>D</a:t>
            </a:r>
            <a:r>
              <a:rPr lang="en-US" sz="2800" baseline="-25000" dirty="0"/>
              <a:t>2</a:t>
            </a:r>
            <a:r>
              <a:rPr lang="en-US" sz="2800" dirty="0"/>
              <a:t> receptors also regulate membrane ion channels for K+</a:t>
            </a:r>
          </a:p>
        </p:txBody>
      </p:sp>
    </p:spTree>
    <p:extLst>
      <p:ext uri="{BB962C8B-B14F-4D97-AF65-F5344CB8AC3E}">
        <p14:creationId xmlns:p14="http://schemas.microsoft.com/office/powerpoint/2010/main" val="3636663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44B03-B221-2B47-A885-9635E547177B}"/>
              </a:ext>
            </a:extLst>
          </p:cNvPr>
          <p:cNvSpPr>
            <a:spLocks noGrp="1"/>
          </p:cNvSpPr>
          <p:nvPr>
            <p:ph type="title"/>
          </p:nvPr>
        </p:nvSpPr>
        <p:spPr/>
        <p:txBody>
          <a:bodyPr/>
          <a:lstStyle/>
          <a:p>
            <a:r>
              <a:rPr lang="en-US" dirty="0"/>
              <a:t>FIGURE 5.12  Signaling mechanisms of D</a:t>
            </a:r>
            <a:r>
              <a:rPr lang="en-US" baseline="-25000" dirty="0"/>
              <a:t>1</a:t>
            </a:r>
            <a:r>
              <a:rPr lang="en-US" dirty="0"/>
              <a:t> and D</a:t>
            </a:r>
            <a:r>
              <a:rPr lang="en-US" baseline="-25000" dirty="0"/>
              <a:t>2</a:t>
            </a:r>
            <a:r>
              <a:rPr lang="en-US" dirty="0"/>
              <a:t> receptors </a:t>
            </a:r>
          </a:p>
        </p:txBody>
      </p:sp>
      <p:pic>
        <p:nvPicPr>
          <p:cNvPr id="6" name="Content Placeholder 5" descr="An illustration signaling mechanisms of D subscript 1 and D subscript 2 receptors have D subscript 1 and 2 receptors at left and right side, respectively. The D A or D subscript 1 and subscript 2 agonists are present at left and right respectively against their receptors. The adenylyl cyclase is seen in the middle. G subscript s flows a positive charge from D subscript 1 agonist and G subscript i flows a negative charge from D subscript 2 respectively into the adenylyl cyclase present in the middle. A T P from bottom left touches the cyclase and leads into c A M P at right."/>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889626" y="479425"/>
            <a:ext cx="10412748" cy="6300788"/>
          </a:xfrm>
        </p:spPr>
      </p:pic>
    </p:spTree>
    <p:extLst>
      <p:ext uri="{BB962C8B-B14F-4D97-AF65-F5344CB8AC3E}">
        <p14:creationId xmlns:p14="http://schemas.microsoft.com/office/powerpoint/2010/main" val="1691899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503" y="274638"/>
            <a:ext cx="11092665" cy="1143000"/>
          </a:xfrm>
        </p:spPr>
        <p:txBody>
          <a:bodyPr>
            <a:norm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Organization and Function of the Dopaminergic System </a:t>
            </a:r>
            <a:r>
              <a:rPr kumimoji="0" lang="en-US" sz="1200" b="0" i="0" u="none" strike="noStrike" kern="1200" cap="none" spc="0" normalizeH="0" baseline="0" noProof="0" dirty="0">
                <a:ln>
                  <a:noFill/>
                </a:ln>
                <a:solidFill>
                  <a:srgbClr val="1F497D"/>
                </a:solidFill>
                <a:effectLst/>
                <a:uLnTx/>
                <a:uFillTx/>
                <a:latin typeface="Calibri"/>
                <a:ea typeface="+mj-ea"/>
                <a:cs typeface="+mj-cs"/>
              </a:rPr>
              <a:t>(6 of 13)</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There are five main subtypes of dopamine receptors organized into D</a:t>
            </a:r>
            <a:r>
              <a:rPr lang="en-US" baseline="-25000" dirty="0"/>
              <a:t>1</a:t>
            </a:r>
            <a:r>
              <a:rPr lang="en-US" dirty="0"/>
              <a:t>- and D</a:t>
            </a:r>
            <a:r>
              <a:rPr lang="en-US" baseline="-25000" dirty="0"/>
              <a:t>2</a:t>
            </a:r>
            <a:r>
              <a:rPr lang="en-US" dirty="0"/>
              <a:t>-like families</a:t>
            </a:r>
          </a:p>
          <a:p>
            <a:pPr marL="571500">
              <a:spcBef>
                <a:spcPts val="1200"/>
              </a:spcBef>
            </a:pPr>
            <a:r>
              <a:rPr lang="en-US" sz="2800" dirty="0"/>
              <a:t>D</a:t>
            </a:r>
            <a:r>
              <a:rPr lang="en-US" sz="2800" baseline="-25000" dirty="0"/>
              <a:t>2</a:t>
            </a:r>
            <a:r>
              <a:rPr lang="en-US" sz="2800" dirty="0"/>
              <a:t> receptors have a higher affinity for DA than D</a:t>
            </a:r>
            <a:r>
              <a:rPr lang="en-US" sz="2800" baseline="-25000" dirty="0"/>
              <a:t>1</a:t>
            </a:r>
            <a:r>
              <a:rPr lang="en-US" sz="2800" dirty="0"/>
              <a:t> receptors</a:t>
            </a:r>
          </a:p>
          <a:p>
            <a:pPr marL="571500">
              <a:spcBef>
                <a:spcPts val="1200"/>
              </a:spcBef>
            </a:pPr>
            <a:r>
              <a:rPr lang="en-US" sz="2800" dirty="0"/>
              <a:t>Hypothesis: tonic DA release activates higher-affinity D</a:t>
            </a:r>
            <a:r>
              <a:rPr lang="en-US" sz="2800" baseline="-25000" dirty="0"/>
              <a:t>2</a:t>
            </a:r>
            <a:r>
              <a:rPr lang="en-US" sz="2800" dirty="0"/>
              <a:t> receptors; increase in DA levels produced by phasic release additionally activates the lower-affinity D</a:t>
            </a:r>
            <a:r>
              <a:rPr lang="en-US" sz="2800" baseline="-25000" dirty="0"/>
              <a:t>1</a:t>
            </a:r>
            <a:r>
              <a:rPr lang="en-US" sz="2800" dirty="0"/>
              <a:t> receptors.</a:t>
            </a:r>
          </a:p>
          <a:p>
            <a:pPr marL="571500">
              <a:spcBef>
                <a:spcPts val="1200"/>
              </a:spcBef>
            </a:pPr>
            <a:r>
              <a:rPr lang="en-US" sz="2800" dirty="0"/>
              <a:t>D</a:t>
            </a:r>
            <a:r>
              <a:rPr lang="en-US" sz="2800" baseline="-25000" dirty="0"/>
              <a:t>2</a:t>
            </a:r>
            <a:r>
              <a:rPr lang="en-US" sz="2800" dirty="0"/>
              <a:t> receptors also function as </a:t>
            </a:r>
            <a:r>
              <a:rPr lang="en-US" sz="2800" dirty="0" err="1"/>
              <a:t>autoreceptors</a:t>
            </a:r>
            <a:r>
              <a:rPr lang="en-US" sz="2800" dirty="0"/>
              <a:t>: terminal D</a:t>
            </a:r>
            <a:r>
              <a:rPr lang="en-US" sz="2800" baseline="-25000" dirty="0"/>
              <a:t>2</a:t>
            </a:r>
            <a:r>
              <a:rPr lang="en-US" sz="2800" dirty="0"/>
              <a:t> auto-receptors reduce DA release; </a:t>
            </a:r>
            <a:r>
              <a:rPr lang="en-US" sz="2800" dirty="0" err="1"/>
              <a:t>somatodendritic</a:t>
            </a:r>
            <a:r>
              <a:rPr lang="en-US" sz="2800" dirty="0"/>
              <a:t> D</a:t>
            </a:r>
            <a:r>
              <a:rPr lang="en-US" sz="2800" baseline="-25000" dirty="0"/>
              <a:t>2</a:t>
            </a:r>
            <a:r>
              <a:rPr lang="en-US" sz="2800" dirty="0"/>
              <a:t> </a:t>
            </a:r>
            <a:r>
              <a:rPr lang="en-US" sz="2800" dirty="0" err="1"/>
              <a:t>autoreceptors</a:t>
            </a:r>
            <a:r>
              <a:rPr lang="en-US" sz="2800" dirty="0"/>
              <a:t> inhibit dopaminergic cell firing.</a:t>
            </a:r>
          </a:p>
        </p:txBody>
      </p:sp>
    </p:spTree>
    <p:extLst>
      <p:ext uri="{BB962C8B-B14F-4D97-AF65-F5344CB8AC3E}">
        <p14:creationId xmlns:p14="http://schemas.microsoft.com/office/powerpoint/2010/main" val="195567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503" y="274638"/>
            <a:ext cx="11092665" cy="1143000"/>
          </a:xfrm>
        </p:spPr>
        <p:txBody>
          <a:bodyPr>
            <a:norm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Organization and Function of the Dopaminergic System </a:t>
            </a:r>
            <a:r>
              <a:rPr kumimoji="0" lang="en-US" sz="1200" b="0" i="0" u="none" strike="noStrike" kern="1200" cap="none" spc="0" normalizeH="0" baseline="0" noProof="0" dirty="0">
                <a:ln>
                  <a:noFill/>
                </a:ln>
                <a:solidFill>
                  <a:srgbClr val="1F497D"/>
                </a:solidFill>
                <a:effectLst/>
                <a:uLnTx/>
                <a:uFillTx/>
                <a:latin typeface="Calibri"/>
                <a:ea typeface="+mj-ea"/>
                <a:cs typeface="+mj-cs"/>
              </a:rPr>
              <a:t>(7 of 13)</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Dopamine receptor agonists and antagonists affect locomotor activity, motor control, and other behavioral functions</a:t>
            </a:r>
          </a:p>
          <a:p>
            <a:pPr marL="571500">
              <a:spcBef>
                <a:spcPts val="1200"/>
              </a:spcBef>
            </a:pPr>
            <a:r>
              <a:rPr lang="en-US" sz="2800" b="1" dirty="0"/>
              <a:t>Apomorphine</a:t>
            </a:r>
            <a:r>
              <a:rPr lang="en-US" sz="2800" dirty="0"/>
              <a:t>: agonist that stimulates D</a:t>
            </a:r>
            <a:r>
              <a:rPr lang="en-US" sz="2800" baseline="-25000" dirty="0"/>
              <a:t>1</a:t>
            </a:r>
            <a:r>
              <a:rPr lang="en-US" sz="2800" dirty="0"/>
              <a:t> and D</a:t>
            </a:r>
            <a:r>
              <a:rPr lang="en-US" sz="2800" baseline="-25000" dirty="0"/>
              <a:t>2</a:t>
            </a:r>
            <a:r>
              <a:rPr lang="en-US" sz="2800" dirty="0"/>
              <a:t> receptors; causes behavioral activation</a:t>
            </a:r>
          </a:p>
          <a:p>
            <a:pPr marL="571500">
              <a:spcBef>
                <a:spcPts val="1200"/>
              </a:spcBef>
            </a:pPr>
            <a:r>
              <a:rPr lang="en-US" sz="2800" dirty="0"/>
              <a:t>Receptor-selective agonists and antagonists are used to determine which behaviors are under the control of particular receptor subtypes.</a:t>
            </a:r>
          </a:p>
          <a:p>
            <a:pPr marL="571500">
              <a:spcBef>
                <a:spcPts val="1200"/>
              </a:spcBef>
            </a:pPr>
            <a:r>
              <a:rPr lang="en-US" sz="2800" b="1" dirty="0"/>
              <a:t>SKF 38393</a:t>
            </a:r>
            <a:r>
              <a:rPr lang="en-US" sz="2800" dirty="0"/>
              <a:t>: D</a:t>
            </a:r>
            <a:r>
              <a:rPr lang="en-US" sz="2800" baseline="-25000" dirty="0"/>
              <a:t>1</a:t>
            </a:r>
            <a:r>
              <a:rPr lang="en-US" sz="2800" dirty="0"/>
              <a:t> agonist used in animal research but has adverse clinical side effects and development of </a:t>
            </a:r>
            <a:r>
              <a:rPr lang="en-US" sz="2800" b="1" dirty="0"/>
              <a:t>tachyphylaxis</a:t>
            </a:r>
          </a:p>
        </p:txBody>
      </p:sp>
    </p:spTree>
    <p:extLst>
      <p:ext uri="{BB962C8B-B14F-4D97-AF65-F5344CB8AC3E}">
        <p14:creationId xmlns:p14="http://schemas.microsoft.com/office/powerpoint/2010/main" val="4055228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503" y="274638"/>
            <a:ext cx="11092665" cy="1143000"/>
          </a:xfrm>
        </p:spPr>
        <p:txBody>
          <a:bodyPr>
            <a:norm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Organization and Function of the Dopaminergic System </a:t>
            </a:r>
            <a:r>
              <a:rPr kumimoji="0" lang="en-US" sz="1200" b="0" i="0" u="none" strike="noStrike" kern="1200" cap="none" spc="0" normalizeH="0" baseline="0" noProof="0" dirty="0">
                <a:ln>
                  <a:noFill/>
                </a:ln>
                <a:solidFill>
                  <a:srgbClr val="1F497D"/>
                </a:solidFill>
                <a:effectLst/>
                <a:uLnTx/>
                <a:uFillTx/>
                <a:latin typeface="Calibri"/>
                <a:ea typeface="+mj-ea"/>
                <a:cs typeface="+mj-cs"/>
              </a:rPr>
              <a:t>(8 of 13)</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Dopamine receptor agonists and antagonists affect locomotor activity, motor control, and other behavioral functions</a:t>
            </a:r>
          </a:p>
          <a:p>
            <a:pPr marL="571500">
              <a:spcBef>
                <a:spcPts val="1200"/>
              </a:spcBef>
            </a:pPr>
            <a:r>
              <a:rPr lang="en-US" sz="2800" b="1" dirty="0"/>
              <a:t>DETQ</a:t>
            </a:r>
            <a:r>
              <a:rPr lang="en-US" sz="2800" dirty="0"/>
              <a:t>: allosteric modulator of D</a:t>
            </a:r>
            <a:r>
              <a:rPr lang="en-US" sz="2800" baseline="-25000" dirty="0"/>
              <a:t>1</a:t>
            </a:r>
            <a:r>
              <a:rPr lang="en-US" sz="2800" dirty="0"/>
              <a:t> receptors; no tolerance development</a:t>
            </a:r>
          </a:p>
          <a:p>
            <a:pPr marL="571500">
              <a:spcBef>
                <a:spcPts val="1200"/>
              </a:spcBef>
            </a:pPr>
            <a:r>
              <a:rPr lang="en-US" sz="2800" b="1" dirty="0"/>
              <a:t>Quinpirole</a:t>
            </a:r>
            <a:r>
              <a:rPr lang="en-US" sz="2800" dirty="0"/>
              <a:t>: D</a:t>
            </a:r>
            <a:r>
              <a:rPr lang="en-US" sz="2800" baseline="-25000" dirty="0"/>
              <a:t>2</a:t>
            </a:r>
            <a:r>
              <a:rPr lang="en-US" sz="2800" dirty="0"/>
              <a:t>/D</a:t>
            </a:r>
            <a:r>
              <a:rPr lang="en-US" sz="2800" baseline="-25000" dirty="0"/>
              <a:t>3</a:t>
            </a:r>
            <a:r>
              <a:rPr lang="en-US" sz="2800" dirty="0"/>
              <a:t> receptor agonist</a:t>
            </a:r>
          </a:p>
          <a:p>
            <a:pPr marL="571500">
              <a:spcBef>
                <a:spcPts val="1200"/>
              </a:spcBef>
            </a:pPr>
            <a:r>
              <a:rPr lang="en-US" sz="2800" dirty="0"/>
              <a:t>Other D</a:t>
            </a:r>
            <a:r>
              <a:rPr lang="en-US" sz="2800" baseline="-25000" dirty="0"/>
              <a:t>2</a:t>
            </a:r>
            <a:r>
              <a:rPr lang="en-US" sz="2800" dirty="0"/>
              <a:t>/D</a:t>
            </a:r>
            <a:r>
              <a:rPr lang="en-US" sz="2800" baseline="-25000" dirty="0"/>
              <a:t>3</a:t>
            </a:r>
            <a:r>
              <a:rPr lang="en-US" sz="2800" dirty="0"/>
              <a:t> agonists have clinical applications: </a:t>
            </a:r>
            <a:r>
              <a:rPr lang="en-US" sz="2800" b="1" dirty="0"/>
              <a:t>bromocriptine</a:t>
            </a:r>
            <a:r>
              <a:rPr lang="en-US" sz="2800" dirty="0"/>
              <a:t> (</a:t>
            </a:r>
            <a:r>
              <a:rPr lang="en-US" sz="2800" b="1" dirty="0" err="1"/>
              <a:t>Parlodel</a:t>
            </a:r>
            <a:r>
              <a:rPr lang="en-US" sz="2800" dirty="0"/>
              <a:t> and </a:t>
            </a:r>
            <a:r>
              <a:rPr lang="en-US" sz="2800" b="1" dirty="0" err="1"/>
              <a:t>Cycloset</a:t>
            </a:r>
            <a:r>
              <a:rPr lang="en-US" sz="2800" dirty="0"/>
              <a:t>) reduces symptoms of Parkinson’s disease and hyperprolactinemia</a:t>
            </a:r>
          </a:p>
        </p:txBody>
      </p:sp>
    </p:spTree>
    <p:extLst>
      <p:ext uri="{BB962C8B-B14F-4D97-AF65-F5344CB8AC3E}">
        <p14:creationId xmlns:p14="http://schemas.microsoft.com/office/powerpoint/2010/main" val="24450710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503" y="274638"/>
            <a:ext cx="11092665" cy="1143000"/>
          </a:xfrm>
        </p:spPr>
        <p:txBody>
          <a:bodyPr>
            <a:norm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Organization and Function of the Dopaminergic System </a:t>
            </a:r>
            <a:r>
              <a:rPr kumimoji="0" lang="en-US" sz="1200" b="0" i="0" u="none" strike="noStrike" kern="1200" cap="none" spc="0" normalizeH="0" baseline="0" noProof="0" dirty="0">
                <a:ln>
                  <a:noFill/>
                </a:ln>
                <a:solidFill>
                  <a:srgbClr val="1F497D"/>
                </a:solidFill>
                <a:effectLst/>
                <a:uLnTx/>
                <a:uFillTx/>
                <a:latin typeface="Calibri"/>
                <a:ea typeface="+mj-ea"/>
                <a:cs typeface="+mj-cs"/>
              </a:rPr>
              <a:t>(9 of 13)</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Dopamine receptor agonists and antagonists affect locomotor activity, motor control, and other behavioral functions</a:t>
            </a:r>
          </a:p>
          <a:p>
            <a:pPr marL="571500">
              <a:spcBef>
                <a:spcPts val="1200"/>
              </a:spcBef>
            </a:pPr>
            <a:r>
              <a:rPr lang="en-US" sz="2800" dirty="0"/>
              <a:t>DA receptor antagonists suppress locomotor behavior; at high doses </a:t>
            </a:r>
            <a:r>
              <a:rPr lang="en-US" sz="2800" b="1" dirty="0"/>
              <a:t>catalepsy</a:t>
            </a:r>
            <a:r>
              <a:rPr lang="en-US" sz="2800" dirty="0"/>
              <a:t> can result.</a:t>
            </a:r>
          </a:p>
          <a:p>
            <a:pPr marL="571500">
              <a:spcBef>
                <a:spcPts val="1200"/>
              </a:spcBef>
            </a:pPr>
            <a:r>
              <a:rPr lang="en-US" sz="2800" dirty="0"/>
              <a:t>Catalepsy can be induced by </a:t>
            </a:r>
            <a:r>
              <a:rPr lang="en-US" sz="2800" b="1" dirty="0"/>
              <a:t>haloperidol</a:t>
            </a:r>
            <a:r>
              <a:rPr lang="en-US" sz="2800" dirty="0"/>
              <a:t>, or D</a:t>
            </a:r>
            <a:r>
              <a:rPr lang="en-US" sz="2800" baseline="-25000" dirty="0"/>
              <a:t>1</a:t>
            </a:r>
            <a:r>
              <a:rPr lang="en-US" sz="2800" dirty="0"/>
              <a:t> blockers such as </a:t>
            </a:r>
            <a:r>
              <a:rPr lang="en-US" sz="2800" b="1" dirty="0"/>
              <a:t>SCH23390</a:t>
            </a:r>
          </a:p>
          <a:p>
            <a:pPr marL="571500">
              <a:spcBef>
                <a:spcPts val="1200"/>
              </a:spcBef>
            </a:pPr>
            <a:r>
              <a:rPr lang="en-US" sz="2800" dirty="0"/>
              <a:t>D</a:t>
            </a:r>
            <a:r>
              <a:rPr lang="en-US" sz="2800" baseline="-25000" dirty="0"/>
              <a:t>2</a:t>
            </a:r>
            <a:r>
              <a:rPr lang="en-US" sz="2800" dirty="0"/>
              <a:t> antagonists are used to treat schizophrenia but have motor side effects.</a:t>
            </a:r>
          </a:p>
        </p:txBody>
      </p:sp>
    </p:spTree>
    <p:extLst>
      <p:ext uri="{BB962C8B-B14F-4D97-AF65-F5344CB8AC3E}">
        <p14:creationId xmlns:p14="http://schemas.microsoft.com/office/powerpoint/2010/main" val="3042459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503" y="274638"/>
            <a:ext cx="11092665" cy="1143000"/>
          </a:xfrm>
        </p:spPr>
        <p:txBody>
          <a:bodyPr>
            <a:norm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Organization and Function of the Dopaminergic System </a:t>
            </a:r>
            <a:r>
              <a:rPr kumimoji="0" lang="en-US" sz="1200" b="0" i="0" u="none" strike="noStrike" kern="1200" cap="none" spc="0" normalizeH="0" baseline="0" noProof="0" dirty="0">
                <a:ln>
                  <a:noFill/>
                </a:ln>
                <a:solidFill>
                  <a:srgbClr val="1F497D"/>
                </a:solidFill>
                <a:effectLst/>
                <a:uLnTx/>
                <a:uFillTx/>
                <a:latin typeface="Calibri"/>
                <a:ea typeface="+mj-ea"/>
                <a:cs typeface="+mj-cs"/>
              </a:rPr>
              <a:t>(10 of 13)</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Dopamine receptor agonists and antagonists affect locomotor activity, motor control, and other behavioral functions</a:t>
            </a:r>
          </a:p>
          <a:p>
            <a:pPr marL="571500">
              <a:spcBef>
                <a:spcPts val="1200"/>
              </a:spcBef>
            </a:pPr>
            <a:r>
              <a:rPr lang="en-US" sz="2800" dirty="0"/>
              <a:t>Long term use of D</a:t>
            </a:r>
            <a:r>
              <a:rPr lang="en-US" sz="2800" baseline="-25000" dirty="0"/>
              <a:t>2</a:t>
            </a:r>
            <a:r>
              <a:rPr lang="en-US" sz="2800" dirty="0"/>
              <a:t> antagonist such as haloperidol can cause </a:t>
            </a:r>
            <a:r>
              <a:rPr lang="en-US" sz="2800" b="1" dirty="0"/>
              <a:t>behavioral </a:t>
            </a:r>
            <a:r>
              <a:rPr lang="en-US" sz="2800" b="1" dirty="0" err="1"/>
              <a:t>supersensitivity</a:t>
            </a:r>
            <a:r>
              <a:rPr lang="en-US" sz="2800" b="1" dirty="0"/>
              <a:t> </a:t>
            </a:r>
            <a:r>
              <a:rPr lang="en-US" sz="2800" dirty="0"/>
              <a:t>(animal is super sensitive to a D</a:t>
            </a:r>
            <a:r>
              <a:rPr lang="en-US" sz="2800" baseline="-25000" dirty="0"/>
              <a:t>2</a:t>
            </a:r>
            <a:r>
              <a:rPr lang="en-US" sz="2800" dirty="0"/>
              <a:t> agonist).</a:t>
            </a:r>
          </a:p>
          <a:p>
            <a:pPr marL="571500">
              <a:spcBef>
                <a:spcPts val="1200"/>
              </a:spcBef>
            </a:pPr>
            <a:r>
              <a:rPr lang="en-US" sz="2800" dirty="0"/>
              <a:t>Due in part to up-regulation of D</a:t>
            </a:r>
            <a:r>
              <a:rPr lang="en-US" sz="2800" baseline="-25000" dirty="0"/>
              <a:t>2</a:t>
            </a:r>
            <a:r>
              <a:rPr lang="en-US" sz="2800" dirty="0"/>
              <a:t> receptors by postsynaptic neurons in areas such as the striatum </a:t>
            </a:r>
          </a:p>
          <a:p>
            <a:pPr marL="571500">
              <a:spcBef>
                <a:spcPts val="1200"/>
              </a:spcBef>
            </a:pPr>
            <a:r>
              <a:rPr lang="en-US" sz="2800" dirty="0"/>
              <a:t>May occur in patients following continuous administration of a D</a:t>
            </a:r>
            <a:r>
              <a:rPr lang="en-US" sz="2800" baseline="-25000" dirty="0"/>
              <a:t>2</a:t>
            </a:r>
            <a:r>
              <a:rPr lang="en-US" sz="2800" dirty="0"/>
              <a:t> antagonist.</a:t>
            </a:r>
          </a:p>
        </p:txBody>
      </p:sp>
    </p:spTree>
    <p:extLst>
      <p:ext uri="{BB962C8B-B14F-4D97-AF65-F5344CB8AC3E}">
        <p14:creationId xmlns:p14="http://schemas.microsoft.com/office/powerpoint/2010/main" val="37468918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74638"/>
            <a:ext cx="11064949" cy="1143000"/>
          </a:xfrm>
        </p:spPr>
        <p:txBody>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Organization and Function of the Dopaminergic System</a:t>
            </a:r>
            <a:r>
              <a:rPr kumimoji="0" lang="en-US" sz="1200" b="0" i="0" u="none" strike="noStrike" kern="1200" cap="none" spc="0" normalizeH="0" baseline="0" noProof="0" dirty="0">
                <a:ln>
                  <a:noFill/>
                </a:ln>
                <a:solidFill>
                  <a:srgbClr val="1F497D"/>
                </a:solidFill>
                <a:effectLst/>
                <a:uLnTx/>
                <a:uFillTx/>
                <a:latin typeface="Calibri"/>
                <a:ea typeface="+mj-ea"/>
                <a:cs typeface="+mj-cs"/>
              </a:rPr>
              <a:t> (11 of 13)</a:t>
            </a:r>
            <a:endParaRPr lang="en-US" dirty="0"/>
          </a:p>
        </p:txBody>
      </p:sp>
      <p:sp>
        <p:nvSpPr>
          <p:cNvPr id="3" name="Text Placeholder 2"/>
          <p:cNvSpPr>
            <a:spLocks noGrp="1"/>
          </p:cNvSpPr>
          <p:nvPr>
            <p:ph idx="1"/>
          </p:nvPr>
        </p:nvSpPr>
        <p:spPr/>
        <p:txBody>
          <a:bodyPr>
            <a:normAutofit/>
          </a:bodyPr>
          <a:lstStyle/>
          <a:p>
            <a:pPr marL="0" indent="0">
              <a:spcBef>
                <a:spcPts val="1800"/>
              </a:spcBef>
              <a:buNone/>
            </a:pPr>
            <a:r>
              <a:rPr lang="en-US" sz="2400" u="sng" dirty="0"/>
              <a:t>BOX 5.1  THE CUTTING EDGE</a:t>
            </a:r>
          </a:p>
          <a:p>
            <a:pPr marL="0" indent="0">
              <a:spcBef>
                <a:spcPts val="1800"/>
              </a:spcBef>
              <a:buNone/>
            </a:pPr>
            <a:r>
              <a:rPr lang="en-US" i="1" dirty="0"/>
              <a:t>Using Molecular Genetics to Study the Dopaminergic System</a:t>
            </a:r>
            <a:endParaRPr lang="en-GB" i="1" dirty="0"/>
          </a:p>
          <a:p>
            <a:pPr marL="571500">
              <a:spcBef>
                <a:spcPts val="1800"/>
              </a:spcBef>
            </a:pPr>
            <a:r>
              <a:rPr lang="en-US" sz="2800" dirty="0"/>
              <a:t>Researchers can now create “conditional” knockouts or </a:t>
            </a:r>
            <a:r>
              <a:rPr lang="en-US" sz="2800" dirty="0" err="1"/>
              <a:t>knockins</a:t>
            </a:r>
            <a:r>
              <a:rPr lang="en-US" sz="2800" dirty="0"/>
              <a:t> in adult animals.</a:t>
            </a:r>
          </a:p>
          <a:p>
            <a:pPr marL="571500">
              <a:spcBef>
                <a:spcPts val="1800"/>
              </a:spcBef>
            </a:pPr>
            <a:r>
              <a:rPr lang="en-US" sz="2800" dirty="0"/>
              <a:t>DA transporter knockout animals are extremely hyperactive because of the persistent activation of DA receptors; also cognitive deficits and impulsivity, traits often seen in children suffering from ADHD.</a:t>
            </a:r>
          </a:p>
        </p:txBody>
      </p:sp>
    </p:spTree>
    <p:extLst>
      <p:ext uri="{BB962C8B-B14F-4D97-AF65-F5344CB8AC3E}">
        <p14:creationId xmlns:p14="http://schemas.microsoft.com/office/powerpoint/2010/main" val="35634057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5314A-4D03-0C42-8D01-F9F140AD9544}"/>
              </a:ext>
            </a:extLst>
          </p:cNvPr>
          <p:cNvSpPr>
            <a:spLocks noGrp="1"/>
          </p:cNvSpPr>
          <p:nvPr>
            <p:ph type="title"/>
          </p:nvPr>
        </p:nvSpPr>
        <p:spPr/>
        <p:txBody>
          <a:bodyPr/>
          <a:lstStyle/>
          <a:p>
            <a:r>
              <a:rPr lang="en-US" cap="all" dirty="0"/>
              <a:t>Box 5.1  </a:t>
            </a:r>
            <a:r>
              <a:rPr lang="en-US" dirty="0"/>
              <a:t>The Cutting </a:t>
            </a:r>
            <a:r>
              <a:rPr lang="en-US" sz="1800" kern="1200" dirty="0">
                <a:solidFill>
                  <a:schemeClr val="bg1"/>
                </a:solidFill>
                <a:effectLst/>
                <a:latin typeface="+mj-lt"/>
                <a:ea typeface="+mj-ea"/>
                <a:cs typeface="+mj-cs"/>
              </a:rPr>
              <a:t>Edge: </a:t>
            </a:r>
            <a:r>
              <a:rPr lang="en-GB" sz="1800" kern="1200" dirty="0">
                <a:solidFill>
                  <a:schemeClr val="bg1"/>
                </a:solidFill>
                <a:effectLst/>
                <a:latin typeface="+mj-lt"/>
                <a:ea typeface="+mj-ea"/>
                <a:cs typeface="+mj-cs"/>
              </a:rPr>
              <a:t>Using Molecular Genetics to Study the Dopaminergic System</a:t>
            </a:r>
            <a:r>
              <a:rPr lang="en-US" dirty="0"/>
              <a:t> (Part 1)</a:t>
            </a:r>
          </a:p>
        </p:txBody>
      </p:sp>
      <p:pic>
        <p:nvPicPr>
          <p:cNvPr id="7" name="Content Placeholder 6" descr="A line graph provides data on the increased locomotor activity that dopamine transporter knockout mice show. The X axis measures time in minutes from 0 through 180 with increments of 20. The Y axis measures beam brakes from 0 through 400 with increments of 100. Approximate data follows: For wild type D A T with double positive: 20, 160; 40, 100; 60, 50; 80, 20; 100, 20; 120, 20; 140, 18; 160, 18; 180, 20. For heterozygous D A T with a positive and negative: 20, 190; 40, 110; 60, 75; 80, 50; 100, 50; 120, 55; 140, 25; 160, 30; 180, 40. For homozygous D A T with double negative: 20, 390; 40, 380; 60, 310; 80, 280; 100, 250; 120, 210; 140, 260; 160, 170; 180, 105.&#10;&#10;">
            <a:extLst>
              <a:ext uri="{FF2B5EF4-FFF2-40B4-BE49-F238E27FC236}">
                <a16:creationId xmlns:a16="http://schemas.microsoft.com/office/drawing/2014/main" id="{641FE1EC-451A-8947-91E0-A80332C3A7FB}"/>
              </a:ext>
            </a:extLst>
          </p:cNvPr>
          <p:cNvPicPr>
            <a:picLocks noGrp="1" noChangeAspect="1"/>
          </p:cNvPicPr>
          <p:nvPr>
            <p:ph sz="quarter" idx="10"/>
          </p:nvPr>
        </p:nvPicPr>
        <p:blipFill>
          <a:blip r:embed="rId3"/>
          <a:stretch>
            <a:fillRect/>
          </a:stretch>
        </p:blipFill>
        <p:spPr>
          <a:xfrm>
            <a:off x="3129063" y="479425"/>
            <a:ext cx="5933874" cy="6300788"/>
          </a:xfrm>
        </p:spPr>
      </p:pic>
    </p:spTree>
    <p:extLst>
      <p:ext uri="{BB962C8B-B14F-4D97-AF65-F5344CB8AC3E}">
        <p14:creationId xmlns:p14="http://schemas.microsoft.com/office/powerpoint/2010/main" val="8807310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1054316" cy="1143000"/>
          </a:xfrm>
        </p:spPr>
        <p:txBody>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Organization and Function of the Dopaminergic System</a:t>
            </a:r>
            <a:r>
              <a:rPr kumimoji="0" lang="en-US" sz="1200" b="0" i="0" u="none" strike="noStrike" kern="1200" cap="none" spc="0" normalizeH="0" baseline="0" noProof="0" dirty="0">
                <a:ln>
                  <a:noFill/>
                </a:ln>
                <a:solidFill>
                  <a:srgbClr val="1F497D"/>
                </a:solidFill>
                <a:effectLst/>
                <a:uLnTx/>
                <a:uFillTx/>
                <a:latin typeface="Calibri"/>
                <a:ea typeface="+mj-ea"/>
                <a:cs typeface="+mj-cs"/>
              </a:rPr>
              <a:t> (12 of 13)</a:t>
            </a:r>
            <a:endParaRPr lang="en-US" dirty="0"/>
          </a:p>
        </p:txBody>
      </p:sp>
      <p:sp>
        <p:nvSpPr>
          <p:cNvPr id="3" name="Text Placeholder 2"/>
          <p:cNvSpPr>
            <a:spLocks noGrp="1"/>
          </p:cNvSpPr>
          <p:nvPr>
            <p:ph idx="1"/>
          </p:nvPr>
        </p:nvSpPr>
        <p:spPr/>
        <p:txBody>
          <a:bodyPr>
            <a:normAutofit fontScale="92500"/>
          </a:bodyPr>
          <a:lstStyle/>
          <a:p>
            <a:pPr marL="0" marR="0" lvl="0" indent="0" algn="l" defTabSz="914400" rtl="0" eaLnBrk="1" fontAlgn="auto" latinLnBrk="0" hangingPunct="1">
              <a:lnSpc>
                <a:spcPct val="100000"/>
              </a:lnSpc>
              <a:spcBef>
                <a:spcPts val="1800"/>
              </a:spcBef>
              <a:spcAft>
                <a:spcPts val="0"/>
              </a:spcAft>
              <a:buClrTx/>
              <a:buSzTx/>
              <a:buFont typeface="Arial" pitchFamily="34" charset="0"/>
              <a:buNone/>
              <a:tabLst/>
              <a:defRPr/>
            </a:pPr>
            <a:r>
              <a:rPr kumimoji="0" lang="en-US" sz="2600" b="0" i="0" u="sng" strike="noStrike" kern="1200" cap="none" spc="0" normalizeH="0" baseline="0" noProof="0" dirty="0">
                <a:ln>
                  <a:noFill/>
                </a:ln>
                <a:solidFill>
                  <a:prstClr val="black"/>
                </a:solidFill>
                <a:effectLst/>
                <a:uLnTx/>
                <a:uFillTx/>
                <a:latin typeface="Calibri"/>
                <a:ea typeface="+mn-ea"/>
                <a:cs typeface="+mn-cs"/>
              </a:rPr>
              <a:t>BOX 5.1  THE CUTTING EDGE</a:t>
            </a:r>
            <a:r>
              <a:rPr kumimoji="0" lang="en-US" sz="2600" b="0" i="0" strike="noStrike" kern="1200" cap="none" spc="0" normalizeH="0" baseline="0" noProof="0" dirty="0">
                <a:ln>
                  <a:noFill/>
                </a:ln>
                <a:solidFill>
                  <a:prstClr val="black"/>
                </a:solidFill>
                <a:effectLst/>
                <a:uLnTx/>
                <a:uFillTx/>
                <a:latin typeface="Calibri"/>
                <a:ea typeface="+mn-ea"/>
                <a:cs typeface="+mn-cs"/>
              </a:rPr>
              <a:t> (</a:t>
            </a:r>
            <a:r>
              <a:rPr kumimoji="0" lang="en-US" sz="2600" b="0" i="1" strike="noStrike" kern="1200" cap="none" spc="0" normalizeH="0" baseline="0" noProof="0" dirty="0">
                <a:ln>
                  <a:noFill/>
                </a:ln>
                <a:solidFill>
                  <a:prstClr val="black"/>
                </a:solidFill>
                <a:effectLst/>
                <a:uLnTx/>
                <a:uFillTx/>
                <a:latin typeface="Calibri"/>
                <a:ea typeface="+mn-ea"/>
                <a:cs typeface="+mn-cs"/>
              </a:rPr>
              <a:t>cont.</a:t>
            </a:r>
            <a:r>
              <a:rPr kumimoji="0" lang="en-US" sz="2600" b="0" i="0" strike="noStrike" kern="1200" cap="none" spc="0" normalizeH="0" baseline="0" noProof="0" dirty="0">
                <a:ln>
                  <a:noFill/>
                </a:ln>
                <a:solidFill>
                  <a:prstClr val="black"/>
                </a:solidFill>
                <a:effectLst/>
                <a:uLnTx/>
                <a:uFillTx/>
                <a:latin typeface="Calibri"/>
                <a:ea typeface="+mn-ea"/>
                <a:cs typeface="+mn-cs"/>
              </a:rPr>
              <a:t>)</a:t>
            </a:r>
          </a:p>
          <a:p>
            <a:pPr marL="0" marR="0" lvl="0" indent="0" fontAlgn="auto">
              <a:lnSpc>
                <a:spcPct val="100000"/>
              </a:lnSpc>
              <a:spcBef>
                <a:spcPts val="1800"/>
              </a:spcBef>
              <a:spcAft>
                <a:spcPts val="0"/>
              </a:spcAft>
              <a:buClrTx/>
              <a:buSzTx/>
              <a:buNone/>
              <a:tabLst/>
              <a:defRPr/>
            </a:pPr>
            <a:r>
              <a:rPr lang="en-US" sz="3500" i="1" dirty="0"/>
              <a:t>Using Molecular Genetics to Study the Dopaminergic System</a:t>
            </a:r>
            <a:endParaRPr lang="en-GB" sz="3500" i="1" dirty="0"/>
          </a:p>
          <a:p>
            <a:pPr marL="571500">
              <a:spcBef>
                <a:spcPts val="1800"/>
              </a:spcBef>
            </a:pPr>
            <a:r>
              <a:rPr lang="en-GB" sz="3000" dirty="0"/>
              <a:t>D</a:t>
            </a:r>
            <a:r>
              <a:rPr lang="en-GB" sz="3000" baseline="-25000" dirty="0"/>
              <a:t>1</a:t>
            </a:r>
            <a:r>
              <a:rPr lang="en-GB" sz="3000" dirty="0"/>
              <a:t> and D</a:t>
            </a:r>
            <a:r>
              <a:rPr lang="en-GB" sz="3000" baseline="-25000" dirty="0"/>
              <a:t>2</a:t>
            </a:r>
            <a:r>
              <a:rPr lang="en-GB" sz="3000" dirty="0"/>
              <a:t> receptor knockout mice </a:t>
            </a:r>
            <a:r>
              <a:rPr lang="en-US" sz="3000" dirty="0"/>
              <a:t>are insensitive to the locomotor-stimulating effects of psychostimulants such as cocaine.</a:t>
            </a:r>
          </a:p>
          <a:p>
            <a:pPr marL="571500">
              <a:spcBef>
                <a:spcPts val="1800"/>
              </a:spcBef>
            </a:pPr>
            <a:r>
              <a:rPr lang="en-US" sz="3000" dirty="0"/>
              <a:t>Mutant mice that overexpress DA transporter show an exaggerated locomotor response to amphetamine.</a:t>
            </a:r>
          </a:p>
          <a:p>
            <a:pPr marL="571500">
              <a:spcBef>
                <a:spcPts val="1800"/>
              </a:spcBef>
            </a:pPr>
            <a:r>
              <a:rPr lang="en-US" sz="3000" dirty="0"/>
              <a:t>Both the DA transporter and D</a:t>
            </a:r>
            <a:r>
              <a:rPr lang="en-US" sz="3000" baseline="-25000" dirty="0"/>
              <a:t>1</a:t>
            </a:r>
            <a:r>
              <a:rPr lang="en-US" sz="3000" dirty="0"/>
              <a:t> and D</a:t>
            </a:r>
            <a:r>
              <a:rPr lang="en-US" sz="3000" baseline="-25000" dirty="0"/>
              <a:t>2</a:t>
            </a:r>
            <a:r>
              <a:rPr lang="en-US" sz="3000" dirty="0"/>
              <a:t> receptors play pivotal roles in the behavior-stimulating effects of cocaine and amphetamine</a:t>
            </a:r>
            <a:endParaRPr lang="en-GB" sz="3000" dirty="0"/>
          </a:p>
        </p:txBody>
      </p:sp>
    </p:spTree>
    <p:extLst>
      <p:ext uri="{BB962C8B-B14F-4D97-AF65-F5344CB8AC3E}">
        <p14:creationId xmlns:p14="http://schemas.microsoft.com/office/powerpoint/2010/main" val="37987646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5BD78-D267-1948-BC1C-0AE1806F4237}"/>
              </a:ext>
            </a:extLst>
          </p:cNvPr>
          <p:cNvSpPr>
            <a:spLocks noGrp="1"/>
          </p:cNvSpPr>
          <p:nvPr>
            <p:ph type="title"/>
          </p:nvPr>
        </p:nvSpPr>
        <p:spPr/>
        <p:txBody>
          <a:bodyPr/>
          <a:lstStyle/>
          <a:p>
            <a:r>
              <a:rPr lang="en-US" cap="all" dirty="0"/>
              <a:t>Box 5.1  </a:t>
            </a:r>
            <a:r>
              <a:rPr lang="en-US" dirty="0"/>
              <a:t>The Cutting </a:t>
            </a:r>
            <a:r>
              <a:rPr lang="en-US" sz="1800" kern="1200" dirty="0">
                <a:solidFill>
                  <a:schemeClr val="bg1"/>
                </a:solidFill>
                <a:effectLst/>
                <a:latin typeface="+mj-lt"/>
                <a:ea typeface="+mj-ea"/>
                <a:cs typeface="+mj-cs"/>
              </a:rPr>
              <a:t>Edge: </a:t>
            </a:r>
            <a:r>
              <a:rPr lang="en-GB" sz="1800" kern="1200" dirty="0">
                <a:solidFill>
                  <a:schemeClr val="bg1"/>
                </a:solidFill>
                <a:effectLst/>
                <a:latin typeface="+mj-lt"/>
                <a:ea typeface="+mj-ea"/>
                <a:cs typeface="+mj-cs"/>
              </a:rPr>
              <a:t>Using Molecular Genetics to Study the Dopaminergic System</a:t>
            </a:r>
            <a:r>
              <a:rPr lang="en-US" dirty="0"/>
              <a:t> (Part 2)</a:t>
            </a:r>
          </a:p>
        </p:txBody>
      </p:sp>
      <p:pic>
        <p:nvPicPr>
          <p:cNvPr id="7" name="Content Placeholder 6" descr="A pair of line graphs depicts data on the D 1 receptor knockout mice showing decreased reaction to a psychostimulant drug. The first graph contains data for wild type D subscript 1 with double positives. For both graphs, the X axis measures days from 0 through 7 with increments of 1 and the Y axis measures beam breaks from 0 through 20,000 with increments of 5,000. Approximate data follows: For control: 1, 5,200; 2, 5,000; 3, 5,500; 4, 5,200; 5, 5,500; 6, 5,100; 7, 5,500. For cocaine: 1, 12,200; 2, 15,000; 3, 17,000; 4, 16,250; 5, 17,500; 6, 17,400; 7, 17,500. The second graph is for Mutant D subscript 1 with double negatives. Approximate data follows. For control: 1, 7,400; 2, 9,800; 3, 12,250; 4, 10,200; 5, 10,100; 6, 11,000; 7, 9,800. For cocaine: 1, 5,200; 2, 7,500; 3,2,750; 4, 6,250; 5,8,250; 6, 8,000; 7, 11,000.">
            <a:extLst>
              <a:ext uri="{FF2B5EF4-FFF2-40B4-BE49-F238E27FC236}">
                <a16:creationId xmlns:a16="http://schemas.microsoft.com/office/drawing/2014/main" id="{429D1D32-D74B-FA46-B966-58CE96A89843}"/>
              </a:ext>
            </a:extLst>
          </p:cNvPr>
          <p:cNvPicPr>
            <a:picLocks noGrp="1" noChangeAspect="1"/>
          </p:cNvPicPr>
          <p:nvPr>
            <p:ph sz="quarter" idx="10"/>
          </p:nvPr>
        </p:nvPicPr>
        <p:blipFill>
          <a:blip r:embed="rId3"/>
          <a:stretch>
            <a:fillRect/>
          </a:stretch>
        </p:blipFill>
        <p:spPr>
          <a:xfrm>
            <a:off x="407988" y="804523"/>
            <a:ext cx="11376025" cy="5650591"/>
          </a:xfrm>
        </p:spPr>
      </p:pic>
    </p:spTree>
    <p:extLst>
      <p:ext uri="{BB962C8B-B14F-4D97-AF65-F5344CB8AC3E}">
        <p14:creationId xmlns:p14="http://schemas.microsoft.com/office/powerpoint/2010/main" val="16889255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1054316" cy="1143000"/>
          </a:xfrm>
        </p:spPr>
        <p:txBody>
          <a:bodyPr/>
          <a:lstStyle/>
          <a:p>
            <a:r>
              <a:rPr lang="en-US" dirty="0"/>
              <a:t>Organization and Function of the Dopaminergic System</a:t>
            </a:r>
            <a:r>
              <a:rPr lang="en-US" sz="1200" dirty="0"/>
              <a:t> (13 of 13)</a:t>
            </a:r>
            <a:endParaRPr lang="en-US" dirty="0"/>
          </a:p>
        </p:txBody>
      </p:sp>
      <p:sp>
        <p:nvSpPr>
          <p:cNvPr id="3" name="Text Placeholder 2"/>
          <p:cNvSpPr>
            <a:spLocks noGrp="1"/>
          </p:cNvSpPr>
          <p:nvPr>
            <p:ph idx="1"/>
          </p:nvPr>
        </p:nvSpPr>
        <p:spPr/>
        <p:txBody>
          <a:bodyPr>
            <a:normAutofit/>
          </a:bodyPr>
          <a:lstStyle/>
          <a:p>
            <a:pPr marL="0" indent="0">
              <a:spcBef>
                <a:spcPts val="1200"/>
              </a:spcBef>
              <a:buNone/>
            </a:pPr>
            <a:r>
              <a:rPr lang="en-US" sz="2000" u="sng" dirty="0"/>
              <a:t>CLICKER QUESTION 2</a:t>
            </a:r>
          </a:p>
          <a:p>
            <a:pPr marL="457200" indent="-457200">
              <a:spcBef>
                <a:spcPts val="2400"/>
              </a:spcBef>
              <a:buNone/>
            </a:pPr>
            <a:r>
              <a:rPr lang="en-US" dirty="0"/>
              <a:t>The dopaminergic neurons originate in which two regions?</a:t>
            </a:r>
          </a:p>
          <a:p>
            <a:pPr marL="914400" indent="-457200">
              <a:spcBef>
                <a:spcPts val="1200"/>
              </a:spcBef>
              <a:buFont typeface="Arial" pitchFamily="34" charset="0"/>
              <a:buAutoNum type="alphaLcPeriod"/>
            </a:pPr>
            <a:r>
              <a:rPr lang="en-US" dirty="0"/>
              <a:t>Ventral tegmental area, locus coeruleus</a:t>
            </a:r>
          </a:p>
          <a:p>
            <a:pPr marL="914400" indent="-457200">
              <a:spcBef>
                <a:spcPts val="1200"/>
              </a:spcBef>
              <a:buFont typeface="Arial" pitchFamily="34" charset="0"/>
              <a:buAutoNum type="alphaLcPeriod"/>
            </a:pPr>
            <a:r>
              <a:rPr lang="en-US" dirty="0"/>
              <a:t>Substantia </a:t>
            </a:r>
            <a:r>
              <a:rPr lang="en-US" dirty="0" err="1"/>
              <a:t>nigra</a:t>
            </a:r>
            <a:r>
              <a:rPr lang="en-US" dirty="0"/>
              <a:t>, locus coeruleus</a:t>
            </a:r>
          </a:p>
          <a:p>
            <a:pPr marL="914400" indent="-457200">
              <a:spcBef>
                <a:spcPts val="1200"/>
              </a:spcBef>
              <a:buFont typeface="Arial" pitchFamily="34" charset="0"/>
              <a:buAutoNum type="alphaLcPeriod"/>
            </a:pPr>
            <a:r>
              <a:rPr lang="en-US" dirty="0"/>
              <a:t>Substantia </a:t>
            </a:r>
            <a:r>
              <a:rPr lang="en-US" dirty="0" err="1"/>
              <a:t>nigra</a:t>
            </a:r>
            <a:r>
              <a:rPr lang="en-US" dirty="0"/>
              <a:t>, ventral tegmental area</a:t>
            </a:r>
          </a:p>
          <a:p>
            <a:pPr marL="914400" indent="-457200">
              <a:spcBef>
                <a:spcPts val="1200"/>
              </a:spcBef>
              <a:buFont typeface="Arial" pitchFamily="34" charset="0"/>
              <a:buAutoNum type="alphaLcPeriod"/>
            </a:pPr>
            <a:r>
              <a:rPr lang="en-US" dirty="0"/>
              <a:t>Ventral tegmental area, nucleus </a:t>
            </a:r>
            <a:r>
              <a:rPr lang="en-US" dirty="0" err="1"/>
              <a:t>accumbens</a:t>
            </a:r>
            <a:endParaRPr lang="en-US" dirty="0"/>
          </a:p>
        </p:txBody>
      </p:sp>
    </p:spTree>
    <p:extLst>
      <p:ext uri="{BB962C8B-B14F-4D97-AF65-F5344CB8AC3E}">
        <p14:creationId xmlns:p14="http://schemas.microsoft.com/office/powerpoint/2010/main" val="4415609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 </a:t>
            </a:r>
            <a:r>
              <a:rPr lang="en-US" sz="1200" dirty="0"/>
              <a:t>(2 of 3)</a:t>
            </a:r>
            <a:endParaRPr lang="en-US" dirty="0"/>
          </a:p>
        </p:txBody>
      </p:sp>
      <p:sp>
        <p:nvSpPr>
          <p:cNvPr id="3" name="Text Placeholder 2"/>
          <p:cNvSpPr>
            <a:spLocks noGrp="1"/>
          </p:cNvSpPr>
          <p:nvPr>
            <p:ph idx="1"/>
          </p:nvPr>
        </p:nvSpPr>
        <p:spPr/>
        <p:txBody>
          <a:bodyPr>
            <a:normAutofit fontScale="85000" lnSpcReduction="20000"/>
          </a:bodyPr>
          <a:lstStyle/>
          <a:p>
            <a:pPr marL="914400" indent="-914400">
              <a:lnSpc>
                <a:spcPct val="120000"/>
              </a:lnSpc>
              <a:spcBef>
                <a:spcPts val="1800"/>
              </a:spcBef>
              <a:buNone/>
            </a:pPr>
            <a:r>
              <a:rPr lang="en-US" sz="2800" dirty="0"/>
              <a:t>5.2.1  Name the major ascending dopaminergic pathways that originate in the midbrain, and identify the locations of the cell bodies and the projection areas of each pathway.</a:t>
            </a:r>
          </a:p>
          <a:p>
            <a:pPr marL="914400" indent="-914400">
              <a:lnSpc>
                <a:spcPct val="120000"/>
              </a:lnSpc>
              <a:spcBef>
                <a:spcPts val="1800"/>
              </a:spcBef>
              <a:buNone/>
            </a:pPr>
            <a:r>
              <a:rPr lang="en-US" sz="2800" dirty="0"/>
              <a:t>5.2.2  Explain the role of DA in behavioral regulation, including the initiation and control of voluntary movement, responses to rewarding stimuli, and cognitive functioning.</a:t>
            </a:r>
          </a:p>
          <a:p>
            <a:pPr marL="914400" indent="-914400">
              <a:lnSpc>
                <a:spcPct val="120000"/>
              </a:lnSpc>
              <a:spcBef>
                <a:spcPts val="1800"/>
              </a:spcBef>
              <a:buNone/>
            </a:pPr>
            <a:r>
              <a:rPr lang="en-US" sz="2800" dirty="0"/>
              <a:t>5.2.3  Describe the family of DA receptors, including the various subtypes, signaling mechanisms, and roles as both postsynaptic receptors and </a:t>
            </a:r>
            <a:r>
              <a:rPr lang="en-US" sz="2800" dirty="0" err="1"/>
              <a:t>autoreceptors</a:t>
            </a:r>
            <a:r>
              <a:rPr lang="en-US" sz="2800" dirty="0"/>
              <a:t>.</a:t>
            </a:r>
          </a:p>
          <a:p>
            <a:pPr marL="914400" indent="-914400">
              <a:lnSpc>
                <a:spcPct val="120000"/>
              </a:lnSpc>
              <a:spcBef>
                <a:spcPts val="1800"/>
              </a:spcBef>
              <a:buNone/>
            </a:pPr>
            <a:r>
              <a:rPr lang="en-US" sz="2800" dirty="0"/>
              <a:t>5.2.4  Describe the behavioral and physiological effects of DA receptor agonists and antagonists, including their clinical applications where relevant</a:t>
            </a:r>
            <a:r>
              <a:rPr lang="en-US" dirty="0"/>
              <a:t>.</a:t>
            </a:r>
          </a:p>
        </p:txBody>
      </p:sp>
    </p:spTree>
    <p:extLst>
      <p:ext uri="{BB962C8B-B14F-4D97-AF65-F5344CB8AC3E}">
        <p14:creationId xmlns:p14="http://schemas.microsoft.com/office/powerpoint/2010/main" val="2474006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955" y="274638"/>
            <a:ext cx="11174859" cy="1143000"/>
          </a:xfrm>
        </p:spPr>
        <p:txBody>
          <a:bodyPr>
            <a:normAutofit/>
          </a:bodyPr>
          <a:lstStyle/>
          <a:p>
            <a:r>
              <a:rPr lang="en-US" dirty="0"/>
              <a:t>Organization and Function of the Noradrenergic System </a:t>
            </a:r>
            <a:r>
              <a:rPr lang="en-US" sz="1200" dirty="0"/>
              <a:t>(1 of 11)</a:t>
            </a:r>
            <a:endParaRPr lang="en-US" dirty="0"/>
          </a:p>
        </p:txBody>
      </p:sp>
      <p:sp>
        <p:nvSpPr>
          <p:cNvPr id="3" name="Text Placeholder 2"/>
          <p:cNvSpPr>
            <a:spLocks noGrp="1"/>
          </p:cNvSpPr>
          <p:nvPr>
            <p:ph idx="1"/>
          </p:nvPr>
        </p:nvSpPr>
        <p:spPr>
          <a:xfrm>
            <a:off x="609600" y="1756881"/>
            <a:ext cx="10794715" cy="4626863"/>
          </a:xfrm>
        </p:spPr>
        <p:txBody>
          <a:bodyPr>
            <a:normAutofit/>
          </a:bodyPr>
          <a:lstStyle/>
          <a:p>
            <a:pPr marL="457200" indent="-457200">
              <a:spcBef>
                <a:spcPts val="1200"/>
              </a:spcBef>
              <a:buNone/>
            </a:pPr>
            <a:r>
              <a:rPr lang="en-US" dirty="0"/>
              <a:t>Norepinephrine is an important transmitter in both the central and peripheral nervous systems</a:t>
            </a:r>
          </a:p>
          <a:p>
            <a:pPr marL="571500">
              <a:spcBef>
                <a:spcPts val="1800"/>
              </a:spcBef>
            </a:pPr>
            <a:r>
              <a:rPr lang="en-US" sz="2800" dirty="0"/>
              <a:t>NE neurons in the brain are located in the pons and medulla, especially in the </a:t>
            </a:r>
            <a:r>
              <a:rPr lang="en-US" sz="2800" b="1" dirty="0"/>
              <a:t>locus coeruleus (LC)</a:t>
            </a:r>
          </a:p>
          <a:p>
            <a:pPr marL="571500">
              <a:spcBef>
                <a:spcPts val="1800"/>
              </a:spcBef>
            </a:pPr>
            <a:r>
              <a:rPr lang="en-US" sz="2800" dirty="0"/>
              <a:t>All neurons in the LC express the enzyme DBH and synthesize NE</a:t>
            </a:r>
          </a:p>
          <a:p>
            <a:pPr marL="571500">
              <a:spcBef>
                <a:spcPts val="1800"/>
              </a:spcBef>
            </a:pPr>
            <a:r>
              <a:rPr lang="en-US" sz="2800" dirty="0"/>
              <a:t>LC sends fibers to almost all areas of the forebrain – many involved in sensory information processing; also to the cerebellum and spinal cord.</a:t>
            </a:r>
          </a:p>
        </p:txBody>
      </p:sp>
    </p:spTree>
    <p:extLst>
      <p:ext uri="{BB962C8B-B14F-4D97-AF65-F5344CB8AC3E}">
        <p14:creationId xmlns:p14="http://schemas.microsoft.com/office/powerpoint/2010/main" val="16429514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2EC8F-F9B0-D942-AC23-360CCA191DDD}"/>
              </a:ext>
            </a:extLst>
          </p:cNvPr>
          <p:cNvSpPr>
            <a:spLocks noGrp="1"/>
          </p:cNvSpPr>
          <p:nvPr>
            <p:ph type="title"/>
          </p:nvPr>
        </p:nvSpPr>
        <p:spPr/>
        <p:txBody>
          <a:bodyPr/>
          <a:lstStyle/>
          <a:p>
            <a:r>
              <a:rPr lang="en-US" dirty="0"/>
              <a:t>FIGURE 5.15  The locus coeruleus (LC) sends fibers to much of the brain </a:t>
            </a:r>
          </a:p>
        </p:txBody>
      </p:sp>
      <p:pic>
        <p:nvPicPr>
          <p:cNvPr id="6" name="Content Placeholder 5" descr="An illustration of the brain depicts neural pathways of various portions in the brain as follows. The right extreme has A 6, Locus coeruleus depicted by 3 dots above which the cerebellum is present. The A 6 has medulla oblongata at the bottom right and pons to its left. The thalamus and hypothalamus are present at top and bottom left of the pons and the preptic area is left to the hypothalamus. The septum is to the left of thalamus with hippocampus at its top and cortex and olfactory bulb at further left. At the top to the left of cerebellum are the superior colliculus and inferior colliculu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629891"/>
            <a:ext cx="11376025" cy="5999855"/>
          </a:xfrm>
        </p:spPr>
      </p:pic>
    </p:spTree>
    <p:extLst>
      <p:ext uri="{BB962C8B-B14F-4D97-AF65-F5344CB8AC3E}">
        <p14:creationId xmlns:p14="http://schemas.microsoft.com/office/powerpoint/2010/main" val="18100081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955" y="274638"/>
            <a:ext cx="11174859" cy="1143000"/>
          </a:xfrm>
        </p:spPr>
        <p:txBody>
          <a:bodyPr>
            <a:normAutofit/>
          </a:bodyPr>
          <a:lstStyle/>
          <a:p>
            <a:r>
              <a:rPr lang="en-US" dirty="0"/>
              <a:t>Organization and Function of the Noradrenergic System </a:t>
            </a:r>
            <a:r>
              <a:rPr lang="en-US" sz="1200" dirty="0"/>
              <a:t>(2 of 11)</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dirty="0"/>
              <a:t>Norepinephrine is an important transmitter in both the central and peripheral nervous systems</a:t>
            </a:r>
          </a:p>
          <a:p>
            <a:pPr marL="571500">
              <a:spcBef>
                <a:spcPts val="1800"/>
              </a:spcBef>
            </a:pPr>
            <a:r>
              <a:rPr lang="en-US" sz="2800" dirty="0"/>
              <a:t>NE in the PNS: neurons that have cell bodies in ganglia of the sympathetic nervous system use NE</a:t>
            </a:r>
          </a:p>
          <a:p>
            <a:pPr marL="571500">
              <a:spcBef>
                <a:spcPts val="1800"/>
              </a:spcBef>
            </a:pPr>
            <a:r>
              <a:rPr lang="en-US" sz="2800" dirty="0"/>
              <a:t>NE functions as a hormone secreted by the adrenal glands; thus NE can reach organs in two ways</a:t>
            </a:r>
          </a:p>
          <a:p>
            <a:pPr marL="571500">
              <a:spcBef>
                <a:spcPts val="1800"/>
              </a:spcBef>
            </a:pPr>
            <a:r>
              <a:rPr lang="en-US" sz="2800" dirty="0"/>
              <a:t>Bloodborne NE and EPI work together with NE released from sympathetic nerve endings to mediate the “fight-or-flight” response</a:t>
            </a:r>
          </a:p>
        </p:txBody>
      </p:sp>
    </p:spTree>
    <p:extLst>
      <p:ext uri="{BB962C8B-B14F-4D97-AF65-F5344CB8AC3E}">
        <p14:creationId xmlns:p14="http://schemas.microsoft.com/office/powerpoint/2010/main" val="2050193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955" y="274638"/>
            <a:ext cx="11174859" cy="1143000"/>
          </a:xfrm>
        </p:spPr>
        <p:txBody>
          <a:bodyPr>
            <a:normAutofit/>
          </a:bodyPr>
          <a:lstStyle/>
          <a:p>
            <a:r>
              <a:rPr lang="en-US" dirty="0"/>
              <a:t>Organization and Function of the Noradrenergic System </a:t>
            </a:r>
            <a:r>
              <a:rPr lang="en-US" sz="1200" dirty="0"/>
              <a:t>(3 of 11)</a:t>
            </a:r>
            <a:endParaRPr lang="en-US" dirty="0"/>
          </a:p>
        </p:txBody>
      </p:sp>
      <p:sp>
        <p:nvSpPr>
          <p:cNvPr id="3" name="Text Placeholder 2"/>
          <p:cNvSpPr>
            <a:spLocks noGrp="1"/>
          </p:cNvSpPr>
          <p:nvPr>
            <p:ph idx="1"/>
          </p:nvPr>
        </p:nvSpPr>
        <p:spPr/>
        <p:txBody>
          <a:bodyPr>
            <a:normAutofit/>
          </a:bodyPr>
          <a:lstStyle/>
          <a:p>
            <a:pPr marL="457200" indent="-457200">
              <a:lnSpc>
                <a:spcPct val="90000"/>
              </a:lnSpc>
              <a:spcBef>
                <a:spcPts val="1200"/>
              </a:spcBef>
              <a:buNone/>
            </a:pPr>
            <a:r>
              <a:rPr lang="en-US" dirty="0"/>
              <a:t>Norepinephrine and epinephrine act through α- and β-adrenergic receptors</a:t>
            </a:r>
          </a:p>
          <a:p>
            <a:pPr marL="571500">
              <a:spcBef>
                <a:spcPts val="1800"/>
              </a:spcBef>
            </a:pPr>
            <a:r>
              <a:rPr lang="en-US" sz="2800" dirty="0"/>
              <a:t>Adrenergic receptors (</a:t>
            </a:r>
            <a:r>
              <a:rPr lang="en-US" sz="2800" b="1" dirty="0"/>
              <a:t>adrenoceptors</a:t>
            </a:r>
            <a:r>
              <a:rPr lang="en-US" sz="2800" dirty="0"/>
              <a:t>) are metabotropic</a:t>
            </a:r>
          </a:p>
          <a:p>
            <a:pPr marL="571500">
              <a:spcBef>
                <a:spcPts val="1800"/>
              </a:spcBef>
            </a:pPr>
            <a:r>
              <a:rPr lang="en-US" sz="2800" dirty="0"/>
              <a:t>β</a:t>
            </a:r>
            <a:r>
              <a:rPr lang="en-US" sz="2800" baseline="-25000" dirty="0"/>
              <a:t>1</a:t>
            </a:r>
            <a:r>
              <a:rPr lang="en-US" sz="2800" dirty="0"/>
              <a:t>- and β</a:t>
            </a:r>
            <a:r>
              <a:rPr lang="en-US" sz="2800" baseline="-25000" dirty="0"/>
              <a:t>2</a:t>
            </a:r>
            <a:r>
              <a:rPr lang="en-US" sz="2800" dirty="0"/>
              <a:t>- receptors stimulate adenylyl cyclase and enhance formation of cAMP.</a:t>
            </a:r>
          </a:p>
          <a:p>
            <a:pPr marL="571500">
              <a:spcBef>
                <a:spcPts val="1800"/>
              </a:spcBef>
            </a:pPr>
            <a:r>
              <a:rPr lang="en-US" sz="2800" dirty="0"/>
              <a:t>α</a:t>
            </a:r>
            <a:r>
              <a:rPr lang="en-US" sz="2800" baseline="-25000" dirty="0"/>
              <a:t>2</a:t>
            </a:r>
            <a:r>
              <a:rPr lang="en-US" sz="2800" dirty="0"/>
              <a:t>-receptors inhibit </a:t>
            </a:r>
            <a:r>
              <a:rPr lang="en-US" sz="2800" dirty="0" err="1"/>
              <a:t>adenylylcyclase</a:t>
            </a:r>
            <a:r>
              <a:rPr lang="en-US" sz="2800" dirty="0"/>
              <a:t> and reduce the rate of cAMP synthesis; also increase opening of K+ channels</a:t>
            </a:r>
          </a:p>
          <a:p>
            <a:pPr marL="571500">
              <a:spcBef>
                <a:spcPts val="1800"/>
              </a:spcBef>
            </a:pPr>
            <a:r>
              <a:rPr lang="en-US" sz="2800" dirty="0"/>
              <a:t>α</a:t>
            </a:r>
            <a:r>
              <a:rPr lang="en-US" sz="2800" baseline="-25000" dirty="0"/>
              <a:t>1</a:t>
            </a:r>
            <a:r>
              <a:rPr lang="en-US" sz="2800" dirty="0"/>
              <a:t> receptors use the phosphoinositide second-messenger system</a:t>
            </a:r>
          </a:p>
        </p:txBody>
      </p:sp>
    </p:spTree>
    <p:extLst>
      <p:ext uri="{BB962C8B-B14F-4D97-AF65-F5344CB8AC3E}">
        <p14:creationId xmlns:p14="http://schemas.microsoft.com/office/powerpoint/2010/main" val="866726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955" y="274638"/>
            <a:ext cx="11174859" cy="1143000"/>
          </a:xfrm>
        </p:spPr>
        <p:txBody>
          <a:bodyPr>
            <a:normAutofit/>
          </a:bodyPr>
          <a:lstStyle/>
          <a:p>
            <a:r>
              <a:rPr lang="en-US" dirty="0"/>
              <a:t>Organization and Function of the Noradrenergic System </a:t>
            </a:r>
            <a:r>
              <a:rPr lang="en-US" sz="1200" dirty="0"/>
              <a:t>(4 of 11)</a:t>
            </a:r>
            <a:endParaRPr lang="en-US" dirty="0"/>
          </a:p>
        </p:txBody>
      </p:sp>
      <p:sp>
        <p:nvSpPr>
          <p:cNvPr id="3" name="Text Placeholder 2"/>
          <p:cNvSpPr>
            <a:spLocks noGrp="1"/>
          </p:cNvSpPr>
          <p:nvPr>
            <p:ph idx="1"/>
          </p:nvPr>
        </p:nvSpPr>
        <p:spPr/>
        <p:txBody>
          <a:bodyPr>
            <a:normAutofit fontScale="92500" lnSpcReduction="20000"/>
          </a:bodyPr>
          <a:lstStyle/>
          <a:p>
            <a:pPr marL="457200" indent="-457200">
              <a:lnSpc>
                <a:spcPct val="110000"/>
              </a:lnSpc>
              <a:spcBef>
                <a:spcPts val="1200"/>
              </a:spcBef>
              <a:buNone/>
            </a:pPr>
            <a:r>
              <a:rPr lang="en-US" sz="3500" dirty="0"/>
              <a:t>Norepinephrine and epinephrine act through α- and β-adrenergic receptors</a:t>
            </a:r>
          </a:p>
          <a:p>
            <a:pPr marL="571500">
              <a:spcBef>
                <a:spcPts val="1800"/>
              </a:spcBef>
            </a:pPr>
            <a:r>
              <a:rPr lang="en-US" sz="3000" dirty="0"/>
              <a:t>α</a:t>
            </a:r>
            <a:r>
              <a:rPr lang="en-US" sz="3000" baseline="-25000" dirty="0"/>
              <a:t>2</a:t>
            </a:r>
            <a:r>
              <a:rPr lang="en-US" sz="3000" dirty="0"/>
              <a:t>-agonists such as </a:t>
            </a:r>
            <a:r>
              <a:rPr lang="en-US" sz="3000" b="1" dirty="0"/>
              <a:t>clonidine (Catapres)</a:t>
            </a:r>
            <a:r>
              <a:rPr lang="en-US" sz="3000" dirty="0"/>
              <a:t> and </a:t>
            </a:r>
            <a:r>
              <a:rPr lang="en-US" sz="3000" b="1" dirty="0" err="1"/>
              <a:t>lofexidine</a:t>
            </a:r>
            <a:r>
              <a:rPr lang="en-US" sz="3000" b="1" dirty="0"/>
              <a:t> (</a:t>
            </a:r>
            <a:r>
              <a:rPr lang="en-US" sz="3000" b="1" dirty="0" err="1"/>
              <a:t>Lucemyra</a:t>
            </a:r>
            <a:r>
              <a:rPr lang="en-US" sz="3000" b="1" dirty="0"/>
              <a:t>) </a:t>
            </a:r>
            <a:r>
              <a:rPr lang="en-US" sz="3000" dirty="0"/>
              <a:t>can treat symptoms of opioid withdrawal by stimulating α</a:t>
            </a:r>
            <a:r>
              <a:rPr lang="en-US" sz="3000" baseline="-25000" dirty="0"/>
              <a:t>2</a:t>
            </a:r>
            <a:r>
              <a:rPr lang="en-US" sz="3000" dirty="0"/>
              <a:t>-autoreceptors to inhibit noradrenergic cell firing</a:t>
            </a:r>
          </a:p>
          <a:p>
            <a:pPr marL="571500">
              <a:spcBef>
                <a:spcPts val="1800"/>
              </a:spcBef>
            </a:pPr>
            <a:r>
              <a:rPr lang="en-US" sz="3000" dirty="0"/>
              <a:t>The α</a:t>
            </a:r>
            <a:r>
              <a:rPr lang="en-US" sz="3000" baseline="-25000" dirty="0"/>
              <a:t>2</a:t>
            </a:r>
            <a:r>
              <a:rPr lang="en-US" sz="3000" dirty="0"/>
              <a:t>-antagonist </a:t>
            </a:r>
            <a:r>
              <a:rPr lang="en-US" sz="3000" b="1" dirty="0"/>
              <a:t>yohimbine</a:t>
            </a:r>
            <a:r>
              <a:rPr lang="en-US" sz="3000" dirty="0"/>
              <a:t> blocks the </a:t>
            </a:r>
            <a:r>
              <a:rPr lang="en-US" sz="3000" dirty="0" err="1"/>
              <a:t>autoreceptors</a:t>
            </a:r>
            <a:r>
              <a:rPr lang="en-US" sz="3000" dirty="0"/>
              <a:t>, increasing noradrenergic cell firing and NE release; provokes withdrawal symptoms and drug craving</a:t>
            </a:r>
          </a:p>
          <a:p>
            <a:pPr marL="571500">
              <a:spcBef>
                <a:spcPts val="1800"/>
              </a:spcBef>
            </a:pPr>
            <a:r>
              <a:rPr lang="en-US" sz="3000" dirty="0"/>
              <a:t>NE may promote feelings of anxiety: tested with human-sized elevated plus maze</a:t>
            </a:r>
          </a:p>
        </p:txBody>
      </p:sp>
    </p:spTree>
    <p:extLst>
      <p:ext uri="{BB962C8B-B14F-4D97-AF65-F5344CB8AC3E}">
        <p14:creationId xmlns:p14="http://schemas.microsoft.com/office/powerpoint/2010/main" val="32280104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57794-A373-9044-B310-BB1699FFC39F}"/>
              </a:ext>
            </a:extLst>
          </p:cNvPr>
          <p:cNvSpPr>
            <a:spLocks noGrp="1"/>
          </p:cNvSpPr>
          <p:nvPr>
            <p:ph type="title"/>
          </p:nvPr>
        </p:nvSpPr>
        <p:spPr/>
        <p:txBody>
          <a:bodyPr/>
          <a:lstStyle/>
          <a:p>
            <a:r>
              <a:rPr lang="en-US" dirty="0"/>
              <a:t>FIGURE 5.16  Effects of pro- and anti-anxiety drugs on open-arm time in the humanized elevated plus-maze </a:t>
            </a:r>
          </a:p>
        </p:txBody>
      </p:sp>
      <p:pic>
        <p:nvPicPr>
          <p:cNvPr id="6" name="Content Placeholder 5" descr="A pair of two illustrations depicts the effect of pro-and anti-anxiety drugs on an open-arm time in a humanized elevated plus-maze. An individual stands in the middle of a plus shaped formation at left. At right, the figures appear on the plus as follows from left to right: W 2.7, 2.6, 2.4 in the middle, 2.7 and 2.7 E at right. The figures appear from top to bottom as follows: N 6.0, 4.4, 2.4 at the middle, 3.9, and 5.5 S at the bottom.&#10;&#10;A bar graph provides data on the effects of pro- and anti-anxiety drugs. The X axis shows names of drugs and the Y axis shows the time to open arms in seconds from 0 through 150 with increments of 50. Approximate data follows: Lorazepam, 130. Placebo, 99. Yohimbine, 55.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309709"/>
            <a:ext cx="11376025" cy="4640220"/>
          </a:xfrm>
        </p:spPr>
      </p:pic>
    </p:spTree>
    <p:extLst>
      <p:ext uri="{BB962C8B-B14F-4D97-AF65-F5344CB8AC3E}">
        <p14:creationId xmlns:p14="http://schemas.microsoft.com/office/powerpoint/2010/main" val="37445662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955" y="274638"/>
            <a:ext cx="11174859" cy="1143000"/>
          </a:xfrm>
        </p:spPr>
        <p:txBody>
          <a:bodyPr>
            <a:normAutofit/>
          </a:bodyPr>
          <a:lstStyle/>
          <a:p>
            <a:r>
              <a:rPr lang="en-US" dirty="0"/>
              <a:t>Organization and Function of the Noradrenergic System </a:t>
            </a:r>
            <a:r>
              <a:rPr lang="en-US" sz="1200" dirty="0"/>
              <a:t>(5 of 11)</a:t>
            </a:r>
            <a:endParaRPr lang="en-US" dirty="0"/>
          </a:p>
        </p:txBody>
      </p:sp>
      <p:sp>
        <p:nvSpPr>
          <p:cNvPr id="3" name="Text Placeholder 2"/>
          <p:cNvSpPr>
            <a:spLocks noGrp="1"/>
          </p:cNvSpPr>
          <p:nvPr>
            <p:ph idx="1"/>
          </p:nvPr>
        </p:nvSpPr>
        <p:spPr/>
        <p:txBody>
          <a:bodyPr>
            <a:normAutofit/>
          </a:bodyPr>
          <a:lstStyle/>
          <a:p>
            <a:pPr marL="457200" indent="-457200">
              <a:lnSpc>
                <a:spcPct val="80000"/>
              </a:lnSpc>
              <a:spcBef>
                <a:spcPts val="1200"/>
              </a:spcBef>
              <a:buNone/>
            </a:pPr>
            <a:r>
              <a:rPr lang="en-US" dirty="0"/>
              <a:t>The central noradrenergic system plays a significant role in arousal, cognition, and the consolidation of emotional memories</a:t>
            </a:r>
          </a:p>
          <a:p>
            <a:pPr marL="571500">
              <a:lnSpc>
                <a:spcPct val="80000"/>
              </a:lnSpc>
              <a:spcBef>
                <a:spcPts val="1800"/>
              </a:spcBef>
            </a:pPr>
            <a:r>
              <a:rPr lang="en-US" sz="2800" dirty="0"/>
              <a:t>Arousal: LC neurons fire more rapidly during waking than during sleep, and trigger arousal</a:t>
            </a:r>
          </a:p>
          <a:p>
            <a:pPr marL="571500">
              <a:lnSpc>
                <a:spcPct val="80000"/>
              </a:lnSpc>
              <a:spcBef>
                <a:spcPts val="1800"/>
              </a:spcBef>
            </a:pPr>
            <a:r>
              <a:rPr lang="el-GR" sz="2800" dirty="0"/>
              <a:t>α</a:t>
            </a:r>
            <a:r>
              <a:rPr lang="el-GR" sz="2800" baseline="-25000" dirty="0"/>
              <a:t>1</a:t>
            </a:r>
            <a:r>
              <a:rPr lang="el-GR" sz="2800" dirty="0"/>
              <a:t>-</a:t>
            </a:r>
            <a:r>
              <a:rPr lang="en-US" sz="2800" dirty="0"/>
              <a:t>receptor agonist </a:t>
            </a:r>
            <a:r>
              <a:rPr lang="en-US" sz="2800" b="1" dirty="0"/>
              <a:t>phenylephrine</a:t>
            </a:r>
            <a:r>
              <a:rPr lang="en-US" sz="2800" dirty="0"/>
              <a:t> injected into the lateral hypothalamic area increased awake time in rats; the </a:t>
            </a:r>
            <a:r>
              <a:rPr lang="el-GR" sz="2800" dirty="0"/>
              <a:t>β-</a:t>
            </a:r>
            <a:r>
              <a:rPr lang="en-US" sz="2800" dirty="0"/>
              <a:t>receptor agonist </a:t>
            </a:r>
            <a:r>
              <a:rPr lang="en-US" sz="2800" b="1" dirty="0"/>
              <a:t>isoproterenol</a:t>
            </a:r>
            <a:r>
              <a:rPr lang="en-US" sz="2800" dirty="0"/>
              <a:t> had less effect; together they had an additive effect </a:t>
            </a:r>
          </a:p>
        </p:txBody>
      </p:sp>
    </p:spTree>
    <p:extLst>
      <p:ext uri="{BB962C8B-B14F-4D97-AF65-F5344CB8AC3E}">
        <p14:creationId xmlns:p14="http://schemas.microsoft.com/office/powerpoint/2010/main" val="939229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1AA21-DC54-BA45-B996-39BF873F7C25}"/>
              </a:ext>
            </a:extLst>
          </p:cNvPr>
          <p:cNvSpPr>
            <a:spLocks noGrp="1"/>
          </p:cNvSpPr>
          <p:nvPr>
            <p:ph type="title"/>
          </p:nvPr>
        </p:nvSpPr>
        <p:spPr/>
        <p:txBody>
          <a:bodyPr/>
          <a:lstStyle/>
          <a:p>
            <a:r>
              <a:rPr lang="en-US" dirty="0"/>
              <a:t>FIGURE 5.17  Wakefulness-promoting effects of adrenergic agonists infused into the lateral hypothalamic area </a:t>
            </a:r>
          </a:p>
        </p:txBody>
      </p:sp>
      <p:pic>
        <p:nvPicPr>
          <p:cNvPr id="8" name="Content Placeholder 7" descr="Five line graphs depict data on the time spent awake in seconds as a result of wakefulness promoting effects of adrenergic agonists infused into the lateral hypothalamic area of rats. The X axis measures time awake and the Y axis measures time in seconds from 0 through 1,800 with increments of 300. Approximate data follows: For 10 n m o l P H E N: Pre 2: 300; Pre 1: 300; Post 1:600; Post 2: 500; Post 3: 400. For V E H: Pre 2: 280; Pre 1: 280; Post 1:300; Post 2: 500; Post 3: 400. For 40 n m o l P H E N: Pre 2: 300; Pre 1: 300; Post 1:600; Post 2: 1000; Post 3: 700. For 20 n m o l B I L A T: Pre 2: 300; Pre 1: 400; Post 1: 1,500; Post 2: 1,300; Post 3: 900. For 20 n m o l P H E N: Pre 2: 450; Pre 1: 400; Post 1: 1,200; Post 2: 900; Post 3: 600.&#10;&#10;Four line graphs depict data on the time spent awake in seconds as a result of wakefulness promoting effects of adrenergic agonists infused into the lateral hypothalamic area of rats. The X axis measures time awake and the Y axis measures time in seconds from 0 through 1,800 with increments of 300. Approximate data follows: For 10 n m o l I S O: Pre 2: 200; Pre 1: 300; Post 1: 600; Post 2: 1,000; Post 3: 600. For V E H: Pre 2: 280; Pre 1: 280; Post 1:300; Post 2: 500; Post 3: 400. For 30 n m o l I S O: Pre 2: 400; Pre 1: 500; Post 1: 700; Post 2: 600; Post 3: 750. For 3 n m o l I S O: Pre 2: 400; Pre 1: 300; Post 1: 500; Post 2: 500; Post 3: 750.&#10;&#10;A bar graph depicts data on the time spent awake in seconds as a result of wakefulness promoting effects of adrenergic agonists infused into the lateral hypothalamic area of rats. The X axis measures post 1 time awake and the Y axis measures time in seconds from 0 through 1,800 with increments of 300. Approximate data follows. For V E H: 300; For 10 n m o l P H E N and 10 n m o l I S O: 600; For P H E N or I S O: 1,050.">
            <a:extLst>
              <a:ext uri="{FF2B5EF4-FFF2-40B4-BE49-F238E27FC236}">
                <a16:creationId xmlns:a16="http://schemas.microsoft.com/office/drawing/2014/main" id="{C7FE7CCD-10C0-7A42-97BA-27AAC66B12CD}"/>
              </a:ext>
            </a:extLst>
          </p:cNvPr>
          <p:cNvPicPr>
            <a:picLocks noGrp="1" noChangeAspect="1"/>
          </p:cNvPicPr>
          <p:nvPr>
            <p:ph sz="quarter" idx="10"/>
          </p:nvPr>
        </p:nvPicPr>
        <p:blipFill>
          <a:blip r:embed="rId3"/>
          <a:stretch>
            <a:fillRect/>
          </a:stretch>
        </p:blipFill>
        <p:spPr>
          <a:xfrm>
            <a:off x="407988" y="1465630"/>
            <a:ext cx="11376025" cy="4328377"/>
          </a:xfrm>
        </p:spPr>
      </p:pic>
    </p:spTree>
    <p:extLst>
      <p:ext uri="{BB962C8B-B14F-4D97-AF65-F5344CB8AC3E}">
        <p14:creationId xmlns:p14="http://schemas.microsoft.com/office/powerpoint/2010/main" val="8056022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955" y="274638"/>
            <a:ext cx="11174859" cy="1143000"/>
          </a:xfrm>
        </p:spPr>
        <p:txBody>
          <a:bodyPr>
            <a:normAutofit/>
          </a:bodyPr>
          <a:lstStyle/>
          <a:p>
            <a:r>
              <a:rPr lang="en-US" dirty="0"/>
              <a:t>Organization and Function of the Noradrenergic System </a:t>
            </a:r>
            <a:r>
              <a:rPr lang="en-US" sz="1200" dirty="0"/>
              <a:t>(6 of 11)</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ts val="1200"/>
              </a:spcBef>
              <a:buNone/>
            </a:pPr>
            <a:r>
              <a:rPr lang="en-US" sz="3500" dirty="0"/>
              <a:t>The central noradrenergic system plays a significant role in arousal, cognition, and the consolidation of emotional memories</a:t>
            </a:r>
          </a:p>
          <a:p>
            <a:pPr marL="571500">
              <a:spcBef>
                <a:spcPts val="1800"/>
              </a:spcBef>
            </a:pPr>
            <a:r>
              <a:rPr lang="en-US" sz="3000" dirty="0"/>
              <a:t>LC also projects to the PFC, which expresses α</a:t>
            </a:r>
            <a:r>
              <a:rPr lang="en-US" sz="3000" baseline="-25000" dirty="0"/>
              <a:t>1</a:t>
            </a:r>
            <a:r>
              <a:rPr lang="en-US" sz="3000" dirty="0"/>
              <a:t>-, α</a:t>
            </a:r>
            <a:r>
              <a:rPr lang="en-US" sz="3000" baseline="-25000" dirty="0"/>
              <a:t>2</a:t>
            </a:r>
            <a:r>
              <a:rPr lang="en-US" sz="3000" dirty="0"/>
              <a:t>-, and β-receptors; facilitates cognition</a:t>
            </a:r>
          </a:p>
          <a:p>
            <a:pPr marL="571500">
              <a:spcBef>
                <a:spcPts val="1800"/>
              </a:spcBef>
            </a:pPr>
            <a:r>
              <a:rPr lang="en-US" sz="3000" dirty="0"/>
              <a:t>An α</a:t>
            </a:r>
            <a:r>
              <a:rPr lang="en-US" sz="3000" baseline="-25000" dirty="0"/>
              <a:t>2</a:t>
            </a:r>
            <a:r>
              <a:rPr lang="en-US" sz="3000" dirty="0"/>
              <a:t>-receptor agonist such as clonidine or </a:t>
            </a:r>
            <a:r>
              <a:rPr lang="en-US" sz="3000" b="1" dirty="0"/>
              <a:t>guanfacine</a:t>
            </a:r>
            <a:r>
              <a:rPr lang="en-US" sz="3000" dirty="0"/>
              <a:t> enhances working memory; activation of α</a:t>
            </a:r>
            <a:r>
              <a:rPr lang="en-US" sz="3000" baseline="-25000" dirty="0"/>
              <a:t>1</a:t>
            </a:r>
            <a:r>
              <a:rPr lang="en-US" sz="3000" dirty="0"/>
              <a:t>-receptors (lower affinity) decreases cognitive functions</a:t>
            </a:r>
          </a:p>
          <a:p>
            <a:pPr marL="571500">
              <a:spcBef>
                <a:spcPts val="1800"/>
              </a:spcBef>
            </a:pPr>
            <a:r>
              <a:rPr lang="en-US" sz="3000" dirty="0"/>
              <a:t>Optimal cognitive function occurs at moderate amounts of NE release</a:t>
            </a:r>
          </a:p>
        </p:txBody>
      </p:sp>
    </p:spTree>
    <p:extLst>
      <p:ext uri="{BB962C8B-B14F-4D97-AF65-F5344CB8AC3E}">
        <p14:creationId xmlns:p14="http://schemas.microsoft.com/office/powerpoint/2010/main" val="4170936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08E41-10A5-4D4E-8D93-7130C80EB7E9}"/>
              </a:ext>
            </a:extLst>
          </p:cNvPr>
          <p:cNvSpPr>
            <a:spLocks noGrp="1"/>
          </p:cNvSpPr>
          <p:nvPr>
            <p:ph type="title"/>
          </p:nvPr>
        </p:nvSpPr>
        <p:spPr/>
        <p:txBody>
          <a:bodyPr/>
          <a:lstStyle/>
          <a:p>
            <a:r>
              <a:rPr lang="en-US" dirty="0"/>
              <a:t>FIGURE 5.18  Guanfacine facilitation of working memory in aged monkeys </a:t>
            </a:r>
          </a:p>
        </p:txBody>
      </p:sp>
      <p:pic>
        <p:nvPicPr>
          <p:cNvPr id="6" name="Content Placeholder 5" descr="A bar graph contains data on the guanfacine facilitation of working memory in aged monkeys. The Y axis measures change from control percentage from negative 15 through positive 10 with increments of 5. The distractions are plotted above in the form of Cue, delay, and response, from left to right. The data follows. For SAL CON: 0; For SAL district, negative 7.5; for GFC district, positive 2.5."/>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983563" y="479425"/>
            <a:ext cx="6224874" cy="6300788"/>
          </a:xfrm>
        </p:spPr>
      </p:pic>
    </p:spTree>
    <p:extLst>
      <p:ext uri="{BB962C8B-B14F-4D97-AF65-F5344CB8AC3E}">
        <p14:creationId xmlns:p14="http://schemas.microsoft.com/office/powerpoint/2010/main" val="36371636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10BBB-0BFA-434B-9D06-B54901E2EE00}"/>
              </a:ext>
            </a:extLst>
          </p:cNvPr>
          <p:cNvSpPr>
            <a:spLocks noGrp="1"/>
          </p:cNvSpPr>
          <p:nvPr>
            <p:ph type="title"/>
          </p:nvPr>
        </p:nvSpPr>
        <p:spPr/>
        <p:txBody>
          <a:bodyPr/>
          <a:lstStyle/>
          <a:p>
            <a:r>
              <a:rPr lang="en-US" dirty="0"/>
              <a:t>FIGURE 5.19  Modulation of arousal and working memory by adrenergic receptor subtypes in the prefrontal cortex  </a:t>
            </a:r>
          </a:p>
        </p:txBody>
      </p:sp>
      <p:pic>
        <p:nvPicPr>
          <p:cNvPr id="6" name="Content Placeholder 5" descr="An illustration in the form of a semi-circle depicts the P F C N E activity. The X axis measures the activity from low to high from left to right. The Y axis measures the working memory performance from low to optimal from bottom to top. The semi-circle showing the activity starts from left bottom, peaks halfway and troughs at far right. The sedation is low on the left bottom side and high at the right bottom side. The optimal portion is at the mid top marked with dotted lines meeting the Y axis at left. The left portion is marked as alpha subscript 2 and the right side is marked as alpha subscript 1.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851670" y="479425"/>
            <a:ext cx="10488661" cy="6300788"/>
          </a:xfrm>
        </p:spPr>
      </p:pic>
    </p:spTree>
    <p:extLst>
      <p:ext uri="{BB962C8B-B14F-4D97-AF65-F5344CB8AC3E}">
        <p14:creationId xmlns:p14="http://schemas.microsoft.com/office/powerpoint/2010/main" val="30072266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87952D5-0537-4345-AD40-4841ABCD3B98}"/>
              </a:ext>
            </a:extLst>
          </p:cNvPr>
          <p:cNvSpPr>
            <a:spLocks noGrp="1"/>
          </p:cNvSpPr>
          <p:nvPr>
            <p:ph type="title"/>
          </p:nvPr>
        </p:nvSpPr>
        <p:spPr>
          <a:xfrm>
            <a:off x="547955" y="274638"/>
            <a:ext cx="11174859" cy="1143000"/>
          </a:xfrm>
        </p:spPr>
        <p:txBody>
          <a:bodyPr>
            <a:normAutofit/>
          </a:bodyPr>
          <a:lstStyle/>
          <a:p>
            <a:r>
              <a:rPr lang="en-US" dirty="0"/>
              <a:t>Organization and Function of the Noradrenergic System </a:t>
            </a:r>
            <a:r>
              <a:rPr lang="en-US" sz="1200" dirty="0"/>
              <a:t>(7 of 11)</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The central noradrenergic system plays a significant role in arousal, cognition, and the consolidation of emotional memories</a:t>
            </a:r>
          </a:p>
          <a:p>
            <a:pPr marL="571500">
              <a:spcBef>
                <a:spcPts val="1800"/>
              </a:spcBef>
            </a:pPr>
            <a:r>
              <a:rPr lang="en-US" sz="2800" dirty="0"/>
              <a:t>Stress associated with one-trial </a:t>
            </a:r>
            <a:r>
              <a:rPr lang="en-US" sz="2800" b="1" dirty="0"/>
              <a:t>passive avoidance learning </a:t>
            </a:r>
            <a:r>
              <a:rPr lang="en-US" sz="2800" dirty="0"/>
              <a:t>produces increased EPI and glucocorticoid secretion from the adrenal glands plus activation of LC neurons and increased release of NE</a:t>
            </a:r>
          </a:p>
          <a:p>
            <a:pPr marL="571500">
              <a:spcBef>
                <a:spcPts val="1800"/>
              </a:spcBef>
            </a:pPr>
            <a:r>
              <a:rPr lang="en-US" sz="2800" dirty="0"/>
              <a:t>A key brain structure is the basolateral amygdala (BLA). The amygdala also plays a role in other types of fear conditioning.</a:t>
            </a:r>
          </a:p>
        </p:txBody>
      </p:sp>
    </p:spTree>
    <p:extLst>
      <p:ext uri="{BB962C8B-B14F-4D97-AF65-F5344CB8AC3E}">
        <p14:creationId xmlns:p14="http://schemas.microsoft.com/office/powerpoint/2010/main" val="36056149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D9DF5-09A7-F94D-B807-785663E2E6E6}"/>
              </a:ext>
            </a:extLst>
          </p:cNvPr>
          <p:cNvSpPr>
            <a:spLocks noGrp="1"/>
          </p:cNvSpPr>
          <p:nvPr>
            <p:ph type="title"/>
          </p:nvPr>
        </p:nvSpPr>
        <p:spPr/>
        <p:txBody>
          <a:bodyPr/>
          <a:lstStyle/>
          <a:p>
            <a:r>
              <a:rPr lang="en-US" dirty="0"/>
              <a:t>FIGURE 5.20  Hypothesized mechanism of emotional memory consolidation </a:t>
            </a:r>
          </a:p>
        </p:txBody>
      </p:sp>
      <p:pic>
        <p:nvPicPr>
          <p:cNvPr id="6" name="Content Placeholder 5" descr="An illustration provides data on the hypothesized mechanism of emotional memory consolidation. A lady reading a book and a man standing in front of traffic lights in the background and a pair of crashed cars is at the left top. Arrows lead from there to the adrenal gland at far right. Arrows lead below to hippocampal formation, caudate nucleus, and the nucleus accumbens. These three are interconnected below severally to the insular orbitofrontal association prefrontal cortex. An arrow from the adrenal gland at right flow via the epinephrine to the norepinephrine to the B L A. Another arrow flows downward to glucocorticoids to the B L A and directly to the nucleus accumbens and the cortex below. The B L A also leads to the hippocampal formation, caudate nucleus, and the nucleus accumbens.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970911" y="479425"/>
            <a:ext cx="6250179" cy="6300788"/>
          </a:xfrm>
        </p:spPr>
      </p:pic>
    </p:spTree>
    <p:extLst>
      <p:ext uri="{BB962C8B-B14F-4D97-AF65-F5344CB8AC3E}">
        <p14:creationId xmlns:p14="http://schemas.microsoft.com/office/powerpoint/2010/main" val="41574142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78156739-1D71-4D5B-87C0-A4E6873E1709}"/>
              </a:ext>
            </a:extLst>
          </p:cNvPr>
          <p:cNvSpPr>
            <a:spLocks noGrp="1"/>
          </p:cNvSpPr>
          <p:nvPr>
            <p:ph type="title"/>
          </p:nvPr>
        </p:nvSpPr>
        <p:spPr>
          <a:xfrm>
            <a:off x="547955" y="274638"/>
            <a:ext cx="11174859" cy="1143000"/>
          </a:xfrm>
        </p:spPr>
        <p:txBody>
          <a:bodyPr>
            <a:normAutofit/>
          </a:bodyPr>
          <a:lstStyle/>
          <a:p>
            <a:r>
              <a:rPr lang="en-US" dirty="0"/>
              <a:t>Organization and Function of the Noradrenergic System </a:t>
            </a:r>
            <a:r>
              <a:rPr lang="en-US" sz="1200" dirty="0"/>
              <a:t>(8 of 11)</a:t>
            </a:r>
            <a:endParaRPr lang="en-US" dirty="0"/>
          </a:p>
        </p:txBody>
      </p:sp>
      <p:sp>
        <p:nvSpPr>
          <p:cNvPr id="3" name="Text Placeholder 2"/>
          <p:cNvSpPr>
            <a:spLocks noGrp="1"/>
          </p:cNvSpPr>
          <p:nvPr>
            <p:ph idx="1"/>
          </p:nvPr>
        </p:nvSpPr>
        <p:spPr>
          <a:xfrm>
            <a:off x="609600" y="1857781"/>
            <a:ext cx="10972800" cy="4525963"/>
          </a:xfrm>
        </p:spPr>
        <p:txBody>
          <a:bodyPr>
            <a:normAutofit lnSpcReduction="10000"/>
          </a:bodyPr>
          <a:lstStyle/>
          <a:p>
            <a:pPr marL="457200" indent="-457200">
              <a:spcBef>
                <a:spcPts val="1200"/>
              </a:spcBef>
              <a:buNone/>
            </a:pPr>
            <a:r>
              <a:rPr lang="en-US" dirty="0"/>
              <a:t>Several medications work by stimulating or inhibiting peripheral adrenergic receptors</a:t>
            </a:r>
          </a:p>
          <a:p>
            <a:pPr marL="571500">
              <a:spcBef>
                <a:spcPts val="1800"/>
              </a:spcBef>
            </a:pPr>
            <a:r>
              <a:rPr lang="en-US" sz="2800" dirty="0"/>
              <a:t>Asthma and COPD: treated with β</a:t>
            </a:r>
            <a:r>
              <a:rPr lang="en-US" sz="2800" baseline="-25000" dirty="0"/>
              <a:t>2</a:t>
            </a:r>
            <a:r>
              <a:rPr lang="en-US" sz="2800" dirty="0"/>
              <a:t>-adrenoceptor agonists  including </a:t>
            </a:r>
            <a:r>
              <a:rPr lang="en-US" sz="2800" b="1" dirty="0"/>
              <a:t>albuterol (Ventolin)</a:t>
            </a:r>
            <a:r>
              <a:rPr lang="en-US" sz="2800" dirty="0"/>
              <a:t> and </a:t>
            </a:r>
            <a:r>
              <a:rPr lang="en-US" sz="2800" b="1" dirty="0"/>
              <a:t>levalbuterol (Xopenex)</a:t>
            </a:r>
          </a:p>
          <a:p>
            <a:pPr marL="571500">
              <a:spcBef>
                <a:spcPts val="1800"/>
              </a:spcBef>
            </a:pPr>
            <a:r>
              <a:rPr lang="en-US" sz="2800" dirty="0"/>
              <a:t>The α</a:t>
            </a:r>
            <a:r>
              <a:rPr lang="en-US" sz="2800" baseline="-25000" dirty="0"/>
              <a:t>1</a:t>
            </a:r>
            <a:r>
              <a:rPr lang="en-US" sz="2800" dirty="0"/>
              <a:t>-receptor agonist phenylephrine is an ingredient in OTC decongestant medications – constricts blood vessels </a:t>
            </a:r>
          </a:p>
          <a:p>
            <a:pPr marL="571500">
              <a:spcBef>
                <a:spcPts val="1800"/>
              </a:spcBef>
            </a:pPr>
            <a:r>
              <a:rPr lang="en-US" sz="2800" dirty="0"/>
              <a:t>α</a:t>
            </a:r>
            <a:r>
              <a:rPr lang="en-US" sz="2800" baseline="-25000" dirty="0"/>
              <a:t>2</a:t>
            </a:r>
            <a:r>
              <a:rPr lang="en-US" sz="2800" dirty="0"/>
              <a:t>-receptor agonists such as clonidine treat hypertension by inhibiting the sympathetic nervous system while stimulating the parasympathetic system.</a:t>
            </a:r>
          </a:p>
        </p:txBody>
      </p:sp>
    </p:spTree>
    <p:extLst>
      <p:ext uri="{BB962C8B-B14F-4D97-AF65-F5344CB8AC3E}">
        <p14:creationId xmlns:p14="http://schemas.microsoft.com/office/powerpoint/2010/main" val="20865207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FE51447-62F0-4C30-B96D-6E2E6E5B6581}"/>
              </a:ext>
            </a:extLst>
          </p:cNvPr>
          <p:cNvSpPr>
            <a:spLocks noGrp="1"/>
          </p:cNvSpPr>
          <p:nvPr>
            <p:ph type="title"/>
          </p:nvPr>
        </p:nvSpPr>
        <p:spPr>
          <a:xfrm>
            <a:off x="547955" y="274638"/>
            <a:ext cx="11174859" cy="1143000"/>
          </a:xfrm>
        </p:spPr>
        <p:txBody>
          <a:bodyPr>
            <a:normAutofit/>
          </a:bodyPr>
          <a:lstStyle/>
          <a:p>
            <a:r>
              <a:rPr lang="en-US" dirty="0"/>
              <a:t>Organization and Function of the Noradrenergic System </a:t>
            </a:r>
            <a:r>
              <a:rPr lang="en-US" sz="1200" dirty="0"/>
              <a:t>(9 of 11)</a:t>
            </a:r>
            <a:endParaRPr lang="en-US" dirty="0"/>
          </a:p>
        </p:txBody>
      </p:sp>
      <p:sp>
        <p:nvSpPr>
          <p:cNvPr id="3" name="Text Placeholder 2"/>
          <p:cNvSpPr>
            <a:spLocks noGrp="1"/>
          </p:cNvSpPr>
          <p:nvPr>
            <p:ph idx="1"/>
          </p:nvPr>
        </p:nvSpPr>
        <p:spPr>
          <a:xfrm>
            <a:off x="609600" y="1857781"/>
            <a:ext cx="10972800" cy="4525963"/>
          </a:xfrm>
        </p:spPr>
        <p:txBody>
          <a:bodyPr>
            <a:normAutofit lnSpcReduction="10000"/>
          </a:bodyPr>
          <a:lstStyle/>
          <a:p>
            <a:pPr marL="457200" indent="-457200">
              <a:spcBef>
                <a:spcPts val="1200"/>
              </a:spcBef>
              <a:buNone/>
            </a:pPr>
            <a:r>
              <a:rPr lang="en-US" dirty="0"/>
              <a:t>Several medications work by stimulating or inhibiting peripheral adrenergic receptors</a:t>
            </a:r>
          </a:p>
          <a:p>
            <a:pPr marL="571500">
              <a:spcBef>
                <a:spcPts val="1800"/>
              </a:spcBef>
            </a:pPr>
            <a:r>
              <a:rPr lang="en-US" sz="2800" b="1" dirty="0"/>
              <a:t>Dexmedetomidine (</a:t>
            </a:r>
            <a:r>
              <a:rPr lang="en-US" sz="2800" b="1" dirty="0" err="1"/>
              <a:t>Precedex</a:t>
            </a:r>
            <a:r>
              <a:rPr lang="en-US" sz="2800" b="1" dirty="0"/>
              <a:t>)</a:t>
            </a:r>
            <a:r>
              <a:rPr lang="en-US" sz="2800" dirty="0"/>
              <a:t>: α</a:t>
            </a:r>
            <a:r>
              <a:rPr lang="en-US" sz="2800" baseline="-25000" dirty="0"/>
              <a:t>2</a:t>
            </a:r>
            <a:r>
              <a:rPr lang="en-US" sz="2800" dirty="0"/>
              <a:t>-agonist with combined sedative, anxiolytic, and analgesic effects</a:t>
            </a:r>
          </a:p>
          <a:p>
            <a:pPr marL="571500">
              <a:spcBef>
                <a:spcPts val="1800"/>
              </a:spcBef>
            </a:pPr>
            <a:r>
              <a:rPr lang="en-US" sz="2800" dirty="0"/>
              <a:t>Isoproterenol (</a:t>
            </a:r>
            <a:r>
              <a:rPr lang="en-US" sz="2800" b="1" dirty="0" err="1"/>
              <a:t>Isuprel</a:t>
            </a:r>
            <a:r>
              <a:rPr lang="en-US" sz="2800" dirty="0"/>
              <a:t>): </a:t>
            </a:r>
            <a:r>
              <a:rPr lang="el-GR" sz="2800" dirty="0"/>
              <a:t>β-</a:t>
            </a:r>
            <a:r>
              <a:rPr lang="en-US" sz="2800" dirty="0"/>
              <a:t>receptor agonist; treats bradycardia</a:t>
            </a:r>
          </a:p>
          <a:p>
            <a:pPr marL="571500">
              <a:spcBef>
                <a:spcPts val="1800"/>
              </a:spcBef>
            </a:pPr>
            <a:r>
              <a:rPr lang="en-US" sz="2800" dirty="0"/>
              <a:t>Yohimbine (</a:t>
            </a:r>
            <a:r>
              <a:rPr lang="en-US" sz="2800" b="1" dirty="0" err="1"/>
              <a:t>Yocon</a:t>
            </a:r>
            <a:r>
              <a:rPr lang="en-US" sz="2800" dirty="0"/>
              <a:t>): </a:t>
            </a:r>
            <a:r>
              <a:rPr lang="el-GR" sz="2800" dirty="0"/>
              <a:t>α</a:t>
            </a:r>
            <a:r>
              <a:rPr lang="el-GR" sz="2800" baseline="-25000" dirty="0"/>
              <a:t>2</a:t>
            </a:r>
            <a:r>
              <a:rPr lang="el-GR" sz="2800" dirty="0"/>
              <a:t>-</a:t>
            </a:r>
            <a:r>
              <a:rPr lang="en-US" sz="2800" dirty="0"/>
              <a:t>antagonist; treats male sexual impotence</a:t>
            </a:r>
          </a:p>
          <a:p>
            <a:pPr marL="571500">
              <a:spcBef>
                <a:spcPts val="1800"/>
              </a:spcBef>
            </a:pPr>
            <a:r>
              <a:rPr lang="en-US" sz="2800" b="1" dirty="0"/>
              <a:t>Prazosin (Minipress)</a:t>
            </a:r>
            <a:r>
              <a:rPr lang="en-US" sz="2800" dirty="0"/>
              <a:t>: </a:t>
            </a:r>
            <a:r>
              <a:rPr lang="el-GR" sz="2800" dirty="0"/>
              <a:t>α</a:t>
            </a:r>
            <a:r>
              <a:rPr lang="el-GR" sz="2800" baseline="-25000" dirty="0"/>
              <a:t>1</a:t>
            </a:r>
            <a:r>
              <a:rPr lang="el-GR" sz="2800" dirty="0"/>
              <a:t>-</a:t>
            </a:r>
            <a:r>
              <a:rPr lang="en-US" sz="2800" dirty="0"/>
              <a:t>antagonist; treats hypertension by dilating blood vessels</a:t>
            </a:r>
          </a:p>
        </p:txBody>
      </p:sp>
    </p:spTree>
    <p:extLst>
      <p:ext uri="{BB962C8B-B14F-4D97-AF65-F5344CB8AC3E}">
        <p14:creationId xmlns:p14="http://schemas.microsoft.com/office/powerpoint/2010/main" val="33631604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912CF89-1EBF-4579-9015-10AAD53D56B6}"/>
              </a:ext>
            </a:extLst>
          </p:cNvPr>
          <p:cNvSpPr>
            <a:spLocks noGrp="1"/>
          </p:cNvSpPr>
          <p:nvPr>
            <p:ph type="title"/>
          </p:nvPr>
        </p:nvSpPr>
        <p:spPr>
          <a:xfrm>
            <a:off x="547955" y="274638"/>
            <a:ext cx="11174859" cy="1143000"/>
          </a:xfrm>
        </p:spPr>
        <p:txBody>
          <a:bodyPr>
            <a:normAutofit/>
          </a:bodyPr>
          <a:lstStyle/>
          <a:p>
            <a:r>
              <a:rPr lang="en-US" dirty="0"/>
              <a:t>Organization and Function of the Noradrenergic System </a:t>
            </a:r>
            <a:r>
              <a:rPr lang="en-US" sz="1200" dirty="0"/>
              <a:t>(10 of 11)</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20000"/>
          </a:bodyPr>
          <a:lstStyle/>
          <a:p>
            <a:pPr marL="457200" indent="-457200">
              <a:spcBef>
                <a:spcPts val="1200"/>
              </a:spcBef>
              <a:buNone/>
            </a:pPr>
            <a:r>
              <a:rPr lang="en-US" sz="3500" dirty="0"/>
              <a:t>Several medications work by stimulating or inhibiting peripheral adrenergic receptors</a:t>
            </a:r>
          </a:p>
          <a:p>
            <a:pPr marL="571500">
              <a:spcBef>
                <a:spcPts val="1800"/>
              </a:spcBef>
            </a:pPr>
            <a:r>
              <a:rPr lang="en-US" sz="3000" b="1" dirty="0"/>
              <a:t>Propranolol (Inderal)</a:t>
            </a:r>
            <a:r>
              <a:rPr lang="en-US" sz="3000" dirty="0"/>
              <a:t>: </a:t>
            </a:r>
            <a:r>
              <a:rPr lang="el-GR" sz="3000" dirty="0"/>
              <a:t>β-</a:t>
            </a:r>
            <a:r>
              <a:rPr lang="en-US" sz="3000" dirty="0"/>
              <a:t>antagonist; treats hypertension by blocking β-receptors in the heart, reducing its contractile force</a:t>
            </a:r>
          </a:p>
          <a:p>
            <a:pPr marL="571500">
              <a:spcBef>
                <a:spcPts val="1800"/>
              </a:spcBef>
            </a:pPr>
            <a:r>
              <a:rPr lang="el-GR" sz="3000" dirty="0"/>
              <a:t>β</a:t>
            </a:r>
            <a:r>
              <a:rPr lang="el-GR" sz="3000" baseline="-25000" dirty="0"/>
              <a:t>1</a:t>
            </a:r>
            <a:r>
              <a:rPr lang="el-GR" sz="3000" dirty="0"/>
              <a:t>-</a:t>
            </a:r>
            <a:r>
              <a:rPr lang="en-US" sz="3000" dirty="0"/>
              <a:t>selective antagonists such as </a:t>
            </a:r>
            <a:r>
              <a:rPr lang="en-US" sz="3000" b="1" dirty="0"/>
              <a:t>metoprolol (Lopressor)</a:t>
            </a:r>
            <a:r>
              <a:rPr lang="en-US" sz="3000" dirty="0"/>
              <a:t> have fewer side effects</a:t>
            </a:r>
          </a:p>
          <a:p>
            <a:pPr marL="571500">
              <a:spcBef>
                <a:spcPts val="1800"/>
              </a:spcBef>
            </a:pPr>
            <a:r>
              <a:rPr lang="en-US" sz="3000" b="1" dirty="0"/>
              <a:t>Midodrine (</a:t>
            </a:r>
            <a:r>
              <a:rPr lang="en-US" sz="3000" b="1" dirty="0" err="1"/>
              <a:t>ProAmatine</a:t>
            </a:r>
            <a:r>
              <a:rPr lang="en-US" sz="3000" b="1" dirty="0"/>
              <a:t>)</a:t>
            </a:r>
            <a:r>
              <a:rPr lang="en-US" sz="3000" dirty="0"/>
              <a:t> and </a:t>
            </a:r>
            <a:r>
              <a:rPr lang="en-US" sz="3000" b="1" dirty="0"/>
              <a:t>metaraminol (</a:t>
            </a:r>
            <a:r>
              <a:rPr lang="en-US" sz="3000" b="1" dirty="0" err="1"/>
              <a:t>Aramine</a:t>
            </a:r>
            <a:r>
              <a:rPr lang="en-US" sz="3000" b="1" dirty="0"/>
              <a:t>)</a:t>
            </a:r>
            <a:r>
              <a:rPr lang="en-US" sz="3000" dirty="0"/>
              <a:t>: α</a:t>
            </a:r>
            <a:r>
              <a:rPr lang="en-US" sz="3000" baseline="-25000" dirty="0"/>
              <a:t>1</a:t>
            </a:r>
            <a:r>
              <a:rPr lang="en-US" sz="3000" dirty="0"/>
              <a:t>-agonists; treat hypotension</a:t>
            </a:r>
          </a:p>
          <a:p>
            <a:pPr marL="571500">
              <a:spcBef>
                <a:spcPts val="1800"/>
              </a:spcBef>
            </a:pPr>
            <a:r>
              <a:rPr lang="en-US" sz="3000" dirty="0"/>
              <a:t>Propranolol and other β-antagonists (beta blockers) are also used to treat generalized anxiety disorder</a:t>
            </a:r>
          </a:p>
        </p:txBody>
      </p:sp>
    </p:spTree>
    <p:extLst>
      <p:ext uri="{BB962C8B-B14F-4D97-AF65-F5344CB8AC3E}">
        <p14:creationId xmlns:p14="http://schemas.microsoft.com/office/powerpoint/2010/main" val="15675723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74638"/>
            <a:ext cx="11203173" cy="1143000"/>
          </a:xfrm>
        </p:spPr>
        <p:txBody>
          <a:bodyPr/>
          <a:lstStyle/>
          <a:p>
            <a:r>
              <a:rPr lang="en-US" dirty="0"/>
              <a:t>Organization and Function of the Noradrenergic System </a:t>
            </a:r>
            <a:r>
              <a:rPr lang="en-US" sz="1200" dirty="0"/>
              <a:t>(11 of 11)</a:t>
            </a:r>
            <a:endParaRPr lang="en-US" dirty="0"/>
          </a:p>
        </p:txBody>
      </p:sp>
      <p:sp>
        <p:nvSpPr>
          <p:cNvPr id="3" name="Text Placeholder 2"/>
          <p:cNvSpPr>
            <a:spLocks noGrp="1"/>
          </p:cNvSpPr>
          <p:nvPr>
            <p:ph idx="1"/>
          </p:nvPr>
        </p:nvSpPr>
        <p:spPr/>
        <p:txBody>
          <a:bodyPr>
            <a:normAutofit/>
          </a:bodyPr>
          <a:lstStyle/>
          <a:p>
            <a:pPr marL="0" indent="0">
              <a:spcBef>
                <a:spcPts val="1200"/>
              </a:spcBef>
              <a:buNone/>
            </a:pPr>
            <a:r>
              <a:rPr lang="en-US" sz="2400" u="sng" dirty="0"/>
              <a:t>CLICKER QUESTION 3</a:t>
            </a:r>
          </a:p>
          <a:p>
            <a:pPr marL="457200" indent="-457200">
              <a:spcBef>
                <a:spcPts val="2400"/>
              </a:spcBef>
              <a:buNone/>
            </a:pPr>
            <a:r>
              <a:rPr lang="en-US" dirty="0"/>
              <a:t>Which type of adrenoceptor uses the phosphoinositide second-messenger system?</a:t>
            </a:r>
          </a:p>
          <a:p>
            <a:pPr marL="914400" indent="-457200">
              <a:spcBef>
                <a:spcPts val="1200"/>
              </a:spcBef>
              <a:buFont typeface="Arial" pitchFamily="34" charset="0"/>
              <a:buAutoNum type="alphaLcPeriod"/>
            </a:pPr>
            <a:r>
              <a:rPr lang="el-GR" dirty="0"/>
              <a:t>α</a:t>
            </a:r>
            <a:r>
              <a:rPr lang="el-GR" baseline="-25000" dirty="0"/>
              <a:t>1</a:t>
            </a:r>
            <a:r>
              <a:rPr lang="el-GR" dirty="0"/>
              <a:t> </a:t>
            </a:r>
            <a:r>
              <a:rPr lang="en-US" dirty="0"/>
              <a:t>subtype receptors</a:t>
            </a:r>
          </a:p>
          <a:p>
            <a:pPr marL="914400" indent="-457200">
              <a:spcBef>
                <a:spcPts val="1200"/>
              </a:spcBef>
              <a:buFont typeface="Arial" pitchFamily="34" charset="0"/>
              <a:buAutoNum type="alphaLcPeriod"/>
            </a:pPr>
            <a:r>
              <a:rPr lang="el-GR" dirty="0"/>
              <a:t>α</a:t>
            </a:r>
            <a:r>
              <a:rPr lang="en-US" baseline="-25000" dirty="0"/>
              <a:t>2</a:t>
            </a:r>
            <a:r>
              <a:rPr lang="el-GR" dirty="0"/>
              <a:t> </a:t>
            </a:r>
            <a:r>
              <a:rPr lang="en-US" dirty="0"/>
              <a:t>subtype receptors</a:t>
            </a:r>
          </a:p>
          <a:p>
            <a:pPr marL="914400" indent="-457200">
              <a:spcBef>
                <a:spcPts val="1200"/>
              </a:spcBef>
              <a:buFont typeface="Arial" pitchFamily="34" charset="0"/>
              <a:buAutoNum type="alphaLcPeriod"/>
            </a:pPr>
            <a:r>
              <a:rPr lang="el-GR" dirty="0"/>
              <a:t>β</a:t>
            </a:r>
            <a:r>
              <a:rPr lang="el-GR" baseline="-25000" dirty="0"/>
              <a:t>1</a:t>
            </a:r>
            <a:r>
              <a:rPr lang="el-GR" dirty="0"/>
              <a:t> </a:t>
            </a:r>
            <a:r>
              <a:rPr lang="en-US" dirty="0"/>
              <a:t>subtype receptors</a:t>
            </a:r>
          </a:p>
          <a:p>
            <a:pPr marL="914400" indent="-457200">
              <a:spcBef>
                <a:spcPts val="1200"/>
              </a:spcBef>
              <a:buFont typeface="Arial" pitchFamily="34" charset="0"/>
              <a:buAutoNum type="alphaLcPeriod"/>
            </a:pPr>
            <a:r>
              <a:rPr lang="el-GR" dirty="0"/>
              <a:t>β</a:t>
            </a:r>
            <a:r>
              <a:rPr lang="en-US" baseline="-25000" dirty="0"/>
              <a:t>2</a:t>
            </a:r>
            <a:r>
              <a:rPr lang="el-GR" dirty="0"/>
              <a:t> </a:t>
            </a:r>
            <a:r>
              <a:rPr lang="en-US" dirty="0"/>
              <a:t>subtype receptors</a:t>
            </a:r>
          </a:p>
        </p:txBody>
      </p:sp>
    </p:spTree>
    <p:extLst>
      <p:ext uri="{BB962C8B-B14F-4D97-AF65-F5344CB8AC3E}">
        <p14:creationId xmlns:p14="http://schemas.microsoft.com/office/powerpoint/2010/main" val="17202292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 </a:t>
            </a:r>
            <a:r>
              <a:rPr lang="en-US" sz="1200" dirty="0"/>
              <a:t>(3 of 3)</a:t>
            </a:r>
            <a:endParaRPr lang="en-US" dirty="0"/>
          </a:p>
        </p:txBody>
      </p:sp>
      <p:sp>
        <p:nvSpPr>
          <p:cNvPr id="3" name="Text Placeholder 2"/>
          <p:cNvSpPr>
            <a:spLocks noGrp="1"/>
          </p:cNvSpPr>
          <p:nvPr>
            <p:ph idx="1"/>
          </p:nvPr>
        </p:nvSpPr>
        <p:spPr/>
        <p:txBody>
          <a:bodyPr>
            <a:normAutofit/>
          </a:bodyPr>
          <a:lstStyle/>
          <a:p>
            <a:pPr marL="914400" indent="-914400">
              <a:lnSpc>
                <a:spcPct val="120000"/>
              </a:lnSpc>
              <a:spcBef>
                <a:spcPts val="1800"/>
              </a:spcBef>
              <a:buNone/>
            </a:pPr>
            <a:r>
              <a:rPr lang="en-US" sz="2400" dirty="0"/>
              <a:t>5.3.1  Identify the primary source of forebrain NE, the main target areas innervated by noradrenergic fibers, and the physiological effects of peripheral NE originating in the sympathetic nervous system and the adrenal glands.</a:t>
            </a:r>
          </a:p>
          <a:p>
            <a:pPr marL="914400" indent="-914400">
              <a:lnSpc>
                <a:spcPct val="120000"/>
              </a:lnSpc>
              <a:spcBef>
                <a:spcPts val="1800"/>
              </a:spcBef>
              <a:buNone/>
            </a:pPr>
            <a:r>
              <a:rPr lang="en-US" sz="2400" dirty="0"/>
              <a:t>5.3.2  List the adrenergic receptor subtypes and their respective signaling mechanisms.</a:t>
            </a:r>
          </a:p>
          <a:p>
            <a:pPr marL="914400" indent="-914400">
              <a:lnSpc>
                <a:spcPct val="120000"/>
              </a:lnSpc>
              <a:spcBef>
                <a:spcPts val="1800"/>
              </a:spcBef>
              <a:buNone/>
            </a:pPr>
            <a:r>
              <a:rPr lang="en-US" sz="2400" dirty="0"/>
              <a:t>5.3.3  Explain the mechanisms by which the noradrenergic system helps regulate anxiety, arousal, cognition, and the consolidation of emotional memories.</a:t>
            </a:r>
          </a:p>
          <a:p>
            <a:pPr marL="914400" indent="-914400">
              <a:lnSpc>
                <a:spcPct val="120000"/>
              </a:lnSpc>
              <a:spcBef>
                <a:spcPts val="1800"/>
              </a:spcBef>
              <a:buNone/>
            </a:pPr>
            <a:r>
              <a:rPr lang="en-US" sz="2400" dirty="0"/>
              <a:t>5.3.4  Identify medical conditions or disorders that can be treated with peripherally acting noradrenergic drugs, and name the drugs used for these disorders.</a:t>
            </a:r>
          </a:p>
        </p:txBody>
      </p:sp>
    </p:spTree>
    <p:extLst>
      <p:ext uri="{BB962C8B-B14F-4D97-AF65-F5344CB8AC3E}">
        <p14:creationId xmlns:p14="http://schemas.microsoft.com/office/powerpoint/2010/main" val="2052350630"/>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93">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56919D-3723-464B-9967-427A087CBD61}">
  <ds:schemaRefs>
    <ds:schemaRef ds:uri="http://schemas.microsoft.com/office/2006/documentManagement/types"/>
    <ds:schemaRef ds:uri="http://schemas.openxmlformats.org/package/2006/metadata/core-properties"/>
    <ds:schemaRef ds:uri="a6c716b4-9090-4de7-aadc-2aa5f812ad24"/>
    <ds:schemaRef ds:uri="http://purl.org/dc/dcmitype/"/>
    <ds:schemaRef ds:uri="http://schemas.microsoft.com/office/infopath/2007/PartnerControls"/>
    <ds:schemaRef ds:uri="http://purl.org/dc/elements/1.1/"/>
    <ds:schemaRef ds:uri="http://schemas.microsoft.com/office/2006/metadata/properties"/>
    <ds:schemaRef ds:uri="fd39d560-5c7d-4158-98a0-f420f8fdebce"/>
    <ds:schemaRef ds:uri="http://www.w3.org/XML/1998/namespace"/>
    <ds:schemaRef ds:uri="http://purl.org/dc/terms/"/>
  </ds:schemaRefs>
</ds:datastoreItem>
</file>

<file path=customXml/itemProps2.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B57C1AB-C2BF-4446-AECB-681D578552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4260</TotalTime>
  <Words>4248</Words>
  <Application>Microsoft Office PowerPoint</Application>
  <PresentationFormat>Widescreen</PresentationFormat>
  <Paragraphs>391</Paragraphs>
  <Slides>59</Slides>
  <Notes>52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59</vt:i4>
      </vt:variant>
    </vt:vector>
  </HeadingPairs>
  <TitlesOfParts>
    <vt:vector size="68" baseType="lpstr">
      <vt:lpstr>ＭＳ Ｐゴシック</vt:lpstr>
      <vt:lpstr>Arial</vt:lpstr>
      <vt:lpstr>AvenirLTStd-Heavy</vt:lpstr>
      <vt:lpstr>Calibri</vt:lpstr>
      <vt:lpstr>Courier New</vt:lpstr>
      <vt:lpstr>DINPro-Bold</vt:lpstr>
      <vt:lpstr>PalatinoLTStd-Roman</vt:lpstr>
      <vt:lpstr>Text Content Templates</vt:lpstr>
      <vt:lpstr>Figure-Only Templates</vt:lpstr>
      <vt:lpstr>Psychopharmacology: Drugs, the Brain, and Behavior</vt:lpstr>
      <vt:lpstr>Chapter 5 Catecholamines</vt:lpstr>
      <vt:lpstr>Chapter 5 Learning Objectives (1 of 3)</vt:lpstr>
      <vt:lpstr>Chapter 5 Learning Objectives (2 of 3)</vt:lpstr>
      <vt:lpstr>Chapter 5 Learning Objectives (3 of 3)</vt:lpstr>
      <vt:lpstr>Catecholamine Synthesis, Release, and Inactivation (1 of 11)</vt:lpstr>
      <vt:lpstr>Catecholamine Synthesis, Release, and Inactivation (2 of 11)</vt:lpstr>
      <vt:lpstr>FIGURE 5.2  Multistep pathway of catecholamine synthesis </vt:lpstr>
      <vt:lpstr>Catecholamine Synthesis, Release, and Inactivation (3 of 11)</vt:lpstr>
      <vt:lpstr>Catecholamine Synthesis, Release, and Inactivation (4 of 11)</vt:lpstr>
      <vt:lpstr>FIGURE 5.5  A typical dopaminergic neuron </vt:lpstr>
      <vt:lpstr>Catecholamine Synthesis, Release, and Inactivation (5 of 11)</vt:lpstr>
      <vt:lpstr>Catecholamine Synthesis, Release, and Inactivation (6 of 11)</vt:lpstr>
      <vt:lpstr>Catecholamine Synthesis, Release, and Inactivation (7 of 11)</vt:lpstr>
      <vt:lpstr>FIGURE 5.7  Varicosities along the lengths of dopaminergic fibers </vt:lpstr>
      <vt:lpstr>Catecholamine Synthesis, Release, and Inactivation (8 of 11)</vt:lpstr>
      <vt:lpstr>FIGURE 5.8  Extracellular DA levels are strongly elevated by treatment with a DA reuptake inhibitor </vt:lpstr>
      <vt:lpstr>Catecholamine Synthesis, Release, and Inactivation (9 of 11)</vt:lpstr>
      <vt:lpstr>Catecholamine Synthesis, Release, and Inactivation (10 of 11)</vt:lpstr>
      <vt:lpstr>Catecholamine Synthesis, Release, and Inactivation (11 of 11)</vt:lpstr>
      <vt:lpstr>Review of Learning Objectives (1 of 3)</vt:lpstr>
      <vt:lpstr>Organization and Function of the Dopaminergic System (1 of 13)</vt:lpstr>
      <vt:lpstr>FIGURE 5.9  The ascending DA system can be divided into three pathways </vt:lpstr>
      <vt:lpstr>Organization and Function of the Dopaminergic System (2 of 13)</vt:lpstr>
      <vt:lpstr>FIGURE 5.10  Unilateral damage to the nigrostriatal pathway </vt:lpstr>
      <vt:lpstr>Organization and Function of the Dopaminergic System (3 of 13)</vt:lpstr>
      <vt:lpstr>Organization and Function of the Dopaminergic System (4 of 13)</vt:lpstr>
      <vt:lpstr>FIGURE 5.11  Different subsets of VTA dopaminergic neurons mediate the effects of rewarding versus aversive stimuli </vt:lpstr>
      <vt:lpstr>Organization and Function of the Dopaminergic System (5 of 13)</vt:lpstr>
      <vt:lpstr>FIGURE 5.12  Signaling mechanisms of D1 and D2 receptors </vt:lpstr>
      <vt:lpstr>Organization and Function of the Dopaminergic System (6 of 13)</vt:lpstr>
      <vt:lpstr>Organization and Function of the Dopaminergic System (7 of 13)</vt:lpstr>
      <vt:lpstr>Organization and Function of the Dopaminergic System (8 of 13)</vt:lpstr>
      <vt:lpstr>Organization and Function of the Dopaminergic System (9 of 13)</vt:lpstr>
      <vt:lpstr>Organization and Function of the Dopaminergic System (10 of 13)</vt:lpstr>
      <vt:lpstr>Organization and Function of the Dopaminergic System (11 of 13)</vt:lpstr>
      <vt:lpstr>Box 5.1  The Cutting Edge: Using Molecular Genetics to Study the Dopaminergic System (Part 1)</vt:lpstr>
      <vt:lpstr>Organization and Function of the Dopaminergic System (12 of 13)</vt:lpstr>
      <vt:lpstr>Box 5.1  The Cutting Edge: Using Molecular Genetics to Study the Dopaminergic System (Part 2)</vt:lpstr>
      <vt:lpstr>Organization and Function of the Dopaminergic System (13 of 13)</vt:lpstr>
      <vt:lpstr>Review of Learning Objectives (2 of 3)</vt:lpstr>
      <vt:lpstr>Organization and Function of the Noradrenergic System (1 of 11)</vt:lpstr>
      <vt:lpstr>FIGURE 5.15  The locus coeruleus (LC) sends fibers to much of the brain </vt:lpstr>
      <vt:lpstr>Organization and Function of the Noradrenergic System (2 of 11)</vt:lpstr>
      <vt:lpstr>Organization and Function of the Noradrenergic System (3 of 11)</vt:lpstr>
      <vt:lpstr>Organization and Function of the Noradrenergic System (4 of 11)</vt:lpstr>
      <vt:lpstr>FIGURE 5.16  Effects of pro- and anti-anxiety drugs on open-arm time in the humanized elevated plus-maze </vt:lpstr>
      <vt:lpstr>Organization and Function of the Noradrenergic System (5 of 11)</vt:lpstr>
      <vt:lpstr>FIGURE 5.17  Wakefulness-promoting effects of adrenergic agonists infused into the lateral hypothalamic area </vt:lpstr>
      <vt:lpstr>Organization and Function of the Noradrenergic System (6 of 11)</vt:lpstr>
      <vt:lpstr>FIGURE 5.18  Guanfacine facilitation of working memory in aged monkeys </vt:lpstr>
      <vt:lpstr>FIGURE 5.19  Modulation of arousal and working memory by adrenergic receptor subtypes in the prefrontal cortex  </vt:lpstr>
      <vt:lpstr>Organization and Function of the Noradrenergic System (7 of 11)</vt:lpstr>
      <vt:lpstr>FIGURE 5.20  Hypothesized mechanism of emotional memory consolidation </vt:lpstr>
      <vt:lpstr>Organization and Function of the Noradrenergic System (8 of 11)</vt:lpstr>
      <vt:lpstr>Organization and Function of the Noradrenergic System (9 of 11)</vt:lpstr>
      <vt:lpstr>Organization and Function of the Noradrenergic System (10 of 11)</vt:lpstr>
      <vt:lpstr>Organization and Function of the Noradrenergic System (11 of 11)</vt:lpstr>
      <vt:lpstr>Review of Learning Objectives (3 of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67</cp:revision>
  <dcterms:created xsi:type="dcterms:W3CDTF">2021-11-13T04:08:54Z</dcterms:created>
  <dcterms:modified xsi:type="dcterms:W3CDTF">2022-03-07T23:59:53Z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