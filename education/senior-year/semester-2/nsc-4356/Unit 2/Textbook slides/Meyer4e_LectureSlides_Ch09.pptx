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 ContentType="image/tif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 id="2147483681" r:id="rId5"/>
  </p:sldMasterIdLst>
  <p:notesMasterIdLst>
    <p:notesMasterId r:id="rId68"/>
  </p:notesMasterIdLst>
  <p:handoutMasterIdLst>
    <p:handoutMasterId r:id="rId69"/>
  </p:handoutMasterIdLst>
  <p:sldIdLst>
    <p:sldId id="349" r:id="rId6"/>
    <p:sldId id="270" r:id="rId7"/>
    <p:sldId id="274" r:id="rId8"/>
    <p:sldId id="288" r:id="rId9"/>
    <p:sldId id="289" r:id="rId10"/>
    <p:sldId id="290" r:id="rId11"/>
    <p:sldId id="271" r:id="rId12"/>
    <p:sldId id="350" r:id="rId13"/>
    <p:sldId id="291" r:id="rId14"/>
    <p:sldId id="292" r:id="rId15"/>
    <p:sldId id="345" r:id="rId16"/>
    <p:sldId id="293" r:id="rId17"/>
    <p:sldId id="296" r:id="rId18"/>
    <p:sldId id="298" r:id="rId19"/>
    <p:sldId id="286" r:id="rId20"/>
    <p:sldId id="299" r:id="rId21"/>
    <p:sldId id="351" r:id="rId22"/>
    <p:sldId id="300" r:id="rId23"/>
    <p:sldId id="285" r:id="rId24"/>
    <p:sldId id="346" r:id="rId25"/>
    <p:sldId id="303" r:id="rId26"/>
    <p:sldId id="352" r:id="rId27"/>
    <p:sldId id="304" r:id="rId28"/>
    <p:sldId id="305" r:id="rId29"/>
    <p:sldId id="353" r:id="rId30"/>
    <p:sldId id="307" r:id="rId31"/>
    <p:sldId id="309" r:id="rId32"/>
    <p:sldId id="311" r:id="rId33"/>
    <p:sldId id="312" r:id="rId34"/>
    <p:sldId id="354" r:id="rId35"/>
    <p:sldId id="313" r:id="rId36"/>
    <p:sldId id="355" r:id="rId37"/>
    <p:sldId id="314" r:id="rId38"/>
    <p:sldId id="316" r:id="rId39"/>
    <p:sldId id="318" r:id="rId40"/>
    <p:sldId id="317" r:id="rId41"/>
    <p:sldId id="319" r:id="rId42"/>
    <p:sldId id="320" r:id="rId43"/>
    <p:sldId id="321" r:id="rId44"/>
    <p:sldId id="322" r:id="rId45"/>
    <p:sldId id="323" r:id="rId46"/>
    <p:sldId id="356" r:id="rId47"/>
    <p:sldId id="326" r:id="rId48"/>
    <p:sldId id="347" r:id="rId49"/>
    <p:sldId id="327" r:id="rId50"/>
    <p:sldId id="357" r:id="rId51"/>
    <p:sldId id="330" r:id="rId52"/>
    <p:sldId id="358" r:id="rId53"/>
    <p:sldId id="328" r:id="rId54"/>
    <p:sldId id="359" r:id="rId55"/>
    <p:sldId id="333" r:id="rId56"/>
    <p:sldId id="332" r:id="rId57"/>
    <p:sldId id="360" r:id="rId58"/>
    <p:sldId id="336" r:id="rId59"/>
    <p:sldId id="338" r:id="rId60"/>
    <p:sldId id="335" r:id="rId61"/>
    <p:sldId id="339" r:id="rId62"/>
    <p:sldId id="340" r:id="rId63"/>
    <p:sldId id="361" r:id="rId64"/>
    <p:sldId id="342" r:id="rId65"/>
    <p:sldId id="344" r:id="rId66"/>
    <p:sldId id="348" r:id="rId6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A47"/>
    <a:srgbClr val="014478"/>
    <a:srgbClr val="001B47"/>
    <a:srgbClr val="1F497D"/>
    <a:srgbClr val="00214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68" autoAdjust="0"/>
    <p:restoredTop sz="83333" autoAdjust="0"/>
  </p:normalViewPr>
  <p:slideViewPr>
    <p:cSldViewPr snapToGrid="0" snapToObjects="1">
      <p:cViewPr>
        <p:scale>
          <a:sx n="80" d="100"/>
          <a:sy n="80" d="100"/>
        </p:scale>
        <p:origin x="318" y="88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85" d="100"/>
          <a:sy n="85" d="100"/>
        </p:scale>
        <p:origin x="3132"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slide" Target="slides/slide58.xml"/><Relationship Id="rId68" Type="http://schemas.openxmlformats.org/officeDocument/2006/relationships/notesMaster" Target="notesMasters/notesMaster1.xml"/><Relationship Id="rId7" Type="http://schemas.openxmlformats.org/officeDocument/2006/relationships/slide" Target="slides/slide2.xml"/><Relationship Id="rId71"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61" Type="http://schemas.openxmlformats.org/officeDocument/2006/relationships/slide" Target="slides/slide56.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handoutMaster" Target="handoutMasters/handoutMaster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8685613-ADFF-4141-B66C-A45235623B50}" type="datetimeFigureOut">
              <a:rPr lang="en-US" smtClean="0"/>
              <a:t>3/10/2022</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92E8A8-05A8-499B-9FC4-E546163481AE}" type="slidenum">
              <a:rPr lang="en-US" smtClean="0"/>
              <a:t>‹#›</a:t>
            </a:fld>
            <a:endParaRPr lang="en-US"/>
          </a:p>
        </p:txBody>
      </p:sp>
    </p:spTree>
    <p:extLst>
      <p:ext uri="{BB962C8B-B14F-4D97-AF65-F5344CB8AC3E}">
        <p14:creationId xmlns:p14="http://schemas.microsoft.com/office/powerpoint/2010/main" val="10491195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B1F5199-F7F4-4FB2-A2CD-22A2CFC87608}" type="datetimeFigureOut">
              <a:rPr lang="en-US" smtClean="0"/>
              <a:t>3/10/2022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56C0744-2FEF-4441-821D-70180A370937}" type="slidenum">
              <a:rPr lang="en-US" smtClean="0"/>
              <a:t>‹#›</a:t>
            </a:fld>
            <a:endParaRPr lang="en-US"/>
          </a:p>
        </p:txBody>
      </p:sp>
    </p:spTree>
    <p:extLst>
      <p:ext uri="{BB962C8B-B14F-4D97-AF65-F5344CB8AC3E}">
        <p14:creationId xmlns:p14="http://schemas.microsoft.com/office/powerpoint/2010/main" val="1271703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6C0744-2FEF-4441-821D-70180A37093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86279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7</a:t>
            </a:fld>
            <a:endParaRPr lang="en-US"/>
          </a:p>
        </p:txBody>
      </p:sp>
    </p:spTree>
    <p:extLst>
      <p:ext uri="{BB962C8B-B14F-4D97-AF65-F5344CB8AC3E}">
        <p14:creationId xmlns:p14="http://schemas.microsoft.com/office/powerpoint/2010/main" val="7660329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9.1</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Data on illegal drug use in the United States 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Results from the 2019 National Survey on Drug Use and Health include the overall numbers and percentages of surveyed people age 12 or older who engaged in illegal drug use at least once during the prior year. Note that the estimated numbers of users of different drugs are not mutually exclusive, since many users consume multiple substances within a given time period (polydrug use). Rx refers to prescription medications. (After Substance Abuse and Mental Health Services Administration. 2020. </a:t>
            </a:r>
            <a:r>
              <a:rPr lang="en-US" sz="1200" i="1" kern="1200" dirty="0">
                <a:solidFill>
                  <a:schemeClr val="tx1"/>
                </a:solidFill>
                <a:effectLst/>
                <a:latin typeface="+mn-lt"/>
                <a:ea typeface="+mn-ea"/>
                <a:cs typeface="+mn-cs"/>
              </a:rPr>
              <a:t>Key substance use and mental health indicators in the United States:</a:t>
            </a:r>
            <a:r>
              <a:rPr lang="en-US" sz="1200" kern="1200" dirty="0">
                <a:solidFill>
                  <a:schemeClr val="tx1"/>
                </a:solidFill>
                <a:effectLst/>
                <a:latin typeface="+mn-lt"/>
                <a:ea typeface="+mn-ea"/>
                <a:cs typeface="+mn-cs"/>
              </a:rPr>
              <a:t> Results from the 2019 National Survey on Drug Use and Health [HHS Publication No. PEP20-07-01-001, NSDUH Series H-55]. Center for Behavioral Health Statistics and Quality, Substance Abuse and Mental Health Services Administration, Rockville, MD. Retrieved from https://</a:t>
            </a:r>
            <a:r>
              <a:rPr lang="en-US" sz="1200" kern="1200" dirty="0" err="1">
                <a:solidFill>
                  <a:schemeClr val="tx1"/>
                </a:solidFill>
                <a:effectLst/>
                <a:latin typeface="+mn-lt"/>
                <a:ea typeface="+mn-ea"/>
                <a:cs typeface="+mn-cs"/>
              </a:rPr>
              <a:t>www.samhsa.gov</a:t>
            </a:r>
            <a:r>
              <a:rPr lang="en-US" sz="1200" kern="1200" dirty="0">
                <a:solidFill>
                  <a:schemeClr val="tx1"/>
                </a:solidFill>
                <a:effectLst/>
                <a:latin typeface="+mn-lt"/>
                <a:ea typeface="+mn-ea"/>
                <a:cs typeface="+mn-cs"/>
              </a:rPr>
              <a:t>/data/)</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8</a:t>
            </a:fld>
            <a:endParaRPr lang="en-US"/>
          </a:p>
        </p:txBody>
      </p:sp>
    </p:spTree>
    <p:extLst>
      <p:ext uri="{BB962C8B-B14F-4D97-AF65-F5344CB8AC3E}">
        <p14:creationId xmlns:p14="http://schemas.microsoft.com/office/powerpoint/2010/main" val="1040572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9</a:t>
            </a:fld>
            <a:endParaRPr lang="en-US"/>
          </a:p>
        </p:txBody>
      </p:sp>
    </p:spTree>
    <p:extLst>
      <p:ext uri="{BB962C8B-B14F-4D97-AF65-F5344CB8AC3E}">
        <p14:creationId xmlns:p14="http://schemas.microsoft.com/office/powerpoint/2010/main" val="6265761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10</a:t>
            </a:fld>
            <a:endParaRPr lang="en-US"/>
          </a:p>
        </p:txBody>
      </p:sp>
    </p:spTree>
    <p:extLst>
      <p:ext uri="{BB962C8B-B14F-4D97-AF65-F5344CB8AC3E}">
        <p14:creationId xmlns:p14="http://schemas.microsoft.com/office/powerpoint/2010/main" val="11955624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12</a:t>
            </a:fld>
            <a:endParaRPr lang="en-US"/>
          </a:p>
        </p:txBody>
      </p:sp>
    </p:spTree>
    <p:extLst>
      <p:ext uri="{BB962C8B-B14F-4D97-AF65-F5344CB8AC3E}">
        <p14:creationId xmlns:p14="http://schemas.microsoft.com/office/powerpoint/2010/main" val="31443469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u="none" dirty="0"/>
              <a:t>DSM-5: </a:t>
            </a:r>
            <a:r>
              <a:rPr lang="en-US" sz="1800" b="0" i="0" u="none" strike="noStrike" baseline="0" dirty="0">
                <a:latin typeface="PalatinoLTStd-Roman"/>
              </a:rPr>
              <a:t>American Psychiatric Association (APA)’s </a:t>
            </a:r>
            <a:r>
              <a:rPr lang="en-US" sz="1800" b="0" i="1" u="none" strike="noStrike" baseline="0" dirty="0">
                <a:latin typeface="PalatinoLTStd-Italic"/>
              </a:rPr>
              <a:t>Diagnostic and Statistical Manual of Mental Disorders</a:t>
            </a:r>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13</a:t>
            </a:fld>
            <a:endParaRPr lang="en-US"/>
          </a:p>
        </p:txBody>
      </p:sp>
    </p:spTree>
    <p:extLst>
      <p:ext uri="{BB962C8B-B14F-4D97-AF65-F5344CB8AC3E}">
        <p14:creationId xmlns:p14="http://schemas.microsoft.com/office/powerpoint/2010/main" val="37416202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14</a:t>
            </a:fld>
            <a:endParaRPr lang="en-US"/>
          </a:p>
        </p:txBody>
      </p:sp>
    </p:spTree>
    <p:extLst>
      <p:ext uri="{BB962C8B-B14F-4D97-AF65-F5344CB8AC3E}">
        <p14:creationId xmlns:p14="http://schemas.microsoft.com/office/powerpoint/2010/main" val="42124206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dirty="0"/>
          </a:p>
          <a:p>
            <a:r>
              <a:rPr lang="en-US" dirty="0" err="1"/>
              <a:t>sdsdfsd</a:t>
            </a:r>
            <a:endParaRPr lang="en-US" dirty="0"/>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15</a:t>
            </a:fld>
            <a:endParaRPr lang="en-US"/>
          </a:p>
        </p:txBody>
      </p:sp>
    </p:spTree>
    <p:extLst>
      <p:ext uri="{BB962C8B-B14F-4D97-AF65-F5344CB8AC3E}">
        <p14:creationId xmlns:p14="http://schemas.microsoft.com/office/powerpoint/2010/main" val="24791111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16</a:t>
            </a:fld>
            <a:endParaRPr lang="en-US"/>
          </a:p>
        </p:txBody>
      </p:sp>
    </p:spTree>
    <p:extLst>
      <p:ext uri="{BB962C8B-B14F-4D97-AF65-F5344CB8AC3E}">
        <p14:creationId xmlns:p14="http://schemas.microsoft.com/office/powerpoint/2010/main" val="385192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9.4</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Progression of drug use from non-problematic or recreational use to an addictive pattern of use involving compulsive and/or problematic use and repeated attempts at abstinence followed by relapse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(After M. </a:t>
            </a:r>
            <a:r>
              <a:rPr lang="en-US" sz="1200" kern="1200" dirty="0" err="1">
                <a:solidFill>
                  <a:schemeClr val="tx1"/>
                </a:solidFill>
                <a:effectLst/>
                <a:latin typeface="+mn-lt"/>
                <a:ea typeface="+mn-ea"/>
                <a:cs typeface="+mn-cs"/>
              </a:rPr>
              <a:t>Venniro</a:t>
            </a:r>
            <a:r>
              <a:rPr lang="en-US" sz="1200" kern="1200" dirty="0">
                <a:solidFill>
                  <a:schemeClr val="tx1"/>
                </a:solidFill>
                <a:effectLst/>
                <a:latin typeface="+mn-lt"/>
                <a:ea typeface="+mn-ea"/>
                <a:cs typeface="+mn-cs"/>
              </a:rPr>
              <a:t>, et al. 2020. </a:t>
            </a:r>
            <a:r>
              <a:rPr lang="en-US" sz="1200" i="1" kern="1200" dirty="0">
                <a:solidFill>
                  <a:schemeClr val="tx1"/>
                </a:solidFill>
                <a:effectLst/>
                <a:latin typeface="+mn-lt"/>
                <a:ea typeface="+mn-ea"/>
                <a:cs typeface="+mn-cs"/>
              </a:rPr>
              <a:t>Nat Rev </a:t>
            </a:r>
            <a:r>
              <a:rPr lang="en-US" sz="1200" i="1" kern="1200" dirty="0" err="1">
                <a:solidFill>
                  <a:schemeClr val="tx1"/>
                </a:solidFill>
                <a:effectLst/>
                <a:latin typeface="+mn-lt"/>
                <a:ea typeface="+mn-ea"/>
                <a:cs typeface="+mn-cs"/>
              </a:rPr>
              <a:t>Neurosci</a:t>
            </a:r>
            <a:r>
              <a:rPr lang="en-US" sz="1200" kern="1200" dirty="0">
                <a:solidFill>
                  <a:schemeClr val="tx1"/>
                </a:solidFill>
                <a:effectLst/>
                <a:latin typeface="+mn-lt"/>
                <a:ea typeface="+mn-ea"/>
                <a:cs typeface="+mn-cs"/>
              </a:rPr>
              <a:t> 21: 625–643. </a:t>
            </a:r>
            <a:r>
              <a:rPr lang="en-US" sz="1200" kern="1200" dirty="0" err="1">
                <a:solidFill>
                  <a:schemeClr val="tx1"/>
                </a:solidFill>
                <a:effectLst/>
                <a:latin typeface="+mn-lt"/>
                <a:ea typeface="+mn-ea"/>
                <a:cs typeface="+mn-cs"/>
              </a:rPr>
              <a:t>doi.org</a:t>
            </a:r>
            <a:r>
              <a:rPr lang="en-US" sz="1200" kern="1200" dirty="0">
                <a:solidFill>
                  <a:schemeClr val="tx1"/>
                </a:solidFill>
                <a:effectLst/>
                <a:latin typeface="+mn-lt"/>
                <a:ea typeface="+mn-ea"/>
                <a:cs typeface="+mn-cs"/>
              </a:rPr>
              <a:t>/10.1038/s41583-020-0378-z, based on data from </a:t>
            </a:r>
            <a:r>
              <a:rPr lang="en-US" sz="1200" i="1" kern="1200" dirty="0">
                <a:solidFill>
                  <a:schemeClr val="tx1"/>
                </a:solidFill>
                <a:effectLst/>
                <a:latin typeface="+mn-lt"/>
                <a:ea typeface="+mn-ea"/>
                <a:cs typeface="+mn-cs"/>
              </a:rPr>
              <a:t>The Diagnostic and Statistical Manual of Mental Disorders</a:t>
            </a:r>
            <a:r>
              <a:rPr lang="en-US" sz="1200" kern="1200" dirty="0">
                <a:solidFill>
                  <a:schemeClr val="tx1"/>
                </a:solidFill>
                <a:effectLst/>
                <a:latin typeface="+mn-lt"/>
                <a:ea typeface="+mn-ea"/>
                <a:cs typeface="+mn-cs"/>
              </a:rPr>
              <a:t>, Fourth Edition.)</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17</a:t>
            </a:fld>
            <a:endParaRPr lang="en-US"/>
          </a:p>
        </p:txBody>
      </p:sp>
    </p:spTree>
    <p:extLst>
      <p:ext uri="{BB962C8B-B14F-4D97-AF65-F5344CB8AC3E}">
        <p14:creationId xmlns:p14="http://schemas.microsoft.com/office/powerpoint/2010/main" val="33730236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18</a:t>
            </a:fld>
            <a:endParaRPr lang="en-US"/>
          </a:p>
        </p:txBody>
      </p:sp>
    </p:spTree>
    <p:extLst>
      <p:ext uri="{BB962C8B-B14F-4D97-AF65-F5344CB8AC3E}">
        <p14:creationId xmlns:p14="http://schemas.microsoft.com/office/powerpoint/2010/main" val="36944679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u="sng" dirty="0"/>
              <a:t>Instructor Notes:</a:t>
            </a:r>
            <a:endParaRPr lang="en-US" dirty="0"/>
          </a:p>
          <a:p>
            <a:r>
              <a:rPr lang="en-US" dirty="0"/>
              <a:t>Correct answer: a</a:t>
            </a:r>
          </a:p>
        </p:txBody>
      </p:sp>
      <p:sp>
        <p:nvSpPr>
          <p:cNvPr id="4" name="Slide Number Placeholder 3"/>
          <p:cNvSpPr>
            <a:spLocks noGrp="1"/>
          </p:cNvSpPr>
          <p:nvPr>
            <p:ph type="sldNum" sz="quarter" idx="5"/>
          </p:nvPr>
        </p:nvSpPr>
        <p:spPr/>
        <p:txBody>
          <a:bodyPr/>
          <a:lstStyle/>
          <a:p>
            <a:fld id="{556C0744-2FEF-4441-821D-70180A370937}" type="slidenum">
              <a:rPr lang="en-US" smtClean="0"/>
              <a:t>19</a:t>
            </a:fld>
            <a:endParaRPr lang="en-US"/>
          </a:p>
        </p:txBody>
      </p:sp>
    </p:spTree>
    <p:extLst>
      <p:ext uri="{BB962C8B-B14F-4D97-AF65-F5344CB8AC3E}">
        <p14:creationId xmlns:p14="http://schemas.microsoft.com/office/powerpoint/2010/main" val="25842292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r>
              <a:rPr lang="en-US" u="none" dirty="0"/>
              <a:t>Latency – time between consuming the drug and experiencing the euphoric effect.</a:t>
            </a:r>
          </a:p>
        </p:txBody>
      </p:sp>
      <p:sp>
        <p:nvSpPr>
          <p:cNvPr id="4" name="Slide Number Placeholder 3"/>
          <p:cNvSpPr>
            <a:spLocks noGrp="1"/>
          </p:cNvSpPr>
          <p:nvPr>
            <p:ph type="sldNum" sz="quarter" idx="5"/>
          </p:nvPr>
        </p:nvSpPr>
        <p:spPr/>
        <p:txBody>
          <a:bodyPr/>
          <a:lstStyle/>
          <a:p>
            <a:fld id="{556C0744-2FEF-4441-821D-70180A370937}" type="slidenum">
              <a:rPr lang="en-US" smtClean="0"/>
              <a:t>21</a:t>
            </a:fld>
            <a:endParaRPr lang="en-US"/>
          </a:p>
        </p:txBody>
      </p:sp>
    </p:spTree>
    <p:extLst>
      <p:ext uri="{BB962C8B-B14F-4D97-AF65-F5344CB8AC3E}">
        <p14:creationId xmlns:p14="http://schemas.microsoft.com/office/powerpoint/2010/main" val="31028693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FIGURE 9.5</a:t>
            </a:r>
            <a:r>
              <a:rPr lang="en-US" sz="1200" b="1" kern="1200" dirty="0">
                <a:solidFill>
                  <a:schemeClr val="tx1"/>
                </a:solidFill>
                <a:effectLst/>
                <a:latin typeface="+mn-lt"/>
                <a:ea typeface="+mn-ea"/>
                <a:cs typeface="+mn-cs"/>
              </a:rPr>
              <a:t>  Relationship between route of administration and addiction potential of opiates, cocaine, and nicotine </a:t>
            </a:r>
            <a:br>
              <a:rPr lang="en-US" sz="1200" b="1"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Opiates: LAAM (</a:t>
            </a:r>
            <a:r>
              <a:rPr lang="en-US" sz="1200" kern="1200" dirty="0" err="1">
                <a:solidFill>
                  <a:schemeClr val="tx1"/>
                </a:solidFill>
                <a:effectLst/>
                <a:latin typeface="+mn-lt"/>
                <a:ea typeface="+mn-ea"/>
                <a:cs typeface="+mn-cs"/>
              </a:rPr>
              <a:t>levo</a:t>
            </a:r>
            <a:r>
              <a:rPr lang="en-US" sz="1200" kern="1200" dirty="0">
                <a:solidFill>
                  <a:schemeClr val="tx1"/>
                </a:solidFill>
                <a:effectLst/>
                <a:latin typeface="+mn-lt"/>
                <a:ea typeface="+mn-ea"/>
                <a:cs typeface="+mn-cs"/>
              </a:rPr>
              <a:t>-alpha-acetyl-</a:t>
            </a:r>
            <a:r>
              <a:rPr lang="en-US" sz="1200" kern="1200" dirty="0" err="1">
                <a:solidFill>
                  <a:schemeClr val="tx1"/>
                </a:solidFill>
                <a:effectLst/>
                <a:latin typeface="+mn-lt"/>
                <a:ea typeface="+mn-ea"/>
                <a:cs typeface="+mn-cs"/>
              </a:rPr>
              <a:t>methadol</a:t>
            </a:r>
            <a:r>
              <a:rPr lang="en-US" sz="1200" kern="1200" dirty="0">
                <a:solidFill>
                  <a:schemeClr val="tx1"/>
                </a:solidFill>
                <a:effectLst/>
                <a:latin typeface="+mn-lt"/>
                <a:ea typeface="+mn-ea"/>
                <a:cs typeface="+mn-cs"/>
              </a:rPr>
              <a:t>) and methadone are orally administered treatments for opiate addiction; morphine taken orally has a more rapid onset and a shorter duration than methadone; and heroin may be taken by snorting, IV injection, or smoking (not shown) (see Chapter 11). Cocaine: Coca leaves are chewed, coca paste is a crude extract of the leaves, powdered cocaine is often snorted, and crack cocaine is smoked (see Chapter 12). Nicotine: The nicotine patch is a transdermal delivery system used for smoking cessation, snuff is powdered tobacco leaves that are snorted, and cigarettes and e-cigarettes are smoked and vaped respectively (see Chapter 13). (After J. K. </a:t>
            </a:r>
            <a:r>
              <a:rPr lang="en-US" sz="1200" kern="1200" dirty="0" err="1">
                <a:solidFill>
                  <a:schemeClr val="tx1"/>
                </a:solidFill>
                <a:effectLst/>
                <a:latin typeface="+mn-lt"/>
                <a:ea typeface="+mn-ea"/>
                <a:cs typeface="+mn-cs"/>
              </a:rPr>
              <a:t>Melichar</a:t>
            </a:r>
            <a:r>
              <a:rPr lang="en-US" sz="1200" kern="1200" dirty="0">
                <a:solidFill>
                  <a:schemeClr val="tx1"/>
                </a:solidFill>
                <a:effectLst/>
                <a:latin typeface="+mn-lt"/>
                <a:ea typeface="+mn-ea"/>
                <a:cs typeface="+mn-cs"/>
              </a:rPr>
              <a:t> et al. 2001. </a:t>
            </a:r>
            <a:r>
              <a:rPr lang="en-US" sz="1200" i="1" kern="1200" dirty="0" err="1">
                <a:solidFill>
                  <a:schemeClr val="tx1"/>
                </a:solidFill>
                <a:effectLst/>
                <a:latin typeface="+mn-lt"/>
                <a:ea typeface="+mn-ea"/>
                <a:cs typeface="+mn-cs"/>
              </a:rPr>
              <a:t>Curr</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Opin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Pharmacol</a:t>
            </a:r>
            <a:r>
              <a:rPr lang="en-US" sz="1200" kern="1200" dirty="0">
                <a:solidFill>
                  <a:schemeClr val="tx1"/>
                </a:solidFill>
                <a:effectLst/>
                <a:latin typeface="+mn-lt"/>
                <a:ea typeface="+mn-ea"/>
                <a:cs typeface="+mn-cs"/>
              </a:rPr>
              <a:t> 1: 84–90. ©2001. Reprinted with permission from Elsevier.)</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22</a:t>
            </a:fld>
            <a:endParaRPr lang="en-US"/>
          </a:p>
        </p:txBody>
      </p:sp>
    </p:spTree>
    <p:extLst>
      <p:ext uri="{BB962C8B-B14F-4D97-AF65-F5344CB8AC3E}">
        <p14:creationId xmlns:p14="http://schemas.microsoft.com/office/powerpoint/2010/main" val="2020954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23</a:t>
            </a:fld>
            <a:endParaRPr lang="en-US"/>
          </a:p>
        </p:txBody>
      </p:sp>
    </p:spTree>
    <p:extLst>
      <p:ext uri="{BB962C8B-B14F-4D97-AF65-F5344CB8AC3E}">
        <p14:creationId xmlns:p14="http://schemas.microsoft.com/office/powerpoint/2010/main" val="7381078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24</a:t>
            </a:fld>
            <a:endParaRPr lang="en-US"/>
          </a:p>
        </p:txBody>
      </p:sp>
    </p:spTree>
    <p:extLst>
      <p:ext uri="{BB962C8B-B14F-4D97-AF65-F5344CB8AC3E}">
        <p14:creationId xmlns:p14="http://schemas.microsoft.com/office/powerpoint/2010/main" val="35724823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9.6</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Features of intravenous drug self-administration by laboratory animals 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 Representative data for cocaine and heroin illustrate the typical inverted U-shaped curve relating dose per infusion to number of reinforcers (drug deliveries) obtained during a self-administration session. (B) Breakpoint on a progressive-ratio (PR) schedule is an index of the reinforcing effectiveness of different doses of a drug. In this experiment, rhesus monkeys were trained to self-administer cocaine and stabilized on a fixed-ratio schedule requiring 20 responses (FR-20) to obtain an IV infusion of cocaine at a dose of 0.032 mg/kg. After the breakpoint was established using the 0.032-mg/kg maintenance dose, the monkeys were subsequently tested for their breakpoints on a PR schedule using two lower and one higher dose of cocaine. The value shown for “S” represents the breakpoint measured when saline vehicle was substituted for cocaine during the test session. Taken together, the results show that the lowest unit doses of cocaine were more reinforcing than saline, and the reinforcing value of the cocaine infusions continued to increase as the unit dose rose above 0.0032 mg/kg. (A after J. Bergman and C. A. </a:t>
            </a:r>
            <a:r>
              <a:rPr lang="en-US" sz="1200" kern="1200" dirty="0" err="1">
                <a:solidFill>
                  <a:schemeClr val="tx1"/>
                </a:solidFill>
                <a:effectLst/>
                <a:latin typeface="+mn-lt"/>
                <a:ea typeface="+mn-ea"/>
                <a:cs typeface="+mn-cs"/>
              </a:rPr>
              <a:t>Paronis</a:t>
            </a:r>
            <a:r>
              <a:rPr lang="en-US" sz="1200" kern="1200" dirty="0">
                <a:solidFill>
                  <a:schemeClr val="tx1"/>
                </a:solidFill>
                <a:effectLst/>
                <a:latin typeface="+mn-lt"/>
                <a:ea typeface="+mn-ea"/>
                <a:cs typeface="+mn-cs"/>
              </a:rPr>
              <a:t>. 2006. </a:t>
            </a:r>
            <a:r>
              <a:rPr lang="en-US" sz="1200" i="1" kern="1200" dirty="0" err="1">
                <a:solidFill>
                  <a:schemeClr val="tx1"/>
                </a:solidFill>
                <a:effectLst/>
                <a:latin typeface="+mn-lt"/>
                <a:ea typeface="+mn-ea"/>
                <a:cs typeface="+mn-cs"/>
              </a:rPr>
              <a:t>Mol</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Interv</a:t>
            </a:r>
            <a:r>
              <a:rPr lang="en-US" sz="1200" kern="1200" dirty="0">
                <a:solidFill>
                  <a:schemeClr val="tx1"/>
                </a:solidFill>
                <a:effectLst/>
                <a:latin typeface="+mn-lt"/>
                <a:ea typeface="+mn-ea"/>
                <a:cs typeface="+mn-cs"/>
              </a:rPr>
              <a:t> 6: 273–283; B from S. S. Negus and N. K. Mello. 2002. </a:t>
            </a:r>
            <a:r>
              <a:rPr lang="en-US" sz="1200" i="1" kern="1200" dirty="0" err="1">
                <a:solidFill>
                  <a:schemeClr val="tx1"/>
                </a:solidFill>
                <a:effectLst/>
                <a:latin typeface="+mn-lt"/>
                <a:ea typeface="+mn-ea"/>
                <a:cs typeface="+mn-cs"/>
              </a:rPr>
              <a:t>Psychopharm</a:t>
            </a:r>
            <a:r>
              <a:rPr lang="en-US" sz="1200" kern="1200" dirty="0">
                <a:solidFill>
                  <a:schemeClr val="tx1"/>
                </a:solidFill>
                <a:effectLst/>
                <a:latin typeface="+mn-lt"/>
                <a:ea typeface="+mn-ea"/>
                <a:cs typeface="+mn-cs"/>
              </a:rPr>
              <a:t> 167: 324–332. </a:t>
            </a:r>
            <a:r>
              <a:rPr lang="en-US" sz="1200" kern="1200" dirty="0" err="1">
                <a:solidFill>
                  <a:schemeClr val="tx1"/>
                </a:solidFill>
                <a:effectLst/>
                <a:latin typeface="+mn-lt"/>
                <a:ea typeface="+mn-ea"/>
                <a:cs typeface="+mn-cs"/>
              </a:rPr>
              <a:t>doi.org</a:t>
            </a:r>
            <a:r>
              <a:rPr lang="en-US" sz="1200" kern="1200" dirty="0">
                <a:solidFill>
                  <a:schemeClr val="tx1"/>
                </a:solidFill>
                <a:effectLst/>
                <a:latin typeface="+mn-lt"/>
                <a:ea typeface="+mn-ea"/>
                <a:cs typeface="+mn-cs"/>
              </a:rPr>
              <a:t>/10.1007/s00213-003-1409-y)</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25</a:t>
            </a:fld>
            <a:endParaRPr lang="en-US"/>
          </a:p>
        </p:txBody>
      </p:sp>
    </p:spTree>
    <p:extLst>
      <p:ext uri="{BB962C8B-B14F-4D97-AF65-F5344CB8AC3E}">
        <p14:creationId xmlns:p14="http://schemas.microsoft.com/office/powerpoint/2010/main" val="2484565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26</a:t>
            </a:fld>
            <a:endParaRPr lang="en-US"/>
          </a:p>
        </p:txBody>
      </p:sp>
    </p:spTree>
    <p:extLst>
      <p:ext uri="{BB962C8B-B14F-4D97-AF65-F5344CB8AC3E}">
        <p14:creationId xmlns:p14="http://schemas.microsoft.com/office/powerpoint/2010/main" val="7120947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sz="1800" b="0" i="0" u="none" strike="noStrike" baseline="0" dirty="0">
                <a:latin typeface="PalatinoLTStd-Roman"/>
              </a:rPr>
              <a:t>According to principles of reinforcement, an event (euphoria) that occurs very soon after a response (drug consumption) exerts much greater control over that response than events (negative consequences) that occur later in time.</a:t>
            </a:r>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27</a:t>
            </a:fld>
            <a:endParaRPr lang="en-US"/>
          </a:p>
        </p:txBody>
      </p:sp>
    </p:spTree>
    <p:extLst>
      <p:ext uri="{BB962C8B-B14F-4D97-AF65-F5344CB8AC3E}">
        <p14:creationId xmlns:p14="http://schemas.microsoft.com/office/powerpoint/2010/main" val="28669338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28</a:t>
            </a:fld>
            <a:endParaRPr lang="en-US"/>
          </a:p>
        </p:txBody>
      </p:sp>
    </p:spTree>
    <p:extLst>
      <p:ext uri="{BB962C8B-B14F-4D97-AF65-F5344CB8AC3E}">
        <p14:creationId xmlns:p14="http://schemas.microsoft.com/office/powerpoint/2010/main" val="18049451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29</a:t>
            </a:fld>
            <a:endParaRPr lang="en-US"/>
          </a:p>
        </p:txBody>
      </p:sp>
    </p:spTree>
    <p:extLst>
      <p:ext uri="{BB962C8B-B14F-4D97-AF65-F5344CB8AC3E}">
        <p14:creationId xmlns:p14="http://schemas.microsoft.com/office/powerpoint/2010/main" val="30757472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9.8</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Heroin choice dose–response functions in heroin-dependent monkeys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Rhesus monkeys were given extended self-administered access to IV heroin until they had become dependent on the drug. The animals were then given a series of tests in which they could choose either an available dose of heroin or food (banana-flavored pellets) over a number of trials. Testing was performed under both the standard experimental condition or after 1 day of abstinence in order to provoke drug withdrawal. Under the withdrawal condition, the dose–response function for choosing heroin over food was markedly shifted to the left. For example, at the lowest heroin dose (0.0032 mg/kg per injection), the monkeys always selected the food reward when they were not abstinent, but under the withdrawal condition, they chose the heroin injection about 75% of the time. (After S. S. Negus and M. L. Banks. 2018. </a:t>
            </a:r>
            <a:r>
              <a:rPr lang="en-US" sz="1200" i="1" kern="1200" dirty="0" err="1">
                <a:solidFill>
                  <a:schemeClr val="tx1"/>
                </a:solidFill>
                <a:effectLst/>
                <a:latin typeface="+mn-lt"/>
                <a:ea typeface="+mn-ea"/>
                <a:cs typeface="+mn-cs"/>
              </a:rPr>
              <a:t>Pharmacol</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Biochem</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Behav</a:t>
            </a:r>
            <a:r>
              <a:rPr lang="en-US" sz="1200" kern="1200" dirty="0">
                <a:solidFill>
                  <a:schemeClr val="tx1"/>
                </a:solidFill>
                <a:effectLst/>
                <a:latin typeface="+mn-lt"/>
                <a:ea typeface="+mn-ea"/>
                <a:cs typeface="+mn-cs"/>
              </a:rPr>
              <a:t> 164: 32–39. © 2017. Reprinted with permission from Elsevier; data adapted from S. S. Negus 2006. </a:t>
            </a:r>
            <a:r>
              <a:rPr lang="en-US" sz="1200" i="1" kern="1200" dirty="0">
                <a:solidFill>
                  <a:schemeClr val="tx1"/>
                </a:solidFill>
                <a:effectLst/>
                <a:latin typeface="+mn-lt"/>
                <a:ea typeface="+mn-ea"/>
                <a:cs typeface="+mn-cs"/>
              </a:rPr>
              <a:t>J </a:t>
            </a:r>
            <a:r>
              <a:rPr lang="en-US" sz="1200" i="1" kern="1200" dirty="0" err="1">
                <a:solidFill>
                  <a:schemeClr val="tx1"/>
                </a:solidFill>
                <a:effectLst/>
                <a:latin typeface="+mn-lt"/>
                <a:ea typeface="+mn-ea"/>
                <a:cs typeface="+mn-cs"/>
              </a:rPr>
              <a:t>Pharmacol</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Exp</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Ther</a:t>
            </a:r>
            <a:r>
              <a:rPr lang="en-US" sz="1200" kern="1200" dirty="0">
                <a:solidFill>
                  <a:schemeClr val="tx1"/>
                </a:solidFill>
                <a:effectLst/>
                <a:latin typeface="+mn-lt"/>
                <a:ea typeface="+mn-ea"/>
                <a:cs typeface="+mn-cs"/>
              </a:rPr>
              <a:t> 317: 711–723, S. S. Negus and K. C. Rice. 2009. </a:t>
            </a:r>
            <a:r>
              <a:rPr lang="en-US" sz="1200" i="1" kern="1200" dirty="0" err="1">
                <a:solidFill>
                  <a:schemeClr val="tx1"/>
                </a:solidFill>
                <a:effectLst/>
                <a:latin typeface="+mn-lt"/>
                <a:ea typeface="+mn-ea"/>
                <a:cs typeface="+mn-cs"/>
              </a:rPr>
              <a:t>Neuropsychopharm</a:t>
            </a:r>
            <a:r>
              <a:rPr lang="en-US" sz="1200" kern="1200" dirty="0">
                <a:solidFill>
                  <a:schemeClr val="tx1"/>
                </a:solidFill>
                <a:effectLst/>
                <a:latin typeface="+mn-lt"/>
                <a:ea typeface="+mn-ea"/>
                <a:cs typeface="+mn-cs"/>
              </a:rPr>
              <a:t> 34: 899–911.)</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30</a:t>
            </a:fld>
            <a:endParaRPr lang="en-US"/>
          </a:p>
        </p:txBody>
      </p:sp>
    </p:spTree>
    <p:extLst>
      <p:ext uri="{BB962C8B-B14F-4D97-AF65-F5344CB8AC3E}">
        <p14:creationId xmlns:p14="http://schemas.microsoft.com/office/powerpoint/2010/main" val="30980072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31</a:t>
            </a:fld>
            <a:endParaRPr lang="en-US"/>
          </a:p>
        </p:txBody>
      </p:sp>
    </p:spTree>
    <p:extLst>
      <p:ext uri="{BB962C8B-B14F-4D97-AF65-F5344CB8AC3E}">
        <p14:creationId xmlns:p14="http://schemas.microsoft.com/office/powerpoint/2010/main" val="12853319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FIGURE 9.9</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Transition from the impulsive to the compulsive phase of alcohol addiction </a:t>
            </a:r>
            <a:br>
              <a:rPr lang="en-US" sz="1200" b="1"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In the </a:t>
            </a:r>
            <a:r>
              <a:rPr lang="en-US" sz="1200" i="1" kern="1200" dirty="0">
                <a:solidFill>
                  <a:schemeClr val="tx1"/>
                </a:solidFill>
                <a:effectLst/>
                <a:latin typeface="+mn-lt"/>
                <a:ea typeface="+mn-ea"/>
                <a:cs typeface="+mn-cs"/>
              </a:rPr>
              <a:t>impulsive</a:t>
            </a:r>
            <a:r>
              <a:rPr lang="en-US" sz="1200" kern="1200" dirty="0">
                <a:solidFill>
                  <a:schemeClr val="tx1"/>
                </a:solidFill>
                <a:effectLst/>
                <a:latin typeface="+mn-lt"/>
                <a:ea typeface="+mn-ea"/>
                <a:cs typeface="+mn-cs"/>
              </a:rPr>
              <a:t> stage, an episode of binge drinking results in a pleasant state of intoxication. Since dependence has not yet occurred in this stage, the individual’s mood (i.e., affect) is neutral during abstinence. However, because of repeated pairing of intoxication with environmental stimuli, a conditioning process causes those stimuli to trigger a renewed craving for the alcohol reward, thus leading to more bingeing and intoxication. Once the </a:t>
            </a:r>
            <a:r>
              <a:rPr lang="en-US" sz="1200" i="1" kern="1200" dirty="0">
                <a:solidFill>
                  <a:schemeClr val="tx1"/>
                </a:solidFill>
                <a:effectLst/>
                <a:latin typeface="+mn-lt"/>
                <a:ea typeface="+mn-ea"/>
                <a:cs typeface="+mn-cs"/>
              </a:rPr>
              <a:t>compulsive</a:t>
            </a:r>
            <a:r>
              <a:rPr lang="en-US" sz="1200" kern="1200" dirty="0">
                <a:solidFill>
                  <a:schemeClr val="tx1"/>
                </a:solidFill>
                <a:effectLst/>
                <a:latin typeface="+mn-lt"/>
                <a:ea typeface="+mn-ea"/>
                <a:cs typeface="+mn-cs"/>
              </a:rPr>
              <a:t> stage has been reached, individuals undergo periods of prolonged intoxication that bring relief from their depressed baseline mood state. Because they are also now alcohol-dependent, abstinence leads to withdrawal symptoms that include even greater negative affect. Alcohol craving in this stage is related to relief from the state of withdrawal. (After M. Heilig and G. F. </a:t>
            </a:r>
            <a:r>
              <a:rPr lang="en-US" sz="1200" kern="1200" dirty="0" err="1">
                <a:solidFill>
                  <a:schemeClr val="tx1"/>
                </a:solidFill>
                <a:effectLst/>
                <a:latin typeface="+mn-lt"/>
                <a:ea typeface="+mn-ea"/>
                <a:cs typeface="+mn-cs"/>
              </a:rPr>
              <a:t>Koob</a:t>
            </a:r>
            <a:r>
              <a:rPr lang="en-US" sz="1200" kern="1200" dirty="0">
                <a:solidFill>
                  <a:schemeClr val="tx1"/>
                </a:solidFill>
                <a:effectLst/>
                <a:latin typeface="+mn-lt"/>
                <a:ea typeface="+mn-ea"/>
                <a:cs typeface="+mn-cs"/>
              </a:rPr>
              <a:t>. 2007. </a:t>
            </a:r>
            <a:r>
              <a:rPr lang="en-US" sz="1200" i="1" kern="1200" dirty="0">
                <a:solidFill>
                  <a:schemeClr val="tx1"/>
                </a:solidFill>
                <a:effectLst/>
                <a:latin typeface="+mn-lt"/>
                <a:ea typeface="+mn-ea"/>
                <a:cs typeface="+mn-cs"/>
              </a:rPr>
              <a:t>Trends </a:t>
            </a:r>
            <a:r>
              <a:rPr lang="en-US" sz="1200" i="1" kern="1200" dirty="0" err="1">
                <a:solidFill>
                  <a:schemeClr val="tx1"/>
                </a:solidFill>
                <a:effectLst/>
                <a:latin typeface="+mn-lt"/>
                <a:ea typeface="+mn-ea"/>
                <a:cs typeface="+mn-cs"/>
              </a:rPr>
              <a:t>Neurosci</a:t>
            </a:r>
            <a:r>
              <a:rPr lang="en-US" sz="1200" kern="1200" dirty="0">
                <a:solidFill>
                  <a:schemeClr val="tx1"/>
                </a:solidFill>
                <a:effectLst/>
                <a:latin typeface="+mn-lt"/>
                <a:ea typeface="+mn-ea"/>
                <a:cs typeface="+mn-cs"/>
              </a:rPr>
              <a:t> 30: 399–406. ©2007. Reprinted with permission from Elsevier.)</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32</a:t>
            </a:fld>
            <a:endParaRPr lang="en-US"/>
          </a:p>
        </p:txBody>
      </p:sp>
    </p:spTree>
    <p:extLst>
      <p:ext uri="{BB962C8B-B14F-4D97-AF65-F5344CB8AC3E}">
        <p14:creationId xmlns:p14="http://schemas.microsoft.com/office/powerpoint/2010/main" val="8053783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33</a:t>
            </a:fld>
            <a:endParaRPr lang="en-US"/>
          </a:p>
        </p:txBody>
      </p:sp>
    </p:spTree>
    <p:extLst>
      <p:ext uri="{BB962C8B-B14F-4D97-AF65-F5344CB8AC3E}">
        <p14:creationId xmlns:p14="http://schemas.microsoft.com/office/powerpoint/2010/main" val="13299720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sz="1800" b="0" i="0" u="none" strike="noStrike" baseline="0" dirty="0">
                <a:latin typeface="PalatinoLTStd-Italic"/>
              </a:rPr>
              <a:t>Heritability: the estimated </a:t>
            </a:r>
            <a:r>
              <a:rPr lang="en-US" sz="1800" b="0" i="0" u="none" strike="noStrike" baseline="0" dirty="0">
                <a:latin typeface="PalatinoLTStd-Roman"/>
              </a:rPr>
              <a:t>contribution of genetic variation within a population to the total population variation for a particular trait.</a:t>
            </a:r>
          </a:p>
          <a:p>
            <a:pPr algn="l"/>
            <a:endParaRPr lang="en-US" i="0"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34</a:t>
            </a:fld>
            <a:endParaRPr lang="en-US"/>
          </a:p>
        </p:txBody>
      </p:sp>
    </p:spTree>
    <p:extLst>
      <p:ext uri="{BB962C8B-B14F-4D97-AF65-F5344CB8AC3E}">
        <p14:creationId xmlns:p14="http://schemas.microsoft.com/office/powerpoint/2010/main" val="11929304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35</a:t>
            </a:fld>
            <a:endParaRPr lang="en-US"/>
          </a:p>
        </p:txBody>
      </p:sp>
    </p:spTree>
    <p:extLst>
      <p:ext uri="{BB962C8B-B14F-4D97-AF65-F5344CB8AC3E}">
        <p14:creationId xmlns:p14="http://schemas.microsoft.com/office/powerpoint/2010/main" val="25737560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36</a:t>
            </a:fld>
            <a:endParaRPr lang="en-US"/>
          </a:p>
        </p:txBody>
      </p:sp>
    </p:spTree>
    <p:extLst>
      <p:ext uri="{BB962C8B-B14F-4D97-AF65-F5344CB8AC3E}">
        <p14:creationId xmlns:p14="http://schemas.microsoft.com/office/powerpoint/2010/main" val="9684285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37</a:t>
            </a:fld>
            <a:endParaRPr lang="en-US"/>
          </a:p>
        </p:txBody>
      </p:sp>
    </p:spTree>
    <p:extLst>
      <p:ext uri="{BB962C8B-B14F-4D97-AF65-F5344CB8AC3E}">
        <p14:creationId xmlns:p14="http://schemas.microsoft.com/office/powerpoint/2010/main" val="19259962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38</a:t>
            </a:fld>
            <a:endParaRPr lang="en-US"/>
          </a:p>
        </p:txBody>
      </p:sp>
    </p:spTree>
    <p:extLst>
      <p:ext uri="{BB962C8B-B14F-4D97-AF65-F5344CB8AC3E}">
        <p14:creationId xmlns:p14="http://schemas.microsoft.com/office/powerpoint/2010/main" val="184551140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39</a:t>
            </a:fld>
            <a:endParaRPr lang="en-US"/>
          </a:p>
        </p:txBody>
      </p:sp>
    </p:spTree>
    <p:extLst>
      <p:ext uri="{BB962C8B-B14F-4D97-AF65-F5344CB8AC3E}">
        <p14:creationId xmlns:p14="http://schemas.microsoft.com/office/powerpoint/2010/main" val="55771363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40</a:t>
            </a:fld>
            <a:endParaRPr lang="en-US"/>
          </a:p>
        </p:txBody>
      </p:sp>
    </p:spTree>
    <p:extLst>
      <p:ext uri="{BB962C8B-B14F-4D97-AF65-F5344CB8AC3E}">
        <p14:creationId xmlns:p14="http://schemas.microsoft.com/office/powerpoint/2010/main" val="386671034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41</a:t>
            </a:fld>
            <a:endParaRPr lang="en-US"/>
          </a:p>
        </p:txBody>
      </p:sp>
    </p:spTree>
    <p:extLst>
      <p:ext uri="{BB962C8B-B14F-4D97-AF65-F5344CB8AC3E}">
        <p14:creationId xmlns:p14="http://schemas.microsoft.com/office/powerpoint/2010/main" val="27895493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FIGURE 9.12</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 biopsychosocial model of drug addiction 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(After I. </a:t>
            </a:r>
            <a:r>
              <a:rPr lang="en-US" sz="1200" kern="1200" dirty="0" err="1">
                <a:solidFill>
                  <a:schemeClr val="tx1"/>
                </a:solidFill>
                <a:effectLst/>
                <a:latin typeface="+mn-lt"/>
                <a:ea typeface="+mn-ea"/>
                <a:cs typeface="+mn-cs"/>
              </a:rPr>
              <a:t>Stolerman</a:t>
            </a:r>
            <a:r>
              <a:rPr lang="en-US" sz="1200" kern="1200" dirty="0">
                <a:solidFill>
                  <a:schemeClr val="tx1"/>
                </a:solidFill>
                <a:effectLst/>
                <a:latin typeface="+mn-lt"/>
                <a:ea typeface="+mn-ea"/>
                <a:cs typeface="+mn-cs"/>
              </a:rPr>
              <a:t>. 1992. </a:t>
            </a:r>
            <a:r>
              <a:rPr lang="en-US" sz="1200" i="1" kern="1200" dirty="0">
                <a:solidFill>
                  <a:schemeClr val="tx1"/>
                </a:solidFill>
                <a:effectLst/>
                <a:latin typeface="+mn-lt"/>
                <a:ea typeface="+mn-ea"/>
                <a:cs typeface="+mn-cs"/>
              </a:rPr>
              <a:t>Trends </a:t>
            </a:r>
            <a:r>
              <a:rPr lang="en-US" sz="1200" i="1" kern="1200" dirty="0" err="1">
                <a:solidFill>
                  <a:schemeClr val="tx1"/>
                </a:solidFill>
                <a:effectLst/>
                <a:latin typeface="+mn-lt"/>
                <a:ea typeface="+mn-ea"/>
                <a:cs typeface="+mn-cs"/>
              </a:rPr>
              <a:t>Pharmacol</a:t>
            </a:r>
            <a:r>
              <a:rPr lang="en-US" sz="1200" i="1" kern="1200" dirty="0">
                <a:solidFill>
                  <a:schemeClr val="tx1"/>
                </a:solidFill>
                <a:effectLst/>
                <a:latin typeface="+mn-lt"/>
                <a:ea typeface="+mn-ea"/>
                <a:cs typeface="+mn-cs"/>
              </a:rPr>
              <a:t> Sci</a:t>
            </a:r>
            <a:r>
              <a:rPr lang="en-US" sz="1200" kern="1200" dirty="0">
                <a:solidFill>
                  <a:schemeClr val="tx1"/>
                </a:solidFill>
                <a:effectLst/>
                <a:latin typeface="+mn-lt"/>
                <a:ea typeface="+mn-ea"/>
                <a:cs typeface="+mn-cs"/>
              </a:rPr>
              <a:t> 13: 170–176. ©1992. Reprinted with permission from Elsevier.)</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42</a:t>
            </a:fld>
            <a:endParaRPr lang="en-US"/>
          </a:p>
        </p:txBody>
      </p:sp>
    </p:spTree>
    <p:extLst>
      <p:ext uri="{BB962C8B-B14F-4D97-AF65-F5344CB8AC3E}">
        <p14:creationId xmlns:p14="http://schemas.microsoft.com/office/powerpoint/2010/main" val="122242464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u="sng" dirty="0"/>
              <a:t>Instructor Notes:</a:t>
            </a:r>
          </a:p>
          <a:p>
            <a:r>
              <a:rPr lang="en-US" dirty="0"/>
              <a:t>Correct answer: b</a:t>
            </a:r>
          </a:p>
        </p:txBody>
      </p:sp>
      <p:sp>
        <p:nvSpPr>
          <p:cNvPr id="4" name="Slide Number Placeholder 3"/>
          <p:cNvSpPr>
            <a:spLocks noGrp="1"/>
          </p:cNvSpPr>
          <p:nvPr>
            <p:ph type="sldNum" sz="quarter" idx="5"/>
          </p:nvPr>
        </p:nvSpPr>
        <p:spPr/>
        <p:txBody>
          <a:bodyPr/>
          <a:lstStyle/>
          <a:p>
            <a:fld id="{556C0744-2FEF-4441-821D-70180A370937}" type="slidenum">
              <a:rPr lang="en-US" smtClean="0"/>
              <a:t>43</a:t>
            </a:fld>
            <a:endParaRPr lang="en-US"/>
          </a:p>
        </p:txBody>
      </p:sp>
    </p:spTree>
    <p:extLst>
      <p:ext uri="{BB962C8B-B14F-4D97-AF65-F5344CB8AC3E}">
        <p14:creationId xmlns:p14="http://schemas.microsoft.com/office/powerpoint/2010/main" val="21838668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45</a:t>
            </a:fld>
            <a:endParaRPr lang="en-US"/>
          </a:p>
        </p:txBody>
      </p:sp>
    </p:spTree>
    <p:extLst>
      <p:ext uri="{BB962C8B-B14F-4D97-AF65-F5344CB8AC3E}">
        <p14:creationId xmlns:p14="http://schemas.microsoft.com/office/powerpoint/2010/main" val="8291946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9.13</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 proposed three-stage addiction cycle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In this model of addiction, the drug user cycles between (1) anticipating the drug and being preoccupied with obtaining it, (2) escalating drug use (“bingeing” in the case of some drugs) and frequent intoxication, and (3) drug withdrawal resulting in a negative affect (mood). The features shown outside of the cycle represent criteria for drug depen­dence taken from the </a:t>
            </a:r>
            <a:r>
              <a:rPr lang="en-US" sz="1200" i="1" kern="1200" dirty="0">
                <a:solidFill>
                  <a:schemeClr val="tx1"/>
                </a:solidFill>
                <a:effectLst/>
                <a:latin typeface="+mn-lt"/>
                <a:ea typeface="+mn-ea"/>
                <a:cs typeface="+mn-cs"/>
              </a:rPr>
              <a:t>DSM-IV</a:t>
            </a:r>
            <a:r>
              <a:rPr lang="en-US" sz="1200" kern="1200" dirty="0">
                <a:solidFill>
                  <a:schemeClr val="tx1"/>
                </a:solidFill>
                <a:effectLst/>
                <a:latin typeface="+mn-lt"/>
                <a:ea typeface="+mn-ea"/>
                <a:cs typeface="+mn-cs"/>
              </a:rPr>
              <a:t> but also relevant for substance use disorders in </a:t>
            </a:r>
            <a:r>
              <a:rPr lang="en-US" sz="1200" i="1" kern="1200" dirty="0">
                <a:solidFill>
                  <a:schemeClr val="tx1"/>
                </a:solidFill>
                <a:effectLst/>
                <a:latin typeface="+mn-lt"/>
                <a:ea typeface="+mn-ea"/>
                <a:cs typeface="+mn-cs"/>
              </a:rPr>
              <a:t>DSM-5</a:t>
            </a:r>
            <a:r>
              <a:rPr lang="en-US" sz="1200" kern="1200" dirty="0">
                <a:solidFill>
                  <a:schemeClr val="tx1"/>
                </a:solidFill>
                <a:effectLst/>
                <a:latin typeface="+mn-lt"/>
                <a:ea typeface="+mn-ea"/>
                <a:cs typeface="+mn-cs"/>
              </a:rPr>
              <a:t>. (After G. F. </a:t>
            </a:r>
            <a:r>
              <a:rPr lang="en-US" sz="1200" kern="1200" dirty="0" err="1">
                <a:solidFill>
                  <a:schemeClr val="tx1"/>
                </a:solidFill>
                <a:effectLst/>
                <a:latin typeface="+mn-lt"/>
                <a:ea typeface="+mn-ea"/>
                <a:cs typeface="+mn-cs"/>
              </a:rPr>
              <a:t>Koob</a:t>
            </a:r>
            <a:r>
              <a:rPr lang="en-US" sz="1200" kern="1200" dirty="0">
                <a:solidFill>
                  <a:schemeClr val="tx1"/>
                </a:solidFill>
                <a:effectLst/>
                <a:latin typeface="+mn-lt"/>
                <a:ea typeface="+mn-ea"/>
                <a:cs typeface="+mn-cs"/>
              </a:rPr>
              <a:t> and M. Le </a:t>
            </a:r>
            <a:r>
              <a:rPr lang="en-US" sz="1200" kern="1200" dirty="0" err="1">
                <a:solidFill>
                  <a:schemeClr val="tx1"/>
                </a:solidFill>
                <a:effectLst/>
                <a:latin typeface="+mn-lt"/>
                <a:ea typeface="+mn-ea"/>
                <a:cs typeface="+mn-cs"/>
              </a:rPr>
              <a:t>Moal</a:t>
            </a:r>
            <a:r>
              <a:rPr lang="en-US" sz="1200" kern="1200" dirty="0">
                <a:solidFill>
                  <a:schemeClr val="tx1"/>
                </a:solidFill>
                <a:effectLst/>
                <a:latin typeface="+mn-lt"/>
                <a:ea typeface="+mn-ea"/>
                <a:cs typeface="+mn-cs"/>
              </a:rPr>
              <a:t>. 2008.</a:t>
            </a:r>
            <a:r>
              <a:rPr lang="en-US" sz="1200" i="1" kern="1200" dirty="0">
                <a:solidFill>
                  <a:schemeClr val="tx1"/>
                </a:solidFill>
                <a:effectLst/>
                <a:latin typeface="+mn-lt"/>
                <a:ea typeface="+mn-ea"/>
                <a:cs typeface="+mn-cs"/>
              </a:rPr>
              <a:t> Phil Trans R </a:t>
            </a:r>
            <a:r>
              <a:rPr lang="en-US" sz="1200" i="1" kern="1200" dirty="0" err="1">
                <a:solidFill>
                  <a:schemeClr val="tx1"/>
                </a:solidFill>
                <a:effectLst/>
                <a:latin typeface="+mn-lt"/>
                <a:ea typeface="+mn-ea"/>
                <a:cs typeface="+mn-cs"/>
              </a:rPr>
              <a:t>Soc</a:t>
            </a:r>
            <a:r>
              <a:rPr lang="en-US" sz="1200" i="1" kern="1200" dirty="0">
                <a:solidFill>
                  <a:schemeClr val="tx1"/>
                </a:solidFill>
                <a:effectLst/>
                <a:latin typeface="+mn-lt"/>
                <a:ea typeface="+mn-ea"/>
                <a:cs typeface="+mn-cs"/>
              </a:rPr>
              <a:t> B</a:t>
            </a:r>
            <a:r>
              <a:rPr lang="en-US" sz="1200" kern="1200" dirty="0">
                <a:solidFill>
                  <a:schemeClr val="tx1"/>
                </a:solidFill>
                <a:effectLst/>
                <a:latin typeface="+mn-lt"/>
                <a:ea typeface="+mn-ea"/>
                <a:cs typeface="+mn-cs"/>
              </a:rPr>
              <a:t> 363: 3113–3123. Republished with permission of The Royal Society (U.K.); permission conveyed through Copyright Clearance Center, Inc., Adapted from G. F. </a:t>
            </a:r>
            <a:r>
              <a:rPr lang="en-US" sz="1200" kern="1200" dirty="0" err="1">
                <a:solidFill>
                  <a:schemeClr val="tx1"/>
                </a:solidFill>
                <a:effectLst/>
                <a:latin typeface="+mn-lt"/>
                <a:ea typeface="+mn-ea"/>
                <a:cs typeface="+mn-cs"/>
              </a:rPr>
              <a:t>Koob</a:t>
            </a:r>
            <a:r>
              <a:rPr lang="en-US" sz="1200" kern="1200" dirty="0">
                <a:solidFill>
                  <a:schemeClr val="tx1"/>
                </a:solidFill>
                <a:effectLst/>
                <a:latin typeface="+mn-lt"/>
                <a:ea typeface="+mn-ea"/>
                <a:cs typeface="+mn-cs"/>
              </a:rPr>
              <a:t> 2008. Neurobiology of addiction. In </a:t>
            </a:r>
            <a:r>
              <a:rPr lang="en-US" sz="1200" i="1" kern="1200" dirty="0">
                <a:solidFill>
                  <a:schemeClr val="tx1"/>
                </a:solidFill>
                <a:effectLst/>
                <a:latin typeface="+mn-lt"/>
                <a:ea typeface="+mn-ea"/>
                <a:cs typeface="+mn-cs"/>
              </a:rPr>
              <a:t>Textbook of Substance Abuse Treatment</a:t>
            </a:r>
            <a:r>
              <a:rPr lang="en-US" sz="1200" kern="1200" dirty="0">
                <a:solidFill>
                  <a:schemeClr val="tx1"/>
                </a:solidFill>
                <a:effectLst/>
                <a:latin typeface="+mn-lt"/>
                <a:ea typeface="+mn-ea"/>
                <a:cs typeface="+mn-cs"/>
              </a:rPr>
              <a:t> M. Galanter and H. D. Kleber [Eds.], pp. 3–16, 4th ed. American Psychiatric Press: Washington, DC.)</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46</a:t>
            </a:fld>
            <a:endParaRPr lang="en-US"/>
          </a:p>
        </p:txBody>
      </p:sp>
    </p:spTree>
    <p:extLst>
      <p:ext uri="{BB962C8B-B14F-4D97-AF65-F5344CB8AC3E}">
        <p14:creationId xmlns:p14="http://schemas.microsoft.com/office/powerpoint/2010/main" val="297566187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47</a:t>
            </a:fld>
            <a:endParaRPr lang="en-US"/>
          </a:p>
        </p:txBody>
      </p:sp>
    </p:spTree>
    <p:extLst>
      <p:ext uri="{BB962C8B-B14F-4D97-AF65-F5344CB8AC3E}">
        <p14:creationId xmlns:p14="http://schemas.microsoft.com/office/powerpoint/2010/main" val="192910570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FIGURE 9.14</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The neural circuit responsible for the acute rewarding and reinforcing effects of recreational drugs</a:t>
            </a:r>
            <a:r>
              <a:rPr lang="en-US" sz="1200" kern="1200" dirty="0">
                <a:solidFill>
                  <a:schemeClr val="tx1"/>
                </a:solidFill>
                <a:effectLst/>
                <a:latin typeface="+mn-lt"/>
                <a:ea typeface="+mn-ea"/>
                <a:cs typeface="+mn-cs"/>
              </a:rPr>
              <a:t>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Also shown are additional brain areas that provide points of reference for anatomical orientation. AC, anterior commissure; AMG, amygdala; ARC, arcuate nucleus of the hypo­thalamus; BNST, bed nucleus of the </a:t>
            </a:r>
            <a:r>
              <a:rPr lang="en-US" sz="1200" kern="1200" dirty="0" err="1">
                <a:solidFill>
                  <a:schemeClr val="tx1"/>
                </a:solidFill>
                <a:effectLst/>
                <a:latin typeface="+mn-lt"/>
                <a:ea typeface="+mn-ea"/>
                <a:cs typeface="+mn-cs"/>
              </a:rPr>
              <a:t>stria</a:t>
            </a:r>
            <a:r>
              <a:rPr lang="en-US" sz="1200" kern="1200" dirty="0">
                <a:solidFill>
                  <a:schemeClr val="tx1"/>
                </a:solidFill>
                <a:effectLst/>
                <a:latin typeface="+mn-lt"/>
                <a:ea typeface="+mn-ea"/>
                <a:cs typeface="+mn-cs"/>
              </a:rPr>
              <a:t> terminalis; DMT, dorsomedial nucleus of the thalamus; LC, locus coeruleus; LH, lateral hypo­thalamus; PAG, periaqueductal gray; </a:t>
            </a:r>
            <a:r>
              <a:rPr lang="en-US" sz="1200" kern="1200" dirty="0" err="1">
                <a:solidFill>
                  <a:schemeClr val="tx1"/>
                </a:solidFill>
                <a:effectLst/>
                <a:latin typeface="+mn-lt"/>
                <a:ea typeface="+mn-ea"/>
                <a:cs typeface="+mn-cs"/>
              </a:rPr>
              <a:t>RPn</a:t>
            </a:r>
            <a:r>
              <a:rPr lang="en-US" sz="1200" kern="1200" dirty="0">
                <a:solidFill>
                  <a:schemeClr val="tx1"/>
                </a:solidFill>
                <a:effectLst/>
                <a:latin typeface="+mn-lt"/>
                <a:ea typeface="+mn-ea"/>
                <a:cs typeface="+mn-cs"/>
              </a:rPr>
              <a:t>, reticular pontine nucleus; </a:t>
            </a:r>
            <a:r>
              <a:rPr lang="en-US" sz="1200" kern="1200" dirty="0" err="1">
                <a:solidFill>
                  <a:schemeClr val="tx1"/>
                </a:solidFill>
                <a:effectLst/>
                <a:latin typeface="+mn-lt"/>
                <a:ea typeface="+mn-ea"/>
                <a:cs typeface="+mn-cs"/>
              </a:rPr>
              <a:t>SNr</a:t>
            </a:r>
            <a:r>
              <a:rPr lang="en-US" sz="1200" kern="1200" dirty="0">
                <a:solidFill>
                  <a:schemeClr val="tx1"/>
                </a:solidFill>
                <a:effectLst/>
                <a:latin typeface="+mn-lt"/>
                <a:ea typeface="+mn-ea"/>
                <a:cs typeface="+mn-cs"/>
              </a:rPr>
              <a:t>, substantia </a:t>
            </a:r>
            <a:r>
              <a:rPr lang="en-US" sz="1200" kern="1200" dirty="0" err="1">
                <a:solidFill>
                  <a:schemeClr val="tx1"/>
                </a:solidFill>
                <a:effectLst/>
                <a:latin typeface="+mn-lt"/>
                <a:ea typeface="+mn-ea"/>
                <a:cs typeface="+mn-cs"/>
              </a:rPr>
              <a:t>nigra</a:t>
            </a:r>
            <a:r>
              <a:rPr lang="en-US" sz="1200" kern="1200" dirty="0">
                <a:solidFill>
                  <a:schemeClr val="tx1"/>
                </a:solidFill>
                <a:effectLst/>
                <a:latin typeface="+mn-lt"/>
                <a:ea typeface="+mn-ea"/>
                <a:cs typeface="+mn-cs"/>
              </a:rPr>
              <a:t> pars reticulata; VTA, ventral tegmental area. (After G. F. </a:t>
            </a:r>
            <a:r>
              <a:rPr lang="en-US" sz="1200" kern="1200" dirty="0" err="1">
                <a:solidFill>
                  <a:schemeClr val="tx1"/>
                </a:solidFill>
                <a:effectLst/>
                <a:latin typeface="+mn-lt"/>
                <a:ea typeface="+mn-ea"/>
                <a:cs typeface="+mn-cs"/>
              </a:rPr>
              <a:t>Koob</a:t>
            </a:r>
            <a:r>
              <a:rPr lang="en-US" sz="1200" kern="1200" dirty="0">
                <a:solidFill>
                  <a:schemeClr val="tx1"/>
                </a:solidFill>
                <a:effectLst/>
                <a:latin typeface="+mn-lt"/>
                <a:ea typeface="+mn-ea"/>
                <a:cs typeface="+mn-cs"/>
              </a:rPr>
              <a:t>. 2005. </a:t>
            </a:r>
            <a:r>
              <a:rPr lang="en-US" sz="1200" i="1" kern="1200" dirty="0" err="1">
                <a:solidFill>
                  <a:schemeClr val="tx1"/>
                </a:solidFill>
                <a:effectLst/>
                <a:latin typeface="+mn-lt"/>
                <a:ea typeface="+mn-ea"/>
                <a:cs typeface="+mn-cs"/>
              </a:rPr>
              <a:t>Clin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Neurosci</a:t>
            </a:r>
            <a:r>
              <a:rPr lang="en-US" sz="1200" i="1" kern="1200" dirty="0">
                <a:solidFill>
                  <a:schemeClr val="tx1"/>
                </a:solidFill>
                <a:effectLst/>
                <a:latin typeface="+mn-lt"/>
                <a:ea typeface="+mn-ea"/>
                <a:cs typeface="+mn-cs"/>
              </a:rPr>
              <a:t> Res</a:t>
            </a:r>
            <a:r>
              <a:rPr lang="en-US" sz="1200" kern="1200" dirty="0">
                <a:solidFill>
                  <a:schemeClr val="tx1"/>
                </a:solidFill>
                <a:effectLst/>
                <a:latin typeface="+mn-lt"/>
                <a:ea typeface="+mn-ea"/>
                <a:cs typeface="+mn-cs"/>
              </a:rPr>
              <a:t> 5: 89–101. © 2005. Reprinted with permission from Association for Research in Nervous and Mental Disease, via Elsevier.)</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48</a:t>
            </a:fld>
            <a:endParaRPr lang="en-US"/>
          </a:p>
        </p:txBody>
      </p:sp>
    </p:spTree>
    <p:extLst>
      <p:ext uri="{BB962C8B-B14F-4D97-AF65-F5344CB8AC3E}">
        <p14:creationId xmlns:p14="http://schemas.microsoft.com/office/powerpoint/2010/main" val="285009031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49</a:t>
            </a:fld>
            <a:endParaRPr lang="en-US"/>
          </a:p>
        </p:txBody>
      </p:sp>
    </p:spTree>
    <p:extLst>
      <p:ext uri="{BB962C8B-B14F-4D97-AF65-F5344CB8AC3E}">
        <p14:creationId xmlns:p14="http://schemas.microsoft.com/office/powerpoint/2010/main" val="340504571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9.16</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Sensitization of drug “wanting” but not drug “liking” 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Incentive sensitization is proposed to contribute to the development of addiction. The horizontal line represents the initial relative levels of liking and wanting during first use of the drug. (After K. C. </a:t>
            </a:r>
            <a:r>
              <a:rPr lang="en-US" sz="1200" kern="1200" dirty="0" err="1">
                <a:solidFill>
                  <a:schemeClr val="tx1"/>
                </a:solidFill>
                <a:effectLst/>
                <a:latin typeface="+mn-lt"/>
                <a:ea typeface="+mn-ea"/>
                <a:cs typeface="+mn-cs"/>
              </a:rPr>
              <a:t>Berridge</a:t>
            </a:r>
            <a:r>
              <a:rPr lang="en-US" sz="1200" kern="1200" dirty="0">
                <a:solidFill>
                  <a:schemeClr val="tx1"/>
                </a:solidFill>
                <a:effectLst/>
                <a:latin typeface="+mn-lt"/>
                <a:ea typeface="+mn-ea"/>
                <a:cs typeface="+mn-cs"/>
              </a:rPr>
              <a:t> et al. 2009. </a:t>
            </a:r>
            <a:r>
              <a:rPr lang="en-US" sz="1200" i="1" kern="1200" dirty="0" err="1">
                <a:solidFill>
                  <a:schemeClr val="tx1"/>
                </a:solidFill>
                <a:effectLst/>
                <a:latin typeface="+mn-lt"/>
                <a:ea typeface="+mn-ea"/>
                <a:cs typeface="+mn-cs"/>
              </a:rPr>
              <a:t>Curr</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Opin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Pharmacol</a:t>
            </a:r>
            <a:r>
              <a:rPr lang="en-US" sz="1200" kern="1200" dirty="0">
                <a:solidFill>
                  <a:schemeClr val="tx1"/>
                </a:solidFill>
                <a:effectLst/>
                <a:latin typeface="+mn-lt"/>
                <a:ea typeface="+mn-ea"/>
                <a:cs typeface="+mn-cs"/>
              </a:rPr>
              <a:t> 9: 65–73. ©2008. Reprinted with permission from Elsevier.)</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50</a:t>
            </a:fld>
            <a:endParaRPr lang="en-US"/>
          </a:p>
        </p:txBody>
      </p:sp>
    </p:spTree>
    <p:extLst>
      <p:ext uri="{BB962C8B-B14F-4D97-AF65-F5344CB8AC3E}">
        <p14:creationId xmlns:p14="http://schemas.microsoft.com/office/powerpoint/2010/main" val="145369105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51</a:t>
            </a:fld>
            <a:endParaRPr lang="en-US"/>
          </a:p>
        </p:txBody>
      </p:sp>
    </p:spTree>
    <p:extLst>
      <p:ext uri="{BB962C8B-B14F-4D97-AF65-F5344CB8AC3E}">
        <p14:creationId xmlns:p14="http://schemas.microsoft.com/office/powerpoint/2010/main" val="145223478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sz="1800" b="0" i="0" u="none" strike="noStrike" baseline="0" dirty="0">
                <a:latin typeface="PalatinoLTStd-Italic"/>
              </a:rPr>
              <a:t>Neuroadaptation: </a:t>
            </a:r>
            <a:r>
              <a:rPr lang="en-US" sz="1800" b="0" i="0" u="none" strike="noStrike" baseline="0" dirty="0">
                <a:latin typeface="PalatinoLTStd-Roman"/>
              </a:rPr>
              <a:t>persistent neurobiological changes that can include neurotransmitter activity, gene expression, cellular structure (e.g., altered dendritic branching), and neural circuitry (e.g., synaptic plasticity).</a:t>
            </a:r>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52</a:t>
            </a:fld>
            <a:endParaRPr lang="en-US"/>
          </a:p>
        </p:txBody>
      </p:sp>
    </p:spTree>
    <p:extLst>
      <p:ext uri="{BB962C8B-B14F-4D97-AF65-F5344CB8AC3E}">
        <p14:creationId xmlns:p14="http://schemas.microsoft.com/office/powerpoint/2010/main" val="162445871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FIGURE 9.18</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Neurochemical changes underlying the transition from positive to negative reinforcement in addiction</a:t>
            </a:r>
            <a:r>
              <a:rPr lang="en-US" sz="1200" kern="1200" dirty="0">
                <a:solidFill>
                  <a:schemeClr val="tx1"/>
                </a:solidFill>
                <a:effectLst/>
                <a:latin typeface="+mn-lt"/>
                <a:ea typeface="+mn-ea"/>
                <a:cs typeface="+mn-cs"/>
              </a:rPr>
              <a:t>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 In a nondependent individual, the positively reinforcing effects of drug use are mediated by the reward system (large arrows) where there is relatively little involvement of the antireward system (small arrows). The part of the reward system involving DA and opioid peptides in the </a:t>
            </a:r>
            <a:r>
              <a:rPr lang="en-US" sz="1200" kern="1200" dirty="0" err="1">
                <a:solidFill>
                  <a:schemeClr val="tx1"/>
                </a:solidFill>
                <a:effectLst/>
                <a:latin typeface="+mn-lt"/>
                <a:ea typeface="+mn-ea"/>
                <a:cs typeface="+mn-cs"/>
              </a:rPr>
              <a:t>NAcc</a:t>
            </a:r>
            <a:r>
              <a:rPr lang="en-US" sz="1200" kern="1200" dirty="0">
                <a:solidFill>
                  <a:schemeClr val="tx1"/>
                </a:solidFill>
                <a:effectLst/>
                <a:latin typeface="+mn-lt"/>
                <a:ea typeface="+mn-ea"/>
                <a:cs typeface="+mn-cs"/>
              </a:rPr>
              <a:t> is illustrated. (B) In a dependent individual, the reward system has been down-regulated and the antireward system has been recruited. As a result, drug use is now supported mainly by negative reinforcement (alleviation of withdrawal symptoms). The part of the antireward system involving norepinephrine (NE) and corticotropin-releasing factor (CRF) acting in the central amygdala is illustrated. VTA, ventral tegmental area. (After G. F. </a:t>
            </a:r>
            <a:r>
              <a:rPr lang="en-US" sz="1200" kern="1200" dirty="0" err="1">
                <a:solidFill>
                  <a:schemeClr val="tx1"/>
                </a:solidFill>
                <a:effectLst/>
                <a:latin typeface="+mn-lt"/>
                <a:ea typeface="+mn-ea"/>
                <a:cs typeface="+mn-cs"/>
              </a:rPr>
              <a:t>Koob</a:t>
            </a:r>
            <a:r>
              <a:rPr lang="en-US" sz="1200" kern="1200" dirty="0">
                <a:solidFill>
                  <a:schemeClr val="tx1"/>
                </a:solidFill>
                <a:effectLst/>
                <a:latin typeface="+mn-lt"/>
                <a:ea typeface="+mn-ea"/>
                <a:cs typeface="+mn-cs"/>
              </a:rPr>
              <a:t> and M. Le </a:t>
            </a:r>
            <a:r>
              <a:rPr lang="en-US" sz="1200" kern="1200" dirty="0" err="1">
                <a:solidFill>
                  <a:schemeClr val="tx1"/>
                </a:solidFill>
                <a:effectLst/>
                <a:latin typeface="+mn-lt"/>
                <a:ea typeface="+mn-ea"/>
                <a:cs typeface="+mn-cs"/>
              </a:rPr>
              <a:t>Moal</a:t>
            </a:r>
            <a:r>
              <a:rPr lang="en-US" sz="1200" kern="1200" dirty="0">
                <a:solidFill>
                  <a:schemeClr val="tx1"/>
                </a:solidFill>
                <a:effectLst/>
                <a:latin typeface="+mn-lt"/>
                <a:ea typeface="+mn-ea"/>
                <a:cs typeface="+mn-cs"/>
              </a:rPr>
              <a:t>. 2008. </a:t>
            </a:r>
            <a:r>
              <a:rPr lang="en-US" sz="1200" i="1" kern="1200" dirty="0">
                <a:solidFill>
                  <a:schemeClr val="tx1"/>
                </a:solidFill>
                <a:effectLst/>
                <a:latin typeface="+mn-lt"/>
                <a:ea typeface="+mn-ea"/>
                <a:cs typeface="+mn-cs"/>
              </a:rPr>
              <a:t>Ann Rev </a:t>
            </a:r>
            <a:r>
              <a:rPr lang="en-US" sz="1200" i="1" kern="1200" dirty="0" err="1">
                <a:solidFill>
                  <a:schemeClr val="tx1"/>
                </a:solidFill>
                <a:effectLst/>
                <a:latin typeface="+mn-lt"/>
                <a:ea typeface="+mn-ea"/>
                <a:cs typeface="+mn-cs"/>
              </a:rPr>
              <a:t>Psychol</a:t>
            </a:r>
            <a:r>
              <a:rPr lang="en-US" sz="1200" kern="1200" dirty="0">
                <a:solidFill>
                  <a:schemeClr val="tx1"/>
                </a:solidFill>
                <a:effectLst/>
                <a:latin typeface="+mn-lt"/>
                <a:ea typeface="+mn-ea"/>
                <a:cs typeface="+mn-cs"/>
              </a:rPr>
              <a:t> 59: 29–53. Republished with permission of Annual Reviews, Inc.)</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53</a:t>
            </a:fld>
            <a:endParaRPr lang="en-US"/>
          </a:p>
        </p:txBody>
      </p:sp>
    </p:spTree>
    <p:extLst>
      <p:ext uri="{BB962C8B-B14F-4D97-AF65-F5344CB8AC3E}">
        <p14:creationId xmlns:p14="http://schemas.microsoft.com/office/powerpoint/2010/main" val="428071488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spcBef>
                <a:spcPts val="1200"/>
              </a:spcBef>
            </a:pPr>
            <a:r>
              <a:rPr lang="en-US" dirty="0"/>
              <a:t>The PFC has a major role in </a:t>
            </a:r>
            <a:r>
              <a:rPr lang="en-US" b="1" dirty="0"/>
              <a:t>executive function</a:t>
            </a:r>
            <a:r>
              <a:rPr lang="en-US" dirty="0"/>
              <a:t>: higher-order cognitive abilities, including planning, organization, problem solving, mental flexibility, and valuation of incentives.</a:t>
            </a:r>
          </a:p>
          <a:p>
            <a:pPr>
              <a:spcBef>
                <a:spcPts val="1200"/>
              </a:spcBef>
            </a:pPr>
            <a:r>
              <a:rPr lang="en-US" dirty="0"/>
              <a:t>PFC also contributes to regulation of emotional and motivational processes</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54</a:t>
            </a:fld>
            <a:endParaRPr lang="en-US"/>
          </a:p>
        </p:txBody>
      </p:sp>
    </p:spTree>
    <p:extLst>
      <p:ext uri="{BB962C8B-B14F-4D97-AF65-F5344CB8AC3E}">
        <p14:creationId xmlns:p14="http://schemas.microsoft.com/office/powerpoint/2010/main" val="186995945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55</a:t>
            </a:fld>
            <a:endParaRPr lang="en-US"/>
          </a:p>
        </p:txBody>
      </p:sp>
    </p:spTree>
    <p:extLst>
      <p:ext uri="{BB962C8B-B14F-4D97-AF65-F5344CB8AC3E}">
        <p14:creationId xmlns:p14="http://schemas.microsoft.com/office/powerpoint/2010/main" val="348813934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56</a:t>
            </a:fld>
            <a:endParaRPr lang="en-US"/>
          </a:p>
        </p:txBody>
      </p:sp>
    </p:spTree>
    <p:extLst>
      <p:ext uri="{BB962C8B-B14F-4D97-AF65-F5344CB8AC3E}">
        <p14:creationId xmlns:p14="http://schemas.microsoft.com/office/powerpoint/2010/main" val="293724449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57</a:t>
            </a:fld>
            <a:endParaRPr lang="en-US"/>
          </a:p>
        </p:txBody>
      </p:sp>
    </p:spTree>
    <p:extLst>
      <p:ext uri="{BB962C8B-B14F-4D97-AF65-F5344CB8AC3E}">
        <p14:creationId xmlns:p14="http://schemas.microsoft.com/office/powerpoint/2010/main" val="147781357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58</a:t>
            </a:fld>
            <a:endParaRPr lang="en-US"/>
          </a:p>
        </p:txBody>
      </p:sp>
    </p:spTree>
    <p:extLst>
      <p:ext uri="{BB962C8B-B14F-4D97-AF65-F5344CB8AC3E}">
        <p14:creationId xmlns:p14="http://schemas.microsoft.com/office/powerpoint/2010/main" val="21403182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FIGURE 9.20</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Drug addiction conceptualized as a maladaptive allocation of behavior </a:t>
            </a:r>
            <a:br>
              <a:rPr lang="en-US" sz="1200" b="1"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 People suffering from a substance use disorder (addiction) maladaptively allocate their behavior toward procuring and using addictive drugs, to the detriment of other choices. (B) For maximum effectiveness, treatments for substance use disorders should aim not only to reduce drug-related behaviors, but also to promote behavioral allocation to more adaptive, healthier reinforcers. (After M. L. Banks and S. S. Negus. 2017. </a:t>
            </a:r>
            <a:r>
              <a:rPr lang="en-US" sz="1200" i="1" kern="1200" dirty="0">
                <a:solidFill>
                  <a:schemeClr val="tx1"/>
                </a:solidFill>
                <a:effectLst/>
                <a:latin typeface="+mn-lt"/>
                <a:ea typeface="+mn-ea"/>
                <a:cs typeface="+mn-cs"/>
              </a:rPr>
              <a:t>Trends </a:t>
            </a:r>
            <a:r>
              <a:rPr lang="en-US" sz="1200" i="1" kern="1200" dirty="0" err="1">
                <a:solidFill>
                  <a:schemeClr val="tx1"/>
                </a:solidFill>
                <a:effectLst/>
                <a:latin typeface="+mn-lt"/>
                <a:ea typeface="+mn-ea"/>
                <a:cs typeface="+mn-cs"/>
              </a:rPr>
              <a:t>Pharmacol</a:t>
            </a:r>
            <a:r>
              <a:rPr lang="en-US" sz="1200" i="1" kern="1200" dirty="0">
                <a:solidFill>
                  <a:schemeClr val="tx1"/>
                </a:solidFill>
                <a:effectLst/>
                <a:latin typeface="+mn-lt"/>
                <a:ea typeface="+mn-ea"/>
                <a:cs typeface="+mn-cs"/>
              </a:rPr>
              <a:t> Sci </a:t>
            </a:r>
            <a:r>
              <a:rPr lang="en-US" sz="1200" kern="1200" dirty="0">
                <a:solidFill>
                  <a:schemeClr val="tx1"/>
                </a:solidFill>
                <a:effectLst/>
                <a:latin typeface="+mn-lt"/>
                <a:ea typeface="+mn-ea"/>
                <a:cs typeface="+mn-cs"/>
              </a:rPr>
              <a:t>38: 181–194. ©2017. Reprinted with permission from Elsevier.)</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59</a:t>
            </a:fld>
            <a:endParaRPr lang="en-US"/>
          </a:p>
        </p:txBody>
      </p:sp>
    </p:spTree>
    <p:extLst>
      <p:ext uri="{BB962C8B-B14F-4D97-AF65-F5344CB8AC3E}">
        <p14:creationId xmlns:p14="http://schemas.microsoft.com/office/powerpoint/2010/main" val="309889763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60</a:t>
            </a:fld>
            <a:endParaRPr lang="en-US"/>
          </a:p>
        </p:txBody>
      </p:sp>
    </p:spTree>
    <p:extLst>
      <p:ext uri="{BB962C8B-B14F-4D97-AF65-F5344CB8AC3E}">
        <p14:creationId xmlns:p14="http://schemas.microsoft.com/office/powerpoint/2010/main" val="368705624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r>
              <a:rPr lang="en-US" dirty="0"/>
              <a:t>Correct answer: b</a:t>
            </a:r>
          </a:p>
        </p:txBody>
      </p:sp>
      <p:sp>
        <p:nvSpPr>
          <p:cNvPr id="4" name="Slide Number Placeholder 3"/>
          <p:cNvSpPr>
            <a:spLocks noGrp="1"/>
          </p:cNvSpPr>
          <p:nvPr>
            <p:ph type="sldNum" sz="quarter" idx="5"/>
          </p:nvPr>
        </p:nvSpPr>
        <p:spPr/>
        <p:txBody>
          <a:bodyPr/>
          <a:lstStyle/>
          <a:p>
            <a:fld id="{556C0744-2FEF-4441-821D-70180A370937}" type="slidenum">
              <a:rPr lang="en-US" smtClean="0"/>
              <a:t>61</a:t>
            </a:fld>
            <a:endParaRPr lang="en-US"/>
          </a:p>
        </p:txBody>
      </p:sp>
    </p:spTree>
    <p:extLst>
      <p:ext uri="{BB962C8B-B14F-4D97-AF65-F5344CB8AC3E}">
        <p14:creationId xmlns:p14="http://schemas.microsoft.com/office/powerpoint/2010/main" val="25072712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450575" y="586409"/>
            <a:ext cx="11317356" cy="566530"/>
          </a:xfrm>
          <a:prstGeom prst="rect">
            <a:avLst/>
          </a:prstGeom>
        </p:spPr>
        <p:txBody>
          <a:bodyPr vert="horz" lIns="91440" tIns="45720" rIns="91440" bIns="45720" rtlCol="0" anchor="t">
            <a:normAutofit/>
          </a:bodyPr>
          <a:lstStyle>
            <a:lvl1pPr algn="ctr">
              <a:defRPr sz="3600" b="1" i="1"/>
            </a:lvl1pPr>
          </a:lstStyle>
          <a:p>
            <a:r>
              <a:rPr lang="en-US" dirty="0"/>
              <a:t>Title</a:t>
            </a:r>
          </a:p>
        </p:txBody>
      </p:sp>
      <p:sp>
        <p:nvSpPr>
          <p:cNvPr id="11" name="Text Placeholder 10"/>
          <p:cNvSpPr>
            <a:spLocks noGrp="1"/>
          </p:cNvSpPr>
          <p:nvPr>
            <p:ph type="body" sz="quarter" idx="11"/>
          </p:nvPr>
        </p:nvSpPr>
        <p:spPr>
          <a:xfrm>
            <a:off x="450851" y="1152525"/>
            <a:ext cx="11317816" cy="477838"/>
          </a:xfrm>
          <a:prstGeom prst="rect">
            <a:avLst/>
          </a:prstGeom>
        </p:spPr>
        <p:txBody>
          <a:bodyPr/>
          <a:lstStyle>
            <a:lvl1pPr marL="0" indent="0" algn="ctr">
              <a:buNone/>
              <a:defRPr sz="2400">
                <a:solidFill>
                  <a:srgbClr val="1F497D"/>
                </a:solidFill>
              </a:defRPr>
            </a:lvl1pPr>
          </a:lstStyle>
          <a:p>
            <a:pPr lvl="0"/>
            <a:r>
              <a:rPr lang="en-US"/>
              <a:t>Edit Master text styles</a:t>
            </a:r>
          </a:p>
        </p:txBody>
      </p:sp>
      <p:sp>
        <p:nvSpPr>
          <p:cNvPr id="6" name="Picture Placeholder 5"/>
          <p:cNvSpPr>
            <a:spLocks noGrp="1"/>
          </p:cNvSpPr>
          <p:nvPr>
            <p:ph type="pic" sz="quarter" idx="10"/>
          </p:nvPr>
        </p:nvSpPr>
        <p:spPr>
          <a:xfrm>
            <a:off x="3710609" y="1808921"/>
            <a:ext cx="4770784" cy="4283766"/>
          </a:xfrm>
          <a:prstGeom prst="rect">
            <a:avLst/>
          </a:prstGeom>
        </p:spPr>
        <p:txBody>
          <a:bodyPr/>
          <a:lstStyle/>
          <a:p>
            <a:r>
              <a:rPr lang="en-US"/>
              <a:t>Click icon to add picture</a:t>
            </a:r>
            <a:endParaRPr lang="en-US" dirty="0"/>
          </a:p>
        </p:txBody>
      </p:sp>
      <p:pic>
        <p:nvPicPr>
          <p:cNvPr id="5" name="Picture 4" descr="Oxford University Press logo">
            <a:extLst>
              <a:ext uri="{FF2B5EF4-FFF2-40B4-BE49-F238E27FC236}">
                <a16:creationId xmlns:a16="http://schemas.microsoft.com/office/drawing/2014/main" id="{8590439F-3AAE-4FE6-B28E-69B3789AD63F}"/>
              </a:ext>
            </a:extLst>
          </p:cNvPr>
          <p:cNvPicPr>
            <a:picLocks noChangeAspect="1"/>
          </p:cNvPicPr>
          <p:nvPr userDrawn="1"/>
        </p:nvPicPr>
        <p:blipFill>
          <a:blip r:embed="rId2"/>
          <a:stretch>
            <a:fillRect/>
          </a:stretch>
        </p:blipFill>
        <p:spPr>
          <a:xfrm>
            <a:off x="0" y="5976152"/>
            <a:ext cx="2505812" cy="881848"/>
          </a:xfrm>
          <a:prstGeom prst="rect">
            <a:avLst/>
          </a:prstGeom>
        </p:spPr>
      </p:pic>
    </p:spTree>
    <p:extLst>
      <p:ext uri="{BB962C8B-B14F-4D97-AF65-F5344CB8AC3E}">
        <p14:creationId xmlns:p14="http://schemas.microsoft.com/office/powerpoint/2010/main" val="18046508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571500" indent="-342900" algn="l" defTabSz="914400" rtl="0" eaLnBrk="1" latinLnBrk="0" hangingPunct="1">
              <a:spcBef>
                <a:spcPts val="1800"/>
              </a:spcBef>
              <a:buFont typeface="Arial" pitchFamily="34" charset="0"/>
              <a:buChar char="•"/>
              <a:defRPr lang="en-US" sz="2800" kern="1200" baseline="0" dirty="0">
                <a:solidFill>
                  <a:schemeClr val="tx1"/>
                </a:solidFill>
                <a:latin typeface="+mn-lt"/>
                <a:ea typeface="+mn-ea"/>
                <a:cs typeface="+mn-cs"/>
              </a:defRPr>
            </a:lvl1pPr>
            <a:lvl2pPr marL="1263650" indent="-349250" algn="l" defTabSz="914400" rtl="0" eaLnBrk="1" latinLnBrk="0" hangingPunct="1">
              <a:spcBef>
                <a:spcPts val="1800"/>
              </a:spcBef>
              <a:buFont typeface="Courier New" panose="02070309020205020404" pitchFamily="49" charset="0"/>
              <a:buChar char="o"/>
              <a:defRPr lang="en-US" sz="2800" kern="1200" baseline="0" dirty="0">
                <a:solidFill>
                  <a:schemeClr val="tx1"/>
                </a:solidFill>
                <a:latin typeface="+mn-lt"/>
                <a:ea typeface="+mn-ea"/>
                <a:cs typeface="+mn-cs"/>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88875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621792"/>
          </a:xfrm>
        </p:spPr>
        <p:txBody>
          <a:bodyPr/>
          <a:lstStyle>
            <a:lvl1pPr>
              <a:defRPr/>
            </a:lvl1pPr>
          </a:lstStyle>
          <a:p>
            <a:r>
              <a:rPr lang="en-US" dirty="0"/>
              <a:t>Click to edit Master title style</a:t>
            </a:r>
          </a:p>
        </p:txBody>
      </p:sp>
      <p:sp>
        <p:nvSpPr>
          <p:cNvPr id="5" name="Content Placeholder 4">
            <a:extLst>
              <a:ext uri="{FF2B5EF4-FFF2-40B4-BE49-F238E27FC236}">
                <a16:creationId xmlns:a16="http://schemas.microsoft.com/office/drawing/2014/main" id="{8DBA5D03-AECA-2B4D-AD11-BC8666A45DCD}"/>
              </a:ext>
            </a:extLst>
          </p:cNvPr>
          <p:cNvSpPr>
            <a:spLocks noGrp="1"/>
          </p:cNvSpPr>
          <p:nvPr>
            <p:ph sz="quarter" idx="10"/>
          </p:nvPr>
        </p:nvSpPr>
        <p:spPr>
          <a:xfrm>
            <a:off x="408432" y="668867"/>
            <a:ext cx="11375136" cy="6108042"/>
          </a:xfrm>
          <a:prstGeom prst="rect">
            <a:avLst/>
          </a:prstGeo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598040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384048"/>
          </a:xfrm>
        </p:spPr>
        <p:txBody>
          <a:bodyPr/>
          <a:lstStyle>
            <a:lvl1pPr>
              <a:defRPr sz="1800"/>
            </a:lvl1pPr>
          </a:lstStyle>
          <a:p>
            <a:r>
              <a:rPr lang="en-US" dirty="0"/>
              <a:t>Click to edit Master title style</a:t>
            </a:r>
          </a:p>
        </p:txBody>
      </p:sp>
      <p:sp>
        <p:nvSpPr>
          <p:cNvPr id="5" name="Content Placeholder 4">
            <a:extLst>
              <a:ext uri="{FF2B5EF4-FFF2-40B4-BE49-F238E27FC236}">
                <a16:creationId xmlns:a16="http://schemas.microsoft.com/office/drawing/2014/main" id="{C12606DF-F2AC-0D4C-A2DC-B85399E449B6}"/>
              </a:ext>
            </a:extLst>
          </p:cNvPr>
          <p:cNvSpPr>
            <a:spLocks noGrp="1"/>
          </p:cNvSpPr>
          <p:nvPr>
            <p:ph sz="quarter" idx="10"/>
          </p:nvPr>
        </p:nvSpPr>
        <p:spPr>
          <a:xfrm>
            <a:off x="408432" y="479776"/>
            <a:ext cx="11375136" cy="6300216"/>
          </a:xfrm>
          <a:prstGeom prst="rect">
            <a:avLst/>
          </a:prstGeo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7283422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tif"/></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0E61D60-431D-4A54-BAD5-CA1C8D6D754C}"/>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822" y="2792"/>
            <a:ext cx="12191178" cy="6858137"/>
          </a:xfrm>
          <a:prstGeom prst="rect">
            <a:avLst/>
          </a:prstGeom>
        </p:spPr>
      </p:pic>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857781"/>
            <a:ext cx="10972800" cy="4525963"/>
          </a:xfrm>
          <a:prstGeom prst="rect">
            <a:avLst/>
          </a:prstGeom>
        </p:spPr>
        <p:txBody>
          <a:bodyPr vert="horz" lIns="91440" tIns="45720" rIns="91440" bIns="45720" rtlCol="0">
            <a:normAutofit/>
          </a:bodyPr>
          <a:lstStyle/>
          <a:p>
            <a:pPr lvl="0"/>
            <a:r>
              <a:rPr lang="en-US" dirty="0"/>
              <a:t>Click to edit Master text styles</a:t>
            </a:r>
          </a:p>
          <a:p>
            <a:pPr lvl="0"/>
            <a:r>
              <a:rPr lang="en-US" dirty="0"/>
              <a:t>Click to edit Master text styles</a:t>
            </a:r>
          </a:p>
        </p:txBody>
      </p:sp>
      <p:sp>
        <p:nvSpPr>
          <p:cNvPr id="9" name="TextBox 8"/>
          <p:cNvSpPr txBox="1">
            <a:spLocks noChangeArrowheads="1"/>
          </p:cNvSpPr>
          <p:nvPr userDrawn="1"/>
        </p:nvSpPr>
        <p:spPr bwMode="auto">
          <a:xfrm>
            <a:off x="10363435" y="6605739"/>
            <a:ext cx="1827743" cy="246221"/>
          </a:xfrm>
          <a:prstGeom prst="rect">
            <a:avLst/>
          </a:prstGeom>
          <a:noFill/>
          <a:ln>
            <a:noFill/>
          </a:ln>
        </p:spPr>
        <p:txBody>
          <a:bodyPr wrap="none">
            <a:spAutoFit/>
          </a:bodyPr>
          <a:lstStyle>
            <a:lvl1pPr>
              <a:defRPr sz="2400" b="1">
                <a:solidFill>
                  <a:schemeClr val="bg2"/>
                </a:solidFill>
                <a:latin typeface="Times New Roman" panose="02020603050405020304" pitchFamily="18" charset="0"/>
                <a:ea typeface="ＭＳ Ｐゴシック" panose="020B0600070205080204" pitchFamily="34" charset="-128"/>
              </a:defRPr>
            </a:lvl1pPr>
            <a:lvl2pPr marL="742950" indent="-285750">
              <a:defRPr sz="2400" b="1">
                <a:solidFill>
                  <a:schemeClr val="bg2"/>
                </a:solidFill>
                <a:latin typeface="Times New Roman" panose="02020603050405020304" pitchFamily="18" charset="0"/>
                <a:ea typeface="ＭＳ Ｐゴシック" panose="020B0600070205080204" pitchFamily="34" charset="-128"/>
              </a:defRPr>
            </a:lvl2pPr>
            <a:lvl3pPr marL="1143000" indent="-228600">
              <a:defRPr sz="2400" b="1">
                <a:solidFill>
                  <a:schemeClr val="bg2"/>
                </a:solidFill>
                <a:latin typeface="Times New Roman" panose="02020603050405020304" pitchFamily="18" charset="0"/>
                <a:ea typeface="ＭＳ Ｐゴシック" panose="020B0600070205080204" pitchFamily="34" charset="-128"/>
              </a:defRPr>
            </a:lvl3pPr>
            <a:lvl4pPr marL="1600200" indent="-228600">
              <a:defRPr sz="2400" b="1">
                <a:solidFill>
                  <a:schemeClr val="bg2"/>
                </a:solidFill>
                <a:latin typeface="Times New Roman" panose="02020603050405020304" pitchFamily="18" charset="0"/>
                <a:ea typeface="ＭＳ Ｐゴシック" panose="020B0600070205080204" pitchFamily="34" charset="-128"/>
              </a:defRPr>
            </a:lvl4pPr>
            <a:lvl5pPr marL="2057400" indent="-228600">
              <a:defRPr sz="2400" b="1">
                <a:solidFill>
                  <a:schemeClr val="bg2"/>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9pPr>
          </a:lstStyle>
          <a:p>
            <a:pPr algn="r" eaLnBrk="1" hangingPunct="1">
              <a:defRPr/>
            </a:pPr>
            <a:r>
              <a:rPr lang="en-US" altLang="en-US" sz="1000" b="0" dirty="0">
                <a:solidFill>
                  <a:schemeClr val="tx1"/>
                </a:solidFill>
                <a:latin typeface="+mj-lt"/>
                <a:cs typeface="Arial" panose="020B0604020202020204" pitchFamily="34" charset="0"/>
              </a:rPr>
              <a:t>© 2023 Oxford University Press</a:t>
            </a:r>
          </a:p>
        </p:txBody>
      </p:sp>
    </p:spTree>
    <p:extLst>
      <p:ext uri="{BB962C8B-B14F-4D97-AF65-F5344CB8AC3E}">
        <p14:creationId xmlns:p14="http://schemas.microsoft.com/office/powerpoint/2010/main" val="839490661"/>
      </p:ext>
    </p:extLst>
  </p:cSld>
  <p:clrMap bg1="lt1" tx1="dk1" bg2="lt2" tx2="dk2" accent1="accent1" accent2="accent2" accent3="accent3" accent4="accent4" accent5="accent5" accent6="accent6" hlink="hlink" folHlink="folHlink"/>
  <p:sldLayoutIdLst>
    <p:sldLayoutId id="2147483673" r:id="rId1"/>
    <p:sldLayoutId id="2147483652" r:id="rId2"/>
  </p:sldLayoutIdLst>
  <p:txStyles>
    <p:titleStyle>
      <a:lvl1pPr algn="ctr" defTabSz="914400" rtl="0" eaLnBrk="1" latinLnBrk="0" hangingPunct="1">
        <a:spcBef>
          <a:spcPct val="0"/>
        </a:spcBef>
        <a:buNone/>
        <a:defRPr sz="3600" kern="1200">
          <a:solidFill>
            <a:schemeClr val="tx2"/>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baseline="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12192000" cy="369332"/>
          </a:xfrm>
          <a:prstGeom prst="rect">
            <a:avLst/>
          </a:prstGeom>
          <a:solidFill>
            <a:srgbClr val="001A47"/>
          </a:solidFill>
        </p:spPr>
        <p:txBody>
          <a:bodyPr vert="horz" lIns="91440" tIns="45720" rIns="91440" bIns="45720" rtlCol="0" anchor="t" anchorCtr="0">
            <a:noAutofit/>
          </a:bodyPr>
          <a:lstStyle/>
          <a:p>
            <a:r>
              <a:rPr lang="en-US" dirty="0"/>
              <a:t>Click to edit Master title style</a:t>
            </a:r>
          </a:p>
        </p:txBody>
      </p:sp>
      <p:sp>
        <p:nvSpPr>
          <p:cNvPr id="4" name="Text Placeholder 3">
            <a:extLst>
              <a:ext uri="{FF2B5EF4-FFF2-40B4-BE49-F238E27FC236}">
                <a16:creationId xmlns:a16="http://schemas.microsoft.com/office/drawing/2014/main" id="{98CCD7AE-E6DE-4592-894F-F3E075B9E6C8}"/>
              </a:ext>
            </a:extLst>
          </p:cNvPr>
          <p:cNvSpPr>
            <a:spLocks noGrp="1"/>
          </p:cNvSpPr>
          <p:nvPr>
            <p:ph type="body" idx="1"/>
          </p:nvPr>
        </p:nvSpPr>
        <p:spPr>
          <a:xfrm>
            <a:off x="838200" y="952107"/>
            <a:ext cx="10515600" cy="522485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79565259"/>
      </p:ext>
    </p:extLst>
  </p:cSld>
  <p:clrMap bg1="lt1" tx1="dk1" bg2="lt2" tx2="dk2" accent1="accent1" accent2="accent2" accent3="accent3" accent4="accent4" accent5="accent5" accent6="accent6" hlink="hlink" folHlink="folHlink"/>
  <p:sldLayoutIdLst>
    <p:sldLayoutId id="2147483680" r:id="rId1"/>
    <p:sldLayoutId id="2147483679" r:id="rId2"/>
  </p:sldLayoutIdLst>
  <p:txStyles>
    <p:titleStyle>
      <a:lvl1pPr algn="l" defTabSz="914400" rtl="0" eaLnBrk="1" latinLnBrk="0" hangingPunct="1">
        <a:spcBef>
          <a:spcPct val="0"/>
        </a:spcBef>
        <a:buNone/>
        <a:defRPr sz="18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baseline="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Psychopharmacology: Drugs, the Brain, and </a:t>
            </a:r>
            <a:r>
              <a:rPr lang="en-GB" dirty="0" err="1"/>
              <a:t>Behavior</a:t>
            </a:r>
            <a:endParaRPr lang="en-US" b="1" i="0" dirty="0"/>
          </a:p>
        </p:txBody>
      </p:sp>
      <p:sp>
        <p:nvSpPr>
          <p:cNvPr id="4" name="Text Placeholder 3"/>
          <p:cNvSpPr>
            <a:spLocks noGrp="1"/>
          </p:cNvSpPr>
          <p:nvPr>
            <p:ph type="body" sz="quarter" idx="11"/>
          </p:nvPr>
        </p:nvSpPr>
        <p:spPr/>
        <p:txBody>
          <a:bodyPr/>
          <a:lstStyle/>
          <a:p>
            <a:r>
              <a:rPr lang="en-US"/>
              <a:t>by Meyer, Farrar, Biezonski, Yates</a:t>
            </a:r>
            <a:endParaRPr lang="en-US" dirty="0"/>
          </a:p>
        </p:txBody>
      </p:sp>
      <p:pic>
        <p:nvPicPr>
          <p:cNvPr id="8" name="Picture Placeholder 7" descr="Cover image for Psychopharmacology, Fourth Edition.">
            <a:extLst>
              <a:ext uri="{FF2B5EF4-FFF2-40B4-BE49-F238E27FC236}">
                <a16:creationId xmlns:a16="http://schemas.microsoft.com/office/drawing/2014/main" id="{3C56F26D-84E7-4578-9ED6-ACB6F71FF233}"/>
              </a:ext>
            </a:extLst>
          </p:cNvPr>
          <p:cNvPicPr>
            <a:picLocks noGrp="1" noChangeAspect="1"/>
          </p:cNvPicPr>
          <p:nvPr>
            <p:ph type="pic" sz="quarter" idx="10"/>
          </p:nvPr>
        </p:nvPicPr>
        <p:blipFill>
          <a:blip r:embed="rId3"/>
          <a:stretch>
            <a:fillRect/>
          </a:stretch>
        </p:blipFill>
        <p:spPr>
          <a:xfrm>
            <a:off x="4267824" y="1818587"/>
            <a:ext cx="3656351" cy="4413095"/>
          </a:xfrm>
          <a:prstGeom prst="rect">
            <a:avLst/>
          </a:prstGeom>
        </p:spPr>
      </p:pic>
    </p:spTree>
    <p:extLst>
      <p:ext uri="{BB962C8B-B14F-4D97-AF65-F5344CB8AC3E}">
        <p14:creationId xmlns:p14="http://schemas.microsoft.com/office/powerpoint/2010/main" val="2010608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Chapter 9</a:t>
            </a:r>
            <a:br>
              <a:rPr lang="en-US" dirty="0"/>
            </a:br>
            <a:r>
              <a:rPr lang="en-US" sz="4000" i="1" dirty="0"/>
              <a:t>Drug Misuse and Addiction</a:t>
            </a:r>
            <a:endParaRPr lang="en-US" i="1" dirty="0"/>
          </a:p>
        </p:txBody>
      </p:sp>
      <p:sp>
        <p:nvSpPr>
          <p:cNvPr id="3" name="Text Placeholder 2"/>
          <p:cNvSpPr>
            <a:spLocks noGrp="1"/>
          </p:cNvSpPr>
          <p:nvPr>
            <p:ph idx="1"/>
          </p:nvPr>
        </p:nvSpPr>
        <p:spPr/>
        <p:txBody>
          <a:bodyPr/>
          <a:lstStyle/>
          <a:p>
            <a:pPr marL="914400" indent="-914400">
              <a:spcBef>
                <a:spcPts val="2400"/>
              </a:spcBef>
              <a:buNone/>
            </a:pPr>
            <a:r>
              <a:rPr lang="en-US" sz="3200" dirty="0"/>
              <a:t>9.1  Introduction to Drug Misuse and Addiction</a:t>
            </a:r>
          </a:p>
          <a:p>
            <a:pPr marL="914400" indent="-914400">
              <a:spcBef>
                <a:spcPts val="2400"/>
              </a:spcBef>
              <a:buNone/>
            </a:pPr>
            <a:r>
              <a:rPr lang="en-US" sz="3200" dirty="0"/>
              <a:t>9.2  Features of Drug Misuse and Addiction</a:t>
            </a:r>
          </a:p>
          <a:p>
            <a:pPr marL="914400" indent="-914400">
              <a:spcBef>
                <a:spcPts val="2400"/>
              </a:spcBef>
              <a:buNone/>
            </a:pPr>
            <a:r>
              <a:rPr lang="en-US" sz="3200" dirty="0"/>
              <a:t>9.3  Factors That Influence the Development and Maintenance of Drug Misuse and Addiction</a:t>
            </a:r>
          </a:p>
          <a:p>
            <a:pPr marL="914400" indent="-914400">
              <a:spcBef>
                <a:spcPts val="2400"/>
              </a:spcBef>
              <a:buNone/>
            </a:pPr>
            <a:r>
              <a:rPr lang="en-US" sz="3200" dirty="0"/>
              <a:t>9.4  The Neurobiology of Drug Addiction</a:t>
            </a:r>
          </a:p>
        </p:txBody>
      </p:sp>
    </p:spTree>
    <p:extLst>
      <p:ext uri="{BB962C8B-B14F-4D97-AF65-F5344CB8AC3E}">
        <p14:creationId xmlns:p14="http://schemas.microsoft.com/office/powerpoint/2010/main" val="729111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Chapter 9</a:t>
            </a:r>
            <a:br>
              <a:rPr lang="en-US" dirty="0"/>
            </a:br>
            <a:r>
              <a:rPr lang="en-US" sz="4000" dirty="0"/>
              <a:t>Learning Objectives </a:t>
            </a:r>
            <a:r>
              <a:rPr lang="en-US" sz="1300" dirty="0"/>
              <a:t>(1 of 4)</a:t>
            </a:r>
            <a:endParaRPr lang="en-US" dirty="0"/>
          </a:p>
        </p:txBody>
      </p:sp>
      <p:sp>
        <p:nvSpPr>
          <p:cNvPr id="3" name="Text Placeholder 2"/>
          <p:cNvSpPr>
            <a:spLocks noGrp="1"/>
          </p:cNvSpPr>
          <p:nvPr>
            <p:ph idx="1"/>
          </p:nvPr>
        </p:nvSpPr>
        <p:spPr/>
        <p:txBody>
          <a:bodyPr>
            <a:normAutofit/>
          </a:bodyPr>
          <a:lstStyle/>
          <a:p>
            <a:pPr marL="914400" indent="-914400">
              <a:lnSpc>
                <a:spcPct val="110000"/>
              </a:lnSpc>
              <a:buNone/>
            </a:pPr>
            <a:r>
              <a:rPr lang="en-US" dirty="0"/>
              <a:t>9.1.1  Describe basic information about psychoactive drug use in the United States.</a:t>
            </a:r>
          </a:p>
          <a:p>
            <a:pPr marL="914400" indent="-914400">
              <a:lnSpc>
                <a:spcPct val="110000"/>
              </a:lnSpc>
              <a:buNone/>
            </a:pPr>
            <a:r>
              <a:rPr lang="en-US" dirty="0"/>
              <a:t>9.1.2  Explain historical trends in drug use and laws pertaining to such use.</a:t>
            </a:r>
          </a:p>
        </p:txBody>
      </p:sp>
    </p:spTree>
    <p:extLst>
      <p:ext uri="{BB962C8B-B14F-4D97-AF65-F5344CB8AC3E}">
        <p14:creationId xmlns:p14="http://schemas.microsoft.com/office/powerpoint/2010/main" val="14606864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kumimoji="0" lang="en-US" sz="3600" b="0" i="0" u="none" strike="noStrike" kern="1200" cap="none" spc="0" normalizeH="0" baseline="0" noProof="0" dirty="0">
                <a:ln>
                  <a:noFill/>
                </a:ln>
                <a:solidFill>
                  <a:srgbClr val="1F497D"/>
                </a:solidFill>
                <a:effectLst/>
                <a:uLnTx/>
                <a:uFillTx/>
                <a:latin typeface="Calibri"/>
                <a:ea typeface="+mj-ea"/>
                <a:cs typeface="+mj-cs"/>
              </a:rPr>
              <a:t>Chapter 9</a:t>
            </a:r>
            <a:br>
              <a:rPr kumimoji="0" lang="en-US" sz="3600" b="0" i="0" u="none" strike="noStrike" kern="1200" cap="none" spc="0" normalizeH="0" baseline="0" noProof="0" dirty="0">
                <a:ln>
                  <a:noFill/>
                </a:ln>
                <a:solidFill>
                  <a:srgbClr val="1F497D"/>
                </a:solidFill>
                <a:effectLst/>
                <a:uLnTx/>
                <a:uFillTx/>
                <a:latin typeface="Calibri"/>
                <a:ea typeface="+mj-ea"/>
                <a:cs typeface="+mj-cs"/>
              </a:rPr>
            </a:br>
            <a:r>
              <a:rPr kumimoji="0" lang="en-US" sz="4000" b="0" i="0" u="none" strike="noStrike" kern="1200" cap="none" spc="0" normalizeH="0" baseline="0" noProof="0" dirty="0">
                <a:ln>
                  <a:noFill/>
                </a:ln>
                <a:solidFill>
                  <a:srgbClr val="1F497D"/>
                </a:solidFill>
                <a:effectLst/>
                <a:uLnTx/>
                <a:uFillTx/>
                <a:latin typeface="Calibri"/>
                <a:ea typeface="+mj-ea"/>
                <a:cs typeface="+mj-cs"/>
              </a:rPr>
              <a:t>Learning Objectives </a:t>
            </a:r>
            <a:r>
              <a:rPr kumimoji="0" lang="en-US" sz="1300" b="0" i="0" u="none" strike="noStrike" kern="1200" cap="none" spc="0" normalizeH="0" baseline="0" noProof="0" dirty="0">
                <a:ln>
                  <a:noFill/>
                </a:ln>
                <a:solidFill>
                  <a:srgbClr val="1F497D"/>
                </a:solidFill>
                <a:effectLst/>
                <a:uLnTx/>
                <a:uFillTx/>
                <a:latin typeface="Calibri"/>
                <a:ea typeface="+mj-ea"/>
                <a:cs typeface="+mj-cs"/>
              </a:rPr>
              <a:t>(2 of 4)</a:t>
            </a:r>
            <a:endParaRPr lang="en-US" dirty="0"/>
          </a:p>
        </p:txBody>
      </p:sp>
      <p:sp>
        <p:nvSpPr>
          <p:cNvPr id="3" name="Text Placeholder 2"/>
          <p:cNvSpPr>
            <a:spLocks noGrp="1"/>
          </p:cNvSpPr>
          <p:nvPr>
            <p:ph idx="1"/>
          </p:nvPr>
        </p:nvSpPr>
        <p:spPr>
          <a:xfrm>
            <a:off x="609600" y="1792465"/>
            <a:ext cx="10972800" cy="4597449"/>
          </a:xfrm>
        </p:spPr>
        <p:txBody>
          <a:bodyPr>
            <a:normAutofit fontScale="92500" lnSpcReduction="10000"/>
          </a:bodyPr>
          <a:lstStyle/>
          <a:p>
            <a:pPr marL="914400" indent="-914400">
              <a:spcBef>
                <a:spcPts val="1200"/>
              </a:spcBef>
              <a:buNone/>
            </a:pPr>
            <a:r>
              <a:rPr lang="en-US" sz="2400" dirty="0"/>
              <a:t>9.2.1  Explain why drug addiction is currently conceptualized as a chronic, relapsing behavioral disorder.</a:t>
            </a:r>
          </a:p>
          <a:p>
            <a:pPr marL="914400" indent="-914400">
              <a:spcBef>
                <a:spcPts val="1200"/>
              </a:spcBef>
              <a:buNone/>
            </a:pPr>
            <a:r>
              <a:rPr lang="en-US" sz="2400" dirty="0"/>
              <a:t>9.2.2  (a) Discuss how the latest edition of the Diagnostic and Statistical Manual of Mental Disorders (DSM-5) has replaced the term “drug addiction” with a diagnostic category called “substance-related disorders,” and list the 10 designated classes of drugs under this category, and (b) describe the DSM-5 criteria for a “substance use disorder,” including the specification of a “mild,” “moderate,” or “severe” disorder.</a:t>
            </a:r>
          </a:p>
          <a:p>
            <a:pPr marL="914400" indent="-914400">
              <a:spcBef>
                <a:spcPts val="1200"/>
              </a:spcBef>
              <a:buNone/>
            </a:pPr>
            <a:r>
              <a:rPr lang="en-US" sz="2400" dirty="0"/>
              <a:t>9.2.3  Discuss the concept of behavioral addictions and the process involved in determining whether a compulsively performed behavior might qualify as addictive.</a:t>
            </a:r>
          </a:p>
          <a:p>
            <a:pPr marL="914400" indent="-914400">
              <a:spcBef>
                <a:spcPts val="1200"/>
              </a:spcBef>
              <a:buNone/>
            </a:pPr>
            <a:r>
              <a:rPr lang="en-US" sz="2400" dirty="0"/>
              <a:t>9.2.4  Describe the two types of progression in drug use: (a) changes in which drugs are being used by an individual, and (b) changes in amount, pattern of use, and consequences of use of a particular drug, especially in relation to the development of addiction to that drug.</a:t>
            </a:r>
          </a:p>
        </p:txBody>
      </p:sp>
    </p:spTree>
    <p:extLst>
      <p:ext uri="{BB962C8B-B14F-4D97-AF65-F5344CB8AC3E}">
        <p14:creationId xmlns:p14="http://schemas.microsoft.com/office/powerpoint/2010/main" val="40467144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kumimoji="0" lang="en-US" sz="3600" b="0" i="0" u="none" strike="noStrike" kern="1200" cap="none" spc="0" normalizeH="0" baseline="0" noProof="0" dirty="0">
                <a:ln>
                  <a:noFill/>
                </a:ln>
                <a:solidFill>
                  <a:srgbClr val="1F497D"/>
                </a:solidFill>
                <a:effectLst/>
                <a:uLnTx/>
                <a:uFillTx/>
                <a:latin typeface="Calibri"/>
                <a:ea typeface="+mj-ea"/>
                <a:cs typeface="+mj-cs"/>
              </a:rPr>
              <a:t>Chapter 9</a:t>
            </a:r>
            <a:br>
              <a:rPr kumimoji="0" lang="en-US" sz="3600" b="0" i="0" u="none" strike="noStrike" kern="1200" cap="none" spc="0" normalizeH="0" baseline="0" noProof="0" dirty="0">
                <a:ln>
                  <a:noFill/>
                </a:ln>
                <a:solidFill>
                  <a:srgbClr val="1F497D"/>
                </a:solidFill>
                <a:effectLst/>
                <a:uLnTx/>
                <a:uFillTx/>
                <a:latin typeface="Calibri"/>
                <a:ea typeface="+mj-ea"/>
                <a:cs typeface="+mj-cs"/>
              </a:rPr>
            </a:br>
            <a:r>
              <a:rPr kumimoji="0" lang="en-US" sz="4000" b="0" i="0" u="none" strike="noStrike" kern="1200" cap="none" spc="0" normalizeH="0" baseline="0" noProof="0" dirty="0">
                <a:ln>
                  <a:noFill/>
                </a:ln>
                <a:solidFill>
                  <a:srgbClr val="1F497D"/>
                </a:solidFill>
                <a:effectLst/>
                <a:uLnTx/>
                <a:uFillTx/>
                <a:latin typeface="Calibri"/>
                <a:ea typeface="+mj-ea"/>
                <a:cs typeface="+mj-cs"/>
              </a:rPr>
              <a:t>Learning Objectives </a:t>
            </a:r>
            <a:r>
              <a:rPr kumimoji="0" lang="en-US" sz="1300" b="0" i="0" u="none" strike="noStrike" kern="1200" cap="none" spc="0" normalizeH="0" baseline="0" noProof="0" dirty="0">
                <a:ln>
                  <a:noFill/>
                </a:ln>
                <a:solidFill>
                  <a:srgbClr val="1F497D"/>
                </a:solidFill>
                <a:effectLst/>
                <a:uLnTx/>
                <a:uFillTx/>
                <a:latin typeface="Calibri"/>
                <a:ea typeface="+mj-ea"/>
                <a:cs typeface="+mj-cs"/>
              </a:rPr>
              <a:t>(3 of 4)</a:t>
            </a:r>
            <a:endParaRPr lang="en-US" dirty="0"/>
          </a:p>
        </p:txBody>
      </p:sp>
      <p:sp>
        <p:nvSpPr>
          <p:cNvPr id="3" name="Text Placeholder 2"/>
          <p:cNvSpPr>
            <a:spLocks noGrp="1"/>
          </p:cNvSpPr>
          <p:nvPr>
            <p:ph idx="1"/>
          </p:nvPr>
        </p:nvSpPr>
        <p:spPr/>
        <p:txBody>
          <a:bodyPr>
            <a:normAutofit fontScale="92500" lnSpcReduction="10000"/>
          </a:bodyPr>
          <a:lstStyle/>
          <a:p>
            <a:pPr marL="914400" indent="-914400">
              <a:spcBef>
                <a:spcPts val="1200"/>
              </a:spcBef>
              <a:buNone/>
            </a:pPr>
            <a:r>
              <a:rPr lang="en-US" dirty="0"/>
              <a:t>9.3.1  Explain how the route of administration of a drug influences its addictive potential.</a:t>
            </a:r>
          </a:p>
          <a:p>
            <a:pPr marL="914400" indent="-914400">
              <a:spcBef>
                <a:spcPts val="1200"/>
              </a:spcBef>
              <a:buNone/>
            </a:pPr>
            <a:r>
              <a:rPr lang="en-US" dirty="0"/>
              <a:t>9.3.2  (a) Describe the phenomena of drug reward and reinforcement and how they are studied using animal models, and (b) explain the role of withdrawal symptoms in the development and maintenance of drug addiction.</a:t>
            </a:r>
          </a:p>
          <a:p>
            <a:pPr marL="914400" indent="-914400">
              <a:spcBef>
                <a:spcPts val="1200"/>
              </a:spcBef>
              <a:buNone/>
            </a:pPr>
            <a:r>
              <a:rPr lang="en-US" dirty="0"/>
              <a:t>9.3.3  Explain the meaning and importance of drug discriminative stimulus effects.</a:t>
            </a:r>
          </a:p>
          <a:p>
            <a:pPr marL="914400" indent="-914400">
              <a:spcBef>
                <a:spcPts val="1200"/>
              </a:spcBef>
              <a:buNone/>
            </a:pPr>
            <a:r>
              <a:rPr lang="en-US" dirty="0"/>
              <a:t>9.3.4  (a) Describe the roles of genetics, psychosocial variables, and biological sex in drug use and addiction, and (b) discuss the phenomenon of natural recovery from drug misuse and addiction.</a:t>
            </a:r>
          </a:p>
        </p:txBody>
      </p:sp>
    </p:spTree>
    <p:extLst>
      <p:ext uri="{BB962C8B-B14F-4D97-AF65-F5344CB8AC3E}">
        <p14:creationId xmlns:p14="http://schemas.microsoft.com/office/powerpoint/2010/main" val="37651084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kumimoji="0" lang="en-US" sz="3600" b="0" i="0" u="none" strike="noStrike" kern="1200" cap="none" spc="0" normalizeH="0" baseline="0" noProof="0" dirty="0">
                <a:ln>
                  <a:noFill/>
                </a:ln>
                <a:solidFill>
                  <a:srgbClr val="1F497D"/>
                </a:solidFill>
                <a:effectLst/>
                <a:uLnTx/>
                <a:uFillTx/>
                <a:latin typeface="Calibri"/>
                <a:ea typeface="+mj-ea"/>
                <a:cs typeface="+mj-cs"/>
              </a:rPr>
              <a:t>Chapter 9</a:t>
            </a:r>
            <a:br>
              <a:rPr kumimoji="0" lang="en-US" sz="3600" b="0" i="0" u="none" strike="noStrike" kern="1200" cap="none" spc="0" normalizeH="0" baseline="0" noProof="0" dirty="0">
                <a:ln>
                  <a:noFill/>
                </a:ln>
                <a:solidFill>
                  <a:srgbClr val="1F497D"/>
                </a:solidFill>
                <a:effectLst/>
                <a:uLnTx/>
                <a:uFillTx/>
                <a:latin typeface="Calibri"/>
                <a:ea typeface="+mj-ea"/>
                <a:cs typeface="+mj-cs"/>
              </a:rPr>
            </a:br>
            <a:r>
              <a:rPr kumimoji="0" lang="en-US" sz="4000" b="0" i="0" u="none" strike="noStrike" kern="1200" cap="none" spc="0" normalizeH="0" baseline="0" noProof="0" dirty="0">
                <a:ln>
                  <a:noFill/>
                </a:ln>
                <a:solidFill>
                  <a:srgbClr val="1F497D"/>
                </a:solidFill>
                <a:effectLst/>
                <a:uLnTx/>
                <a:uFillTx/>
                <a:latin typeface="Calibri"/>
                <a:ea typeface="+mj-ea"/>
                <a:cs typeface="+mj-cs"/>
              </a:rPr>
              <a:t>Learning Objectives </a:t>
            </a:r>
            <a:r>
              <a:rPr kumimoji="0" lang="en-US" sz="1300" b="0" i="0" u="none" strike="noStrike" kern="1200" cap="none" spc="0" normalizeH="0" baseline="0" noProof="0" dirty="0">
                <a:ln>
                  <a:noFill/>
                </a:ln>
                <a:solidFill>
                  <a:srgbClr val="1F497D"/>
                </a:solidFill>
                <a:effectLst/>
                <a:uLnTx/>
                <a:uFillTx/>
                <a:latin typeface="Calibri"/>
                <a:ea typeface="+mj-ea"/>
                <a:cs typeface="+mj-cs"/>
              </a:rPr>
              <a:t>(4 of 4)</a:t>
            </a:r>
            <a:endParaRPr lang="en-US" dirty="0"/>
          </a:p>
        </p:txBody>
      </p:sp>
      <p:sp>
        <p:nvSpPr>
          <p:cNvPr id="3" name="Text Placeholder 2"/>
          <p:cNvSpPr>
            <a:spLocks noGrp="1"/>
          </p:cNvSpPr>
          <p:nvPr>
            <p:ph idx="1"/>
          </p:nvPr>
        </p:nvSpPr>
        <p:spPr/>
        <p:txBody>
          <a:bodyPr>
            <a:normAutofit fontScale="92500" lnSpcReduction="20000"/>
          </a:bodyPr>
          <a:lstStyle/>
          <a:p>
            <a:pPr marL="914400" indent="-914400">
              <a:spcBef>
                <a:spcPts val="1200"/>
              </a:spcBef>
              <a:buNone/>
            </a:pPr>
            <a:r>
              <a:rPr lang="en-US" dirty="0"/>
              <a:t>9.4.1  Explain the three-stage model of substance use that can lead to drug addiction.</a:t>
            </a:r>
          </a:p>
          <a:p>
            <a:pPr marL="914400" indent="-914400">
              <a:spcBef>
                <a:spcPts val="1200"/>
              </a:spcBef>
              <a:buNone/>
            </a:pPr>
            <a:r>
              <a:rPr lang="en-US" dirty="0"/>
              <a:t>9.4.2  (a) Describe the roles of the brain’s reward circuit and incentive salience in the binge/preoccupation stage of the substance use cycle, and (b) contrast the multiple theories of dopamine’s involvement in motivating substance use.</a:t>
            </a:r>
          </a:p>
          <a:p>
            <a:pPr marL="914400" indent="-914400">
              <a:spcBef>
                <a:spcPts val="1200"/>
              </a:spcBef>
              <a:buNone/>
            </a:pPr>
            <a:r>
              <a:rPr lang="en-US" dirty="0"/>
              <a:t>9.4.3  (a) Describe the role of stress and the antireward system in the withdrawal/negative affect stage of the substance use cycle, and (b) describe the roles of the prefrontal cortex and </a:t>
            </a:r>
            <a:r>
              <a:rPr lang="en-US" dirty="0" err="1"/>
              <a:t>corticostriatal</a:t>
            </a:r>
            <a:r>
              <a:rPr lang="en-US" dirty="0"/>
              <a:t> circuitry in the preoccupation/anticipation stage of substance use cycle.</a:t>
            </a:r>
          </a:p>
          <a:p>
            <a:pPr marL="914400" indent="-914400">
              <a:spcBef>
                <a:spcPts val="1200"/>
              </a:spcBef>
              <a:buNone/>
            </a:pPr>
            <a:r>
              <a:rPr lang="en-US" dirty="0"/>
              <a:t>9.4.4  Explain the molecular and synaptic adaptations that contribute to the development and persistence of drug addiction. </a:t>
            </a:r>
          </a:p>
        </p:txBody>
      </p:sp>
    </p:spTree>
    <p:extLst>
      <p:ext uri="{BB962C8B-B14F-4D97-AF65-F5344CB8AC3E}">
        <p14:creationId xmlns:p14="http://schemas.microsoft.com/office/powerpoint/2010/main" val="6317757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Drug Misuse and Addiction </a:t>
            </a:r>
            <a:r>
              <a:rPr lang="en-US" sz="1200" dirty="0"/>
              <a:t>(1 of 3)</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Recreational drugs are widely consumed in our society</a:t>
            </a:r>
          </a:p>
          <a:p>
            <a:pPr>
              <a:spcBef>
                <a:spcPts val="1800"/>
              </a:spcBef>
            </a:pPr>
            <a:r>
              <a:rPr lang="en-US" dirty="0"/>
              <a:t>Recreational drug: psychoactive substance consumed voluntarily; has the potential to be used in a problematic way</a:t>
            </a:r>
          </a:p>
          <a:p>
            <a:pPr>
              <a:spcBef>
                <a:spcPts val="1800"/>
              </a:spcBef>
            </a:pPr>
            <a:r>
              <a:rPr lang="en-US" dirty="0"/>
              <a:t>Illegal drug use in the U.S.: </a:t>
            </a:r>
          </a:p>
          <a:p>
            <a:pPr lvl="1">
              <a:spcBef>
                <a:spcPts val="1800"/>
              </a:spcBef>
            </a:pPr>
            <a:r>
              <a:rPr lang="en-US" dirty="0"/>
              <a:t>Most common is marijuana</a:t>
            </a:r>
          </a:p>
          <a:p>
            <a:pPr lvl="1">
              <a:spcBef>
                <a:spcPts val="1800"/>
              </a:spcBef>
            </a:pPr>
            <a:r>
              <a:rPr lang="en-US" dirty="0"/>
              <a:t>Most prevalent among young adults</a:t>
            </a:r>
          </a:p>
          <a:p>
            <a:pPr>
              <a:spcBef>
                <a:spcPts val="1800"/>
              </a:spcBef>
            </a:pPr>
            <a:r>
              <a:rPr lang="en-US" dirty="0"/>
              <a:t>Legal drugs: alcohol and tobacco</a:t>
            </a:r>
          </a:p>
        </p:txBody>
      </p:sp>
    </p:spTree>
    <p:extLst>
      <p:ext uri="{BB962C8B-B14F-4D97-AF65-F5344CB8AC3E}">
        <p14:creationId xmlns:p14="http://schemas.microsoft.com/office/powerpoint/2010/main" val="26660090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DA5DD-DC63-1B42-A1AF-635C40DB28C6}"/>
              </a:ext>
            </a:extLst>
          </p:cNvPr>
          <p:cNvSpPr>
            <a:spLocks noGrp="1"/>
          </p:cNvSpPr>
          <p:nvPr>
            <p:ph type="title"/>
          </p:nvPr>
        </p:nvSpPr>
        <p:spPr/>
        <p:txBody>
          <a:bodyPr/>
          <a:lstStyle/>
          <a:p>
            <a:r>
              <a:rPr lang="en-US" cap="all" dirty="0"/>
              <a:t>FIGURE 9.1</a:t>
            </a:r>
            <a:r>
              <a:rPr lang="en-US" dirty="0"/>
              <a:t>  Data on illegal drug use in the United States </a:t>
            </a:r>
          </a:p>
        </p:txBody>
      </p:sp>
      <p:pic>
        <p:nvPicPr>
          <p:cNvPr id="6" name="Content Placeholder 5" descr="A graphical representation of the number of people using different drugs over the past year. A pie chart states 218 million people that is 79.2 percentage, have not used any illegal drug in the prior year, and 57.2 million people that is 20.8 percentage have used illicit drugs in the prior year. The graph represents the number of past-year users with intervals of 10 along the x-axis and different drugs along the y-axis. Out of 57.2 million people, 48.2 million people use marijuana, 9.7 million misuse pain-relieving medications, 6 million use hallucinogens, 5.9 million misuse tranquilizers, and sedatives, 5.5 million use cocaine, 4.9 million misuse stimulants, 2.1 million use inhalants, 2 million use methamphetamine, and 745,000 people use heroin."/>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863367" y="479425"/>
            <a:ext cx="6465266" cy="6300788"/>
          </a:xfrm>
        </p:spPr>
      </p:pic>
    </p:spTree>
    <p:extLst>
      <p:ext uri="{BB962C8B-B14F-4D97-AF65-F5344CB8AC3E}">
        <p14:creationId xmlns:p14="http://schemas.microsoft.com/office/powerpoint/2010/main" val="1909487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Drug Misuse and Addiction </a:t>
            </a:r>
            <a:r>
              <a:rPr lang="en-US" sz="1200" dirty="0"/>
              <a:t>(2 of 3)</a:t>
            </a:r>
            <a:endParaRPr lang="en-US" dirty="0"/>
          </a:p>
        </p:txBody>
      </p:sp>
      <p:sp>
        <p:nvSpPr>
          <p:cNvPr id="3" name="Text Placeholder 2"/>
          <p:cNvSpPr>
            <a:spLocks noGrp="1"/>
          </p:cNvSpPr>
          <p:nvPr>
            <p:ph idx="1"/>
          </p:nvPr>
        </p:nvSpPr>
        <p:spPr/>
        <p:txBody>
          <a:bodyPr>
            <a:normAutofit lnSpcReduction="10000"/>
          </a:bodyPr>
          <a:lstStyle/>
          <a:p>
            <a:pPr marL="457200" indent="-457200">
              <a:lnSpc>
                <a:spcPct val="120000"/>
              </a:lnSpc>
              <a:spcBef>
                <a:spcPts val="1200"/>
              </a:spcBef>
              <a:buNone/>
            </a:pPr>
            <a:r>
              <a:rPr lang="en-US" sz="3200" dirty="0"/>
              <a:t>Recreational drugs are widely consumed in our society</a:t>
            </a:r>
          </a:p>
          <a:p>
            <a:pPr>
              <a:spcBef>
                <a:spcPts val="1200"/>
              </a:spcBef>
            </a:pPr>
            <a:r>
              <a:rPr lang="en-US" dirty="0"/>
              <a:t>200 years ago, drugs available included alcohol, caffeine, tobacco, and opium</a:t>
            </a:r>
          </a:p>
          <a:p>
            <a:pPr>
              <a:spcBef>
                <a:spcPts val="1200"/>
              </a:spcBef>
            </a:pPr>
            <a:r>
              <a:rPr lang="en-US" dirty="0"/>
              <a:t>19</a:t>
            </a:r>
            <a:r>
              <a:rPr lang="en-US" baseline="30000" dirty="0"/>
              <a:t>th</a:t>
            </a:r>
            <a:r>
              <a:rPr lang="en-US" dirty="0"/>
              <a:t> century: purification of morphine and cocaine; development of hypodermic syringe</a:t>
            </a:r>
          </a:p>
          <a:p>
            <a:pPr>
              <a:spcBef>
                <a:spcPts val="1200"/>
              </a:spcBef>
            </a:pPr>
            <a:r>
              <a:rPr lang="en-US" dirty="0"/>
              <a:t>Cocaine and heroin were used in tonics and cough syrups; there were no drug control laws</a:t>
            </a:r>
          </a:p>
          <a:p>
            <a:pPr>
              <a:spcBef>
                <a:spcPts val="1200"/>
              </a:spcBef>
            </a:pPr>
            <a:r>
              <a:rPr lang="en-US" dirty="0"/>
              <a:t>Late 20</a:t>
            </a:r>
            <a:r>
              <a:rPr lang="en-US" baseline="30000" dirty="0"/>
              <a:t>th</a:t>
            </a:r>
            <a:r>
              <a:rPr lang="en-US" dirty="0"/>
              <a:t> century: medicalization of drug addiction – addiction was thought of as a disease</a:t>
            </a:r>
          </a:p>
        </p:txBody>
      </p:sp>
    </p:spTree>
    <p:extLst>
      <p:ext uri="{BB962C8B-B14F-4D97-AF65-F5344CB8AC3E}">
        <p14:creationId xmlns:p14="http://schemas.microsoft.com/office/powerpoint/2010/main" val="4152199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Drug Misuse and Addiction </a:t>
            </a:r>
            <a:r>
              <a:rPr lang="en-US" sz="1200" dirty="0"/>
              <a:t>(3 of 3)</a:t>
            </a:r>
            <a:endParaRPr lang="en-US" dirty="0"/>
          </a:p>
        </p:txBody>
      </p:sp>
      <p:sp>
        <p:nvSpPr>
          <p:cNvPr id="3" name="Text Placeholder 2"/>
          <p:cNvSpPr>
            <a:spLocks noGrp="1"/>
          </p:cNvSpPr>
          <p:nvPr>
            <p:ph idx="1"/>
          </p:nvPr>
        </p:nvSpPr>
        <p:spPr/>
        <p:txBody>
          <a:bodyPr>
            <a:normAutofit fontScale="92500" lnSpcReduction="20000"/>
          </a:bodyPr>
          <a:lstStyle/>
          <a:p>
            <a:pPr marL="457200" indent="-457200">
              <a:lnSpc>
                <a:spcPct val="130000"/>
              </a:lnSpc>
              <a:spcBef>
                <a:spcPts val="1200"/>
              </a:spcBef>
              <a:buNone/>
            </a:pPr>
            <a:r>
              <a:rPr lang="en-US" sz="3500" dirty="0"/>
              <a:t>Recreational drugs are widely consumed in our society</a:t>
            </a:r>
          </a:p>
          <a:p>
            <a:pPr>
              <a:spcBef>
                <a:spcPts val="1200"/>
              </a:spcBef>
            </a:pPr>
            <a:r>
              <a:rPr lang="en-US" dirty="0"/>
              <a:t>Federal drug laws began with purity of food and medications; accurate labeling</a:t>
            </a:r>
          </a:p>
          <a:p>
            <a:pPr>
              <a:spcBef>
                <a:spcPts val="1200"/>
              </a:spcBef>
            </a:pPr>
            <a:r>
              <a:rPr lang="en-US" dirty="0"/>
              <a:t>Harrison Act, 1914: regulated opiates and cocaine; addicts turned to street dealers</a:t>
            </a:r>
          </a:p>
          <a:p>
            <a:pPr>
              <a:spcBef>
                <a:spcPts val="1200"/>
              </a:spcBef>
            </a:pPr>
            <a:r>
              <a:rPr lang="en-US" dirty="0"/>
              <a:t>1920: alcohol prohibition (18</a:t>
            </a:r>
            <a:r>
              <a:rPr lang="en-US" baseline="30000" dirty="0"/>
              <a:t>th</a:t>
            </a:r>
            <a:r>
              <a:rPr lang="en-US" dirty="0"/>
              <a:t> Amendment); spawned organized crime movement</a:t>
            </a:r>
          </a:p>
          <a:p>
            <a:pPr>
              <a:spcBef>
                <a:spcPts val="1200"/>
              </a:spcBef>
            </a:pPr>
            <a:r>
              <a:rPr lang="en-US" dirty="0"/>
              <a:t>1937: Nonmedical marijuana use banned </a:t>
            </a:r>
          </a:p>
          <a:p>
            <a:pPr>
              <a:spcBef>
                <a:spcPts val="1200"/>
              </a:spcBef>
            </a:pPr>
            <a:r>
              <a:rPr lang="en-US" dirty="0"/>
              <a:t>1970: Controlled Substances Act (CSA) - classifies potentially addictive drugs into five categories, or schedules</a:t>
            </a:r>
          </a:p>
        </p:txBody>
      </p:sp>
    </p:spTree>
    <p:extLst>
      <p:ext uri="{BB962C8B-B14F-4D97-AF65-F5344CB8AC3E}">
        <p14:creationId xmlns:p14="http://schemas.microsoft.com/office/powerpoint/2010/main" val="15771586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Review of Learning Objectives </a:t>
            </a:r>
            <a:r>
              <a:rPr lang="en-US" sz="1200" dirty="0"/>
              <a:t>(1 of 4)</a:t>
            </a:r>
            <a:endParaRPr lang="en-US" dirty="0"/>
          </a:p>
        </p:txBody>
      </p:sp>
      <p:sp>
        <p:nvSpPr>
          <p:cNvPr id="3" name="Text Placeholder 2"/>
          <p:cNvSpPr>
            <a:spLocks noGrp="1"/>
          </p:cNvSpPr>
          <p:nvPr>
            <p:ph idx="1"/>
          </p:nvPr>
        </p:nvSpPr>
        <p:spPr/>
        <p:txBody>
          <a:bodyPr>
            <a:normAutofit/>
          </a:bodyPr>
          <a:lstStyle/>
          <a:p>
            <a:pPr marL="914400" indent="-914400">
              <a:lnSpc>
                <a:spcPct val="110000"/>
              </a:lnSpc>
              <a:buNone/>
            </a:pPr>
            <a:r>
              <a:rPr lang="en-US" dirty="0"/>
              <a:t>9.1.1  Describe basic information about psychoactive drug use in the United States.</a:t>
            </a:r>
          </a:p>
          <a:p>
            <a:pPr marL="914400" indent="-914400">
              <a:lnSpc>
                <a:spcPct val="110000"/>
              </a:lnSpc>
              <a:buNone/>
            </a:pPr>
            <a:r>
              <a:rPr lang="en-US" dirty="0"/>
              <a:t>9.1.2  Explain historical trends in drug use and laws pertaining to such use.</a:t>
            </a:r>
          </a:p>
        </p:txBody>
      </p:sp>
    </p:spTree>
    <p:extLst>
      <p:ext uri="{BB962C8B-B14F-4D97-AF65-F5344CB8AC3E}">
        <p14:creationId xmlns:p14="http://schemas.microsoft.com/office/powerpoint/2010/main" val="41886929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Features of Drug Misuse and Addiction </a:t>
            </a:r>
            <a:r>
              <a:rPr lang="en-US" sz="1200" dirty="0"/>
              <a:t>(1 of 7)</a:t>
            </a:r>
            <a:endParaRPr lang="en-US" dirty="0"/>
          </a:p>
        </p:txBody>
      </p:sp>
      <p:sp>
        <p:nvSpPr>
          <p:cNvPr id="3" name="Text Placeholder 2"/>
          <p:cNvSpPr>
            <a:spLocks noGrp="1"/>
          </p:cNvSpPr>
          <p:nvPr>
            <p:ph idx="1"/>
          </p:nvPr>
        </p:nvSpPr>
        <p:spPr/>
        <p:txBody>
          <a:bodyPr>
            <a:normAutofit lnSpcReduction="10000"/>
          </a:bodyPr>
          <a:lstStyle/>
          <a:p>
            <a:pPr marL="457200" indent="-457200">
              <a:lnSpc>
                <a:spcPct val="110000"/>
              </a:lnSpc>
              <a:spcBef>
                <a:spcPts val="1200"/>
              </a:spcBef>
              <a:buNone/>
            </a:pPr>
            <a:r>
              <a:rPr lang="en-US" sz="3200" dirty="0"/>
              <a:t>Drug addiction is considered to be a chronic, relapsing behavioral disorder</a:t>
            </a:r>
          </a:p>
          <a:p>
            <a:pPr>
              <a:spcBef>
                <a:spcPts val="1200"/>
              </a:spcBef>
            </a:pPr>
            <a:r>
              <a:rPr lang="en-US" dirty="0"/>
              <a:t>Early views emphasized physical dependence: abstinence from the drug leads to unpleasant withdrawal symptoms (but not for all drugs, e.g., cocaine)</a:t>
            </a:r>
          </a:p>
          <a:p>
            <a:pPr>
              <a:spcBef>
                <a:spcPts val="1200"/>
              </a:spcBef>
            </a:pPr>
            <a:r>
              <a:rPr lang="en-US" dirty="0"/>
              <a:t>Now, focus is on the compulsive features of drug seeking and use, including </a:t>
            </a:r>
            <a:r>
              <a:rPr lang="en-US" b="1" dirty="0"/>
              <a:t>craving</a:t>
            </a:r>
          </a:p>
          <a:p>
            <a:pPr>
              <a:spcBef>
                <a:spcPts val="1200"/>
              </a:spcBef>
            </a:pPr>
            <a:r>
              <a:rPr lang="en-US" dirty="0"/>
              <a:t>Individuals remain addicted for long periods of time; drug-free periods (</a:t>
            </a:r>
            <a:r>
              <a:rPr lang="en-US" b="1" dirty="0"/>
              <a:t>remissions</a:t>
            </a:r>
            <a:r>
              <a:rPr lang="en-US" dirty="0"/>
              <a:t>) are often followed by </a:t>
            </a:r>
            <a:r>
              <a:rPr lang="en-US" b="1" dirty="0"/>
              <a:t>relapses</a:t>
            </a:r>
          </a:p>
        </p:txBody>
      </p:sp>
    </p:spTree>
    <p:extLst>
      <p:ext uri="{BB962C8B-B14F-4D97-AF65-F5344CB8AC3E}">
        <p14:creationId xmlns:p14="http://schemas.microsoft.com/office/powerpoint/2010/main" val="24357525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Features of Drug Misuse and Addiction </a:t>
            </a:r>
            <a:r>
              <a:rPr lang="en-US" sz="1200" dirty="0"/>
              <a:t>(2 of 7)</a:t>
            </a:r>
            <a:endParaRPr lang="en-US" dirty="0"/>
          </a:p>
        </p:txBody>
      </p:sp>
      <p:sp>
        <p:nvSpPr>
          <p:cNvPr id="3" name="Text Placeholder 2"/>
          <p:cNvSpPr>
            <a:spLocks noGrp="1"/>
          </p:cNvSpPr>
          <p:nvPr>
            <p:ph idx="1"/>
          </p:nvPr>
        </p:nvSpPr>
        <p:spPr/>
        <p:txBody>
          <a:bodyPr>
            <a:normAutofit fontScale="92500" lnSpcReduction="20000"/>
          </a:bodyPr>
          <a:lstStyle/>
          <a:p>
            <a:pPr marL="457200" indent="-457200">
              <a:lnSpc>
                <a:spcPct val="120000"/>
              </a:lnSpc>
              <a:spcBef>
                <a:spcPts val="1200"/>
              </a:spcBef>
              <a:buNone/>
            </a:pPr>
            <a:r>
              <a:rPr lang="en-US" sz="3500" dirty="0"/>
              <a:t>Drug addiction is considered to be a chronic, relapsing behavioral disorder</a:t>
            </a:r>
          </a:p>
          <a:p>
            <a:pPr>
              <a:spcBef>
                <a:spcPts val="1200"/>
              </a:spcBef>
            </a:pPr>
            <a:r>
              <a:rPr lang="en-US" b="1" dirty="0"/>
              <a:t>Substance-related disorders</a:t>
            </a:r>
            <a:r>
              <a:rPr lang="en-US" dirty="0"/>
              <a:t>: covers 10 classes of drugs </a:t>
            </a:r>
          </a:p>
          <a:p>
            <a:pPr>
              <a:spcBef>
                <a:spcPts val="1200"/>
              </a:spcBef>
            </a:pPr>
            <a:r>
              <a:rPr lang="en-US" dirty="0"/>
              <a:t>All the substances have the ability to activate the neural circuitry that mediates “reward”</a:t>
            </a:r>
          </a:p>
          <a:p>
            <a:pPr>
              <a:spcBef>
                <a:spcPts val="1200"/>
              </a:spcBef>
            </a:pPr>
            <a:r>
              <a:rPr lang="en-US" altLang="en-US" b="1" dirty="0"/>
              <a:t>Substance use disorders</a:t>
            </a:r>
            <a:r>
              <a:rPr lang="en-US" altLang="en-US" dirty="0"/>
              <a:t>: cognitive, behavioral, and physiological symptoms indicating that the individual continues using the substance despite significant substance-related problems</a:t>
            </a:r>
          </a:p>
          <a:p>
            <a:pPr>
              <a:spcBef>
                <a:spcPts val="1200"/>
              </a:spcBef>
            </a:pPr>
            <a:r>
              <a:rPr lang="en-US" altLang="en-US" b="1" dirty="0"/>
              <a:t>Substance-induced disorders</a:t>
            </a:r>
            <a:r>
              <a:rPr lang="en-US" altLang="en-US" dirty="0"/>
              <a:t>: reversible substance-specific syndrome due to recent ingestion of a substance</a:t>
            </a:r>
          </a:p>
        </p:txBody>
      </p:sp>
    </p:spTree>
    <p:extLst>
      <p:ext uri="{BB962C8B-B14F-4D97-AF65-F5344CB8AC3E}">
        <p14:creationId xmlns:p14="http://schemas.microsoft.com/office/powerpoint/2010/main" val="11855426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Features of Drug Misuse and Addiction </a:t>
            </a:r>
            <a:r>
              <a:rPr lang="en-US" sz="1200" dirty="0"/>
              <a:t>(3 of 7)</a:t>
            </a:r>
            <a:endParaRPr lang="en-US" dirty="0"/>
          </a:p>
        </p:txBody>
      </p:sp>
      <p:sp>
        <p:nvSpPr>
          <p:cNvPr id="3" name="Text Placeholder 2"/>
          <p:cNvSpPr>
            <a:spLocks noGrp="1"/>
          </p:cNvSpPr>
          <p:nvPr>
            <p:ph idx="1"/>
          </p:nvPr>
        </p:nvSpPr>
        <p:spPr/>
        <p:txBody>
          <a:bodyPr>
            <a:normAutofit fontScale="92500" lnSpcReduction="20000"/>
          </a:bodyPr>
          <a:lstStyle/>
          <a:p>
            <a:pPr marL="457200" indent="-457200">
              <a:lnSpc>
                <a:spcPct val="120000"/>
              </a:lnSpc>
              <a:spcBef>
                <a:spcPts val="1200"/>
              </a:spcBef>
              <a:buNone/>
            </a:pPr>
            <a:r>
              <a:rPr lang="en-US" sz="3500" dirty="0"/>
              <a:t>Drug addiction is considered to be a chronic, relapsing behavioral disorder</a:t>
            </a:r>
          </a:p>
          <a:p>
            <a:pPr>
              <a:lnSpc>
                <a:spcPct val="120000"/>
              </a:lnSpc>
              <a:spcBef>
                <a:spcPts val="600"/>
              </a:spcBef>
            </a:pPr>
            <a:r>
              <a:rPr lang="en-US" dirty="0"/>
              <a:t>The DSM-5 provides a specific set of criteria to diagnose a substance use disorder</a:t>
            </a:r>
          </a:p>
          <a:p>
            <a:pPr>
              <a:lnSpc>
                <a:spcPct val="120000"/>
              </a:lnSpc>
              <a:spcBef>
                <a:spcPts val="600"/>
              </a:spcBef>
            </a:pPr>
            <a:r>
              <a:rPr lang="en-US" dirty="0"/>
              <a:t>First, the pattern of use must be “problematic” and must lead to “clinically significant impairment or distress.”</a:t>
            </a:r>
          </a:p>
          <a:p>
            <a:pPr>
              <a:lnSpc>
                <a:spcPct val="120000"/>
              </a:lnSpc>
              <a:spcBef>
                <a:spcPts val="600"/>
              </a:spcBef>
            </a:pPr>
            <a:r>
              <a:rPr lang="en-US" dirty="0"/>
              <a:t>There is no single criterion for determining the presence of a substance use disorder.</a:t>
            </a:r>
          </a:p>
          <a:p>
            <a:pPr>
              <a:lnSpc>
                <a:spcPct val="120000"/>
              </a:lnSpc>
              <a:spcBef>
                <a:spcPts val="600"/>
              </a:spcBef>
            </a:pPr>
            <a:r>
              <a:rPr lang="en-US" dirty="0"/>
              <a:t>Severity: mild, moderate, or severe, depending on how many of the diagnostic criteria are met</a:t>
            </a:r>
          </a:p>
        </p:txBody>
      </p:sp>
    </p:spTree>
    <p:extLst>
      <p:ext uri="{BB962C8B-B14F-4D97-AF65-F5344CB8AC3E}">
        <p14:creationId xmlns:p14="http://schemas.microsoft.com/office/powerpoint/2010/main" val="33429613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Features of Drug Misuse and Addiction </a:t>
            </a:r>
            <a:r>
              <a:rPr lang="en-US" sz="1200" dirty="0"/>
              <a:t>(4 of 7)</a:t>
            </a:r>
            <a:endParaRPr lang="en-US" dirty="0"/>
          </a:p>
        </p:txBody>
      </p:sp>
      <p:sp>
        <p:nvSpPr>
          <p:cNvPr id="3" name="Text Placeholder 2"/>
          <p:cNvSpPr>
            <a:spLocks noGrp="1"/>
          </p:cNvSpPr>
          <p:nvPr>
            <p:ph idx="1"/>
          </p:nvPr>
        </p:nvSpPr>
        <p:spPr/>
        <p:txBody>
          <a:bodyPr>
            <a:normAutofit lnSpcReduction="10000"/>
          </a:bodyPr>
          <a:lstStyle/>
          <a:p>
            <a:pPr marL="0" indent="0">
              <a:spcBef>
                <a:spcPts val="1800"/>
              </a:spcBef>
              <a:buNone/>
            </a:pPr>
            <a:r>
              <a:rPr lang="en-US" sz="2400" u="sng" dirty="0"/>
              <a:t>BOX 9.1  OF SPECIAL INTEREST</a:t>
            </a:r>
          </a:p>
          <a:p>
            <a:pPr marL="457200" indent="-457200">
              <a:buNone/>
            </a:pPr>
            <a:r>
              <a:rPr lang="en-US" sz="3200" i="1" dirty="0"/>
              <a:t>Should the Term Addiction Be Applied to Compulsive Behavioral Disorders That Don’t Involve Substance Use?</a:t>
            </a:r>
            <a:endParaRPr lang="en-GB" sz="3200" i="1" dirty="0"/>
          </a:p>
          <a:p>
            <a:pPr>
              <a:spcBef>
                <a:spcPts val="1800"/>
              </a:spcBef>
            </a:pPr>
            <a:r>
              <a:rPr lang="en-US" dirty="0"/>
              <a:t>Behavioral additions (non-substance-related disorders) – gambling, eating disorders, compulsive sexual behavior, compulsive shopping, etc.  Many more are being considered.</a:t>
            </a:r>
          </a:p>
          <a:p>
            <a:pPr>
              <a:spcBef>
                <a:spcPts val="1800"/>
              </a:spcBef>
            </a:pPr>
            <a:r>
              <a:rPr lang="en-US" dirty="0"/>
              <a:t>Gambling is the only one in the DSM-5: meets several of the criteria for substance abuse disorder; and shows similar neurobiological and cognitive dysfunctions</a:t>
            </a:r>
          </a:p>
        </p:txBody>
      </p:sp>
    </p:spTree>
    <p:extLst>
      <p:ext uri="{BB962C8B-B14F-4D97-AF65-F5344CB8AC3E}">
        <p14:creationId xmlns:p14="http://schemas.microsoft.com/office/powerpoint/2010/main" val="35634057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Features of Drug Misuse and Addiction </a:t>
            </a:r>
            <a:r>
              <a:rPr lang="en-US" sz="1200" dirty="0"/>
              <a:t>(5 of 7)</a:t>
            </a:r>
            <a:endParaRPr lang="en-US" dirty="0"/>
          </a:p>
        </p:txBody>
      </p:sp>
      <p:sp>
        <p:nvSpPr>
          <p:cNvPr id="3" name="Text Placeholder 2"/>
          <p:cNvSpPr>
            <a:spLocks noGrp="1"/>
          </p:cNvSpPr>
          <p:nvPr>
            <p:ph idx="1"/>
          </p:nvPr>
        </p:nvSpPr>
        <p:spPr/>
        <p:txBody>
          <a:bodyPr>
            <a:normAutofit fontScale="85000" lnSpcReduction="10000"/>
          </a:bodyPr>
          <a:lstStyle/>
          <a:p>
            <a:pPr marL="457200" indent="-457200">
              <a:lnSpc>
                <a:spcPct val="130000"/>
              </a:lnSpc>
              <a:spcBef>
                <a:spcPts val="1200"/>
              </a:spcBef>
              <a:buNone/>
            </a:pPr>
            <a:r>
              <a:rPr lang="en-US" sz="3500" dirty="0"/>
              <a:t>There are two types of progression in drug use</a:t>
            </a:r>
          </a:p>
          <a:p>
            <a:pPr>
              <a:spcBef>
                <a:spcPts val="1200"/>
              </a:spcBef>
            </a:pPr>
            <a:r>
              <a:rPr lang="en-US" dirty="0"/>
              <a:t>Young people often progress from legal substances like alcohol or tobacco to marijuana; a few go on to try cocaine, heroin, or illegally obtained prescription drugs. </a:t>
            </a:r>
          </a:p>
          <a:p>
            <a:pPr lvl="1">
              <a:spcBef>
                <a:spcPts val="1200"/>
              </a:spcBef>
            </a:pPr>
            <a:r>
              <a:rPr lang="en-US" b="1" dirty="0"/>
              <a:t>Gateway theory</a:t>
            </a:r>
          </a:p>
          <a:p>
            <a:pPr>
              <a:spcBef>
                <a:spcPts val="1200"/>
              </a:spcBef>
            </a:pPr>
            <a:r>
              <a:rPr lang="en-US" dirty="0"/>
              <a:t>Progression of drug use from non-problematic or recreational use to an addictive pattern</a:t>
            </a:r>
          </a:p>
          <a:p>
            <a:pPr lvl="1">
              <a:spcBef>
                <a:spcPts val="1200"/>
              </a:spcBef>
            </a:pPr>
            <a:r>
              <a:rPr lang="en-US" dirty="0"/>
              <a:t>Once a regular pattern has been established, some users progress to problematic use</a:t>
            </a:r>
          </a:p>
          <a:p>
            <a:pPr lvl="1">
              <a:spcBef>
                <a:spcPts val="1200"/>
              </a:spcBef>
            </a:pPr>
            <a:r>
              <a:rPr lang="en-US" dirty="0"/>
              <a:t>Many people “mature out” - alcohol and illicit drug use decline with age</a:t>
            </a:r>
          </a:p>
        </p:txBody>
      </p:sp>
    </p:spTree>
    <p:extLst>
      <p:ext uri="{BB962C8B-B14F-4D97-AF65-F5344CB8AC3E}">
        <p14:creationId xmlns:p14="http://schemas.microsoft.com/office/powerpoint/2010/main" val="1346054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3E17A-366B-5F41-BC0E-8166542ED677}"/>
              </a:ext>
            </a:extLst>
          </p:cNvPr>
          <p:cNvSpPr>
            <a:spLocks noGrp="1"/>
          </p:cNvSpPr>
          <p:nvPr>
            <p:ph type="title"/>
          </p:nvPr>
        </p:nvSpPr>
        <p:spPr/>
        <p:txBody>
          <a:bodyPr/>
          <a:lstStyle/>
          <a:p>
            <a:r>
              <a:rPr lang="en-US" cap="all" dirty="0"/>
              <a:t>FIGURE 9.4</a:t>
            </a:r>
            <a:r>
              <a:rPr lang="en-US" dirty="0"/>
              <a:t>  Progression of drug use from non-problematic or recreational use to an addictive pattern of use involving compulsive and/or problematic use and repeated attempts at abstinence followed by relapse </a:t>
            </a:r>
          </a:p>
        </p:txBody>
      </p:sp>
      <p:pic>
        <p:nvPicPr>
          <p:cNvPr id="6" name="Content Placeholder 5" descr="An illustration describes the phases of addiction in the following order, non-problematic or recreational use, escalation of drug use, compulsive and, or problematic use, abstinence or withdrawal, and relapse."/>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968052" y="668338"/>
            <a:ext cx="6255897" cy="6108700"/>
          </a:xfrm>
        </p:spPr>
      </p:pic>
    </p:spTree>
    <p:extLst>
      <p:ext uri="{BB962C8B-B14F-4D97-AF65-F5344CB8AC3E}">
        <p14:creationId xmlns:p14="http://schemas.microsoft.com/office/powerpoint/2010/main" val="21423790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Features of Drug Misuse and Addiction </a:t>
            </a:r>
            <a:r>
              <a:rPr lang="en-US" sz="1200" dirty="0"/>
              <a:t>(6 of 7)</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Which drugs are the most addictive?</a:t>
            </a:r>
          </a:p>
          <a:p>
            <a:pPr>
              <a:spcBef>
                <a:spcPts val="1200"/>
              </a:spcBef>
            </a:pPr>
            <a:r>
              <a:rPr lang="en-US" altLang="en-US" b="1" dirty="0"/>
              <a:t>Schedule of Controlled Substances</a:t>
            </a:r>
            <a:r>
              <a:rPr lang="en-US" altLang="en-US" dirty="0"/>
              <a:t>: 5 classes of potentially addictive drugs; based </a:t>
            </a:r>
            <a:r>
              <a:rPr lang="en-US" altLang="en-US" dirty="0" err="1"/>
              <a:t>based</a:t>
            </a:r>
            <a:r>
              <a:rPr lang="en-US" altLang="en-US" dirty="0"/>
              <a:t> on degree of potential misuse and medicinal value</a:t>
            </a:r>
          </a:p>
          <a:p>
            <a:pPr>
              <a:spcBef>
                <a:spcPts val="1200"/>
              </a:spcBef>
            </a:pPr>
            <a:r>
              <a:rPr lang="en-US" altLang="en-US" dirty="0"/>
              <a:t>Alcohol and tobacco are not listed on the schedule.</a:t>
            </a:r>
          </a:p>
          <a:p>
            <a:pPr>
              <a:spcBef>
                <a:spcPts val="1200"/>
              </a:spcBef>
            </a:pPr>
            <a:r>
              <a:rPr lang="en-US" altLang="en-US" dirty="0"/>
              <a:t>There is debate on whether the Schedule is reasonable, based on current scientific knowledge, or has been driven too much by socio-political considerations.</a:t>
            </a:r>
          </a:p>
        </p:txBody>
      </p:sp>
    </p:spTree>
    <p:extLst>
      <p:ext uri="{BB962C8B-B14F-4D97-AF65-F5344CB8AC3E}">
        <p14:creationId xmlns:p14="http://schemas.microsoft.com/office/powerpoint/2010/main" val="17356445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Features of Drug Misuse and Addiction </a:t>
            </a:r>
            <a:r>
              <a:rPr lang="en-US" sz="1200" dirty="0"/>
              <a:t>(7 of 7)</a:t>
            </a:r>
            <a:endParaRPr lang="en-US" dirty="0"/>
          </a:p>
        </p:txBody>
      </p:sp>
      <p:sp>
        <p:nvSpPr>
          <p:cNvPr id="3" name="Text Placeholder 2"/>
          <p:cNvSpPr>
            <a:spLocks noGrp="1"/>
          </p:cNvSpPr>
          <p:nvPr>
            <p:ph idx="1"/>
          </p:nvPr>
        </p:nvSpPr>
        <p:spPr/>
        <p:txBody>
          <a:bodyPr>
            <a:normAutofit fontScale="92500"/>
          </a:bodyPr>
          <a:lstStyle/>
          <a:p>
            <a:pPr marL="0" indent="0">
              <a:spcBef>
                <a:spcPts val="1200"/>
              </a:spcBef>
              <a:buNone/>
            </a:pPr>
            <a:r>
              <a:rPr lang="en-US" sz="2400" u="sng" dirty="0"/>
              <a:t>CLICKER QUESTION 1</a:t>
            </a:r>
          </a:p>
          <a:p>
            <a:pPr marL="457200" indent="-457200">
              <a:spcBef>
                <a:spcPts val="2400"/>
              </a:spcBef>
              <a:buNone/>
            </a:pPr>
            <a:r>
              <a:rPr lang="en-US" sz="3200" dirty="0"/>
              <a:t>What do the 10 classes of drugs in the DSM-5 substance-related disorders have in common?</a:t>
            </a:r>
          </a:p>
          <a:p>
            <a:pPr marL="914400" indent="-457200">
              <a:spcBef>
                <a:spcPts val="1200"/>
              </a:spcBef>
              <a:buFont typeface="Arial" pitchFamily="34" charset="0"/>
              <a:buAutoNum type="alphaLcPeriod"/>
            </a:pPr>
            <a:r>
              <a:rPr lang="en-US" sz="3200" dirty="0"/>
              <a:t>They can activate neural pathways that mediate the reward system.</a:t>
            </a:r>
          </a:p>
          <a:p>
            <a:pPr marL="914400" indent="-457200">
              <a:spcBef>
                <a:spcPts val="1200"/>
              </a:spcBef>
              <a:buFont typeface="Arial" pitchFamily="34" charset="0"/>
              <a:buAutoNum type="alphaLcPeriod"/>
            </a:pPr>
            <a:r>
              <a:rPr lang="en-US" sz="3200" dirty="0"/>
              <a:t>They are also listed in the Schedule of Controlled Substances.</a:t>
            </a:r>
          </a:p>
          <a:p>
            <a:pPr marL="914400" indent="-457200">
              <a:spcBef>
                <a:spcPts val="1200"/>
              </a:spcBef>
              <a:buFont typeface="Arial" pitchFamily="34" charset="0"/>
              <a:buAutoNum type="alphaLcPeriod"/>
            </a:pPr>
            <a:r>
              <a:rPr lang="en-US" sz="3200" dirty="0"/>
              <a:t>They have all been available, at least to some degree, since the late 1800s.</a:t>
            </a:r>
          </a:p>
        </p:txBody>
      </p:sp>
    </p:spTree>
    <p:extLst>
      <p:ext uri="{BB962C8B-B14F-4D97-AF65-F5344CB8AC3E}">
        <p14:creationId xmlns:p14="http://schemas.microsoft.com/office/powerpoint/2010/main" val="22446861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kumimoji="0" lang="en-US" b="0" i="0" u="none" strike="noStrike" kern="1200" cap="none" spc="0" normalizeH="0" baseline="0" noProof="0" dirty="0">
                <a:ln>
                  <a:noFill/>
                </a:ln>
                <a:solidFill>
                  <a:srgbClr val="1F497D"/>
                </a:solidFill>
                <a:effectLst/>
                <a:uLnTx/>
                <a:uFillTx/>
                <a:latin typeface="Calibri"/>
                <a:ea typeface="+mj-ea"/>
                <a:cs typeface="+mj-cs"/>
              </a:rPr>
              <a:t>Review of Learning Objectives </a:t>
            </a:r>
            <a:r>
              <a:rPr kumimoji="0" lang="en-US" sz="1200" b="0" i="0" u="none" strike="noStrike" kern="1200" cap="none" spc="0" normalizeH="0" baseline="0" noProof="0" dirty="0">
                <a:ln>
                  <a:noFill/>
                </a:ln>
                <a:solidFill>
                  <a:srgbClr val="1F497D"/>
                </a:solidFill>
                <a:effectLst/>
                <a:uLnTx/>
                <a:uFillTx/>
                <a:latin typeface="Calibri"/>
                <a:ea typeface="+mj-ea"/>
                <a:cs typeface="+mj-cs"/>
              </a:rPr>
              <a:t>(2 of 4)</a:t>
            </a:r>
            <a:endParaRPr lang="en-US" dirty="0"/>
          </a:p>
        </p:txBody>
      </p:sp>
      <p:sp>
        <p:nvSpPr>
          <p:cNvPr id="3" name="Text Placeholder 2"/>
          <p:cNvSpPr>
            <a:spLocks noGrp="1"/>
          </p:cNvSpPr>
          <p:nvPr>
            <p:ph idx="1"/>
          </p:nvPr>
        </p:nvSpPr>
        <p:spPr>
          <a:xfrm>
            <a:off x="609600" y="1792465"/>
            <a:ext cx="10972800" cy="4597449"/>
          </a:xfrm>
        </p:spPr>
        <p:txBody>
          <a:bodyPr>
            <a:normAutofit fontScale="92500" lnSpcReduction="10000"/>
          </a:bodyPr>
          <a:lstStyle/>
          <a:p>
            <a:pPr marL="914400" indent="-914400">
              <a:spcBef>
                <a:spcPts val="1200"/>
              </a:spcBef>
              <a:buNone/>
            </a:pPr>
            <a:r>
              <a:rPr lang="en-US" sz="2400" dirty="0"/>
              <a:t>9.2.1  Explain why drug addiction is currently conceptualized as a chronic, relapsing behavioral disorder.</a:t>
            </a:r>
          </a:p>
          <a:p>
            <a:pPr marL="914400" indent="-914400">
              <a:spcBef>
                <a:spcPts val="1200"/>
              </a:spcBef>
              <a:buNone/>
            </a:pPr>
            <a:r>
              <a:rPr lang="en-US" sz="2400" dirty="0"/>
              <a:t>9.2.2  (a) Discuss how the latest edition of the Diagnostic and Statistical Manual of Mental Disorders (DSM-5) has replaced the term “drug addiction” with a diagnostic category called “substance-related disorders,” and list the 10 designated classes of drugs under this category, and (b) describe the DSM-5 criteria for a “substance use disorder,” including the specification of a “mild,” “moderate,” or “severe” disorder.</a:t>
            </a:r>
          </a:p>
          <a:p>
            <a:pPr marL="914400" indent="-914400">
              <a:spcBef>
                <a:spcPts val="1200"/>
              </a:spcBef>
              <a:buNone/>
            </a:pPr>
            <a:r>
              <a:rPr lang="en-US" sz="2400" dirty="0"/>
              <a:t>9.2.3  Discuss the concept of behavioral addictions and the process involved in determining whether a compulsively performed behavior might qualify as addictive.</a:t>
            </a:r>
          </a:p>
          <a:p>
            <a:pPr marL="914400" indent="-914400">
              <a:spcBef>
                <a:spcPts val="1200"/>
              </a:spcBef>
              <a:buNone/>
            </a:pPr>
            <a:r>
              <a:rPr lang="en-US" sz="2400" dirty="0"/>
              <a:t>9.2.4  Describe the two types of progression in drug use: (a) changes in which drugs are being used by an individual, and (b) changes in amount, pattern of use, and consequences of use of a particular drug, especially in relation to the development of addiction to that drug.</a:t>
            </a:r>
          </a:p>
        </p:txBody>
      </p:sp>
    </p:spTree>
    <p:extLst>
      <p:ext uri="{BB962C8B-B14F-4D97-AF65-F5344CB8AC3E}">
        <p14:creationId xmlns:p14="http://schemas.microsoft.com/office/powerpoint/2010/main" val="37892604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Factors That Influence the Development </a:t>
            </a:r>
            <a:br>
              <a:rPr lang="en-US" dirty="0"/>
            </a:br>
            <a:r>
              <a:rPr lang="en-US" dirty="0"/>
              <a:t>and Maintenance of Drug Misuse and Addiction </a:t>
            </a:r>
            <a:r>
              <a:rPr lang="en-US" sz="1300" dirty="0"/>
              <a:t>(1 of 18)</a:t>
            </a:r>
            <a:endParaRPr lang="en-US" dirty="0"/>
          </a:p>
        </p:txBody>
      </p:sp>
      <p:sp>
        <p:nvSpPr>
          <p:cNvPr id="3" name="Text Placeholder 2"/>
          <p:cNvSpPr>
            <a:spLocks noGrp="1"/>
          </p:cNvSpPr>
          <p:nvPr>
            <p:ph idx="1"/>
          </p:nvPr>
        </p:nvSpPr>
        <p:spPr/>
        <p:txBody>
          <a:bodyPr>
            <a:normAutofit fontScale="92500" lnSpcReduction="20000"/>
          </a:bodyPr>
          <a:lstStyle/>
          <a:p>
            <a:pPr marL="457200" indent="-457200">
              <a:lnSpc>
                <a:spcPct val="120000"/>
              </a:lnSpc>
              <a:spcBef>
                <a:spcPts val="1200"/>
              </a:spcBef>
              <a:buNone/>
            </a:pPr>
            <a:r>
              <a:rPr lang="en-US" sz="3500" dirty="0"/>
              <a:t>The addictive potential of a substance is influenced by its route of administration</a:t>
            </a:r>
          </a:p>
          <a:p>
            <a:pPr>
              <a:spcBef>
                <a:spcPts val="1200"/>
              </a:spcBef>
            </a:pPr>
            <a:r>
              <a:rPr lang="en-US" dirty="0"/>
              <a:t>Oral or transdermal: relatively slow absorption; slow drug availability to the brain</a:t>
            </a:r>
          </a:p>
          <a:p>
            <a:pPr>
              <a:spcBef>
                <a:spcPts val="1200"/>
              </a:spcBef>
            </a:pPr>
            <a:r>
              <a:rPr lang="en-US" dirty="0"/>
              <a:t>IV or inhalation: rapid drug entry into the brain and a fast onset of drug action; but shorter duration of action</a:t>
            </a:r>
          </a:p>
          <a:p>
            <a:pPr>
              <a:spcBef>
                <a:spcPts val="1200"/>
              </a:spcBef>
            </a:pPr>
            <a:r>
              <a:rPr lang="en-US" dirty="0"/>
              <a:t>Routes that cause fast onset of drug action have the greatest addiction potential; produce strongest euphoric effects and shortest latency</a:t>
            </a:r>
          </a:p>
          <a:p>
            <a:pPr>
              <a:spcBef>
                <a:spcPts val="1200"/>
              </a:spcBef>
            </a:pPr>
            <a:r>
              <a:rPr lang="en-US" dirty="0"/>
              <a:t>Shorter latency between response and reinforcement would lead to stronger and faster drug conditioning</a:t>
            </a:r>
          </a:p>
        </p:txBody>
      </p:sp>
    </p:spTree>
    <p:extLst>
      <p:ext uri="{BB962C8B-B14F-4D97-AF65-F5344CB8AC3E}">
        <p14:creationId xmlns:p14="http://schemas.microsoft.com/office/powerpoint/2010/main" val="37968805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F0486-4BD7-A54F-BCE2-AB1613B2B2A8}"/>
              </a:ext>
            </a:extLst>
          </p:cNvPr>
          <p:cNvSpPr>
            <a:spLocks noGrp="1"/>
          </p:cNvSpPr>
          <p:nvPr>
            <p:ph type="title"/>
          </p:nvPr>
        </p:nvSpPr>
        <p:spPr/>
        <p:txBody>
          <a:bodyPr/>
          <a:lstStyle/>
          <a:p>
            <a:r>
              <a:rPr lang="en-US" cap="all" dirty="0"/>
              <a:t>FIGURE 9.5</a:t>
            </a:r>
            <a:r>
              <a:rPr lang="en-US" dirty="0"/>
              <a:t>  Relationship between route of administration and addiction potential of opiates, cocaine, and nicotine </a:t>
            </a:r>
          </a:p>
        </p:txBody>
      </p:sp>
      <p:pic>
        <p:nvPicPr>
          <p:cNvPr id="6" name="Content Placeholder 5" descr="An illustration describes the addictiveness, duration of action, and speed of onset for opiates, cocaine, and nicotine. The addictiveness and the speed of onset of action for opiates increases in the following order, levo-alpha-acetyl-methadol, methadone, morphine, snorted heroin, and intravenous heroin. The duration of action for opiates increases in the above-mentioned order but, in reverse. The addictiveness and the speed of onset of action of different forms of cocaine increase in the following order, coca leaves, coca paste, cocaine, and crack. The duration of action for different forms of cocaine increases in the above-mentioned order but, in reverse. The addictiveness and the speed of onset of nicotine increase in the following order, nicotine patch, snuff, and cigarettes or e-cigarettes. The duration of action of nicotine increases in the above-mentioned order but, in reverse."/>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1193279" y="479425"/>
            <a:ext cx="9805443" cy="6300788"/>
          </a:xfrm>
        </p:spPr>
      </p:pic>
    </p:spTree>
    <p:extLst>
      <p:ext uri="{BB962C8B-B14F-4D97-AF65-F5344CB8AC3E}">
        <p14:creationId xmlns:p14="http://schemas.microsoft.com/office/powerpoint/2010/main" val="34792341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Factors That Influence the Development </a:t>
            </a:r>
            <a:br>
              <a:rPr lang="en-US" dirty="0"/>
            </a:br>
            <a:r>
              <a:rPr lang="en-US" dirty="0"/>
              <a:t>and Maintenance of Drug Misuse and Addiction </a:t>
            </a:r>
            <a:r>
              <a:rPr lang="en-US" sz="1300" dirty="0"/>
              <a:t>(2 of 18)</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Most recreational drugs exert rewarding and reinforcing effects</a:t>
            </a:r>
          </a:p>
          <a:p>
            <a:pPr>
              <a:spcBef>
                <a:spcPts val="1200"/>
              </a:spcBef>
            </a:pPr>
            <a:r>
              <a:rPr lang="en-US" b="1" dirty="0"/>
              <a:t>Positive reinforcers</a:t>
            </a:r>
            <a:r>
              <a:rPr lang="en-US" dirty="0"/>
              <a:t>: consuming the drug strengthens whatever preceding behavior was performed by the organism</a:t>
            </a:r>
          </a:p>
          <a:p>
            <a:pPr>
              <a:spcBef>
                <a:spcPts val="1200"/>
              </a:spcBef>
            </a:pPr>
            <a:r>
              <a:rPr lang="en-US" b="1" dirty="0"/>
              <a:t>Drug reward</a:t>
            </a:r>
            <a:r>
              <a:rPr lang="en-US" dirty="0"/>
              <a:t>: the positive subjective experience associated with the drug – euphoria or the “high”</a:t>
            </a:r>
          </a:p>
          <a:p>
            <a:pPr>
              <a:spcBef>
                <a:spcPts val="1200"/>
              </a:spcBef>
            </a:pPr>
            <a:r>
              <a:rPr lang="en-US" dirty="0"/>
              <a:t>Drug reinforcement is studied using self-administration tests; strong reinforcers in these tests have high addiction potential for humans, such as cocaine, heroin, and methamphetamine</a:t>
            </a:r>
          </a:p>
        </p:txBody>
      </p:sp>
    </p:spTree>
    <p:extLst>
      <p:ext uri="{BB962C8B-B14F-4D97-AF65-F5344CB8AC3E}">
        <p14:creationId xmlns:p14="http://schemas.microsoft.com/office/powerpoint/2010/main" val="28542931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Factors That Influence the Development </a:t>
            </a:r>
            <a:br>
              <a:rPr lang="en-US" dirty="0"/>
            </a:br>
            <a:r>
              <a:rPr lang="en-US" dirty="0"/>
              <a:t>and Maintenance of Drug Misuse and Addiction </a:t>
            </a:r>
            <a:r>
              <a:rPr lang="en-US" sz="1300" dirty="0"/>
              <a:t>(3 of 18)</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Most recreational drugs exert rewarding and reinforcing effects</a:t>
            </a:r>
          </a:p>
          <a:p>
            <a:pPr>
              <a:spcBef>
                <a:spcPts val="1200"/>
              </a:spcBef>
            </a:pPr>
            <a:r>
              <a:rPr lang="en-US" dirty="0"/>
              <a:t>A fixed-ratio (FR) schedule of reinforcement produces a U-shaped dose-response. </a:t>
            </a:r>
          </a:p>
          <a:p>
            <a:pPr>
              <a:spcBef>
                <a:spcPts val="1200"/>
              </a:spcBef>
            </a:pPr>
            <a:r>
              <a:rPr lang="en-US" b="1" dirty="0"/>
              <a:t>Progressive-ratio procedure</a:t>
            </a:r>
            <a:r>
              <a:rPr lang="en-US" dirty="0"/>
              <a:t>: animals are trained continuous-reinforcement (CR) schedule, then switched to a low FR schedule, increased until the animal stops responding (</a:t>
            </a:r>
            <a:r>
              <a:rPr lang="en-US" b="1" dirty="0"/>
              <a:t>breakpoint</a:t>
            </a:r>
            <a:r>
              <a:rPr lang="en-US" dirty="0"/>
              <a:t>)</a:t>
            </a:r>
          </a:p>
          <a:p>
            <a:pPr>
              <a:spcBef>
                <a:spcPts val="1200"/>
              </a:spcBef>
            </a:pPr>
            <a:r>
              <a:rPr lang="en-US" dirty="0"/>
              <a:t>Breakpoints vary with dose</a:t>
            </a:r>
          </a:p>
        </p:txBody>
      </p:sp>
    </p:spTree>
    <p:extLst>
      <p:ext uri="{BB962C8B-B14F-4D97-AF65-F5344CB8AC3E}">
        <p14:creationId xmlns:p14="http://schemas.microsoft.com/office/powerpoint/2010/main" val="16605453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F50BC-7184-8E49-BC3D-661C59899EC7}"/>
              </a:ext>
            </a:extLst>
          </p:cNvPr>
          <p:cNvSpPr>
            <a:spLocks noGrp="1"/>
          </p:cNvSpPr>
          <p:nvPr>
            <p:ph type="title"/>
          </p:nvPr>
        </p:nvSpPr>
        <p:spPr/>
        <p:txBody>
          <a:bodyPr/>
          <a:lstStyle/>
          <a:p>
            <a:r>
              <a:rPr lang="en-US" cap="all" dirty="0"/>
              <a:t>FIGURE 9.6</a:t>
            </a:r>
            <a:r>
              <a:rPr lang="en-US" dirty="0"/>
              <a:t>  Features of intravenous drug self-administration by laboratory animals </a:t>
            </a:r>
          </a:p>
        </p:txBody>
      </p:sp>
      <p:pic>
        <p:nvPicPr>
          <p:cNvPr id="6" name="Content Placeholder 5" descr="Graph A describes the relationship between the number of reinforcers and unit dose for heroin and cocaine. The number of reinforcers with intervals of 10 is along the y-axis and the unit dose in milligram per kilogram per injection is along the x-axis. The doses considered are 0.001, 0.01, and 0.1. As the dose of heroin and cocaine increases, the number of reinforcers increase, peak, and decrease, resulting in an inverted U shaped curve. For heroin, the highest number of reinforcers is 20, seen in between 0.001 and 0.01 unit doses. For cocaine, the highest number of reinforcers is around 40, seen in between 0.01 and 0.1 unit doses.&#10;&#10;Graph B describes the relationship between breakpoint and unit dose for cocaine. The number of reinforcers for achieving the breakpoint with intervals of 10 is along the y-axis and the unit dose in milligram per kilogram per injection is along the x-axis. The doses considered are 0.001, 0.0032, 0.01, 0.032, and 0.1. For the saline, the breakpoint is around 12. For the doses 0.001 and 0.0032, the breakpoint is around 17. For dose 0.01, the breakpoint is 25. For dose 0.032, the breakpoint is 30. For dose 0.1, the breakpoint is 35."/>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1041524"/>
            <a:ext cx="11376025" cy="5176590"/>
          </a:xfrm>
        </p:spPr>
      </p:pic>
    </p:spTree>
    <p:extLst>
      <p:ext uri="{BB962C8B-B14F-4D97-AF65-F5344CB8AC3E}">
        <p14:creationId xmlns:p14="http://schemas.microsoft.com/office/powerpoint/2010/main" val="29021368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Factors That Influence the Development </a:t>
            </a:r>
            <a:br>
              <a:rPr lang="en-US" dirty="0"/>
            </a:br>
            <a:r>
              <a:rPr lang="en-US" dirty="0"/>
              <a:t>and Maintenance of Drug Misuse and Addiction </a:t>
            </a:r>
            <a:r>
              <a:rPr lang="en-US" sz="1300" dirty="0"/>
              <a:t>(4 of 18)</a:t>
            </a:r>
            <a:endParaRPr lang="en-US" dirty="0"/>
          </a:p>
        </p:txBody>
      </p:sp>
      <p:sp>
        <p:nvSpPr>
          <p:cNvPr id="3" name="Text Placeholder 2"/>
          <p:cNvSpPr>
            <a:spLocks noGrp="1"/>
          </p:cNvSpPr>
          <p:nvPr>
            <p:ph idx="1"/>
          </p:nvPr>
        </p:nvSpPr>
        <p:spPr/>
        <p:txBody>
          <a:bodyPr>
            <a:normAutofit lnSpcReduction="10000"/>
          </a:bodyPr>
          <a:lstStyle/>
          <a:p>
            <a:pPr marL="457200" indent="-457200">
              <a:lnSpc>
                <a:spcPct val="120000"/>
              </a:lnSpc>
              <a:spcBef>
                <a:spcPts val="1200"/>
              </a:spcBef>
              <a:buNone/>
            </a:pPr>
            <a:r>
              <a:rPr lang="en-US" sz="3200" dirty="0"/>
              <a:t>Most recreational drugs exert rewarding and reinforcing effects</a:t>
            </a:r>
          </a:p>
          <a:p>
            <a:pPr>
              <a:spcBef>
                <a:spcPts val="1200"/>
              </a:spcBef>
            </a:pPr>
            <a:r>
              <a:rPr lang="en-US" dirty="0"/>
              <a:t>Relapse can be modeled by stopping drug delivery, then exposing animal to a cue previously paired with drug delivery (</a:t>
            </a:r>
            <a:r>
              <a:rPr lang="en-US" b="1" dirty="0"/>
              <a:t>reinstatement of drug-seeking behavior</a:t>
            </a:r>
            <a:r>
              <a:rPr lang="en-US" dirty="0"/>
              <a:t>)</a:t>
            </a:r>
          </a:p>
          <a:p>
            <a:pPr>
              <a:spcBef>
                <a:spcPts val="1200"/>
              </a:spcBef>
            </a:pPr>
            <a:r>
              <a:rPr lang="en-US" dirty="0"/>
              <a:t>Stimuli effective in reinstating drug-related responding:</a:t>
            </a:r>
          </a:p>
          <a:p>
            <a:pPr lvl="1">
              <a:spcBef>
                <a:spcPts val="1200"/>
              </a:spcBef>
            </a:pPr>
            <a:r>
              <a:rPr lang="en-US" dirty="0"/>
              <a:t>Experimenter delivers a small dose of the drug (</a:t>
            </a:r>
            <a:r>
              <a:rPr lang="en-US" b="1" dirty="0"/>
              <a:t>drug priming</a:t>
            </a:r>
            <a:r>
              <a:rPr lang="en-US" dirty="0"/>
              <a:t>)</a:t>
            </a:r>
          </a:p>
          <a:p>
            <a:pPr lvl="1">
              <a:spcBef>
                <a:spcPts val="1200"/>
              </a:spcBef>
            </a:pPr>
            <a:r>
              <a:rPr lang="en-US" dirty="0"/>
              <a:t>Subjecting the animal to stress</a:t>
            </a:r>
          </a:p>
          <a:p>
            <a:pPr lvl="1">
              <a:spcBef>
                <a:spcPts val="1200"/>
              </a:spcBef>
            </a:pPr>
            <a:r>
              <a:rPr lang="en-US" dirty="0"/>
              <a:t>Exposing animal to environmental cues that were previously paired with drug delivery</a:t>
            </a:r>
          </a:p>
        </p:txBody>
      </p:sp>
    </p:spTree>
    <p:extLst>
      <p:ext uri="{BB962C8B-B14F-4D97-AF65-F5344CB8AC3E}">
        <p14:creationId xmlns:p14="http://schemas.microsoft.com/office/powerpoint/2010/main" val="15803397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Factors That Influence the Development </a:t>
            </a:r>
            <a:br>
              <a:rPr lang="en-US" dirty="0"/>
            </a:br>
            <a:r>
              <a:rPr lang="en-US" dirty="0"/>
              <a:t>and Maintenance of Drug Misuse and Addiction </a:t>
            </a:r>
            <a:r>
              <a:rPr lang="en-US" sz="1300" dirty="0"/>
              <a:t>(5 of 18)</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Most recreational drugs exert rewarding and reinforcing effects</a:t>
            </a:r>
          </a:p>
          <a:p>
            <a:pPr>
              <a:spcBef>
                <a:spcPts val="1200"/>
              </a:spcBef>
            </a:pPr>
            <a:r>
              <a:rPr lang="en-US" dirty="0"/>
              <a:t>Drug addiction has negative consequences – family breakups, job loss, health effects, etc.</a:t>
            </a:r>
          </a:p>
          <a:p>
            <a:pPr>
              <a:spcBef>
                <a:spcPts val="1200"/>
              </a:spcBef>
            </a:pPr>
            <a:r>
              <a:rPr lang="en-US" dirty="0"/>
              <a:t>Negative effects occur later in time and usually after a long period of use; the euphoria is immediate.</a:t>
            </a:r>
          </a:p>
          <a:p>
            <a:pPr>
              <a:spcBef>
                <a:spcPts val="1200"/>
              </a:spcBef>
            </a:pPr>
            <a:r>
              <a:rPr lang="en-US" dirty="0"/>
              <a:t>Many individuals stop drug use before becoming addicted, even with highly reinforcing drugs like cocaine and heroin. Other factors must contribute to addiction development.</a:t>
            </a:r>
          </a:p>
        </p:txBody>
      </p:sp>
    </p:spTree>
    <p:extLst>
      <p:ext uri="{BB962C8B-B14F-4D97-AF65-F5344CB8AC3E}">
        <p14:creationId xmlns:p14="http://schemas.microsoft.com/office/powerpoint/2010/main" val="35799223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Factors That Influence the Development </a:t>
            </a:r>
            <a:br>
              <a:rPr lang="en-US" dirty="0"/>
            </a:br>
            <a:r>
              <a:rPr lang="en-US" dirty="0"/>
              <a:t>and Maintenance of Drug Misuse and Addiction </a:t>
            </a:r>
            <a:r>
              <a:rPr lang="en-US" sz="1300" dirty="0"/>
              <a:t>(6 of 18)</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Most recreational drugs exert rewarding and reinforcing effects</a:t>
            </a:r>
          </a:p>
          <a:p>
            <a:pPr>
              <a:spcBef>
                <a:spcPts val="1200"/>
              </a:spcBef>
            </a:pPr>
            <a:r>
              <a:rPr lang="en-US" dirty="0"/>
              <a:t>Rewarding effects of drugs are studied using place-conditioning and electrical self-stimulation of the brain. </a:t>
            </a:r>
          </a:p>
          <a:p>
            <a:pPr>
              <a:spcBef>
                <a:spcPts val="1200"/>
              </a:spcBef>
            </a:pPr>
            <a:r>
              <a:rPr lang="en-US" dirty="0"/>
              <a:t>Most addictive drugs cause a reduction in the self-stimulation threshold; withdrawal causes an increased threshold.</a:t>
            </a:r>
          </a:p>
          <a:p>
            <a:pPr>
              <a:spcBef>
                <a:spcPts val="1200"/>
              </a:spcBef>
            </a:pPr>
            <a:r>
              <a:rPr lang="en-US" dirty="0"/>
              <a:t>Recreational drugs can have aversive effects (e.g., cocaine can cause anxiety after the initial period of euphoria); these effects may not be sufficient to outweigh factors promoting drug use.</a:t>
            </a:r>
          </a:p>
        </p:txBody>
      </p:sp>
    </p:spTree>
    <p:extLst>
      <p:ext uri="{BB962C8B-B14F-4D97-AF65-F5344CB8AC3E}">
        <p14:creationId xmlns:p14="http://schemas.microsoft.com/office/powerpoint/2010/main" val="15439512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Factors That Influence the Development </a:t>
            </a:r>
            <a:br>
              <a:rPr lang="en-US" dirty="0"/>
            </a:br>
            <a:r>
              <a:rPr lang="en-US" dirty="0"/>
              <a:t>and Maintenance of Drug Misuse and Addiction </a:t>
            </a:r>
            <a:r>
              <a:rPr lang="en-US" sz="1300" dirty="0"/>
              <a:t>(7 of 18)</a:t>
            </a:r>
            <a:endParaRPr lang="en-US" dirty="0"/>
          </a:p>
        </p:txBody>
      </p:sp>
      <p:sp>
        <p:nvSpPr>
          <p:cNvPr id="3" name="Text Placeholder 2"/>
          <p:cNvSpPr>
            <a:spLocks noGrp="1"/>
          </p:cNvSpPr>
          <p:nvPr>
            <p:ph idx="1"/>
          </p:nvPr>
        </p:nvSpPr>
        <p:spPr/>
        <p:txBody>
          <a:bodyPr>
            <a:normAutofit lnSpcReduction="10000"/>
          </a:bodyPr>
          <a:lstStyle/>
          <a:p>
            <a:pPr marL="457200" indent="-457200">
              <a:lnSpc>
                <a:spcPct val="110000"/>
              </a:lnSpc>
              <a:spcBef>
                <a:spcPts val="1200"/>
              </a:spcBef>
              <a:buNone/>
            </a:pPr>
            <a:r>
              <a:rPr lang="en-US" sz="3200" dirty="0"/>
              <a:t>Drug dependence leads to withdrawal symptoms when abstinence is attempted</a:t>
            </a:r>
          </a:p>
          <a:p>
            <a:pPr>
              <a:spcBef>
                <a:spcPts val="1200"/>
              </a:spcBef>
            </a:pPr>
            <a:r>
              <a:rPr lang="en-US" dirty="0"/>
              <a:t>Physical dependence may play a key role in establishing and maintaining drug addiction</a:t>
            </a:r>
          </a:p>
          <a:p>
            <a:pPr>
              <a:spcBef>
                <a:spcPts val="1200"/>
              </a:spcBef>
            </a:pPr>
            <a:r>
              <a:rPr lang="en-US" dirty="0"/>
              <a:t>Withdrawal symptoms (</a:t>
            </a:r>
            <a:r>
              <a:rPr lang="en-US" b="1" dirty="0"/>
              <a:t>abstinence syndrome</a:t>
            </a:r>
            <a:r>
              <a:rPr lang="en-US" dirty="0"/>
              <a:t>) motivates the user to take the drug again (negative reinforcement)</a:t>
            </a:r>
          </a:p>
          <a:p>
            <a:pPr>
              <a:spcBef>
                <a:spcPts val="1200"/>
              </a:spcBef>
            </a:pPr>
            <a:r>
              <a:rPr lang="en-US" dirty="0"/>
              <a:t>Experimental results from heroin studies support the use of agonist replacement therapy (e.g., methadone or buprenorphine) in the treatment of opioid-dependence</a:t>
            </a:r>
          </a:p>
        </p:txBody>
      </p:sp>
    </p:spTree>
    <p:extLst>
      <p:ext uri="{BB962C8B-B14F-4D97-AF65-F5344CB8AC3E}">
        <p14:creationId xmlns:p14="http://schemas.microsoft.com/office/powerpoint/2010/main" val="22610498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644B3-2A3E-864B-B8A5-1FDA169894A5}"/>
              </a:ext>
            </a:extLst>
          </p:cNvPr>
          <p:cNvSpPr>
            <a:spLocks noGrp="1"/>
          </p:cNvSpPr>
          <p:nvPr>
            <p:ph type="title"/>
          </p:nvPr>
        </p:nvSpPr>
        <p:spPr/>
        <p:txBody>
          <a:bodyPr/>
          <a:lstStyle/>
          <a:p>
            <a:r>
              <a:rPr lang="en-US" cap="all" dirty="0"/>
              <a:t>FIGURE 9.8</a:t>
            </a:r>
            <a:r>
              <a:rPr lang="en-US" dirty="0"/>
              <a:t>  Heroin choice dose–response functions in heroin-dependent monkeys </a:t>
            </a:r>
          </a:p>
        </p:txBody>
      </p:sp>
      <p:pic>
        <p:nvPicPr>
          <p:cNvPr id="6" name="Content Placeholder 5" descr="The graph represents heroin dose in milligram per kilogram per injection along the x-axis and the percentage of heroin choice with intervals of 25 along the y-axis. The doses considered are 0, 0.0032, 0.01, 0.032, and 0.1. In the choice plus extended access graph, the coordinates are (0,0), (0.0032,0), (0.01,30), (0.032,75), and (0.1,100). In the choice plus withdrawal day 1 graph, the coordinates are (0,30), (0.0032,75), (0.01,85), (0.032,100), and (0.1,75)."/>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1693040" y="479425"/>
            <a:ext cx="8805920" cy="6300788"/>
          </a:xfrm>
        </p:spPr>
      </p:pic>
    </p:spTree>
    <p:extLst>
      <p:ext uri="{BB962C8B-B14F-4D97-AF65-F5344CB8AC3E}">
        <p14:creationId xmlns:p14="http://schemas.microsoft.com/office/powerpoint/2010/main" val="26068504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Factors That Influence the Development </a:t>
            </a:r>
            <a:br>
              <a:rPr lang="en-US" dirty="0"/>
            </a:br>
            <a:r>
              <a:rPr lang="en-US" dirty="0"/>
              <a:t>and Maintenance of Drug Misuse and Addiction </a:t>
            </a:r>
            <a:r>
              <a:rPr lang="en-US" sz="1300" dirty="0"/>
              <a:t>(8 of 18)</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Drug dependence leads to withdrawal symptoms when abstinence is attempted</a:t>
            </a:r>
          </a:p>
          <a:p>
            <a:pPr>
              <a:spcBef>
                <a:spcPts val="1200"/>
              </a:spcBef>
            </a:pPr>
            <a:r>
              <a:rPr lang="en-US" dirty="0"/>
              <a:t>Development of addiction: drug-taking behavior progresses from an “impulsive” stage to a “compulsive” stage</a:t>
            </a:r>
          </a:p>
          <a:p>
            <a:pPr>
              <a:spcBef>
                <a:spcPts val="1200"/>
              </a:spcBef>
            </a:pPr>
            <a:r>
              <a:rPr lang="en-US" dirty="0"/>
              <a:t>The process may be due to gradual recruitment of an “antireward” system in the brain (“</a:t>
            </a:r>
            <a:r>
              <a:rPr lang="en-US" dirty="0" err="1"/>
              <a:t>neuroadapted</a:t>
            </a:r>
            <a:r>
              <a:rPr lang="en-US" dirty="0"/>
              <a:t> state”)</a:t>
            </a:r>
          </a:p>
          <a:p>
            <a:pPr>
              <a:spcBef>
                <a:spcPts val="1200"/>
              </a:spcBef>
            </a:pPr>
            <a:r>
              <a:rPr lang="en-US" dirty="0"/>
              <a:t>But physical dependence doesn’t explain relapses after </a:t>
            </a:r>
            <a:r>
              <a:rPr lang="en-US" b="1" dirty="0"/>
              <a:t>drug detoxification</a:t>
            </a:r>
            <a:r>
              <a:rPr lang="en-US" dirty="0"/>
              <a:t>; many factors contribute to relapse</a:t>
            </a:r>
          </a:p>
        </p:txBody>
      </p:sp>
    </p:spTree>
    <p:extLst>
      <p:ext uri="{BB962C8B-B14F-4D97-AF65-F5344CB8AC3E}">
        <p14:creationId xmlns:p14="http://schemas.microsoft.com/office/powerpoint/2010/main" val="35609542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69441-E4C9-7E4F-92F1-530E13C7AC9D}"/>
              </a:ext>
            </a:extLst>
          </p:cNvPr>
          <p:cNvSpPr>
            <a:spLocks noGrp="1"/>
          </p:cNvSpPr>
          <p:nvPr>
            <p:ph type="title"/>
          </p:nvPr>
        </p:nvSpPr>
        <p:spPr/>
        <p:txBody>
          <a:bodyPr/>
          <a:lstStyle/>
          <a:p>
            <a:r>
              <a:rPr lang="en-US" cap="all" dirty="0"/>
              <a:t>FIGURE 9.9</a:t>
            </a:r>
            <a:r>
              <a:rPr lang="en-US" dirty="0"/>
              <a:t>  Transition from the impulsive to the compulsive phase of alcohol addiction </a:t>
            </a:r>
          </a:p>
        </p:txBody>
      </p:sp>
      <p:pic>
        <p:nvPicPr>
          <p:cNvPr id="6" name="Content Placeholder 5" descr="An illustration describes the transformation of the impulsive stage to the compulsive stage of alcohol addiction. The phases of transformation are as follows, use, abstinence, relapse, heavy use, abstinence, relapse, early dependence, abstinence, relapse, and late dependence- neuroadapted state. The components involved in the impulsive stage cycle include binge intoxication, pleasurable effects, abstinence with neutral affect, and reward craving. The components involved in the compulsive stage cycle include prolonged intoxication, relief, protracted abstinence with negative affect, and relief craving."/>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1870171" y="479425"/>
            <a:ext cx="8451659" cy="6300788"/>
          </a:xfrm>
        </p:spPr>
      </p:pic>
    </p:spTree>
    <p:extLst>
      <p:ext uri="{BB962C8B-B14F-4D97-AF65-F5344CB8AC3E}">
        <p14:creationId xmlns:p14="http://schemas.microsoft.com/office/powerpoint/2010/main" val="8639539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Factors That Influence the Development </a:t>
            </a:r>
            <a:br>
              <a:rPr lang="en-US" dirty="0"/>
            </a:br>
            <a:r>
              <a:rPr lang="en-US" dirty="0"/>
              <a:t>and Maintenance of Drug Misuse and Addiction </a:t>
            </a:r>
            <a:r>
              <a:rPr lang="en-US" sz="1300" dirty="0"/>
              <a:t>(9 of 18)</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Discriminative stimulus effects contribute to drug-seeking behavior</a:t>
            </a:r>
          </a:p>
          <a:p>
            <a:pPr>
              <a:spcBef>
                <a:spcPts val="1200"/>
              </a:spcBef>
            </a:pPr>
            <a:r>
              <a:rPr lang="en-US" dirty="0"/>
              <a:t>Psychoactive drugs, including addictive drugs, can produce discriminative stimulus effects in animals thought to correspond to the subjective effects produced by these compounds in human users. </a:t>
            </a:r>
          </a:p>
          <a:p>
            <a:pPr>
              <a:spcBef>
                <a:spcPts val="1200"/>
              </a:spcBef>
            </a:pPr>
            <a:r>
              <a:rPr lang="en-US" dirty="0"/>
              <a:t>Experienced users come to expect these subjective effects, which may contribute to the persistence of drug use.</a:t>
            </a:r>
          </a:p>
        </p:txBody>
      </p:sp>
    </p:spTree>
    <p:extLst>
      <p:ext uri="{BB962C8B-B14F-4D97-AF65-F5344CB8AC3E}">
        <p14:creationId xmlns:p14="http://schemas.microsoft.com/office/powerpoint/2010/main" val="36762901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Factors That Influence the Development </a:t>
            </a:r>
            <a:br>
              <a:rPr lang="en-US" dirty="0"/>
            </a:br>
            <a:r>
              <a:rPr lang="en-US" dirty="0"/>
              <a:t>and Maintenance of Drug Misuse and Addiction </a:t>
            </a:r>
            <a:r>
              <a:rPr lang="en-US" sz="1300" dirty="0"/>
              <a:t>(10 of 18)</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Genetic factors contribute to the risk for addiction</a:t>
            </a:r>
          </a:p>
          <a:p>
            <a:pPr>
              <a:spcBef>
                <a:spcPts val="1200"/>
              </a:spcBef>
            </a:pPr>
            <a:r>
              <a:rPr lang="en-US" dirty="0"/>
              <a:t>Contribution of genetics to the risk for substance use disorder has been assessed using family, adoption, and twin studies</a:t>
            </a:r>
          </a:p>
          <a:p>
            <a:pPr>
              <a:spcBef>
                <a:spcPts val="1200"/>
              </a:spcBef>
            </a:pPr>
            <a:r>
              <a:rPr lang="en-US" dirty="0"/>
              <a:t>Overall </a:t>
            </a:r>
            <a:r>
              <a:rPr lang="en-US" b="1" dirty="0"/>
              <a:t>heritability</a:t>
            </a:r>
            <a:r>
              <a:rPr lang="en-US" dirty="0"/>
              <a:t> of substance use disorders is in the range of 40% to 60%</a:t>
            </a:r>
          </a:p>
          <a:p>
            <a:pPr>
              <a:spcBef>
                <a:spcPts val="1200"/>
              </a:spcBef>
            </a:pPr>
            <a:r>
              <a:rPr lang="en-US" dirty="0"/>
              <a:t>The remaining variability is due to environmental influences and gene-by-environment interactions (genetic component is only expressed in people with specific life events, such as stressful events.</a:t>
            </a:r>
          </a:p>
        </p:txBody>
      </p:sp>
    </p:spTree>
    <p:extLst>
      <p:ext uri="{BB962C8B-B14F-4D97-AF65-F5344CB8AC3E}">
        <p14:creationId xmlns:p14="http://schemas.microsoft.com/office/powerpoint/2010/main" val="26043456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Factors That Influence the Development </a:t>
            </a:r>
            <a:br>
              <a:rPr lang="en-US" dirty="0"/>
            </a:br>
            <a:r>
              <a:rPr lang="en-US" dirty="0"/>
              <a:t>and Maintenance of Drug Misuse and Addiction </a:t>
            </a:r>
            <a:r>
              <a:rPr lang="en-US" sz="1300" dirty="0"/>
              <a:t>(11 of 18)</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Psychosocial variables also contribute to addiction risk</a:t>
            </a:r>
          </a:p>
          <a:p>
            <a:pPr>
              <a:spcBef>
                <a:spcPts val="1200"/>
              </a:spcBef>
            </a:pPr>
            <a:r>
              <a:rPr lang="en-US" dirty="0"/>
              <a:t>In adolescents, increased risk is associated with younger age, less education, non-white racial background, lack of employment, and conduct problems in childhood.</a:t>
            </a:r>
          </a:p>
          <a:p>
            <a:pPr>
              <a:spcBef>
                <a:spcPts val="1200"/>
              </a:spcBef>
            </a:pPr>
            <a:r>
              <a:rPr lang="en-US" dirty="0"/>
              <a:t>Stress: frequency and severity of stressful life events and an individual’s ability to cope with such events</a:t>
            </a:r>
          </a:p>
          <a:p>
            <a:pPr>
              <a:spcBef>
                <a:spcPts val="1200"/>
              </a:spcBef>
            </a:pPr>
            <a:r>
              <a:rPr lang="en-US" b="1" dirty="0"/>
              <a:t>Comorbidity</a:t>
            </a:r>
            <a:r>
              <a:rPr lang="en-US" dirty="0"/>
              <a:t>: diagnosis of anxiety, mood, or personality disorders in addition to substance abuse disorder</a:t>
            </a:r>
          </a:p>
        </p:txBody>
      </p:sp>
    </p:spTree>
    <p:extLst>
      <p:ext uri="{BB962C8B-B14F-4D97-AF65-F5344CB8AC3E}">
        <p14:creationId xmlns:p14="http://schemas.microsoft.com/office/powerpoint/2010/main" val="10741892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Factors That Influence the Development </a:t>
            </a:r>
            <a:br>
              <a:rPr lang="en-US" dirty="0"/>
            </a:br>
            <a:r>
              <a:rPr lang="en-US" dirty="0"/>
              <a:t>and Maintenance of Drug Misuse and Addiction </a:t>
            </a:r>
            <a:r>
              <a:rPr lang="en-US" sz="1300" dirty="0"/>
              <a:t>(12 of 18)</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Psychosocial variables also contribute to addiction risk</a:t>
            </a:r>
          </a:p>
          <a:p>
            <a:pPr>
              <a:spcBef>
                <a:spcPts val="1200"/>
              </a:spcBef>
            </a:pPr>
            <a:r>
              <a:rPr lang="en-US" b="1" dirty="0"/>
              <a:t>Self-medication hypothesis</a:t>
            </a:r>
            <a:r>
              <a:rPr lang="en-US" dirty="0"/>
              <a:t>: individuals suffering from elevated anxiety should prefer sedative–anxiolytic drugs; depressed individuals  should seek out stimulant drugs</a:t>
            </a:r>
          </a:p>
          <a:p>
            <a:pPr>
              <a:spcBef>
                <a:spcPts val="1200"/>
              </a:spcBef>
            </a:pPr>
            <a:r>
              <a:rPr lang="en-US" b="1" dirty="0"/>
              <a:t>Shared etiology</a:t>
            </a:r>
            <a:r>
              <a:rPr lang="en-US" dirty="0"/>
              <a:t>: certain factors (genetic and/or environmental) contribute to elevated risk of both addiction and other psychiatric disorders</a:t>
            </a:r>
          </a:p>
          <a:p>
            <a:pPr>
              <a:spcBef>
                <a:spcPts val="1200"/>
              </a:spcBef>
            </a:pPr>
            <a:r>
              <a:rPr lang="en-US" dirty="0"/>
              <a:t>Current evidence does not rule out any of these competing hypotheses.</a:t>
            </a:r>
          </a:p>
        </p:txBody>
      </p:sp>
    </p:spTree>
    <p:extLst>
      <p:ext uri="{BB962C8B-B14F-4D97-AF65-F5344CB8AC3E}">
        <p14:creationId xmlns:p14="http://schemas.microsoft.com/office/powerpoint/2010/main" val="8880857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Factors That Influence the Development </a:t>
            </a:r>
            <a:br>
              <a:rPr lang="en-US" dirty="0"/>
            </a:br>
            <a:r>
              <a:rPr lang="en-US" dirty="0"/>
              <a:t>and Maintenance of Drug Misuse and Addiction </a:t>
            </a:r>
            <a:r>
              <a:rPr lang="en-US" sz="1300" dirty="0"/>
              <a:t>(13 of 18)</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Psychosocial variables also contribute to addiction risk</a:t>
            </a:r>
          </a:p>
          <a:p>
            <a:pPr>
              <a:spcBef>
                <a:spcPts val="1200"/>
              </a:spcBef>
            </a:pPr>
            <a:r>
              <a:rPr lang="en-US" dirty="0"/>
              <a:t>Familial and sociocultural influences: childhood maltreatment, violence in the family, inadequate parental monitoring</a:t>
            </a:r>
          </a:p>
          <a:p>
            <a:pPr>
              <a:spcBef>
                <a:spcPts val="1200"/>
              </a:spcBef>
            </a:pPr>
            <a:r>
              <a:rPr lang="en-US" dirty="0"/>
              <a:t>Drug use may promote social facilitation, remove the user from normal social roles and responsibilities, promote solidarity within a particular ethnic group, or lead to association with a specific drug subculture.</a:t>
            </a:r>
          </a:p>
        </p:txBody>
      </p:sp>
    </p:spTree>
    <p:extLst>
      <p:ext uri="{BB962C8B-B14F-4D97-AF65-F5344CB8AC3E}">
        <p14:creationId xmlns:p14="http://schemas.microsoft.com/office/powerpoint/2010/main" val="23340354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Factors That Influence the Development </a:t>
            </a:r>
            <a:br>
              <a:rPr lang="en-US" dirty="0"/>
            </a:br>
            <a:r>
              <a:rPr lang="en-US" dirty="0"/>
              <a:t>and Maintenance of Drug Misuse and Addiction </a:t>
            </a:r>
            <a:r>
              <a:rPr lang="en-US" sz="1300" dirty="0"/>
              <a:t>(14 of 18)</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Psychosocial variables also contribute to addiction risk</a:t>
            </a:r>
          </a:p>
          <a:p>
            <a:pPr>
              <a:spcBef>
                <a:spcPts val="1200"/>
              </a:spcBef>
            </a:pPr>
            <a:r>
              <a:rPr lang="en-US" dirty="0"/>
              <a:t>Protective factors: </a:t>
            </a:r>
          </a:p>
          <a:p>
            <a:pPr lvl="1">
              <a:spcBef>
                <a:spcPts val="1200"/>
              </a:spcBef>
            </a:pPr>
            <a:r>
              <a:rPr lang="en-US" dirty="0"/>
              <a:t>Absence of the risk factors outlined above</a:t>
            </a:r>
          </a:p>
          <a:p>
            <a:pPr lvl="1">
              <a:spcBef>
                <a:spcPts val="1200"/>
              </a:spcBef>
            </a:pPr>
            <a:r>
              <a:rPr lang="en-US" dirty="0"/>
              <a:t>For people trying to recover from addiction: a support network of family and friends, maintaining a stable lifestyle, sources of reinforcement outside of drugs, and acquiring mechanisms to cope with stress</a:t>
            </a:r>
          </a:p>
        </p:txBody>
      </p:sp>
    </p:spTree>
    <p:extLst>
      <p:ext uri="{BB962C8B-B14F-4D97-AF65-F5344CB8AC3E}">
        <p14:creationId xmlns:p14="http://schemas.microsoft.com/office/powerpoint/2010/main" val="34554944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Factors That Influence the Development </a:t>
            </a:r>
            <a:br>
              <a:rPr lang="en-US" dirty="0"/>
            </a:br>
            <a:r>
              <a:rPr lang="en-US" dirty="0"/>
              <a:t>and Maintenance of Drug Misuse and Addiction </a:t>
            </a:r>
            <a:r>
              <a:rPr lang="en-US" sz="1300" dirty="0"/>
              <a:t>(15 of 18)</a:t>
            </a:r>
            <a:endParaRPr lang="en-US" dirty="0"/>
          </a:p>
        </p:txBody>
      </p:sp>
      <p:sp>
        <p:nvSpPr>
          <p:cNvPr id="3" name="Text Placeholder 2"/>
          <p:cNvSpPr>
            <a:spLocks noGrp="1"/>
          </p:cNvSpPr>
          <p:nvPr>
            <p:ph idx="1"/>
          </p:nvPr>
        </p:nvSpPr>
        <p:spPr>
          <a:xfrm>
            <a:off x="609600" y="1857781"/>
            <a:ext cx="10972800" cy="4725581"/>
          </a:xfrm>
        </p:spPr>
        <p:txBody>
          <a:bodyPr>
            <a:normAutofit lnSpcReduction="10000"/>
          </a:bodyPr>
          <a:lstStyle/>
          <a:p>
            <a:pPr marL="457200" indent="-457200">
              <a:lnSpc>
                <a:spcPct val="120000"/>
              </a:lnSpc>
              <a:spcBef>
                <a:spcPts val="1200"/>
              </a:spcBef>
              <a:buNone/>
            </a:pPr>
            <a:r>
              <a:rPr lang="en-US" sz="3200" dirty="0"/>
              <a:t>Sex differences in substance use misuse, and addiction</a:t>
            </a:r>
          </a:p>
          <a:p>
            <a:pPr>
              <a:spcBef>
                <a:spcPts val="1200"/>
              </a:spcBef>
            </a:pPr>
            <a:r>
              <a:rPr lang="en-US" dirty="0"/>
              <a:t>Biological sex influences features of substance use, misuse, and addiction. </a:t>
            </a:r>
          </a:p>
          <a:p>
            <a:pPr>
              <a:spcBef>
                <a:spcPts val="1200"/>
              </a:spcBef>
            </a:pPr>
            <a:r>
              <a:rPr lang="en-US" dirty="0"/>
              <a:t>Men often begin use in a social context; women may begin in response to a negative life event and/or onset of depression or anxiety. </a:t>
            </a:r>
          </a:p>
          <a:p>
            <a:pPr>
              <a:spcBef>
                <a:spcPts val="1200"/>
              </a:spcBef>
            </a:pPr>
            <a:r>
              <a:rPr lang="en-US" dirty="0"/>
              <a:t>Women more often than men rapidly escalate substance use (“telescoping”) </a:t>
            </a:r>
          </a:p>
          <a:p>
            <a:pPr>
              <a:spcBef>
                <a:spcPts val="1200"/>
              </a:spcBef>
            </a:pPr>
            <a:r>
              <a:rPr lang="en-US" dirty="0"/>
              <a:t>Many sex differences in substance use or addiction have been linked to female reproductive hormones or to differences in stress responding</a:t>
            </a:r>
          </a:p>
        </p:txBody>
      </p:sp>
    </p:spTree>
    <p:extLst>
      <p:ext uri="{BB962C8B-B14F-4D97-AF65-F5344CB8AC3E}">
        <p14:creationId xmlns:p14="http://schemas.microsoft.com/office/powerpoint/2010/main" val="2976770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Factors That Influence the Development </a:t>
            </a:r>
            <a:br>
              <a:rPr lang="en-US" dirty="0"/>
            </a:br>
            <a:r>
              <a:rPr lang="en-US" dirty="0"/>
              <a:t>and Maintenance of Drug Misuse and Addiction </a:t>
            </a:r>
            <a:r>
              <a:rPr lang="en-US" sz="1300" dirty="0"/>
              <a:t>(16 of 18)</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Natural recovery from substance misuse and addiction</a:t>
            </a:r>
          </a:p>
          <a:p>
            <a:pPr>
              <a:spcBef>
                <a:spcPts val="1200"/>
              </a:spcBef>
            </a:pPr>
            <a:r>
              <a:rPr lang="en-US" b="1" dirty="0"/>
              <a:t>Natural recovery</a:t>
            </a:r>
            <a:r>
              <a:rPr lang="en-US" dirty="0"/>
              <a:t>: transitioning from substance misuse or addiction to non-problematic use or nonuse without assistance</a:t>
            </a:r>
          </a:p>
          <a:p>
            <a:pPr>
              <a:spcBef>
                <a:spcPts val="1200"/>
              </a:spcBef>
            </a:pPr>
            <a:r>
              <a:rPr lang="en-US" dirty="0"/>
              <a:t>May be facilitated by transitional life events and/or by the negative consequences of continuing drug use. </a:t>
            </a:r>
          </a:p>
          <a:p>
            <a:pPr>
              <a:spcBef>
                <a:spcPts val="1200"/>
              </a:spcBef>
            </a:pPr>
            <a:r>
              <a:rPr lang="en-US" dirty="0"/>
              <a:t>Maintaining abstinence is helped by avoiding drug-associated cues, non-drug sources of reinforcement, new social support networks, financial stability, and achieving a general structure to the individual’s life.</a:t>
            </a:r>
          </a:p>
        </p:txBody>
      </p:sp>
    </p:spTree>
    <p:extLst>
      <p:ext uri="{BB962C8B-B14F-4D97-AF65-F5344CB8AC3E}">
        <p14:creationId xmlns:p14="http://schemas.microsoft.com/office/powerpoint/2010/main" val="18545846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Factors That Influence the Development </a:t>
            </a:r>
            <a:br>
              <a:rPr lang="en-US" dirty="0"/>
            </a:br>
            <a:r>
              <a:rPr lang="en-US" dirty="0"/>
              <a:t>and Maintenance of Drug Misuse and Addiction </a:t>
            </a:r>
            <a:r>
              <a:rPr lang="en-US" sz="1300" dirty="0"/>
              <a:t>(17 of 18)</a:t>
            </a:r>
            <a:endParaRPr lang="en-US" dirty="0"/>
          </a:p>
        </p:txBody>
      </p:sp>
      <p:sp>
        <p:nvSpPr>
          <p:cNvPr id="3" name="Text Placeholder 2"/>
          <p:cNvSpPr>
            <a:spLocks noGrp="1"/>
          </p:cNvSpPr>
          <p:nvPr>
            <p:ph idx="1"/>
          </p:nvPr>
        </p:nvSpPr>
        <p:spPr/>
        <p:txBody>
          <a:bodyPr>
            <a:normAutofit lnSpcReduction="10000"/>
          </a:bodyPr>
          <a:lstStyle/>
          <a:p>
            <a:pPr marL="457200" indent="-457200">
              <a:lnSpc>
                <a:spcPct val="110000"/>
              </a:lnSpc>
              <a:spcBef>
                <a:spcPts val="1200"/>
              </a:spcBef>
              <a:buNone/>
            </a:pPr>
            <a:r>
              <a:rPr lang="en-US" sz="3200" dirty="0"/>
              <a:t>The factors contributing to substance misuse and addiction can be combined into a biopsychosocial model</a:t>
            </a:r>
          </a:p>
          <a:p>
            <a:pPr>
              <a:spcBef>
                <a:spcPts val="1200"/>
              </a:spcBef>
            </a:pPr>
            <a:r>
              <a:rPr lang="en-US" b="1" dirty="0"/>
              <a:t>Biopsychosocial model of addiction</a:t>
            </a:r>
            <a:r>
              <a:rPr lang="en-US" dirty="0"/>
              <a:t>: includes the full range of pharmacological, biological, and psychological/sociocultural factors that influence addiction risk</a:t>
            </a:r>
          </a:p>
          <a:p>
            <a:pPr>
              <a:spcBef>
                <a:spcPts val="1200"/>
              </a:spcBef>
            </a:pPr>
            <a:r>
              <a:rPr lang="en-US" dirty="0"/>
              <a:t>Some factors promote the likelihood of substance misuse and addiction; others reduce this likelihood.</a:t>
            </a:r>
          </a:p>
          <a:p>
            <a:pPr>
              <a:spcBef>
                <a:spcPts val="1200"/>
              </a:spcBef>
            </a:pPr>
            <a:r>
              <a:rPr lang="en-US" dirty="0"/>
              <a:t>Consideration of all such factors, crossing multiple levels of analysis, is necessary for an adequate understanding of the addiction process.</a:t>
            </a:r>
          </a:p>
        </p:txBody>
      </p:sp>
    </p:spTree>
    <p:extLst>
      <p:ext uri="{BB962C8B-B14F-4D97-AF65-F5344CB8AC3E}">
        <p14:creationId xmlns:p14="http://schemas.microsoft.com/office/powerpoint/2010/main" val="33402899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E2E01-B058-284F-A488-DC1655283D81}"/>
              </a:ext>
            </a:extLst>
          </p:cNvPr>
          <p:cNvSpPr>
            <a:spLocks noGrp="1"/>
          </p:cNvSpPr>
          <p:nvPr>
            <p:ph type="title"/>
          </p:nvPr>
        </p:nvSpPr>
        <p:spPr/>
        <p:txBody>
          <a:bodyPr/>
          <a:lstStyle/>
          <a:p>
            <a:r>
              <a:rPr lang="en-US" cap="all" dirty="0"/>
              <a:t>FIGURE 9.12</a:t>
            </a:r>
            <a:r>
              <a:rPr lang="en-US" dirty="0"/>
              <a:t>  A biopsychosocial model of drug addiction </a:t>
            </a:r>
          </a:p>
        </p:txBody>
      </p:sp>
      <p:pic>
        <p:nvPicPr>
          <p:cNvPr id="6" name="Content Placeholder 5" descr="An illustration describes the factors influencing compulsive drug use and drug seeking behavior. The factors increasing the compulsive drug seeking behavior are positive reinforcing effects of drugs due to behavioral and neural mechanisms, negative reinforcing effects of drugs due to relief from withdrawal, discriminative subjective effects of drugs, stimuli conditioned to drug effects, and risk factors such as psychological, familial, sociocultural, and genetic. The factors decreasing the drug seeking behavior are the aversive effects of drugs and protective factors."/>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3356803" y="479425"/>
            <a:ext cx="5478395" cy="6300788"/>
          </a:xfrm>
        </p:spPr>
      </p:pic>
    </p:spTree>
    <p:extLst>
      <p:ext uri="{BB962C8B-B14F-4D97-AF65-F5344CB8AC3E}">
        <p14:creationId xmlns:p14="http://schemas.microsoft.com/office/powerpoint/2010/main" val="15479460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Factors That Influence the Development </a:t>
            </a:r>
            <a:br>
              <a:rPr lang="en-US" dirty="0"/>
            </a:br>
            <a:r>
              <a:rPr lang="en-US" dirty="0"/>
              <a:t>and Maintenance of Drug Misuse and Addiction </a:t>
            </a:r>
            <a:r>
              <a:rPr lang="en-US" sz="1300" dirty="0"/>
              <a:t>(18 of 18)</a:t>
            </a:r>
            <a:endParaRPr lang="en-US" dirty="0"/>
          </a:p>
        </p:txBody>
      </p:sp>
      <p:sp>
        <p:nvSpPr>
          <p:cNvPr id="3" name="Text Placeholder 2"/>
          <p:cNvSpPr>
            <a:spLocks noGrp="1"/>
          </p:cNvSpPr>
          <p:nvPr>
            <p:ph idx="1"/>
          </p:nvPr>
        </p:nvSpPr>
        <p:spPr/>
        <p:txBody>
          <a:bodyPr>
            <a:normAutofit/>
          </a:bodyPr>
          <a:lstStyle/>
          <a:p>
            <a:pPr marL="0" indent="0">
              <a:spcBef>
                <a:spcPts val="1200"/>
              </a:spcBef>
              <a:buNone/>
            </a:pPr>
            <a:r>
              <a:rPr lang="en-US" sz="2400" u="sng" dirty="0"/>
              <a:t>CLICKER QUESTION 2</a:t>
            </a:r>
          </a:p>
          <a:p>
            <a:pPr marL="457200" indent="-457200">
              <a:spcBef>
                <a:spcPts val="2400"/>
              </a:spcBef>
              <a:buNone/>
            </a:pPr>
            <a:r>
              <a:rPr lang="en-US" sz="3200" dirty="0"/>
              <a:t>The addiction potential of a drug is positively correlated with the</a:t>
            </a:r>
          </a:p>
          <a:p>
            <a:pPr marL="914400" indent="-457200">
              <a:spcBef>
                <a:spcPts val="1200"/>
              </a:spcBef>
              <a:buFont typeface="Arial" pitchFamily="34" charset="0"/>
              <a:buAutoNum type="alphaLcPeriod"/>
            </a:pPr>
            <a:r>
              <a:rPr lang="en-US" sz="3200" dirty="0"/>
              <a:t>probability of developing physical dependence.</a:t>
            </a:r>
          </a:p>
          <a:p>
            <a:pPr marL="914400" indent="-457200">
              <a:spcBef>
                <a:spcPts val="1200"/>
              </a:spcBef>
              <a:buFont typeface="Arial" pitchFamily="34" charset="0"/>
              <a:buAutoNum type="alphaLcPeriod"/>
            </a:pPr>
            <a:r>
              <a:rPr lang="en-US" sz="3200" dirty="0"/>
              <a:t>speed of onset of euphoria or “high.”</a:t>
            </a:r>
          </a:p>
          <a:p>
            <a:pPr marL="914400" indent="-457200">
              <a:spcBef>
                <a:spcPts val="1200"/>
              </a:spcBef>
              <a:buFont typeface="Arial" pitchFamily="34" charset="0"/>
              <a:buAutoNum type="alphaLcPeriod"/>
            </a:pPr>
            <a:r>
              <a:rPr lang="en-US" sz="3200" dirty="0"/>
              <a:t>ability of the drug to cause relapse.</a:t>
            </a:r>
          </a:p>
          <a:p>
            <a:pPr marL="914400" indent="-457200">
              <a:spcBef>
                <a:spcPts val="1200"/>
              </a:spcBef>
              <a:buFont typeface="Arial" pitchFamily="34" charset="0"/>
              <a:buAutoNum type="alphaLcPeriod"/>
            </a:pPr>
            <a:r>
              <a:rPr lang="en-US" sz="3200" dirty="0"/>
              <a:t>positive feedback of withdrawal symptoms.</a:t>
            </a:r>
          </a:p>
        </p:txBody>
      </p:sp>
    </p:spTree>
    <p:extLst>
      <p:ext uri="{BB962C8B-B14F-4D97-AF65-F5344CB8AC3E}">
        <p14:creationId xmlns:p14="http://schemas.microsoft.com/office/powerpoint/2010/main" val="35829408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kumimoji="0" lang="en-US" b="0" i="0" u="none" strike="noStrike" kern="1200" cap="none" spc="0" normalizeH="0" baseline="0" noProof="0" dirty="0">
                <a:ln>
                  <a:noFill/>
                </a:ln>
                <a:solidFill>
                  <a:srgbClr val="1F497D"/>
                </a:solidFill>
                <a:effectLst/>
                <a:uLnTx/>
                <a:uFillTx/>
                <a:latin typeface="Calibri"/>
                <a:ea typeface="+mj-ea"/>
                <a:cs typeface="+mj-cs"/>
              </a:rPr>
              <a:t>Review of Learning Objectives </a:t>
            </a:r>
            <a:r>
              <a:rPr kumimoji="0" lang="en-US" sz="1200" b="0" i="0" u="none" strike="noStrike" kern="1200" cap="none" spc="0" normalizeH="0" baseline="0" noProof="0" dirty="0">
                <a:ln>
                  <a:noFill/>
                </a:ln>
                <a:solidFill>
                  <a:srgbClr val="1F497D"/>
                </a:solidFill>
                <a:effectLst/>
                <a:uLnTx/>
                <a:uFillTx/>
                <a:latin typeface="Calibri"/>
                <a:ea typeface="+mj-ea"/>
                <a:cs typeface="+mj-cs"/>
              </a:rPr>
              <a:t>(3 of 4)</a:t>
            </a:r>
            <a:endParaRPr lang="en-US" dirty="0"/>
          </a:p>
        </p:txBody>
      </p:sp>
      <p:sp>
        <p:nvSpPr>
          <p:cNvPr id="3" name="Text Placeholder 2"/>
          <p:cNvSpPr>
            <a:spLocks noGrp="1"/>
          </p:cNvSpPr>
          <p:nvPr>
            <p:ph idx="1"/>
          </p:nvPr>
        </p:nvSpPr>
        <p:spPr/>
        <p:txBody>
          <a:bodyPr>
            <a:normAutofit fontScale="92500" lnSpcReduction="10000"/>
          </a:bodyPr>
          <a:lstStyle/>
          <a:p>
            <a:pPr marL="914400" indent="-914400">
              <a:spcBef>
                <a:spcPts val="1200"/>
              </a:spcBef>
              <a:buNone/>
            </a:pPr>
            <a:r>
              <a:rPr lang="en-US" dirty="0"/>
              <a:t>9.3.1  Explain how the route of administration of a drug influences its addictive potential.</a:t>
            </a:r>
          </a:p>
          <a:p>
            <a:pPr marL="914400" indent="-914400">
              <a:spcBef>
                <a:spcPts val="1200"/>
              </a:spcBef>
              <a:buNone/>
            </a:pPr>
            <a:r>
              <a:rPr lang="en-US" dirty="0"/>
              <a:t>9.3.2  (a) Describe the phenomena of drug reward and reinforcement and how they are studied using animal models, and (b) explain the role of withdrawal symptoms in the development and maintenance of drug addiction.</a:t>
            </a:r>
          </a:p>
          <a:p>
            <a:pPr marL="914400" indent="-914400">
              <a:spcBef>
                <a:spcPts val="1200"/>
              </a:spcBef>
              <a:buNone/>
            </a:pPr>
            <a:r>
              <a:rPr lang="en-US" dirty="0"/>
              <a:t>9.3.3  Explain the meaning and importance of drug discriminative stimulus effects.</a:t>
            </a:r>
          </a:p>
          <a:p>
            <a:pPr marL="914400" indent="-914400">
              <a:spcBef>
                <a:spcPts val="1200"/>
              </a:spcBef>
              <a:buNone/>
            </a:pPr>
            <a:r>
              <a:rPr lang="en-US" dirty="0"/>
              <a:t>9.3.4  (a) Describe the roles of genetics, psychosocial variables, and biological sex in drug use and addiction, and (b) discuss the phenomenon of natural recovery from drug misuse and addiction.</a:t>
            </a:r>
          </a:p>
        </p:txBody>
      </p:sp>
    </p:spTree>
    <p:extLst>
      <p:ext uri="{BB962C8B-B14F-4D97-AF65-F5344CB8AC3E}">
        <p14:creationId xmlns:p14="http://schemas.microsoft.com/office/powerpoint/2010/main" val="17898675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The Neurobiology of Drug Addiction </a:t>
            </a:r>
            <a:r>
              <a:rPr lang="en-US" sz="1200" dirty="0"/>
              <a:t>(1 of 12)</a:t>
            </a:r>
            <a:endParaRPr lang="en-US" dirty="0"/>
          </a:p>
        </p:txBody>
      </p:sp>
      <p:sp>
        <p:nvSpPr>
          <p:cNvPr id="3" name="Text Placeholder 2"/>
          <p:cNvSpPr>
            <a:spLocks noGrp="1"/>
          </p:cNvSpPr>
          <p:nvPr>
            <p:ph idx="1"/>
          </p:nvPr>
        </p:nvSpPr>
        <p:spPr>
          <a:xfrm>
            <a:off x="609600" y="1857781"/>
            <a:ext cx="10972800" cy="4525963"/>
          </a:xfrm>
        </p:spPr>
        <p:txBody>
          <a:bodyPr>
            <a:normAutofit fontScale="92500" lnSpcReduction="10000"/>
          </a:bodyPr>
          <a:lstStyle/>
          <a:p>
            <a:r>
              <a:rPr lang="en-US" dirty="0"/>
              <a:t>Development of addiction has been conceptualized as a repeating cycle of three stages:</a:t>
            </a:r>
          </a:p>
          <a:p>
            <a:pPr lvl="1"/>
            <a:r>
              <a:rPr lang="en-US" dirty="0"/>
              <a:t>Preoccupation with and anticipation of obtaining and using the substance</a:t>
            </a:r>
          </a:p>
          <a:p>
            <a:pPr lvl="1"/>
            <a:r>
              <a:rPr lang="en-US" dirty="0"/>
              <a:t>Escalating use, which for some substances results in drug “binges” and intoxication</a:t>
            </a:r>
          </a:p>
          <a:p>
            <a:pPr lvl="1"/>
            <a:r>
              <a:rPr lang="en-US" dirty="0"/>
              <a:t>Withdrawal and the associated negative effects</a:t>
            </a:r>
          </a:p>
          <a:p>
            <a:r>
              <a:rPr lang="en-US" dirty="0"/>
              <a:t>The model has been helpful for understand the neurobiology of addiction, including neural circuits and transmitters implicated in each stage.</a:t>
            </a:r>
          </a:p>
        </p:txBody>
      </p:sp>
    </p:spTree>
    <p:extLst>
      <p:ext uri="{BB962C8B-B14F-4D97-AF65-F5344CB8AC3E}">
        <p14:creationId xmlns:p14="http://schemas.microsoft.com/office/powerpoint/2010/main" val="9392907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491D1-E8DB-C14C-826C-3C576F8A8519}"/>
              </a:ext>
            </a:extLst>
          </p:cNvPr>
          <p:cNvSpPr>
            <a:spLocks noGrp="1"/>
          </p:cNvSpPr>
          <p:nvPr>
            <p:ph type="title"/>
          </p:nvPr>
        </p:nvSpPr>
        <p:spPr/>
        <p:txBody>
          <a:bodyPr/>
          <a:lstStyle/>
          <a:p>
            <a:r>
              <a:rPr lang="en-US" cap="all" dirty="0"/>
              <a:t>FIGURE 9.13</a:t>
            </a:r>
            <a:r>
              <a:rPr lang="en-US" dirty="0"/>
              <a:t>  A proposed three-stage addiction cycle </a:t>
            </a:r>
            <a:r>
              <a:rPr lang="en-US" sz="1100" dirty="0"/>
              <a:t>(1)</a:t>
            </a:r>
          </a:p>
        </p:txBody>
      </p:sp>
      <p:pic>
        <p:nvPicPr>
          <p:cNvPr id="6" name="Content Placeholder 5" descr="An illustration describes the three stage addiction cycle. The stages are preoccupation, anticipation stage, where there is the persistent desire for the drug results in intake of large quantities than expected, binge intoxication stage, where there is the development of tolerance, withdrawal, compromised social, occupational, or recreational activities, and withdrawal negative affect stage, where there is the preoccupation with obtaining the drug, persistent physical and psychological problems."/>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857996" y="479425"/>
            <a:ext cx="10476008" cy="6300788"/>
          </a:xfrm>
        </p:spPr>
      </p:pic>
    </p:spTree>
    <p:extLst>
      <p:ext uri="{BB962C8B-B14F-4D97-AF65-F5344CB8AC3E}">
        <p14:creationId xmlns:p14="http://schemas.microsoft.com/office/powerpoint/2010/main" val="28176028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Neurobiology of Drug Addiction </a:t>
            </a:r>
            <a:r>
              <a:rPr lang="en-US" sz="1200" dirty="0"/>
              <a:t>(2 of 12)</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Drug reward and incentive salience drive the binge/intoxication stage of drug use</a:t>
            </a:r>
          </a:p>
          <a:p>
            <a:pPr>
              <a:spcBef>
                <a:spcPts val="1200"/>
              </a:spcBef>
            </a:pPr>
            <a:r>
              <a:rPr lang="en-US" b="1" dirty="0"/>
              <a:t>Reward circuit </a:t>
            </a:r>
            <a:r>
              <a:rPr lang="en-US" dirty="0"/>
              <a:t>in the brain mediates the acute rewarding and reinforcing effects of most recreational drugs</a:t>
            </a:r>
          </a:p>
          <a:p>
            <a:pPr>
              <a:spcBef>
                <a:spcPts val="1200"/>
              </a:spcBef>
            </a:pPr>
            <a:r>
              <a:rPr lang="en-US" dirty="0"/>
              <a:t>The mesolimbic DA pathway from the VTA to the </a:t>
            </a:r>
            <a:r>
              <a:rPr lang="en-US" dirty="0" err="1"/>
              <a:t>NAcc</a:t>
            </a:r>
            <a:r>
              <a:rPr lang="en-US" dirty="0"/>
              <a:t> has a central role in the circuit; all recreational drugs activate this pathway</a:t>
            </a:r>
          </a:p>
          <a:p>
            <a:pPr>
              <a:spcBef>
                <a:spcPts val="1200"/>
              </a:spcBef>
            </a:pPr>
            <a:r>
              <a:rPr lang="en-US" dirty="0"/>
              <a:t>Different locations in the circuit have receptors for each type of addictive drug.</a:t>
            </a:r>
          </a:p>
        </p:txBody>
      </p:sp>
    </p:spTree>
    <p:extLst>
      <p:ext uri="{BB962C8B-B14F-4D97-AF65-F5344CB8AC3E}">
        <p14:creationId xmlns:p14="http://schemas.microsoft.com/office/powerpoint/2010/main" val="1913871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F5E2E-32EE-F447-AC62-7ADD1E959B62}"/>
              </a:ext>
            </a:extLst>
          </p:cNvPr>
          <p:cNvSpPr>
            <a:spLocks noGrp="1"/>
          </p:cNvSpPr>
          <p:nvPr>
            <p:ph type="title"/>
          </p:nvPr>
        </p:nvSpPr>
        <p:spPr/>
        <p:txBody>
          <a:bodyPr/>
          <a:lstStyle/>
          <a:p>
            <a:r>
              <a:rPr lang="en-US" cap="all" dirty="0"/>
              <a:t>FIGURE 9.14</a:t>
            </a:r>
            <a:r>
              <a:rPr lang="en-US" dirty="0"/>
              <a:t>  The neural circuit responsible for the acute rewarding and reinforcing effects of recreational drugs </a:t>
            </a:r>
          </a:p>
        </p:txBody>
      </p:sp>
      <p:pic>
        <p:nvPicPr>
          <p:cNvPr id="6" name="Content Placeholder 5" descr="An illustration of the sagittal section of the brain describes the neural circuits involved in the effects of recreational drugs. The areas involved in the dopamine pathway are the ventral tegmental area, lateral hypothalamus, anterior commissure, caudate-putamen, frontal cortex, and nucleus accumbens. The ventral tegmental area contains nicotinic, GABA A, and opioid receptors. The opioid peptides from the reticular pontine nucleus are transmitted to the opioid receptors of the ventral tegmental area. The interneurons contain nicotinic, GABA A, opioid, and cannabinoid receptors. The areas, periaqueductal gray, locus coeruleus, and substantia nigra pars reticularis are connected. The locus coeruleus is connected to the reticular pontine nucleus. The opioid peptides from the arcuate nucleus of the hypothalamus are transmitted to the nucleus accumbens. The extended amygdala circuit includes the amygdala, bed nucleus of the hypothalamus, and nucleus accumbens. The nucleus accumbens contains nicotinic, GABA A, and opioid receptors. The areas, hippocampus, superior colliculus, inferior colliculus, cerebellum, and dorsomedial nucleus of the thalamus are marked for better orientation."/>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744126" y="479425"/>
            <a:ext cx="10703748" cy="6300788"/>
          </a:xfrm>
        </p:spPr>
      </p:pic>
    </p:spTree>
    <p:extLst>
      <p:ext uri="{BB962C8B-B14F-4D97-AF65-F5344CB8AC3E}">
        <p14:creationId xmlns:p14="http://schemas.microsoft.com/office/powerpoint/2010/main" val="365510564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Neurobiology of Drug Addiction </a:t>
            </a:r>
            <a:r>
              <a:rPr lang="en-US" sz="1200" dirty="0"/>
              <a:t>(3 of 12)</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Drug reward and incentive salience drive the binge/intoxication stage of drug use</a:t>
            </a:r>
          </a:p>
          <a:p>
            <a:pPr>
              <a:spcBef>
                <a:spcPts val="1200"/>
              </a:spcBef>
            </a:pPr>
            <a:r>
              <a:rPr lang="en-US" dirty="0"/>
              <a:t>Drug reward can decline due to tolerance; other motivating factors become important</a:t>
            </a:r>
          </a:p>
          <a:p>
            <a:pPr>
              <a:spcBef>
                <a:spcPts val="1200"/>
              </a:spcBef>
            </a:pPr>
            <a:r>
              <a:rPr lang="en-US" b="1" dirty="0"/>
              <a:t>Incentive sensitization theory </a:t>
            </a:r>
            <a:r>
              <a:rPr lang="en-US" dirty="0"/>
              <a:t>of addiction: distinction between </a:t>
            </a:r>
            <a:r>
              <a:rPr lang="en-US" i="1" dirty="0"/>
              <a:t>liking</a:t>
            </a:r>
            <a:r>
              <a:rPr lang="en-US" dirty="0"/>
              <a:t> versus </a:t>
            </a:r>
            <a:r>
              <a:rPr lang="en-US" i="1" dirty="0"/>
              <a:t>wanting</a:t>
            </a:r>
            <a:r>
              <a:rPr lang="en-US" dirty="0"/>
              <a:t> a reward (an incentive)</a:t>
            </a:r>
          </a:p>
          <a:p>
            <a:pPr>
              <a:spcBef>
                <a:spcPts val="1200"/>
              </a:spcBef>
            </a:pPr>
            <a:r>
              <a:rPr lang="en-US" dirty="0"/>
              <a:t>There is an increasing important role for </a:t>
            </a:r>
            <a:r>
              <a:rPr lang="en-US" b="1" dirty="0"/>
              <a:t>incentive salience </a:t>
            </a:r>
            <a:r>
              <a:rPr lang="en-US" dirty="0"/>
              <a:t>as a motivator of continued drug use.</a:t>
            </a:r>
          </a:p>
        </p:txBody>
      </p:sp>
    </p:spTree>
    <p:extLst>
      <p:ext uri="{BB962C8B-B14F-4D97-AF65-F5344CB8AC3E}">
        <p14:creationId xmlns:p14="http://schemas.microsoft.com/office/powerpoint/2010/main" val="40090587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BF279-13F0-9649-B260-7A9A790F8BE5}"/>
              </a:ext>
            </a:extLst>
          </p:cNvPr>
          <p:cNvSpPr>
            <a:spLocks noGrp="1"/>
          </p:cNvSpPr>
          <p:nvPr>
            <p:ph type="title"/>
          </p:nvPr>
        </p:nvSpPr>
        <p:spPr/>
        <p:txBody>
          <a:bodyPr/>
          <a:lstStyle/>
          <a:p>
            <a:r>
              <a:rPr lang="en-US" cap="all" dirty="0"/>
              <a:t>FIGURE 9.16</a:t>
            </a:r>
            <a:r>
              <a:rPr lang="en-US" dirty="0"/>
              <a:t>  Sensitization of drug “wanting” but not drug “liking” </a:t>
            </a:r>
          </a:p>
        </p:txBody>
      </p:sp>
      <p:pic>
        <p:nvPicPr>
          <p:cNvPr id="6" name="Content Placeholder 5" descr="A graph describes the development of addiction with time along the x-axis and relative effect along the y-axis. During the first use of the drug, the relative effect of wanting and liking remains the same, resulting in a straight line. As time progresses, liking for the drug decreases gradually after remaining unchanged during the initial period. But as time progresses, wanting for the drug increases gradually."/>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357280" y="479425"/>
            <a:ext cx="7477441" cy="6300788"/>
          </a:xfrm>
        </p:spPr>
      </p:pic>
    </p:spTree>
    <p:extLst>
      <p:ext uri="{BB962C8B-B14F-4D97-AF65-F5344CB8AC3E}">
        <p14:creationId xmlns:p14="http://schemas.microsoft.com/office/powerpoint/2010/main" val="14097261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Neurobiology of Drug Addiction </a:t>
            </a:r>
            <a:r>
              <a:rPr lang="en-US" sz="1200" dirty="0"/>
              <a:t>(4 of 12)</a:t>
            </a:r>
            <a:endParaRPr lang="en-US" dirty="0"/>
          </a:p>
        </p:txBody>
      </p:sp>
      <p:sp>
        <p:nvSpPr>
          <p:cNvPr id="3" name="Text Placeholder 2"/>
          <p:cNvSpPr>
            <a:spLocks noGrp="1"/>
          </p:cNvSpPr>
          <p:nvPr>
            <p:ph idx="1"/>
          </p:nvPr>
        </p:nvSpPr>
        <p:spPr/>
        <p:txBody>
          <a:bodyPr>
            <a:normAutofit fontScale="92500" lnSpcReduction="10000"/>
          </a:bodyPr>
          <a:lstStyle/>
          <a:p>
            <a:pPr marL="457200" indent="-457200">
              <a:lnSpc>
                <a:spcPct val="120000"/>
              </a:lnSpc>
              <a:spcBef>
                <a:spcPts val="1200"/>
              </a:spcBef>
              <a:buNone/>
            </a:pPr>
            <a:r>
              <a:rPr lang="en-US" sz="3200" dirty="0"/>
              <a:t>Drug reward and incentive salience drive the binge/intoxication stage of drug use</a:t>
            </a:r>
          </a:p>
          <a:p>
            <a:pPr>
              <a:spcBef>
                <a:spcPts val="1200"/>
              </a:spcBef>
            </a:pPr>
            <a:r>
              <a:rPr lang="en-US" dirty="0"/>
              <a:t>The dopaminergic system is necessary for the rewarding effects of psychostimulants; for other drugs, it contributes to reward but is not required.</a:t>
            </a:r>
          </a:p>
          <a:p>
            <a:pPr>
              <a:spcBef>
                <a:spcPts val="1200"/>
              </a:spcBef>
            </a:pPr>
            <a:r>
              <a:rPr lang="en-US" dirty="0"/>
              <a:t>Other systems involved are the endogenous opioid and cannabinoid systems</a:t>
            </a:r>
          </a:p>
          <a:p>
            <a:pPr>
              <a:spcBef>
                <a:spcPts val="1200"/>
              </a:spcBef>
            </a:pPr>
            <a:r>
              <a:rPr lang="en-US" dirty="0"/>
              <a:t>Role of DA neuronal firing may be to signal the difference between prediction of receiving a reward and actual occurrence of the reward (i.e., it encodes </a:t>
            </a:r>
            <a:r>
              <a:rPr lang="en-US" b="1" dirty="0"/>
              <a:t>reward-prediction error</a:t>
            </a:r>
            <a:r>
              <a:rPr lang="en-US" dirty="0"/>
              <a:t>)</a:t>
            </a:r>
          </a:p>
        </p:txBody>
      </p:sp>
    </p:spTree>
    <p:extLst>
      <p:ext uri="{BB962C8B-B14F-4D97-AF65-F5344CB8AC3E}">
        <p14:creationId xmlns:p14="http://schemas.microsoft.com/office/powerpoint/2010/main" val="127272951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Neurobiology of Drug Addiction </a:t>
            </a:r>
            <a:r>
              <a:rPr lang="en-US" sz="1200" dirty="0"/>
              <a:t>(5 of 12)</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The withdrawal/negative affect stage is characterized by stress and by the recruitment of an antireward system</a:t>
            </a:r>
          </a:p>
          <a:p>
            <a:pPr>
              <a:spcBef>
                <a:spcPts val="1200"/>
              </a:spcBef>
            </a:pPr>
            <a:r>
              <a:rPr lang="en-US" b="1" dirty="0" err="1"/>
              <a:t>Hyperkatifeia</a:t>
            </a:r>
            <a:r>
              <a:rPr lang="en-US" dirty="0"/>
              <a:t>: negative emotional state evoked by drug withdrawal – proposed to be one of the core features of addictive disorders.</a:t>
            </a:r>
          </a:p>
          <a:p>
            <a:pPr>
              <a:spcBef>
                <a:spcPts val="1200"/>
              </a:spcBef>
            </a:pPr>
            <a:r>
              <a:rPr lang="en-US" dirty="0"/>
              <a:t>The transition from positive to negative reinforcement in the addiction cycle is mediated by </a:t>
            </a:r>
            <a:r>
              <a:rPr lang="en-US" b="1" dirty="0"/>
              <a:t>neuroadaptations</a:t>
            </a:r>
            <a:r>
              <a:rPr lang="en-US" dirty="0"/>
              <a:t> in multiple neural circuits.</a:t>
            </a:r>
          </a:p>
          <a:p>
            <a:pPr>
              <a:spcBef>
                <a:spcPts val="1200"/>
              </a:spcBef>
            </a:pPr>
            <a:r>
              <a:rPr lang="en-US" dirty="0"/>
              <a:t>The </a:t>
            </a:r>
            <a:r>
              <a:rPr lang="en-US" b="1" dirty="0"/>
              <a:t>antireward system </a:t>
            </a:r>
            <a:r>
              <a:rPr lang="en-US" dirty="0"/>
              <a:t>in the extended amygdala is gradually recruited; activated by NE, CRF, and dynorphin.</a:t>
            </a:r>
          </a:p>
        </p:txBody>
      </p:sp>
    </p:spTree>
    <p:extLst>
      <p:ext uri="{BB962C8B-B14F-4D97-AF65-F5344CB8AC3E}">
        <p14:creationId xmlns:p14="http://schemas.microsoft.com/office/powerpoint/2010/main" val="62139454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89211-C9DF-1E46-9989-46ECBEE55269}"/>
              </a:ext>
            </a:extLst>
          </p:cNvPr>
          <p:cNvSpPr>
            <a:spLocks noGrp="1"/>
          </p:cNvSpPr>
          <p:nvPr>
            <p:ph type="title"/>
          </p:nvPr>
        </p:nvSpPr>
        <p:spPr/>
        <p:txBody>
          <a:bodyPr/>
          <a:lstStyle/>
          <a:p>
            <a:r>
              <a:rPr lang="en-US" cap="all" dirty="0"/>
              <a:t>FIGURE 9.18</a:t>
            </a:r>
            <a:r>
              <a:rPr lang="en-US" dirty="0"/>
              <a:t>  Neurochemical changes underlying the transition from positive to negative reinforcement in addiction </a:t>
            </a:r>
          </a:p>
        </p:txBody>
      </p:sp>
      <p:pic>
        <p:nvPicPr>
          <p:cNvPr id="6" name="Content Placeholder 5" descr="An illustration A describes that in a nondependent individual, the positive reinforcement pathway is highly active, and there is relatively little activation of the negative reinforcement pathway. The positive reinforcement pathway involves opioid peptide neurons, GABA neurons, dopamine neurons in the ventral tegmental area, and nucleus accumbens. The negative reinforcement pathway includes norepinephrine neurons in the brainstem, corticotropin-releasing factor, and amygdala. &#10;&#10;An illustration B describes that in a dependent individual, the negative reinforcement pathway is highly active, and there is relatively little activation of the positive reinforcement pathway. The positive reinforcement pathway involves opioid peptide neurons, GABA neurons, dopamine neurons in the ventral tegmental area, and nucleus accumbens. The negative reinforcement pathway includes norepinephrine neurons in the brainstem, corticotropin-releasing factor, and amygdala. "/>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860655"/>
            <a:ext cx="11376025" cy="5538327"/>
          </a:xfrm>
        </p:spPr>
      </p:pic>
    </p:spTree>
    <p:extLst>
      <p:ext uri="{BB962C8B-B14F-4D97-AF65-F5344CB8AC3E}">
        <p14:creationId xmlns:p14="http://schemas.microsoft.com/office/powerpoint/2010/main" val="25525946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Neurobiology of Drug Addiction </a:t>
            </a:r>
            <a:r>
              <a:rPr lang="en-US" sz="1200" dirty="0"/>
              <a:t>(6 of 12)</a:t>
            </a:r>
            <a:endParaRPr lang="en-US" dirty="0"/>
          </a:p>
        </p:txBody>
      </p:sp>
      <p:sp>
        <p:nvSpPr>
          <p:cNvPr id="3" name="Text Placeholder 2"/>
          <p:cNvSpPr>
            <a:spLocks noGrp="1"/>
          </p:cNvSpPr>
          <p:nvPr>
            <p:ph idx="1"/>
          </p:nvPr>
        </p:nvSpPr>
        <p:spPr/>
        <p:txBody>
          <a:bodyPr>
            <a:normAutofit fontScale="85000" lnSpcReduction="20000"/>
          </a:bodyPr>
          <a:lstStyle/>
          <a:p>
            <a:pPr marL="457200" indent="-457200">
              <a:lnSpc>
                <a:spcPct val="130000"/>
              </a:lnSpc>
              <a:spcBef>
                <a:spcPts val="1200"/>
              </a:spcBef>
              <a:buNone/>
            </a:pPr>
            <a:r>
              <a:rPr lang="en-US" sz="3500" dirty="0"/>
              <a:t>The preoccupation/anticipation stage involves dysregulation of prefrontal cortical function and </a:t>
            </a:r>
            <a:r>
              <a:rPr lang="en-US" sz="3500" dirty="0" err="1"/>
              <a:t>corticostriatal</a:t>
            </a:r>
            <a:r>
              <a:rPr lang="en-US" sz="3500" dirty="0"/>
              <a:t> circuitry</a:t>
            </a:r>
          </a:p>
          <a:p>
            <a:pPr>
              <a:spcBef>
                <a:spcPts val="1200"/>
              </a:spcBef>
            </a:pPr>
            <a:r>
              <a:rPr lang="en-US" dirty="0"/>
              <a:t>Dysfunction in the PFC and associated circuitry is hypothesized to play a key role in the preoccupation/anticipation stage, characterized by intrusive thinking, drug craving, and lack of impulse control</a:t>
            </a:r>
          </a:p>
          <a:p>
            <a:pPr>
              <a:spcBef>
                <a:spcPts val="1200"/>
              </a:spcBef>
            </a:pPr>
            <a:r>
              <a:rPr lang="en-US" dirty="0"/>
              <a:t>Researchers have identified the neural circuitry underlying each of these processes.</a:t>
            </a:r>
          </a:p>
          <a:p>
            <a:pPr>
              <a:spcBef>
                <a:spcPts val="1200"/>
              </a:spcBef>
            </a:pPr>
            <a:r>
              <a:rPr lang="en-US" dirty="0"/>
              <a:t>Transition to uncontrolled drug use involves several brain areas:</a:t>
            </a:r>
          </a:p>
          <a:p>
            <a:pPr lvl="1">
              <a:spcBef>
                <a:spcPts val="1200"/>
              </a:spcBef>
            </a:pPr>
            <a:r>
              <a:rPr lang="en-US" dirty="0"/>
              <a:t>Behavioral control shifts from striatal areas associated with goal-directed behavior to other areas associated with habitual behavior</a:t>
            </a:r>
          </a:p>
          <a:p>
            <a:pPr lvl="1">
              <a:spcBef>
                <a:spcPts val="1200"/>
              </a:spcBef>
            </a:pPr>
            <a:r>
              <a:rPr lang="en-US" dirty="0"/>
              <a:t>Decrease in striatal DA neurotransmission</a:t>
            </a:r>
          </a:p>
        </p:txBody>
      </p:sp>
    </p:spTree>
    <p:extLst>
      <p:ext uri="{BB962C8B-B14F-4D97-AF65-F5344CB8AC3E}">
        <p14:creationId xmlns:p14="http://schemas.microsoft.com/office/powerpoint/2010/main" val="12431320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Neurobiology of Drug Addiction </a:t>
            </a:r>
            <a:r>
              <a:rPr lang="en-US" sz="1200" dirty="0"/>
              <a:t>(7 of 12)</a:t>
            </a:r>
            <a:endParaRPr lang="en-US" dirty="0"/>
          </a:p>
        </p:txBody>
      </p:sp>
      <p:sp>
        <p:nvSpPr>
          <p:cNvPr id="3" name="Text Placeholder 2"/>
          <p:cNvSpPr>
            <a:spLocks noGrp="1"/>
          </p:cNvSpPr>
          <p:nvPr>
            <p:ph idx="1"/>
          </p:nvPr>
        </p:nvSpPr>
        <p:spPr/>
        <p:txBody>
          <a:bodyPr>
            <a:normAutofit lnSpcReduction="10000"/>
          </a:bodyPr>
          <a:lstStyle/>
          <a:p>
            <a:pPr marL="457200" indent="-457200">
              <a:lnSpc>
                <a:spcPct val="110000"/>
              </a:lnSpc>
              <a:spcBef>
                <a:spcPts val="1200"/>
              </a:spcBef>
              <a:buNone/>
            </a:pPr>
            <a:r>
              <a:rPr lang="en-US" sz="3200" dirty="0"/>
              <a:t>The persistence of addiction has been studied at both the molecular and synaptic levels</a:t>
            </a:r>
          </a:p>
          <a:p>
            <a:pPr>
              <a:spcBef>
                <a:spcPts val="1200"/>
              </a:spcBef>
            </a:pPr>
            <a:r>
              <a:rPr lang="en-US" dirty="0"/>
              <a:t>Some individuals are able to recover from substance abuse, while others persist for very long periods.</a:t>
            </a:r>
          </a:p>
          <a:p>
            <a:pPr>
              <a:spcBef>
                <a:spcPts val="1200"/>
              </a:spcBef>
            </a:pPr>
            <a:r>
              <a:rPr lang="en-US" dirty="0"/>
              <a:t>Even individuals who have recovered from addiction may still experience a desire to use drugs from time to time.</a:t>
            </a:r>
          </a:p>
          <a:p>
            <a:pPr>
              <a:spcBef>
                <a:spcPts val="1200"/>
              </a:spcBef>
            </a:pPr>
            <a:r>
              <a:rPr lang="en-US" dirty="0"/>
              <a:t>Long-lasting changes in the brain that underlie persistence may result from altered gene expression, or changes in synaptic plasticity/strength in the reward/antireward circuitry.</a:t>
            </a:r>
          </a:p>
        </p:txBody>
      </p:sp>
    </p:spTree>
    <p:extLst>
      <p:ext uri="{BB962C8B-B14F-4D97-AF65-F5344CB8AC3E}">
        <p14:creationId xmlns:p14="http://schemas.microsoft.com/office/powerpoint/2010/main" val="18070035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Neurobiology of Drug Addiction </a:t>
            </a:r>
            <a:r>
              <a:rPr lang="en-US" sz="1200" dirty="0"/>
              <a:t>(8 of 12)</a:t>
            </a:r>
            <a:endParaRPr lang="en-US" dirty="0"/>
          </a:p>
        </p:txBody>
      </p:sp>
      <p:sp>
        <p:nvSpPr>
          <p:cNvPr id="3" name="Text Placeholder 2"/>
          <p:cNvSpPr>
            <a:spLocks noGrp="1"/>
          </p:cNvSpPr>
          <p:nvPr>
            <p:ph idx="1"/>
          </p:nvPr>
        </p:nvSpPr>
        <p:spPr/>
        <p:txBody>
          <a:bodyPr>
            <a:normAutofit fontScale="92500" lnSpcReduction="10000"/>
          </a:bodyPr>
          <a:lstStyle/>
          <a:p>
            <a:pPr marL="0" indent="0">
              <a:spcBef>
                <a:spcPts val="1800"/>
              </a:spcBef>
              <a:buNone/>
            </a:pPr>
            <a:r>
              <a:rPr lang="en-US" sz="2600" u="sng" dirty="0"/>
              <a:t>BOX 9.2  THE CUTTING EDGE</a:t>
            </a:r>
          </a:p>
          <a:p>
            <a:pPr marL="457200" indent="-457200">
              <a:buNone/>
            </a:pPr>
            <a:r>
              <a:rPr lang="en-US" sz="3500" i="1" dirty="0"/>
              <a:t>Epigenetic Processes and Synaptic Plasticity as Mechanisms for the Development and Persistence of Drug Addiction</a:t>
            </a:r>
          </a:p>
          <a:p>
            <a:pPr>
              <a:spcBef>
                <a:spcPts val="1800"/>
              </a:spcBef>
            </a:pPr>
            <a:r>
              <a:rPr lang="en-US" dirty="0"/>
              <a:t>Epigenetic processes contribute to the development and maintenance of drug addiction, e.g., hyperacetylation of histones H3 and H4 in the dorsal striatum or </a:t>
            </a:r>
            <a:r>
              <a:rPr lang="en-US" dirty="0" err="1"/>
              <a:t>NAcc</a:t>
            </a:r>
            <a:r>
              <a:rPr lang="en-US" dirty="0"/>
              <a:t> by several addictive drugs</a:t>
            </a:r>
          </a:p>
          <a:p>
            <a:pPr>
              <a:spcBef>
                <a:spcPts val="1800"/>
              </a:spcBef>
            </a:pPr>
            <a:r>
              <a:rPr lang="en-US" dirty="0"/>
              <a:t>Drug-induced plasticity at excitatory (glutamatergic) or inhibitory (GABAergic) synapses: plasticity of </a:t>
            </a:r>
            <a:r>
              <a:rPr lang="en-US" dirty="0" err="1"/>
              <a:t>NAcc</a:t>
            </a:r>
            <a:r>
              <a:rPr lang="en-US" dirty="0"/>
              <a:t> glutamatergic synapses mediated by altered AMPA receptor subunit composition is a key component of an animal model of drug craving incubation.</a:t>
            </a:r>
          </a:p>
        </p:txBody>
      </p:sp>
    </p:spTree>
    <p:extLst>
      <p:ext uri="{BB962C8B-B14F-4D97-AF65-F5344CB8AC3E}">
        <p14:creationId xmlns:p14="http://schemas.microsoft.com/office/powerpoint/2010/main" val="68616237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Neurobiology of Drug Addiction </a:t>
            </a:r>
            <a:r>
              <a:rPr lang="en-US" sz="1200" dirty="0"/>
              <a:t>(9 of 12)</a:t>
            </a:r>
            <a:endParaRPr lang="en-US" dirty="0"/>
          </a:p>
        </p:txBody>
      </p:sp>
      <p:sp>
        <p:nvSpPr>
          <p:cNvPr id="3" name="Text Placeholder 2"/>
          <p:cNvSpPr>
            <a:spLocks noGrp="1"/>
          </p:cNvSpPr>
          <p:nvPr>
            <p:ph idx="1"/>
          </p:nvPr>
        </p:nvSpPr>
        <p:spPr/>
        <p:txBody>
          <a:bodyPr>
            <a:normAutofit fontScale="92500" lnSpcReduction="20000"/>
          </a:bodyPr>
          <a:lstStyle/>
          <a:p>
            <a:pPr marL="457200" indent="-457200">
              <a:lnSpc>
                <a:spcPct val="130000"/>
              </a:lnSpc>
              <a:spcBef>
                <a:spcPts val="1200"/>
              </a:spcBef>
              <a:buNone/>
            </a:pPr>
            <a:r>
              <a:rPr lang="en-US" sz="3500" dirty="0"/>
              <a:t>Is addiction a brain disease?</a:t>
            </a:r>
          </a:p>
          <a:p>
            <a:pPr>
              <a:spcBef>
                <a:spcPts val="1200"/>
              </a:spcBef>
            </a:pPr>
            <a:r>
              <a:rPr lang="en-US" dirty="0"/>
              <a:t>The most widely accepted model of addiction in our society is the </a:t>
            </a:r>
            <a:r>
              <a:rPr lang="en-US" b="1" dirty="0"/>
              <a:t>disease</a:t>
            </a:r>
            <a:r>
              <a:rPr lang="en-US" dirty="0"/>
              <a:t> (or </a:t>
            </a:r>
            <a:r>
              <a:rPr lang="en-US" b="1" dirty="0"/>
              <a:t>medical</a:t>
            </a:r>
            <a:r>
              <a:rPr lang="en-US" dirty="0"/>
              <a:t>) </a:t>
            </a:r>
            <a:r>
              <a:rPr lang="en-US" b="1" dirty="0"/>
              <a:t>model </a:t>
            </a:r>
            <a:r>
              <a:rPr lang="en-US" dirty="0"/>
              <a:t>based largely on evidence for dysregulation of brain function.</a:t>
            </a:r>
          </a:p>
          <a:p>
            <a:pPr>
              <a:spcBef>
                <a:spcPts val="1200"/>
              </a:spcBef>
            </a:pPr>
            <a:r>
              <a:rPr lang="en-US" b="1" dirty="0"/>
              <a:t>Moral model</a:t>
            </a:r>
            <a:r>
              <a:rPr lang="en-US" dirty="0"/>
              <a:t>: addiction was seen as a sign of personal and moral weakness</a:t>
            </a:r>
          </a:p>
          <a:p>
            <a:pPr>
              <a:spcBef>
                <a:spcPts val="1200"/>
              </a:spcBef>
            </a:pPr>
            <a:r>
              <a:rPr lang="en-US" dirty="0"/>
              <a:t>Criticism of disease model:</a:t>
            </a:r>
          </a:p>
          <a:p>
            <a:pPr lvl="1">
              <a:spcBef>
                <a:spcPts val="1200"/>
              </a:spcBef>
            </a:pPr>
            <a:r>
              <a:rPr lang="en-US" dirty="0"/>
              <a:t>Brain alteration alone does not prove that addiction is a disease</a:t>
            </a:r>
          </a:p>
          <a:p>
            <a:pPr lvl="1">
              <a:spcBef>
                <a:spcPts val="1200"/>
              </a:spcBef>
            </a:pPr>
            <a:r>
              <a:rPr lang="en-US" dirty="0"/>
              <a:t>There is no single diagnostic test to confirm a substance use disorder</a:t>
            </a:r>
          </a:p>
          <a:p>
            <a:pPr lvl="1">
              <a:spcBef>
                <a:spcPts val="1200"/>
              </a:spcBef>
            </a:pPr>
            <a:r>
              <a:rPr lang="en-US" dirty="0"/>
              <a:t>Empirical evidence raises doubt that heavy drug use is outside the user’s control</a:t>
            </a:r>
          </a:p>
        </p:txBody>
      </p:sp>
    </p:spTree>
    <p:extLst>
      <p:ext uri="{BB962C8B-B14F-4D97-AF65-F5344CB8AC3E}">
        <p14:creationId xmlns:p14="http://schemas.microsoft.com/office/powerpoint/2010/main" val="32592658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Neurobiology of Drug Addiction </a:t>
            </a:r>
            <a:r>
              <a:rPr lang="en-US" sz="1200" dirty="0"/>
              <a:t>(10 of 12)</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Is addiction a brain disease?</a:t>
            </a:r>
          </a:p>
          <a:p>
            <a:pPr>
              <a:spcBef>
                <a:spcPts val="1200"/>
              </a:spcBef>
            </a:pPr>
            <a:r>
              <a:rPr lang="en-US" dirty="0"/>
              <a:t>Non-disease theories argue that addicts choose to use drugs because it serves a purpose - alleviating emotional pain, lack of positive reinforcers, or available reinforcers fail to provide sufficient motivation</a:t>
            </a:r>
          </a:p>
          <a:p>
            <a:pPr>
              <a:spcBef>
                <a:spcPts val="1200"/>
              </a:spcBef>
            </a:pPr>
            <a:r>
              <a:rPr lang="en-US" b="1" dirty="0"/>
              <a:t>Contingency management</a:t>
            </a:r>
            <a:r>
              <a:rPr lang="en-US" dirty="0"/>
              <a:t>: behavioral intervention in which the user is regularly subjected to urine testing and receives reinforcement for each negative test</a:t>
            </a:r>
          </a:p>
        </p:txBody>
      </p:sp>
    </p:spTree>
    <p:extLst>
      <p:ext uri="{BB962C8B-B14F-4D97-AF65-F5344CB8AC3E}">
        <p14:creationId xmlns:p14="http://schemas.microsoft.com/office/powerpoint/2010/main" val="258547627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D2E39-B1E3-B741-9E9A-96E5ABFAA8F3}"/>
              </a:ext>
            </a:extLst>
          </p:cNvPr>
          <p:cNvSpPr>
            <a:spLocks noGrp="1"/>
          </p:cNvSpPr>
          <p:nvPr>
            <p:ph type="title"/>
          </p:nvPr>
        </p:nvSpPr>
        <p:spPr/>
        <p:txBody>
          <a:bodyPr/>
          <a:lstStyle/>
          <a:p>
            <a:r>
              <a:rPr lang="en-US" cap="all" dirty="0"/>
              <a:t>FIGURE 9.20</a:t>
            </a:r>
            <a:r>
              <a:rPr lang="en-US" dirty="0"/>
              <a:t>  Drug addiction conceptualized as a maladaptive allocation of behavior </a:t>
            </a:r>
          </a:p>
        </p:txBody>
      </p:sp>
      <p:pic>
        <p:nvPicPr>
          <p:cNvPr id="6" name="Content Placeholder 5" descr="An illustration A describes the maladaptive allocation of behavior to drugs in substance use disorders. People with substance use disorders have the desire to acquire drugs by compromising money, social life, health, and food habits. &#10;&#10;An illustration B describes the adaptive reallocation of behavior promoted by effective treatment. Effective treatment reduces the negative impact on social life, money, food habits, and health caused by drug abuse."/>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895953" y="479425"/>
            <a:ext cx="10400095" cy="6300788"/>
          </a:xfrm>
        </p:spPr>
      </p:pic>
    </p:spTree>
    <p:extLst>
      <p:ext uri="{BB962C8B-B14F-4D97-AF65-F5344CB8AC3E}">
        <p14:creationId xmlns:p14="http://schemas.microsoft.com/office/powerpoint/2010/main" val="354864177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Neurobiology of Drug Addiction </a:t>
            </a:r>
            <a:r>
              <a:rPr lang="en-US" sz="1200" dirty="0"/>
              <a:t>(11 of 12)</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Is addiction a brain disease?</a:t>
            </a:r>
          </a:p>
          <a:p>
            <a:pPr>
              <a:spcBef>
                <a:spcPts val="1200"/>
              </a:spcBef>
            </a:pPr>
            <a:r>
              <a:rPr lang="en-US" dirty="0"/>
              <a:t>Alternative models of addiction focus on the ability of drug users to choose what behaviors they perform and on the psychosocial factors that led to and now maintain excessive drug use.</a:t>
            </a:r>
          </a:p>
          <a:p>
            <a:pPr>
              <a:spcBef>
                <a:spcPts val="1200"/>
              </a:spcBef>
            </a:pPr>
            <a:r>
              <a:rPr lang="en-US" dirty="0"/>
              <a:t>Although the disease model has been very useful, many recovering addicts prefer not to see themselves as helpless victims of a disease; treatment experts and addiction counselors often identify empowerment or self-efficacy as a necessary resource for lasting recovery.</a:t>
            </a:r>
          </a:p>
        </p:txBody>
      </p:sp>
    </p:spTree>
    <p:extLst>
      <p:ext uri="{BB962C8B-B14F-4D97-AF65-F5344CB8AC3E}">
        <p14:creationId xmlns:p14="http://schemas.microsoft.com/office/powerpoint/2010/main" val="125829120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Neurobiology of Drug Addiction </a:t>
            </a:r>
            <a:r>
              <a:rPr lang="en-US" sz="1200" dirty="0"/>
              <a:t>(12 of 12)</a:t>
            </a:r>
            <a:endParaRPr lang="en-US" dirty="0"/>
          </a:p>
        </p:txBody>
      </p:sp>
      <p:sp>
        <p:nvSpPr>
          <p:cNvPr id="3" name="Text Placeholder 2"/>
          <p:cNvSpPr>
            <a:spLocks noGrp="1"/>
          </p:cNvSpPr>
          <p:nvPr>
            <p:ph idx="1"/>
          </p:nvPr>
        </p:nvSpPr>
        <p:spPr/>
        <p:txBody>
          <a:bodyPr>
            <a:normAutofit/>
          </a:bodyPr>
          <a:lstStyle/>
          <a:p>
            <a:pPr marL="0" indent="0">
              <a:spcBef>
                <a:spcPts val="1200"/>
              </a:spcBef>
              <a:buNone/>
            </a:pPr>
            <a:r>
              <a:rPr lang="en-US" sz="2400" u="sng" dirty="0"/>
              <a:t>CLICKER QUESTION 3</a:t>
            </a:r>
          </a:p>
          <a:p>
            <a:pPr marL="457200" indent="-457200">
              <a:spcBef>
                <a:spcPts val="2400"/>
              </a:spcBef>
              <a:buNone/>
            </a:pPr>
            <a:r>
              <a:rPr lang="en-US" sz="3200" dirty="0"/>
              <a:t>For which class of drugs is the dopaminergic system required for the rewarding effects? </a:t>
            </a:r>
          </a:p>
          <a:p>
            <a:pPr marL="914400" indent="-457200">
              <a:spcBef>
                <a:spcPts val="1200"/>
              </a:spcBef>
              <a:buFont typeface="Arial" pitchFamily="34" charset="0"/>
              <a:buAutoNum type="alphaLcPeriod"/>
            </a:pPr>
            <a:r>
              <a:rPr lang="en-US" sz="3200" dirty="0"/>
              <a:t>Opiates such as heroin </a:t>
            </a:r>
          </a:p>
          <a:p>
            <a:pPr marL="914400" indent="-457200">
              <a:spcBef>
                <a:spcPts val="1200"/>
              </a:spcBef>
              <a:buFont typeface="Arial" pitchFamily="34" charset="0"/>
              <a:buAutoNum type="alphaLcPeriod"/>
            </a:pPr>
            <a:r>
              <a:rPr lang="en-US" sz="3200" dirty="0"/>
              <a:t>Psychostimulants such as cocaine and amphetamine</a:t>
            </a:r>
          </a:p>
          <a:p>
            <a:pPr marL="914400" indent="-457200">
              <a:spcBef>
                <a:spcPts val="1200"/>
              </a:spcBef>
              <a:buFont typeface="Arial" pitchFamily="34" charset="0"/>
              <a:buAutoNum type="alphaLcPeriod"/>
            </a:pPr>
            <a:r>
              <a:rPr lang="en-US" sz="3200" dirty="0"/>
              <a:t>Cannabinoids such as THC</a:t>
            </a:r>
          </a:p>
        </p:txBody>
      </p:sp>
    </p:spTree>
    <p:extLst>
      <p:ext uri="{BB962C8B-B14F-4D97-AF65-F5344CB8AC3E}">
        <p14:creationId xmlns:p14="http://schemas.microsoft.com/office/powerpoint/2010/main" val="149116180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kumimoji="0" lang="en-US" b="0" i="0" u="none" strike="noStrike" kern="1200" cap="none" spc="0" normalizeH="0" baseline="0" noProof="0" dirty="0">
                <a:ln>
                  <a:noFill/>
                </a:ln>
                <a:solidFill>
                  <a:srgbClr val="1F497D"/>
                </a:solidFill>
                <a:effectLst/>
                <a:uLnTx/>
                <a:uFillTx/>
                <a:latin typeface="Calibri"/>
                <a:ea typeface="+mj-ea"/>
                <a:cs typeface="+mj-cs"/>
              </a:rPr>
              <a:t>Review of Learning Objectives </a:t>
            </a:r>
            <a:r>
              <a:rPr kumimoji="0" lang="en-US" sz="1200" b="0" i="0" u="none" strike="noStrike" kern="1200" cap="none" spc="0" normalizeH="0" baseline="0" noProof="0" dirty="0">
                <a:ln>
                  <a:noFill/>
                </a:ln>
                <a:solidFill>
                  <a:srgbClr val="1F497D"/>
                </a:solidFill>
                <a:effectLst/>
                <a:uLnTx/>
                <a:uFillTx/>
                <a:latin typeface="Calibri"/>
                <a:ea typeface="+mj-ea"/>
                <a:cs typeface="+mj-cs"/>
              </a:rPr>
              <a:t>(4 of 4)</a:t>
            </a:r>
            <a:endParaRPr lang="en-US" dirty="0"/>
          </a:p>
        </p:txBody>
      </p:sp>
      <p:sp>
        <p:nvSpPr>
          <p:cNvPr id="3" name="Text Placeholder 2"/>
          <p:cNvSpPr>
            <a:spLocks noGrp="1"/>
          </p:cNvSpPr>
          <p:nvPr>
            <p:ph idx="1"/>
          </p:nvPr>
        </p:nvSpPr>
        <p:spPr/>
        <p:txBody>
          <a:bodyPr>
            <a:normAutofit fontScale="92500" lnSpcReduction="20000"/>
          </a:bodyPr>
          <a:lstStyle/>
          <a:p>
            <a:pPr marL="914400" indent="-914400">
              <a:spcBef>
                <a:spcPts val="1200"/>
              </a:spcBef>
              <a:buNone/>
            </a:pPr>
            <a:r>
              <a:rPr lang="en-US" dirty="0"/>
              <a:t>9.4.1  Explain the three-stage model of substance use that can lead to drug addiction.</a:t>
            </a:r>
          </a:p>
          <a:p>
            <a:pPr marL="914400" indent="-914400">
              <a:spcBef>
                <a:spcPts val="1200"/>
              </a:spcBef>
              <a:buNone/>
            </a:pPr>
            <a:r>
              <a:rPr lang="en-US" dirty="0"/>
              <a:t>9.4.2  (a) Describe the roles of the brain’s reward circuit and incentive salience in the binge/preoccupation stage of the substance use cycle, and (b) contrast the multiple theories of dopamine’s involvement in motivating substance use.</a:t>
            </a:r>
          </a:p>
          <a:p>
            <a:pPr marL="914400" indent="-914400">
              <a:spcBef>
                <a:spcPts val="1200"/>
              </a:spcBef>
              <a:buNone/>
            </a:pPr>
            <a:r>
              <a:rPr lang="en-US" dirty="0"/>
              <a:t>9.4.3  (a) Describe the role of stress and the antireward system in the withdrawal/negative affect stage of the substance use cycle, and (b) describe the roles of the prefrontal cortex and </a:t>
            </a:r>
            <a:r>
              <a:rPr lang="en-US" dirty="0" err="1"/>
              <a:t>corticostriatal</a:t>
            </a:r>
            <a:r>
              <a:rPr lang="en-US" dirty="0"/>
              <a:t> circuitry in the preoccupation/anticipation stage of substance use cycle.</a:t>
            </a:r>
          </a:p>
          <a:p>
            <a:pPr marL="914400" indent="-914400">
              <a:spcBef>
                <a:spcPts val="1200"/>
              </a:spcBef>
              <a:buNone/>
            </a:pPr>
            <a:r>
              <a:rPr lang="en-US" dirty="0"/>
              <a:t>9.4.4  Explain the molecular and synaptic adaptations that contribute to the development and persistence of drug addiction. </a:t>
            </a:r>
          </a:p>
        </p:txBody>
      </p:sp>
    </p:spTree>
    <p:extLst>
      <p:ext uri="{BB962C8B-B14F-4D97-AF65-F5344CB8AC3E}">
        <p14:creationId xmlns:p14="http://schemas.microsoft.com/office/powerpoint/2010/main" val="587169307"/>
      </p:ext>
    </p:extLst>
  </p:cSld>
  <p:clrMapOvr>
    <a:masterClrMapping/>
  </p:clrMapOvr>
</p:sld>
</file>

<file path=ppt/theme/theme1.xml><?xml version="1.0" encoding="utf-8"?>
<a:theme xmlns:a="http://schemas.openxmlformats.org/drawingml/2006/main" name="Text Content Templat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UP US HE Widescreen Template 3.1 (TH).pptx" id="{38592676-3FE0-4EA4-B873-8CD03AA7ACBC}" vid="{4464F53A-3550-4D7A-B3C8-5443B75EFB8E}"/>
    </a:ext>
  </a:extLst>
</a:theme>
</file>

<file path=ppt/theme/theme2.xml><?xml version="1.0" encoding="utf-8"?>
<a:theme xmlns:a="http://schemas.openxmlformats.org/drawingml/2006/main" name="Figure-Only Templates">
  <a:themeElements>
    <a:clrScheme name="Custom 97">
      <a:dk1>
        <a:srgbClr val="000000"/>
      </a:dk1>
      <a:lt1>
        <a:srgbClr val="FFFFFF"/>
      </a:lt1>
      <a:dk2>
        <a:srgbClr val="1F497D"/>
      </a:dk2>
      <a:lt2>
        <a:srgbClr val="EEECE1"/>
      </a:lt2>
      <a:accent1>
        <a:srgbClr val="001A47"/>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xford Template 2020-05-05" id="{B78F6A64-C076-4E15-90E5-9A59F0E29698}" vid="{18DFF3BF-7F46-4B14-BD35-A03A2976456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034735E286A8A478CDABE780C9EC78F" ma:contentTypeVersion="13" ma:contentTypeDescription="Create a new document." ma:contentTypeScope="" ma:versionID="9b8825675e62d57985c81b74d5b14a7f">
  <xsd:schema xmlns:xsd="http://www.w3.org/2001/XMLSchema" xmlns:xs="http://www.w3.org/2001/XMLSchema" xmlns:p="http://schemas.microsoft.com/office/2006/metadata/properties" xmlns:ns3="fd39d560-5c7d-4158-98a0-f420f8fdebce" xmlns:ns4="a6c716b4-9090-4de7-aadc-2aa5f812ad24" targetNamespace="http://schemas.microsoft.com/office/2006/metadata/properties" ma:root="true" ma:fieldsID="bdbc9fd47a72f6438c4442bb9222e145" ns3:_="" ns4:_="">
    <xsd:import namespace="fd39d560-5c7d-4158-98a0-f420f8fdebce"/>
    <xsd:import namespace="a6c716b4-9090-4de7-aadc-2aa5f812ad24"/>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DateTaken" minOccurs="0"/>
                <xsd:element ref="ns3:MediaServiceGenerationTime" minOccurs="0"/>
                <xsd:element ref="ns3:MediaServiceEventHashCode" minOccurs="0"/>
                <xsd:element ref="ns3:MediaServiceAutoKeyPoints" minOccurs="0"/>
                <xsd:element ref="ns3:MediaServiceKeyPoints" minOccurs="0"/>
                <xsd:element ref="ns4:SharedWithUsers" minOccurs="0"/>
                <xsd:element ref="ns4:SharedWithDetails" minOccurs="0"/>
                <xsd:element ref="ns4:SharingHintHash"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d39d560-5c7d-4158-98a0-f420f8fdebc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6c716b4-9090-4de7-aadc-2aa5f812ad24"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856919D-3723-464B-9967-427A087CBD61}">
  <ds:schemaRefs>
    <ds:schemaRef ds:uri="http://schemas.microsoft.com/office/2006/documentManagement/types"/>
    <ds:schemaRef ds:uri="http://purl.org/dc/elements/1.1/"/>
    <ds:schemaRef ds:uri="http://schemas.microsoft.com/office/2006/metadata/properties"/>
    <ds:schemaRef ds:uri="fd39d560-5c7d-4158-98a0-f420f8fdebce"/>
    <ds:schemaRef ds:uri="http://purl.org/dc/terms/"/>
    <ds:schemaRef ds:uri="http://schemas.openxmlformats.org/package/2006/metadata/core-properties"/>
    <ds:schemaRef ds:uri="a6c716b4-9090-4de7-aadc-2aa5f812ad24"/>
    <ds:schemaRef ds:uri="http://purl.org/dc/dcmitype/"/>
    <ds:schemaRef ds:uri="http://schemas.microsoft.com/office/infopath/2007/PartnerControls"/>
    <ds:schemaRef ds:uri="http://www.w3.org/XML/1998/namespace"/>
  </ds:schemaRefs>
</ds:datastoreItem>
</file>

<file path=customXml/itemProps2.xml><?xml version="1.0" encoding="utf-8"?>
<ds:datastoreItem xmlns:ds="http://schemas.openxmlformats.org/officeDocument/2006/customXml" ds:itemID="{6B57C1AB-C2BF-4446-AECB-681D5785527F}">
  <ds:schemaRefs>
    <ds:schemaRef ds:uri="http://schemas.microsoft.com/sharepoint/v3/contenttype/forms"/>
  </ds:schemaRefs>
</ds:datastoreItem>
</file>

<file path=customXml/itemProps3.xml><?xml version="1.0" encoding="utf-8"?>
<ds:datastoreItem xmlns:ds="http://schemas.openxmlformats.org/officeDocument/2006/customXml" ds:itemID="{7E307B2A-FA70-43CE-A010-B3D8154DEA0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d39d560-5c7d-4158-98a0-f420f8fdebce"/>
    <ds:schemaRef ds:uri="a6c716b4-9090-4de7-aadc-2aa5f812ad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OUP US HE Widescreen Template 3.1 (TH)</Template>
  <TotalTime>3011</TotalTime>
  <Words>4767</Words>
  <Application>Microsoft Office PowerPoint</Application>
  <PresentationFormat>Widescreen</PresentationFormat>
  <Paragraphs>398</Paragraphs>
  <Slides>62</Slides>
  <Notes>53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62</vt:i4>
      </vt:variant>
    </vt:vector>
  </HeadingPairs>
  <TitlesOfParts>
    <vt:vector size="70" baseType="lpstr">
      <vt:lpstr>ＭＳ Ｐゴシック</vt:lpstr>
      <vt:lpstr>Arial</vt:lpstr>
      <vt:lpstr>Calibri</vt:lpstr>
      <vt:lpstr>Courier New</vt:lpstr>
      <vt:lpstr>PalatinoLTStd-Italic</vt:lpstr>
      <vt:lpstr>PalatinoLTStd-Roman</vt:lpstr>
      <vt:lpstr>Text Content Templates</vt:lpstr>
      <vt:lpstr>Figure-Only Templates</vt:lpstr>
      <vt:lpstr>Psychopharmacology: Drugs, the Brain, and Behavior</vt:lpstr>
      <vt:lpstr>Chapter 9 Drug Misuse and Addiction</vt:lpstr>
      <vt:lpstr>Chapter 9 Learning Objectives (1 of 4)</vt:lpstr>
      <vt:lpstr>Chapter 9 Learning Objectives (2 of 4)</vt:lpstr>
      <vt:lpstr>Chapter 9 Learning Objectives (3 of 4)</vt:lpstr>
      <vt:lpstr>Chapter 9 Learning Objectives (4 of 4)</vt:lpstr>
      <vt:lpstr>Introduction to Drug Misuse and Addiction (1 of 3)</vt:lpstr>
      <vt:lpstr>FIGURE 9.1  Data on illegal drug use in the United States </vt:lpstr>
      <vt:lpstr>Introduction to Drug Misuse and Addiction (2 of 3)</vt:lpstr>
      <vt:lpstr>Introduction to Drug Misuse and Addiction (3 of 3)</vt:lpstr>
      <vt:lpstr>Review of Learning Objectives (1 of 4)</vt:lpstr>
      <vt:lpstr>Features of Drug Misuse and Addiction (1 of 7)</vt:lpstr>
      <vt:lpstr>Features of Drug Misuse and Addiction (2 of 7)</vt:lpstr>
      <vt:lpstr>Features of Drug Misuse and Addiction (3 of 7)</vt:lpstr>
      <vt:lpstr>Features of Drug Misuse and Addiction (4 of 7)</vt:lpstr>
      <vt:lpstr>Features of Drug Misuse and Addiction (5 of 7)</vt:lpstr>
      <vt:lpstr>FIGURE 9.4  Progression of drug use from non-problematic or recreational use to an addictive pattern of use involving compulsive and/or problematic use and repeated attempts at abstinence followed by relapse </vt:lpstr>
      <vt:lpstr>Features of Drug Misuse and Addiction (6 of 7)</vt:lpstr>
      <vt:lpstr>Features of Drug Misuse and Addiction (7 of 7)</vt:lpstr>
      <vt:lpstr>Review of Learning Objectives (2 of 4)</vt:lpstr>
      <vt:lpstr>Factors That Influence the Development  and Maintenance of Drug Misuse and Addiction (1 of 18)</vt:lpstr>
      <vt:lpstr>FIGURE 9.5  Relationship between route of administration and addiction potential of opiates, cocaine, and nicotine </vt:lpstr>
      <vt:lpstr>Factors That Influence the Development  and Maintenance of Drug Misuse and Addiction (2 of 18)</vt:lpstr>
      <vt:lpstr>Factors That Influence the Development  and Maintenance of Drug Misuse and Addiction (3 of 18)</vt:lpstr>
      <vt:lpstr>FIGURE 9.6  Features of intravenous drug self-administration by laboratory animals </vt:lpstr>
      <vt:lpstr>Factors That Influence the Development  and Maintenance of Drug Misuse and Addiction (4 of 18)</vt:lpstr>
      <vt:lpstr>Factors That Influence the Development  and Maintenance of Drug Misuse and Addiction (5 of 18)</vt:lpstr>
      <vt:lpstr>Factors That Influence the Development  and Maintenance of Drug Misuse and Addiction (6 of 18)</vt:lpstr>
      <vt:lpstr>Factors That Influence the Development  and Maintenance of Drug Misuse and Addiction (7 of 18)</vt:lpstr>
      <vt:lpstr>FIGURE 9.8  Heroin choice dose–response functions in heroin-dependent monkeys </vt:lpstr>
      <vt:lpstr>Factors That Influence the Development  and Maintenance of Drug Misuse and Addiction (8 of 18)</vt:lpstr>
      <vt:lpstr>FIGURE 9.9  Transition from the impulsive to the compulsive phase of alcohol addiction </vt:lpstr>
      <vt:lpstr>Factors That Influence the Development  and Maintenance of Drug Misuse and Addiction (9 of 18)</vt:lpstr>
      <vt:lpstr>Factors That Influence the Development  and Maintenance of Drug Misuse and Addiction (10 of 18)</vt:lpstr>
      <vt:lpstr>Factors That Influence the Development  and Maintenance of Drug Misuse and Addiction (11 of 18)</vt:lpstr>
      <vt:lpstr>Factors That Influence the Development  and Maintenance of Drug Misuse and Addiction (12 of 18)</vt:lpstr>
      <vt:lpstr>Factors That Influence the Development  and Maintenance of Drug Misuse and Addiction (13 of 18)</vt:lpstr>
      <vt:lpstr>Factors That Influence the Development  and Maintenance of Drug Misuse and Addiction (14 of 18)</vt:lpstr>
      <vt:lpstr>Factors That Influence the Development  and Maintenance of Drug Misuse and Addiction (15 of 18)</vt:lpstr>
      <vt:lpstr>Factors That Influence the Development  and Maintenance of Drug Misuse and Addiction (16 of 18)</vt:lpstr>
      <vt:lpstr>Factors That Influence the Development  and Maintenance of Drug Misuse and Addiction (17 of 18)</vt:lpstr>
      <vt:lpstr>FIGURE 9.12  A biopsychosocial model of drug addiction </vt:lpstr>
      <vt:lpstr>Factors That Influence the Development  and Maintenance of Drug Misuse and Addiction (18 of 18)</vt:lpstr>
      <vt:lpstr>Review of Learning Objectives (3 of 4)</vt:lpstr>
      <vt:lpstr>The Neurobiology of Drug Addiction (1 of 12)</vt:lpstr>
      <vt:lpstr>FIGURE 9.13  A proposed three-stage addiction cycle (1)</vt:lpstr>
      <vt:lpstr>The Neurobiology of Drug Addiction (2 of 12)</vt:lpstr>
      <vt:lpstr>FIGURE 9.14  The neural circuit responsible for the acute rewarding and reinforcing effects of recreational drugs </vt:lpstr>
      <vt:lpstr>The Neurobiology of Drug Addiction (3 of 12)</vt:lpstr>
      <vt:lpstr>FIGURE 9.16  Sensitization of drug “wanting” but not drug “liking” </vt:lpstr>
      <vt:lpstr>The Neurobiology of Drug Addiction (4 of 12)</vt:lpstr>
      <vt:lpstr>The Neurobiology of Drug Addiction (5 of 12)</vt:lpstr>
      <vt:lpstr>FIGURE 9.18  Neurochemical changes underlying the transition from positive to negative reinforcement in addiction </vt:lpstr>
      <vt:lpstr>The Neurobiology of Drug Addiction (6 of 12)</vt:lpstr>
      <vt:lpstr>The Neurobiology of Drug Addiction (7 of 12)</vt:lpstr>
      <vt:lpstr>The Neurobiology of Drug Addiction (8 of 12)</vt:lpstr>
      <vt:lpstr>The Neurobiology of Drug Addiction (9 of 12)</vt:lpstr>
      <vt:lpstr>The Neurobiology of Drug Addiction (10 of 12)</vt:lpstr>
      <vt:lpstr>FIGURE 9.20  Drug addiction conceptualized as a maladaptive allocation of behavior </vt:lpstr>
      <vt:lpstr>The Neurobiology of Drug Addiction (11 of 12)</vt:lpstr>
      <vt:lpstr>The Neurobiology of Drug Addiction (12 of 12)</vt:lpstr>
      <vt:lpstr>Review of Learning Objectives (4 of 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Psychopharmacology: Drugs, the Brain, and Behavior</dc:title>
  <dc:creator>OUP</dc:creator>
  <cp:lastModifiedBy>Carter, Suzanne</cp:lastModifiedBy>
  <cp:revision>52</cp:revision>
  <dcterms:created xsi:type="dcterms:W3CDTF">2021-11-13T04:08:54Z</dcterms:created>
  <dcterms:modified xsi:type="dcterms:W3CDTF">2022-03-10T16:11:50Z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f61502-7731-4690-a118-333634878cc9_Enabled">
    <vt:lpwstr>true</vt:lpwstr>
  </property>
  <property fmtid="{D5CDD505-2E9C-101B-9397-08002B2CF9AE}" pid="3" name="MSIP_Label_89f61502-7731-4690-a118-333634878cc9_SetDate">
    <vt:lpwstr>2020-04-27T21:10:48Z</vt:lpwstr>
  </property>
  <property fmtid="{D5CDD505-2E9C-101B-9397-08002B2CF9AE}" pid="4" name="MSIP_Label_89f61502-7731-4690-a118-333634878cc9_Method">
    <vt:lpwstr>Standard</vt:lpwstr>
  </property>
  <property fmtid="{D5CDD505-2E9C-101B-9397-08002B2CF9AE}" pid="5" name="MSIP_Label_89f61502-7731-4690-a118-333634878cc9_Name">
    <vt:lpwstr>Internal</vt:lpwstr>
  </property>
  <property fmtid="{D5CDD505-2E9C-101B-9397-08002B2CF9AE}" pid="6" name="MSIP_Label_89f61502-7731-4690-a118-333634878cc9_SiteId">
    <vt:lpwstr>91761b62-4c45-43f5-9f0e-be8ad9b551ff</vt:lpwstr>
  </property>
  <property fmtid="{D5CDD505-2E9C-101B-9397-08002B2CF9AE}" pid="7" name="MSIP_Label_89f61502-7731-4690-a118-333634878cc9_ActionId">
    <vt:lpwstr>69912cf1-8f32-4f1f-9ade-00009ae8a75a</vt:lpwstr>
  </property>
  <property fmtid="{D5CDD505-2E9C-101B-9397-08002B2CF9AE}" pid="8" name="MSIP_Label_89f61502-7731-4690-a118-333634878cc9_ContentBits">
    <vt:lpwstr>0</vt:lpwstr>
  </property>
  <property fmtid="{D5CDD505-2E9C-101B-9397-08002B2CF9AE}" pid="9" name="ContentTypeId">
    <vt:lpwstr>0x0101006034735E286A8A478CDABE780C9EC78F</vt:lpwstr>
  </property>
</Properties>
</file>