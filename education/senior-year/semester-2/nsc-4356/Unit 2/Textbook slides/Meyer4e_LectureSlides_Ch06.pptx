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1" r:id="rId5"/>
  </p:sldMasterIdLst>
  <p:notesMasterIdLst>
    <p:notesMasterId r:id="rId57"/>
  </p:notesMasterIdLst>
  <p:handoutMasterIdLst>
    <p:handoutMasterId r:id="rId58"/>
  </p:handoutMasterIdLst>
  <p:sldIdLst>
    <p:sldId id="332" r:id="rId6"/>
    <p:sldId id="270" r:id="rId7"/>
    <p:sldId id="274" r:id="rId8"/>
    <p:sldId id="288" r:id="rId9"/>
    <p:sldId id="289" r:id="rId10"/>
    <p:sldId id="271" r:id="rId11"/>
    <p:sldId id="336" r:id="rId12"/>
    <p:sldId id="290" r:id="rId13"/>
    <p:sldId id="291" r:id="rId14"/>
    <p:sldId id="337" r:id="rId15"/>
    <p:sldId id="292" r:id="rId16"/>
    <p:sldId id="294" r:id="rId17"/>
    <p:sldId id="295" r:id="rId18"/>
    <p:sldId id="296" r:id="rId19"/>
    <p:sldId id="297" r:id="rId20"/>
    <p:sldId id="338" r:id="rId21"/>
    <p:sldId id="299" r:id="rId22"/>
    <p:sldId id="286" r:id="rId23"/>
    <p:sldId id="300" r:id="rId24"/>
    <p:sldId id="339" r:id="rId25"/>
    <p:sldId id="285" r:id="rId26"/>
    <p:sldId id="335" r:id="rId27"/>
    <p:sldId id="304" r:id="rId28"/>
    <p:sldId id="340" r:id="rId29"/>
    <p:sldId id="341" r:id="rId30"/>
    <p:sldId id="305" r:id="rId31"/>
    <p:sldId id="307" r:id="rId32"/>
    <p:sldId id="342" r:id="rId33"/>
    <p:sldId id="308" r:id="rId34"/>
    <p:sldId id="310" r:id="rId35"/>
    <p:sldId id="311" r:id="rId36"/>
    <p:sldId id="314" r:id="rId37"/>
    <p:sldId id="334" r:id="rId38"/>
    <p:sldId id="312" r:id="rId39"/>
    <p:sldId id="315" r:id="rId40"/>
    <p:sldId id="316" r:id="rId41"/>
    <p:sldId id="343" r:id="rId42"/>
    <p:sldId id="319" r:id="rId43"/>
    <p:sldId id="318" r:id="rId44"/>
    <p:sldId id="317" r:id="rId45"/>
    <p:sldId id="344" r:id="rId46"/>
    <p:sldId id="322" r:id="rId47"/>
    <p:sldId id="345" r:id="rId48"/>
    <p:sldId id="323" r:id="rId49"/>
    <p:sldId id="327" r:id="rId50"/>
    <p:sldId id="346" r:id="rId51"/>
    <p:sldId id="325" r:id="rId52"/>
    <p:sldId id="347" r:id="rId53"/>
    <p:sldId id="326" r:id="rId54"/>
    <p:sldId id="331" r:id="rId55"/>
    <p:sldId id="333"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07" autoAdjust="0"/>
    <p:restoredTop sz="91199" autoAdjust="0"/>
  </p:normalViewPr>
  <p:slideViewPr>
    <p:cSldViewPr snapToGrid="0" snapToObjects="1">
      <p:cViewPr varScale="1">
        <p:scale>
          <a:sx n="69" d="100"/>
          <a:sy n="69" d="100"/>
        </p:scale>
        <p:origin x="96" y="1356"/>
      </p:cViewPr>
      <p:guideLst>
        <p:guide orient="horz" pos="2160"/>
        <p:guide pos="3840"/>
      </p:guideLst>
    </p:cSldViewPr>
  </p:slideViewPr>
  <p:outlineViewPr>
    <p:cViewPr>
      <p:scale>
        <a:sx n="33" d="100"/>
        <a:sy n="33" d="100"/>
      </p:scale>
      <p:origin x="0" y="-4098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3/7/2022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6.1  Synthesis of serotonin 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Serotonin (5-HT) is synthesized from the amino acid tryptophan in two steps, catalyzed by the enzymes tryptophan hydroxylase and aromatic amino acid decarboxylase.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4186766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spcBef>
                <a:spcPts val="1800"/>
              </a:spcBef>
            </a:pPr>
            <a:r>
              <a:rPr lang="en-US" dirty="0"/>
              <a:t>TPH1: enterochromaffin cells located in the gut and melatonin-secreting cells in the pineal gland.</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232227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282052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6.2  Tryptophan entry into the brain and 5-HT synthesis 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Transport and synthesis are regulated by the relative availability of tryptophan versus large neutral amino acids that compete with it for transport across the blood–brain barrier. In rats, a high-protein, low-carbohydrate meal does not increase brain tryptophan levels or 5-HT synthesis rate, because of this competitive process. However, the ratio of circulating tryptophan to large neutral amino acids is ele­vated after a high-carbohydrate, low-protein meal, thereby enhancing entry of tryptophan into the brain and stimulating 5-HT synthesis.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4276888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924347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389759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dirty="0"/>
              <a:t>Negative cognitive bias</a:t>
            </a:r>
            <a:r>
              <a:rPr lang="en-US" u="sng" dirty="0"/>
              <a:t>: </a:t>
            </a:r>
            <a:r>
              <a:rPr lang="en-US" sz="1800" b="0" i="0" u="none" strike="noStrike" baseline="0" dirty="0">
                <a:latin typeface="PalatinoLTStd-Roman"/>
              </a:rPr>
              <a:t>individuals display increased sensitivity to threat- or punishment-related stimuli. Effect may be mediated by reducing serotonergic activity in an anxiety/fear-related circuit that includes the amygdala and medial frontal cortex.</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597153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053678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3012063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6.4  Features of a serotonergic neuron 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Serotonergic neurons express the enzymes tryptophan hydroxylase and aromatic </a:t>
            </a:r>
            <a:r>
              <a:rPr lang="en-US" sz="1200" kern="1200" cap="small" dirty="0">
                <a:solidFill>
                  <a:schemeClr val="tx1"/>
                </a:solidFill>
                <a:effectLst/>
                <a:latin typeface="+mn-lt"/>
                <a:ea typeface="+mn-ea"/>
                <a:cs typeface="+mn-cs"/>
              </a:rPr>
              <a:t>l</a:t>
            </a:r>
            <a:r>
              <a:rPr lang="en-US" sz="1200" kern="1200" dirty="0">
                <a:solidFill>
                  <a:schemeClr val="tx1"/>
                </a:solidFill>
                <a:effectLst/>
                <a:latin typeface="+mn-lt"/>
                <a:ea typeface="+mn-ea"/>
                <a:cs typeface="+mn-cs"/>
              </a:rPr>
              <a:t>-amino acid decarboxylase (AADC), the vesicular monoamine transporter VMAT2, the 5-HT transporter (SERT), and 5-HT</a:t>
            </a:r>
            <a:r>
              <a:rPr lang="en-US" sz="1200" kern="1200" baseline="-25000" dirty="0">
                <a:solidFill>
                  <a:schemeClr val="tx1"/>
                </a:solidFill>
                <a:effectLst/>
                <a:latin typeface="+mn-lt"/>
                <a:ea typeface="+mn-ea"/>
                <a:cs typeface="+mn-cs"/>
              </a:rPr>
              <a:t>1B</a:t>
            </a:r>
            <a:r>
              <a:rPr lang="en-US" sz="1200" kern="1200" dirty="0">
                <a:solidFill>
                  <a:schemeClr val="tx1"/>
                </a:solidFill>
                <a:effectLst/>
                <a:latin typeface="+mn-lt"/>
                <a:ea typeface="+mn-ea"/>
                <a:cs typeface="+mn-cs"/>
              </a:rPr>
              <a:t> or 5-HT</a:t>
            </a:r>
            <a:r>
              <a:rPr lang="en-US" sz="1200" kern="1200" baseline="-25000" dirty="0">
                <a:solidFill>
                  <a:schemeClr val="tx1"/>
                </a:solidFill>
                <a:effectLst/>
                <a:latin typeface="+mn-lt"/>
                <a:ea typeface="+mn-ea"/>
                <a:cs typeface="+mn-cs"/>
              </a:rPr>
              <a:t>1D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autoreceptors</a:t>
            </a:r>
            <a:r>
              <a:rPr lang="en-US" sz="1200" kern="1200" dirty="0">
                <a:solidFill>
                  <a:schemeClr val="tx1"/>
                </a:solidFill>
                <a:effectLst/>
                <a:latin typeface="+mn-lt"/>
                <a:ea typeface="+mn-ea"/>
                <a:cs typeface="+mn-cs"/>
              </a:rPr>
              <a:t> in their terminals. 5-HTP, 5-hydroxytryptophan; SSRIs, selective serotonin reuptake inhibitors.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13075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3514902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1" i="0" u="none" strike="noStrike" baseline="0" dirty="0">
                <a:latin typeface="DINPro-Bold"/>
              </a:rPr>
              <a:t>Entactogens</a:t>
            </a:r>
            <a:r>
              <a:rPr lang="en-US" sz="1800" b="0" i="0" u="none" strike="noStrike" baseline="0" dirty="0">
                <a:latin typeface="DINPro-Regular"/>
              </a:rPr>
              <a:t>: compounds that promote empathy and closeness to others in the absence of hallucinogenic effects</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575574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6.5  Behavioral and physiological phenotypes of SERT knockout mice </a:t>
            </a:r>
            <a:r>
              <a:rPr lang="en-US" sz="1200" kern="1200" dirty="0">
                <a:solidFill>
                  <a:schemeClr val="tx1"/>
                </a:solidFill>
                <a:effectLst/>
                <a:latin typeface="+mn-lt"/>
                <a:ea typeface="+mn-ea"/>
                <a:cs typeface="+mn-cs"/>
              </a:rPr>
              <a:t>Widespread SERT expression both in the brain (by serotonergic neurons and their axons and terminals) and in various peripheral tissues leads to dysfunction in many behavioral and physiological systems when normal 5-HT uptake is impaired by loss of this transporter. ACTH, adrenocorticotropic hormone; REM, rapid-eye-movement. (After D. L. Murphy and K.-P. </a:t>
            </a:r>
            <a:r>
              <a:rPr lang="en-US" sz="1200" kern="1200" dirty="0" err="1">
                <a:solidFill>
                  <a:schemeClr val="tx1"/>
                </a:solidFill>
                <a:effectLst/>
                <a:latin typeface="+mn-lt"/>
                <a:ea typeface="+mn-ea"/>
                <a:cs typeface="+mn-cs"/>
              </a:rPr>
              <a:t>Lesch</a:t>
            </a:r>
            <a:r>
              <a:rPr lang="en-US" sz="1200" kern="1200" dirty="0">
                <a:solidFill>
                  <a:schemeClr val="tx1"/>
                </a:solidFill>
                <a:effectLst/>
                <a:latin typeface="+mn-lt"/>
                <a:ea typeface="+mn-ea"/>
                <a:cs typeface="+mn-cs"/>
              </a:rPr>
              <a:t>. 2008.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9: 85–96.)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888146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134242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6.6  Anatomy of the serotonergic system 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B7 cell group corresponds to the dorsal raphe, and the B8 cell group corresponds to the median raphe.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317894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6.7  Photomicrograph of serotonergic fibers in the mouse neocortex and hippocampus 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photomicrograph shows a parasagittal section from a young mouse brain that was stained using an antibody against the 5-HT transporter. This method permits visualization of serotonergic fibers (axons) because the transporter protein is present throughout the length of the axonal membrane. The photomicrograph was taken using dark-field micro­scopy, which reverses light and dark structures. Consequently, the stained axons appear brightly colored, whereas the cell bodies of the hippocampal pyramidal cell layer and dentate gyrus granule cell layer appear dark. Note that in some areas, such as the deep layers of the hippocampus and layer 1 of the cortex, the serotonergic axons are so numerous that individual fibers cannot be resolved at the present magnification. </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925759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69966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4101228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6.9  5-HT</a:t>
            </a:r>
            <a:r>
              <a:rPr lang="en-US" sz="1200" b="1" kern="1200" baseline="-25000" dirty="0">
                <a:solidFill>
                  <a:schemeClr val="tx1"/>
                </a:solidFill>
                <a:effectLst/>
                <a:latin typeface="+mn-lt"/>
                <a:ea typeface="+mn-ea"/>
                <a:cs typeface="+mn-cs"/>
              </a:rPr>
              <a:t>1A</a:t>
            </a:r>
            <a:r>
              <a:rPr lang="en-US" sz="1200" b="1" kern="1200" dirty="0">
                <a:solidFill>
                  <a:schemeClr val="tx1"/>
                </a:solidFill>
                <a:effectLst/>
                <a:latin typeface="+mn-lt"/>
                <a:ea typeface="+mn-ea"/>
                <a:cs typeface="+mn-cs"/>
              </a:rPr>
              <a:t> and 5-HT</a:t>
            </a:r>
            <a:r>
              <a:rPr lang="en-US" sz="1200" b="1" kern="1200" baseline="-25000" dirty="0">
                <a:solidFill>
                  <a:schemeClr val="tx1"/>
                </a:solidFill>
                <a:effectLst/>
                <a:latin typeface="+mn-lt"/>
                <a:ea typeface="+mn-ea"/>
                <a:cs typeface="+mn-cs"/>
              </a:rPr>
              <a:t>2A</a:t>
            </a:r>
            <a:r>
              <a:rPr lang="en-US" sz="1200" b="1" kern="1200" dirty="0">
                <a:solidFill>
                  <a:schemeClr val="tx1"/>
                </a:solidFill>
                <a:effectLst/>
                <a:latin typeface="+mn-lt"/>
                <a:ea typeface="+mn-ea"/>
                <a:cs typeface="+mn-cs"/>
              </a:rPr>
              <a:t> receptors operate through different signaling mechanisms 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5-HT</a:t>
            </a:r>
            <a:r>
              <a:rPr lang="en-US" sz="1200" kern="1200" baseline="-25000" dirty="0">
                <a:solidFill>
                  <a:schemeClr val="tx1"/>
                </a:solidFill>
                <a:effectLst/>
                <a:latin typeface="+mn-lt"/>
                <a:ea typeface="+mn-ea"/>
                <a:cs typeface="+mn-cs"/>
              </a:rPr>
              <a:t>1A</a:t>
            </a:r>
            <a:r>
              <a:rPr lang="en-US" sz="1200" kern="1200" dirty="0">
                <a:solidFill>
                  <a:schemeClr val="tx1"/>
                </a:solidFill>
                <a:effectLst/>
                <a:latin typeface="+mn-lt"/>
                <a:ea typeface="+mn-ea"/>
                <a:cs typeface="+mn-cs"/>
              </a:rPr>
              <a:t> receptors inhibit cAMP production and activate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 opening (A), whereas 5-HT</a:t>
            </a:r>
            <a:r>
              <a:rPr lang="en-US" sz="1200" kern="1200" baseline="-25000" dirty="0">
                <a:solidFill>
                  <a:schemeClr val="tx1"/>
                </a:solidFill>
                <a:effectLst/>
                <a:latin typeface="+mn-lt"/>
                <a:ea typeface="+mn-ea"/>
                <a:cs typeface="+mn-cs"/>
              </a:rPr>
              <a:t>2A</a:t>
            </a:r>
            <a:r>
              <a:rPr lang="en-US" sz="1200" kern="1200" dirty="0">
                <a:solidFill>
                  <a:schemeClr val="tx1"/>
                </a:solidFill>
                <a:effectLst/>
                <a:latin typeface="+mn-lt"/>
                <a:ea typeface="+mn-ea"/>
                <a:cs typeface="+mn-cs"/>
              </a:rPr>
              <a:t> receptors increase intracellular Ca</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levels and stimulate protein kinase C via the phosphoinositide second-­messenger system (B). For purposes of simplification, the G proteins required for coupling the receptors to their signaling pathways are not shown.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4036196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2074699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Inverse agonists don’t merely block a receptor, they exert the opposite effect that an agonist would produce.</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4083934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Triptans: </a:t>
            </a:r>
            <a:r>
              <a:rPr lang="en-US" sz="1800" b="1" i="0" u="none" strike="noStrike" baseline="0" dirty="0">
                <a:latin typeface="DINPro-Bold"/>
              </a:rPr>
              <a:t>sumatriptan </a:t>
            </a:r>
            <a:r>
              <a:rPr lang="en-US" sz="1800" b="0" i="0" u="none" strike="noStrike" baseline="0" dirty="0">
                <a:latin typeface="PalatinoLTStd-Roman"/>
              </a:rPr>
              <a:t>[</a:t>
            </a:r>
            <a:r>
              <a:rPr lang="en-US" sz="1800" b="1" i="0" u="none" strike="noStrike" baseline="0" dirty="0">
                <a:latin typeface="DINPro-Bold"/>
              </a:rPr>
              <a:t>Imitrex </a:t>
            </a:r>
            <a:r>
              <a:rPr lang="en-US" sz="1800" b="0" i="0" u="none" strike="noStrike" baseline="0" dirty="0">
                <a:latin typeface="PalatinoLTStd-Roman"/>
              </a:rPr>
              <a:t>or </a:t>
            </a:r>
            <a:r>
              <a:rPr lang="en-US" sz="1800" b="1" i="0" u="none" strike="noStrike" baseline="0" dirty="0" err="1">
                <a:latin typeface="DINPro-Bold"/>
              </a:rPr>
              <a:t>Zecuity</a:t>
            </a:r>
            <a:r>
              <a:rPr lang="en-US" sz="1800" b="0" i="0" u="none" strike="noStrike" baseline="0" dirty="0">
                <a:latin typeface="PalatinoLTStd-Roman"/>
              </a:rPr>
              <a:t>], </a:t>
            </a:r>
            <a:r>
              <a:rPr lang="en-US" sz="1800" b="1" i="0" u="none" strike="noStrike" baseline="0" dirty="0">
                <a:latin typeface="DINPro-Bold"/>
              </a:rPr>
              <a:t>zolmitriptan </a:t>
            </a:r>
            <a:r>
              <a:rPr lang="en-US" sz="1800" b="0" i="0" u="none" strike="noStrike" baseline="0" dirty="0">
                <a:latin typeface="PalatinoLTStd-Roman"/>
              </a:rPr>
              <a:t>[</a:t>
            </a:r>
            <a:r>
              <a:rPr lang="en-US" sz="1800" b="1" i="0" u="none" strike="noStrike" baseline="0" dirty="0" err="1">
                <a:latin typeface="DINPro-Bold"/>
              </a:rPr>
              <a:t>Zomig</a:t>
            </a:r>
            <a:r>
              <a:rPr lang="en-US" sz="1800" b="0" i="0" u="none" strike="noStrike" baseline="0" dirty="0">
                <a:latin typeface="PalatinoLTStd-Roman"/>
              </a:rPr>
              <a:t>], </a:t>
            </a:r>
            <a:r>
              <a:rPr lang="en-US" sz="1800" b="1" i="0" u="none" strike="noStrike" baseline="0" dirty="0" err="1">
                <a:latin typeface="DINPro-Bold"/>
              </a:rPr>
              <a:t>frovatriptan</a:t>
            </a:r>
            <a:r>
              <a:rPr lang="en-US" sz="1800" b="1" i="0" u="none" strike="noStrike" baseline="0" dirty="0">
                <a:latin typeface="DINPro-Bold"/>
              </a:rPr>
              <a:t> </a:t>
            </a:r>
            <a:r>
              <a:rPr lang="en-US" sz="1800" b="0" i="0" u="none" strike="noStrike" baseline="0" dirty="0">
                <a:latin typeface="PalatinoLTStd-Roman"/>
              </a:rPr>
              <a:t>[</a:t>
            </a:r>
            <a:r>
              <a:rPr lang="en-US" sz="1800" b="1" i="0" u="none" strike="noStrike" baseline="0" dirty="0" err="1">
                <a:latin typeface="DINPro-Bold"/>
              </a:rPr>
              <a:t>Frova</a:t>
            </a:r>
            <a:r>
              <a:rPr lang="en-US" sz="1800" b="0" i="0" u="none" strike="noStrike" baseline="0" dirty="0">
                <a:latin typeface="PalatinoLTStd-Roman"/>
              </a:rPr>
              <a:t>], </a:t>
            </a:r>
            <a:r>
              <a:rPr lang="en-US" sz="1800" b="1" i="0" u="none" strike="noStrike" baseline="0" dirty="0">
                <a:latin typeface="DINPro-Bold"/>
              </a:rPr>
              <a:t>naratriptan </a:t>
            </a:r>
            <a:r>
              <a:rPr lang="en-US" sz="1800" b="0" i="0" u="none" strike="noStrike" baseline="0" dirty="0">
                <a:latin typeface="PalatinoLTStd-Roman"/>
              </a:rPr>
              <a:t>[</a:t>
            </a:r>
            <a:r>
              <a:rPr lang="en-US" sz="1800" b="1" i="0" u="none" strike="noStrike" baseline="0" dirty="0" err="1">
                <a:latin typeface="DINPro-Bold"/>
              </a:rPr>
              <a:t>Amerge</a:t>
            </a:r>
            <a:r>
              <a:rPr lang="en-US" sz="1800" b="0" i="0" u="none" strike="noStrike" baseline="0" dirty="0">
                <a:latin typeface="PalatinoLTStd-Roman"/>
              </a:rPr>
              <a: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42792360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   </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12913726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167451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4288952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DINPro-Bold"/>
              </a:rPr>
              <a:t>Carbidopa: </a:t>
            </a:r>
            <a:r>
              <a:rPr lang="en-US" sz="1800" b="0" i="0" u="none" strike="noStrike" baseline="0" dirty="0">
                <a:latin typeface="PalatinoLTStd-Roman"/>
              </a:rPr>
              <a:t>AADC inhibitor that doesn’t cross the blood–brain barrier – blocks AADC conversion of 5-HTP to 5-HT in peripheral tissues 5-HTP to 5-HT. This method permits more 5-HTP to be available to the brain.</a:t>
            </a:r>
            <a:endParaRPr lang="en-US" b="0"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9505604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6.11  Impulsive aggression in male </a:t>
            </a:r>
            <a:r>
              <a:rPr lang="en-US" sz="1200" b="1" i="1" kern="1200" dirty="0">
                <a:solidFill>
                  <a:schemeClr val="tx1"/>
                </a:solidFill>
                <a:effectLst/>
                <a:latin typeface="+mn-lt"/>
                <a:ea typeface="+mn-ea"/>
                <a:cs typeface="+mn-cs"/>
              </a:rPr>
              <a:t>TPH2</a:t>
            </a:r>
            <a:r>
              <a:rPr lang="en-US" sz="1200" b="1" kern="1200" dirty="0">
                <a:solidFill>
                  <a:schemeClr val="tx1"/>
                </a:solidFill>
                <a:effectLst/>
                <a:latin typeface="+mn-lt"/>
                <a:ea typeface="+mn-ea"/>
                <a:cs typeface="+mn-cs"/>
              </a:rPr>
              <a:t>-knockout mice 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Adult male </a:t>
            </a:r>
            <a:r>
              <a:rPr lang="en-US" sz="1200" i="1" kern="1200" dirty="0">
                <a:solidFill>
                  <a:schemeClr val="tx1"/>
                </a:solidFill>
                <a:effectLst/>
                <a:latin typeface="+mn-lt"/>
                <a:ea typeface="+mn-ea"/>
                <a:cs typeface="+mn-cs"/>
              </a:rPr>
              <a:t>TPH2</a:t>
            </a:r>
            <a:r>
              <a:rPr lang="en-US" sz="1200" kern="1200" dirty="0">
                <a:solidFill>
                  <a:schemeClr val="tx1"/>
                </a:solidFill>
                <a:effectLst/>
                <a:latin typeface="+mn-lt"/>
                <a:ea typeface="+mn-ea"/>
                <a:cs typeface="+mn-cs"/>
              </a:rPr>
              <a:t>-knockout (KO) and wild-type (WT) mice were tested for impulsive aggression using the resident–­intruder paradigm. (A) Compared with WT controls, the resident KO mice showed a reduced latency to attack (left bars) and an increased number of attacks (right bars) directed toward the intruder. (B) In KO mice, administration of 5-HTP plus carbidopa (5-HTP group) but not carbidopa alone (CD group) increased the latency to attack and reduced the number of attacks, compared with the control group given drug vehicle alone (Con). (After M. </a:t>
            </a:r>
            <a:r>
              <a:rPr lang="en-US" sz="1200" kern="1200" dirty="0" err="1">
                <a:solidFill>
                  <a:schemeClr val="tx1"/>
                </a:solidFill>
                <a:effectLst/>
                <a:latin typeface="+mn-lt"/>
                <a:ea typeface="+mn-ea"/>
                <a:cs typeface="+mn-cs"/>
              </a:rPr>
              <a:t>Angoa</a:t>
            </a:r>
            <a:r>
              <a:rPr lang="en-US" sz="1200" kern="1200" dirty="0">
                <a:solidFill>
                  <a:schemeClr val="tx1"/>
                </a:solidFill>
                <a:effectLst/>
                <a:latin typeface="+mn-lt"/>
                <a:ea typeface="+mn-ea"/>
                <a:cs typeface="+mn-cs"/>
              </a:rPr>
              <a:t>-Pérez et al. 2012.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Neurochem</a:t>
            </a:r>
            <a:r>
              <a:rPr lang="en-US" sz="1200" kern="1200" dirty="0">
                <a:solidFill>
                  <a:schemeClr val="tx1"/>
                </a:solidFill>
                <a:effectLst/>
                <a:latin typeface="+mn-lt"/>
                <a:ea typeface="+mn-ea"/>
                <a:cs typeface="+mn-cs"/>
              </a:rPr>
              <a:t> 121: 974–984. © 2012 The Authors. Journal of Neurochemistry © 2012 International Society for Neurochemistry.)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1418755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Hypothesis:  abnormalities in the serotonergic system may play a critical role in some cases of </a:t>
            </a:r>
            <a:r>
              <a:rPr lang="sv-SE" sz="1800" b="1" i="0" u="none" strike="noStrike" baseline="0" dirty="0">
                <a:latin typeface="DINPro-Bold"/>
              </a:rPr>
              <a:t>sudden infant death syndrome </a:t>
            </a:r>
            <a:r>
              <a:rPr lang="sv-SE" sz="1800" b="0" i="0" u="none" strike="noStrike" baseline="0" dirty="0">
                <a:latin typeface="PalatinoLTStd-Roman"/>
              </a:rPr>
              <a:t>(</a:t>
            </a:r>
            <a:r>
              <a:rPr lang="sv-SE" sz="1800" b="1" i="0" u="none" strike="noStrike" baseline="0" dirty="0">
                <a:latin typeface="DINPro-Bold"/>
              </a:rPr>
              <a:t>SIDS</a:t>
            </a:r>
            <a:r>
              <a:rPr lang="sv-SE" sz="1800" b="0" i="0" u="none"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511877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24473477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40831634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6.12  Effects of optogenetic excitation or inhibition of serotonergic nerve terminals in the dorsal bed nucleus of the </a:t>
            </a:r>
            <a:r>
              <a:rPr lang="en-US" sz="1200" b="1" kern="1200" dirty="0" err="1">
                <a:solidFill>
                  <a:schemeClr val="tx1"/>
                </a:solidFill>
                <a:effectLst/>
                <a:latin typeface="+mn-lt"/>
                <a:ea typeface="+mn-ea"/>
                <a:cs typeface="+mn-cs"/>
              </a:rPr>
              <a:t>stria</a:t>
            </a:r>
            <a:r>
              <a:rPr lang="en-US" sz="1200" b="1" kern="1200" dirty="0">
                <a:solidFill>
                  <a:schemeClr val="tx1"/>
                </a:solidFill>
                <a:effectLst/>
                <a:latin typeface="+mn-lt"/>
                <a:ea typeface="+mn-ea"/>
                <a:cs typeface="+mn-cs"/>
              </a:rPr>
              <a:t> terminalis (</a:t>
            </a:r>
            <a:r>
              <a:rPr lang="en-US" sz="1200" b="1" kern="1200" dirty="0" err="1">
                <a:solidFill>
                  <a:schemeClr val="tx1"/>
                </a:solidFill>
                <a:effectLst/>
                <a:latin typeface="+mn-lt"/>
                <a:ea typeface="+mn-ea"/>
                <a:cs typeface="+mn-cs"/>
              </a:rPr>
              <a:t>dBNST</a:t>
            </a:r>
            <a:r>
              <a:rPr lang="en-US" sz="1200" b="1" kern="1200" dirty="0">
                <a:solidFill>
                  <a:schemeClr val="tx1"/>
                </a:solidFill>
                <a:effectLst/>
                <a:latin typeface="+mn-lt"/>
                <a:ea typeface="+mn-ea"/>
                <a:cs typeface="+mn-cs"/>
              </a:rPr>
              <a:t>) on anxiety-like behavior in the elevated plus-maze 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Mice were genetically manipulated to express either the excitatory blue-light sensitive protein channelrhodopsin-2 (ChR2) or the inhibitory green-light sensitive protein archaerhodopsin (Arch) in raphe (RPH) serotonergic neurons. The animals were then implanted with fiber-optic probes in the </a:t>
            </a:r>
            <a:r>
              <a:rPr lang="en-US" sz="1200" kern="1200" dirty="0" err="1">
                <a:solidFill>
                  <a:schemeClr val="tx1"/>
                </a:solidFill>
                <a:effectLst/>
                <a:latin typeface="+mn-lt"/>
                <a:ea typeface="+mn-ea"/>
                <a:cs typeface="+mn-cs"/>
              </a:rPr>
              <a:t>dBNST</a:t>
            </a:r>
            <a:r>
              <a:rPr lang="en-US" sz="1200" kern="1200" dirty="0">
                <a:solidFill>
                  <a:schemeClr val="tx1"/>
                </a:solidFill>
                <a:effectLst/>
                <a:latin typeface="+mn-lt"/>
                <a:ea typeface="+mn-ea"/>
                <a:cs typeface="+mn-cs"/>
              </a:rPr>
              <a:t> to permit delivery of blue or green light to this area by a laser. Control mice received all the same procedures except for ChR2 or Arch gene expression. Delivery of blue light to excite the serotonergic nerve terminals was anxiolytic in the ChR2 mice but not the controls as shown by increased time spent in the open arms of the maze (A and B). This increase only occurred when the light was ON. In contrast, delivery of green light to inhibit the serotonergic nerve terminals was anxiogenic in the Arch mice but not the controls as shown by reduced time spent in the open arms (C and D). Note the difference in open-arm time under control conditions between the two experiments. To allow the genetic manipulations to have clear effects, the researchers altered the baseline experimental parameters to be more anxiety-provoking (i.e., less open-arm time in the controls) when they expected to produce an anxiolytic effect of the laser light but less anxiety-provoking (i.e., more open-arm time in the controls) when they expected to produce an anxiogenic effect of the laser light. (From A. L. Garcia-Garcia et al. 2018. </a:t>
            </a:r>
            <a:r>
              <a:rPr lang="en-US" sz="1200" i="1" kern="1200" dirty="0" err="1">
                <a:solidFill>
                  <a:schemeClr val="tx1"/>
                </a:solidFill>
                <a:effectLst/>
                <a:latin typeface="+mn-lt"/>
                <a:ea typeface="+mn-ea"/>
                <a:cs typeface="+mn-cs"/>
              </a:rPr>
              <a:t>Mol</a:t>
            </a:r>
            <a:r>
              <a:rPr lang="en-US" sz="1200" i="1" kern="1200" dirty="0">
                <a:solidFill>
                  <a:schemeClr val="tx1"/>
                </a:solidFill>
                <a:effectLst/>
                <a:latin typeface="+mn-lt"/>
                <a:ea typeface="+mn-ea"/>
                <a:cs typeface="+mn-cs"/>
              </a:rPr>
              <a:t> Psychiatry</a:t>
            </a:r>
            <a:r>
              <a:rPr lang="en-US" sz="1200" kern="1200" dirty="0">
                <a:solidFill>
                  <a:schemeClr val="tx1"/>
                </a:solidFill>
                <a:effectLst/>
                <a:latin typeface="+mn-lt"/>
                <a:ea typeface="+mn-ea"/>
                <a:cs typeface="+mn-cs"/>
              </a:rPr>
              <a:t> 23: 1990–1997. Reprinted by permission from Springer Nature.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/10.1038/mp.2017.165)</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1935419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9000389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6.13  The amygdala–BNST circuit involved in threat processing 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amygdala receives sensory input from the thalamus, contextual input from the hippocampus, and evaluative/regulatory inputs from the cerebral cortex. These inputs are received primarily by the lateral (LA) nucleus of the amygdala. Information processing within the amygdala involves connections from the lateral nucleus to the basolateral (BL) and </a:t>
            </a:r>
            <a:r>
              <a:rPr lang="en-US" sz="1200" kern="1200" dirty="0" err="1">
                <a:solidFill>
                  <a:schemeClr val="tx1"/>
                </a:solidFill>
                <a:effectLst/>
                <a:latin typeface="+mn-lt"/>
                <a:ea typeface="+mn-ea"/>
                <a:cs typeface="+mn-cs"/>
              </a:rPr>
              <a:t>basomedial</a:t>
            </a:r>
            <a:r>
              <a:rPr lang="en-US" sz="1200" kern="1200" dirty="0">
                <a:solidFill>
                  <a:schemeClr val="tx1"/>
                </a:solidFill>
                <a:effectLst/>
                <a:latin typeface="+mn-lt"/>
                <a:ea typeface="+mn-ea"/>
                <a:cs typeface="+mn-cs"/>
              </a:rPr>
              <a:t> (BM) nuclei, and from those areas to the central nucleus (Ce). The central nucleus provides input to the bed nucleus of the </a:t>
            </a:r>
            <a:r>
              <a:rPr lang="en-US" sz="1200" kern="1200" dirty="0" err="1">
                <a:solidFill>
                  <a:schemeClr val="tx1"/>
                </a:solidFill>
                <a:effectLst/>
                <a:latin typeface="+mn-lt"/>
                <a:ea typeface="+mn-ea"/>
                <a:cs typeface="+mn-cs"/>
              </a:rPr>
              <a:t>stria</a:t>
            </a:r>
            <a:r>
              <a:rPr lang="en-US" sz="1200" kern="1200" dirty="0">
                <a:solidFill>
                  <a:schemeClr val="tx1"/>
                </a:solidFill>
                <a:effectLst/>
                <a:latin typeface="+mn-lt"/>
                <a:ea typeface="+mn-ea"/>
                <a:cs typeface="+mn-cs"/>
              </a:rPr>
              <a:t> terminalis (BNST), and both the central nucleus and BNST project to downstream target areas that mediate either defensive or aggressive behavioral and physiological responses to the threat. Me, medial nucleus. (After A. J. </a:t>
            </a:r>
            <a:r>
              <a:rPr lang="en-US" sz="1200" kern="1200" dirty="0" err="1">
                <a:solidFill>
                  <a:schemeClr val="tx1"/>
                </a:solidFill>
                <a:effectLst/>
                <a:latin typeface="+mn-lt"/>
                <a:ea typeface="+mn-ea"/>
                <a:cs typeface="+mn-cs"/>
              </a:rPr>
              <a:t>Shackman</a:t>
            </a:r>
            <a:r>
              <a:rPr lang="en-US" sz="1200" kern="1200" dirty="0">
                <a:solidFill>
                  <a:schemeClr val="tx1"/>
                </a:solidFill>
                <a:effectLst/>
                <a:latin typeface="+mn-lt"/>
                <a:ea typeface="+mn-ea"/>
                <a:cs typeface="+mn-cs"/>
              </a:rPr>
              <a:t> and A. S. Fox. 2016.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36: 8050–8063.)</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28286962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24873009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AN = arcuate nucleus, PVN = paraventricular nucleus</a:t>
            </a:r>
          </a:p>
          <a:p>
            <a:pPr algn="l"/>
            <a:r>
              <a:rPr lang="en-US" u="none" dirty="0"/>
              <a:t>POMC: </a:t>
            </a:r>
            <a:r>
              <a:rPr lang="en-US" sz="1800" b="0" i="0" u="none" strike="noStrike" baseline="0" dirty="0">
                <a:latin typeface="PalatinoLTStd-Roman"/>
              </a:rPr>
              <a:t>pro-opiomelanocortin (POMC), a large peptide that is broken down into the smaller bioactive molecule </a:t>
            </a:r>
            <a:r>
              <a:rPr lang="el-GR" sz="1800" b="0" i="0" u="none" strike="noStrike" baseline="0" dirty="0">
                <a:latin typeface="DINPro-Bold"/>
              </a:rPr>
              <a:t>α-</a:t>
            </a:r>
            <a:r>
              <a:rPr lang="en-US" sz="1800" b="0" i="0" u="none" strike="noStrike" baseline="0" dirty="0">
                <a:latin typeface="DINPro-Bold"/>
              </a:rPr>
              <a:t>MSH.</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4181630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6.14  Neural circuit through which 5-HT suppresses appetite 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Appetite (motivation to eat) is controlled by a circuit of neurons within the arcuate and paraventricular nuclei of the hypothalamus. Arcuate neurons that co-express NPY and </a:t>
            </a:r>
            <a:r>
              <a:rPr lang="en-US" sz="1200" kern="1200" dirty="0" err="1">
                <a:solidFill>
                  <a:schemeClr val="tx1"/>
                </a:solidFill>
                <a:effectLst/>
                <a:latin typeface="+mn-lt"/>
                <a:ea typeface="+mn-ea"/>
                <a:cs typeface="+mn-cs"/>
              </a:rPr>
              <a:t>AgRP</a:t>
            </a:r>
            <a:r>
              <a:rPr lang="en-US" sz="1200" kern="1200" dirty="0">
                <a:solidFill>
                  <a:schemeClr val="tx1"/>
                </a:solidFill>
                <a:effectLst/>
                <a:latin typeface="+mn-lt"/>
                <a:ea typeface="+mn-ea"/>
                <a:cs typeface="+mn-cs"/>
              </a:rPr>
              <a:t> send orexigenic signals to melanocortin receptor neurons in the paraventricular nucleus, while POMC neurons send a contrasting anorexigenic signal instead. The anorexigenic signal is mediated by α-MSH activation of MC</a:t>
            </a:r>
            <a:r>
              <a:rPr lang="en-US" sz="1200" kern="1200" baseline="-25000" dirty="0">
                <a:solidFill>
                  <a:schemeClr val="tx1"/>
                </a:solidFill>
                <a:effectLst/>
                <a:latin typeface="+mn-lt"/>
                <a:ea typeface="+mn-ea"/>
                <a:cs typeface="+mn-cs"/>
              </a:rPr>
              <a:t>3/4</a:t>
            </a:r>
            <a:r>
              <a:rPr lang="en-US" sz="1200" kern="1200" dirty="0">
                <a:solidFill>
                  <a:schemeClr val="tx1"/>
                </a:solidFill>
                <a:effectLst/>
                <a:latin typeface="+mn-lt"/>
                <a:ea typeface="+mn-ea"/>
                <a:cs typeface="+mn-cs"/>
              </a:rPr>
              <a:t> receptors, whereas the orexigenic signal is mediated by a combination of </a:t>
            </a:r>
            <a:r>
              <a:rPr lang="en-US" sz="1200" kern="1200" dirty="0" err="1">
                <a:solidFill>
                  <a:schemeClr val="tx1"/>
                </a:solidFill>
                <a:effectLst/>
                <a:latin typeface="+mn-lt"/>
                <a:ea typeface="+mn-ea"/>
                <a:cs typeface="+mn-cs"/>
              </a:rPr>
              <a:t>AgRP</a:t>
            </a:r>
            <a:r>
              <a:rPr lang="en-US" sz="1200" kern="1200" dirty="0">
                <a:solidFill>
                  <a:schemeClr val="tx1"/>
                </a:solidFill>
                <a:effectLst/>
                <a:latin typeface="+mn-lt"/>
                <a:ea typeface="+mn-ea"/>
                <a:cs typeface="+mn-cs"/>
              </a:rPr>
              <a:t> blocking of the MC</a:t>
            </a:r>
            <a:r>
              <a:rPr lang="en-US" sz="1200" kern="1200" baseline="-25000" dirty="0">
                <a:solidFill>
                  <a:schemeClr val="tx1"/>
                </a:solidFill>
                <a:effectLst/>
                <a:latin typeface="+mn-lt"/>
                <a:ea typeface="+mn-ea"/>
                <a:cs typeface="+mn-cs"/>
              </a:rPr>
              <a:t>3/4</a:t>
            </a:r>
            <a:r>
              <a:rPr lang="en-US" sz="1200" kern="1200" dirty="0">
                <a:solidFill>
                  <a:schemeClr val="tx1"/>
                </a:solidFill>
                <a:effectLst/>
                <a:latin typeface="+mn-lt"/>
                <a:ea typeface="+mn-ea"/>
                <a:cs typeface="+mn-cs"/>
              </a:rPr>
              <a:t> receptors and NPY activation of its own receptors on the melanocortin neurons (not shown). 5-HT released from DRN and MRN projections to the arcuate nucleus exerts an anorexigenic effect by dual mechanisms: stimulation of the POMC neurons through excitatory 5-HT</a:t>
            </a:r>
            <a:r>
              <a:rPr lang="en-US" sz="1200" kern="1200" baseline="-25000" dirty="0">
                <a:solidFill>
                  <a:schemeClr val="tx1"/>
                </a:solidFill>
                <a:effectLst/>
                <a:latin typeface="+mn-lt"/>
                <a:ea typeface="+mn-ea"/>
                <a:cs typeface="+mn-cs"/>
              </a:rPr>
              <a:t>2C</a:t>
            </a:r>
            <a:r>
              <a:rPr lang="en-US" sz="1200" kern="1200" dirty="0">
                <a:solidFill>
                  <a:schemeClr val="tx1"/>
                </a:solidFill>
                <a:effectLst/>
                <a:latin typeface="+mn-lt"/>
                <a:ea typeface="+mn-ea"/>
                <a:cs typeface="+mn-cs"/>
              </a:rPr>
              <a:t> receptors and suppression of the NPY/</a:t>
            </a:r>
            <a:r>
              <a:rPr lang="en-US" sz="1200" kern="1200" dirty="0" err="1">
                <a:solidFill>
                  <a:schemeClr val="tx1"/>
                </a:solidFill>
                <a:effectLst/>
                <a:latin typeface="+mn-lt"/>
                <a:ea typeface="+mn-ea"/>
                <a:cs typeface="+mn-cs"/>
              </a:rPr>
              <a:t>AgRP</a:t>
            </a:r>
            <a:r>
              <a:rPr lang="en-US" sz="1200" kern="1200" dirty="0">
                <a:solidFill>
                  <a:schemeClr val="tx1"/>
                </a:solidFill>
                <a:effectLst/>
                <a:latin typeface="+mn-lt"/>
                <a:ea typeface="+mn-ea"/>
                <a:cs typeface="+mn-cs"/>
              </a:rPr>
              <a:t> neurons through inhibitory 5-HT</a:t>
            </a:r>
            <a:r>
              <a:rPr lang="en-US" sz="1200" kern="1200" baseline="-25000" dirty="0">
                <a:solidFill>
                  <a:schemeClr val="tx1"/>
                </a:solidFill>
                <a:effectLst/>
                <a:latin typeface="+mn-lt"/>
                <a:ea typeface="+mn-ea"/>
                <a:cs typeface="+mn-cs"/>
              </a:rPr>
              <a:t>1B</a:t>
            </a:r>
            <a:r>
              <a:rPr lang="en-US" sz="1200" kern="1200" dirty="0">
                <a:solidFill>
                  <a:schemeClr val="tx1"/>
                </a:solidFill>
                <a:effectLst/>
                <a:latin typeface="+mn-lt"/>
                <a:ea typeface="+mn-ea"/>
                <a:cs typeface="+mn-cs"/>
              </a:rPr>
              <a:t> receptors. The balance of orexigenic and anorexigenic signals is integrated by the melanocortin receptor neurons to determine the organism’s appetitive state, which is then transmitted to other brain areas responsible for food seeking and eating behaviors as well as the physiological systems that are coordinated with food intake. Note that the figure omits many other neurotransmitters and bloodborne hormones that influence this circuit. </a:t>
            </a:r>
            <a:r>
              <a:rPr lang="en-US" sz="1200" kern="1200" dirty="0" err="1">
                <a:solidFill>
                  <a:schemeClr val="tx1"/>
                </a:solidFill>
                <a:effectLst/>
                <a:latin typeface="+mn-lt"/>
                <a:ea typeface="+mn-ea"/>
                <a:cs typeface="+mn-cs"/>
              </a:rPr>
              <a:t>AgRP</a:t>
            </a:r>
            <a:r>
              <a:rPr lang="en-US" sz="1200" kern="1200" dirty="0">
                <a:solidFill>
                  <a:schemeClr val="tx1"/>
                </a:solidFill>
                <a:effectLst/>
                <a:latin typeface="+mn-lt"/>
                <a:ea typeface="+mn-ea"/>
                <a:cs typeface="+mn-cs"/>
              </a:rPr>
              <a:t>, agouti-related peptide; α-MSH, α-melanocyte stimulating hormone; MC</a:t>
            </a:r>
            <a:r>
              <a:rPr lang="en-US" sz="1200" kern="1200" baseline="-25000" dirty="0">
                <a:solidFill>
                  <a:schemeClr val="tx1"/>
                </a:solidFill>
                <a:effectLst/>
                <a:latin typeface="+mn-lt"/>
                <a:ea typeface="+mn-ea"/>
                <a:cs typeface="+mn-cs"/>
              </a:rPr>
              <a:t>3/4</a:t>
            </a:r>
            <a:r>
              <a:rPr lang="en-US" sz="1200" kern="1200" dirty="0">
                <a:solidFill>
                  <a:schemeClr val="tx1"/>
                </a:solidFill>
                <a:effectLst/>
                <a:latin typeface="+mn-lt"/>
                <a:ea typeface="+mn-ea"/>
                <a:cs typeface="+mn-cs"/>
              </a:rPr>
              <a:t>R, melanocortin 3 and melanocortin 4 receptors; NPY, neuropeptide Y; POMC, pro-opiomelanocortin. (After S. C. Wyler et al. 2017. </a:t>
            </a:r>
            <a:r>
              <a:rPr lang="en-US" sz="1200" i="1" kern="1200" dirty="0">
                <a:solidFill>
                  <a:schemeClr val="tx1"/>
                </a:solidFill>
                <a:effectLst/>
                <a:latin typeface="+mn-lt"/>
                <a:ea typeface="+mn-ea"/>
                <a:cs typeface="+mn-cs"/>
              </a:rPr>
              <a:t>Front Cell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11: 277.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/10.3389/fncel.2017.00277. © 2017 Wyler, Lord, Lee, </a:t>
            </a:r>
            <a:r>
              <a:rPr lang="en-US" sz="1200" kern="1200" dirty="0" err="1">
                <a:solidFill>
                  <a:schemeClr val="tx1"/>
                </a:solidFill>
                <a:effectLst/>
                <a:latin typeface="+mn-lt"/>
                <a:ea typeface="+mn-ea"/>
                <a:cs typeface="+mn-cs"/>
              </a:rPr>
              <a:t>Elmquist</a:t>
            </a:r>
            <a:r>
              <a:rPr lang="en-US" sz="1200" kern="1200" dirty="0">
                <a:solidFill>
                  <a:schemeClr val="tx1"/>
                </a:solidFill>
                <a:effectLst/>
                <a:latin typeface="+mn-lt"/>
                <a:ea typeface="+mn-ea"/>
                <a:cs typeface="+mn-cs"/>
              </a:rPr>
              <a:t> and Liu.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8335992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2336804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6.15  Release and uptake of 5-HT in the intestine 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Serotonin is synthesized by specialized secretory cells in the intestinal wall called enterochromaffin (EC) cells. The other cell types depicted in the figure are enterocytes, which are epithelial cells that mediate absorption of nutrients from the gut, and goblet cells, which secrete a layer of protective mucus that lines the intestinal wall. From left to right, the figure first depicts a resting state characterized by minimal 5-HT release, a stimulated state during which 5-HT released by EC cells activates serotonergic receptors on intestinal sensory fibers, and a recovery state in which the released 5-HT is cleared by uptake either into cells of the intestinal wall or into blood platelets in the case of 5-HT molecules that have diffused into the bloodstream. Such uptake is mediated by the serotonin transporter, which is expressed by the EC cells, enterocytes, and platelets. (From G. M. </a:t>
            </a:r>
            <a:r>
              <a:rPr lang="en-US" sz="1200" kern="1200" dirty="0" err="1">
                <a:solidFill>
                  <a:schemeClr val="tx1"/>
                </a:solidFill>
                <a:effectLst/>
                <a:latin typeface="+mn-lt"/>
                <a:ea typeface="+mn-ea"/>
                <a:cs typeface="+mn-cs"/>
              </a:rPr>
              <a:t>Mawe</a:t>
            </a:r>
            <a:r>
              <a:rPr lang="en-US" sz="1200" kern="1200" dirty="0">
                <a:solidFill>
                  <a:schemeClr val="tx1"/>
                </a:solidFill>
                <a:effectLst/>
                <a:latin typeface="+mn-lt"/>
                <a:ea typeface="+mn-ea"/>
                <a:cs typeface="+mn-cs"/>
              </a:rPr>
              <a:t> and J. M. Hoffman. 2013. </a:t>
            </a:r>
            <a:r>
              <a:rPr lang="en-US" sz="1200" i="1" kern="1200" dirty="0">
                <a:solidFill>
                  <a:schemeClr val="tx1"/>
                </a:solidFill>
                <a:effectLst/>
                <a:latin typeface="+mn-lt"/>
                <a:ea typeface="+mn-ea"/>
                <a:cs typeface="+mn-cs"/>
              </a:rPr>
              <a:t>Nat Rev Gastroenterol </a:t>
            </a:r>
            <a:r>
              <a:rPr lang="en-US" sz="1200" i="1" kern="1200" dirty="0" err="1">
                <a:solidFill>
                  <a:schemeClr val="tx1"/>
                </a:solidFill>
                <a:effectLst/>
                <a:latin typeface="+mn-lt"/>
                <a:ea typeface="+mn-ea"/>
                <a:cs typeface="+mn-cs"/>
              </a:rPr>
              <a:t>Hepatol</a:t>
            </a:r>
            <a:r>
              <a:rPr lang="en-US" sz="1200" kern="1200" dirty="0">
                <a:solidFill>
                  <a:schemeClr val="tx1"/>
                </a:solidFill>
                <a:effectLst/>
                <a:latin typeface="+mn-lt"/>
                <a:ea typeface="+mn-ea"/>
                <a:cs typeface="+mn-cs"/>
              </a:rPr>
              <a:t> 10: 473–486. Reprinted by permission from Springer Nature.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/10.1038/nrgastro.2013.105)</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7738677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21453868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d</a:t>
            </a:r>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11547034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0" r:id="rId1"/>
    <p:sldLayoutId id="2147483679" r:id="rId2"/>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pPr>
              <a:lnSpc>
                <a:spcPct val="100000"/>
              </a:lnSpc>
            </a:pPr>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541780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Chapter 6</a:t>
            </a:r>
            <a:br>
              <a:rPr lang="en-US" dirty="0"/>
            </a:br>
            <a:r>
              <a:rPr lang="en-US" sz="4000" i="1" dirty="0"/>
              <a:t>Serotonin</a:t>
            </a:r>
            <a:endParaRPr lang="en-US" i="1" dirty="0"/>
          </a:p>
        </p:txBody>
      </p:sp>
      <p:sp>
        <p:nvSpPr>
          <p:cNvPr id="3" name="Text Placeholder 2"/>
          <p:cNvSpPr>
            <a:spLocks noGrp="1"/>
          </p:cNvSpPr>
          <p:nvPr>
            <p:ph idx="1"/>
          </p:nvPr>
        </p:nvSpPr>
        <p:spPr/>
        <p:txBody>
          <a:bodyPr/>
          <a:lstStyle/>
          <a:p>
            <a:pPr marL="914400" indent="-914400">
              <a:lnSpc>
                <a:spcPct val="100000"/>
              </a:lnSpc>
              <a:spcBef>
                <a:spcPts val="1800"/>
              </a:spcBef>
              <a:buNone/>
            </a:pPr>
            <a:r>
              <a:rPr lang="en-US" dirty="0"/>
              <a:t>6.1  Serotonin Synthesis, Release, and Inactivation</a:t>
            </a:r>
          </a:p>
          <a:p>
            <a:pPr marL="914400" indent="-914400">
              <a:lnSpc>
                <a:spcPct val="100000"/>
              </a:lnSpc>
              <a:spcBef>
                <a:spcPts val="1800"/>
              </a:spcBef>
              <a:buNone/>
            </a:pPr>
            <a:r>
              <a:rPr lang="en-US" dirty="0"/>
              <a:t>6.2  Basic Features of the Serotonergic System: Anatomical Organization, Cell Firing, and Receptor Families</a:t>
            </a:r>
          </a:p>
          <a:p>
            <a:pPr marL="914400" indent="-914400">
              <a:lnSpc>
                <a:spcPct val="100000"/>
              </a:lnSpc>
              <a:spcBef>
                <a:spcPts val="1800"/>
              </a:spcBef>
              <a:buNone/>
            </a:pPr>
            <a:r>
              <a:rPr lang="en-US" dirty="0"/>
              <a:t>6.3  Behavioral and Physiological Functions of Serotonin</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Chapter 6</a:t>
            </a:r>
            <a:br>
              <a:rPr lang="en-US" dirty="0"/>
            </a:br>
            <a:r>
              <a:rPr lang="en-US" sz="4000" dirty="0"/>
              <a:t>Learning Objectives </a:t>
            </a:r>
            <a:r>
              <a:rPr lang="en-US" sz="1300" dirty="0"/>
              <a:t>(1 of 3)</a:t>
            </a:r>
          </a:p>
        </p:txBody>
      </p:sp>
      <p:sp>
        <p:nvSpPr>
          <p:cNvPr id="3" name="Text Placeholder 2"/>
          <p:cNvSpPr>
            <a:spLocks noGrp="1"/>
          </p:cNvSpPr>
          <p:nvPr>
            <p:ph idx="1"/>
          </p:nvPr>
        </p:nvSpPr>
        <p:spPr>
          <a:xfrm>
            <a:off x="609600" y="1665513"/>
            <a:ext cx="10972800" cy="4863419"/>
          </a:xfrm>
        </p:spPr>
        <p:txBody>
          <a:bodyPr>
            <a:normAutofit fontScale="62500" lnSpcReduction="20000"/>
          </a:bodyPr>
          <a:lstStyle/>
          <a:p>
            <a:pPr marL="914400" indent="-914400">
              <a:lnSpc>
                <a:spcPct val="120000"/>
              </a:lnSpc>
              <a:spcBef>
                <a:spcPts val="1200"/>
              </a:spcBef>
              <a:buNone/>
            </a:pPr>
            <a:r>
              <a:rPr lang="en-US" dirty="0"/>
              <a:t>6.1.1  (a) List the biochemical steps involved in the synthesis of 5-HT, (b) name the major metabolite of 5-HT, and (c) explain the mechanisms whereby changes in tryptophan availability, either through diet or by other manipulations, alter 5-HT synthesis.</a:t>
            </a:r>
          </a:p>
          <a:p>
            <a:pPr marL="914400" indent="-914400">
              <a:lnSpc>
                <a:spcPct val="120000"/>
              </a:lnSpc>
              <a:spcBef>
                <a:spcPts val="1200"/>
              </a:spcBef>
              <a:buNone/>
            </a:pPr>
            <a:r>
              <a:rPr lang="en-US" dirty="0"/>
              <a:t>6.1.2  Discuss the effects on cognition, mood, and sleep of either elevating or depleting tryptophan levels in humans.</a:t>
            </a:r>
          </a:p>
          <a:p>
            <a:pPr marL="914400" indent="-914400">
              <a:lnSpc>
                <a:spcPct val="120000"/>
              </a:lnSpc>
              <a:spcBef>
                <a:spcPts val="1200"/>
              </a:spcBef>
              <a:buNone/>
            </a:pPr>
            <a:r>
              <a:rPr lang="en-US" dirty="0"/>
              <a:t>6.1.3  Describe the main features of a serotonergic neuron, including (a) the enzymes required for 5-HT synthesis and metabolism, (b) the proteins that transport 5-HT either from the cytoplasm into synaptic vesicles or from the extracellular fluid into the serotonergic neuron (i.e., reuptake), and (c) the </a:t>
            </a:r>
            <a:r>
              <a:rPr lang="en-US" dirty="0" err="1"/>
              <a:t>autoreceptors</a:t>
            </a:r>
            <a:r>
              <a:rPr lang="en-US" dirty="0"/>
              <a:t> that regulate serotonergic cell firing and 5-HT release at the nerve terminals.</a:t>
            </a:r>
          </a:p>
          <a:p>
            <a:pPr marL="914400" indent="-914400">
              <a:lnSpc>
                <a:spcPct val="120000"/>
              </a:lnSpc>
              <a:spcBef>
                <a:spcPts val="1200"/>
              </a:spcBef>
              <a:buNone/>
            </a:pPr>
            <a:r>
              <a:rPr lang="en-US" dirty="0"/>
              <a:t>6.1.4  Discuss the current state of knowledge regarding ecstasy/MDMA, including (a) its primary mechanism of action, (b) its subjective and behavioral effects at typical recreational doses, (c) the toxic effects of MDMA overdose, (d) evidence for serotonergic neurotoxicity in both humans and experimental animals after high doses and/or chronic use, and (e) recent clinical use of MDMA-assisted psychotherapy for chronic PTSD.</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kumimoji="0" lang="en-US" sz="3600" b="0" i="0" u="none" strike="noStrike" kern="1200" cap="none" spc="0" normalizeH="0" baseline="0" noProof="0" dirty="0">
                <a:ln>
                  <a:noFill/>
                </a:ln>
                <a:solidFill>
                  <a:srgbClr val="1F497D"/>
                </a:solidFill>
                <a:effectLst/>
                <a:uLnTx/>
                <a:uFillTx/>
                <a:latin typeface="Calibri"/>
                <a:ea typeface="+mj-ea"/>
                <a:cs typeface="+mj-cs"/>
              </a:rPr>
              <a:t>Chapter 6</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92500" lnSpcReduction="20000"/>
          </a:bodyPr>
          <a:lstStyle/>
          <a:p>
            <a:pPr marL="914400" indent="-914400">
              <a:lnSpc>
                <a:spcPct val="110000"/>
              </a:lnSpc>
              <a:spcBef>
                <a:spcPts val="1200"/>
              </a:spcBef>
              <a:buNone/>
            </a:pPr>
            <a:r>
              <a:rPr lang="en-US" dirty="0"/>
              <a:t>6.2.1  Name the two brainstem nuclei that give rise to forebrain serotonergic projections.</a:t>
            </a:r>
          </a:p>
          <a:p>
            <a:pPr marL="914400" indent="-914400">
              <a:lnSpc>
                <a:spcPct val="110000"/>
              </a:lnSpc>
              <a:spcBef>
                <a:spcPts val="1200"/>
              </a:spcBef>
              <a:buNone/>
            </a:pPr>
            <a:r>
              <a:rPr lang="en-US" dirty="0"/>
              <a:t>6.2.2  (a) Describe how serotonergic cell firing varies according to behavioral state, and (b) discuss the evidence for a role for serotonergic neuronal activity in the control of sleep and waking/arousal.</a:t>
            </a:r>
          </a:p>
          <a:p>
            <a:pPr marL="914400" indent="-914400">
              <a:lnSpc>
                <a:spcPct val="110000"/>
              </a:lnSpc>
              <a:spcBef>
                <a:spcPts val="1200"/>
              </a:spcBef>
              <a:buNone/>
            </a:pPr>
            <a:r>
              <a:rPr lang="en-US" dirty="0"/>
              <a:t>6.2.3  (a) List all of the serotonergic receptor subtypes, (b) describe the signaling mechanisms of 5-HT1A and 5-HT2A receptors, and (c) list several agonists and antagonists at these receptor subtypes.</a:t>
            </a:r>
          </a:p>
          <a:p>
            <a:pPr marL="914400" indent="-914400">
              <a:lnSpc>
                <a:spcPct val="110000"/>
              </a:lnSpc>
              <a:spcBef>
                <a:spcPts val="1200"/>
              </a:spcBef>
              <a:buNone/>
            </a:pPr>
            <a:r>
              <a:rPr lang="en-US" dirty="0"/>
              <a:t>6.2.4  Discuss the therapeutic applications of drugs that act on the 5-HT1B/1D, 5-HT1F, and 5-HT3 subtypes and the mechanisms responsible for the therapeutic benefit in each case.</a:t>
            </a:r>
          </a:p>
        </p:txBody>
      </p:sp>
    </p:spTree>
    <p:extLst>
      <p:ext uri="{BB962C8B-B14F-4D97-AF65-F5344CB8AC3E}">
        <p14:creationId xmlns:p14="http://schemas.microsoft.com/office/powerpoint/2010/main" val="366211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kumimoji="0" lang="en-US" sz="3600" b="0" i="0" u="none" strike="noStrike" kern="1200" cap="none" spc="0" normalizeH="0" baseline="0" noProof="0" dirty="0">
                <a:ln>
                  <a:noFill/>
                </a:ln>
                <a:solidFill>
                  <a:srgbClr val="1F497D"/>
                </a:solidFill>
                <a:effectLst/>
                <a:uLnTx/>
                <a:uFillTx/>
                <a:latin typeface="Calibri"/>
                <a:ea typeface="+mj-ea"/>
                <a:cs typeface="+mj-cs"/>
              </a:rPr>
              <a:t>Chapter 6</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77500" lnSpcReduction="20000"/>
          </a:bodyPr>
          <a:lstStyle/>
          <a:p>
            <a:pPr marL="914400" indent="-914400">
              <a:lnSpc>
                <a:spcPct val="120000"/>
              </a:lnSpc>
              <a:spcBef>
                <a:spcPts val="1200"/>
              </a:spcBef>
              <a:buNone/>
            </a:pPr>
            <a:r>
              <a:rPr lang="en-US" dirty="0"/>
              <a:t>6.3.1 (a) Identify the various methodological approaches used to study serotonergic functioning in humans and in laboratory animals, and (b) describe the behavioral and physiological consequences of genetically manipulating animals so that they lack brain 5-HT throughout life.</a:t>
            </a:r>
          </a:p>
          <a:p>
            <a:pPr marL="914400" indent="-914400">
              <a:lnSpc>
                <a:spcPct val="120000"/>
              </a:lnSpc>
              <a:spcBef>
                <a:spcPts val="1200"/>
              </a:spcBef>
              <a:buNone/>
            </a:pPr>
            <a:r>
              <a:rPr lang="en-US" dirty="0"/>
              <a:t>6.3.2 Describe the role of 5-HT in anxiety, with an emphasis on the 5-HT1A receptor subtype.</a:t>
            </a:r>
          </a:p>
          <a:p>
            <a:pPr marL="914400" indent="-914400">
              <a:lnSpc>
                <a:spcPct val="120000"/>
              </a:lnSpc>
              <a:spcBef>
                <a:spcPts val="1200"/>
              </a:spcBef>
              <a:buNone/>
            </a:pPr>
            <a:r>
              <a:rPr lang="en-US" dirty="0"/>
              <a:t>6.3.3 Describe (a) the differences between reactive and proactive aggression in humans, (b) the neural circuitry that mediates reactive aggression, and (c) the serotonin deficiency hypothesis of aggression.</a:t>
            </a:r>
          </a:p>
          <a:p>
            <a:pPr marL="914400" indent="-914400">
              <a:lnSpc>
                <a:spcPct val="120000"/>
              </a:lnSpc>
              <a:spcBef>
                <a:spcPts val="1200"/>
              </a:spcBef>
              <a:buNone/>
            </a:pPr>
            <a:r>
              <a:rPr lang="en-US" dirty="0"/>
              <a:t>6.3.4 Explain how 5-HT is involved in the control of hunger and eating behavior, including both central (i.e., hypothalamic) and peripheral (i.e., gut) mechanisms.</a:t>
            </a:r>
          </a:p>
        </p:txBody>
      </p:sp>
    </p:spTree>
    <p:extLst>
      <p:ext uri="{BB962C8B-B14F-4D97-AF65-F5344CB8AC3E}">
        <p14:creationId xmlns:p14="http://schemas.microsoft.com/office/powerpoint/2010/main" val="3862321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(1 of 12)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10000"/>
              </a:lnSpc>
              <a:spcBef>
                <a:spcPts val="1200"/>
              </a:spcBef>
              <a:buNone/>
            </a:pPr>
            <a:r>
              <a:rPr lang="en-US" sz="3500" dirty="0"/>
              <a:t>Serotonin synthesis is regulated by enzymatic activity and precursor availability</a:t>
            </a:r>
          </a:p>
          <a:p>
            <a:pPr>
              <a:lnSpc>
                <a:spcPct val="110000"/>
              </a:lnSpc>
              <a:spcBef>
                <a:spcPts val="1200"/>
              </a:spcBef>
            </a:pPr>
            <a:r>
              <a:rPr lang="en-US" b="1" dirty="0"/>
              <a:t>Serotonin</a:t>
            </a:r>
            <a:r>
              <a:rPr lang="en-US" dirty="0"/>
              <a:t> (</a:t>
            </a:r>
            <a:r>
              <a:rPr lang="en-US" b="1" dirty="0"/>
              <a:t>5-hydroxytryptamine</a:t>
            </a:r>
            <a:r>
              <a:rPr lang="en-US" dirty="0"/>
              <a:t>, or </a:t>
            </a:r>
            <a:r>
              <a:rPr lang="en-US" b="1" dirty="0"/>
              <a:t>5-HT</a:t>
            </a:r>
            <a:r>
              <a:rPr lang="en-US" dirty="0"/>
              <a:t>) neurotransmitter used by </a:t>
            </a:r>
            <a:r>
              <a:rPr lang="en-US" b="1" dirty="0"/>
              <a:t>serotonergic neurons</a:t>
            </a:r>
          </a:p>
          <a:p>
            <a:pPr>
              <a:lnSpc>
                <a:spcPct val="110000"/>
              </a:lnSpc>
              <a:spcBef>
                <a:spcPts val="1800"/>
              </a:spcBef>
            </a:pPr>
            <a:r>
              <a:rPr lang="en-US" dirty="0"/>
              <a:t>Synthesized from </a:t>
            </a:r>
            <a:r>
              <a:rPr lang="en-US" b="1" dirty="0"/>
              <a:t>tryptophan</a:t>
            </a:r>
            <a:r>
              <a:rPr lang="en-US" dirty="0"/>
              <a:t> in two steps:</a:t>
            </a:r>
          </a:p>
          <a:p>
            <a:pPr marL="1428750" lvl="1" indent="-514350">
              <a:lnSpc>
                <a:spcPct val="110000"/>
              </a:lnSpc>
              <a:spcBef>
                <a:spcPts val="1800"/>
              </a:spcBef>
              <a:buFont typeface="+mj-lt"/>
              <a:buAutoNum type="arabicPeriod"/>
            </a:pPr>
            <a:r>
              <a:rPr lang="en-US" dirty="0"/>
              <a:t>Catalyzed by </a:t>
            </a:r>
            <a:r>
              <a:rPr lang="en-US" b="1" dirty="0"/>
              <a:t>tryptophan hydroxylase</a:t>
            </a:r>
            <a:r>
              <a:rPr lang="en-US" dirty="0"/>
              <a:t> (</a:t>
            </a:r>
            <a:r>
              <a:rPr lang="en-US" b="1" dirty="0"/>
              <a:t>TPH</a:t>
            </a:r>
            <a:r>
              <a:rPr lang="en-US" dirty="0"/>
              <a:t>), product: </a:t>
            </a:r>
            <a:r>
              <a:rPr lang="en-US" b="1" dirty="0"/>
              <a:t>5-hydroxy-tryptophan</a:t>
            </a:r>
            <a:r>
              <a:rPr lang="en-US" dirty="0"/>
              <a:t> (</a:t>
            </a:r>
            <a:r>
              <a:rPr lang="en-US" b="1" dirty="0"/>
              <a:t>5-HTP</a:t>
            </a:r>
            <a:r>
              <a:rPr lang="en-US" dirty="0"/>
              <a:t>) (rate-limiting step)</a:t>
            </a:r>
          </a:p>
          <a:p>
            <a:pPr marL="1428750" lvl="1" indent="-514350">
              <a:lnSpc>
                <a:spcPct val="110000"/>
              </a:lnSpc>
              <a:spcBef>
                <a:spcPts val="1800"/>
              </a:spcBef>
              <a:buFont typeface="+mj-lt"/>
              <a:buAutoNum type="arabicPeriod"/>
            </a:pPr>
            <a:r>
              <a:rPr lang="en-US" dirty="0"/>
              <a:t>Catalyzed by </a:t>
            </a:r>
            <a:r>
              <a:rPr lang="en-US" b="1" dirty="0"/>
              <a:t>aromatic amino acid decarboxylase</a:t>
            </a:r>
            <a:r>
              <a:rPr lang="en-US" dirty="0"/>
              <a:t> (</a:t>
            </a:r>
            <a:r>
              <a:rPr lang="en-US" b="1" dirty="0"/>
              <a:t>AADC</a:t>
            </a:r>
            <a:r>
              <a:rPr lang="en-US" dirty="0"/>
              <a:t>) to form 5-HT</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779E-3261-174A-A3E4-19DA8BB5FDC4}"/>
              </a:ext>
            </a:extLst>
          </p:cNvPr>
          <p:cNvSpPr>
            <a:spLocks noGrp="1"/>
          </p:cNvSpPr>
          <p:nvPr>
            <p:ph type="title"/>
          </p:nvPr>
        </p:nvSpPr>
        <p:spPr/>
        <p:txBody>
          <a:bodyPr/>
          <a:lstStyle/>
          <a:p>
            <a:r>
              <a:rPr lang="en-US" dirty="0"/>
              <a:t>FIGURE 6.1  Synthesis of serotonin </a:t>
            </a:r>
          </a:p>
        </p:txBody>
      </p:sp>
      <p:pic>
        <p:nvPicPr>
          <p:cNvPr id="6" name="Content Placeholder 5" descr="The biosynthetic pathway of Serotonin is depicted in this figure. L-Tryptophan is catalyzed in the presence of Tryptophan hydroxylase in the first stage, when oxygen is removed, yielding L-5-Hydroxytryptophan, also known as 5-HTP. The removal of carboxylic acid and addition of hydrogen results in 5-Hydroxytryptamine, also known as 5-HT or serotonin, in the second stage, which is catalyzed in the presence of Aromatic L-amino acid decarboxyl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451216" y="479425"/>
            <a:ext cx="3289568" cy="6300788"/>
          </a:xfrm>
        </p:spPr>
      </p:pic>
    </p:spTree>
    <p:extLst>
      <p:ext uri="{BB962C8B-B14F-4D97-AF65-F5344CB8AC3E}">
        <p14:creationId xmlns:p14="http://schemas.microsoft.com/office/powerpoint/2010/main" val="2949618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(2 of 12)</a:t>
            </a:r>
            <a:endParaRPr lang="en-US" dirty="0"/>
          </a:p>
        </p:txBody>
      </p:sp>
      <p:sp>
        <p:nvSpPr>
          <p:cNvPr id="3" name="Text Placeholder 2"/>
          <p:cNvSpPr>
            <a:spLocks noGrp="1"/>
          </p:cNvSpPr>
          <p:nvPr>
            <p:ph idx="1"/>
          </p:nvPr>
        </p:nvSpPr>
        <p:spPr/>
        <p:txBody>
          <a:bodyPr>
            <a:normAutofit fontScale="85000" lnSpcReduction="20000"/>
          </a:bodyPr>
          <a:lstStyle/>
          <a:p>
            <a:pPr marL="457200" indent="-457200">
              <a:lnSpc>
                <a:spcPct val="110000"/>
              </a:lnSpc>
              <a:spcBef>
                <a:spcPts val="1200"/>
              </a:spcBef>
              <a:buNone/>
            </a:pPr>
            <a:r>
              <a:rPr lang="en-US" sz="3800" dirty="0"/>
              <a:t>Serotonin synthesis is regulated by enzymatic activity and precursor availability</a:t>
            </a:r>
          </a:p>
          <a:p>
            <a:pPr>
              <a:lnSpc>
                <a:spcPct val="110000"/>
              </a:lnSpc>
              <a:spcBef>
                <a:spcPts val="1800"/>
              </a:spcBef>
            </a:pPr>
            <a:r>
              <a:rPr lang="en-US" dirty="0"/>
              <a:t>Two forms of TPH: </a:t>
            </a:r>
          </a:p>
          <a:p>
            <a:pPr lvl="1">
              <a:lnSpc>
                <a:spcPct val="110000"/>
              </a:lnSpc>
            </a:pPr>
            <a:r>
              <a:rPr lang="en-US" dirty="0"/>
              <a:t>TPH2: only in serotonergic neurons</a:t>
            </a:r>
          </a:p>
          <a:p>
            <a:pPr lvl="1">
              <a:lnSpc>
                <a:spcPct val="110000"/>
              </a:lnSpc>
            </a:pPr>
            <a:r>
              <a:rPr lang="en-US" dirty="0"/>
              <a:t>TPH1: in </a:t>
            </a:r>
            <a:r>
              <a:rPr lang="en-US" dirty="0" err="1"/>
              <a:t>nonnerounal</a:t>
            </a:r>
            <a:r>
              <a:rPr lang="en-US" dirty="0"/>
              <a:t> cells in the gut and pineal gland</a:t>
            </a:r>
          </a:p>
          <a:p>
            <a:pPr>
              <a:lnSpc>
                <a:spcPct val="110000"/>
              </a:lnSpc>
              <a:spcBef>
                <a:spcPts val="1800"/>
              </a:spcBef>
            </a:pPr>
            <a:r>
              <a:rPr lang="en-US" dirty="0"/>
              <a:t>Neuroendocrine tumors in the gut secrete 5-HT; elevated blood levels cause </a:t>
            </a:r>
            <a:r>
              <a:rPr lang="en-US" b="1" dirty="0"/>
              <a:t>carcinoid syndrome</a:t>
            </a:r>
          </a:p>
          <a:p>
            <a:pPr>
              <a:lnSpc>
                <a:spcPct val="110000"/>
              </a:lnSpc>
              <a:spcBef>
                <a:spcPts val="1800"/>
              </a:spcBef>
            </a:pPr>
            <a:r>
              <a:rPr lang="en-US" b="0" i="0" u="none" strike="noStrike" baseline="0" dirty="0"/>
              <a:t>Can be treated with </a:t>
            </a:r>
            <a:r>
              <a:rPr lang="en-US" b="1" i="0" u="none" strike="noStrike" baseline="0" dirty="0" err="1"/>
              <a:t>telotristat</a:t>
            </a:r>
            <a:r>
              <a:rPr lang="en-US" b="0" i="0" u="none" strike="noStrike" baseline="0" dirty="0"/>
              <a:t>, a nonselective TPH inhibitor; does not cross blood–brain barrier, only blocks peripherally expressed TPH1.</a:t>
            </a:r>
            <a:endParaRPr lang="en-US" dirty="0"/>
          </a:p>
        </p:txBody>
      </p:sp>
    </p:spTree>
    <p:extLst>
      <p:ext uri="{BB962C8B-B14F-4D97-AF65-F5344CB8AC3E}">
        <p14:creationId xmlns:p14="http://schemas.microsoft.com/office/powerpoint/2010/main" val="496542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(3 of 12)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20000"/>
              </a:lnSpc>
              <a:spcBef>
                <a:spcPts val="1200"/>
              </a:spcBef>
              <a:buNone/>
            </a:pPr>
            <a:r>
              <a:rPr lang="en-US" sz="3500" dirty="0"/>
              <a:t>Serotonin synthesis is regulated by enzymatic activity and precursor availability</a:t>
            </a:r>
          </a:p>
          <a:p>
            <a:pPr>
              <a:lnSpc>
                <a:spcPct val="110000"/>
              </a:lnSpc>
              <a:defRPr/>
            </a:pPr>
            <a:r>
              <a:rPr lang="en-US" dirty="0"/>
              <a:t>Serotonin synthesis can be stimulated by tryptophan or 5-HTP.</a:t>
            </a:r>
          </a:p>
          <a:p>
            <a:pPr>
              <a:lnSpc>
                <a:spcPct val="110000"/>
              </a:lnSpc>
              <a:defRPr/>
            </a:pPr>
            <a:r>
              <a:rPr lang="en-US" dirty="0"/>
              <a:t>Tryptophan from diet: </a:t>
            </a:r>
            <a:r>
              <a:rPr lang="en-US" i="1" dirty="0"/>
              <a:t>ratio</a:t>
            </a:r>
            <a:r>
              <a:rPr lang="en-US" dirty="0"/>
              <a:t> of tryptophan to other amino acid competitors for transport across blood–brain barrier determines whether serotonin synthesis is stimulated or not.</a:t>
            </a:r>
          </a:p>
          <a:p>
            <a:pPr>
              <a:lnSpc>
                <a:spcPct val="110000"/>
              </a:lnSpc>
              <a:defRPr/>
            </a:pPr>
            <a:r>
              <a:rPr lang="en-US" altLang="en-US" dirty="0">
                <a:ea typeface="Geneva" pitchFamily="121" charset="-128"/>
              </a:rPr>
              <a:t>Insulin stimulates uptake of amino acids, except tryptophan. A low-protein, high-carbohydrate meal will increase ratio of tryptophan to competing large neutral amino acids (LNAA) </a:t>
            </a:r>
            <a:endParaRPr lang="en-US" dirty="0"/>
          </a:p>
        </p:txBody>
      </p:sp>
    </p:spTree>
    <p:extLst>
      <p:ext uri="{BB962C8B-B14F-4D97-AF65-F5344CB8AC3E}">
        <p14:creationId xmlns:p14="http://schemas.microsoft.com/office/powerpoint/2010/main" val="4164321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9FFF-A0A3-EB42-96F2-BE8E800338BC}"/>
              </a:ext>
            </a:extLst>
          </p:cNvPr>
          <p:cNvSpPr>
            <a:spLocks noGrp="1"/>
          </p:cNvSpPr>
          <p:nvPr>
            <p:ph type="title"/>
          </p:nvPr>
        </p:nvSpPr>
        <p:spPr/>
        <p:txBody>
          <a:bodyPr/>
          <a:lstStyle/>
          <a:p>
            <a:r>
              <a:rPr lang="en-US" dirty="0"/>
              <a:t>FIGURE 6.2  Tryptophan entry into the brain and 5-HT synthesis </a:t>
            </a:r>
          </a:p>
        </p:txBody>
      </p:sp>
      <p:pic>
        <p:nvPicPr>
          <p:cNvPr id="6" name="Content Placeholder 5" descr="The transfer of tryptophan to the brain is depicted in this illustration. The L-Tryptophan and the large neutral amino acids from the blood vessels compete to enter the brain through the blood-brain barrier. The transported tryptophan is metabolized to 5-HTP and 5-HT in the brai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135389" y="479425"/>
            <a:ext cx="5921222" cy="6300788"/>
          </a:xfrm>
        </p:spPr>
      </p:pic>
    </p:spTree>
    <p:extLst>
      <p:ext uri="{BB962C8B-B14F-4D97-AF65-F5344CB8AC3E}">
        <p14:creationId xmlns:p14="http://schemas.microsoft.com/office/powerpoint/2010/main" val="814485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(4 of 12)</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Serotonin synthesis is regulated by enzymatic activity and precursor availability</a:t>
            </a:r>
          </a:p>
          <a:p>
            <a:pPr>
              <a:lnSpc>
                <a:spcPct val="100000"/>
              </a:lnSpc>
              <a:spcBef>
                <a:spcPts val="1200"/>
              </a:spcBef>
            </a:pPr>
            <a:r>
              <a:rPr lang="en-US" dirty="0"/>
              <a:t>Depleting 5-HT to assess its role in behavior:</a:t>
            </a:r>
          </a:p>
          <a:p>
            <a:pPr>
              <a:lnSpc>
                <a:spcPct val="100000"/>
              </a:lnSpc>
              <a:spcBef>
                <a:spcPts val="1800"/>
              </a:spcBef>
            </a:pPr>
            <a:r>
              <a:rPr lang="en-US" b="1" dirty="0"/>
              <a:t>Para-</a:t>
            </a:r>
            <a:r>
              <a:rPr lang="en-US" b="1" dirty="0" err="1"/>
              <a:t>chlorophenylalanine</a:t>
            </a:r>
            <a:r>
              <a:rPr lang="en-US" dirty="0"/>
              <a:t> (</a:t>
            </a:r>
            <a:r>
              <a:rPr lang="en-US" b="1" dirty="0"/>
              <a:t>PCPA</a:t>
            </a:r>
            <a:r>
              <a:rPr lang="en-US" dirty="0"/>
              <a:t>) selectively blocks 5-HT synthesis by irreversibly inhibiting TPH</a:t>
            </a:r>
          </a:p>
          <a:p>
            <a:pPr>
              <a:lnSpc>
                <a:spcPct val="100000"/>
              </a:lnSpc>
              <a:spcBef>
                <a:spcPts val="1800"/>
              </a:spcBef>
            </a:pPr>
            <a:r>
              <a:rPr lang="en-US" b="1" dirty="0"/>
              <a:t>Acute tryptophan depletion </a:t>
            </a:r>
            <a:r>
              <a:rPr lang="en-US" dirty="0"/>
              <a:t>(</a:t>
            </a:r>
            <a:r>
              <a:rPr lang="en-US" b="1" dirty="0"/>
              <a:t>ATD</a:t>
            </a:r>
            <a:r>
              <a:rPr lang="en-US" dirty="0"/>
              <a:t>) large doses of amino acids minus tryptophan</a:t>
            </a:r>
          </a:p>
        </p:txBody>
      </p:sp>
    </p:spTree>
    <p:extLst>
      <p:ext uri="{BB962C8B-B14F-4D97-AF65-F5344CB8AC3E}">
        <p14:creationId xmlns:p14="http://schemas.microsoft.com/office/powerpoint/2010/main" val="47596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(5 of 12)</a:t>
            </a:r>
            <a:endParaRPr lang="en-US" dirty="0"/>
          </a:p>
        </p:txBody>
      </p:sp>
      <p:sp>
        <p:nvSpPr>
          <p:cNvPr id="3" name="Text Placeholder 2"/>
          <p:cNvSpPr>
            <a:spLocks noGrp="1"/>
          </p:cNvSpPr>
          <p:nvPr>
            <p:ph idx="1"/>
          </p:nvPr>
        </p:nvSpPr>
        <p:spPr/>
        <p:txBody>
          <a:bodyPr>
            <a:normAutofit fontScale="92500"/>
          </a:bodyPr>
          <a:lstStyle/>
          <a:p>
            <a:pPr marL="457200" indent="-457200">
              <a:lnSpc>
                <a:spcPct val="100000"/>
              </a:lnSpc>
              <a:spcBef>
                <a:spcPts val="1200"/>
              </a:spcBef>
              <a:buNone/>
            </a:pPr>
            <a:r>
              <a:rPr lang="en-US" sz="3500" dirty="0"/>
              <a:t>Serotonin synthesis is regulated by enzymatic activity and precursor availability</a:t>
            </a:r>
          </a:p>
          <a:p>
            <a:pPr>
              <a:lnSpc>
                <a:spcPct val="100000"/>
              </a:lnSpc>
              <a:spcBef>
                <a:spcPts val="1200"/>
              </a:spcBef>
            </a:pPr>
            <a:r>
              <a:rPr lang="en-US" dirty="0"/>
              <a:t>Elevating tryptophan availability has been shown to enhance cognitive functions such as memory or attention, elevate mood, and improve sleep</a:t>
            </a:r>
          </a:p>
          <a:p>
            <a:pPr>
              <a:lnSpc>
                <a:spcPct val="100000"/>
              </a:lnSpc>
              <a:spcBef>
                <a:spcPts val="1800"/>
              </a:spcBef>
            </a:pPr>
            <a:r>
              <a:rPr lang="en-US" b="1" dirty="0"/>
              <a:t>Tryptophan loading</a:t>
            </a:r>
            <a:r>
              <a:rPr lang="en-US" dirty="0"/>
              <a:t>: administration of pure tryptophan</a:t>
            </a:r>
          </a:p>
          <a:p>
            <a:pPr>
              <a:lnSpc>
                <a:spcPct val="100000"/>
              </a:lnSpc>
              <a:spcBef>
                <a:spcPts val="1800"/>
              </a:spcBef>
            </a:pPr>
            <a:r>
              <a:rPr lang="en-US" dirty="0"/>
              <a:t>Dietary: </a:t>
            </a:r>
          </a:p>
          <a:p>
            <a:pPr lvl="1">
              <a:lnSpc>
                <a:spcPct val="100000"/>
              </a:lnSpc>
              <a:spcBef>
                <a:spcPts val="1800"/>
              </a:spcBef>
            </a:pPr>
            <a:r>
              <a:rPr lang="en-US" dirty="0"/>
              <a:t>Supplemented with α-lactalbumin or other high-tryptophan proteins</a:t>
            </a:r>
          </a:p>
          <a:p>
            <a:pPr lvl="1">
              <a:lnSpc>
                <a:spcPct val="100000"/>
              </a:lnSpc>
              <a:spcBef>
                <a:spcPts val="1800"/>
              </a:spcBef>
            </a:pPr>
            <a:r>
              <a:rPr lang="en-US" dirty="0"/>
              <a:t>Consumption of a diet rich in carbohydrates but low in protein.</a:t>
            </a:r>
          </a:p>
        </p:txBody>
      </p:sp>
    </p:spTree>
    <p:extLst>
      <p:ext uri="{BB962C8B-B14F-4D97-AF65-F5344CB8AC3E}">
        <p14:creationId xmlns:p14="http://schemas.microsoft.com/office/powerpoint/2010/main" val="1608775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(6 of 12)</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Serotonin synthesis is regulated by enzymatic activity and precursor availability</a:t>
            </a:r>
          </a:p>
          <a:p>
            <a:pPr>
              <a:lnSpc>
                <a:spcPct val="100000"/>
              </a:lnSpc>
            </a:pPr>
            <a:r>
              <a:rPr lang="en-US" dirty="0"/>
              <a:t>Reducing brain 5-HT using the ATD method seems to impair memory consolidation of verbal information but has little or no influence on working memory or attention.</a:t>
            </a:r>
          </a:p>
          <a:p>
            <a:pPr>
              <a:lnSpc>
                <a:spcPct val="100000"/>
              </a:lnSpc>
            </a:pPr>
            <a:r>
              <a:rPr lang="en-US" dirty="0"/>
              <a:t>ATD also induced a negative cognitive bias, and reduced sleep duration and quality.</a:t>
            </a:r>
          </a:p>
        </p:txBody>
      </p:sp>
    </p:spTree>
    <p:extLst>
      <p:ext uri="{BB962C8B-B14F-4D97-AF65-F5344CB8AC3E}">
        <p14:creationId xmlns:p14="http://schemas.microsoft.com/office/powerpoint/2010/main" val="1591629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(7 of 12)</a:t>
            </a:r>
            <a:endParaRPr lang="en-US" dirty="0"/>
          </a:p>
        </p:txBody>
      </p:sp>
      <p:sp>
        <p:nvSpPr>
          <p:cNvPr id="3" name="Text Placeholder 2"/>
          <p:cNvSpPr>
            <a:spLocks noGrp="1"/>
          </p:cNvSpPr>
          <p:nvPr>
            <p:ph idx="1"/>
          </p:nvPr>
        </p:nvSpPr>
        <p:spPr/>
        <p:txBody>
          <a:bodyPr>
            <a:normAutofit/>
          </a:bodyPr>
          <a:lstStyle/>
          <a:p>
            <a:pPr marL="457200" indent="-457200">
              <a:lnSpc>
                <a:spcPct val="100000"/>
              </a:lnSpc>
              <a:spcBef>
                <a:spcPts val="1200"/>
              </a:spcBef>
              <a:buNone/>
            </a:pPr>
            <a:r>
              <a:rPr lang="en-US" sz="3200" dirty="0"/>
              <a:t>Serotonin synthesis is regulated by enzymatic activity and precursor availability</a:t>
            </a:r>
          </a:p>
          <a:p>
            <a:pPr>
              <a:lnSpc>
                <a:spcPct val="100000"/>
              </a:lnSpc>
              <a:spcBef>
                <a:spcPts val="1200"/>
              </a:spcBef>
            </a:pPr>
            <a:r>
              <a:rPr lang="en-US" dirty="0"/>
              <a:t>95% of ingested tryptophan is metabolized to </a:t>
            </a:r>
            <a:r>
              <a:rPr lang="en-US" b="1" dirty="0"/>
              <a:t>kynurenine </a:t>
            </a:r>
            <a:r>
              <a:rPr lang="en-US" dirty="0"/>
              <a:t>rather than 5-HT.</a:t>
            </a:r>
          </a:p>
          <a:p>
            <a:pPr>
              <a:lnSpc>
                <a:spcPct val="100000"/>
              </a:lnSpc>
              <a:spcBef>
                <a:spcPts val="1200"/>
              </a:spcBef>
            </a:pPr>
            <a:r>
              <a:rPr lang="en-US" dirty="0"/>
              <a:t>Kynurenine is further metabolized in the kynurenine pathway; stress and inflammation can stimulate enzymes involved.</a:t>
            </a:r>
          </a:p>
          <a:p>
            <a:pPr>
              <a:lnSpc>
                <a:spcPct val="100000"/>
              </a:lnSpc>
              <a:spcBef>
                <a:spcPts val="1200"/>
              </a:spcBef>
            </a:pPr>
            <a:r>
              <a:rPr lang="en-US" dirty="0"/>
              <a:t>Kynurenine metabolites have been implicated in several psychiatric disorders and neurodegenerative diseases.</a:t>
            </a:r>
          </a:p>
        </p:txBody>
      </p:sp>
    </p:spTree>
    <p:extLst>
      <p:ext uri="{BB962C8B-B14F-4D97-AF65-F5344CB8AC3E}">
        <p14:creationId xmlns:p14="http://schemas.microsoft.com/office/powerpoint/2010/main" val="200498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(8 of 12)</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Similar processes regulate storage, release, and inactivation of serotonin and the catecholamines</a:t>
            </a:r>
          </a:p>
          <a:p>
            <a:pPr>
              <a:lnSpc>
                <a:spcPct val="100000"/>
              </a:lnSpc>
              <a:spcBef>
                <a:spcPts val="1200"/>
              </a:spcBef>
            </a:pPr>
            <a:r>
              <a:rPr lang="en-US" dirty="0"/>
              <a:t>5-HT is transported into synaptic vesicles by vesicular monoamine transporter 2 (VMAT2).</a:t>
            </a:r>
          </a:p>
          <a:p>
            <a:pPr>
              <a:lnSpc>
                <a:spcPct val="100000"/>
              </a:lnSpc>
              <a:spcBef>
                <a:spcPts val="1200"/>
              </a:spcBef>
            </a:pPr>
            <a:r>
              <a:rPr lang="en-US" dirty="0"/>
              <a:t>Reserpine (VMAT blocker) depletes 5-HT, which is broken down when not protected in vesicles.</a:t>
            </a:r>
          </a:p>
          <a:p>
            <a:pPr>
              <a:lnSpc>
                <a:spcPct val="100000"/>
              </a:lnSpc>
              <a:spcBef>
                <a:spcPts val="1200"/>
              </a:spcBef>
            </a:pPr>
            <a:r>
              <a:rPr lang="en-US" dirty="0"/>
              <a:t>Terminal </a:t>
            </a:r>
            <a:r>
              <a:rPr lang="en-US" dirty="0" err="1"/>
              <a:t>autoreceptors</a:t>
            </a:r>
            <a:r>
              <a:rPr lang="en-US" dirty="0"/>
              <a:t> directly inhibit 5-HT release, </a:t>
            </a:r>
            <a:r>
              <a:rPr lang="en-US" dirty="0" err="1"/>
              <a:t>somato</a:t>
            </a:r>
            <a:r>
              <a:rPr lang="en-US" dirty="0"/>
              <a:t>-dendritic </a:t>
            </a:r>
            <a:r>
              <a:rPr lang="en-US" dirty="0" err="1"/>
              <a:t>autoreceptors</a:t>
            </a:r>
            <a:r>
              <a:rPr lang="en-US" dirty="0"/>
              <a:t> inhibit release by slowing the rate of nerve firing.</a:t>
            </a:r>
          </a:p>
        </p:txBody>
      </p:sp>
    </p:spTree>
    <p:extLst>
      <p:ext uri="{BB962C8B-B14F-4D97-AF65-F5344CB8AC3E}">
        <p14:creationId xmlns:p14="http://schemas.microsoft.com/office/powerpoint/2010/main" val="80493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8D24-A4D9-BD4E-9B10-3DD59F380D7C}"/>
              </a:ext>
            </a:extLst>
          </p:cNvPr>
          <p:cNvSpPr>
            <a:spLocks noGrp="1"/>
          </p:cNvSpPr>
          <p:nvPr>
            <p:ph type="title"/>
          </p:nvPr>
        </p:nvSpPr>
        <p:spPr/>
        <p:txBody>
          <a:bodyPr/>
          <a:lstStyle/>
          <a:p>
            <a:r>
              <a:rPr lang="en-US" dirty="0"/>
              <a:t>FIGURE 6.4  Features of a serotonergic neuron </a:t>
            </a:r>
          </a:p>
        </p:txBody>
      </p:sp>
      <p:pic>
        <p:nvPicPr>
          <p:cNvPr id="6" name="Content Placeholder 5" descr="The transport of tryptophan from the presynaptic terminal to the postsynaptic cell is illustrated. In the presence of tryptophan hydroxylase, tryptophan is transformed into 5-HTP in the presynaptic terminal, which is then converted to 5-HT in the presence of AADC. The serotonin is then transported to the vesicles by the VMAT2 transporters. The serotonin from the vesicles is transferred to the postsynaptic cell by 5-HT transporters and received by the postsynaptic 5-HT receptor. The vesicles are injected with reserpine, and the SSRI is infused through the presynaptic 5-HT transporte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88672" y="479425"/>
            <a:ext cx="6414657" cy="6300788"/>
          </a:xfrm>
        </p:spPr>
      </p:pic>
    </p:spTree>
    <p:extLst>
      <p:ext uri="{BB962C8B-B14F-4D97-AF65-F5344CB8AC3E}">
        <p14:creationId xmlns:p14="http://schemas.microsoft.com/office/powerpoint/2010/main" val="3260700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(9 of 12)</a:t>
            </a:r>
            <a:endParaRPr lang="en-US" dirty="0"/>
          </a:p>
        </p:txBody>
      </p:sp>
      <p:sp>
        <p:nvSpPr>
          <p:cNvPr id="3" name="Text Placeholder 2"/>
          <p:cNvSpPr>
            <a:spLocks noGrp="1"/>
          </p:cNvSpPr>
          <p:nvPr>
            <p:ph idx="1"/>
          </p:nvPr>
        </p:nvSpPr>
        <p:spPr/>
        <p:txBody>
          <a:bodyPr>
            <a:normAutofit/>
          </a:bodyPr>
          <a:lstStyle/>
          <a:p>
            <a:pPr marL="457200" indent="-457200">
              <a:lnSpc>
                <a:spcPct val="100000"/>
              </a:lnSpc>
              <a:spcBef>
                <a:spcPts val="1200"/>
              </a:spcBef>
              <a:buNone/>
            </a:pPr>
            <a:r>
              <a:rPr lang="en-US" sz="3200" dirty="0"/>
              <a:t>Similar processes regulate storage, release, and inactivation of serotonin and the catecholamines</a:t>
            </a:r>
          </a:p>
          <a:p>
            <a:pPr>
              <a:lnSpc>
                <a:spcPct val="100000"/>
              </a:lnSpc>
              <a:spcBef>
                <a:spcPts val="1200"/>
              </a:spcBef>
            </a:pPr>
            <a:r>
              <a:rPr lang="en-US" dirty="0"/>
              <a:t>Release of 5-HT can be stimulated by drugs that are based on the structure of amphetamine: </a:t>
            </a:r>
            <a:r>
              <a:rPr lang="en-US" b="1" dirty="0"/>
              <a:t>para-</a:t>
            </a:r>
            <a:r>
              <a:rPr lang="en-US" b="1" dirty="0" err="1"/>
              <a:t>chloroamphetamine</a:t>
            </a:r>
            <a:r>
              <a:rPr lang="en-US" dirty="0"/>
              <a:t>, </a:t>
            </a:r>
            <a:r>
              <a:rPr lang="en-US" b="1" dirty="0"/>
              <a:t>fenfluramine</a:t>
            </a:r>
            <a:r>
              <a:rPr lang="en-US" dirty="0"/>
              <a:t>, and </a:t>
            </a:r>
            <a:r>
              <a:rPr lang="en-US" b="1" dirty="0"/>
              <a:t>MDMA </a:t>
            </a:r>
            <a:r>
              <a:rPr lang="en-US" dirty="0"/>
              <a:t>(street name </a:t>
            </a:r>
            <a:r>
              <a:rPr lang="en-US" b="1" dirty="0"/>
              <a:t>ecstasy</a:t>
            </a:r>
            <a:r>
              <a:rPr lang="en-US" dirty="0"/>
              <a:t>)</a:t>
            </a:r>
          </a:p>
          <a:p>
            <a:pPr>
              <a:lnSpc>
                <a:spcPct val="100000"/>
              </a:lnSpc>
              <a:spcBef>
                <a:spcPts val="1200"/>
              </a:spcBef>
            </a:pPr>
            <a:r>
              <a:rPr lang="en-US" dirty="0"/>
              <a:t>In the 1970s, MDMA was proposed as a potential adjunct to psychotherapy, but it quickly became a recreational drug.</a:t>
            </a:r>
          </a:p>
        </p:txBody>
      </p:sp>
    </p:spTree>
    <p:extLst>
      <p:ext uri="{BB962C8B-B14F-4D97-AF65-F5344CB8AC3E}">
        <p14:creationId xmlns:p14="http://schemas.microsoft.com/office/powerpoint/2010/main" val="3215348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Serotonin Synthesis, Release, and Inactivation </a:t>
            </a:r>
            <a:r>
              <a:rPr lang="en-US" sz="1200" dirty="0"/>
              <a:t>(10 of 12)</a:t>
            </a:r>
            <a:endParaRPr lang="en-US" dirty="0"/>
          </a:p>
        </p:txBody>
      </p:sp>
      <p:sp>
        <p:nvSpPr>
          <p:cNvPr id="3" name="Text Placeholder 2"/>
          <p:cNvSpPr>
            <a:spLocks noGrp="1"/>
          </p:cNvSpPr>
          <p:nvPr>
            <p:ph idx="1"/>
          </p:nvPr>
        </p:nvSpPr>
        <p:spPr/>
        <p:txBody>
          <a:bodyPr>
            <a:normAutofit fontScale="77500" lnSpcReduction="20000"/>
          </a:bodyPr>
          <a:lstStyle/>
          <a:p>
            <a:pPr marL="0" indent="0">
              <a:lnSpc>
                <a:spcPct val="110000"/>
              </a:lnSpc>
              <a:spcBef>
                <a:spcPts val="1800"/>
              </a:spcBef>
              <a:buNone/>
            </a:pPr>
            <a:r>
              <a:rPr lang="en-US" u="sng" dirty="0"/>
              <a:t>BOX 6.1  OF SPECIAL INTEREST</a:t>
            </a:r>
          </a:p>
          <a:p>
            <a:pPr marL="463550" indent="-463550">
              <a:lnSpc>
                <a:spcPct val="110000"/>
              </a:lnSpc>
              <a:buNone/>
            </a:pPr>
            <a:r>
              <a:rPr lang="en-US" sz="3800" i="1" dirty="0"/>
              <a:t>“Ecstasy”—Harmless Feel-Good Drug, Dangerous Neurotoxin, or Miracle Medication?</a:t>
            </a:r>
            <a:endParaRPr lang="en-GB" sz="3800" i="1" dirty="0"/>
          </a:p>
          <a:p>
            <a:pPr>
              <a:lnSpc>
                <a:spcPct val="110000"/>
              </a:lnSpc>
              <a:spcBef>
                <a:spcPts val="1800"/>
              </a:spcBef>
            </a:pPr>
            <a:r>
              <a:rPr lang="en-US" dirty="0"/>
              <a:t>MDMA effects: heightened arousal, euphoria, enhanced perceptual awareness, and prosocial effects (an entactogen)</a:t>
            </a:r>
          </a:p>
          <a:p>
            <a:pPr>
              <a:lnSpc>
                <a:spcPct val="110000"/>
              </a:lnSpc>
              <a:spcBef>
                <a:spcPts val="1800"/>
              </a:spcBef>
            </a:pPr>
            <a:r>
              <a:rPr lang="en-US" dirty="0"/>
              <a:t>Potential toxic effects: </a:t>
            </a:r>
            <a:r>
              <a:rPr lang="en-US" b="1" dirty="0"/>
              <a:t>serotonin syndrome</a:t>
            </a:r>
            <a:r>
              <a:rPr lang="en-US" dirty="0"/>
              <a:t>; can be life-threatening</a:t>
            </a:r>
          </a:p>
          <a:p>
            <a:pPr>
              <a:lnSpc>
                <a:spcPct val="110000"/>
              </a:lnSpc>
              <a:spcBef>
                <a:spcPts val="1800"/>
              </a:spcBef>
            </a:pPr>
            <a:r>
              <a:rPr lang="en-US" dirty="0"/>
              <a:t>High MDMA doses result in 5-HT depletion in experimental animals; heavy ecstasy use causes serotonergic deficits – determined by neuroimaging</a:t>
            </a:r>
          </a:p>
          <a:p>
            <a:pPr>
              <a:lnSpc>
                <a:spcPct val="110000"/>
              </a:lnSpc>
              <a:spcBef>
                <a:spcPts val="1800"/>
              </a:spcBef>
            </a:pPr>
            <a:r>
              <a:rPr lang="en-US" dirty="0"/>
              <a:t>Low controlled doses of MDMA have recently been shown to be beneficial as an adjunct to psychotherapy in chronic PTSD.</a:t>
            </a:r>
          </a:p>
        </p:txBody>
      </p:sp>
    </p:spTree>
    <p:extLst>
      <p:ext uri="{BB962C8B-B14F-4D97-AF65-F5344CB8AC3E}">
        <p14:creationId xmlns:p14="http://schemas.microsoft.com/office/powerpoint/2010/main" val="3563405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Serotonin Synthesis, Release, and Inactivation </a:t>
            </a:r>
            <a:r>
              <a:rPr lang="en-US" sz="1200" dirty="0"/>
              <a:t>(11 of 12)</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110000"/>
              </a:lnSpc>
              <a:spcBef>
                <a:spcPts val="1200"/>
              </a:spcBef>
              <a:buNone/>
            </a:pPr>
            <a:r>
              <a:rPr lang="en-US" sz="3500" dirty="0"/>
              <a:t>Similar processes regulate storage, release, and inactivation of serotonin and the catecholamines</a:t>
            </a:r>
          </a:p>
          <a:p>
            <a:pPr>
              <a:lnSpc>
                <a:spcPct val="110000"/>
              </a:lnSpc>
              <a:spcBef>
                <a:spcPts val="1200"/>
              </a:spcBef>
            </a:pPr>
            <a:r>
              <a:rPr lang="en-US" dirty="0"/>
              <a:t>Inactivation of 5-HT: reuptake by </a:t>
            </a:r>
            <a:r>
              <a:rPr lang="en-US" b="1" dirty="0"/>
              <a:t>5-HT transporter </a:t>
            </a:r>
            <a:r>
              <a:rPr lang="en-US" dirty="0"/>
              <a:t>(</a:t>
            </a:r>
            <a:r>
              <a:rPr lang="en-US" b="1" dirty="0"/>
              <a:t>SERT</a:t>
            </a:r>
            <a:r>
              <a:rPr lang="en-US" dirty="0"/>
              <a:t>)</a:t>
            </a:r>
          </a:p>
          <a:p>
            <a:pPr>
              <a:lnSpc>
                <a:spcPct val="110000"/>
              </a:lnSpc>
              <a:spcBef>
                <a:spcPts val="1200"/>
              </a:spcBef>
            </a:pPr>
            <a:r>
              <a:rPr lang="en-US" dirty="0"/>
              <a:t>Antidepressant drugs such as </a:t>
            </a:r>
            <a:r>
              <a:rPr lang="en-US" b="1" dirty="0"/>
              <a:t>fluoxetine</a:t>
            </a:r>
            <a:r>
              <a:rPr lang="en-US" dirty="0"/>
              <a:t> (</a:t>
            </a:r>
            <a:r>
              <a:rPr lang="en-US" b="1" dirty="0"/>
              <a:t>Prozac</a:t>
            </a:r>
            <a:r>
              <a:rPr lang="en-US" dirty="0"/>
              <a:t>) are </a:t>
            </a:r>
            <a:r>
              <a:rPr lang="en-US" b="1" dirty="0"/>
              <a:t>selective serotonin reuptake inhibitors</a:t>
            </a:r>
            <a:r>
              <a:rPr lang="en-US" dirty="0"/>
              <a:t> (</a:t>
            </a:r>
            <a:r>
              <a:rPr lang="en-US" b="1" dirty="0"/>
              <a:t>SSRIs</a:t>
            </a:r>
            <a:r>
              <a:rPr lang="en-US" dirty="0"/>
              <a:t>)</a:t>
            </a:r>
          </a:p>
          <a:p>
            <a:pPr>
              <a:lnSpc>
                <a:spcPct val="110000"/>
              </a:lnSpc>
              <a:spcBef>
                <a:spcPts val="1200"/>
              </a:spcBef>
            </a:pPr>
            <a:r>
              <a:rPr lang="en-US" dirty="0"/>
              <a:t>SERT knockout mice show a variety of behavioral and physiological abnormalities</a:t>
            </a:r>
          </a:p>
          <a:p>
            <a:pPr>
              <a:lnSpc>
                <a:spcPct val="110000"/>
              </a:lnSpc>
              <a:spcBef>
                <a:spcPts val="1200"/>
              </a:spcBef>
            </a:pPr>
            <a:r>
              <a:rPr lang="en-US" dirty="0"/>
              <a:t>5-HT breakdown is catalyzed by MAO-A to the </a:t>
            </a:r>
            <a:r>
              <a:rPr lang="en-US" b="1" dirty="0"/>
              <a:t>metabolite 5-hydroxyindoleacetic acid</a:t>
            </a:r>
            <a:r>
              <a:rPr lang="en-US" dirty="0"/>
              <a:t> (</a:t>
            </a:r>
            <a:r>
              <a:rPr lang="en-US" b="1" dirty="0"/>
              <a:t>5-HIAA</a:t>
            </a:r>
            <a:r>
              <a:rPr lang="en-US" dirty="0"/>
              <a:t>)</a:t>
            </a:r>
          </a:p>
        </p:txBody>
      </p:sp>
    </p:spTree>
    <p:extLst>
      <p:ext uri="{BB962C8B-B14F-4D97-AF65-F5344CB8AC3E}">
        <p14:creationId xmlns:p14="http://schemas.microsoft.com/office/powerpoint/2010/main" val="3375942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71A4-0B37-4149-9BC1-4754ACC7D9AB}"/>
              </a:ext>
            </a:extLst>
          </p:cNvPr>
          <p:cNvSpPr>
            <a:spLocks noGrp="1"/>
          </p:cNvSpPr>
          <p:nvPr>
            <p:ph type="title"/>
          </p:nvPr>
        </p:nvSpPr>
        <p:spPr/>
        <p:txBody>
          <a:bodyPr/>
          <a:lstStyle/>
          <a:p>
            <a:r>
              <a:rPr lang="en-US" dirty="0"/>
              <a:t>FIGURE 6.5  Behavioral and physiological phenotypes of SERT knockout mice  </a:t>
            </a:r>
          </a:p>
        </p:txBody>
      </p:sp>
      <p:pic>
        <p:nvPicPr>
          <p:cNvPr id="6" name="Content Placeholder 5" descr="An illustration depicts the behavioral and physiological characteristics of SERT knockout mice. The inscriptions are as follows: Stress susceptibility (ACTH, epinephrine), Seizure resistance, REM sleep disorder, Depression (learned helplessness), Disrupted somatosensory systems, Under aggression, Late-onset obesity (plus 20 percent), type two diabetes, dyslipidemia, Hypoactivity, Bladder dysfunction, Gut hypermotility, irritable bowel syndrome, Hypoalgesia (thermal, nerve injury), Bone weakness, Pulmonary hypertension resistance, platelet dysfunction, cardiac fibrosis, valvulopathy, and Anxiety-like behavio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29471"/>
            <a:ext cx="11376025" cy="5600696"/>
          </a:xfrm>
        </p:spPr>
      </p:pic>
    </p:spTree>
    <p:extLst>
      <p:ext uri="{BB962C8B-B14F-4D97-AF65-F5344CB8AC3E}">
        <p14:creationId xmlns:p14="http://schemas.microsoft.com/office/powerpoint/2010/main" val="2845383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Serotonin Synthesis, Release, and Inactivation </a:t>
            </a:r>
            <a:r>
              <a:rPr lang="en-US" sz="1200" dirty="0"/>
              <a:t>(12 of 12)</a:t>
            </a:r>
          </a:p>
        </p:txBody>
      </p:sp>
      <p:sp>
        <p:nvSpPr>
          <p:cNvPr id="3" name="Text Placeholder 2"/>
          <p:cNvSpPr>
            <a:spLocks noGrp="1"/>
          </p:cNvSpPr>
          <p:nvPr>
            <p:ph idx="1"/>
          </p:nvPr>
        </p:nvSpPr>
        <p:spPr/>
        <p:txBody>
          <a:bodyPr/>
          <a:lstStyle/>
          <a:p>
            <a:pPr marL="0" indent="0">
              <a:lnSpc>
                <a:spcPct val="100000"/>
              </a:lnSpc>
              <a:spcBef>
                <a:spcPts val="1200"/>
              </a:spcBef>
              <a:buNone/>
            </a:pPr>
            <a:r>
              <a:rPr lang="en-US" sz="2400" u="sng" dirty="0"/>
              <a:t>CLICKER QUESTION 1</a:t>
            </a:r>
          </a:p>
          <a:p>
            <a:pPr marL="0" indent="0">
              <a:lnSpc>
                <a:spcPct val="100000"/>
              </a:lnSpc>
              <a:spcBef>
                <a:spcPts val="3000"/>
              </a:spcBef>
              <a:buNone/>
            </a:pPr>
            <a:r>
              <a:rPr lang="en-US" sz="3200" dirty="0"/>
              <a:t>How does Prozac work?</a:t>
            </a:r>
          </a:p>
          <a:p>
            <a:pPr marL="914400" indent="-457200">
              <a:lnSpc>
                <a:spcPct val="100000"/>
              </a:lnSpc>
              <a:spcBef>
                <a:spcPts val="1200"/>
              </a:spcBef>
              <a:buFont typeface="Arial" pitchFamily="34" charset="0"/>
              <a:buAutoNum type="alphaLcPeriod"/>
            </a:pPr>
            <a:r>
              <a:rPr lang="en-US" sz="3200" dirty="0"/>
              <a:t>By inhibiting MAO-A</a:t>
            </a:r>
          </a:p>
          <a:p>
            <a:pPr marL="914400" indent="-457200">
              <a:lnSpc>
                <a:spcPct val="100000"/>
              </a:lnSpc>
              <a:spcBef>
                <a:spcPts val="1200"/>
              </a:spcBef>
              <a:buFont typeface="Arial" pitchFamily="34" charset="0"/>
              <a:buAutoNum type="alphaLcPeriod"/>
            </a:pPr>
            <a:r>
              <a:rPr lang="en-US" sz="3200" dirty="0"/>
              <a:t>By blocking synthesis of TPH</a:t>
            </a:r>
          </a:p>
          <a:p>
            <a:pPr marL="914400" indent="-457200">
              <a:lnSpc>
                <a:spcPct val="100000"/>
              </a:lnSpc>
              <a:spcBef>
                <a:spcPts val="1200"/>
              </a:spcBef>
              <a:buFont typeface="Arial" pitchFamily="34" charset="0"/>
              <a:buAutoNum type="alphaLcPeriod"/>
            </a:pPr>
            <a:r>
              <a:rPr lang="en-US" sz="3200" dirty="0"/>
              <a:t>By blocking the 5-HT transporter</a:t>
            </a:r>
          </a:p>
        </p:txBody>
      </p:sp>
    </p:spTree>
    <p:extLst>
      <p:ext uri="{BB962C8B-B14F-4D97-AF65-F5344CB8AC3E}">
        <p14:creationId xmlns:p14="http://schemas.microsoft.com/office/powerpoint/2010/main" val="2244686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Review of Learning Objectives </a:t>
            </a:r>
            <a:r>
              <a:rPr lang="en-US" sz="1200" dirty="0"/>
              <a:t>(1 of 3)</a:t>
            </a:r>
            <a:endParaRPr lang="en-US" sz="1300" dirty="0"/>
          </a:p>
        </p:txBody>
      </p:sp>
      <p:sp>
        <p:nvSpPr>
          <p:cNvPr id="3" name="Text Placeholder 2"/>
          <p:cNvSpPr>
            <a:spLocks noGrp="1"/>
          </p:cNvSpPr>
          <p:nvPr>
            <p:ph idx="1"/>
          </p:nvPr>
        </p:nvSpPr>
        <p:spPr>
          <a:xfrm>
            <a:off x="609600" y="1665513"/>
            <a:ext cx="10972800" cy="4863419"/>
          </a:xfrm>
        </p:spPr>
        <p:txBody>
          <a:bodyPr>
            <a:normAutofit fontScale="62500" lnSpcReduction="20000"/>
          </a:bodyPr>
          <a:lstStyle/>
          <a:p>
            <a:pPr marL="914400" indent="-914400">
              <a:lnSpc>
                <a:spcPct val="120000"/>
              </a:lnSpc>
              <a:spcBef>
                <a:spcPts val="1200"/>
              </a:spcBef>
              <a:buNone/>
            </a:pPr>
            <a:r>
              <a:rPr lang="en-US" dirty="0"/>
              <a:t>6.1.1  (a) List the biochemical steps involved in the synthesis of 5-HT, (b) name the major metabolite of 5-HT, and (c) explain the mechanisms whereby changes in tryptophan availability, either through diet or by other manipulations, alter 5-HT synthesis.</a:t>
            </a:r>
          </a:p>
          <a:p>
            <a:pPr marL="914400" indent="-914400">
              <a:lnSpc>
                <a:spcPct val="120000"/>
              </a:lnSpc>
              <a:spcBef>
                <a:spcPts val="1200"/>
              </a:spcBef>
              <a:buNone/>
            </a:pPr>
            <a:r>
              <a:rPr lang="en-US" dirty="0"/>
              <a:t>6.1.2  Discuss the effects on cognition, mood, and sleep of either elevating or depleting tryptophan levels in humans.</a:t>
            </a:r>
          </a:p>
          <a:p>
            <a:pPr marL="914400" indent="-914400">
              <a:lnSpc>
                <a:spcPct val="120000"/>
              </a:lnSpc>
              <a:spcBef>
                <a:spcPts val="1200"/>
              </a:spcBef>
              <a:buNone/>
            </a:pPr>
            <a:r>
              <a:rPr lang="en-US" dirty="0"/>
              <a:t>6.1.3  Describe the main features of a serotonergic neuron, including (a) the enzymes required for 5-HT synthesis and metabolism, (b) the proteins that transport 5-HT either from the cytoplasm into synaptic vesicles or from the extracellular fluid into the serotonergic neuron (i.e., reuptake), and (c) the </a:t>
            </a:r>
            <a:r>
              <a:rPr lang="en-US" dirty="0" err="1"/>
              <a:t>autoreceptors</a:t>
            </a:r>
            <a:r>
              <a:rPr lang="en-US" dirty="0"/>
              <a:t> that regulate serotonergic cell firing and 5-HT release at the nerve terminals.</a:t>
            </a:r>
          </a:p>
          <a:p>
            <a:pPr marL="914400" indent="-914400">
              <a:lnSpc>
                <a:spcPct val="120000"/>
              </a:lnSpc>
              <a:spcBef>
                <a:spcPts val="1200"/>
              </a:spcBef>
              <a:buNone/>
            </a:pPr>
            <a:r>
              <a:rPr lang="en-US" dirty="0"/>
              <a:t>6.1.4  Discuss the current state of knowledge regarding ecstasy/MDMA, including (a) its primary mechanism of action, (b) its subjective and behavioral effects at typical recreational doses, (c) the toxic effects of MDMA overdose, (d) evidence for serotonergic neurotoxicity in both humans and experimental animals after high doses and/or chronic use, and (e) recent clinical use of MDMA-assisted psychotherapy for chronic PTSD.</a:t>
            </a:r>
          </a:p>
        </p:txBody>
      </p:sp>
    </p:spTree>
    <p:extLst>
      <p:ext uri="{BB962C8B-B14F-4D97-AF65-F5344CB8AC3E}">
        <p14:creationId xmlns:p14="http://schemas.microsoft.com/office/powerpoint/2010/main" val="574658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(1 of 7)</a:t>
            </a:r>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The serotonergic system originates in the brainstem and projects to all forebrain areas</a:t>
            </a:r>
          </a:p>
          <a:p>
            <a:pPr>
              <a:lnSpc>
                <a:spcPct val="100000"/>
              </a:lnSpc>
              <a:spcBef>
                <a:spcPts val="1200"/>
              </a:spcBef>
            </a:pPr>
            <a:r>
              <a:rPr lang="en-US" dirty="0"/>
              <a:t>Serotonergic neurons in the CNS are found along the midline of the brainstem (medulla, pons, and midbrain), loosely associated with the </a:t>
            </a:r>
            <a:r>
              <a:rPr lang="en-US" b="1" dirty="0"/>
              <a:t>raphe nuclei</a:t>
            </a:r>
            <a:r>
              <a:rPr lang="en-US" dirty="0"/>
              <a:t>.</a:t>
            </a:r>
          </a:p>
          <a:p>
            <a:pPr>
              <a:lnSpc>
                <a:spcPct val="100000"/>
              </a:lnSpc>
              <a:spcBef>
                <a:spcPts val="1200"/>
              </a:spcBef>
            </a:pPr>
            <a:r>
              <a:rPr lang="en-US" b="1" dirty="0"/>
              <a:t>Dorsal raphe nucleus </a:t>
            </a:r>
            <a:r>
              <a:rPr lang="en-US" dirty="0"/>
              <a:t>(</a:t>
            </a:r>
            <a:r>
              <a:rPr lang="en-US" b="1" dirty="0"/>
              <a:t>DRN</a:t>
            </a:r>
            <a:r>
              <a:rPr lang="en-US" dirty="0"/>
              <a:t>) and </a:t>
            </a:r>
            <a:r>
              <a:rPr lang="en-US" b="1" dirty="0"/>
              <a:t>median raphe nucleus </a:t>
            </a:r>
            <a:r>
              <a:rPr lang="en-US" dirty="0"/>
              <a:t>(</a:t>
            </a:r>
            <a:r>
              <a:rPr lang="en-US" b="1" dirty="0"/>
              <a:t>MRN</a:t>
            </a:r>
            <a:r>
              <a:rPr lang="en-US" dirty="0"/>
              <a:t>) give rise to most of the serotonergic fibers in the forebrain.</a:t>
            </a:r>
          </a:p>
          <a:p>
            <a:pPr>
              <a:lnSpc>
                <a:spcPct val="100000"/>
              </a:lnSpc>
              <a:spcBef>
                <a:spcPts val="1200"/>
              </a:spcBef>
            </a:pPr>
            <a:r>
              <a:rPr lang="en-US" dirty="0"/>
              <a:t>In the cortex, nerve fibers are dense at the surface, which has a high density of dendrites and synaptic connections.</a:t>
            </a:r>
          </a:p>
        </p:txBody>
      </p:sp>
    </p:spTree>
    <p:extLst>
      <p:ext uri="{BB962C8B-B14F-4D97-AF65-F5344CB8AC3E}">
        <p14:creationId xmlns:p14="http://schemas.microsoft.com/office/powerpoint/2010/main" val="1018088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833C-4D8D-D642-A616-EFDC8A895A97}"/>
              </a:ext>
            </a:extLst>
          </p:cNvPr>
          <p:cNvSpPr>
            <a:spLocks noGrp="1"/>
          </p:cNvSpPr>
          <p:nvPr>
            <p:ph type="title"/>
          </p:nvPr>
        </p:nvSpPr>
        <p:spPr/>
        <p:txBody>
          <a:bodyPr/>
          <a:lstStyle/>
          <a:p>
            <a:r>
              <a:rPr lang="en-US" dirty="0"/>
              <a:t>FIGURE 6.6  Anatomy of the serotonergic system </a:t>
            </a:r>
          </a:p>
        </p:txBody>
      </p:sp>
      <p:pic>
        <p:nvPicPr>
          <p:cNvPr id="6" name="Content Placeholder 5" descr="Anatomy of the serotonergic system as it branches inside the brain. B 1 and B 2 are found in the Medulla Oblongata. From the Pons to the Cerebellum, B 3 and B 4 branches. B 6 and B 7 are linked with B 3 and branches to the Habenula, which is located next to the Cerebellum. B 5 and B 9 are linked with B 3 and branches to sections of the Hypothalamus, Septal region, Olfactory tubercle, Olfactory bulb, and Neocortex. B 7, B 8, and B 9 are linked to B 3 and branches to the Thalamus, Globus pallidus, Caudate putamen, and Hippocampu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72498"/>
            <a:ext cx="11376025" cy="4914642"/>
          </a:xfrm>
        </p:spPr>
      </p:pic>
    </p:spTree>
    <p:extLst>
      <p:ext uri="{BB962C8B-B14F-4D97-AF65-F5344CB8AC3E}">
        <p14:creationId xmlns:p14="http://schemas.microsoft.com/office/powerpoint/2010/main" val="1509709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9BF7-B351-B745-91F5-F83FE39CF48C}"/>
              </a:ext>
            </a:extLst>
          </p:cNvPr>
          <p:cNvSpPr>
            <a:spLocks noGrp="1"/>
          </p:cNvSpPr>
          <p:nvPr>
            <p:ph type="title"/>
          </p:nvPr>
        </p:nvSpPr>
        <p:spPr/>
        <p:txBody>
          <a:bodyPr/>
          <a:lstStyle/>
          <a:p>
            <a:r>
              <a:rPr lang="en-US" dirty="0"/>
              <a:t>FIGURE 6.7  Photomicrograph of serotonergic fibers in the mouse neocortex and hippocampus </a:t>
            </a:r>
          </a:p>
        </p:txBody>
      </p:sp>
      <p:pic>
        <p:nvPicPr>
          <p:cNvPr id="6" name="Content Placeholder 5" descr="The serotonergic fibers in the brain area of mouse are depicted in a micrograph. In the hypothalamic area, three layers are indicated one above the other: the granule cell layer, the hippocampus, and the pyramidal cell layer. The white matter is visible in the thalamus. The neocortex is defined as the region between the thalamus and the outermost laye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25888" y="479425"/>
            <a:ext cx="8540224" cy="6300788"/>
          </a:xfrm>
        </p:spPr>
      </p:pic>
    </p:spTree>
    <p:extLst>
      <p:ext uri="{BB962C8B-B14F-4D97-AF65-F5344CB8AC3E}">
        <p14:creationId xmlns:p14="http://schemas.microsoft.com/office/powerpoint/2010/main" val="485690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(2 of 7)</a:t>
            </a:r>
            <a:endParaRPr lang="en-US" dirty="0"/>
          </a:p>
        </p:txBody>
      </p:sp>
      <p:sp>
        <p:nvSpPr>
          <p:cNvPr id="3" name="Text Placeholder 2"/>
          <p:cNvSpPr>
            <a:spLocks noGrp="1"/>
          </p:cNvSpPr>
          <p:nvPr>
            <p:ph idx="1"/>
          </p:nvPr>
        </p:nvSpPr>
        <p:spPr/>
        <p:txBody>
          <a:bodyPr>
            <a:normAutofit/>
          </a:bodyPr>
          <a:lstStyle/>
          <a:p>
            <a:pPr marL="457200" indent="-457200">
              <a:lnSpc>
                <a:spcPct val="100000"/>
              </a:lnSpc>
              <a:spcBef>
                <a:spcPts val="1200"/>
              </a:spcBef>
              <a:buNone/>
            </a:pPr>
            <a:r>
              <a:rPr lang="en-US" sz="3200" dirty="0"/>
              <a:t>The firing of dorsal raphe serotonergic neurons varies with behavioral states</a:t>
            </a:r>
          </a:p>
          <a:p>
            <a:pPr>
              <a:lnSpc>
                <a:spcPct val="100000"/>
              </a:lnSpc>
              <a:spcBef>
                <a:spcPts val="1200"/>
              </a:spcBef>
            </a:pPr>
            <a:r>
              <a:rPr lang="en-US" dirty="0"/>
              <a:t>First demonstrated in cats: when awake, each nerve cell fires at a regular rate (tonic firing); become irregular with slow-wave sleep, and stop firing during REM sleep.</a:t>
            </a:r>
          </a:p>
          <a:p>
            <a:pPr>
              <a:lnSpc>
                <a:spcPct val="100000"/>
              </a:lnSpc>
              <a:spcBef>
                <a:spcPts val="1200"/>
              </a:spcBef>
            </a:pPr>
            <a:r>
              <a:rPr lang="en-US" dirty="0"/>
              <a:t>Research with DRN and MRN knockout mice: slow, tonic firing of DRN neurons promotes sleep (non-REM sleep); burst firing of the same cells favors a state of wakefulness</a:t>
            </a:r>
          </a:p>
        </p:txBody>
      </p:sp>
    </p:spTree>
    <p:extLst>
      <p:ext uri="{BB962C8B-B14F-4D97-AF65-F5344CB8AC3E}">
        <p14:creationId xmlns:p14="http://schemas.microsoft.com/office/powerpoint/2010/main" val="2162418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(3 of 7)</a:t>
            </a:r>
            <a:endParaRPr lang="en-US" dirty="0"/>
          </a:p>
        </p:txBody>
      </p:sp>
      <p:sp>
        <p:nvSpPr>
          <p:cNvPr id="3" name="Text Placeholder 2"/>
          <p:cNvSpPr>
            <a:spLocks noGrp="1"/>
          </p:cNvSpPr>
          <p:nvPr>
            <p:ph idx="1"/>
          </p:nvPr>
        </p:nvSpPr>
        <p:spPr>
          <a:xfrm>
            <a:off x="609600" y="1803351"/>
            <a:ext cx="10972800" cy="4725581"/>
          </a:xfrm>
        </p:spPr>
        <p:txBody>
          <a:bodyPr>
            <a:normAutofit fontScale="92500" lnSpcReduction="10000"/>
          </a:bodyPr>
          <a:lstStyle/>
          <a:p>
            <a:pPr marL="457200" indent="-457200">
              <a:spcBef>
                <a:spcPts val="1200"/>
              </a:spcBef>
              <a:buNone/>
            </a:pPr>
            <a:r>
              <a:rPr lang="en-US" sz="3500" dirty="0"/>
              <a:t>There is a large family of serotonin receptors, most of which are metabotropic</a:t>
            </a:r>
          </a:p>
          <a:p>
            <a:pPr>
              <a:lnSpc>
                <a:spcPct val="110000"/>
              </a:lnSpc>
              <a:spcBef>
                <a:spcPts val="1200"/>
              </a:spcBef>
            </a:pPr>
            <a:r>
              <a:rPr lang="en-US" dirty="0"/>
              <a:t>14 receptor subtypes; 5-HT</a:t>
            </a:r>
            <a:r>
              <a:rPr lang="en-US" baseline="-25000" dirty="0"/>
              <a:t>1A</a:t>
            </a:r>
            <a:r>
              <a:rPr lang="en-US" dirty="0"/>
              <a:t> and 5-HT</a:t>
            </a:r>
            <a:r>
              <a:rPr lang="en-US" baseline="-25000" dirty="0"/>
              <a:t>2A</a:t>
            </a:r>
            <a:r>
              <a:rPr lang="en-US" dirty="0"/>
              <a:t> are most well known</a:t>
            </a:r>
          </a:p>
          <a:p>
            <a:pPr>
              <a:lnSpc>
                <a:spcPct val="110000"/>
              </a:lnSpc>
              <a:spcBef>
                <a:spcPts val="1200"/>
              </a:spcBef>
            </a:pPr>
            <a:r>
              <a:rPr lang="en-US" dirty="0"/>
              <a:t>5-HT</a:t>
            </a:r>
            <a:r>
              <a:rPr lang="en-US" baseline="-25000" dirty="0"/>
              <a:t>1A </a:t>
            </a:r>
            <a:r>
              <a:rPr lang="en-US" dirty="0"/>
              <a:t>receptors: concentrated in the hippocampus, septal area, amygdala, and DRN; inhibit adenylyl cyclase to decrease cAMP synthesis; increase opening of K</a:t>
            </a:r>
            <a:r>
              <a:rPr lang="en-US" baseline="30000" dirty="0"/>
              <a:t>+</a:t>
            </a:r>
            <a:r>
              <a:rPr lang="en-US" dirty="0"/>
              <a:t> channels and membrane hyperpolarization</a:t>
            </a:r>
          </a:p>
          <a:p>
            <a:pPr>
              <a:lnSpc>
                <a:spcPct val="110000"/>
              </a:lnSpc>
              <a:defRPr/>
            </a:pPr>
            <a:r>
              <a:rPr lang="en-US" dirty="0"/>
              <a:t>5-HT</a:t>
            </a:r>
            <a:r>
              <a:rPr lang="en-US" baseline="-25000" dirty="0"/>
              <a:t>1A</a:t>
            </a:r>
            <a:r>
              <a:rPr lang="en-US" dirty="0"/>
              <a:t> receptor agonists include </a:t>
            </a:r>
            <a:r>
              <a:rPr lang="en-US" b="1" dirty="0"/>
              <a:t>buspirone</a:t>
            </a:r>
            <a:r>
              <a:rPr lang="en-US" dirty="0"/>
              <a:t>, </a:t>
            </a:r>
            <a:r>
              <a:rPr lang="en-US" b="1" dirty="0" err="1"/>
              <a:t>ipsapirone</a:t>
            </a:r>
            <a:r>
              <a:rPr lang="en-US" dirty="0"/>
              <a:t>, and </a:t>
            </a:r>
            <a:r>
              <a:rPr lang="en-US" b="1" dirty="0"/>
              <a:t>8-hydroxy-2-</a:t>
            </a:r>
            <a:r>
              <a:rPr lang="en-US" dirty="0"/>
              <a:t>(</a:t>
            </a:r>
            <a:r>
              <a:rPr lang="en-US" b="1" dirty="0"/>
              <a:t>di-</a:t>
            </a:r>
            <a:r>
              <a:rPr lang="en-US" b="1" i="1" dirty="0"/>
              <a:t>n</a:t>
            </a:r>
            <a:r>
              <a:rPr lang="en-US" b="1" dirty="0"/>
              <a:t>-</a:t>
            </a:r>
            <a:r>
              <a:rPr lang="en-US" b="1" dirty="0" err="1"/>
              <a:t>propylamino</a:t>
            </a:r>
            <a:r>
              <a:rPr lang="en-US" dirty="0"/>
              <a:t>) </a:t>
            </a:r>
            <a:r>
              <a:rPr lang="en-US" b="1" dirty="0"/>
              <a:t>tetralin </a:t>
            </a:r>
            <a:r>
              <a:rPr lang="en-US" dirty="0"/>
              <a:t>(</a:t>
            </a:r>
            <a:r>
              <a:rPr lang="en-US" b="1" dirty="0"/>
              <a:t>8-OHDPAT</a:t>
            </a:r>
            <a:r>
              <a:rPr lang="en-US" dirty="0"/>
              <a:t>).</a:t>
            </a:r>
          </a:p>
          <a:p>
            <a:pPr>
              <a:lnSpc>
                <a:spcPct val="110000"/>
              </a:lnSpc>
              <a:defRPr/>
            </a:pPr>
            <a:r>
              <a:rPr lang="en-US" b="1" dirty="0"/>
              <a:t>WAY 100635</a:t>
            </a:r>
            <a:r>
              <a:rPr lang="en-US" dirty="0"/>
              <a:t> is a 5-HT</a:t>
            </a:r>
            <a:r>
              <a:rPr lang="en-US" baseline="-25000" dirty="0"/>
              <a:t>1A</a:t>
            </a:r>
            <a:r>
              <a:rPr lang="en-US" dirty="0"/>
              <a:t> receptor antagonist.</a:t>
            </a:r>
          </a:p>
        </p:txBody>
      </p:sp>
    </p:spTree>
    <p:extLst>
      <p:ext uri="{BB962C8B-B14F-4D97-AF65-F5344CB8AC3E}">
        <p14:creationId xmlns:p14="http://schemas.microsoft.com/office/powerpoint/2010/main" val="1527916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F5DE-52AA-6B4A-9889-75D2CD774FE1}"/>
              </a:ext>
            </a:extLst>
          </p:cNvPr>
          <p:cNvSpPr>
            <a:spLocks noGrp="1"/>
          </p:cNvSpPr>
          <p:nvPr>
            <p:ph type="title"/>
          </p:nvPr>
        </p:nvSpPr>
        <p:spPr/>
        <p:txBody>
          <a:bodyPr/>
          <a:lstStyle/>
          <a:p>
            <a:r>
              <a:rPr lang="en-US" dirty="0"/>
              <a:t>FIGURE 6.9  5-HT</a:t>
            </a:r>
            <a:r>
              <a:rPr lang="en-US" baseline="-25000" dirty="0"/>
              <a:t>1A</a:t>
            </a:r>
            <a:r>
              <a:rPr lang="en-US" dirty="0"/>
              <a:t> and 5-HT</a:t>
            </a:r>
            <a:r>
              <a:rPr lang="en-US" baseline="-25000" dirty="0"/>
              <a:t>2A</a:t>
            </a:r>
            <a:r>
              <a:rPr lang="en-US" dirty="0"/>
              <a:t> receptors operate through different signaling mechanisms </a:t>
            </a:r>
          </a:p>
        </p:txBody>
      </p:sp>
      <p:pic>
        <p:nvPicPr>
          <p:cNvPr id="6" name="Content Placeholder 5" descr="The signaling mechanism of the 5-HT 1A receptor is illustrated. The serotonin is recognized by the 5-HT 1A receptor, which inhibits the formation of cAMP from ATP in the Adenylyl cyclase and activates the K+ channels, which allow ions to exit the cell.&#10;&#10;The signaling mechanism of the 5-HT 2A receptor is illustrated. The 5-HT 2A receptor receives serotonin, which activates protein kinase C and increases Ca 2+ ion level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22182"/>
            <a:ext cx="11376025" cy="4615273"/>
          </a:xfrm>
        </p:spPr>
      </p:pic>
    </p:spTree>
    <p:extLst>
      <p:ext uri="{BB962C8B-B14F-4D97-AF65-F5344CB8AC3E}">
        <p14:creationId xmlns:p14="http://schemas.microsoft.com/office/powerpoint/2010/main" val="18470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(4 of 7)</a:t>
            </a:r>
            <a:endParaRPr lang="en-US" dirty="0"/>
          </a:p>
        </p:txBody>
      </p:sp>
      <p:sp>
        <p:nvSpPr>
          <p:cNvPr id="3" name="Text Placeholder 2"/>
          <p:cNvSpPr>
            <a:spLocks noGrp="1"/>
          </p:cNvSpPr>
          <p:nvPr>
            <p:ph idx="1"/>
          </p:nvPr>
        </p:nvSpPr>
        <p:spPr/>
        <p:txBody>
          <a:bodyPr>
            <a:normAutofit fontScale="92500"/>
          </a:bodyPr>
          <a:lstStyle/>
          <a:p>
            <a:pPr marL="457200" indent="-457200">
              <a:lnSpc>
                <a:spcPct val="90000"/>
              </a:lnSpc>
              <a:spcBef>
                <a:spcPts val="1200"/>
              </a:spcBef>
              <a:buNone/>
            </a:pPr>
            <a:r>
              <a:rPr lang="en-US" sz="3500" dirty="0"/>
              <a:t>There is a large family of serotonin receptors, most of which are metabotropic</a:t>
            </a:r>
          </a:p>
          <a:p>
            <a:pPr>
              <a:lnSpc>
                <a:spcPct val="110000"/>
              </a:lnSpc>
              <a:spcBef>
                <a:spcPts val="1200"/>
              </a:spcBef>
            </a:pPr>
            <a:r>
              <a:rPr lang="en-US" dirty="0"/>
              <a:t>5-HT</a:t>
            </a:r>
            <a:r>
              <a:rPr lang="en-US" baseline="-25000" dirty="0"/>
              <a:t>2A </a:t>
            </a:r>
            <a:r>
              <a:rPr lang="en-US" dirty="0"/>
              <a:t>receptors occur in the cortex and other brain areas</a:t>
            </a:r>
          </a:p>
          <a:p>
            <a:pPr>
              <a:lnSpc>
                <a:spcPct val="110000"/>
              </a:lnSpc>
              <a:spcBef>
                <a:spcPts val="1200"/>
              </a:spcBef>
            </a:pPr>
            <a:r>
              <a:rPr lang="en-US" dirty="0"/>
              <a:t>Function via the phosphoinositide second-messenger system: increases Ca</a:t>
            </a:r>
            <a:r>
              <a:rPr lang="en-US" baseline="30000" dirty="0"/>
              <a:t>2+</a:t>
            </a:r>
            <a:r>
              <a:rPr lang="en-US" dirty="0"/>
              <a:t> levels in the postsynaptic cell; also activates protein kinase C (PKC)</a:t>
            </a:r>
          </a:p>
          <a:p>
            <a:pPr>
              <a:lnSpc>
                <a:spcPct val="110000"/>
              </a:lnSpc>
              <a:defRPr/>
            </a:pPr>
            <a:r>
              <a:rPr lang="en-US" dirty="0"/>
              <a:t>5-HT</a:t>
            </a:r>
            <a:r>
              <a:rPr lang="en-US" baseline="-25000" dirty="0"/>
              <a:t>2A</a:t>
            </a:r>
            <a:r>
              <a:rPr lang="en-US" dirty="0"/>
              <a:t> agonist: </a:t>
            </a:r>
            <a:r>
              <a:rPr lang="en-US" b="1" dirty="0"/>
              <a:t>1-(2,5-dimethoxy-4-iodophenyl)-2-aminopropane</a:t>
            </a:r>
            <a:r>
              <a:rPr lang="en-US" dirty="0"/>
              <a:t> (</a:t>
            </a:r>
            <a:r>
              <a:rPr lang="en-US" b="1" dirty="0"/>
              <a:t>DOI</a:t>
            </a:r>
            <a:r>
              <a:rPr lang="en-US" dirty="0"/>
              <a:t>).</a:t>
            </a:r>
          </a:p>
          <a:p>
            <a:pPr>
              <a:lnSpc>
                <a:spcPct val="110000"/>
              </a:lnSpc>
              <a:defRPr/>
            </a:pPr>
            <a:r>
              <a:rPr lang="en-US" dirty="0"/>
              <a:t>5-HT</a:t>
            </a:r>
            <a:r>
              <a:rPr lang="en-US" baseline="-25000" dirty="0"/>
              <a:t>2A</a:t>
            </a:r>
            <a:r>
              <a:rPr lang="en-US" dirty="0"/>
              <a:t> antagonists: </a:t>
            </a:r>
            <a:r>
              <a:rPr lang="en-US" b="1" dirty="0" err="1"/>
              <a:t>ketanserin</a:t>
            </a:r>
            <a:r>
              <a:rPr lang="en-US" dirty="0"/>
              <a:t> and </a:t>
            </a:r>
            <a:r>
              <a:rPr lang="en-US" b="1" dirty="0" err="1"/>
              <a:t>ritanser</a:t>
            </a:r>
            <a:r>
              <a:rPr lang="en-US" dirty="0"/>
              <a:t>.</a:t>
            </a:r>
            <a:endParaRPr lang="en-US" b="1" dirty="0"/>
          </a:p>
        </p:txBody>
      </p:sp>
    </p:spTree>
    <p:extLst>
      <p:ext uri="{BB962C8B-B14F-4D97-AF65-F5344CB8AC3E}">
        <p14:creationId xmlns:p14="http://schemas.microsoft.com/office/powerpoint/2010/main" val="3980497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(5 of 7)</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There is a large family of serotonin receptors, most of which are metabotropic</a:t>
            </a:r>
          </a:p>
          <a:p>
            <a:pPr>
              <a:lnSpc>
                <a:spcPct val="100000"/>
              </a:lnSpc>
              <a:defRPr/>
            </a:pPr>
            <a:r>
              <a:rPr lang="en-US" dirty="0"/>
              <a:t>DOI and related drugs are </a:t>
            </a:r>
            <a:r>
              <a:rPr lang="en-US" b="1" dirty="0"/>
              <a:t>hallucinogenic</a:t>
            </a:r>
            <a:r>
              <a:rPr lang="en-US" dirty="0"/>
              <a:t> in humans.</a:t>
            </a:r>
          </a:p>
          <a:p>
            <a:pPr>
              <a:lnSpc>
                <a:spcPct val="100000"/>
              </a:lnSpc>
              <a:defRPr/>
            </a:pPr>
            <a:r>
              <a:rPr lang="en-US" dirty="0"/>
              <a:t>Hallucinogenic effects of </a:t>
            </a:r>
            <a:r>
              <a:rPr lang="en-US" b="1" dirty="0"/>
              <a:t>lysergic acid diethylamide</a:t>
            </a:r>
            <a:r>
              <a:rPr lang="en-US" dirty="0"/>
              <a:t> (</a:t>
            </a:r>
            <a:r>
              <a:rPr lang="en-US" b="1" dirty="0"/>
              <a:t>LSD</a:t>
            </a:r>
            <a:r>
              <a:rPr lang="en-US" dirty="0"/>
              <a:t>) may stem from its ability to stimulate 5-HT</a:t>
            </a:r>
            <a:r>
              <a:rPr lang="en-US" baseline="-25000" dirty="0"/>
              <a:t>2A</a:t>
            </a:r>
            <a:r>
              <a:rPr lang="en-US" dirty="0"/>
              <a:t> receptors.</a:t>
            </a:r>
          </a:p>
          <a:p>
            <a:pPr>
              <a:lnSpc>
                <a:spcPct val="100000"/>
              </a:lnSpc>
              <a:defRPr/>
            </a:pPr>
            <a:r>
              <a:rPr lang="en-US" dirty="0"/>
              <a:t>Several drugs used to treat schizophrenia with reduced motor side effects act as inverse agonists at 5-HT</a:t>
            </a:r>
            <a:r>
              <a:rPr lang="en-US" baseline="-25000" dirty="0"/>
              <a:t>2A</a:t>
            </a:r>
            <a:r>
              <a:rPr lang="en-US" dirty="0"/>
              <a:t> and/or 5-HT</a:t>
            </a:r>
            <a:r>
              <a:rPr lang="en-US" baseline="-25000" dirty="0"/>
              <a:t>2C </a:t>
            </a:r>
            <a:r>
              <a:rPr lang="en-US" dirty="0"/>
              <a:t>receptors</a:t>
            </a:r>
          </a:p>
        </p:txBody>
      </p:sp>
    </p:spTree>
    <p:extLst>
      <p:ext uri="{BB962C8B-B14F-4D97-AF65-F5344CB8AC3E}">
        <p14:creationId xmlns:p14="http://schemas.microsoft.com/office/powerpoint/2010/main" val="3406755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(6 of 7)</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There is a large family of serotonin receptors, most of which are metabotropic</a:t>
            </a:r>
          </a:p>
          <a:p>
            <a:pPr>
              <a:lnSpc>
                <a:spcPct val="100000"/>
              </a:lnSpc>
              <a:spcBef>
                <a:spcPts val="1200"/>
              </a:spcBef>
            </a:pPr>
            <a:r>
              <a:rPr lang="en-US" dirty="0"/>
              <a:t>Some medications target other receptor subtypes</a:t>
            </a:r>
          </a:p>
          <a:p>
            <a:pPr>
              <a:lnSpc>
                <a:spcPct val="100000"/>
              </a:lnSpc>
              <a:spcBef>
                <a:spcPts val="1200"/>
              </a:spcBef>
            </a:pPr>
            <a:r>
              <a:rPr lang="en-US" dirty="0"/>
              <a:t>Migraine headaches: 5-HT</a:t>
            </a:r>
            <a:r>
              <a:rPr lang="en-US" baseline="-25000" dirty="0"/>
              <a:t>1B/1D </a:t>
            </a:r>
            <a:r>
              <a:rPr lang="en-US" dirty="0"/>
              <a:t>agonists (triptans) stimulate cerebral vasoconstriction; 5-HT</a:t>
            </a:r>
            <a:r>
              <a:rPr lang="en-US" baseline="-25000" dirty="0"/>
              <a:t>1F</a:t>
            </a:r>
            <a:r>
              <a:rPr lang="en-US" dirty="0"/>
              <a:t> agonist </a:t>
            </a:r>
            <a:r>
              <a:rPr lang="en-US" b="1" dirty="0"/>
              <a:t>Lasmiditan</a:t>
            </a:r>
            <a:r>
              <a:rPr lang="en-US" dirty="0"/>
              <a:t> (</a:t>
            </a:r>
            <a:r>
              <a:rPr lang="en-US" b="1" dirty="0" err="1"/>
              <a:t>Reyvow</a:t>
            </a:r>
            <a:r>
              <a:rPr lang="en-US" dirty="0"/>
              <a:t>) reduces activity in the pain pathway</a:t>
            </a:r>
          </a:p>
          <a:p>
            <a:pPr>
              <a:lnSpc>
                <a:spcPct val="100000"/>
              </a:lnSpc>
              <a:spcBef>
                <a:spcPts val="1200"/>
              </a:spcBef>
            </a:pPr>
            <a:r>
              <a:rPr lang="en-US" dirty="0"/>
              <a:t>5-HT</a:t>
            </a:r>
            <a:r>
              <a:rPr lang="en-US" baseline="-25000" dirty="0"/>
              <a:t>3</a:t>
            </a:r>
            <a:r>
              <a:rPr lang="en-US" dirty="0"/>
              <a:t> antagonists such as </a:t>
            </a:r>
            <a:r>
              <a:rPr lang="en-US" b="1" dirty="0"/>
              <a:t>ondansetron</a:t>
            </a:r>
            <a:r>
              <a:rPr lang="en-US" dirty="0"/>
              <a:t> (</a:t>
            </a:r>
            <a:r>
              <a:rPr lang="en-US" b="1" dirty="0"/>
              <a:t>Zofran</a:t>
            </a:r>
            <a:r>
              <a:rPr lang="en-US" dirty="0"/>
              <a:t>), </a:t>
            </a:r>
            <a:r>
              <a:rPr lang="en-US" b="1" dirty="0" err="1"/>
              <a:t>granisetron</a:t>
            </a:r>
            <a:r>
              <a:rPr lang="en-US" b="1" dirty="0"/>
              <a:t> </a:t>
            </a:r>
            <a:r>
              <a:rPr lang="en-US" dirty="0"/>
              <a:t>(</a:t>
            </a:r>
            <a:r>
              <a:rPr lang="en-US" b="1" dirty="0" err="1"/>
              <a:t>Kytril</a:t>
            </a:r>
            <a:r>
              <a:rPr lang="en-US" dirty="0"/>
              <a:t>), and </a:t>
            </a:r>
            <a:r>
              <a:rPr lang="en-US" b="1" dirty="0"/>
              <a:t>palonosetron</a:t>
            </a:r>
            <a:r>
              <a:rPr lang="en-US" dirty="0"/>
              <a:t> (</a:t>
            </a:r>
            <a:r>
              <a:rPr lang="en-US" b="1" dirty="0" err="1"/>
              <a:t>Aloxi</a:t>
            </a:r>
            <a:r>
              <a:rPr lang="en-US" dirty="0"/>
              <a:t>) can counteract nausea and vomiting associated with chemotherapy and radiation treatments</a:t>
            </a:r>
          </a:p>
        </p:txBody>
      </p:sp>
    </p:spTree>
    <p:extLst>
      <p:ext uri="{BB962C8B-B14F-4D97-AF65-F5344CB8AC3E}">
        <p14:creationId xmlns:p14="http://schemas.microsoft.com/office/powerpoint/2010/main" val="1675397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dirty="0"/>
              <a:t>Basic Features of the Serotonergic System:</a:t>
            </a:r>
            <a:br>
              <a:rPr lang="en-US" dirty="0"/>
            </a:br>
            <a:r>
              <a:rPr lang="en-US" dirty="0"/>
              <a:t>Anatomical Organization, Cell Firing, and Receptor Families </a:t>
            </a:r>
            <a:r>
              <a:rPr lang="en-US" sz="1300" dirty="0"/>
              <a:t>(7 of 7)</a:t>
            </a:r>
            <a:endParaRPr lang="en-US" dirty="0"/>
          </a:p>
        </p:txBody>
      </p:sp>
      <p:sp>
        <p:nvSpPr>
          <p:cNvPr id="3" name="Text Placeholder 2"/>
          <p:cNvSpPr>
            <a:spLocks noGrp="1"/>
          </p:cNvSpPr>
          <p:nvPr>
            <p:ph idx="1"/>
          </p:nvPr>
        </p:nvSpPr>
        <p:spPr/>
        <p:txBody>
          <a:bodyPr/>
          <a:lstStyle/>
          <a:p>
            <a:pPr marL="0" indent="0">
              <a:lnSpc>
                <a:spcPct val="100000"/>
              </a:lnSpc>
              <a:spcBef>
                <a:spcPts val="1200"/>
              </a:spcBef>
              <a:buNone/>
            </a:pPr>
            <a:r>
              <a:rPr lang="en-US" sz="2400" u="sng" dirty="0"/>
              <a:t>CLICKER QUESTION 2</a:t>
            </a:r>
          </a:p>
          <a:p>
            <a:pPr marL="0" indent="0">
              <a:lnSpc>
                <a:spcPct val="100000"/>
              </a:lnSpc>
              <a:spcBef>
                <a:spcPts val="3000"/>
              </a:spcBef>
              <a:buNone/>
            </a:pPr>
            <a:r>
              <a:rPr lang="en-US" sz="3200" dirty="0"/>
              <a:t>Most serotonergic neurons in the CNS are located in the</a:t>
            </a:r>
          </a:p>
          <a:p>
            <a:pPr marL="914400" indent="-457200">
              <a:lnSpc>
                <a:spcPct val="100000"/>
              </a:lnSpc>
              <a:spcBef>
                <a:spcPts val="1200"/>
              </a:spcBef>
              <a:buFont typeface="Arial" pitchFamily="34" charset="0"/>
              <a:buAutoNum type="alphaLcPeriod"/>
            </a:pPr>
            <a:r>
              <a:rPr lang="en-US" sz="3200" dirty="0"/>
              <a:t>cerebral cortex.</a:t>
            </a:r>
          </a:p>
          <a:p>
            <a:pPr marL="914400" indent="-457200">
              <a:lnSpc>
                <a:spcPct val="100000"/>
              </a:lnSpc>
              <a:spcBef>
                <a:spcPts val="1200"/>
              </a:spcBef>
              <a:buFont typeface="Arial" pitchFamily="34" charset="0"/>
              <a:buAutoNum type="alphaLcPeriod"/>
            </a:pPr>
            <a:r>
              <a:rPr lang="en-US" sz="3200" dirty="0"/>
              <a:t>raphe nuclei.</a:t>
            </a:r>
          </a:p>
          <a:p>
            <a:pPr marL="914400" indent="-457200">
              <a:lnSpc>
                <a:spcPct val="100000"/>
              </a:lnSpc>
              <a:spcBef>
                <a:spcPts val="1200"/>
              </a:spcBef>
              <a:buFont typeface="Arial" pitchFamily="34" charset="0"/>
              <a:buAutoNum type="alphaLcPeriod"/>
            </a:pPr>
            <a:r>
              <a:rPr lang="en-US" sz="3200" dirty="0"/>
              <a:t>amygdala.</a:t>
            </a:r>
          </a:p>
          <a:p>
            <a:pPr marL="914400" indent="-457200">
              <a:lnSpc>
                <a:spcPct val="100000"/>
              </a:lnSpc>
              <a:spcBef>
                <a:spcPts val="1200"/>
              </a:spcBef>
              <a:buFont typeface="Arial" pitchFamily="34" charset="0"/>
              <a:buAutoNum type="alphaLcPeriod"/>
            </a:pPr>
            <a:r>
              <a:rPr lang="en-US" sz="3200" dirty="0"/>
              <a:t>hippocampus.</a:t>
            </a:r>
          </a:p>
        </p:txBody>
      </p:sp>
    </p:spTree>
    <p:extLst>
      <p:ext uri="{BB962C8B-B14F-4D97-AF65-F5344CB8AC3E}">
        <p14:creationId xmlns:p14="http://schemas.microsoft.com/office/powerpoint/2010/main" val="4239660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92500" lnSpcReduction="20000"/>
          </a:bodyPr>
          <a:lstStyle/>
          <a:p>
            <a:pPr marL="914400" indent="-914400">
              <a:lnSpc>
                <a:spcPct val="110000"/>
              </a:lnSpc>
              <a:spcBef>
                <a:spcPts val="1200"/>
              </a:spcBef>
              <a:buNone/>
            </a:pPr>
            <a:r>
              <a:rPr lang="en-US" dirty="0"/>
              <a:t>6.2.1  Name the two brainstem nuclei that give rise to forebrain serotonergic projections.</a:t>
            </a:r>
          </a:p>
          <a:p>
            <a:pPr marL="914400" indent="-914400">
              <a:lnSpc>
                <a:spcPct val="110000"/>
              </a:lnSpc>
              <a:spcBef>
                <a:spcPts val="1200"/>
              </a:spcBef>
              <a:buNone/>
            </a:pPr>
            <a:r>
              <a:rPr lang="en-US" dirty="0"/>
              <a:t>6.2.2  (a) Describe how serotonergic cell firing varies according to behavioral state, and (b) discuss the evidence for a role for serotonergic neuronal activity in the control of sleep and waking/arousal.</a:t>
            </a:r>
          </a:p>
          <a:p>
            <a:pPr marL="914400" indent="-914400">
              <a:lnSpc>
                <a:spcPct val="110000"/>
              </a:lnSpc>
              <a:spcBef>
                <a:spcPts val="1200"/>
              </a:spcBef>
              <a:buNone/>
            </a:pPr>
            <a:r>
              <a:rPr lang="en-US" dirty="0"/>
              <a:t>6.2.3  (a) List all of the serotonergic receptor subtypes, (b) describe the signaling mechanisms of 5-HT1A and 5-HT2A receptors, and (c) list several agonists and antagonists at these receptor subtypes.</a:t>
            </a:r>
          </a:p>
          <a:p>
            <a:pPr marL="914400" indent="-914400">
              <a:lnSpc>
                <a:spcPct val="110000"/>
              </a:lnSpc>
              <a:spcBef>
                <a:spcPts val="1200"/>
              </a:spcBef>
              <a:buNone/>
            </a:pPr>
            <a:r>
              <a:rPr lang="en-US" dirty="0"/>
              <a:t>6.2.4  Discuss the therapeutic applications of drugs that act on the 5-HT1B/1D, 5-HT1F, and 5-HT3 subtypes and the mechanisms responsible for the therapeutic benefit in each case.</a:t>
            </a:r>
          </a:p>
        </p:txBody>
      </p:sp>
    </p:spTree>
    <p:extLst>
      <p:ext uri="{BB962C8B-B14F-4D97-AF65-F5344CB8AC3E}">
        <p14:creationId xmlns:p14="http://schemas.microsoft.com/office/powerpoint/2010/main" val="3982568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(1 of 12)</a:t>
            </a:r>
            <a:endParaRPr lang="en-US" dirty="0"/>
          </a:p>
        </p:txBody>
      </p:sp>
      <p:sp>
        <p:nvSpPr>
          <p:cNvPr id="3" name="Text Placeholder 2"/>
          <p:cNvSpPr>
            <a:spLocks noGrp="1"/>
          </p:cNvSpPr>
          <p:nvPr>
            <p:ph idx="1"/>
          </p:nvPr>
        </p:nvSpPr>
        <p:spPr/>
        <p:txBody>
          <a:bodyPr>
            <a:normAutofit fontScale="92500"/>
          </a:bodyPr>
          <a:lstStyle/>
          <a:p>
            <a:pPr marL="457200" indent="-457200">
              <a:lnSpc>
                <a:spcPct val="90000"/>
              </a:lnSpc>
              <a:spcBef>
                <a:spcPts val="1200"/>
              </a:spcBef>
              <a:buNone/>
            </a:pPr>
            <a:r>
              <a:rPr lang="en-US" sz="3500" dirty="0"/>
              <a:t>Multiple approaches have identified several behavioral and physiological functions of serotonin</a:t>
            </a:r>
          </a:p>
          <a:p>
            <a:pPr>
              <a:lnSpc>
                <a:spcPct val="100000"/>
              </a:lnSpc>
              <a:spcBef>
                <a:spcPts val="1200"/>
              </a:spcBef>
            </a:pPr>
            <a:r>
              <a:rPr lang="en-US" dirty="0"/>
              <a:t>Methodological approaches in human clinical research:</a:t>
            </a:r>
          </a:p>
          <a:p>
            <a:pPr lvl="1">
              <a:lnSpc>
                <a:spcPct val="100000"/>
              </a:lnSpc>
              <a:spcBef>
                <a:spcPts val="1200"/>
              </a:spcBef>
            </a:pPr>
            <a:r>
              <a:rPr lang="en-US" dirty="0"/>
              <a:t>Compare levels of 5-HIAA in CSF or 5-HT and 5-HIAA in postmortem brain regions with behavioral traits or neuropsychiatric disorders.</a:t>
            </a:r>
          </a:p>
          <a:p>
            <a:pPr lvl="1">
              <a:lnSpc>
                <a:spcPct val="100000"/>
              </a:lnSpc>
              <a:defRPr/>
            </a:pPr>
            <a:r>
              <a:rPr lang="en-US" dirty="0"/>
              <a:t>Assess responses to SSRIs or receptor agonists and antagonists.</a:t>
            </a:r>
          </a:p>
          <a:p>
            <a:pPr lvl="1">
              <a:lnSpc>
                <a:spcPct val="100000"/>
              </a:lnSpc>
              <a:defRPr/>
            </a:pPr>
            <a:r>
              <a:rPr lang="en-US" dirty="0"/>
              <a:t>Identify associations between psychiatric disorders and polymorphisms in the genes for SERT or for serotonergic receptors.</a:t>
            </a:r>
          </a:p>
        </p:txBody>
      </p:sp>
    </p:spTree>
    <p:extLst>
      <p:ext uri="{BB962C8B-B14F-4D97-AF65-F5344CB8AC3E}">
        <p14:creationId xmlns:p14="http://schemas.microsoft.com/office/powerpoint/2010/main" val="678798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(2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Pharmacological tools:</a:t>
            </a:r>
          </a:p>
          <a:p>
            <a:pPr>
              <a:lnSpc>
                <a:spcPct val="100000"/>
              </a:lnSpc>
              <a:spcBef>
                <a:spcPts val="1200"/>
              </a:spcBef>
            </a:pPr>
            <a:r>
              <a:rPr lang="en-US" dirty="0"/>
              <a:t>Serotonergic neurotoxins include para-</a:t>
            </a:r>
            <a:r>
              <a:rPr lang="en-US" dirty="0" err="1"/>
              <a:t>chloroamphetamine</a:t>
            </a:r>
            <a:r>
              <a:rPr lang="en-US" dirty="0"/>
              <a:t>, MDMA, </a:t>
            </a:r>
            <a:r>
              <a:rPr lang="en-US" b="1" dirty="0"/>
              <a:t>5,6-dihydroxytryptamine</a:t>
            </a:r>
            <a:r>
              <a:rPr lang="en-US" dirty="0"/>
              <a:t> (</a:t>
            </a:r>
            <a:r>
              <a:rPr lang="en-US" b="1" dirty="0"/>
              <a:t>5,6-DHT</a:t>
            </a:r>
            <a:r>
              <a:rPr lang="en-US" dirty="0"/>
              <a:t>) and (</a:t>
            </a:r>
            <a:r>
              <a:rPr lang="en-US" b="1" dirty="0"/>
              <a:t>5,7-DHT</a:t>
            </a:r>
            <a:r>
              <a:rPr lang="en-US" dirty="0"/>
              <a:t>) </a:t>
            </a:r>
          </a:p>
          <a:p>
            <a:pPr>
              <a:lnSpc>
                <a:spcPct val="100000"/>
              </a:lnSpc>
              <a:spcBef>
                <a:spcPts val="1200"/>
              </a:spcBef>
            </a:pPr>
            <a:r>
              <a:rPr lang="en-US" dirty="0"/>
              <a:t>Lesioning results in changes in hunger and eating behavior, anxiety, pain sensitivity, and learning and memory</a:t>
            </a:r>
          </a:p>
        </p:txBody>
      </p:sp>
    </p:spTree>
    <p:extLst>
      <p:ext uri="{BB962C8B-B14F-4D97-AF65-F5344CB8AC3E}">
        <p14:creationId xmlns:p14="http://schemas.microsoft.com/office/powerpoint/2010/main" val="3888923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(3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TPH2 knockout mice have complete loss of 5-HT in the brain; can be temporarily restored with 5-HTP</a:t>
            </a:r>
          </a:p>
          <a:p>
            <a:pPr>
              <a:lnSpc>
                <a:spcPct val="100000"/>
              </a:lnSpc>
              <a:spcBef>
                <a:spcPts val="1200"/>
              </a:spcBef>
            </a:pPr>
            <a:r>
              <a:rPr lang="en-US" dirty="0"/>
              <a:t>Most consistently observed behavioral effect of eliminating 5-HT: large increase in aggressive behavior measured by the resident-intruder test</a:t>
            </a:r>
          </a:p>
          <a:p>
            <a:pPr>
              <a:lnSpc>
                <a:spcPct val="100000"/>
              </a:lnSpc>
              <a:spcBef>
                <a:spcPts val="1200"/>
              </a:spcBef>
            </a:pPr>
            <a:r>
              <a:rPr lang="en-US" dirty="0"/>
              <a:t>Reversed by 5-HTP plus </a:t>
            </a:r>
            <a:r>
              <a:rPr lang="en-US" b="1" dirty="0"/>
              <a:t>carbidopa</a:t>
            </a:r>
            <a:r>
              <a:rPr lang="en-US" dirty="0"/>
              <a:t> (AADC inhibitor)</a:t>
            </a:r>
          </a:p>
        </p:txBody>
      </p:sp>
    </p:spTree>
    <p:extLst>
      <p:ext uri="{BB962C8B-B14F-4D97-AF65-F5344CB8AC3E}">
        <p14:creationId xmlns:p14="http://schemas.microsoft.com/office/powerpoint/2010/main" val="634344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7FF92-3F61-2C49-92D4-EC63887C6923}"/>
              </a:ext>
            </a:extLst>
          </p:cNvPr>
          <p:cNvSpPr>
            <a:spLocks noGrp="1"/>
          </p:cNvSpPr>
          <p:nvPr>
            <p:ph type="title"/>
          </p:nvPr>
        </p:nvSpPr>
        <p:spPr/>
        <p:txBody>
          <a:bodyPr/>
          <a:lstStyle/>
          <a:p>
            <a:r>
              <a:rPr lang="en-US" dirty="0"/>
              <a:t>FIGURE 6.11  Impulsive aggression in male </a:t>
            </a:r>
            <a:r>
              <a:rPr lang="en-US" i="1" dirty="0"/>
              <a:t>TPH2</a:t>
            </a:r>
            <a:r>
              <a:rPr lang="en-US" dirty="0"/>
              <a:t>-knockout mice </a:t>
            </a:r>
          </a:p>
        </p:txBody>
      </p:sp>
      <p:pic>
        <p:nvPicPr>
          <p:cNvPr id="6" name="Content Placeholder 5" descr="A bar graph depicts the latency and number of attacks for two types of mice. The horizontal axis represents the two categories of mice, wild-type and knockout. The vertical axis on the left represents the latency of attacks ranging from 0 to 300 and the vertical axis on the right represents the number of attacks ranging from 0 to 10. The approximated data from the graph is as follows. Latency: WT, 260; KO, 150. Number of attacks: WT, 2; KO, 7.8.&#10;&#10;A bar graph depicts the latency and number of attacks for the different enzymes. The horizontal axis represents the three categories such as con, CD and 5-HTP. The vertical axis on the left represents the latency of attacks ranging from 0 to 250 and the vertical axis on the right represents the number of attacks ranging from 0 to 30. The approximated data from the graph is as follows. Latency: Con, 50; CD, 20; and 5-HTP, 160. Number of attacks: Con, 25; CD, 20; and 5-HTP, 5.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415735"/>
            <a:ext cx="11376025" cy="4428167"/>
          </a:xfrm>
        </p:spPr>
      </p:pic>
    </p:spTree>
    <p:extLst>
      <p:ext uri="{BB962C8B-B14F-4D97-AF65-F5344CB8AC3E}">
        <p14:creationId xmlns:p14="http://schemas.microsoft.com/office/powerpoint/2010/main" val="185973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(4 of 12)</a:t>
            </a:r>
            <a:endParaRPr lang="en-US" dirty="0"/>
          </a:p>
        </p:txBody>
      </p:sp>
      <p:sp>
        <p:nvSpPr>
          <p:cNvPr id="3" name="Text Placeholder 2"/>
          <p:cNvSpPr>
            <a:spLocks noGrp="1"/>
          </p:cNvSpPr>
          <p:nvPr>
            <p:ph idx="1"/>
          </p:nvPr>
        </p:nvSpPr>
        <p:spPr/>
        <p:txBody>
          <a:bodyPr>
            <a:normAutofit fontScale="77500" lnSpcReduction="20000"/>
          </a:bodyPr>
          <a:lstStyle/>
          <a:p>
            <a:pPr marL="457200" indent="-457200">
              <a:lnSpc>
                <a:spcPct val="110000"/>
              </a:lnSpc>
              <a:spcBef>
                <a:spcPts val="1200"/>
              </a:spcBef>
              <a:buNone/>
            </a:pPr>
            <a:r>
              <a:rPr lang="en-US" sz="4100" dirty="0"/>
              <a:t>Multiple approaches have identified several behavioral and physiological functions of serotonin</a:t>
            </a:r>
          </a:p>
          <a:p>
            <a:pPr>
              <a:lnSpc>
                <a:spcPct val="120000"/>
              </a:lnSpc>
              <a:spcBef>
                <a:spcPts val="1200"/>
              </a:spcBef>
            </a:pPr>
            <a:r>
              <a:rPr lang="en-US" dirty="0"/>
              <a:t>Other behaviors of TPH2-knockout mice:</a:t>
            </a:r>
          </a:p>
          <a:p>
            <a:pPr lvl="1">
              <a:lnSpc>
                <a:spcPct val="120000"/>
              </a:lnSpc>
              <a:spcBef>
                <a:spcPts val="1200"/>
              </a:spcBef>
            </a:pPr>
            <a:r>
              <a:rPr lang="en-US" dirty="0"/>
              <a:t>More impulsive and compulsive </a:t>
            </a:r>
          </a:p>
          <a:p>
            <a:pPr lvl="1">
              <a:lnSpc>
                <a:spcPct val="120000"/>
              </a:lnSpc>
              <a:spcBef>
                <a:spcPts val="1200"/>
              </a:spcBef>
            </a:pPr>
            <a:r>
              <a:rPr lang="en-US" dirty="0"/>
              <a:t>Less anxious</a:t>
            </a:r>
          </a:p>
          <a:p>
            <a:pPr lvl="1">
              <a:lnSpc>
                <a:spcPct val="120000"/>
              </a:lnSpc>
              <a:spcBef>
                <a:spcPts val="1200"/>
              </a:spcBef>
            </a:pPr>
            <a:r>
              <a:rPr lang="en-US" dirty="0"/>
              <a:t>Have poor social communication and social behaviors, including maternal deficit</a:t>
            </a:r>
          </a:p>
          <a:p>
            <a:pPr>
              <a:lnSpc>
                <a:spcPct val="120000"/>
              </a:lnSpc>
              <a:spcBef>
                <a:spcPts val="1200"/>
              </a:spcBef>
            </a:pPr>
            <a:r>
              <a:rPr lang="en-US" dirty="0"/>
              <a:t>Physiological deficits:</a:t>
            </a:r>
          </a:p>
          <a:p>
            <a:pPr lvl="1">
              <a:lnSpc>
                <a:spcPct val="120000"/>
              </a:lnSpc>
              <a:spcBef>
                <a:spcPts val="1200"/>
              </a:spcBef>
            </a:pPr>
            <a:r>
              <a:rPr lang="en-US" dirty="0"/>
              <a:t>Poor thermoregulation</a:t>
            </a:r>
          </a:p>
          <a:p>
            <a:pPr lvl="1">
              <a:lnSpc>
                <a:spcPct val="120000"/>
              </a:lnSpc>
              <a:spcBef>
                <a:spcPts val="1200"/>
              </a:spcBef>
            </a:pPr>
            <a:r>
              <a:rPr lang="en-US" dirty="0"/>
              <a:t>Abnormal respiration, including </a:t>
            </a:r>
            <a:r>
              <a:rPr lang="en-US" b="1" dirty="0"/>
              <a:t>apnea</a:t>
            </a:r>
          </a:p>
        </p:txBody>
      </p:sp>
    </p:spTree>
    <p:extLst>
      <p:ext uri="{BB962C8B-B14F-4D97-AF65-F5344CB8AC3E}">
        <p14:creationId xmlns:p14="http://schemas.microsoft.com/office/powerpoint/2010/main" val="3921699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(5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5-HT has a key role in regulation of anxiety</a:t>
            </a:r>
          </a:p>
          <a:p>
            <a:pPr>
              <a:lnSpc>
                <a:spcPct val="100000"/>
              </a:lnSpc>
              <a:spcBef>
                <a:spcPts val="1200"/>
              </a:spcBef>
            </a:pPr>
            <a:r>
              <a:rPr lang="en-US" dirty="0"/>
              <a:t>SSRIs are used to treat anxiety disorders; target 5-HT</a:t>
            </a:r>
            <a:r>
              <a:rPr lang="en-US" baseline="-25000" dirty="0"/>
              <a:t>1A</a:t>
            </a:r>
            <a:r>
              <a:rPr lang="en-US" dirty="0"/>
              <a:t> receptors: </a:t>
            </a:r>
            <a:r>
              <a:rPr lang="en-US" b="1" dirty="0"/>
              <a:t>buspirone</a:t>
            </a:r>
            <a:r>
              <a:rPr lang="en-US" dirty="0"/>
              <a:t> (</a:t>
            </a:r>
            <a:r>
              <a:rPr lang="en-US" b="1" dirty="0"/>
              <a:t>BuSpar</a:t>
            </a:r>
            <a:r>
              <a:rPr lang="en-US" dirty="0"/>
              <a:t>), </a:t>
            </a:r>
            <a:r>
              <a:rPr lang="en-US" b="1" dirty="0"/>
              <a:t>Vilazodone</a:t>
            </a:r>
            <a:r>
              <a:rPr lang="en-US" dirty="0"/>
              <a:t> (</a:t>
            </a:r>
            <a:r>
              <a:rPr lang="en-US" b="1" dirty="0" err="1"/>
              <a:t>Viibryd</a:t>
            </a:r>
            <a:r>
              <a:rPr lang="en-US" dirty="0"/>
              <a:t>)</a:t>
            </a:r>
          </a:p>
          <a:p>
            <a:pPr>
              <a:lnSpc>
                <a:spcPct val="100000"/>
              </a:lnSpc>
              <a:spcBef>
                <a:spcPts val="1200"/>
              </a:spcBef>
            </a:pPr>
            <a:r>
              <a:rPr lang="en-US" dirty="0"/>
              <a:t> In experimental animals, partial and full 5-HT</a:t>
            </a:r>
            <a:r>
              <a:rPr lang="en-US" baseline="-25000" dirty="0"/>
              <a:t>1A</a:t>
            </a:r>
            <a:r>
              <a:rPr lang="en-US" dirty="0"/>
              <a:t> receptor agonists have anxiolytic effects; 5-HT</a:t>
            </a:r>
            <a:r>
              <a:rPr lang="en-US" baseline="-25000" dirty="0"/>
              <a:t>1A</a:t>
            </a:r>
            <a:r>
              <a:rPr lang="en-US" dirty="0"/>
              <a:t>-knockout mice show increased anxiety-like behavior</a:t>
            </a:r>
          </a:p>
        </p:txBody>
      </p:sp>
    </p:spTree>
    <p:extLst>
      <p:ext uri="{BB962C8B-B14F-4D97-AF65-F5344CB8AC3E}">
        <p14:creationId xmlns:p14="http://schemas.microsoft.com/office/powerpoint/2010/main" val="3481949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(6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Are anxiety-regulating 5-HT</a:t>
            </a:r>
            <a:r>
              <a:rPr lang="en-US" baseline="-25000" dirty="0"/>
              <a:t>1A</a:t>
            </a:r>
            <a:r>
              <a:rPr lang="en-US" dirty="0"/>
              <a:t> receptors postsynaptic or presynaptic?</a:t>
            </a:r>
          </a:p>
          <a:p>
            <a:pPr>
              <a:lnSpc>
                <a:spcPct val="100000"/>
              </a:lnSpc>
              <a:spcBef>
                <a:spcPts val="1200"/>
              </a:spcBef>
            </a:pPr>
            <a:r>
              <a:rPr lang="en-US" dirty="0"/>
              <a:t>Experiments show that excitation of the serotonergic nerve terminals (increases 5-HT release) had an anxiolytic effect – increased time in open-arm of elevated plus-maze; inhibition of the terminals was anxiogenic.</a:t>
            </a:r>
          </a:p>
          <a:p>
            <a:pPr>
              <a:lnSpc>
                <a:spcPct val="100000"/>
              </a:lnSpc>
              <a:spcBef>
                <a:spcPts val="1200"/>
              </a:spcBef>
            </a:pPr>
            <a:r>
              <a:rPr lang="en-US" dirty="0"/>
              <a:t>Results indicate the importance of </a:t>
            </a:r>
            <a:r>
              <a:rPr lang="en-US" i="1" dirty="0"/>
              <a:t>postsynaptic</a:t>
            </a:r>
            <a:r>
              <a:rPr lang="en-US" dirty="0"/>
              <a:t> 5-HT</a:t>
            </a:r>
            <a:r>
              <a:rPr lang="en-US" baseline="-25000" dirty="0"/>
              <a:t>1A</a:t>
            </a:r>
            <a:r>
              <a:rPr lang="en-US" dirty="0"/>
              <a:t> receptors in reducing anxiety.</a:t>
            </a:r>
          </a:p>
        </p:txBody>
      </p:sp>
    </p:spTree>
    <p:extLst>
      <p:ext uri="{BB962C8B-B14F-4D97-AF65-F5344CB8AC3E}">
        <p14:creationId xmlns:p14="http://schemas.microsoft.com/office/powerpoint/2010/main" val="3264207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0DF8C-F751-2F4C-B5D4-7A1EF57AE365}"/>
              </a:ext>
            </a:extLst>
          </p:cNvPr>
          <p:cNvSpPr>
            <a:spLocks noGrp="1"/>
          </p:cNvSpPr>
          <p:nvPr>
            <p:ph type="title"/>
          </p:nvPr>
        </p:nvSpPr>
        <p:spPr/>
        <p:txBody>
          <a:bodyPr/>
          <a:lstStyle/>
          <a:p>
            <a:r>
              <a:rPr lang="en-US" dirty="0"/>
              <a:t>FIGURE 6.12  Effects of optogenetic excitation or inhibition of serotonergic nerve terminals in the dorsal bed nucleus of the </a:t>
            </a:r>
            <a:r>
              <a:rPr lang="en-US" dirty="0" err="1"/>
              <a:t>stria</a:t>
            </a:r>
            <a:r>
              <a:rPr lang="en-US" dirty="0"/>
              <a:t> terminalis (</a:t>
            </a:r>
            <a:r>
              <a:rPr lang="en-US" dirty="0" err="1"/>
              <a:t>dBNST</a:t>
            </a:r>
            <a:r>
              <a:rPr lang="en-US" dirty="0"/>
              <a:t>) on anxiety-like behavior in the elevated plus-maze </a:t>
            </a:r>
          </a:p>
        </p:txBody>
      </p:sp>
      <p:pic>
        <p:nvPicPr>
          <p:cNvPr id="6" name="Content Placeholder 5" descr="A figure depicts the raphe serotonergic neurons located in the brainstem branches to the dorsal part of the BNST neurons located in the thalamus region on which the laser emits the blue-light.&#10;&#10;A bar graph depicts the open arm time for two categories of control and ChR2. The horizontal axis represents the on and off conditions of light. The vertical axis represents the open arm time in seconds ranging from 0 to 40. The approximated data in the order of control and ChR2 for three conditions of light are as follows. Off: 19 and 18. On: 12 and 26. Off: 16 and 14.&#10;&#10;A figure depicts the raphe serotonergic neurons located in the brainstem branches to the dorsal part of the BNST neurons located in the thalamus region on which the laser emits the green-light.&#10;&#10;A bar graph depicts the open arm time for two categories of control and Arch. The horizontal axis represents the on and off conditions of light. The vertical axis represents the open arm time in seconds ranging from 0 to 80. The approximated data in the order of control and Arch for two conditions of light are as follows. Off: 59 and 55. On: 50 and 15.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109682" y="668338"/>
            <a:ext cx="9972636" cy="6108700"/>
          </a:xfrm>
        </p:spPr>
      </p:pic>
    </p:spTree>
    <p:extLst>
      <p:ext uri="{BB962C8B-B14F-4D97-AF65-F5344CB8AC3E}">
        <p14:creationId xmlns:p14="http://schemas.microsoft.com/office/powerpoint/2010/main" val="3066167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(7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Reactive aggression: response to provocation, threat, or frustration; accompanied by anger or rage; proactive aggression: planned; to achieve a benefit</a:t>
            </a:r>
          </a:p>
          <a:p>
            <a:pPr>
              <a:lnSpc>
                <a:spcPct val="100000"/>
              </a:lnSpc>
              <a:spcBef>
                <a:spcPts val="1200"/>
              </a:spcBef>
            </a:pPr>
            <a:r>
              <a:rPr lang="en-US" dirty="0"/>
              <a:t>Neural circuit underlying reactive aggression in humans includes cortical areas, striatum, amygdala, BNST, hippocampus, hypothalamus, and periaqueductal gray</a:t>
            </a:r>
          </a:p>
          <a:p>
            <a:pPr>
              <a:lnSpc>
                <a:spcPct val="100000"/>
              </a:lnSpc>
              <a:spcBef>
                <a:spcPts val="1200"/>
              </a:spcBef>
            </a:pPr>
            <a:r>
              <a:rPr lang="en-US" dirty="0"/>
              <a:t>Amygdala and BNST: process threatening stimuli</a:t>
            </a:r>
          </a:p>
        </p:txBody>
      </p:sp>
    </p:spTree>
    <p:extLst>
      <p:ext uri="{BB962C8B-B14F-4D97-AF65-F5344CB8AC3E}">
        <p14:creationId xmlns:p14="http://schemas.microsoft.com/office/powerpoint/2010/main" val="35429546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41FA9-9C0E-0D4C-8C8F-1A02275E3DDF}"/>
              </a:ext>
            </a:extLst>
          </p:cNvPr>
          <p:cNvSpPr>
            <a:spLocks noGrp="1"/>
          </p:cNvSpPr>
          <p:nvPr>
            <p:ph type="title"/>
          </p:nvPr>
        </p:nvSpPr>
        <p:spPr/>
        <p:txBody>
          <a:bodyPr/>
          <a:lstStyle/>
          <a:p>
            <a:r>
              <a:rPr lang="en-US" dirty="0"/>
              <a:t>FIGURE 6.13  The amygdala–BNST circuit involved in threat processing </a:t>
            </a:r>
          </a:p>
        </p:txBody>
      </p:sp>
      <p:pic>
        <p:nvPicPr>
          <p:cNvPr id="6" name="Content Placeholder 5" descr="The amygdala BNST circuit is depicted in this illustration. The amygdala nuclei are located in the middle and are separated into five sections. The amygdala nuclei receive input from many parts of the brain, which is indicated by single headed arrows. The lateral nucleus receives sensory information from the thalamus, contextual input from the hippocampus, and evaluative and regulatory signals from the cerebral cortex, which are subsequently transported to the central nucleus. This is fed into the BNST, which then generates two outputs to downstream target areas, mediating aggressive or defensive response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51933" y="479425"/>
            <a:ext cx="6288135" cy="6300788"/>
          </a:xfrm>
        </p:spPr>
      </p:pic>
    </p:spTree>
    <p:extLst>
      <p:ext uri="{BB962C8B-B14F-4D97-AF65-F5344CB8AC3E}">
        <p14:creationId xmlns:p14="http://schemas.microsoft.com/office/powerpoint/2010/main" val="4038877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(8 of 12)</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Multiple approaches have identified several behavioral and physiological functions of serotonin</a:t>
            </a:r>
          </a:p>
          <a:p>
            <a:pPr>
              <a:lnSpc>
                <a:spcPct val="100000"/>
              </a:lnSpc>
              <a:spcBef>
                <a:spcPct val="45000"/>
              </a:spcBef>
              <a:defRPr/>
            </a:pPr>
            <a:r>
              <a:rPr lang="en-US" altLang="en-US" b="1" dirty="0">
                <a:ea typeface="Geneva" pitchFamily="121" charset="-128"/>
              </a:rPr>
              <a:t>Serotonin deficiency hypothesis</a:t>
            </a:r>
            <a:r>
              <a:rPr lang="en-US" altLang="en-US" dirty="0">
                <a:ea typeface="Geneva" pitchFamily="121" charset="-128"/>
              </a:rPr>
              <a:t> of aggression: low CNS serotonergic activity is associated with </a:t>
            </a:r>
            <a:r>
              <a:rPr lang="en-US" altLang="en-US" dirty="0" err="1">
                <a:ea typeface="Geneva" pitchFamily="121" charset="-128"/>
              </a:rPr>
              <a:t>hyperaggressiveness</a:t>
            </a:r>
            <a:r>
              <a:rPr lang="en-US" altLang="en-US" dirty="0">
                <a:ea typeface="Geneva" pitchFamily="121" charset="-128"/>
              </a:rPr>
              <a:t>; supported by animal studies</a:t>
            </a:r>
          </a:p>
          <a:p>
            <a:pPr>
              <a:lnSpc>
                <a:spcPct val="100000"/>
              </a:lnSpc>
              <a:spcBef>
                <a:spcPct val="45000"/>
              </a:spcBef>
              <a:defRPr/>
            </a:pPr>
            <a:r>
              <a:rPr lang="en-US" altLang="en-US" dirty="0">
                <a:ea typeface="Geneva" pitchFamily="121" charset="-128"/>
              </a:rPr>
              <a:t>The SSRI sertraline can reduce anger and irritability in a variety of psychiatric disorders</a:t>
            </a:r>
          </a:p>
          <a:p>
            <a:pPr>
              <a:lnSpc>
                <a:spcPct val="100000"/>
              </a:lnSpc>
              <a:spcBef>
                <a:spcPct val="45000"/>
              </a:spcBef>
              <a:defRPr/>
            </a:pPr>
            <a:r>
              <a:rPr lang="en-US" altLang="en-US" dirty="0">
                <a:ea typeface="Geneva" pitchFamily="121" charset="-128"/>
              </a:rPr>
              <a:t>Relationship between 5-HT and aggression in humans may be more complex</a:t>
            </a:r>
          </a:p>
        </p:txBody>
      </p:sp>
    </p:spTree>
    <p:extLst>
      <p:ext uri="{BB962C8B-B14F-4D97-AF65-F5344CB8AC3E}">
        <p14:creationId xmlns:p14="http://schemas.microsoft.com/office/powerpoint/2010/main" val="32639737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(9 of 12)</a:t>
            </a:r>
            <a:endParaRPr lang="en-US" dirty="0"/>
          </a:p>
        </p:txBody>
      </p:sp>
      <p:sp>
        <p:nvSpPr>
          <p:cNvPr id="3" name="Text Placeholder 2"/>
          <p:cNvSpPr>
            <a:spLocks noGrp="1"/>
          </p:cNvSpPr>
          <p:nvPr>
            <p:ph idx="1"/>
          </p:nvPr>
        </p:nvSpPr>
        <p:spPr/>
        <p:txBody>
          <a:bodyPr>
            <a:normAutofit fontScale="70000" lnSpcReduction="20000"/>
          </a:bodyPr>
          <a:lstStyle/>
          <a:p>
            <a:pPr marL="457200" indent="-457200">
              <a:lnSpc>
                <a:spcPct val="110000"/>
              </a:lnSpc>
              <a:spcBef>
                <a:spcPts val="1200"/>
              </a:spcBef>
              <a:buNone/>
            </a:pPr>
            <a:r>
              <a:rPr lang="en-US" sz="4600" dirty="0"/>
              <a:t>Multiple approaches have identified several behavioral and physiological functions of serotonin</a:t>
            </a:r>
          </a:p>
          <a:p>
            <a:pPr>
              <a:lnSpc>
                <a:spcPct val="120000"/>
              </a:lnSpc>
              <a:spcBef>
                <a:spcPts val="1200"/>
              </a:spcBef>
            </a:pPr>
            <a:r>
              <a:rPr lang="en-US" dirty="0"/>
              <a:t>Serotonin influences hunger and eating behavior</a:t>
            </a:r>
          </a:p>
          <a:p>
            <a:pPr algn="l">
              <a:lnSpc>
                <a:spcPct val="120000"/>
              </a:lnSpc>
            </a:pPr>
            <a:r>
              <a:rPr lang="en-US" dirty="0"/>
              <a:t>Neurons in AN secrete </a:t>
            </a:r>
            <a:r>
              <a:rPr lang="el-GR" dirty="0"/>
              <a:t>α-</a:t>
            </a:r>
            <a:r>
              <a:rPr lang="en-US" dirty="0"/>
              <a:t>melanocyte stimulating hormone (</a:t>
            </a:r>
            <a:r>
              <a:rPr lang="el-GR" dirty="0"/>
              <a:t>α-</a:t>
            </a:r>
            <a:r>
              <a:rPr lang="en-US" dirty="0"/>
              <a:t>MSH), and </a:t>
            </a:r>
            <a:r>
              <a:rPr lang="en-US" b="1" i="0" u="none" strike="noStrike" baseline="0" dirty="0"/>
              <a:t>neuropeptide Y </a:t>
            </a:r>
            <a:r>
              <a:rPr lang="en-US" b="0" i="0" u="none" strike="noStrike" baseline="0" dirty="0"/>
              <a:t>(</a:t>
            </a:r>
            <a:r>
              <a:rPr lang="en-US" b="1" i="0" u="none" strike="noStrike" baseline="0" dirty="0"/>
              <a:t>NPY</a:t>
            </a:r>
            <a:r>
              <a:rPr lang="en-US" b="0" i="0" u="none" strike="noStrike" baseline="0" dirty="0"/>
              <a:t>) and </a:t>
            </a:r>
            <a:r>
              <a:rPr lang="en-US" b="1" i="0" u="none" strike="noStrike" baseline="0" dirty="0"/>
              <a:t>agouti-related peptide </a:t>
            </a:r>
            <a:r>
              <a:rPr lang="en-US" b="0" i="0" u="none" strike="noStrike" baseline="0" dirty="0"/>
              <a:t>(</a:t>
            </a:r>
            <a:r>
              <a:rPr lang="en-US" b="1" i="0" u="none" strike="noStrike" baseline="0" dirty="0" err="1"/>
              <a:t>AgRP</a:t>
            </a:r>
            <a:r>
              <a:rPr lang="en-US" b="0" i="0" u="none" strike="noStrike" baseline="0" dirty="0"/>
              <a:t>).</a:t>
            </a:r>
            <a:endParaRPr lang="en-US" dirty="0"/>
          </a:p>
          <a:p>
            <a:pPr>
              <a:lnSpc>
                <a:spcPct val="120000"/>
              </a:lnSpc>
              <a:spcBef>
                <a:spcPts val="1200"/>
              </a:spcBef>
            </a:pPr>
            <a:r>
              <a:rPr lang="en-US" dirty="0"/>
              <a:t>Both neurons project to the PVN and synapse on melanocortin receptor neurons; α-MSH is an agonist at the MC</a:t>
            </a:r>
            <a:r>
              <a:rPr lang="en-US" baseline="-25000" dirty="0"/>
              <a:t>3/4</a:t>
            </a:r>
            <a:r>
              <a:rPr lang="en-US" dirty="0"/>
              <a:t> receptors; </a:t>
            </a:r>
            <a:r>
              <a:rPr lang="en-US" dirty="0" err="1"/>
              <a:t>AgRP</a:t>
            </a:r>
            <a:r>
              <a:rPr lang="en-US" dirty="0"/>
              <a:t> block the effect</a:t>
            </a:r>
          </a:p>
          <a:p>
            <a:pPr>
              <a:lnSpc>
                <a:spcPct val="120000"/>
              </a:lnSpc>
              <a:spcBef>
                <a:spcPts val="1200"/>
              </a:spcBef>
            </a:pPr>
            <a:r>
              <a:rPr lang="en-US" dirty="0"/>
              <a:t>Activation of MC</a:t>
            </a:r>
            <a:r>
              <a:rPr lang="en-US" baseline="-25000" dirty="0"/>
              <a:t>3/4</a:t>
            </a:r>
            <a:r>
              <a:rPr lang="en-US" dirty="0"/>
              <a:t> receptors is </a:t>
            </a:r>
            <a:r>
              <a:rPr lang="en-US" b="1" dirty="0"/>
              <a:t>anorexigenic</a:t>
            </a:r>
            <a:r>
              <a:rPr lang="en-US" dirty="0"/>
              <a:t> (appetite-suppressing), inhibition of these receptors by </a:t>
            </a:r>
            <a:r>
              <a:rPr lang="en-US" dirty="0" err="1"/>
              <a:t>AgRP</a:t>
            </a:r>
            <a:r>
              <a:rPr lang="en-US" dirty="0"/>
              <a:t> is </a:t>
            </a:r>
            <a:r>
              <a:rPr lang="en-US" b="1" dirty="0"/>
              <a:t>orexigenic</a:t>
            </a:r>
            <a:r>
              <a:rPr lang="en-US" dirty="0"/>
              <a:t> (appetite-promoting)</a:t>
            </a:r>
          </a:p>
          <a:p>
            <a:pPr>
              <a:lnSpc>
                <a:spcPct val="120000"/>
              </a:lnSpc>
              <a:spcBef>
                <a:spcPts val="1200"/>
              </a:spcBef>
            </a:pPr>
            <a:r>
              <a:rPr lang="en-US" dirty="0"/>
              <a:t>The selective 5-HT</a:t>
            </a:r>
            <a:r>
              <a:rPr lang="en-US" baseline="-25000" dirty="0"/>
              <a:t>2C</a:t>
            </a:r>
            <a:r>
              <a:rPr lang="en-US" dirty="0"/>
              <a:t> agonist </a:t>
            </a:r>
            <a:r>
              <a:rPr lang="en-US" b="1" dirty="0" err="1"/>
              <a:t>lorcaserin</a:t>
            </a:r>
            <a:r>
              <a:rPr lang="en-US" dirty="0"/>
              <a:t> (</a:t>
            </a:r>
            <a:r>
              <a:rPr lang="en-US" b="1" dirty="0" err="1"/>
              <a:t>Belviq</a:t>
            </a:r>
            <a:r>
              <a:rPr lang="en-US" dirty="0"/>
              <a:t>) was developed for the treatment of obesity</a:t>
            </a:r>
          </a:p>
        </p:txBody>
      </p:sp>
    </p:spTree>
    <p:extLst>
      <p:ext uri="{BB962C8B-B14F-4D97-AF65-F5344CB8AC3E}">
        <p14:creationId xmlns:p14="http://schemas.microsoft.com/office/powerpoint/2010/main" val="36541672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86573-8597-E346-81BF-48D4C2A0AAAD}"/>
              </a:ext>
            </a:extLst>
          </p:cNvPr>
          <p:cNvSpPr>
            <a:spLocks noGrp="1"/>
          </p:cNvSpPr>
          <p:nvPr>
            <p:ph type="title"/>
          </p:nvPr>
        </p:nvSpPr>
        <p:spPr/>
        <p:txBody>
          <a:bodyPr/>
          <a:lstStyle/>
          <a:p>
            <a:r>
              <a:rPr lang="en-US" dirty="0"/>
              <a:t>FIGURE 6.14  Neural circuit through which 5-HT suppresses appetite </a:t>
            </a:r>
          </a:p>
        </p:txBody>
      </p:sp>
      <p:pic>
        <p:nvPicPr>
          <p:cNvPr id="6" name="Content Placeholder 5" descr="The neuronal network of the paraventricular and arcuate nuclei is illustrated. The 5-HT 1B and 2C transporters of the NPY/AgRP and POMC neurons of the Arcuate nucleus receive raphe 5-HT inputs. The NPY/AgRP neuron transmits a negative AgRP signal, whereas the POMC neuron transmits a positive alpha-MSH signal to the Melanocortin receptor neuron of the Paraventricular nucleus, which is then transmitted to various brain area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64585" y="479425"/>
            <a:ext cx="6262831" cy="6300788"/>
          </a:xfrm>
        </p:spPr>
      </p:pic>
    </p:spTree>
    <p:extLst>
      <p:ext uri="{BB962C8B-B14F-4D97-AF65-F5344CB8AC3E}">
        <p14:creationId xmlns:p14="http://schemas.microsoft.com/office/powerpoint/2010/main" val="3337555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(10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altLang="en-US" dirty="0">
                <a:ea typeface="Geneva" pitchFamily="121" charset="-128"/>
              </a:rPr>
              <a:t>Most of the body’s 5-HT is located in the gut, in the enteric nervous system, and synthesized by </a:t>
            </a:r>
            <a:r>
              <a:rPr lang="en-US" altLang="en-US" b="1" dirty="0">
                <a:ea typeface="Geneva" pitchFamily="121" charset="-128"/>
              </a:rPr>
              <a:t>enterochromaffin cells </a:t>
            </a:r>
            <a:r>
              <a:rPr lang="en-US" altLang="en-US" dirty="0">
                <a:ea typeface="Geneva" pitchFamily="121" charset="-128"/>
              </a:rPr>
              <a:t>using TPH1.</a:t>
            </a:r>
          </a:p>
          <a:p>
            <a:pPr>
              <a:lnSpc>
                <a:spcPct val="100000"/>
              </a:lnSpc>
              <a:spcBef>
                <a:spcPts val="1200"/>
              </a:spcBef>
            </a:pPr>
            <a:r>
              <a:rPr lang="en-US" dirty="0"/>
              <a:t>Food in the gut stimulates 5-HT release – promotes secretion of metabolic hormones and increases peristaltic activity.</a:t>
            </a:r>
          </a:p>
        </p:txBody>
      </p:sp>
    </p:spTree>
    <p:extLst>
      <p:ext uri="{BB962C8B-B14F-4D97-AF65-F5344CB8AC3E}">
        <p14:creationId xmlns:p14="http://schemas.microsoft.com/office/powerpoint/2010/main" val="31807475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5625-CAC3-7C4E-862A-47B997FD28A4}"/>
              </a:ext>
            </a:extLst>
          </p:cNvPr>
          <p:cNvSpPr>
            <a:spLocks noGrp="1"/>
          </p:cNvSpPr>
          <p:nvPr>
            <p:ph type="title"/>
          </p:nvPr>
        </p:nvSpPr>
        <p:spPr/>
        <p:txBody>
          <a:bodyPr/>
          <a:lstStyle/>
          <a:p>
            <a:r>
              <a:rPr lang="en-US" dirty="0"/>
              <a:t>FIGURE 6.15  Release and uptake of 5-HT in the intestine </a:t>
            </a:r>
          </a:p>
        </p:txBody>
      </p:sp>
      <p:pic>
        <p:nvPicPr>
          <p:cNvPr id="6" name="Content Placeholder 5" descr="A three-part illustration depicts the release and uptake of 5-HT in the intestine at three different phases. The enterochromaffin cell collects serotonin when it is at rest. The sensory fiber is lined with 5-HT receptors. The serotonin is transferred from the EC cell to the 5-HT receptors during stimulation. During recovery, serotonin is transported from platelets to cells via serotonin transporter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54208"/>
            <a:ext cx="11376025" cy="5351222"/>
          </a:xfrm>
        </p:spPr>
      </p:pic>
    </p:spTree>
    <p:extLst>
      <p:ext uri="{BB962C8B-B14F-4D97-AF65-F5344CB8AC3E}">
        <p14:creationId xmlns:p14="http://schemas.microsoft.com/office/powerpoint/2010/main" val="295996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(11 of 12)</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sz="3200" dirty="0"/>
              <a:t>Multiple approaches have identified several behavioral and physiological functions of serotonin</a:t>
            </a:r>
          </a:p>
          <a:p>
            <a:pPr>
              <a:lnSpc>
                <a:spcPct val="100000"/>
              </a:lnSpc>
              <a:spcBef>
                <a:spcPts val="1200"/>
              </a:spcBef>
            </a:pPr>
            <a:r>
              <a:rPr lang="en-US" dirty="0"/>
              <a:t>The 5-HT</a:t>
            </a:r>
            <a:r>
              <a:rPr lang="en-US" baseline="-25000" dirty="0"/>
              <a:t>3</a:t>
            </a:r>
            <a:r>
              <a:rPr lang="en-US" dirty="0"/>
              <a:t> antagonist </a:t>
            </a:r>
            <a:r>
              <a:rPr lang="en-US" b="1" dirty="0" err="1"/>
              <a:t>alosetron</a:t>
            </a:r>
            <a:r>
              <a:rPr lang="en-US" dirty="0"/>
              <a:t> (</a:t>
            </a:r>
            <a:r>
              <a:rPr lang="en-US" b="1" dirty="0" err="1"/>
              <a:t>Lotronex</a:t>
            </a:r>
            <a:r>
              <a:rPr lang="en-US" dirty="0"/>
              <a:t>) is approved for treating </a:t>
            </a:r>
            <a:r>
              <a:rPr lang="en-US" b="1" dirty="0"/>
              <a:t>irritable bowel syndrome</a:t>
            </a:r>
            <a:r>
              <a:rPr lang="en-US" dirty="0"/>
              <a:t> (IBS), but has potentially dangerous side effects; a partial agonist my prove effective</a:t>
            </a:r>
          </a:p>
          <a:p>
            <a:pPr>
              <a:lnSpc>
                <a:spcPct val="100000"/>
              </a:lnSpc>
              <a:spcBef>
                <a:spcPts val="1200"/>
              </a:spcBef>
            </a:pPr>
            <a:r>
              <a:rPr lang="en-US" dirty="0"/>
              <a:t>Two 5-HT</a:t>
            </a:r>
            <a:r>
              <a:rPr lang="en-US" baseline="-25000" dirty="0"/>
              <a:t>4</a:t>
            </a:r>
            <a:r>
              <a:rPr lang="en-US" dirty="0"/>
              <a:t> agonists are currently licensed for treating IBS-C: </a:t>
            </a:r>
            <a:r>
              <a:rPr lang="en-US" b="1" dirty="0"/>
              <a:t>prucalopride</a:t>
            </a:r>
            <a:r>
              <a:rPr lang="en-US" dirty="0"/>
              <a:t> (</a:t>
            </a:r>
            <a:r>
              <a:rPr lang="en-US" b="1" dirty="0" err="1"/>
              <a:t>Motegrity</a:t>
            </a:r>
            <a:r>
              <a:rPr lang="en-US" dirty="0"/>
              <a:t>) and </a:t>
            </a:r>
            <a:r>
              <a:rPr lang="en-US" b="1" dirty="0" err="1"/>
              <a:t>tegaserod</a:t>
            </a:r>
            <a:r>
              <a:rPr lang="en-US" b="1" dirty="0"/>
              <a:t> </a:t>
            </a:r>
            <a:r>
              <a:rPr lang="en-US" dirty="0"/>
              <a:t>(</a:t>
            </a:r>
            <a:r>
              <a:rPr lang="en-US" b="1" dirty="0" err="1"/>
              <a:t>Zelnorm</a:t>
            </a:r>
            <a:r>
              <a:rPr lang="en-US" dirty="0"/>
              <a:t>)</a:t>
            </a:r>
          </a:p>
        </p:txBody>
      </p:sp>
    </p:spTree>
    <p:extLst>
      <p:ext uri="{BB962C8B-B14F-4D97-AF65-F5344CB8AC3E}">
        <p14:creationId xmlns:p14="http://schemas.microsoft.com/office/powerpoint/2010/main" val="6341963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lang="en-US" dirty="0"/>
              <a:t>Behavioral and Physiological Functions of Serotonin </a:t>
            </a:r>
            <a:r>
              <a:rPr lang="en-US" sz="1200" dirty="0"/>
              <a:t>(12 of 12)</a:t>
            </a:r>
            <a:endParaRPr lang="en-US" dirty="0"/>
          </a:p>
        </p:txBody>
      </p:sp>
      <p:sp>
        <p:nvSpPr>
          <p:cNvPr id="3" name="Text Placeholder 2"/>
          <p:cNvSpPr>
            <a:spLocks noGrp="1"/>
          </p:cNvSpPr>
          <p:nvPr>
            <p:ph idx="1"/>
          </p:nvPr>
        </p:nvSpPr>
        <p:spPr/>
        <p:txBody>
          <a:bodyPr/>
          <a:lstStyle/>
          <a:p>
            <a:pPr marL="0" indent="0">
              <a:lnSpc>
                <a:spcPct val="100000"/>
              </a:lnSpc>
              <a:spcBef>
                <a:spcPts val="1200"/>
              </a:spcBef>
              <a:buNone/>
            </a:pPr>
            <a:r>
              <a:rPr lang="en-US" sz="2400" u="sng" dirty="0"/>
              <a:t>CLICKER QUESTION 3</a:t>
            </a:r>
          </a:p>
          <a:p>
            <a:pPr marL="457200" indent="-457200">
              <a:lnSpc>
                <a:spcPct val="100000"/>
              </a:lnSpc>
              <a:spcBef>
                <a:spcPts val="2400"/>
              </a:spcBef>
              <a:buNone/>
            </a:pPr>
            <a:r>
              <a:rPr lang="en-US" sz="3200" dirty="0"/>
              <a:t>What is the most consistently observed behavioral effect in TPH2 knockout mice?</a:t>
            </a:r>
          </a:p>
          <a:p>
            <a:pPr marL="914400" indent="-457200">
              <a:lnSpc>
                <a:spcPct val="100000"/>
              </a:lnSpc>
              <a:spcBef>
                <a:spcPts val="1200"/>
              </a:spcBef>
              <a:buFont typeface="Arial" pitchFamily="34" charset="0"/>
              <a:buAutoNum type="alphaLcPeriod"/>
            </a:pPr>
            <a:r>
              <a:rPr lang="en-US" sz="3200" dirty="0"/>
              <a:t>Aphagia</a:t>
            </a:r>
          </a:p>
          <a:p>
            <a:pPr marL="914400" indent="-457200">
              <a:lnSpc>
                <a:spcPct val="100000"/>
              </a:lnSpc>
              <a:spcBef>
                <a:spcPts val="1200"/>
              </a:spcBef>
              <a:buFont typeface="Arial" pitchFamily="34" charset="0"/>
              <a:buAutoNum type="alphaLcPeriod"/>
            </a:pPr>
            <a:r>
              <a:rPr lang="en-US" sz="3200" dirty="0"/>
              <a:t>Maternal deficit</a:t>
            </a:r>
          </a:p>
          <a:p>
            <a:pPr marL="914400" indent="-457200">
              <a:lnSpc>
                <a:spcPct val="100000"/>
              </a:lnSpc>
              <a:spcBef>
                <a:spcPts val="1200"/>
              </a:spcBef>
              <a:buFont typeface="Arial" pitchFamily="34" charset="0"/>
              <a:buAutoNum type="alphaLcPeriod"/>
            </a:pPr>
            <a:r>
              <a:rPr lang="en-US" sz="3200" dirty="0"/>
              <a:t>Abnormal sleep cycles</a:t>
            </a:r>
          </a:p>
          <a:p>
            <a:pPr marL="914400" indent="-457200">
              <a:lnSpc>
                <a:spcPct val="100000"/>
              </a:lnSpc>
              <a:spcBef>
                <a:spcPts val="1200"/>
              </a:spcBef>
              <a:buFont typeface="Arial" pitchFamily="34" charset="0"/>
              <a:buAutoNum type="alphaLcPeriod"/>
            </a:pPr>
            <a:r>
              <a:rPr lang="en-US" sz="3200" dirty="0"/>
              <a:t>Increase in aggressive behavior</a:t>
            </a:r>
          </a:p>
        </p:txBody>
      </p:sp>
    </p:spTree>
    <p:extLst>
      <p:ext uri="{BB962C8B-B14F-4D97-AF65-F5344CB8AC3E}">
        <p14:creationId xmlns:p14="http://schemas.microsoft.com/office/powerpoint/2010/main" val="1336608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00000"/>
              </a:lnSpc>
            </a:pPr>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77500" lnSpcReduction="20000"/>
          </a:bodyPr>
          <a:lstStyle/>
          <a:p>
            <a:pPr marL="914400" indent="-914400">
              <a:lnSpc>
                <a:spcPct val="120000"/>
              </a:lnSpc>
              <a:spcBef>
                <a:spcPts val="1200"/>
              </a:spcBef>
              <a:buNone/>
            </a:pPr>
            <a:r>
              <a:rPr lang="en-US" dirty="0"/>
              <a:t>6.3.1 (a) Identify the various methodological approaches used to study serotonergic functioning in humans and in laboratory animals, and (b) describe the behavioral and physiological consequences of genetically manipulating animals so that they lack brain 5-HT throughout life.</a:t>
            </a:r>
          </a:p>
          <a:p>
            <a:pPr marL="914400" indent="-914400">
              <a:lnSpc>
                <a:spcPct val="120000"/>
              </a:lnSpc>
              <a:spcBef>
                <a:spcPts val="1200"/>
              </a:spcBef>
              <a:buNone/>
            </a:pPr>
            <a:r>
              <a:rPr lang="en-US" dirty="0"/>
              <a:t>6.3.2 Describe the role of 5-HT in anxiety, with an emphasis on the 5-HT1A receptor subtype.</a:t>
            </a:r>
          </a:p>
          <a:p>
            <a:pPr marL="914400" indent="-914400">
              <a:lnSpc>
                <a:spcPct val="120000"/>
              </a:lnSpc>
              <a:spcBef>
                <a:spcPts val="1200"/>
              </a:spcBef>
              <a:buNone/>
            </a:pPr>
            <a:r>
              <a:rPr lang="en-US" dirty="0"/>
              <a:t>6.3.3 Describe (a) the differences between reactive and proactive aggression in humans, (b) the neural circuitry that mediates reactive aggression, and (c) the serotonin deficiency hypothesis of aggression.</a:t>
            </a:r>
          </a:p>
          <a:p>
            <a:pPr marL="914400" indent="-914400">
              <a:lnSpc>
                <a:spcPct val="120000"/>
              </a:lnSpc>
              <a:spcBef>
                <a:spcPts val="1200"/>
              </a:spcBef>
              <a:buNone/>
            </a:pPr>
            <a:r>
              <a:rPr lang="en-US" dirty="0"/>
              <a:t>6.3.4 Explain how 5-HT is involved in the control of hunger and eating behavior, including both central (i.e., hypothalamic) and peripheral (i.e., gut) mechanisms.</a:t>
            </a:r>
          </a:p>
        </p:txBody>
      </p:sp>
    </p:spTree>
    <p:extLst>
      <p:ext uri="{BB962C8B-B14F-4D97-AF65-F5344CB8AC3E}">
        <p14:creationId xmlns:p14="http://schemas.microsoft.com/office/powerpoint/2010/main" val="2081652091"/>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4">
      <a:dk1>
        <a:srgbClr val="000000"/>
      </a:dk1>
      <a:lt1>
        <a:srgbClr val="FFFFFF"/>
      </a:lt1>
      <a:dk2>
        <a:srgbClr val="1F497D"/>
      </a:dk2>
      <a:lt2>
        <a:srgbClr val="EEECE1"/>
      </a:lt2>
      <a:accent1>
        <a:srgbClr val="001A47"/>
      </a:accent1>
      <a:accent2>
        <a:srgbClr val="4F3768"/>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3.xml><?xml version="1.0" encoding="utf-8"?>
<ds:datastoreItem xmlns:ds="http://schemas.openxmlformats.org/officeDocument/2006/customXml" ds:itemID="{2856919D-3723-464B-9967-427A087CBD61}">
  <ds:schemaRef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schemas.microsoft.com/office/2006/documentManagement/types"/>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2989</TotalTime>
  <Words>3891</Words>
  <Application>Microsoft Office PowerPoint</Application>
  <PresentationFormat>Widescreen</PresentationFormat>
  <Paragraphs>328</Paragraphs>
  <Slides>51</Slides>
  <Notes>44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51</vt:i4>
      </vt:variant>
    </vt:vector>
  </HeadingPairs>
  <TitlesOfParts>
    <vt:vector size="61" baseType="lpstr">
      <vt:lpstr>ＭＳ Ｐゴシック</vt:lpstr>
      <vt:lpstr>Arial</vt:lpstr>
      <vt:lpstr>Calibri</vt:lpstr>
      <vt:lpstr>Courier New</vt:lpstr>
      <vt:lpstr>DINPro-Bold</vt:lpstr>
      <vt:lpstr>DINPro-Regular</vt:lpstr>
      <vt:lpstr>Geneva</vt:lpstr>
      <vt:lpstr>PalatinoLTStd-Roman</vt:lpstr>
      <vt:lpstr>Text Content Templates</vt:lpstr>
      <vt:lpstr>Figure-Only Templates</vt:lpstr>
      <vt:lpstr>Psychopharmacology: Drugs, the Brain, and Behavior</vt:lpstr>
      <vt:lpstr>Chapter 6 Serotonin</vt:lpstr>
      <vt:lpstr>Chapter 6 Learning Objectives (1 of 3)</vt:lpstr>
      <vt:lpstr>Chapter 6 Learning Objectives (2 of 3)</vt:lpstr>
      <vt:lpstr>Chapter 6 Learning Objectives (3 of 3)</vt:lpstr>
      <vt:lpstr>Serotonin Synthesis, Release, and Inactivation (1 of 12)</vt:lpstr>
      <vt:lpstr>FIGURE 6.1  Synthesis of serotonin </vt:lpstr>
      <vt:lpstr>Serotonin Synthesis, Release, and Inactivation (2 of 12)</vt:lpstr>
      <vt:lpstr>Serotonin Synthesis, Release, and Inactivation (3 of 12)</vt:lpstr>
      <vt:lpstr>FIGURE 6.2  Tryptophan entry into the brain and 5-HT synthesis </vt:lpstr>
      <vt:lpstr>Serotonin Synthesis, Release, and Inactivation (4 of 12)</vt:lpstr>
      <vt:lpstr>Serotonin Synthesis, Release, and Inactivation (5 of 12)</vt:lpstr>
      <vt:lpstr>Serotonin Synthesis, Release, and Inactivation (6 of 12)</vt:lpstr>
      <vt:lpstr>Serotonin Synthesis, Release, and Inactivation (7 of 12)</vt:lpstr>
      <vt:lpstr>Serotonin Synthesis, Release, and Inactivation (8 of 12)</vt:lpstr>
      <vt:lpstr>FIGURE 6.4  Features of a serotonergic neuron </vt:lpstr>
      <vt:lpstr>Serotonin Synthesis, Release, and Inactivation (9 of 12)</vt:lpstr>
      <vt:lpstr>Serotonin Synthesis, Release, and Inactivation (10 of 12)</vt:lpstr>
      <vt:lpstr>Serotonin Synthesis, Release, and Inactivation (11 of 12)</vt:lpstr>
      <vt:lpstr>FIGURE 6.5  Behavioral and physiological phenotypes of SERT knockout mice  </vt:lpstr>
      <vt:lpstr>Serotonin Synthesis, Release, and Inactivation (12 of 12)</vt:lpstr>
      <vt:lpstr>Review of Learning Objectives (1 of 3)</vt:lpstr>
      <vt:lpstr>Basic Features of the Serotonergic System: Anatomical Organization, Cell Firing, and Receptor Families (1 of 7)</vt:lpstr>
      <vt:lpstr>FIGURE 6.6  Anatomy of the serotonergic system </vt:lpstr>
      <vt:lpstr>FIGURE 6.7  Photomicrograph of serotonergic fibers in the mouse neocortex and hippocampus </vt:lpstr>
      <vt:lpstr>Basic Features of the Serotonergic System: Anatomical Organization, Cell Firing, and Receptor Families (2 of 7)</vt:lpstr>
      <vt:lpstr>Basic Features of the Serotonergic System: Anatomical Organization, Cell Firing, and Receptor Families (3 of 7)</vt:lpstr>
      <vt:lpstr>FIGURE 6.9  5-HT1A and 5-HT2A receptors operate through different signaling mechanisms </vt:lpstr>
      <vt:lpstr>Basic Features of the Serotonergic System: Anatomical Organization, Cell Firing, and Receptor Families (4 of 7)</vt:lpstr>
      <vt:lpstr>Basic Features of the Serotonergic System: Anatomical Organization, Cell Firing, and Receptor Families (5 of 7)</vt:lpstr>
      <vt:lpstr>Basic Features of the Serotonergic System: Anatomical Organization, Cell Firing, and Receptor Families (6 of 7)</vt:lpstr>
      <vt:lpstr>Basic Features of the Serotonergic System: Anatomical Organization, Cell Firing, and Receptor Families (7 of 7)</vt:lpstr>
      <vt:lpstr>Review of Learning Objectives (2 of 3)</vt:lpstr>
      <vt:lpstr>Behavioral and Physiological Functions of Serotonin (1 of 12)</vt:lpstr>
      <vt:lpstr>Behavioral and Physiological Functions of Serotonin (2 of 12)</vt:lpstr>
      <vt:lpstr>Behavioral and Physiological Functions of Serotonin (3 of 12)</vt:lpstr>
      <vt:lpstr>FIGURE 6.11  Impulsive aggression in male TPH2-knockout mice </vt:lpstr>
      <vt:lpstr>Behavioral and Physiological Functions of Serotonin (4 of 12)</vt:lpstr>
      <vt:lpstr>Behavioral and Physiological Functions of Serotonin (5 of 12)</vt:lpstr>
      <vt:lpstr>Behavioral and Physiological Functions of Serotonin (6 of 12)</vt:lpstr>
      <vt:lpstr>FIGURE 6.12  Effects of optogenetic excitation or inhibition of serotonergic nerve terminals in the dorsal bed nucleus of the stria terminalis (dBNST) on anxiety-like behavior in the elevated plus-maze </vt:lpstr>
      <vt:lpstr>Behavioral and Physiological Functions of Serotonin (7 of 12)</vt:lpstr>
      <vt:lpstr>FIGURE 6.13  The amygdala–BNST circuit involved in threat processing </vt:lpstr>
      <vt:lpstr>Behavioral and Physiological Functions of Serotonin (8 of 12)</vt:lpstr>
      <vt:lpstr>Behavioral and Physiological Functions of Serotonin (9 of 12)</vt:lpstr>
      <vt:lpstr>FIGURE 6.14  Neural circuit through which 5-HT suppresses appetite </vt:lpstr>
      <vt:lpstr>Behavioral and Physiological Functions of Serotonin (10 of 12)</vt:lpstr>
      <vt:lpstr>FIGURE 6.15  Release and uptake of 5-HT in the intestine </vt:lpstr>
      <vt:lpstr>Behavioral and Physiological Functions of Serotonin (11 of 12)</vt:lpstr>
      <vt:lpstr>Behavioral and Physiological Functions of Serotonin (12 of 12)</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46</cp:revision>
  <dcterms:created xsi:type="dcterms:W3CDTF">2021-11-13T04:08:54Z</dcterms:created>
  <dcterms:modified xsi:type="dcterms:W3CDTF">2022-03-08T00:10:10Z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