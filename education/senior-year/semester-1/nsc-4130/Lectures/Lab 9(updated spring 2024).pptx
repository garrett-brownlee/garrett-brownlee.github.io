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8" r:id="rId1"/>
  </p:sldMasterIdLst>
  <p:notesMasterIdLst>
    <p:notesMasterId r:id="rId28"/>
  </p:notesMasterIdLst>
  <p:sldIdLst>
    <p:sldId id="256" r:id="rId2"/>
    <p:sldId id="257" r:id="rId3"/>
    <p:sldId id="258" r:id="rId4"/>
    <p:sldId id="259" r:id="rId5"/>
    <p:sldId id="260" r:id="rId6"/>
    <p:sldId id="261" r:id="rId7"/>
    <p:sldId id="281" r:id="rId8"/>
    <p:sldId id="282"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85" r:id="rId26"/>
    <p:sldId id="280" r:id="rId27"/>
  </p:sldIdLst>
  <p:sldSz cx="9144000" cy="5143500" type="screen16x9"/>
  <p:notesSz cx="6858000" cy="9144000"/>
  <p:embeddedFontLst>
    <p:embeddedFont>
      <p:font typeface="Corbel" panose="020B0503020204020204" pitchFamily="34" charset="0"/>
      <p:regular r:id="rId29"/>
      <p:bold r:id="rId30"/>
      <p:italic r:id="rId31"/>
      <p:boldItalic r:id="rId32"/>
    </p:embeddedFont>
    <p:embeddedFont>
      <p:font typeface="Roboto" panose="02000000000000000000" pitchFamily="2" charset="0"/>
      <p:regular r:id="rId33"/>
      <p:bold r:id="rId34"/>
      <p:italic r:id="rId35"/>
      <p:boldItalic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E5F188-F352-42B2-A06C-B4061B879311}">
  <a:tblStyle styleId="{D7E5F188-F352-42B2-A06C-B4061B87931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57807d8689_2_75: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g257807d8689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57807d8689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57807d8689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57807d8689_2_84: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g257807d8689_2_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257807d8689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57807d8689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2400" lvl="0" indent="0" algn="l" rtl="0">
              <a:lnSpc>
                <a:spcPct val="90000"/>
              </a:lnSpc>
              <a:spcBef>
                <a:spcPts val="700"/>
              </a:spcBef>
              <a:spcAft>
                <a:spcPts val="1200"/>
              </a:spcAft>
              <a:buNone/>
            </a:pPr>
            <a:r>
              <a:rPr lang="en" sz="1800">
                <a:solidFill>
                  <a:srgbClr val="434343"/>
                </a:solidFill>
                <a:latin typeface="Roboto"/>
                <a:ea typeface="Roboto"/>
                <a:cs typeface="Roboto"/>
                <a:sym typeface="Roboto"/>
              </a:rPr>
              <a:t>12 cranial nerves, numbered based on the order in which they emerge from the brain, front to back (I-XII)</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57807d8689_2_89: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57807d8689_2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57807d8689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57807d8689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57807d8689_2_93: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257807d8689_2_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57807d8689_0_228:notes"/>
          <p:cNvSpPr txBox="1">
            <a:spLocks noGrp="1"/>
          </p:cNvSpPr>
          <p:nvPr>
            <p:ph type="body" idx="1"/>
          </p:nvPr>
        </p:nvSpPr>
        <p:spPr>
          <a:xfrm>
            <a:off x="686233" y="4400176"/>
            <a:ext cx="5485500" cy="360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g257807d8689_0_2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57807d8689_2_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g257807d8689_2_99:notes"/>
          <p:cNvSpPr txBox="1">
            <a:spLocks noGrp="1"/>
          </p:cNvSpPr>
          <p:nvPr>
            <p:ph type="body" idx="1"/>
          </p:nvPr>
        </p:nvSpPr>
        <p:spPr>
          <a:xfrm>
            <a:off x="686233" y="4400176"/>
            <a:ext cx="5485534" cy="360082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https://www.nature.com/articles/d41586-022-01627-w</a:t>
            </a:r>
            <a:endParaRPr/>
          </a:p>
        </p:txBody>
      </p:sp>
      <p:sp>
        <p:nvSpPr>
          <p:cNvPr id="150" name="Google Shape;150;g257807d8689_2_99:notes"/>
          <p:cNvSpPr txBox="1">
            <a:spLocks noGrp="1"/>
          </p:cNvSpPr>
          <p:nvPr>
            <p:ph type="sldNum" idx="12"/>
          </p:nvPr>
        </p:nvSpPr>
        <p:spPr>
          <a:xfrm>
            <a:off x="3884685" y="8686427"/>
            <a:ext cx="2972233" cy="45757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57807d8689_2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257807d8689_2_115:notes"/>
          <p:cNvSpPr txBox="1">
            <a:spLocks noGrp="1"/>
          </p:cNvSpPr>
          <p:nvPr>
            <p:ph type="body" idx="1"/>
          </p:nvPr>
        </p:nvSpPr>
        <p:spPr>
          <a:xfrm>
            <a:off x="686233" y="4400176"/>
            <a:ext cx="5485534" cy="360082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https://www.statnews.com/2016/03/28/parkinsons-psychosis-nuplazid/</a:t>
            </a:r>
            <a:endParaRPr/>
          </a:p>
          <a:p>
            <a:pPr marL="0" lvl="0" indent="0" algn="l" rtl="0">
              <a:spcBef>
                <a:spcPts val="0"/>
              </a:spcBef>
              <a:spcAft>
                <a:spcPts val="0"/>
              </a:spcAft>
              <a:buNone/>
            </a:pPr>
            <a:r>
              <a:rPr lang="en"/>
              <a:t>https://pubmed.ncbi.nlm.nih.gov/31808354/</a:t>
            </a:r>
            <a:endParaRPr/>
          </a:p>
        </p:txBody>
      </p:sp>
      <p:sp>
        <p:nvSpPr>
          <p:cNvPr id="158" name="Google Shape;158;g257807d8689_2_115:notes"/>
          <p:cNvSpPr txBox="1">
            <a:spLocks noGrp="1"/>
          </p:cNvSpPr>
          <p:nvPr>
            <p:ph type="sldNum" idx="12"/>
          </p:nvPr>
        </p:nvSpPr>
        <p:spPr>
          <a:xfrm>
            <a:off x="3884685" y="8686427"/>
            <a:ext cx="2972233" cy="45757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57807d8689_2_129: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g257807d8689_2_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7807d8689_2_147: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257807d8689_2_1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57807d8689_2_153: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g257807d8689_2_1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57807d8689_2_168: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g257807d8689_2_1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57807d8689_2_174: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g257807d8689_2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57807d8689_2_191: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g257807d8689_2_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57807d8689_2_203: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257807d8689_2_2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57807d8689_2_208: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g257807d8689_2_2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57807d8689_2_221: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57807d8689_2_2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57807d8689_2_226: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257807d8689_2_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2eeb22df2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2eeb22df2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57807d8689_2_236:notes"/>
          <p:cNvSpPr txBox="1">
            <a:spLocks noGrp="1"/>
          </p:cNvSpPr>
          <p:nvPr>
            <p:ph type="body" idx="1"/>
          </p:nvPr>
        </p:nvSpPr>
        <p:spPr>
          <a:xfrm>
            <a:off x="686233" y="4400176"/>
            <a:ext cx="5485534" cy="3600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g257807d8689_2_2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57807d8689_0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57807d8689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173355" y="182881"/>
            <a:ext cx="8793480" cy="4783454"/>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661782"/>
            <a:ext cx="7475220" cy="2194560"/>
          </a:xfrm>
        </p:spPr>
        <p:txBody>
          <a:bodyPr anchor="b">
            <a:normAutofit/>
          </a:bodyPr>
          <a:lstStyle>
            <a:lvl1pPr algn="ctr">
              <a:lnSpc>
                <a:spcPct val="85000"/>
              </a:lnSpc>
              <a:defRPr sz="54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282148" y="2902226"/>
            <a:ext cx="6575895" cy="1041124"/>
          </a:xfrm>
        </p:spPr>
        <p:txBody>
          <a:bodyPr>
            <a:normAutofit/>
          </a:bodyPr>
          <a:lstStyle>
            <a:lvl1pPr marL="0" indent="0" algn="ctr">
              <a:buNone/>
              <a:defRPr sz="1650">
                <a:solidFill>
                  <a:srgbClr val="FFFFFF"/>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smtClean="0"/>
              <a:t>11/11/2024</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cxnSp>
        <p:nvCxnSpPr>
          <p:cNvPr id="8" name="Straight Connector 7"/>
          <p:cNvCxnSpPr/>
          <p:nvPr/>
        </p:nvCxnSpPr>
        <p:spPr>
          <a:xfrm>
            <a:off x="1483995" y="280035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21880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59213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880181"/>
            <a:ext cx="7475220" cy="2194560"/>
          </a:xfrm>
        </p:spPr>
        <p:txBody>
          <a:bodyPr anchor="b">
            <a:noAutofit/>
          </a:bodyPr>
          <a:lstStyle>
            <a:lvl1pPr algn="ctr">
              <a:lnSpc>
                <a:spcPct val="85000"/>
              </a:lnSpc>
              <a:defRPr sz="54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282446" y="3115890"/>
            <a:ext cx="6576822" cy="1022855"/>
          </a:xfrm>
        </p:spPr>
        <p:txBody>
          <a:bodyPr anchor="t">
            <a:normAutofit/>
          </a:bodyPr>
          <a:lstStyle>
            <a:lvl1pPr marL="0" indent="0" algn="ctr">
              <a:buNone/>
              <a:defRPr sz="165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7" name="Straight Connector 6"/>
          <p:cNvCxnSpPr/>
          <p:nvPr/>
        </p:nvCxnSpPr>
        <p:spPr>
          <a:xfrm>
            <a:off x="1485900" y="3015306"/>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03364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1543049"/>
            <a:ext cx="3566160" cy="30175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1543050"/>
            <a:ext cx="3566160" cy="30175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59503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1501133"/>
            <a:ext cx="3566160" cy="58293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57250" y="2041112"/>
            <a:ext cx="3566160" cy="25374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499274"/>
            <a:ext cx="3566160" cy="58293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01880" y="2039492"/>
            <a:ext cx="3566160" cy="25374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11/11/2024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8158767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11/11/2024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2922063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11/11/2024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48170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822960"/>
            <a:ext cx="2948940" cy="130302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389119" y="822960"/>
            <a:ext cx="3909060" cy="349758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125980"/>
            <a:ext cx="2948940" cy="2263140"/>
          </a:xfrm>
        </p:spPr>
        <p:txBody>
          <a:bodyPr>
            <a:normAutofit/>
          </a:bodyPr>
          <a:lstStyle>
            <a:lvl1pPr marL="0" indent="0">
              <a:lnSpc>
                <a:spcPct val="100000"/>
              </a:lnSpc>
              <a:spcBef>
                <a:spcPts val="75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11/11/2024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2148754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822960"/>
            <a:ext cx="2948940" cy="130302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59936" y="802385"/>
            <a:ext cx="4574286" cy="3600450"/>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7250" y="2125980"/>
            <a:ext cx="2948940" cy="2160270"/>
          </a:xfrm>
        </p:spPr>
        <p:txBody>
          <a:bodyPr>
            <a:normAutofit/>
          </a:bodyPr>
          <a:lstStyle>
            <a:lvl1pPr marL="0" indent="0">
              <a:lnSpc>
                <a:spcPct val="100000"/>
              </a:lnSpc>
              <a:spcBef>
                <a:spcPts val="75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11/11/2024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947344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980262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71500"/>
            <a:ext cx="1743075" cy="40576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571500"/>
            <a:ext cx="5572125" cy="40576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11/11/2024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4017943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173355" y="182881"/>
            <a:ext cx="8793480" cy="478345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457200"/>
            <a:ext cx="7406640" cy="101727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57251" y="1543050"/>
            <a:ext cx="7404653" cy="30289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7247" y="4667871"/>
            <a:ext cx="1746806" cy="273844"/>
          </a:xfrm>
          <a:prstGeom prst="rect">
            <a:avLst/>
          </a:prstGeom>
        </p:spPr>
        <p:txBody>
          <a:bodyPr vert="horz" lIns="91440" tIns="45720" rIns="91440" bIns="45720" rtlCol="0" anchor="ctr"/>
          <a:lstStyle>
            <a:lvl1pPr algn="l">
              <a:defRPr sz="900">
                <a:solidFill>
                  <a:schemeClr val="accent1"/>
                </a:solidFill>
              </a:defRPr>
            </a:lvl1pPr>
          </a:lstStyle>
          <a:p>
            <a:fld id="{96DFF08F-DC6B-4601-B491-B0F83F6DD2DA}" type="datetimeFigureOut">
              <a:rPr lang="en-US" smtClean="0"/>
              <a:pPr/>
              <a:t>11/11/2024</a:t>
            </a:fld>
            <a:endParaRPr lang="en-US" dirty="0"/>
          </a:p>
        </p:txBody>
      </p:sp>
      <p:sp>
        <p:nvSpPr>
          <p:cNvPr id="5" name="Footer Placeholder 4"/>
          <p:cNvSpPr>
            <a:spLocks noGrp="1"/>
          </p:cNvSpPr>
          <p:nvPr>
            <p:ph type="ftr" sz="quarter" idx="3"/>
          </p:nvPr>
        </p:nvSpPr>
        <p:spPr>
          <a:xfrm>
            <a:off x="2961861" y="4667871"/>
            <a:ext cx="3538331" cy="273844"/>
          </a:xfrm>
          <a:prstGeom prst="rect">
            <a:avLst/>
          </a:prstGeom>
        </p:spPr>
        <p:txBody>
          <a:bodyPr vert="horz" lIns="91440" tIns="45720" rIns="91440" bIns="45720" rtlCol="0" anchor="ctr"/>
          <a:lstStyle>
            <a:lvl1pPr algn="ctr">
              <a:defRPr sz="900">
                <a:solidFill>
                  <a:schemeClr val="accent1"/>
                </a:solidFill>
              </a:defRPr>
            </a:lvl1pPr>
          </a:lstStyle>
          <a:p>
            <a:endParaRPr lang="en-US" dirty="0"/>
          </a:p>
        </p:txBody>
      </p:sp>
      <p:sp>
        <p:nvSpPr>
          <p:cNvPr id="6" name="Slide Number Placeholder 5"/>
          <p:cNvSpPr>
            <a:spLocks noGrp="1"/>
          </p:cNvSpPr>
          <p:nvPr>
            <p:ph type="sldNum" sz="quarter" idx="4"/>
          </p:nvPr>
        </p:nvSpPr>
        <p:spPr>
          <a:xfrm>
            <a:off x="6997148" y="4667871"/>
            <a:ext cx="1279663" cy="273844"/>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28068923"/>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sldNum="0" hdr="0" ftr="0" dt="0"/>
  <p:txStyles>
    <p:titleStyle>
      <a:lvl1pPr algn="l" defTabSz="685800" rtl="0" eaLnBrk="1" latinLnBrk="0" hangingPunct="1">
        <a:lnSpc>
          <a:spcPct val="90000"/>
        </a:lnSpc>
        <a:spcBef>
          <a:spcPct val="0"/>
        </a:spcBef>
        <a:buNone/>
        <a:defRPr sz="33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7"/>
        <p:cNvGrpSpPr/>
        <p:nvPr/>
      </p:nvGrpSpPr>
      <p:grpSpPr>
        <a:xfrm>
          <a:off x="0" y="0"/>
          <a:ext cx="0" cy="0"/>
          <a:chOff x="0" y="0"/>
          <a:chExt cx="0" cy="0"/>
        </a:xfrm>
      </p:grpSpPr>
      <p:sp>
        <p:nvSpPr>
          <p:cNvPr id="101" name="Google Shape;101;p15"/>
          <p:cNvSpPr txBox="1">
            <a:spLocks noGrp="1"/>
          </p:cNvSpPr>
          <p:nvPr>
            <p:ph type="ctrTitle"/>
          </p:nvPr>
        </p:nvSpPr>
        <p:spPr>
          <a:xfrm>
            <a:off x="822960" y="244162"/>
            <a:ext cx="7543800" cy="2681083"/>
          </a:xfrm>
          <a:prstGeom prst="rect">
            <a:avLst/>
          </a:prstGeom>
          <a:noFill/>
          <a:ln>
            <a:noFill/>
          </a:ln>
          <a:effectLst>
            <a:outerShdw blurRad="50800" dist="38100" dir="2700000" algn="tl" rotWithShape="0">
              <a:srgbClr val="000000">
                <a:alpha val="40000"/>
              </a:srgbClr>
            </a:outerShdw>
          </a:effectLst>
        </p:spPr>
        <p:txBody>
          <a:bodyPr spcFirstLastPara="1" wrap="square" lIns="75575" tIns="37775" rIns="75575" bIns="37775" anchor="b" anchorCtr="0">
            <a:normAutofit/>
          </a:bodyPr>
          <a:lstStyle/>
          <a:p>
            <a:pPr marL="0" lvl="0" indent="0" algn="ctr" rtl="0">
              <a:lnSpc>
                <a:spcPct val="90000"/>
              </a:lnSpc>
              <a:spcBef>
                <a:spcPts val="0"/>
              </a:spcBef>
              <a:spcAft>
                <a:spcPts val="0"/>
              </a:spcAft>
              <a:buClr>
                <a:srgbClr val="FFFFFF"/>
              </a:buClr>
              <a:buSzPts val="4100"/>
              <a:buFont typeface="Calibri"/>
              <a:buNone/>
            </a:pPr>
            <a:r>
              <a:rPr lang="en" sz="4100" dirty="0">
                <a:solidFill>
                  <a:srgbClr val="FFFFFF"/>
                </a:solidFill>
              </a:rPr>
              <a:t>Cranial Nerves</a:t>
            </a:r>
            <a:endParaRPr dirty="0"/>
          </a:p>
        </p:txBody>
      </p:sp>
      <p:sp>
        <p:nvSpPr>
          <p:cNvPr id="102" name="Google Shape;102;p15"/>
          <p:cNvSpPr txBox="1">
            <a:spLocks noGrp="1"/>
          </p:cNvSpPr>
          <p:nvPr>
            <p:ph type="subTitle" idx="1"/>
          </p:nvPr>
        </p:nvSpPr>
        <p:spPr>
          <a:xfrm>
            <a:off x="825038" y="3054032"/>
            <a:ext cx="7543800" cy="962030"/>
          </a:xfrm>
          <a:prstGeom prst="rect">
            <a:avLst/>
          </a:prstGeom>
          <a:noFill/>
          <a:ln>
            <a:noFill/>
          </a:ln>
          <a:effectLst>
            <a:outerShdw blurRad="50800" dist="38100" dir="2700000" algn="tl" rotWithShape="0">
              <a:srgbClr val="000000">
                <a:alpha val="40000"/>
              </a:srgbClr>
            </a:outerShdw>
          </a:effectLst>
        </p:spPr>
        <p:txBody>
          <a:bodyPr spcFirstLastPara="1" wrap="square" lIns="75575" tIns="37775" rIns="75575" bIns="37775" anchor="t" anchorCtr="0">
            <a:normAutofit/>
          </a:bodyPr>
          <a:lstStyle/>
          <a:p>
            <a:pPr marL="0" lvl="0" indent="0" algn="ctr" rtl="0">
              <a:lnSpc>
                <a:spcPct val="90000"/>
              </a:lnSpc>
              <a:spcBef>
                <a:spcPts val="0"/>
              </a:spcBef>
              <a:spcAft>
                <a:spcPts val="0"/>
              </a:spcAft>
              <a:buClr>
                <a:srgbClr val="FFFFFF"/>
              </a:buClr>
              <a:buSzPts val="1600"/>
              <a:buNone/>
            </a:pPr>
            <a:r>
              <a:rPr lang="en" dirty="0">
                <a:solidFill>
                  <a:srgbClr val="FFFFFF"/>
                </a:solidFill>
              </a:rPr>
              <a:t>NSC 4130 Lab</a:t>
            </a:r>
            <a:r>
              <a:rPr lang="en" dirty="0"/>
              <a:t> </a:t>
            </a:r>
            <a:r>
              <a:rPr lang="en" dirty="0">
                <a:solidFill>
                  <a:srgbClr val="FFFFFF"/>
                </a:solidFill>
              </a:rPr>
              <a:t>9</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0"/>
                                  </p:stCondLst>
                                  <p:childTnLst>
                                    <p:set>
                                      <p:cBhvr>
                                        <p:cTn id="6" dur="1" fill="hold">
                                          <p:stCondLst>
                                            <p:cond delay="0"/>
                                          </p:stCondLst>
                                        </p:cTn>
                                        <p:tgtEl>
                                          <p:spTgt spid="102">
                                            <p:txEl>
                                              <p:pRg st="0" end="0"/>
                                            </p:txEl>
                                          </p:spTgt>
                                        </p:tgtEl>
                                        <p:attrNameLst>
                                          <p:attrName>style.visibility</p:attrName>
                                        </p:attrNameLst>
                                      </p:cBhvr>
                                      <p:to>
                                        <p:strVal val="visible"/>
                                      </p:to>
                                    </p:set>
                                    <p:animEffect transition="in" filter="fade">
                                      <p:cBhvr>
                                        <p:cTn id="7" dur="700"/>
                                        <p:tgtEl>
                                          <p:spTgt spid="102">
                                            <p:txEl>
                                              <p:pRg st="0" end="0"/>
                                            </p:txEl>
                                          </p:spTgt>
                                        </p:tgtEl>
                                      </p:cBhvr>
                                    </p:animEffect>
                                  </p:childTnLst>
                                </p:cTn>
                              </p:par>
                              <p:par>
                                <p:cTn id="8" presetID="10" presetClass="entr" presetSubtype="0" fill="hold" nodeType="withEffect">
                                  <p:stCondLst>
                                    <p:cond delay="100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7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a:spLocks noGrp="1"/>
          </p:cNvSpPr>
          <p:nvPr>
            <p:ph type="title"/>
          </p:nvPr>
        </p:nvSpPr>
        <p:spPr>
          <a:prstGeom prst="rect">
            <a:avLst/>
          </a:prstGeom>
        </p:spPr>
        <p:txBody>
          <a:bodyPr spcFirstLastPara="1" wrap="square" lIns="75575" tIns="37775" rIns="75575" bIns="37775" anchor="ctr" anchorCtr="0">
            <a:normAutofit/>
          </a:bodyPr>
          <a:lstStyle/>
          <a:p>
            <a:pPr marL="0" lvl="0" indent="0" algn="l" rtl="0">
              <a:spcBef>
                <a:spcPts val="0"/>
              </a:spcBef>
              <a:spcAft>
                <a:spcPts val="0"/>
              </a:spcAft>
              <a:buNone/>
            </a:pPr>
            <a:r>
              <a:rPr lang="en"/>
              <a:t>Roman Numerals </a:t>
            </a:r>
            <a:endParaRPr/>
          </a:p>
        </p:txBody>
      </p:sp>
      <p:sp>
        <p:nvSpPr>
          <p:cNvPr id="108" name="Google Shape;108;p16"/>
          <p:cNvSpPr txBox="1">
            <a:spLocks noGrp="1"/>
          </p:cNvSpPr>
          <p:nvPr>
            <p:ph idx="1"/>
          </p:nvPr>
        </p:nvSpPr>
        <p:spPr>
          <a:prstGeom prst="rect">
            <a:avLst/>
          </a:prstGeom>
        </p:spPr>
        <p:txBody>
          <a:bodyPr spcFirstLastPara="1" wrap="square" lIns="75575" tIns="37775" rIns="75575" bIns="37775" anchor="t" anchorCtr="0">
            <a:normAutofit/>
          </a:bodyPr>
          <a:lstStyle/>
          <a:p>
            <a:pPr marL="0" lvl="0" indent="0" algn="l" rtl="0">
              <a:spcBef>
                <a:spcPts val="700"/>
              </a:spcBef>
              <a:spcAft>
                <a:spcPts val="0"/>
              </a:spcAft>
              <a:buNone/>
            </a:pPr>
            <a:r>
              <a:rPr lang="en" sz="3000" b="1">
                <a:solidFill>
                  <a:srgbClr val="000000"/>
                </a:solidFill>
                <a:highlight>
                  <a:srgbClr val="FFE599"/>
                </a:highlight>
                <a:latin typeface="Arial"/>
                <a:ea typeface="Arial"/>
                <a:cs typeface="Arial"/>
                <a:sym typeface="Arial"/>
              </a:rPr>
              <a:t>1 = I</a:t>
            </a:r>
            <a:r>
              <a:rPr lang="en" sz="3000">
                <a:solidFill>
                  <a:srgbClr val="000000"/>
                </a:solidFill>
                <a:latin typeface="Arial"/>
                <a:ea typeface="Arial"/>
                <a:cs typeface="Arial"/>
                <a:sym typeface="Arial"/>
              </a:rPr>
              <a:t>, 2 = II, 3 = III </a:t>
            </a:r>
            <a:endParaRPr sz="3000">
              <a:solidFill>
                <a:srgbClr val="000000"/>
              </a:solidFill>
              <a:latin typeface="Arial"/>
              <a:ea typeface="Arial"/>
              <a:cs typeface="Arial"/>
              <a:sym typeface="Arial"/>
            </a:endParaRPr>
          </a:p>
          <a:p>
            <a:pPr marL="0" lvl="0" indent="0" algn="l" rtl="0">
              <a:spcBef>
                <a:spcPts val="1200"/>
              </a:spcBef>
              <a:spcAft>
                <a:spcPts val="0"/>
              </a:spcAft>
              <a:buNone/>
            </a:pPr>
            <a:endParaRPr sz="3000">
              <a:solidFill>
                <a:srgbClr val="000000"/>
              </a:solidFill>
              <a:latin typeface="Arial"/>
              <a:ea typeface="Arial"/>
              <a:cs typeface="Arial"/>
              <a:sym typeface="Arial"/>
            </a:endParaRPr>
          </a:p>
          <a:p>
            <a:pPr marL="0" lvl="0" indent="0" algn="l" rtl="0">
              <a:spcBef>
                <a:spcPts val="1200"/>
              </a:spcBef>
              <a:spcAft>
                <a:spcPts val="0"/>
              </a:spcAft>
              <a:buNone/>
            </a:pPr>
            <a:r>
              <a:rPr lang="en" sz="3000">
                <a:solidFill>
                  <a:srgbClr val="000000"/>
                </a:solidFill>
                <a:latin typeface="Arial"/>
                <a:ea typeface="Arial"/>
                <a:cs typeface="Arial"/>
                <a:sym typeface="Arial"/>
              </a:rPr>
              <a:t>4 = IV, </a:t>
            </a:r>
            <a:r>
              <a:rPr lang="en" sz="3000" b="1">
                <a:solidFill>
                  <a:srgbClr val="000000"/>
                </a:solidFill>
                <a:highlight>
                  <a:srgbClr val="FFE599"/>
                </a:highlight>
                <a:latin typeface="Arial"/>
                <a:ea typeface="Arial"/>
                <a:cs typeface="Arial"/>
                <a:sym typeface="Arial"/>
              </a:rPr>
              <a:t>5 = V</a:t>
            </a:r>
            <a:r>
              <a:rPr lang="en" sz="3000">
                <a:solidFill>
                  <a:srgbClr val="000000"/>
                </a:solidFill>
                <a:latin typeface="Arial"/>
                <a:ea typeface="Arial"/>
                <a:cs typeface="Arial"/>
                <a:sym typeface="Arial"/>
              </a:rPr>
              <a:t>, 6 = VI, 7 = VII, 8 = VIII, </a:t>
            </a:r>
            <a:endParaRPr sz="3000">
              <a:solidFill>
                <a:srgbClr val="000000"/>
              </a:solidFill>
              <a:latin typeface="Arial"/>
              <a:ea typeface="Arial"/>
              <a:cs typeface="Arial"/>
              <a:sym typeface="Arial"/>
            </a:endParaRPr>
          </a:p>
          <a:p>
            <a:pPr marL="0" lvl="0" indent="0" algn="l" rtl="0">
              <a:spcBef>
                <a:spcPts val="1200"/>
              </a:spcBef>
              <a:spcAft>
                <a:spcPts val="0"/>
              </a:spcAft>
              <a:buNone/>
            </a:pPr>
            <a:endParaRPr sz="3000">
              <a:solidFill>
                <a:srgbClr val="000000"/>
              </a:solidFill>
              <a:latin typeface="Arial"/>
              <a:ea typeface="Arial"/>
              <a:cs typeface="Arial"/>
              <a:sym typeface="Arial"/>
            </a:endParaRPr>
          </a:p>
          <a:p>
            <a:pPr marL="0" lvl="0" indent="0" algn="l" rtl="0">
              <a:spcBef>
                <a:spcPts val="1200"/>
              </a:spcBef>
              <a:spcAft>
                <a:spcPts val="0"/>
              </a:spcAft>
              <a:buNone/>
            </a:pPr>
            <a:r>
              <a:rPr lang="en" sz="3000">
                <a:solidFill>
                  <a:srgbClr val="000000"/>
                </a:solidFill>
                <a:latin typeface="Arial"/>
                <a:ea typeface="Arial"/>
                <a:cs typeface="Arial"/>
                <a:sym typeface="Arial"/>
              </a:rPr>
              <a:t>9 = IX, </a:t>
            </a:r>
            <a:r>
              <a:rPr lang="en" sz="3000" b="1">
                <a:solidFill>
                  <a:srgbClr val="000000"/>
                </a:solidFill>
                <a:highlight>
                  <a:srgbClr val="FFE599"/>
                </a:highlight>
                <a:latin typeface="Arial"/>
                <a:ea typeface="Arial"/>
                <a:cs typeface="Arial"/>
                <a:sym typeface="Arial"/>
              </a:rPr>
              <a:t>10 = X</a:t>
            </a:r>
            <a:r>
              <a:rPr lang="en" sz="3000">
                <a:solidFill>
                  <a:srgbClr val="000000"/>
                </a:solidFill>
                <a:latin typeface="Arial"/>
                <a:ea typeface="Arial"/>
                <a:cs typeface="Arial"/>
                <a:sym typeface="Arial"/>
              </a:rPr>
              <a:t>, 11 = XI, 12 = XII</a:t>
            </a:r>
            <a:endParaRPr sz="3000">
              <a:solidFill>
                <a:srgbClr val="000000"/>
              </a:solidFill>
              <a:latin typeface="Arial"/>
              <a:ea typeface="Arial"/>
              <a:cs typeface="Arial"/>
              <a:sym typeface="Arial"/>
            </a:endParaRPr>
          </a:p>
          <a:p>
            <a:pPr marL="0" lvl="0" indent="0" algn="l" rtl="0">
              <a:spcBef>
                <a:spcPts val="1200"/>
              </a:spcBef>
              <a:spcAft>
                <a:spcPts val="0"/>
              </a:spcAft>
              <a:buNone/>
            </a:pPr>
            <a:endParaRPr sz="3000" b="1">
              <a:solidFill>
                <a:srgbClr val="000000"/>
              </a:solidFill>
              <a:latin typeface="Arial"/>
              <a:ea typeface="Arial"/>
              <a:cs typeface="Arial"/>
              <a:sym typeface="Arial"/>
            </a:endParaRPr>
          </a:p>
          <a:p>
            <a:pPr marL="0" lvl="0" indent="0" algn="l" rtl="0">
              <a:spcBef>
                <a:spcPts val="1200"/>
              </a:spcBef>
              <a:spcAft>
                <a:spcPts val="1200"/>
              </a:spcAft>
              <a:buNone/>
            </a:pPr>
            <a:endParaRPr sz="3000" b="1">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628650" y="252132"/>
            <a:ext cx="7886700" cy="994172"/>
          </a:xfrm>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What are they?</a:t>
            </a:r>
            <a:endParaRPr/>
          </a:p>
        </p:txBody>
      </p:sp>
      <p:sp>
        <p:nvSpPr>
          <p:cNvPr id="114" name="Google Shape;114;p17"/>
          <p:cNvSpPr txBox="1">
            <a:spLocks noGrp="1"/>
          </p:cNvSpPr>
          <p:nvPr>
            <p:ph idx="1"/>
          </p:nvPr>
        </p:nvSpPr>
        <p:spPr>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a:t>Cranial nerves are the nerves that emerge directly from the brain</a:t>
            </a:r>
            <a:endParaRPr/>
          </a:p>
          <a:p>
            <a:pPr marL="152400" lvl="0" indent="-146050" algn="l" rtl="0">
              <a:lnSpc>
                <a:spcPct val="90000"/>
              </a:lnSpc>
              <a:spcBef>
                <a:spcPts val="700"/>
              </a:spcBef>
              <a:spcAft>
                <a:spcPts val="0"/>
              </a:spcAft>
              <a:buClr>
                <a:schemeClr val="dk1"/>
              </a:buClr>
              <a:buSzPts val="1900"/>
              <a:buChar char="●"/>
            </a:pPr>
            <a:r>
              <a:rPr lang="en"/>
              <a:t> Relay information between the brain and parts of the body, primarily to and from regions of the head and neck</a:t>
            </a:r>
            <a:endParaRPr/>
          </a:p>
          <a:p>
            <a:pPr marL="152400" lvl="0" indent="-146050" algn="l" rtl="0">
              <a:lnSpc>
                <a:spcPct val="90000"/>
              </a:lnSpc>
              <a:spcBef>
                <a:spcPts val="700"/>
              </a:spcBef>
              <a:spcAft>
                <a:spcPts val="0"/>
              </a:spcAft>
              <a:buClr>
                <a:schemeClr val="dk1"/>
              </a:buClr>
              <a:buSzPts val="1900"/>
              <a:buChar char="●"/>
            </a:pPr>
            <a:r>
              <a:rPr lang="en"/>
              <a:t>Come in pairs and can be found on both sides of the body</a:t>
            </a:r>
            <a:endParaRPr/>
          </a:p>
          <a:p>
            <a:pPr marL="152400" lvl="0" indent="0" algn="l" rtl="0">
              <a:lnSpc>
                <a:spcPct val="90000"/>
              </a:lnSpc>
              <a:spcBef>
                <a:spcPts val="70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prstGeom prst="rect">
            <a:avLst/>
          </a:prstGeom>
        </p:spPr>
        <p:txBody>
          <a:bodyPr spcFirstLastPara="1" wrap="square" lIns="75575" tIns="37775" rIns="75575" bIns="37775" anchor="ctr" anchorCtr="0">
            <a:normAutofit/>
          </a:bodyPr>
          <a:lstStyle/>
          <a:p>
            <a:pPr marL="0" lvl="0" indent="0" algn="l" rtl="0">
              <a:spcBef>
                <a:spcPts val="0"/>
              </a:spcBef>
              <a:spcAft>
                <a:spcPts val="0"/>
              </a:spcAft>
              <a:buNone/>
            </a:pPr>
            <a:r>
              <a:rPr lang="en"/>
              <a:t>12 Cranial Nerves</a:t>
            </a:r>
            <a:endParaRPr/>
          </a:p>
        </p:txBody>
      </p:sp>
      <p:sp>
        <p:nvSpPr>
          <p:cNvPr id="120" name="Google Shape;120;p18"/>
          <p:cNvSpPr txBox="1">
            <a:spLocks noGrp="1"/>
          </p:cNvSpPr>
          <p:nvPr>
            <p:ph idx="1"/>
          </p:nvPr>
        </p:nvSpPr>
        <p:spPr>
          <a:prstGeom prst="rect">
            <a:avLst/>
          </a:prstGeom>
        </p:spPr>
        <p:txBody>
          <a:bodyPr spcFirstLastPara="1" wrap="square" lIns="75575" tIns="37775" rIns="75575" bIns="37775" anchor="t" anchorCtr="0">
            <a:normAutofit fontScale="92500" lnSpcReduction="20000"/>
          </a:bodyPr>
          <a:lstStyle/>
          <a:p>
            <a:pPr marL="457200" lvl="0" indent="-309562" algn="l" rtl="0">
              <a:lnSpc>
                <a:spcPct val="115000"/>
              </a:lnSpc>
              <a:spcBef>
                <a:spcPts val="1200"/>
              </a:spcBef>
              <a:spcAft>
                <a:spcPts val="0"/>
              </a:spcAft>
              <a:buSzPct val="83333"/>
              <a:buChar char="●"/>
            </a:pPr>
            <a:r>
              <a:rPr lang="en"/>
              <a:t>1-olfactory nerve</a:t>
            </a:r>
            <a:endParaRPr/>
          </a:p>
          <a:p>
            <a:pPr marL="457200" lvl="0" indent="-309562" algn="l" rtl="0">
              <a:lnSpc>
                <a:spcPct val="115000"/>
              </a:lnSpc>
              <a:spcBef>
                <a:spcPts val="0"/>
              </a:spcBef>
              <a:spcAft>
                <a:spcPts val="0"/>
              </a:spcAft>
              <a:buSzPct val="83333"/>
              <a:buChar char="●"/>
            </a:pPr>
            <a:r>
              <a:rPr lang="en"/>
              <a:t>2-optic nerve</a:t>
            </a:r>
            <a:endParaRPr/>
          </a:p>
          <a:p>
            <a:pPr marL="457200" lvl="0" indent="-309562" algn="l" rtl="0">
              <a:lnSpc>
                <a:spcPct val="115000"/>
              </a:lnSpc>
              <a:spcBef>
                <a:spcPts val="0"/>
              </a:spcBef>
              <a:spcAft>
                <a:spcPts val="0"/>
              </a:spcAft>
              <a:buSzPct val="83333"/>
              <a:buChar char="●"/>
            </a:pPr>
            <a:r>
              <a:rPr lang="en"/>
              <a:t>3-oculomotor nerve</a:t>
            </a:r>
            <a:endParaRPr/>
          </a:p>
          <a:p>
            <a:pPr marL="457200" lvl="0" indent="-309562" algn="l" rtl="0">
              <a:lnSpc>
                <a:spcPct val="115000"/>
              </a:lnSpc>
              <a:spcBef>
                <a:spcPts val="0"/>
              </a:spcBef>
              <a:spcAft>
                <a:spcPts val="0"/>
              </a:spcAft>
              <a:buSzPct val="83333"/>
              <a:buChar char="●"/>
            </a:pPr>
            <a:r>
              <a:rPr lang="en"/>
              <a:t>4-trochlear nerve</a:t>
            </a:r>
            <a:endParaRPr/>
          </a:p>
          <a:p>
            <a:pPr marL="457200" lvl="0" indent="-309562" algn="l" rtl="0">
              <a:lnSpc>
                <a:spcPct val="115000"/>
              </a:lnSpc>
              <a:spcBef>
                <a:spcPts val="0"/>
              </a:spcBef>
              <a:spcAft>
                <a:spcPts val="0"/>
              </a:spcAft>
              <a:buSzPct val="83333"/>
              <a:buChar char="●"/>
            </a:pPr>
            <a:r>
              <a:rPr lang="en"/>
              <a:t>5-trigeminal nerve</a:t>
            </a:r>
            <a:endParaRPr/>
          </a:p>
          <a:p>
            <a:pPr marL="457200" lvl="0" indent="-309562" algn="l" rtl="0">
              <a:lnSpc>
                <a:spcPct val="115000"/>
              </a:lnSpc>
              <a:spcBef>
                <a:spcPts val="0"/>
              </a:spcBef>
              <a:spcAft>
                <a:spcPts val="0"/>
              </a:spcAft>
              <a:buSzPct val="83333"/>
              <a:buChar char="●"/>
            </a:pPr>
            <a:r>
              <a:rPr lang="en"/>
              <a:t>6-abducens nerve</a:t>
            </a:r>
            <a:endParaRPr/>
          </a:p>
          <a:p>
            <a:pPr marL="457200" lvl="0" indent="-309562" algn="l" rtl="0">
              <a:lnSpc>
                <a:spcPct val="115000"/>
              </a:lnSpc>
              <a:spcBef>
                <a:spcPts val="0"/>
              </a:spcBef>
              <a:spcAft>
                <a:spcPts val="0"/>
              </a:spcAft>
              <a:buSzPct val="83333"/>
              <a:buChar char="●"/>
            </a:pPr>
            <a:r>
              <a:rPr lang="en"/>
              <a:t>7-facial nerve</a:t>
            </a:r>
            <a:endParaRPr/>
          </a:p>
          <a:p>
            <a:pPr marL="457200" lvl="0" indent="-309562" algn="l" rtl="0">
              <a:lnSpc>
                <a:spcPct val="115000"/>
              </a:lnSpc>
              <a:spcBef>
                <a:spcPts val="0"/>
              </a:spcBef>
              <a:spcAft>
                <a:spcPts val="0"/>
              </a:spcAft>
              <a:buSzPct val="83333"/>
              <a:buChar char="●"/>
            </a:pPr>
            <a:r>
              <a:rPr lang="en"/>
              <a:t>8-vestibulocochlear nerve</a:t>
            </a:r>
            <a:endParaRPr/>
          </a:p>
          <a:p>
            <a:pPr marL="457200" lvl="0" indent="-309562" algn="l" rtl="0">
              <a:lnSpc>
                <a:spcPct val="115000"/>
              </a:lnSpc>
              <a:spcBef>
                <a:spcPts val="0"/>
              </a:spcBef>
              <a:spcAft>
                <a:spcPts val="0"/>
              </a:spcAft>
              <a:buSzPct val="83333"/>
              <a:buChar char="●"/>
            </a:pPr>
            <a:r>
              <a:rPr lang="en"/>
              <a:t>9-glossopharyngeal nerve</a:t>
            </a:r>
            <a:endParaRPr/>
          </a:p>
          <a:p>
            <a:pPr marL="457200" lvl="0" indent="-309562" algn="l" rtl="0">
              <a:lnSpc>
                <a:spcPct val="115000"/>
              </a:lnSpc>
              <a:spcBef>
                <a:spcPts val="0"/>
              </a:spcBef>
              <a:spcAft>
                <a:spcPts val="0"/>
              </a:spcAft>
              <a:buSzPct val="83333"/>
              <a:buChar char="●"/>
            </a:pPr>
            <a:r>
              <a:rPr lang="en"/>
              <a:t>10-vagus nerve</a:t>
            </a:r>
            <a:endParaRPr/>
          </a:p>
          <a:p>
            <a:pPr marL="457200" lvl="0" indent="-309562" algn="l" rtl="0">
              <a:lnSpc>
                <a:spcPct val="115000"/>
              </a:lnSpc>
              <a:spcBef>
                <a:spcPts val="0"/>
              </a:spcBef>
              <a:spcAft>
                <a:spcPts val="0"/>
              </a:spcAft>
              <a:buSzPct val="83333"/>
              <a:buChar char="●"/>
            </a:pPr>
            <a:r>
              <a:rPr lang="en"/>
              <a:t>11-accessory nerve</a:t>
            </a:r>
            <a:endParaRPr/>
          </a:p>
          <a:p>
            <a:pPr marL="457200" lvl="0" indent="-309562" algn="l" rtl="0">
              <a:lnSpc>
                <a:spcPct val="115000"/>
              </a:lnSpc>
              <a:spcBef>
                <a:spcPts val="0"/>
              </a:spcBef>
              <a:spcAft>
                <a:spcPts val="0"/>
              </a:spcAft>
              <a:buSzPct val="83333"/>
              <a:buChar char="●"/>
            </a:pPr>
            <a:r>
              <a:rPr lang="en"/>
              <a:t>12-hypoglossal nerve</a:t>
            </a:r>
            <a:endParaRPr/>
          </a:p>
          <a:p>
            <a:pPr marL="152400" lvl="0" indent="0" algn="l" rtl="0">
              <a:spcBef>
                <a:spcPts val="120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19"/>
          <p:cNvPicPr preferRelativeResize="0"/>
          <p:nvPr/>
        </p:nvPicPr>
        <p:blipFill>
          <a:blip r:embed="rId3">
            <a:alphaModFix/>
          </a:blip>
          <a:stretch>
            <a:fillRect/>
          </a:stretch>
        </p:blipFill>
        <p:spPr>
          <a:xfrm>
            <a:off x="1150424" y="299787"/>
            <a:ext cx="6843149" cy="4543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txBox="1">
            <a:spLocks noGrp="1"/>
          </p:cNvSpPr>
          <p:nvPr>
            <p:ph type="title"/>
          </p:nvPr>
        </p:nvSpPr>
        <p:spPr>
          <a:prstGeom prst="rect">
            <a:avLst/>
          </a:prstGeom>
        </p:spPr>
        <p:txBody>
          <a:bodyPr spcFirstLastPara="1" wrap="square" lIns="75575" tIns="37775" rIns="75575" bIns="37775" anchor="ctr" anchorCtr="0">
            <a:normAutofit/>
          </a:bodyPr>
          <a:lstStyle/>
          <a:p>
            <a:pPr marL="0" lvl="0" indent="0" algn="l" rtl="0">
              <a:spcBef>
                <a:spcPts val="0"/>
              </a:spcBef>
              <a:spcAft>
                <a:spcPts val="0"/>
              </a:spcAft>
              <a:buNone/>
            </a:pPr>
            <a:r>
              <a:rPr lang="en">
                <a:solidFill>
                  <a:schemeClr val="accent5"/>
                </a:solidFill>
              </a:rPr>
              <a:t>Activity: Create a mnemonic device</a:t>
            </a:r>
            <a:endParaRPr>
              <a:solidFill>
                <a:schemeClr val="accent5"/>
              </a:solidFill>
            </a:endParaRPr>
          </a:p>
        </p:txBody>
      </p:sp>
      <p:sp>
        <p:nvSpPr>
          <p:cNvPr id="131" name="Google Shape;131;p20"/>
          <p:cNvSpPr txBox="1">
            <a:spLocks noGrp="1"/>
          </p:cNvSpPr>
          <p:nvPr>
            <p:ph idx="1"/>
          </p:nvPr>
        </p:nvSpPr>
        <p:spPr>
          <a:prstGeom prst="rect">
            <a:avLst/>
          </a:prstGeom>
        </p:spPr>
        <p:txBody>
          <a:bodyPr spcFirstLastPara="1" wrap="square" lIns="75575" tIns="37775" rIns="75575" bIns="37775" anchor="t" anchorCtr="0">
            <a:normAutofit fontScale="92500" lnSpcReduction="20000"/>
          </a:bodyPr>
          <a:lstStyle/>
          <a:p>
            <a:pPr marL="457200" lvl="0" indent="-323850" algn="l" rtl="0">
              <a:lnSpc>
                <a:spcPct val="115000"/>
              </a:lnSpc>
              <a:spcBef>
                <a:spcPts val="1200"/>
              </a:spcBef>
              <a:spcAft>
                <a:spcPts val="0"/>
              </a:spcAft>
              <a:buSzPts val="1500"/>
              <a:buChar char="●"/>
            </a:pPr>
            <a:r>
              <a:rPr lang="en"/>
              <a:t>1-olfactory nerve</a:t>
            </a:r>
            <a:endParaRPr/>
          </a:p>
          <a:p>
            <a:pPr marL="457200" lvl="0" indent="-323850" algn="l" rtl="0">
              <a:lnSpc>
                <a:spcPct val="115000"/>
              </a:lnSpc>
              <a:spcBef>
                <a:spcPts val="0"/>
              </a:spcBef>
              <a:spcAft>
                <a:spcPts val="0"/>
              </a:spcAft>
              <a:buSzPts val="1500"/>
              <a:buChar char="●"/>
            </a:pPr>
            <a:r>
              <a:rPr lang="en"/>
              <a:t>2-optic nerve</a:t>
            </a:r>
            <a:endParaRPr/>
          </a:p>
          <a:p>
            <a:pPr marL="457200" lvl="0" indent="-323850" algn="l" rtl="0">
              <a:lnSpc>
                <a:spcPct val="115000"/>
              </a:lnSpc>
              <a:spcBef>
                <a:spcPts val="0"/>
              </a:spcBef>
              <a:spcAft>
                <a:spcPts val="0"/>
              </a:spcAft>
              <a:buSzPts val="1500"/>
              <a:buChar char="●"/>
            </a:pPr>
            <a:r>
              <a:rPr lang="en"/>
              <a:t>3-oculomotor nerve</a:t>
            </a:r>
            <a:endParaRPr/>
          </a:p>
          <a:p>
            <a:pPr marL="457200" lvl="0" indent="-323850" algn="l" rtl="0">
              <a:lnSpc>
                <a:spcPct val="115000"/>
              </a:lnSpc>
              <a:spcBef>
                <a:spcPts val="0"/>
              </a:spcBef>
              <a:spcAft>
                <a:spcPts val="0"/>
              </a:spcAft>
              <a:buSzPts val="1500"/>
              <a:buChar char="●"/>
            </a:pPr>
            <a:r>
              <a:rPr lang="en"/>
              <a:t>4-trochlear nerve</a:t>
            </a:r>
            <a:endParaRPr/>
          </a:p>
          <a:p>
            <a:pPr marL="457200" lvl="0" indent="-323850" algn="l" rtl="0">
              <a:lnSpc>
                <a:spcPct val="115000"/>
              </a:lnSpc>
              <a:spcBef>
                <a:spcPts val="0"/>
              </a:spcBef>
              <a:spcAft>
                <a:spcPts val="0"/>
              </a:spcAft>
              <a:buSzPts val="1500"/>
              <a:buChar char="●"/>
            </a:pPr>
            <a:r>
              <a:rPr lang="en"/>
              <a:t>5-trigeminal nerve</a:t>
            </a:r>
            <a:endParaRPr/>
          </a:p>
          <a:p>
            <a:pPr marL="457200" lvl="0" indent="-323850" algn="l" rtl="0">
              <a:lnSpc>
                <a:spcPct val="115000"/>
              </a:lnSpc>
              <a:spcBef>
                <a:spcPts val="0"/>
              </a:spcBef>
              <a:spcAft>
                <a:spcPts val="0"/>
              </a:spcAft>
              <a:buSzPts val="1500"/>
              <a:buChar char="●"/>
            </a:pPr>
            <a:r>
              <a:rPr lang="en"/>
              <a:t>6-abducens nerve</a:t>
            </a:r>
            <a:endParaRPr/>
          </a:p>
          <a:p>
            <a:pPr marL="457200" lvl="0" indent="-323850" algn="l" rtl="0">
              <a:lnSpc>
                <a:spcPct val="115000"/>
              </a:lnSpc>
              <a:spcBef>
                <a:spcPts val="0"/>
              </a:spcBef>
              <a:spcAft>
                <a:spcPts val="0"/>
              </a:spcAft>
              <a:buSzPts val="1500"/>
              <a:buChar char="●"/>
            </a:pPr>
            <a:r>
              <a:rPr lang="en"/>
              <a:t>7-facial nerve</a:t>
            </a:r>
            <a:endParaRPr/>
          </a:p>
          <a:p>
            <a:pPr marL="457200" lvl="0" indent="-323850" algn="l" rtl="0">
              <a:lnSpc>
                <a:spcPct val="115000"/>
              </a:lnSpc>
              <a:spcBef>
                <a:spcPts val="0"/>
              </a:spcBef>
              <a:spcAft>
                <a:spcPts val="0"/>
              </a:spcAft>
              <a:buSzPts val="1500"/>
              <a:buChar char="●"/>
            </a:pPr>
            <a:r>
              <a:rPr lang="en"/>
              <a:t>8-vestibulocochlear nerve</a:t>
            </a:r>
            <a:endParaRPr/>
          </a:p>
          <a:p>
            <a:pPr marL="457200" lvl="0" indent="-323850" algn="l" rtl="0">
              <a:lnSpc>
                <a:spcPct val="115000"/>
              </a:lnSpc>
              <a:spcBef>
                <a:spcPts val="0"/>
              </a:spcBef>
              <a:spcAft>
                <a:spcPts val="0"/>
              </a:spcAft>
              <a:buSzPts val="1500"/>
              <a:buChar char="●"/>
            </a:pPr>
            <a:r>
              <a:rPr lang="en"/>
              <a:t>9-glossopharyngeal nerve</a:t>
            </a:r>
            <a:endParaRPr/>
          </a:p>
          <a:p>
            <a:pPr marL="457200" lvl="0" indent="-323850" algn="l" rtl="0">
              <a:lnSpc>
                <a:spcPct val="115000"/>
              </a:lnSpc>
              <a:spcBef>
                <a:spcPts val="0"/>
              </a:spcBef>
              <a:spcAft>
                <a:spcPts val="0"/>
              </a:spcAft>
              <a:buSzPts val="1500"/>
              <a:buChar char="●"/>
            </a:pPr>
            <a:r>
              <a:rPr lang="en"/>
              <a:t>10-vagus nerve</a:t>
            </a:r>
            <a:endParaRPr/>
          </a:p>
          <a:p>
            <a:pPr marL="457200" lvl="0" indent="-323850" algn="l" rtl="0">
              <a:lnSpc>
                <a:spcPct val="115000"/>
              </a:lnSpc>
              <a:spcBef>
                <a:spcPts val="0"/>
              </a:spcBef>
              <a:spcAft>
                <a:spcPts val="0"/>
              </a:spcAft>
              <a:buSzPts val="1500"/>
              <a:buChar char="●"/>
            </a:pPr>
            <a:r>
              <a:rPr lang="en"/>
              <a:t>11-accessory nerve</a:t>
            </a:r>
            <a:endParaRPr/>
          </a:p>
          <a:p>
            <a:pPr marL="457200" lvl="0" indent="-323850" algn="l" rtl="0">
              <a:lnSpc>
                <a:spcPct val="115000"/>
              </a:lnSpc>
              <a:spcBef>
                <a:spcPts val="0"/>
              </a:spcBef>
              <a:spcAft>
                <a:spcPts val="0"/>
              </a:spcAft>
              <a:buSzPts val="1500"/>
              <a:buChar char="●"/>
            </a:pPr>
            <a:r>
              <a:rPr lang="en"/>
              <a:t>12-hypoglossal nerve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hart with red and blue text&#10;&#10;Description automatically generated">
            <a:extLst>
              <a:ext uri="{FF2B5EF4-FFF2-40B4-BE49-F238E27FC236}">
                <a16:creationId xmlns:a16="http://schemas.microsoft.com/office/drawing/2014/main" id="{50DEC521-8DAE-AD9A-3318-F349706D9DF1}"/>
              </a:ext>
            </a:extLst>
          </p:cNvPr>
          <p:cNvPicPr>
            <a:picLocks noChangeAspect="1"/>
          </p:cNvPicPr>
          <p:nvPr/>
        </p:nvPicPr>
        <p:blipFill>
          <a:blip r:embed="rId2"/>
          <a:stretch>
            <a:fillRect/>
          </a:stretch>
        </p:blipFill>
        <p:spPr>
          <a:xfrm>
            <a:off x="733011" y="534526"/>
            <a:ext cx="7677978" cy="4074447"/>
          </a:xfrm>
          <a:prstGeom prst="rect">
            <a:avLst/>
          </a:prstGeom>
        </p:spPr>
      </p:pic>
    </p:spTree>
    <p:extLst>
      <p:ext uri="{BB962C8B-B14F-4D97-AF65-F5344CB8AC3E}">
        <p14:creationId xmlns:p14="http://schemas.microsoft.com/office/powerpoint/2010/main" val="3870671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table with words and a list of letters&#10;&#10;Description automatically generated with medium confidence">
            <a:extLst>
              <a:ext uri="{FF2B5EF4-FFF2-40B4-BE49-F238E27FC236}">
                <a16:creationId xmlns:a16="http://schemas.microsoft.com/office/drawing/2014/main" id="{4B12821A-7027-26CE-1C82-582F20AD2803}"/>
              </a:ext>
            </a:extLst>
          </p:cNvPr>
          <p:cNvPicPr>
            <a:picLocks noChangeAspect="1"/>
          </p:cNvPicPr>
          <p:nvPr/>
        </p:nvPicPr>
        <p:blipFill>
          <a:blip r:embed="rId2"/>
          <a:stretch>
            <a:fillRect/>
          </a:stretch>
        </p:blipFill>
        <p:spPr>
          <a:xfrm>
            <a:off x="2190750" y="428625"/>
            <a:ext cx="4762500" cy="4286250"/>
          </a:xfrm>
          <a:prstGeom prst="rect">
            <a:avLst/>
          </a:prstGeom>
        </p:spPr>
      </p:pic>
    </p:spTree>
    <p:extLst>
      <p:ext uri="{BB962C8B-B14F-4D97-AF65-F5344CB8AC3E}">
        <p14:creationId xmlns:p14="http://schemas.microsoft.com/office/powerpoint/2010/main" val="210462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6 Major Cranial Nerve Categories</a:t>
            </a:r>
            <a:endParaRPr/>
          </a:p>
        </p:txBody>
      </p:sp>
      <p:sp>
        <p:nvSpPr>
          <p:cNvPr id="137" name="Google Shape;137;p21"/>
          <p:cNvSpPr txBox="1">
            <a:spLocks noGrp="1"/>
          </p:cNvSpPr>
          <p:nvPr>
            <p:ph sz="half" idx="1"/>
          </p:nvPr>
        </p:nvSpPr>
        <p:spPr>
          <a:prstGeom prst="rect">
            <a:avLst/>
          </a:prstGeom>
          <a:noFill/>
          <a:ln>
            <a:noFill/>
          </a:ln>
        </p:spPr>
        <p:txBody>
          <a:bodyPr spcFirstLastPara="1" wrap="square" lIns="75575" tIns="37775" rIns="75575" bIns="37775" anchor="t" anchorCtr="0">
            <a:normAutofit lnSpcReduction="10000"/>
          </a:bodyPr>
          <a:lstStyle/>
          <a:p>
            <a:pPr marL="152400" lvl="0" indent="-146050" algn="l" rtl="0">
              <a:lnSpc>
                <a:spcPct val="90000"/>
              </a:lnSpc>
              <a:spcBef>
                <a:spcPts val="0"/>
              </a:spcBef>
              <a:spcAft>
                <a:spcPts val="0"/>
              </a:spcAft>
              <a:buClr>
                <a:schemeClr val="dk1"/>
              </a:buClr>
              <a:buSzPts val="1900"/>
              <a:buChar char="●"/>
            </a:pPr>
            <a:r>
              <a:rPr lang="en"/>
              <a:t>Motor Neurons</a:t>
            </a:r>
            <a:endParaRPr/>
          </a:p>
          <a:p>
            <a:pPr marL="685800" lvl="1" indent="-381000" algn="l" rtl="0">
              <a:lnSpc>
                <a:spcPct val="90000"/>
              </a:lnSpc>
              <a:spcBef>
                <a:spcPts val="300"/>
              </a:spcBef>
              <a:spcAft>
                <a:spcPts val="0"/>
              </a:spcAft>
              <a:buClr>
                <a:schemeClr val="dk1"/>
              </a:buClr>
              <a:buSzPts val="1600"/>
              <a:buAutoNum type="arabicPeriod"/>
            </a:pPr>
            <a:r>
              <a:rPr lang="en"/>
              <a:t>Somatic – voluntary muscle control</a:t>
            </a:r>
            <a:endParaRPr/>
          </a:p>
          <a:p>
            <a:pPr marL="685800" lvl="1" indent="-381000" algn="l" rtl="0">
              <a:lnSpc>
                <a:spcPct val="90000"/>
              </a:lnSpc>
              <a:spcBef>
                <a:spcPts val="300"/>
              </a:spcBef>
              <a:spcAft>
                <a:spcPts val="0"/>
              </a:spcAft>
              <a:buClr>
                <a:schemeClr val="dk1"/>
              </a:buClr>
              <a:buSzPts val="1600"/>
              <a:buAutoNum type="arabicPeriod"/>
            </a:pPr>
            <a:r>
              <a:rPr lang="en"/>
              <a:t>Branchial – Motor innervation to the muscles of the pharyngeal arches in humans</a:t>
            </a:r>
            <a:endParaRPr/>
          </a:p>
          <a:p>
            <a:pPr marL="685800" lvl="1" indent="-381000" algn="l" rtl="0">
              <a:lnSpc>
                <a:spcPct val="90000"/>
              </a:lnSpc>
              <a:spcBef>
                <a:spcPts val="300"/>
              </a:spcBef>
              <a:spcAft>
                <a:spcPts val="1200"/>
              </a:spcAft>
              <a:buClr>
                <a:schemeClr val="dk1"/>
              </a:buClr>
              <a:buSzPts val="1600"/>
              <a:buAutoNum type="arabicPeriod"/>
            </a:pPr>
            <a:r>
              <a:rPr lang="en"/>
              <a:t>Visceral – Motor innervation of smooth muscle, cardiac muscle, and glands</a:t>
            </a:r>
            <a:endParaRPr/>
          </a:p>
        </p:txBody>
      </p:sp>
      <p:sp>
        <p:nvSpPr>
          <p:cNvPr id="138" name="Google Shape;138;p21"/>
          <p:cNvSpPr txBox="1">
            <a:spLocks noGrp="1"/>
          </p:cNvSpPr>
          <p:nvPr>
            <p:ph sz="half" idx="2"/>
          </p:nvPr>
        </p:nvSpPr>
        <p:spPr>
          <a:prstGeom prst="rect">
            <a:avLst/>
          </a:prstGeom>
          <a:noFill/>
          <a:ln>
            <a:noFill/>
          </a:ln>
        </p:spPr>
        <p:txBody>
          <a:bodyPr spcFirstLastPara="1" wrap="square" lIns="75575" tIns="37775" rIns="75575" bIns="37775" anchor="t" anchorCtr="0">
            <a:normAutofit lnSpcReduction="10000"/>
          </a:bodyPr>
          <a:lstStyle/>
          <a:p>
            <a:pPr marL="152400" lvl="0" indent="-146050" algn="l" rtl="0">
              <a:lnSpc>
                <a:spcPct val="90000"/>
              </a:lnSpc>
              <a:spcBef>
                <a:spcPts val="0"/>
              </a:spcBef>
              <a:spcAft>
                <a:spcPts val="0"/>
              </a:spcAft>
              <a:buClr>
                <a:schemeClr val="dk1"/>
              </a:buClr>
              <a:buSzPts val="1900"/>
              <a:buChar char="●"/>
            </a:pPr>
            <a:r>
              <a:rPr lang="en"/>
              <a:t>Sensory Neurons</a:t>
            </a:r>
            <a:endParaRPr/>
          </a:p>
          <a:p>
            <a:pPr marL="685800" lvl="1" indent="-381000" algn="l" rtl="0">
              <a:lnSpc>
                <a:spcPct val="90000"/>
              </a:lnSpc>
              <a:spcBef>
                <a:spcPts val="300"/>
              </a:spcBef>
              <a:spcAft>
                <a:spcPts val="0"/>
              </a:spcAft>
              <a:buClr>
                <a:schemeClr val="dk1"/>
              </a:buClr>
              <a:buSzPts val="1600"/>
              <a:buFont typeface="Calibri"/>
              <a:buAutoNum type="arabicPeriod" startAt="4"/>
            </a:pPr>
            <a:r>
              <a:rPr lang="en"/>
              <a:t>Visceral – conduct sensory impulses from the internal organs, glands, and blood vessels to the CNS</a:t>
            </a:r>
            <a:endParaRPr/>
          </a:p>
          <a:p>
            <a:pPr marL="774700" lvl="2" indent="-146050" algn="l" rtl="0">
              <a:lnSpc>
                <a:spcPct val="90000"/>
              </a:lnSpc>
              <a:spcBef>
                <a:spcPts val="300"/>
              </a:spcBef>
              <a:spcAft>
                <a:spcPts val="0"/>
              </a:spcAft>
              <a:buClr>
                <a:schemeClr val="dk1"/>
              </a:buClr>
              <a:buSzPts val="1300"/>
              <a:buChar char="■"/>
            </a:pPr>
            <a:r>
              <a:rPr lang="en"/>
              <a:t>Mostly pain or reflex sensations</a:t>
            </a:r>
            <a:endParaRPr/>
          </a:p>
          <a:p>
            <a:pPr marL="685800" lvl="1" indent="-381000" algn="l" rtl="0">
              <a:lnSpc>
                <a:spcPct val="90000"/>
              </a:lnSpc>
              <a:spcBef>
                <a:spcPts val="300"/>
              </a:spcBef>
              <a:spcAft>
                <a:spcPts val="0"/>
              </a:spcAft>
              <a:buClr>
                <a:schemeClr val="dk1"/>
              </a:buClr>
              <a:buSzPts val="1600"/>
              <a:buFont typeface="Calibri"/>
              <a:buAutoNum type="arabicPeriod" startAt="4"/>
            </a:pPr>
            <a:r>
              <a:rPr lang="en"/>
              <a:t>General – conduct impulses of pain, touch, and temperature from the surface of the body</a:t>
            </a:r>
            <a:endParaRPr/>
          </a:p>
          <a:p>
            <a:pPr marL="774700" lvl="2" indent="-146050" algn="l" rtl="0">
              <a:lnSpc>
                <a:spcPct val="90000"/>
              </a:lnSpc>
              <a:spcBef>
                <a:spcPts val="300"/>
              </a:spcBef>
              <a:spcAft>
                <a:spcPts val="0"/>
              </a:spcAft>
              <a:buClr>
                <a:schemeClr val="dk1"/>
              </a:buClr>
              <a:buSzPts val="1300"/>
              <a:buChar char="■"/>
            </a:pPr>
            <a:r>
              <a:rPr lang="en"/>
              <a:t>Also, impulses of muscle sense, tendon sense, and joint sense from the deeper structure</a:t>
            </a:r>
            <a:endParaRPr/>
          </a:p>
          <a:p>
            <a:pPr marL="685800" lvl="1" indent="-381000" algn="l" rtl="0">
              <a:lnSpc>
                <a:spcPct val="90000"/>
              </a:lnSpc>
              <a:spcBef>
                <a:spcPts val="300"/>
              </a:spcBef>
              <a:spcAft>
                <a:spcPts val="1200"/>
              </a:spcAft>
              <a:buClr>
                <a:schemeClr val="dk1"/>
              </a:buClr>
              <a:buSzPts val="1600"/>
              <a:buFont typeface="Calibri"/>
              <a:buAutoNum type="arabicPeriod" startAt="4"/>
            </a:pPr>
            <a:r>
              <a:rPr lang="en"/>
              <a:t>Special – carry sense of smell (olfaction) and taste (gustation)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solidFill>
                  <a:schemeClr val="accent5"/>
                </a:solidFill>
              </a:rPr>
              <a:t>Activity: 6 Major Cranial Nerve Categories</a:t>
            </a:r>
            <a:endParaRPr>
              <a:solidFill>
                <a:schemeClr val="accent5"/>
              </a:solidFill>
            </a:endParaRPr>
          </a:p>
        </p:txBody>
      </p:sp>
      <p:sp>
        <p:nvSpPr>
          <p:cNvPr id="144" name="Google Shape;144;p22"/>
          <p:cNvSpPr txBox="1">
            <a:spLocks noGrp="1"/>
          </p:cNvSpPr>
          <p:nvPr>
            <p:ph sz="half" idx="1"/>
          </p:nvPr>
        </p:nvSpPr>
        <p:spPr>
          <a:prstGeom prst="rect">
            <a:avLst/>
          </a:prstGeom>
          <a:noFill/>
          <a:ln>
            <a:noFill/>
          </a:ln>
        </p:spPr>
        <p:txBody>
          <a:bodyPr spcFirstLastPara="1" wrap="square" lIns="75575" tIns="37775" rIns="75575" bIns="37775" anchor="t" anchorCtr="0">
            <a:normAutofit lnSpcReduction="10000"/>
          </a:bodyPr>
          <a:lstStyle/>
          <a:p>
            <a:pPr marL="152400" lvl="0" indent="-146050" algn="l" rtl="0">
              <a:lnSpc>
                <a:spcPct val="90000"/>
              </a:lnSpc>
              <a:spcBef>
                <a:spcPts val="0"/>
              </a:spcBef>
              <a:spcAft>
                <a:spcPts val="0"/>
              </a:spcAft>
              <a:buClr>
                <a:schemeClr val="dk1"/>
              </a:buClr>
              <a:buSzPts val="1900"/>
              <a:buChar char="●"/>
            </a:pPr>
            <a:r>
              <a:rPr lang="en" dirty="0"/>
              <a:t>Motor Neurons</a:t>
            </a:r>
            <a:endParaRPr dirty="0"/>
          </a:p>
          <a:p>
            <a:pPr marL="685800" lvl="1" indent="-381000" algn="l" rtl="0">
              <a:lnSpc>
                <a:spcPct val="90000"/>
              </a:lnSpc>
              <a:spcBef>
                <a:spcPts val="300"/>
              </a:spcBef>
              <a:spcAft>
                <a:spcPts val="0"/>
              </a:spcAft>
              <a:buClr>
                <a:schemeClr val="dk1"/>
              </a:buClr>
              <a:buSzPts val="1600"/>
              <a:buAutoNum type="arabicPeriod"/>
            </a:pPr>
            <a:r>
              <a:rPr lang="en" dirty="0"/>
              <a:t>________ – voluntary muscle control</a:t>
            </a:r>
            <a:endParaRPr dirty="0"/>
          </a:p>
          <a:p>
            <a:pPr marL="685800" lvl="1" indent="-381000" algn="l" rtl="0">
              <a:lnSpc>
                <a:spcPct val="90000"/>
              </a:lnSpc>
              <a:spcBef>
                <a:spcPts val="300"/>
              </a:spcBef>
              <a:spcAft>
                <a:spcPts val="0"/>
              </a:spcAft>
              <a:buClr>
                <a:schemeClr val="dk1"/>
              </a:buClr>
              <a:buSzPts val="1600"/>
              <a:buAutoNum type="arabicPeriod"/>
            </a:pPr>
            <a:r>
              <a:rPr lang="en" dirty="0"/>
              <a:t>________ – Motor innervation to the muscles of the pharyngeal arches in humans</a:t>
            </a:r>
            <a:endParaRPr dirty="0"/>
          </a:p>
          <a:p>
            <a:pPr marL="685800" lvl="1" indent="-381000" algn="l" rtl="0">
              <a:lnSpc>
                <a:spcPct val="90000"/>
              </a:lnSpc>
              <a:spcBef>
                <a:spcPts val="300"/>
              </a:spcBef>
              <a:spcAft>
                <a:spcPts val="1200"/>
              </a:spcAft>
              <a:buClr>
                <a:schemeClr val="dk1"/>
              </a:buClr>
              <a:buSzPts val="1600"/>
              <a:buAutoNum type="arabicPeriod"/>
            </a:pPr>
            <a:r>
              <a:rPr lang="en" dirty="0"/>
              <a:t>________ – Motor innervation of smooth muscle, cardiac muscle, and glands</a:t>
            </a:r>
            <a:endParaRPr dirty="0"/>
          </a:p>
        </p:txBody>
      </p:sp>
      <p:sp>
        <p:nvSpPr>
          <p:cNvPr id="145" name="Google Shape;145;p22"/>
          <p:cNvSpPr txBox="1">
            <a:spLocks noGrp="1"/>
          </p:cNvSpPr>
          <p:nvPr>
            <p:ph sz="half" idx="2"/>
          </p:nvPr>
        </p:nvSpPr>
        <p:spPr>
          <a:prstGeom prst="rect">
            <a:avLst/>
          </a:prstGeom>
          <a:noFill/>
          <a:ln>
            <a:noFill/>
          </a:ln>
        </p:spPr>
        <p:txBody>
          <a:bodyPr spcFirstLastPara="1" wrap="square" lIns="75575" tIns="37775" rIns="75575" bIns="37775" anchor="t" anchorCtr="0">
            <a:normAutofit lnSpcReduction="10000"/>
          </a:bodyPr>
          <a:lstStyle/>
          <a:p>
            <a:pPr marL="152400" lvl="0" indent="-146050" algn="l" rtl="0">
              <a:lnSpc>
                <a:spcPct val="90000"/>
              </a:lnSpc>
              <a:spcBef>
                <a:spcPts val="0"/>
              </a:spcBef>
              <a:spcAft>
                <a:spcPts val="0"/>
              </a:spcAft>
              <a:buClr>
                <a:schemeClr val="dk1"/>
              </a:buClr>
              <a:buSzPts val="1900"/>
              <a:buChar char="●"/>
            </a:pPr>
            <a:r>
              <a:rPr lang="en" dirty="0"/>
              <a:t>Sensory Neurons</a:t>
            </a:r>
            <a:endParaRPr dirty="0"/>
          </a:p>
          <a:p>
            <a:pPr marL="685800" lvl="1" indent="-381000" algn="l" rtl="0">
              <a:lnSpc>
                <a:spcPct val="90000"/>
              </a:lnSpc>
              <a:spcBef>
                <a:spcPts val="300"/>
              </a:spcBef>
              <a:spcAft>
                <a:spcPts val="0"/>
              </a:spcAft>
              <a:buClr>
                <a:schemeClr val="dk1"/>
              </a:buClr>
              <a:buSzPts val="1600"/>
              <a:buFont typeface="Calibri"/>
              <a:buAutoNum type="arabicPeriod" startAt="4"/>
            </a:pPr>
            <a:r>
              <a:rPr lang="en" dirty="0"/>
              <a:t>_______ – conduct sensory impulses from the internal organs, glands, and blood vessels to the CNS</a:t>
            </a:r>
            <a:endParaRPr dirty="0"/>
          </a:p>
          <a:p>
            <a:pPr marL="774700" lvl="2" indent="-146050" algn="l" rtl="0">
              <a:lnSpc>
                <a:spcPct val="90000"/>
              </a:lnSpc>
              <a:spcBef>
                <a:spcPts val="300"/>
              </a:spcBef>
              <a:spcAft>
                <a:spcPts val="0"/>
              </a:spcAft>
              <a:buClr>
                <a:schemeClr val="dk1"/>
              </a:buClr>
              <a:buSzPts val="1300"/>
              <a:buChar char="■"/>
            </a:pPr>
            <a:r>
              <a:rPr lang="en" dirty="0"/>
              <a:t>Mostly pain or reflex sensations</a:t>
            </a:r>
            <a:endParaRPr dirty="0"/>
          </a:p>
          <a:p>
            <a:pPr marL="685800" lvl="1" indent="-381000" algn="l" rtl="0">
              <a:lnSpc>
                <a:spcPct val="90000"/>
              </a:lnSpc>
              <a:spcBef>
                <a:spcPts val="300"/>
              </a:spcBef>
              <a:spcAft>
                <a:spcPts val="0"/>
              </a:spcAft>
              <a:buClr>
                <a:schemeClr val="dk1"/>
              </a:buClr>
              <a:buSzPts val="1600"/>
              <a:buFont typeface="Calibri"/>
              <a:buAutoNum type="arabicPeriod" startAt="4"/>
            </a:pPr>
            <a:r>
              <a:rPr lang="en" dirty="0"/>
              <a:t>_______ – conduct impulses of pain, touch, and temperature from the surface of the body</a:t>
            </a:r>
            <a:endParaRPr dirty="0"/>
          </a:p>
          <a:p>
            <a:pPr marL="774700" lvl="2" indent="-146050" algn="l" rtl="0">
              <a:lnSpc>
                <a:spcPct val="90000"/>
              </a:lnSpc>
              <a:spcBef>
                <a:spcPts val="300"/>
              </a:spcBef>
              <a:spcAft>
                <a:spcPts val="0"/>
              </a:spcAft>
              <a:buClr>
                <a:schemeClr val="dk1"/>
              </a:buClr>
              <a:buSzPts val="1300"/>
              <a:buChar char="■"/>
            </a:pPr>
            <a:r>
              <a:rPr lang="en" dirty="0"/>
              <a:t>Also, impulses of muscle sense, tendon sense, and joint sense from the deeper structure</a:t>
            </a:r>
            <a:endParaRPr dirty="0"/>
          </a:p>
          <a:p>
            <a:pPr marL="685800" lvl="1" indent="-381000" algn="l" rtl="0">
              <a:lnSpc>
                <a:spcPct val="90000"/>
              </a:lnSpc>
              <a:spcBef>
                <a:spcPts val="300"/>
              </a:spcBef>
              <a:spcAft>
                <a:spcPts val="1200"/>
              </a:spcAft>
              <a:buClr>
                <a:schemeClr val="dk1"/>
              </a:buClr>
              <a:buSzPts val="1600"/>
              <a:buFont typeface="Calibri"/>
              <a:buAutoNum type="arabicPeriod" startAt="4"/>
            </a:pPr>
            <a:r>
              <a:rPr lang="en" dirty="0"/>
              <a:t>_______– carry sense of smell (olfaction) and taste (gustation)</a:t>
            </a:r>
            <a:endParaRPr dirty="0"/>
          </a:p>
        </p:txBody>
      </p:sp>
      <p:sp>
        <p:nvSpPr>
          <p:cNvPr id="146" name="Google Shape;146;p22"/>
          <p:cNvSpPr txBox="1"/>
          <p:nvPr/>
        </p:nvSpPr>
        <p:spPr>
          <a:xfrm>
            <a:off x="396525" y="3750025"/>
            <a:ext cx="4025700" cy="6156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b="1" dirty="0">
                <a:latin typeface="Roboto"/>
                <a:ea typeface="Roboto"/>
                <a:cs typeface="Roboto"/>
                <a:sym typeface="Roboto"/>
              </a:rPr>
              <a:t>Word Bank: </a:t>
            </a:r>
            <a:r>
              <a:rPr lang="en" b="1" dirty="0">
                <a:solidFill>
                  <a:schemeClr val="dk2"/>
                </a:solidFill>
                <a:latin typeface="Roboto"/>
                <a:ea typeface="Roboto"/>
                <a:cs typeface="Roboto"/>
                <a:sym typeface="Roboto"/>
              </a:rPr>
              <a:t>Special , Somatic, General, Visceral, Visceral, Branchial </a:t>
            </a:r>
            <a:endParaRPr b="1" dirty="0">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I – The Olfactory Nerve</a:t>
            </a:r>
            <a:endParaRPr/>
          </a:p>
        </p:txBody>
      </p:sp>
      <p:sp>
        <p:nvSpPr>
          <p:cNvPr id="153" name="Google Shape;153;p23"/>
          <p:cNvSpPr txBox="1">
            <a:spLocks noGrp="1"/>
          </p:cNvSpPr>
          <p:nvPr>
            <p:ph idx="1"/>
          </p:nvPr>
        </p:nvSpPr>
        <p:spPr>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a:t>Special sensory nerve</a:t>
            </a:r>
            <a:endParaRPr/>
          </a:p>
          <a:p>
            <a:pPr marL="152400" lvl="0" indent="-146050" algn="l" rtl="0">
              <a:lnSpc>
                <a:spcPct val="90000"/>
              </a:lnSpc>
              <a:spcBef>
                <a:spcPts val="700"/>
              </a:spcBef>
              <a:spcAft>
                <a:spcPts val="0"/>
              </a:spcAft>
              <a:buClr>
                <a:schemeClr val="dk1"/>
              </a:buClr>
              <a:buSzPts val="1900"/>
              <a:buChar char="●"/>
            </a:pPr>
            <a:r>
              <a:rPr lang="en"/>
              <a:t>Conveys the sense of </a:t>
            </a:r>
            <a:r>
              <a:rPr lang="en" b="1"/>
              <a:t>smell</a:t>
            </a:r>
            <a:endParaRPr b="1"/>
          </a:p>
          <a:p>
            <a:pPr marL="152400" lvl="0" indent="-146050" algn="l" rtl="0">
              <a:lnSpc>
                <a:spcPct val="90000"/>
              </a:lnSpc>
              <a:spcBef>
                <a:spcPts val="700"/>
              </a:spcBef>
              <a:spcAft>
                <a:spcPts val="1200"/>
              </a:spcAft>
              <a:buClr>
                <a:schemeClr val="dk1"/>
              </a:buClr>
              <a:buSzPts val="1900"/>
              <a:buChar char="●"/>
            </a:pPr>
            <a:r>
              <a:rPr lang="en"/>
              <a:t>Damage can cause an inability to smell (anosmia), a distortion to smell, or a distortion / lack of taste</a:t>
            </a:r>
            <a:endParaRPr/>
          </a:p>
        </p:txBody>
      </p:sp>
      <p:pic>
        <p:nvPicPr>
          <p:cNvPr id="154" name="Google Shape;154;p23"/>
          <p:cNvPicPr preferRelativeResize="0"/>
          <p:nvPr/>
        </p:nvPicPr>
        <p:blipFill rotWithShape="1">
          <a:blip r:embed="rId3">
            <a:alphaModFix/>
          </a:blip>
          <a:srcRect/>
          <a:stretch/>
        </p:blipFill>
        <p:spPr>
          <a:xfrm>
            <a:off x="6269182" y="2383587"/>
            <a:ext cx="1890993" cy="2237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4"/>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II – The Optic Nerve</a:t>
            </a:r>
            <a:endParaRPr/>
          </a:p>
        </p:txBody>
      </p:sp>
      <p:sp>
        <p:nvSpPr>
          <p:cNvPr id="161" name="Google Shape;161;p24"/>
          <p:cNvSpPr txBox="1">
            <a:spLocks noGrp="1"/>
          </p:cNvSpPr>
          <p:nvPr>
            <p:ph idx="1"/>
          </p:nvPr>
        </p:nvSpPr>
        <p:spPr>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a:t>Special sensory nerve</a:t>
            </a:r>
            <a:endParaRPr/>
          </a:p>
          <a:p>
            <a:pPr marL="152400" lvl="0" indent="-146050" algn="l" rtl="0">
              <a:lnSpc>
                <a:spcPct val="90000"/>
              </a:lnSpc>
              <a:spcBef>
                <a:spcPts val="700"/>
              </a:spcBef>
              <a:spcAft>
                <a:spcPts val="0"/>
              </a:spcAft>
              <a:buClr>
                <a:schemeClr val="dk1"/>
              </a:buClr>
              <a:buSzPts val="1900"/>
              <a:buChar char="●"/>
            </a:pPr>
            <a:r>
              <a:rPr lang="en"/>
              <a:t>Transmits visual information</a:t>
            </a:r>
            <a:endParaRPr/>
          </a:p>
          <a:p>
            <a:pPr marL="152400" lvl="0" indent="-146050" algn="l" rtl="0">
              <a:lnSpc>
                <a:spcPct val="90000"/>
              </a:lnSpc>
              <a:spcBef>
                <a:spcPts val="700"/>
              </a:spcBef>
              <a:spcAft>
                <a:spcPts val="1200"/>
              </a:spcAft>
              <a:buClr>
                <a:schemeClr val="dk1"/>
              </a:buClr>
              <a:buSzPts val="1900"/>
              <a:buChar char="●"/>
            </a:pPr>
            <a:r>
              <a:rPr lang="en"/>
              <a:t>Damage affects specific aspects of </a:t>
            </a:r>
            <a:r>
              <a:rPr lang="en" b="1"/>
              <a:t>vision</a:t>
            </a:r>
            <a:r>
              <a:rPr lang="en"/>
              <a:t> depending on the location of the lesion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5"/>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III – The Oculomotor Nerve</a:t>
            </a:r>
            <a:endParaRPr/>
          </a:p>
        </p:txBody>
      </p:sp>
      <p:sp>
        <p:nvSpPr>
          <p:cNvPr id="167" name="Google Shape;167;p25"/>
          <p:cNvSpPr txBox="1">
            <a:spLocks noGrp="1"/>
          </p:cNvSpPr>
          <p:nvPr>
            <p:ph idx="1"/>
          </p:nvPr>
        </p:nvSpPr>
        <p:spPr>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b="1"/>
              <a:t>Somatic motor and visceral motor nerves</a:t>
            </a:r>
            <a:endParaRPr b="1"/>
          </a:p>
          <a:p>
            <a:pPr marL="152400" lvl="0" indent="-146050" algn="l" rtl="0">
              <a:lnSpc>
                <a:spcPct val="90000"/>
              </a:lnSpc>
              <a:spcBef>
                <a:spcPts val="0"/>
              </a:spcBef>
              <a:spcAft>
                <a:spcPts val="0"/>
              </a:spcAft>
              <a:buClr>
                <a:schemeClr val="dk1"/>
              </a:buClr>
              <a:buSzPts val="1900"/>
              <a:buChar char="●"/>
            </a:pPr>
            <a:r>
              <a:rPr lang="en"/>
              <a:t>Plays a role in eye movement, </a:t>
            </a:r>
            <a:r>
              <a:rPr lang="en" b="1"/>
              <a:t>lens Contortion and pupil dilation</a:t>
            </a:r>
            <a:endParaRPr b="1"/>
          </a:p>
          <a:p>
            <a:pPr marL="152400" lvl="0" indent="-146050" algn="l" rtl="0">
              <a:lnSpc>
                <a:spcPct val="90000"/>
              </a:lnSpc>
              <a:spcBef>
                <a:spcPts val="700"/>
              </a:spcBef>
              <a:spcAft>
                <a:spcPts val="1200"/>
              </a:spcAft>
              <a:buClr>
                <a:schemeClr val="dk1"/>
              </a:buClr>
              <a:buSzPts val="1900"/>
              <a:buChar char="●"/>
            </a:pPr>
            <a:r>
              <a:rPr lang="en"/>
              <a:t>Damage can cause double vision (diplopia), inability to coordinate the movement of both eyes (strabismus), eyelid drooping (ptosis), and pupil dilation (mydriasis). One may also experience an inability to open the eye due to paralysis of the levator muscle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6"/>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IV – The Trochlear Nerve</a:t>
            </a:r>
            <a:endParaRPr/>
          </a:p>
        </p:txBody>
      </p:sp>
      <p:sp>
        <p:nvSpPr>
          <p:cNvPr id="173" name="Google Shape;173;p26"/>
          <p:cNvSpPr txBox="1">
            <a:spLocks noGrp="1"/>
          </p:cNvSpPr>
          <p:nvPr>
            <p:ph idx="1"/>
          </p:nvPr>
        </p:nvSpPr>
        <p:spPr>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a:t>Somatic Motor Nerve</a:t>
            </a:r>
            <a:endParaRPr/>
          </a:p>
          <a:p>
            <a:pPr marL="152400" lvl="0" indent="-146050" algn="l" rtl="0">
              <a:lnSpc>
                <a:spcPct val="90000"/>
              </a:lnSpc>
              <a:spcBef>
                <a:spcPts val="700"/>
              </a:spcBef>
              <a:spcAft>
                <a:spcPts val="0"/>
              </a:spcAft>
              <a:buClr>
                <a:schemeClr val="dk1"/>
              </a:buClr>
              <a:buSzPts val="1900"/>
              <a:buChar char="●"/>
            </a:pPr>
            <a:r>
              <a:rPr lang="en"/>
              <a:t>Also plays a role in eye movement</a:t>
            </a:r>
            <a:endParaRPr/>
          </a:p>
          <a:p>
            <a:pPr marL="152400" lvl="0" indent="-146050" algn="l" rtl="0">
              <a:lnSpc>
                <a:spcPct val="90000"/>
              </a:lnSpc>
              <a:spcBef>
                <a:spcPts val="700"/>
              </a:spcBef>
              <a:spcAft>
                <a:spcPts val="0"/>
              </a:spcAft>
              <a:buClr>
                <a:schemeClr val="dk1"/>
              </a:buClr>
              <a:buSzPts val="1900"/>
              <a:buChar char="●"/>
            </a:pPr>
            <a:r>
              <a:rPr lang="en" b="1"/>
              <a:t>Superior oblique movement</a:t>
            </a:r>
            <a:endParaRPr b="1"/>
          </a:p>
          <a:p>
            <a:pPr marL="152400" lvl="0" indent="-146050" algn="l" rtl="0">
              <a:lnSpc>
                <a:spcPct val="90000"/>
              </a:lnSpc>
              <a:spcBef>
                <a:spcPts val="700"/>
              </a:spcBef>
              <a:spcAft>
                <a:spcPts val="1200"/>
              </a:spcAft>
              <a:buClr>
                <a:schemeClr val="dk1"/>
              </a:buClr>
              <a:buSzPts val="1900"/>
              <a:buChar char="●"/>
            </a:pPr>
            <a:r>
              <a:rPr lang="en"/>
              <a:t>Damage can also cause diplopia with the eye adducted and elevated (cannot move downwards)</a:t>
            </a:r>
            <a:endParaRPr/>
          </a:p>
        </p:txBody>
      </p:sp>
      <p:pic>
        <p:nvPicPr>
          <p:cNvPr id="174" name="Google Shape;174;p26"/>
          <p:cNvPicPr preferRelativeResize="0"/>
          <p:nvPr/>
        </p:nvPicPr>
        <p:blipFill rotWithShape="1">
          <a:blip r:embed="rId3">
            <a:alphaModFix/>
          </a:blip>
          <a:srcRect/>
          <a:stretch/>
        </p:blipFill>
        <p:spPr>
          <a:xfrm>
            <a:off x="3726043" y="2951379"/>
            <a:ext cx="5093074" cy="19596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7"/>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V – The Trigeminal Nerve</a:t>
            </a:r>
            <a:endParaRPr/>
          </a:p>
        </p:txBody>
      </p:sp>
      <p:sp>
        <p:nvSpPr>
          <p:cNvPr id="180" name="Google Shape;180;p27"/>
          <p:cNvSpPr txBox="1">
            <a:spLocks noGrp="1"/>
          </p:cNvSpPr>
          <p:nvPr>
            <p:ph idx="1"/>
          </p:nvPr>
        </p:nvSpPr>
        <p:spPr>
          <a:xfrm>
            <a:off x="628650" y="1369225"/>
            <a:ext cx="4026900" cy="3263400"/>
          </a:xfrm>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a:t>Branchial motor and general sensory nerves</a:t>
            </a:r>
            <a:endParaRPr/>
          </a:p>
          <a:p>
            <a:pPr marL="152400" lvl="0" indent="-146050" algn="l" rtl="0">
              <a:lnSpc>
                <a:spcPct val="90000"/>
              </a:lnSpc>
              <a:spcBef>
                <a:spcPts val="0"/>
              </a:spcBef>
              <a:spcAft>
                <a:spcPts val="0"/>
              </a:spcAft>
              <a:buClr>
                <a:schemeClr val="dk1"/>
              </a:buClr>
              <a:buSzPts val="1900"/>
              <a:buChar char="●"/>
            </a:pPr>
            <a:r>
              <a:rPr lang="en"/>
              <a:t>Comprised of three distinct parts (V1, V2, and V3 nerves)</a:t>
            </a:r>
            <a:endParaRPr/>
          </a:p>
          <a:p>
            <a:pPr marL="152400" lvl="0" indent="-146050" algn="l" rtl="0">
              <a:lnSpc>
                <a:spcPct val="90000"/>
              </a:lnSpc>
              <a:spcBef>
                <a:spcPts val="700"/>
              </a:spcBef>
              <a:spcAft>
                <a:spcPts val="0"/>
              </a:spcAft>
              <a:buClr>
                <a:schemeClr val="dk1"/>
              </a:buClr>
              <a:buSzPts val="1900"/>
              <a:buChar char="●"/>
            </a:pPr>
            <a:r>
              <a:rPr lang="en"/>
              <a:t>Control the </a:t>
            </a:r>
            <a:r>
              <a:rPr lang="en" b="1"/>
              <a:t>muscles of chewing</a:t>
            </a:r>
            <a:endParaRPr b="1"/>
          </a:p>
          <a:p>
            <a:pPr marL="152400" lvl="0" indent="-146050" algn="l" rtl="0">
              <a:lnSpc>
                <a:spcPct val="90000"/>
              </a:lnSpc>
              <a:spcBef>
                <a:spcPts val="700"/>
              </a:spcBef>
              <a:spcAft>
                <a:spcPts val="1200"/>
              </a:spcAft>
              <a:buClr>
                <a:schemeClr val="dk1"/>
              </a:buClr>
              <a:buSzPts val="1900"/>
              <a:buChar char="●"/>
            </a:pPr>
            <a:r>
              <a:rPr lang="en"/>
              <a:t>Also provides </a:t>
            </a:r>
            <a:r>
              <a:rPr lang="en" b="1"/>
              <a:t>somatic sensations from the face</a:t>
            </a:r>
            <a:endParaRPr b="1"/>
          </a:p>
        </p:txBody>
      </p:sp>
      <p:pic>
        <p:nvPicPr>
          <p:cNvPr id="181" name="Google Shape;181;p27"/>
          <p:cNvPicPr preferRelativeResize="0"/>
          <p:nvPr/>
        </p:nvPicPr>
        <p:blipFill>
          <a:blip r:embed="rId3">
            <a:alphaModFix/>
          </a:blip>
          <a:stretch>
            <a:fillRect/>
          </a:stretch>
        </p:blipFill>
        <p:spPr>
          <a:xfrm>
            <a:off x="4895925" y="1647200"/>
            <a:ext cx="3948698" cy="27074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8"/>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VI – The Abducens Nerve</a:t>
            </a:r>
            <a:endParaRPr/>
          </a:p>
        </p:txBody>
      </p:sp>
      <p:sp>
        <p:nvSpPr>
          <p:cNvPr id="187" name="Google Shape;187;p28"/>
          <p:cNvSpPr txBox="1">
            <a:spLocks noGrp="1"/>
          </p:cNvSpPr>
          <p:nvPr>
            <p:ph idx="1"/>
          </p:nvPr>
        </p:nvSpPr>
        <p:spPr>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a:t>Somatic Motor Nerve</a:t>
            </a:r>
            <a:endParaRPr/>
          </a:p>
          <a:p>
            <a:pPr marL="152400" lvl="0" indent="-146050" algn="l" rtl="0">
              <a:lnSpc>
                <a:spcPct val="90000"/>
              </a:lnSpc>
              <a:spcBef>
                <a:spcPts val="700"/>
              </a:spcBef>
              <a:spcAft>
                <a:spcPts val="0"/>
              </a:spcAft>
              <a:buClr>
                <a:schemeClr val="dk1"/>
              </a:buClr>
              <a:buSzPts val="1900"/>
              <a:buChar char="●"/>
            </a:pPr>
            <a:r>
              <a:rPr lang="en" b="1"/>
              <a:t>Lateral Rectus movement</a:t>
            </a:r>
            <a:endParaRPr b="1"/>
          </a:p>
          <a:p>
            <a:pPr marL="152400" lvl="0" indent="-146050" algn="l" rtl="0">
              <a:lnSpc>
                <a:spcPct val="90000"/>
              </a:lnSpc>
              <a:spcBef>
                <a:spcPts val="700"/>
              </a:spcBef>
              <a:spcAft>
                <a:spcPts val="1200"/>
              </a:spcAft>
              <a:buClr>
                <a:schemeClr val="dk1"/>
              </a:buClr>
              <a:buSzPts val="1900"/>
              <a:buChar char="●"/>
            </a:pPr>
            <a:r>
              <a:rPr lang="en"/>
              <a:t>Damage also results in Diplopia</a:t>
            </a:r>
            <a:endParaRPr/>
          </a:p>
        </p:txBody>
      </p:sp>
      <p:pic>
        <p:nvPicPr>
          <p:cNvPr id="188" name="Google Shape;188;p28"/>
          <p:cNvPicPr preferRelativeResize="0"/>
          <p:nvPr/>
        </p:nvPicPr>
        <p:blipFill rotWithShape="1">
          <a:blip r:embed="rId3">
            <a:alphaModFix/>
          </a:blip>
          <a:srcRect/>
          <a:stretch/>
        </p:blipFill>
        <p:spPr>
          <a:xfrm>
            <a:off x="3156343" y="2880829"/>
            <a:ext cx="5093074" cy="195964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9"/>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VII – The Facial Nerve</a:t>
            </a:r>
            <a:endParaRPr/>
          </a:p>
        </p:txBody>
      </p:sp>
      <p:sp>
        <p:nvSpPr>
          <p:cNvPr id="194" name="Google Shape;194;p29"/>
          <p:cNvSpPr txBox="1">
            <a:spLocks noGrp="1"/>
          </p:cNvSpPr>
          <p:nvPr>
            <p:ph idx="1"/>
          </p:nvPr>
        </p:nvSpPr>
        <p:spPr>
          <a:prstGeom prst="rect">
            <a:avLst/>
          </a:prstGeom>
          <a:noFill/>
          <a:ln>
            <a:noFill/>
          </a:ln>
        </p:spPr>
        <p:txBody>
          <a:bodyPr spcFirstLastPara="1" wrap="square" lIns="75575" tIns="37775" rIns="75575" bIns="37775" anchor="t" anchorCtr="0">
            <a:normAutofit/>
          </a:bodyPr>
          <a:lstStyle/>
          <a:p>
            <a:pPr marL="457200" lvl="0" indent="-323850" algn="l" rtl="0">
              <a:lnSpc>
                <a:spcPct val="150000"/>
              </a:lnSpc>
              <a:spcBef>
                <a:spcPts val="0"/>
              </a:spcBef>
              <a:spcAft>
                <a:spcPts val="0"/>
              </a:spcAft>
              <a:buSzPts val="1500"/>
              <a:buChar char="●"/>
            </a:pPr>
            <a:r>
              <a:rPr lang="en"/>
              <a:t>Branchial motor, visceral motor, general sensory</a:t>
            </a:r>
            <a:endParaRPr/>
          </a:p>
          <a:p>
            <a:pPr marL="457200" lvl="0" indent="-323850" algn="l" rtl="0">
              <a:lnSpc>
                <a:spcPct val="150000"/>
              </a:lnSpc>
              <a:spcBef>
                <a:spcPts val="0"/>
              </a:spcBef>
              <a:spcAft>
                <a:spcPts val="0"/>
              </a:spcAft>
              <a:buSzPts val="1500"/>
              <a:buChar char="●"/>
            </a:pPr>
            <a:r>
              <a:rPr lang="en" b="1"/>
              <a:t>Facial movement</a:t>
            </a:r>
            <a:endParaRPr b="1"/>
          </a:p>
          <a:p>
            <a:pPr marL="457200" lvl="0" indent="-323850" algn="l" rtl="0">
              <a:lnSpc>
                <a:spcPct val="150000"/>
              </a:lnSpc>
              <a:spcBef>
                <a:spcPts val="0"/>
              </a:spcBef>
              <a:spcAft>
                <a:spcPts val="0"/>
              </a:spcAft>
              <a:buSzPts val="1500"/>
              <a:buChar char="●"/>
            </a:pPr>
            <a:r>
              <a:rPr lang="en" b="1"/>
              <a:t>Gland secretion</a:t>
            </a:r>
            <a:endParaRPr b="1"/>
          </a:p>
          <a:p>
            <a:pPr marL="457200" lvl="0" indent="-323850" algn="l" rtl="0">
              <a:lnSpc>
                <a:spcPct val="150000"/>
              </a:lnSpc>
              <a:spcBef>
                <a:spcPts val="0"/>
              </a:spcBef>
              <a:spcAft>
                <a:spcPts val="0"/>
              </a:spcAft>
              <a:buSzPts val="1500"/>
              <a:buChar char="●"/>
            </a:pPr>
            <a:r>
              <a:rPr lang="en" b="1"/>
              <a:t>Taste – anterior 2/3 of tongue</a:t>
            </a:r>
            <a:endParaRPr b="1"/>
          </a:p>
          <a:p>
            <a:pPr marL="457200" lvl="0" indent="-323850" algn="l" rtl="0">
              <a:lnSpc>
                <a:spcPct val="150000"/>
              </a:lnSpc>
              <a:spcBef>
                <a:spcPts val="0"/>
              </a:spcBef>
              <a:spcAft>
                <a:spcPts val="0"/>
              </a:spcAft>
              <a:buSzPts val="1500"/>
              <a:buChar char="●"/>
            </a:pPr>
            <a:r>
              <a:rPr lang="en" b="1"/>
              <a:t>General sensations from external ear tympanic membrane</a:t>
            </a:r>
            <a:endParaRPr b="1"/>
          </a:p>
          <a:p>
            <a:pPr marL="457200" lvl="0" indent="-323850" algn="l" rtl="0">
              <a:lnSpc>
                <a:spcPct val="150000"/>
              </a:lnSpc>
              <a:spcBef>
                <a:spcPts val="0"/>
              </a:spcBef>
              <a:spcAft>
                <a:spcPts val="0"/>
              </a:spcAft>
              <a:buSzPts val="1500"/>
              <a:buChar char="●"/>
            </a:pPr>
            <a:r>
              <a:rPr lang="en"/>
              <a:t>Lesions may manifest a facial palsy</a:t>
            </a:r>
            <a:endParaRPr/>
          </a:p>
          <a:p>
            <a:pPr marL="457200" lvl="0" indent="-323850" algn="l" rtl="0">
              <a:lnSpc>
                <a:spcPct val="150000"/>
              </a:lnSpc>
              <a:spcBef>
                <a:spcPts val="0"/>
              </a:spcBef>
              <a:spcAft>
                <a:spcPts val="0"/>
              </a:spcAft>
              <a:buSzPts val="1500"/>
              <a:buChar char="●"/>
            </a:pPr>
            <a:r>
              <a:rPr lang="en"/>
              <a:t>The most commonly injured cranial nerve in blunt trauma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VIII – The Vestibulocochlear Nerve</a:t>
            </a:r>
            <a:endParaRPr/>
          </a:p>
        </p:txBody>
      </p:sp>
      <p:sp>
        <p:nvSpPr>
          <p:cNvPr id="200" name="Google Shape;200;p30"/>
          <p:cNvSpPr txBox="1">
            <a:spLocks noGrp="1"/>
          </p:cNvSpPr>
          <p:nvPr>
            <p:ph idx="1"/>
          </p:nvPr>
        </p:nvSpPr>
        <p:spPr>
          <a:xfrm>
            <a:off x="628650" y="1369219"/>
            <a:ext cx="5051714" cy="3263503"/>
          </a:xfrm>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a:t>Special Somatosensory Nerve</a:t>
            </a:r>
            <a:endParaRPr/>
          </a:p>
          <a:p>
            <a:pPr marL="152400" lvl="0" indent="-146050" algn="l" rtl="0">
              <a:lnSpc>
                <a:spcPct val="90000"/>
              </a:lnSpc>
              <a:spcBef>
                <a:spcPts val="700"/>
              </a:spcBef>
              <a:spcAft>
                <a:spcPts val="0"/>
              </a:spcAft>
              <a:buClr>
                <a:schemeClr val="dk1"/>
              </a:buClr>
              <a:buSzPts val="1900"/>
              <a:buChar char="●"/>
            </a:pPr>
            <a:r>
              <a:rPr lang="en"/>
              <a:t>Splits into the vestibular and cochlear nerves</a:t>
            </a:r>
            <a:endParaRPr/>
          </a:p>
          <a:p>
            <a:pPr marL="469900" lvl="1" indent="-165100" algn="l" rtl="0">
              <a:lnSpc>
                <a:spcPct val="90000"/>
              </a:lnSpc>
              <a:spcBef>
                <a:spcPts val="300"/>
              </a:spcBef>
              <a:spcAft>
                <a:spcPts val="0"/>
              </a:spcAft>
              <a:buClr>
                <a:schemeClr val="dk1"/>
              </a:buClr>
              <a:buSzPts val="1600"/>
              <a:buChar char="○"/>
            </a:pPr>
            <a:r>
              <a:rPr lang="en" b="1"/>
              <a:t>Equilibrium and balance</a:t>
            </a:r>
            <a:endParaRPr b="1"/>
          </a:p>
          <a:p>
            <a:pPr marL="469900" lvl="1" indent="-165100" algn="l" rtl="0">
              <a:lnSpc>
                <a:spcPct val="90000"/>
              </a:lnSpc>
              <a:spcBef>
                <a:spcPts val="300"/>
              </a:spcBef>
              <a:spcAft>
                <a:spcPts val="0"/>
              </a:spcAft>
              <a:buClr>
                <a:schemeClr val="dk1"/>
              </a:buClr>
              <a:buSzPts val="1600"/>
              <a:buChar char="○"/>
            </a:pPr>
            <a:r>
              <a:rPr lang="en" b="1"/>
              <a:t>Ability to hear sound</a:t>
            </a:r>
            <a:endParaRPr b="1"/>
          </a:p>
          <a:p>
            <a:pPr marL="152400" lvl="0" indent="-146050" algn="l" rtl="0">
              <a:lnSpc>
                <a:spcPct val="90000"/>
              </a:lnSpc>
              <a:spcBef>
                <a:spcPts val="700"/>
              </a:spcBef>
              <a:spcAft>
                <a:spcPts val="0"/>
              </a:spcAft>
              <a:buClr>
                <a:schemeClr val="dk1"/>
              </a:buClr>
              <a:buSzPts val="1900"/>
              <a:buChar char="●"/>
            </a:pPr>
            <a:r>
              <a:rPr lang="en"/>
              <a:t>Damage may give rise to the sensation of spinning and dizziness</a:t>
            </a:r>
            <a:endParaRPr/>
          </a:p>
          <a:p>
            <a:pPr marL="152400" lvl="0" indent="-146050" algn="l" rtl="0">
              <a:lnSpc>
                <a:spcPct val="90000"/>
              </a:lnSpc>
              <a:spcBef>
                <a:spcPts val="700"/>
              </a:spcBef>
              <a:spcAft>
                <a:spcPts val="1200"/>
              </a:spcAft>
              <a:buClr>
                <a:schemeClr val="dk1"/>
              </a:buClr>
              <a:buSzPts val="1900"/>
              <a:buChar char="●"/>
            </a:pPr>
            <a:r>
              <a:rPr lang="en"/>
              <a:t>May also case partial or complete deafness in the affected ear.</a:t>
            </a:r>
            <a:endParaRPr/>
          </a:p>
        </p:txBody>
      </p:sp>
      <p:pic>
        <p:nvPicPr>
          <p:cNvPr id="201" name="Google Shape;201;p30"/>
          <p:cNvPicPr preferRelativeResize="0"/>
          <p:nvPr/>
        </p:nvPicPr>
        <p:blipFill>
          <a:blip r:embed="rId3">
            <a:alphaModFix/>
          </a:blip>
          <a:stretch>
            <a:fillRect/>
          </a:stretch>
        </p:blipFill>
        <p:spPr>
          <a:xfrm>
            <a:off x="5702539" y="2505542"/>
            <a:ext cx="3158837" cy="233910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1"/>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IX – The Glossopharyngeal Nerve</a:t>
            </a:r>
            <a:endParaRPr/>
          </a:p>
        </p:txBody>
      </p:sp>
      <p:sp>
        <p:nvSpPr>
          <p:cNvPr id="207" name="Google Shape;207;p31"/>
          <p:cNvSpPr txBox="1">
            <a:spLocks noGrp="1"/>
          </p:cNvSpPr>
          <p:nvPr>
            <p:ph idx="1"/>
          </p:nvPr>
        </p:nvSpPr>
        <p:spPr>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a:t>Branchial motor, visceral motor, visceral sensory, general sensory, special sensory</a:t>
            </a:r>
            <a:endParaRPr/>
          </a:p>
          <a:p>
            <a:pPr marL="152400" lvl="0" indent="0" algn="l" rtl="0">
              <a:lnSpc>
                <a:spcPct val="90000"/>
              </a:lnSpc>
              <a:spcBef>
                <a:spcPts val="0"/>
              </a:spcBef>
              <a:spcAft>
                <a:spcPts val="0"/>
              </a:spcAft>
              <a:buNone/>
            </a:pPr>
            <a:endParaRPr/>
          </a:p>
          <a:p>
            <a:pPr marL="152400" lvl="0" indent="-146050" algn="l" rtl="0">
              <a:lnSpc>
                <a:spcPct val="90000"/>
              </a:lnSpc>
              <a:spcBef>
                <a:spcPts val="0"/>
              </a:spcBef>
              <a:spcAft>
                <a:spcPts val="0"/>
              </a:spcAft>
              <a:buClr>
                <a:schemeClr val="dk1"/>
              </a:buClr>
              <a:buSzPts val="1900"/>
              <a:buChar char="●"/>
            </a:pPr>
            <a:r>
              <a:rPr lang="en"/>
              <a:t>Swallowing</a:t>
            </a:r>
            <a:endParaRPr/>
          </a:p>
          <a:p>
            <a:pPr marL="152400" lvl="0" indent="-146050" algn="l" rtl="0">
              <a:lnSpc>
                <a:spcPct val="90000"/>
              </a:lnSpc>
              <a:spcBef>
                <a:spcPts val="700"/>
              </a:spcBef>
              <a:spcAft>
                <a:spcPts val="0"/>
              </a:spcAft>
              <a:buClr>
                <a:schemeClr val="dk1"/>
              </a:buClr>
              <a:buSzPts val="1900"/>
              <a:buChar char="●"/>
            </a:pPr>
            <a:r>
              <a:rPr lang="en"/>
              <a:t>Sensations from carotid</a:t>
            </a:r>
            <a:endParaRPr/>
          </a:p>
          <a:p>
            <a:pPr marL="152400" lvl="0" indent="-146050" algn="l" rtl="0">
              <a:lnSpc>
                <a:spcPct val="90000"/>
              </a:lnSpc>
              <a:spcBef>
                <a:spcPts val="700"/>
              </a:spcBef>
              <a:spcAft>
                <a:spcPts val="0"/>
              </a:spcAft>
              <a:buClr>
                <a:schemeClr val="dk1"/>
              </a:buClr>
              <a:buSzPts val="1900"/>
              <a:buChar char="●"/>
            </a:pPr>
            <a:r>
              <a:rPr lang="en"/>
              <a:t>Salivary gland secretion</a:t>
            </a:r>
            <a:endParaRPr/>
          </a:p>
          <a:p>
            <a:pPr marL="152400" lvl="0" indent="-146050" algn="l" rtl="0">
              <a:lnSpc>
                <a:spcPct val="90000"/>
              </a:lnSpc>
              <a:spcBef>
                <a:spcPts val="700"/>
              </a:spcBef>
              <a:spcAft>
                <a:spcPts val="0"/>
              </a:spcAft>
              <a:buClr>
                <a:schemeClr val="dk1"/>
              </a:buClr>
              <a:buSzPts val="1900"/>
              <a:buChar char="●"/>
            </a:pPr>
            <a:r>
              <a:rPr lang="en" b="1"/>
              <a:t>Sensations of the tongue – posterior 1/3 of tongue</a:t>
            </a:r>
            <a:endParaRPr b="1"/>
          </a:p>
          <a:p>
            <a:pPr marL="152400" lvl="0" indent="-146050" algn="l" rtl="0">
              <a:lnSpc>
                <a:spcPct val="90000"/>
              </a:lnSpc>
              <a:spcBef>
                <a:spcPts val="700"/>
              </a:spcBef>
              <a:spcAft>
                <a:spcPts val="1200"/>
              </a:spcAft>
              <a:buClr>
                <a:schemeClr val="dk1"/>
              </a:buClr>
              <a:buSzPts val="1900"/>
              <a:buChar char="●"/>
            </a:pPr>
            <a:r>
              <a:rPr lang="en"/>
              <a:t>Unilateral absence of a gag reflex suggests a lesion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2"/>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X – The Vagus Nerve</a:t>
            </a:r>
            <a:endParaRPr/>
          </a:p>
        </p:txBody>
      </p:sp>
      <p:sp>
        <p:nvSpPr>
          <p:cNvPr id="213" name="Google Shape;213;p32"/>
          <p:cNvSpPr txBox="1">
            <a:spLocks noGrp="1"/>
          </p:cNvSpPr>
          <p:nvPr>
            <p:ph idx="1"/>
          </p:nvPr>
        </p:nvSpPr>
        <p:spPr>
          <a:xfrm>
            <a:off x="628650" y="1369225"/>
            <a:ext cx="3289200" cy="3263400"/>
          </a:xfrm>
          <a:prstGeom prst="rect">
            <a:avLst/>
          </a:prstGeom>
          <a:noFill/>
          <a:ln>
            <a:noFill/>
          </a:ln>
        </p:spPr>
        <p:txBody>
          <a:bodyPr spcFirstLastPara="1" wrap="square" lIns="75575" tIns="37775" rIns="75575" bIns="37775" anchor="t" anchorCtr="0">
            <a:normAutofit/>
          </a:bodyPr>
          <a:lstStyle/>
          <a:p>
            <a:pPr marL="152400" lvl="0" indent="-184150" algn="l" rtl="0">
              <a:spcBef>
                <a:spcPts val="0"/>
              </a:spcBef>
              <a:spcAft>
                <a:spcPts val="0"/>
              </a:spcAft>
              <a:buSzPts val="1900"/>
              <a:buChar char="●"/>
            </a:pPr>
            <a:r>
              <a:rPr lang="en"/>
              <a:t>Branchial motor, visceral motor, visceral sensory, general sensory</a:t>
            </a:r>
            <a:endParaRPr/>
          </a:p>
          <a:p>
            <a:pPr marL="152400" lvl="0" indent="0" algn="l" rtl="0">
              <a:spcBef>
                <a:spcPts val="0"/>
              </a:spcBef>
              <a:spcAft>
                <a:spcPts val="0"/>
              </a:spcAft>
              <a:buNone/>
            </a:pPr>
            <a:endParaRPr/>
          </a:p>
          <a:p>
            <a:pPr marL="152400" lvl="0" indent="-146050" algn="l" rtl="0">
              <a:lnSpc>
                <a:spcPct val="90000"/>
              </a:lnSpc>
              <a:spcBef>
                <a:spcPts val="0"/>
              </a:spcBef>
              <a:spcAft>
                <a:spcPts val="0"/>
              </a:spcAft>
              <a:buClr>
                <a:schemeClr val="dk1"/>
              </a:buClr>
              <a:buSzPts val="1900"/>
              <a:buChar char="●"/>
            </a:pPr>
            <a:r>
              <a:rPr lang="en" b="1"/>
              <a:t>Pharynx and larynx movement</a:t>
            </a:r>
            <a:endParaRPr b="1"/>
          </a:p>
          <a:p>
            <a:pPr marL="152400" lvl="0" indent="-146050" algn="l" rtl="0">
              <a:lnSpc>
                <a:spcPct val="90000"/>
              </a:lnSpc>
              <a:spcBef>
                <a:spcPts val="700"/>
              </a:spcBef>
              <a:spcAft>
                <a:spcPts val="0"/>
              </a:spcAft>
              <a:buClr>
                <a:schemeClr val="dk1"/>
              </a:buClr>
              <a:buSzPts val="1900"/>
              <a:buChar char="●"/>
            </a:pPr>
            <a:r>
              <a:rPr lang="en" b="1"/>
              <a:t>Blood pressure control</a:t>
            </a:r>
            <a:endParaRPr b="1"/>
          </a:p>
          <a:p>
            <a:pPr marL="152400" lvl="0" indent="-146050" algn="l" rtl="0">
              <a:lnSpc>
                <a:spcPct val="90000"/>
              </a:lnSpc>
              <a:spcBef>
                <a:spcPts val="700"/>
              </a:spcBef>
              <a:spcAft>
                <a:spcPts val="1200"/>
              </a:spcAft>
              <a:buClr>
                <a:schemeClr val="dk1"/>
              </a:buClr>
              <a:buSzPts val="1900"/>
              <a:buChar char="●"/>
            </a:pPr>
            <a:r>
              <a:rPr lang="en"/>
              <a:t>Damage may cause trouble swallowing, as well as a rise in blood pressure and heart rate</a:t>
            </a:r>
            <a:endParaRPr/>
          </a:p>
        </p:txBody>
      </p:sp>
      <p:sp>
        <p:nvSpPr>
          <p:cNvPr id="214" name="Google Shape;214;p32" descr="What to Expect During VNS Implantation"/>
          <p:cNvSpPr/>
          <p:nvPr/>
        </p:nvSpPr>
        <p:spPr>
          <a:xfrm>
            <a:off x="4433455" y="2470897"/>
            <a:ext cx="3671455" cy="2672603"/>
          </a:xfrm>
          <a:prstGeom prst="rect">
            <a:avLst/>
          </a:prstGeom>
          <a:noFill/>
          <a:ln>
            <a:noFill/>
          </a:ln>
        </p:spPr>
        <p:txBody>
          <a:bodyPr spcFirstLastPara="1" wrap="square" lIns="75575" tIns="37775" rIns="75575" bIns="37775" anchor="t" anchorCtr="0">
            <a:noAutofit/>
          </a:bodyPr>
          <a:lstStyle/>
          <a:p>
            <a:pPr marL="0" marR="0" lvl="0" indent="0" algn="l" rtl="0">
              <a:spcBef>
                <a:spcPts val="0"/>
              </a:spcBef>
              <a:spcAft>
                <a:spcPts val="0"/>
              </a:spcAft>
              <a:buNone/>
            </a:pPr>
            <a:endParaRPr sz="1500">
              <a:solidFill>
                <a:schemeClr val="dk1"/>
              </a:solidFill>
              <a:latin typeface="Calibri"/>
              <a:ea typeface="Calibri"/>
              <a:cs typeface="Calibri"/>
              <a:sym typeface="Calibri"/>
            </a:endParaRPr>
          </a:p>
        </p:txBody>
      </p:sp>
      <p:pic>
        <p:nvPicPr>
          <p:cNvPr id="215" name="Google Shape;215;p32"/>
          <p:cNvPicPr preferRelativeResize="0"/>
          <p:nvPr/>
        </p:nvPicPr>
        <p:blipFill>
          <a:blip r:embed="rId3">
            <a:alphaModFix/>
          </a:blip>
          <a:stretch>
            <a:fillRect/>
          </a:stretch>
        </p:blipFill>
        <p:spPr>
          <a:xfrm>
            <a:off x="3768488" y="1641175"/>
            <a:ext cx="5001374" cy="28132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3"/>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XI – The Accessory Nerve</a:t>
            </a:r>
            <a:endParaRPr/>
          </a:p>
        </p:txBody>
      </p:sp>
      <p:sp>
        <p:nvSpPr>
          <p:cNvPr id="221" name="Google Shape;221;p33"/>
          <p:cNvSpPr txBox="1">
            <a:spLocks noGrp="1"/>
          </p:cNvSpPr>
          <p:nvPr>
            <p:ph idx="1"/>
          </p:nvPr>
        </p:nvSpPr>
        <p:spPr>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a:t>Branchial motor</a:t>
            </a:r>
            <a:endParaRPr/>
          </a:p>
          <a:p>
            <a:pPr marL="152400" lvl="0" indent="-146050" algn="l" rtl="0">
              <a:lnSpc>
                <a:spcPct val="90000"/>
              </a:lnSpc>
              <a:spcBef>
                <a:spcPts val="700"/>
              </a:spcBef>
              <a:spcAft>
                <a:spcPts val="0"/>
              </a:spcAft>
              <a:buClr>
                <a:schemeClr val="dk1"/>
              </a:buClr>
              <a:buSzPts val="1900"/>
              <a:buChar char="●"/>
            </a:pPr>
            <a:r>
              <a:rPr lang="en" b="1"/>
              <a:t>Sternomastoid and trapezius muscle</a:t>
            </a:r>
            <a:endParaRPr b="1"/>
          </a:p>
          <a:p>
            <a:pPr marL="152400" lvl="0" indent="-146050" algn="l" rtl="0">
              <a:lnSpc>
                <a:spcPct val="90000"/>
              </a:lnSpc>
              <a:spcBef>
                <a:spcPts val="700"/>
              </a:spcBef>
              <a:spcAft>
                <a:spcPts val="1200"/>
              </a:spcAft>
              <a:buClr>
                <a:schemeClr val="dk1"/>
              </a:buClr>
              <a:buSzPts val="1900"/>
              <a:buChar char="●"/>
            </a:pPr>
            <a:r>
              <a:rPr lang="en"/>
              <a:t>Winging of the scapula</a:t>
            </a:r>
            <a:endParaRPr/>
          </a:p>
        </p:txBody>
      </p:sp>
      <p:pic>
        <p:nvPicPr>
          <p:cNvPr id="222" name="Google Shape;222;p33"/>
          <p:cNvPicPr preferRelativeResize="0"/>
          <p:nvPr/>
        </p:nvPicPr>
        <p:blipFill>
          <a:blip r:embed="rId3">
            <a:alphaModFix/>
          </a:blip>
          <a:stretch>
            <a:fillRect/>
          </a:stretch>
        </p:blipFill>
        <p:spPr>
          <a:xfrm>
            <a:off x="5061351" y="2127750"/>
            <a:ext cx="3385550" cy="2880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4"/>
          <p:cNvSpPr txBox="1">
            <a:spLocks noGrp="1"/>
          </p:cNvSpPr>
          <p:nvPr>
            <p:ph type="title"/>
          </p:nvPr>
        </p:nvSpPr>
        <p:spPr>
          <a:prstGeom prst="rect">
            <a:avLst/>
          </a:prstGeom>
          <a:noFill/>
          <a:ln>
            <a:noFill/>
          </a:ln>
        </p:spPr>
        <p:txBody>
          <a:bodyPr spcFirstLastPara="1" wrap="square" lIns="75575" tIns="37775" rIns="75575" bIns="37775" anchor="ctr" anchorCtr="0">
            <a:normAutofit/>
          </a:bodyPr>
          <a:lstStyle/>
          <a:p>
            <a:pPr marL="0" lvl="0" indent="0" algn="l" rtl="0">
              <a:lnSpc>
                <a:spcPct val="90000"/>
              </a:lnSpc>
              <a:spcBef>
                <a:spcPts val="0"/>
              </a:spcBef>
              <a:spcAft>
                <a:spcPts val="0"/>
              </a:spcAft>
              <a:buClr>
                <a:schemeClr val="dk1"/>
              </a:buClr>
              <a:buSzPts val="3000"/>
              <a:buFont typeface="Calibri"/>
              <a:buNone/>
            </a:pPr>
            <a:r>
              <a:rPr lang="en"/>
              <a:t>Cranial Nerve XII – The Hypoglossal Nerve</a:t>
            </a:r>
            <a:endParaRPr/>
          </a:p>
        </p:txBody>
      </p:sp>
      <p:sp>
        <p:nvSpPr>
          <p:cNvPr id="228" name="Google Shape;228;p34"/>
          <p:cNvSpPr txBox="1">
            <a:spLocks noGrp="1"/>
          </p:cNvSpPr>
          <p:nvPr>
            <p:ph idx="1"/>
          </p:nvPr>
        </p:nvSpPr>
        <p:spPr>
          <a:prstGeom prst="rect">
            <a:avLst/>
          </a:prstGeom>
          <a:noFill/>
          <a:ln>
            <a:noFill/>
          </a:ln>
        </p:spPr>
        <p:txBody>
          <a:bodyPr spcFirstLastPara="1" wrap="square" lIns="75575" tIns="37775" rIns="75575" bIns="37775" anchor="t" anchorCtr="0">
            <a:normAutofit/>
          </a:bodyPr>
          <a:lstStyle/>
          <a:p>
            <a:pPr marL="152400" lvl="0" indent="-146050" algn="l" rtl="0">
              <a:lnSpc>
                <a:spcPct val="90000"/>
              </a:lnSpc>
              <a:spcBef>
                <a:spcPts val="0"/>
              </a:spcBef>
              <a:spcAft>
                <a:spcPts val="0"/>
              </a:spcAft>
              <a:buClr>
                <a:schemeClr val="dk1"/>
              </a:buClr>
              <a:buSzPts val="1900"/>
              <a:buChar char="●"/>
            </a:pPr>
            <a:r>
              <a:rPr lang="en"/>
              <a:t>Somatic motor nerve</a:t>
            </a:r>
            <a:endParaRPr/>
          </a:p>
          <a:p>
            <a:pPr marL="152400" lvl="0" indent="-146050" algn="l" rtl="0">
              <a:lnSpc>
                <a:spcPct val="90000"/>
              </a:lnSpc>
              <a:spcBef>
                <a:spcPts val="700"/>
              </a:spcBef>
              <a:spcAft>
                <a:spcPts val="0"/>
              </a:spcAft>
              <a:buClr>
                <a:schemeClr val="dk1"/>
              </a:buClr>
              <a:buSzPts val="1900"/>
              <a:buChar char="●"/>
            </a:pPr>
            <a:r>
              <a:rPr lang="en"/>
              <a:t>Unique in that it is innervated from the motor cortices of both hemispheres of the brain</a:t>
            </a:r>
            <a:endParaRPr/>
          </a:p>
          <a:p>
            <a:pPr marL="152400" lvl="0" indent="-146050" algn="l" rtl="0">
              <a:lnSpc>
                <a:spcPct val="90000"/>
              </a:lnSpc>
              <a:spcBef>
                <a:spcPts val="700"/>
              </a:spcBef>
              <a:spcAft>
                <a:spcPts val="0"/>
              </a:spcAft>
              <a:buClr>
                <a:schemeClr val="dk1"/>
              </a:buClr>
              <a:buSzPts val="1900"/>
              <a:buChar char="●"/>
            </a:pPr>
            <a:r>
              <a:rPr lang="en" b="1"/>
              <a:t>Tongue movement:</a:t>
            </a:r>
            <a:r>
              <a:rPr lang="en"/>
              <a:t> </a:t>
            </a:r>
            <a:r>
              <a:rPr lang="en" b="1"/>
              <a:t>swallowing, speech articulation</a:t>
            </a:r>
            <a:endParaRPr b="1"/>
          </a:p>
          <a:p>
            <a:pPr marL="152400" lvl="0" indent="-146050" algn="l" rtl="0">
              <a:lnSpc>
                <a:spcPct val="90000"/>
              </a:lnSpc>
              <a:spcBef>
                <a:spcPts val="700"/>
              </a:spcBef>
              <a:spcAft>
                <a:spcPts val="1200"/>
              </a:spcAft>
              <a:buClr>
                <a:schemeClr val="dk1"/>
              </a:buClr>
              <a:buSzPts val="1900"/>
              <a:buChar char="●"/>
            </a:pPr>
            <a:r>
              <a:rPr lang="en"/>
              <a:t>Damage may cause weakness or issues moving the tongue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5"/>
          <p:cNvSpPr txBox="1">
            <a:spLocks noGrp="1"/>
          </p:cNvSpPr>
          <p:nvPr>
            <p:ph type="title"/>
          </p:nvPr>
        </p:nvSpPr>
        <p:spPr>
          <a:prstGeom prst="rect">
            <a:avLst/>
          </a:prstGeom>
        </p:spPr>
        <p:txBody>
          <a:bodyPr spcFirstLastPara="1" wrap="square" lIns="75575" tIns="37775" rIns="75575" bIns="37775" anchor="ctr" anchorCtr="0">
            <a:normAutofit/>
          </a:bodyPr>
          <a:lstStyle/>
          <a:p>
            <a:pPr marL="0" lvl="0" indent="0" algn="l" rtl="0">
              <a:spcBef>
                <a:spcPts val="0"/>
              </a:spcBef>
              <a:spcAft>
                <a:spcPts val="0"/>
              </a:spcAft>
              <a:buNone/>
            </a:pPr>
            <a:r>
              <a:rPr lang="en">
                <a:solidFill>
                  <a:schemeClr val="accent5"/>
                </a:solidFill>
              </a:rPr>
              <a:t>Activity: Match the nerve to the function</a:t>
            </a:r>
            <a:endParaRPr>
              <a:solidFill>
                <a:schemeClr val="accent5"/>
              </a:solidFill>
            </a:endParaRPr>
          </a:p>
        </p:txBody>
      </p:sp>
      <p:sp>
        <p:nvSpPr>
          <p:cNvPr id="234" name="Google Shape;234;p35"/>
          <p:cNvSpPr txBox="1">
            <a:spLocks noGrp="1"/>
          </p:cNvSpPr>
          <p:nvPr>
            <p:ph idx="1"/>
          </p:nvPr>
        </p:nvSpPr>
        <p:spPr>
          <a:xfrm>
            <a:off x="4184075" y="1369225"/>
            <a:ext cx="4331400" cy="3263400"/>
          </a:xfrm>
          <a:prstGeom prst="rect">
            <a:avLst/>
          </a:prstGeom>
        </p:spPr>
        <p:txBody>
          <a:bodyPr spcFirstLastPara="1" wrap="square" lIns="75575" tIns="37775" rIns="75575" bIns="37775" anchor="t" anchorCtr="0">
            <a:normAutofit lnSpcReduction="10000"/>
          </a:bodyPr>
          <a:lstStyle/>
          <a:p>
            <a:pPr marL="0" lvl="0" indent="0" algn="l" rtl="0">
              <a:lnSpc>
                <a:spcPct val="107000"/>
              </a:lnSpc>
              <a:spcBef>
                <a:spcPts val="0"/>
              </a:spcBef>
              <a:spcAft>
                <a:spcPts val="0"/>
              </a:spcAft>
              <a:buNone/>
            </a:pP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u="sng" dirty="0">
                <a:solidFill>
                  <a:srgbClr val="000000"/>
                </a:solidFill>
                <a:latin typeface="Calibri"/>
                <a:ea typeface="Calibri"/>
                <a:cs typeface="Calibri"/>
                <a:sym typeface="Calibri"/>
              </a:rPr>
              <a:t>Function</a:t>
            </a:r>
            <a:endParaRPr sz="900" b="1" u="sng"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Taste, anterior 2/3 of tongue</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Impulses from inner ear; equilibrium and hearing</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Motor to sylopharyngeus muscle (swallowing)</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PSNS supply to parotid (salivary) gland</a:t>
            </a:r>
            <a:endParaRPr sz="9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Enable a vasoconstrictor response and increase blood pressure</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Sensation from a small area around the external ear</a:t>
            </a:r>
            <a:endParaRPr sz="9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Baroreceptors of the carotid sinus and chemoreceptors of the carotid body</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Posterior 1/3 of tongue, tympanic membrane</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Taste, posterior 1/3 of tongue</a:t>
            </a:r>
            <a:endParaRPr sz="9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Motor to superior oblique</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Motor to muscles of mastication</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Vision</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Innervates all the extrinsic eye muscles except superior oblique and lateral rectus</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PSNS supply to ciliary and pupillary constrictor muscles</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General sensation from external ear tympanic membrane</a:t>
            </a:r>
            <a:endParaRPr sz="9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Innervate muscles of facial expression</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PSNS supply to glands of head</a:t>
            </a:r>
            <a:endParaRPr sz="9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Pharynx and larynx</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PSNS supply to laryngeal and pharyngeal muscles and abdominal viscera</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Motor to sternomastoid and trapezius muscle</a:t>
            </a:r>
            <a:endParaRPr sz="1100" b="1" dirty="0">
              <a:solidFill>
                <a:srgbClr val="000000"/>
              </a:solidFill>
              <a:latin typeface="Calibri"/>
              <a:ea typeface="Calibri"/>
              <a:cs typeface="Calibri"/>
              <a:sym typeface="Calibri"/>
            </a:endParaRPr>
          </a:p>
          <a:p>
            <a:pPr marL="0" lvl="0" indent="0" algn="l" rtl="0">
              <a:lnSpc>
                <a:spcPct val="107000"/>
              </a:lnSpc>
              <a:spcBef>
                <a:spcPts val="0"/>
              </a:spcBef>
              <a:spcAft>
                <a:spcPts val="0"/>
              </a:spcAft>
              <a:buNone/>
            </a:pPr>
            <a:r>
              <a:rPr lang="en" sz="900" b="1" dirty="0">
                <a:solidFill>
                  <a:srgbClr val="000000"/>
                </a:solidFill>
                <a:latin typeface="Calibri"/>
                <a:ea typeface="Calibri"/>
                <a:cs typeface="Calibri"/>
                <a:sym typeface="Calibri"/>
              </a:rPr>
              <a:t>Swallowing and speech articulation</a:t>
            </a:r>
            <a:endParaRPr sz="1100" b="1" dirty="0">
              <a:solidFill>
                <a:srgbClr val="000000"/>
              </a:solidFill>
              <a:latin typeface="Calibri"/>
              <a:ea typeface="Calibri"/>
              <a:cs typeface="Calibri"/>
              <a:sym typeface="Calibri"/>
            </a:endParaRPr>
          </a:p>
          <a:p>
            <a:pPr marL="0" lvl="0" indent="0" algn="l" rtl="0">
              <a:spcBef>
                <a:spcPts val="700"/>
              </a:spcBef>
              <a:spcAft>
                <a:spcPts val="1200"/>
              </a:spcAft>
              <a:buNone/>
            </a:pPr>
            <a:endParaRPr dirty="0"/>
          </a:p>
        </p:txBody>
      </p:sp>
      <p:sp>
        <p:nvSpPr>
          <p:cNvPr id="235" name="Google Shape;235;p35"/>
          <p:cNvSpPr txBox="1"/>
          <p:nvPr/>
        </p:nvSpPr>
        <p:spPr>
          <a:xfrm>
            <a:off x="657875" y="1496025"/>
            <a:ext cx="3086100" cy="3155100"/>
          </a:xfrm>
          <a:prstGeom prst="rect">
            <a:avLst/>
          </a:prstGeom>
          <a:noFill/>
          <a:ln>
            <a:noFill/>
          </a:ln>
        </p:spPr>
        <p:txBody>
          <a:bodyPr spcFirstLastPara="1" wrap="square" lIns="91425" tIns="91425" rIns="91425" bIns="91425" anchor="t" anchorCtr="0">
            <a:noAutofit/>
          </a:bodyPr>
          <a:lstStyle/>
          <a:p>
            <a:pPr marL="0" lvl="0" indent="0" algn="ctr" rtl="0">
              <a:lnSpc>
                <a:spcPct val="107000"/>
              </a:lnSpc>
              <a:spcBef>
                <a:spcPts val="0"/>
              </a:spcBef>
              <a:spcAft>
                <a:spcPts val="0"/>
              </a:spcAft>
              <a:buNone/>
            </a:pPr>
            <a:r>
              <a:rPr lang="en" sz="900" b="1" u="sng" dirty="0">
                <a:latin typeface="Calibri"/>
                <a:ea typeface="Calibri"/>
                <a:cs typeface="Calibri"/>
                <a:sym typeface="Calibri"/>
              </a:rPr>
              <a:t>Nerve</a:t>
            </a:r>
            <a:endParaRPr sz="900" b="1" u="sng"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Optic</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Olfactory</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Oculomotor</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Trochlear</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Trigeminal</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Abducens</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Facial</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Vestibulocochlear</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Glossopharyngeal</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Vagus</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Accessory</a:t>
            </a:r>
            <a:endParaRPr sz="900" b="1" dirty="0">
              <a:latin typeface="Calibri"/>
              <a:ea typeface="Calibri"/>
              <a:cs typeface="Calibri"/>
              <a:sym typeface="Calibri"/>
            </a:endParaRPr>
          </a:p>
          <a:p>
            <a:pPr marL="0" lvl="0" indent="0" algn="ctr" rtl="0">
              <a:lnSpc>
                <a:spcPct val="107000"/>
              </a:lnSpc>
              <a:spcBef>
                <a:spcPts val="0"/>
              </a:spcBef>
              <a:spcAft>
                <a:spcPts val="0"/>
              </a:spcAft>
              <a:buNone/>
            </a:pPr>
            <a:r>
              <a:rPr lang="en" sz="900" b="1" dirty="0">
                <a:latin typeface="Calibri"/>
                <a:ea typeface="Calibri"/>
                <a:cs typeface="Calibri"/>
                <a:sym typeface="Calibri"/>
              </a:rPr>
              <a:t>Hypoglossal</a:t>
            </a:r>
            <a:endParaRPr sz="900" b="1" dirty="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graphicFrame>
        <p:nvGraphicFramePr>
          <p:cNvPr id="240" name="Google Shape;240;p36"/>
          <p:cNvGraphicFramePr/>
          <p:nvPr>
            <p:extLst>
              <p:ext uri="{D42A27DB-BD31-4B8C-83A1-F6EECF244321}">
                <p14:modId xmlns:p14="http://schemas.microsoft.com/office/powerpoint/2010/main" val="3056968534"/>
              </p:ext>
            </p:extLst>
          </p:nvPr>
        </p:nvGraphicFramePr>
        <p:xfrm>
          <a:off x="136282" y="214176"/>
          <a:ext cx="8902210" cy="4731500"/>
        </p:xfrm>
        <a:graphic>
          <a:graphicData uri="http://schemas.openxmlformats.org/drawingml/2006/table">
            <a:tbl>
              <a:tblPr firstRow="1" firstCol="1" bandRow="1">
                <a:noFill/>
                <a:tableStyleId>{D7E5F188-F352-42B2-A06C-B4061B879311}</a:tableStyleId>
              </a:tblPr>
              <a:tblGrid>
                <a:gridCol w="1033095">
                  <a:extLst>
                    <a:ext uri="{9D8B030D-6E8A-4147-A177-3AD203B41FA5}">
                      <a16:colId xmlns:a16="http://schemas.microsoft.com/office/drawing/2014/main" val="20000"/>
                    </a:ext>
                  </a:extLst>
                </a:gridCol>
                <a:gridCol w="580292">
                  <a:extLst>
                    <a:ext uri="{9D8B030D-6E8A-4147-A177-3AD203B41FA5}">
                      <a16:colId xmlns:a16="http://schemas.microsoft.com/office/drawing/2014/main" val="20001"/>
                    </a:ext>
                  </a:extLst>
                </a:gridCol>
                <a:gridCol w="580293">
                  <a:extLst>
                    <a:ext uri="{9D8B030D-6E8A-4147-A177-3AD203B41FA5}">
                      <a16:colId xmlns:a16="http://schemas.microsoft.com/office/drawing/2014/main" val="20002"/>
                    </a:ext>
                  </a:extLst>
                </a:gridCol>
                <a:gridCol w="637442">
                  <a:extLst>
                    <a:ext uri="{9D8B030D-6E8A-4147-A177-3AD203B41FA5}">
                      <a16:colId xmlns:a16="http://schemas.microsoft.com/office/drawing/2014/main" val="20003"/>
                    </a:ext>
                  </a:extLst>
                </a:gridCol>
                <a:gridCol w="571500">
                  <a:extLst>
                    <a:ext uri="{9D8B030D-6E8A-4147-A177-3AD203B41FA5}">
                      <a16:colId xmlns:a16="http://schemas.microsoft.com/office/drawing/2014/main" val="20004"/>
                    </a:ext>
                  </a:extLst>
                </a:gridCol>
                <a:gridCol w="584688">
                  <a:extLst>
                    <a:ext uri="{9D8B030D-6E8A-4147-A177-3AD203B41FA5}">
                      <a16:colId xmlns:a16="http://schemas.microsoft.com/office/drawing/2014/main" val="20005"/>
                    </a:ext>
                  </a:extLst>
                </a:gridCol>
                <a:gridCol w="597877">
                  <a:extLst>
                    <a:ext uri="{9D8B030D-6E8A-4147-A177-3AD203B41FA5}">
                      <a16:colId xmlns:a16="http://schemas.microsoft.com/office/drawing/2014/main" val="20006"/>
                    </a:ext>
                  </a:extLst>
                </a:gridCol>
                <a:gridCol w="575896">
                  <a:extLst>
                    <a:ext uri="{9D8B030D-6E8A-4147-A177-3AD203B41FA5}">
                      <a16:colId xmlns:a16="http://schemas.microsoft.com/office/drawing/2014/main" val="20007"/>
                    </a:ext>
                  </a:extLst>
                </a:gridCol>
                <a:gridCol w="3741127">
                  <a:extLst>
                    <a:ext uri="{9D8B030D-6E8A-4147-A177-3AD203B41FA5}">
                      <a16:colId xmlns:a16="http://schemas.microsoft.com/office/drawing/2014/main" val="20008"/>
                    </a:ext>
                  </a:extLst>
                </a:gridCol>
              </a:tblGrid>
              <a:tr h="649649">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Nerve</a:t>
                      </a:r>
                      <a:endParaRPr sz="1100" u="none" strike="noStrike" cap="none">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tc>
                  <a:txBody>
                    <a:bodyPr/>
                    <a:lstStyle/>
                    <a:p>
                      <a:pPr marL="50800" marR="50800" lvl="0" indent="0" algn="ctr" rtl="0">
                        <a:lnSpc>
                          <a:spcPct val="107000"/>
                        </a:lnSpc>
                        <a:spcBef>
                          <a:spcPts val="0"/>
                        </a:spcBef>
                        <a:spcAft>
                          <a:spcPts val="0"/>
                        </a:spcAft>
                        <a:buNone/>
                      </a:pPr>
                      <a:r>
                        <a:rPr lang="en" sz="900" u="none" strike="noStrike" cap="none" dirty="0"/>
                        <a:t>Number</a:t>
                      </a:r>
                      <a:endParaRPr sz="1100" u="none" strike="noStrike" cap="none" dirty="0">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tc>
                  <a:txBody>
                    <a:bodyPr/>
                    <a:lstStyle/>
                    <a:p>
                      <a:pPr marL="50800" marR="50800" lvl="0" indent="0" algn="ctr" rtl="0">
                        <a:lnSpc>
                          <a:spcPct val="107000"/>
                        </a:lnSpc>
                        <a:spcBef>
                          <a:spcPts val="0"/>
                        </a:spcBef>
                        <a:spcAft>
                          <a:spcPts val="0"/>
                        </a:spcAft>
                        <a:buNone/>
                      </a:pPr>
                      <a:r>
                        <a:rPr lang="en" sz="900" u="none" strike="noStrike" cap="none" dirty="0"/>
                        <a:t>Somatic Motor</a:t>
                      </a:r>
                      <a:endParaRPr sz="1100" u="none" strike="noStrike" cap="none" dirty="0">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tc>
                  <a:txBody>
                    <a:bodyPr/>
                    <a:lstStyle/>
                    <a:p>
                      <a:pPr marL="50800" marR="50800" lvl="0" indent="0" algn="ctr" rtl="0">
                        <a:lnSpc>
                          <a:spcPct val="107000"/>
                        </a:lnSpc>
                        <a:spcBef>
                          <a:spcPts val="0"/>
                        </a:spcBef>
                        <a:spcAft>
                          <a:spcPts val="0"/>
                        </a:spcAft>
                        <a:buNone/>
                      </a:pPr>
                      <a:r>
                        <a:rPr lang="en" sz="900" u="none" strike="noStrike" cap="none" dirty="0"/>
                        <a:t>Branchial Motor</a:t>
                      </a:r>
                      <a:endParaRPr sz="1100" u="none" strike="noStrike" cap="none" dirty="0">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tc>
                  <a:txBody>
                    <a:bodyPr/>
                    <a:lstStyle/>
                    <a:p>
                      <a:pPr marL="50800" marR="50800" lvl="0" indent="0" algn="ctr" rtl="0">
                        <a:lnSpc>
                          <a:spcPct val="107000"/>
                        </a:lnSpc>
                        <a:spcBef>
                          <a:spcPts val="0"/>
                        </a:spcBef>
                        <a:spcAft>
                          <a:spcPts val="0"/>
                        </a:spcAft>
                        <a:buNone/>
                      </a:pPr>
                      <a:r>
                        <a:rPr lang="en" sz="900" u="none" strike="noStrike" cap="none"/>
                        <a:t>Visceral Motor</a:t>
                      </a:r>
                      <a:endParaRPr sz="1100" u="none" strike="noStrike" cap="none">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tc>
                  <a:txBody>
                    <a:bodyPr/>
                    <a:lstStyle/>
                    <a:p>
                      <a:pPr marL="50800" marR="50800" lvl="0" indent="0" algn="ctr" rtl="0">
                        <a:lnSpc>
                          <a:spcPct val="107000"/>
                        </a:lnSpc>
                        <a:spcBef>
                          <a:spcPts val="0"/>
                        </a:spcBef>
                        <a:spcAft>
                          <a:spcPts val="0"/>
                        </a:spcAft>
                        <a:buNone/>
                      </a:pPr>
                      <a:r>
                        <a:rPr lang="en" sz="900" u="none" strike="noStrike" cap="none"/>
                        <a:t>Visceral Sensory</a:t>
                      </a:r>
                      <a:endParaRPr sz="1100" u="none" strike="noStrike" cap="none">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tc>
                  <a:txBody>
                    <a:bodyPr/>
                    <a:lstStyle/>
                    <a:p>
                      <a:pPr marL="50800" marR="50800" lvl="0" indent="0" algn="ctr" rtl="0">
                        <a:lnSpc>
                          <a:spcPct val="107000"/>
                        </a:lnSpc>
                        <a:spcBef>
                          <a:spcPts val="0"/>
                        </a:spcBef>
                        <a:spcAft>
                          <a:spcPts val="0"/>
                        </a:spcAft>
                        <a:buNone/>
                      </a:pPr>
                      <a:r>
                        <a:rPr lang="en" sz="900" u="none" strike="noStrike" cap="none"/>
                        <a:t>General Sensory</a:t>
                      </a:r>
                      <a:endParaRPr sz="1100" u="none" strike="noStrike" cap="none">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tc>
                  <a:txBody>
                    <a:bodyPr/>
                    <a:lstStyle/>
                    <a:p>
                      <a:pPr marL="50800" marR="50800" lvl="0" indent="0" algn="ctr" rtl="0">
                        <a:lnSpc>
                          <a:spcPct val="107000"/>
                        </a:lnSpc>
                        <a:spcBef>
                          <a:spcPts val="0"/>
                        </a:spcBef>
                        <a:spcAft>
                          <a:spcPts val="0"/>
                        </a:spcAft>
                        <a:buNone/>
                      </a:pPr>
                      <a:r>
                        <a:rPr lang="en" sz="900" u="none" strike="noStrike" cap="none" dirty="0"/>
                        <a:t>Special Sensory</a:t>
                      </a:r>
                      <a:endParaRPr sz="1100" u="none" strike="noStrike" cap="none" dirty="0">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dirty="0"/>
                        <a:t> </a:t>
                      </a:r>
                      <a:endParaRPr sz="1100" u="none" strike="noStrike" cap="none" dirty="0"/>
                    </a:p>
                    <a:p>
                      <a:pPr marL="0" marR="0" lvl="0" indent="0" algn="l" rtl="0">
                        <a:lnSpc>
                          <a:spcPct val="107000"/>
                        </a:lnSpc>
                        <a:spcBef>
                          <a:spcPts val="0"/>
                        </a:spcBef>
                        <a:spcAft>
                          <a:spcPts val="0"/>
                        </a:spcAft>
                        <a:buNone/>
                      </a:pPr>
                      <a:r>
                        <a:rPr lang="en" sz="900" u="none" strike="noStrike" cap="none" dirty="0"/>
                        <a:t> </a:t>
                      </a:r>
                      <a:endParaRPr sz="1100" u="none" strike="noStrike" cap="none" dirty="0"/>
                    </a:p>
                    <a:p>
                      <a:pPr marL="0" marR="0" lvl="0" indent="0" algn="l" rtl="0">
                        <a:lnSpc>
                          <a:spcPct val="107000"/>
                        </a:lnSpc>
                        <a:spcBef>
                          <a:spcPts val="0"/>
                        </a:spcBef>
                        <a:spcAft>
                          <a:spcPts val="0"/>
                        </a:spcAft>
                        <a:buNone/>
                      </a:pPr>
                      <a:r>
                        <a:rPr lang="en" sz="900" u="none" strike="noStrike" cap="none" dirty="0"/>
                        <a:t>Function</a:t>
                      </a:r>
                      <a:endParaRPr sz="1100" u="none" strike="noStrike" cap="none" dirty="0">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49634">
                <a:tc>
                  <a:txBody>
                    <a:bodyPr/>
                    <a:lstStyle/>
                    <a:p>
                      <a:pPr marL="0" marR="0" lvl="0" indent="0" algn="ctr" rtl="0">
                        <a:lnSpc>
                          <a:spcPct val="107000"/>
                        </a:lnSpc>
                        <a:spcBef>
                          <a:spcPts val="0"/>
                        </a:spcBef>
                        <a:spcAft>
                          <a:spcPts val="0"/>
                        </a:spcAft>
                        <a:buNone/>
                      </a:pPr>
                      <a:r>
                        <a:rPr lang="en" sz="900" u="none" strike="noStrike" cap="none"/>
                        <a:t>Olfactory</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1</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Smell</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49634">
                <a:tc>
                  <a:txBody>
                    <a:bodyPr/>
                    <a:lstStyle/>
                    <a:p>
                      <a:pPr marL="0" marR="0" lvl="0" indent="0" algn="ctr" rtl="0">
                        <a:lnSpc>
                          <a:spcPct val="107000"/>
                        </a:lnSpc>
                        <a:spcBef>
                          <a:spcPts val="0"/>
                        </a:spcBef>
                        <a:spcAft>
                          <a:spcPts val="0"/>
                        </a:spcAft>
                        <a:buNone/>
                      </a:pPr>
                      <a:r>
                        <a:rPr lang="en" sz="900" u="none" strike="noStrike" cap="none"/>
                        <a:t>Optic</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2</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Vision</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06178">
                <a:tc rowSpan="2">
                  <a:txBody>
                    <a:bodyPr/>
                    <a:lstStyle/>
                    <a:p>
                      <a:pPr marL="0" marR="0" lvl="0" indent="0" algn="ctr" rtl="0">
                        <a:lnSpc>
                          <a:spcPct val="107000"/>
                        </a:lnSpc>
                        <a:spcBef>
                          <a:spcPts val="0"/>
                        </a:spcBef>
                        <a:spcAft>
                          <a:spcPts val="0"/>
                        </a:spcAft>
                        <a:buNone/>
                      </a:pPr>
                      <a:r>
                        <a:rPr lang="en" sz="900" u="none" strike="noStrike" cap="none"/>
                        <a:t>Oculomotor</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rowSpan="2">
                  <a:txBody>
                    <a:bodyPr/>
                    <a:lstStyle/>
                    <a:p>
                      <a:pPr marL="0" marR="0" lvl="0" indent="0" algn="ctr" rtl="0">
                        <a:lnSpc>
                          <a:spcPct val="107000"/>
                        </a:lnSpc>
                        <a:spcBef>
                          <a:spcPts val="0"/>
                        </a:spcBef>
                        <a:spcAft>
                          <a:spcPts val="0"/>
                        </a:spcAft>
                        <a:buNone/>
                      </a:pPr>
                      <a:r>
                        <a:rPr lang="en" sz="900" u="none" strike="noStrike" cap="none"/>
                        <a:t>3</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l" rtl="0">
                        <a:lnSpc>
                          <a:spcPct val="107000"/>
                        </a:lnSpc>
                        <a:spcBef>
                          <a:spcPts val="0"/>
                        </a:spcBef>
                        <a:spcAft>
                          <a:spcPts val="0"/>
                        </a:spcAft>
                        <a:buNone/>
                      </a:pPr>
                      <a:r>
                        <a:rPr lang="en" sz="900" u="none" strike="noStrike" cap="none"/>
                        <a:t>Innervates all the extrinsic eye muscles except superior oblique and lateral rectus</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3"/>
                  </a:ext>
                </a:extLst>
              </a:tr>
              <a:tr h="161373">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PSNS supply to ciliary and pupillary constrictor muscles</a:t>
                      </a:r>
                      <a:endParaRPr sz="1100" u="none" strike="noStrike" cap="none">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9634">
                <a:tc>
                  <a:txBody>
                    <a:bodyPr/>
                    <a:lstStyle/>
                    <a:p>
                      <a:pPr marL="0" marR="0" lvl="0" indent="0" algn="ctr" rtl="0">
                        <a:lnSpc>
                          <a:spcPct val="107000"/>
                        </a:lnSpc>
                        <a:spcBef>
                          <a:spcPts val="0"/>
                        </a:spcBef>
                        <a:spcAft>
                          <a:spcPts val="0"/>
                        </a:spcAft>
                        <a:buNone/>
                      </a:pPr>
                      <a:r>
                        <a:rPr lang="en" sz="900" u="none" strike="noStrike" cap="none"/>
                        <a:t>Trochlear</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4</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Motor to superior oblique</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49634">
                <a:tc rowSpan="2">
                  <a:txBody>
                    <a:bodyPr/>
                    <a:lstStyle/>
                    <a:p>
                      <a:pPr marL="0" marR="0" lvl="0" indent="0" algn="ctr" rtl="0">
                        <a:lnSpc>
                          <a:spcPct val="107000"/>
                        </a:lnSpc>
                        <a:spcBef>
                          <a:spcPts val="0"/>
                        </a:spcBef>
                        <a:spcAft>
                          <a:spcPts val="0"/>
                        </a:spcAft>
                        <a:buNone/>
                      </a:pPr>
                      <a:r>
                        <a:rPr lang="en" sz="900" u="none" strike="noStrike" cap="none"/>
                        <a:t>Trigeminal</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rowSpan="2">
                  <a:txBody>
                    <a:bodyPr/>
                    <a:lstStyle/>
                    <a:p>
                      <a:pPr marL="0" marR="0" lvl="0" indent="0" algn="ctr" rtl="0">
                        <a:lnSpc>
                          <a:spcPct val="107000"/>
                        </a:lnSpc>
                        <a:spcBef>
                          <a:spcPts val="0"/>
                        </a:spcBef>
                        <a:spcAft>
                          <a:spcPts val="0"/>
                        </a:spcAft>
                        <a:buNone/>
                      </a:pPr>
                      <a:r>
                        <a:rPr lang="en" sz="900" u="none" strike="noStrike" cap="none"/>
                        <a:t>5</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l" rtl="0">
                        <a:lnSpc>
                          <a:spcPct val="107000"/>
                        </a:lnSpc>
                        <a:spcBef>
                          <a:spcPts val="0"/>
                        </a:spcBef>
                        <a:spcAft>
                          <a:spcPts val="0"/>
                        </a:spcAft>
                        <a:buNone/>
                      </a:pPr>
                      <a:r>
                        <a:rPr lang="en" sz="900" u="none" strike="noStrike" cap="none"/>
                        <a:t>Motor to muscles of mastication</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6"/>
                  </a:ext>
                </a:extLst>
              </a:tr>
              <a:tr h="149634">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Somatic sensation from face </a:t>
                      </a:r>
                      <a:endParaRPr sz="1100" u="none" strike="noStrike" cap="none">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149634">
                <a:tc>
                  <a:txBody>
                    <a:bodyPr/>
                    <a:lstStyle/>
                    <a:p>
                      <a:pPr marL="0" marR="0" lvl="0" indent="0" algn="ctr" rtl="0">
                        <a:lnSpc>
                          <a:spcPct val="107000"/>
                        </a:lnSpc>
                        <a:spcBef>
                          <a:spcPts val="0"/>
                        </a:spcBef>
                        <a:spcAft>
                          <a:spcPts val="0"/>
                        </a:spcAft>
                        <a:buNone/>
                      </a:pPr>
                      <a:r>
                        <a:rPr lang="en" sz="900" u="none" strike="noStrike" cap="none"/>
                        <a:t>Abducens</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6</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Motor to lateral rectus</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149634">
                <a:tc rowSpan="4">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Facial</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rowSpan="4">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7</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l" rtl="0">
                        <a:lnSpc>
                          <a:spcPct val="107000"/>
                        </a:lnSpc>
                        <a:spcBef>
                          <a:spcPts val="0"/>
                        </a:spcBef>
                        <a:spcAft>
                          <a:spcPts val="0"/>
                        </a:spcAft>
                        <a:buNone/>
                      </a:pPr>
                      <a:r>
                        <a:rPr lang="en" sz="900" u="none" strike="noStrike" cap="none"/>
                        <a:t>Innervate muscles of facial expression</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9"/>
                  </a:ext>
                </a:extLst>
              </a:tr>
              <a:tr h="149634">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l" rtl="0">
                        <a:lnSpc>
                          <a:spcPct val="107000"/>
                        </a:lnSpc>
                        <a:spcBef>
                          <a:spcPts val="0"/>
                        </a:spcBef>
                        <a:spcAft>
                          <a:spcPts val="0"/>
                        </a:spcAft>
                        <a:buNone/>
                      </a:pPr>
                      <a:r>
                        <a:rPr lang="en" sz="900" u="none" strike="noStrike" cap="none"/>
                        <a:t>PSNS supply to glands of head</a:t>
                      </a:r>
                      <a:endParaRPr sz="1100" u="none" strike="noStrike" cap="none">
                        <a:latin typeface="Calibri"/>
                        <a:ea typeface="Calibri"/>
                        <a:cs typeface="Calibri"/>
                        <a:sym typeface="Calibri"/>
                      </a:endParaRPr>
                    </a:p>
                  </a:txBody>
                  <a:tcPr marL="39100" marR="39100" marT="0" marB="0"/>
                </a:tc>
                <a:extLst>
                  <a:ext uri="{0D108BD9-81ED-4DB2-BD59-A6C34878D82A}">
                    <a16:rowId xmlns:a16="http://schemas.microsoft.com/office/drawing/2014/main" val="10010"/>
                  </a:ext>
                </a:extLst>
              </a:tr>
              <a:tr h="174573">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l" rtl="0">
                        <a:lnSpc>
                          <a:spcPct val="107000"/>
                        </a:lnSpc>
                        <a:spcBef>
                          <a:spcPts val="0"/>
                        </a:spcBef>
                        <a:spcAft>
                          <a:spcPts val="0"/>
                        </a:spcAft>
                        <a:buNone/>
                      </a:pPr>
                      <a:r>
                        <a:rPr lang="en" sz="900" u="none" strike="noStrike" cap="none"/>
                        <a:t>General sensation from external ear tympanic membrane</a:t>
                      </a:r>
                      <a:endParaRPr sz="1100" u="none" strike="noStrike" cap="none">
                        <a:latin typeface="Calibri"/>
                        <a:ea typeface="Calibri"/>
                        <a:cs typeface="Calibri"/>
                        <a:sym typeface="Calibri"/>
                      </a:endParaRPr>
                    </a:p>
                  </a:txBody>
                  <a:tcPr marL="39100" marR="39100" marT="0" marB="0"/>
                </a:tc>
                <a:extLst>
                  <a:ext uri="{0D108BD9-81ED-4DB2-BD59-A6C34878D82A}">
                    <a16:rowId xmlns:a16="http://schemas.microsoft.com/office/drawing/2014/main" val="10011"/>
                  </a:ext>
                </a:extLst>
              </a:tr>
              <a:tr h="149634">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Taste, anterior 2/3 of tongue</a:t>
                      </a:r>
                      <a:endParaRPr sz="1100" u="none" strike="noStrike" cap="none">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12"/>
                  </a:ext>
                </a:extLst>
              </a:tr>
              <a:tr h="306178">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Vestibulocochlear</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8</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Impulses from inner ear; equilibrium and hearing</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13"/>
                  </a:ext>
                </a:extLst>
              </a:tr>
              <a:tr h="193615">
                <a:tc rowSpan="5">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Glossopharyngeal</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rowSpan="5">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9</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l" rtl="0">
                        <a:lnSpc>
                          <a:spcPct val="107000"/>
                        </a:lnSpc>
                        <a:spcBef>
                          <a:spcPts val="0"/>
                        </a:spcBef>
                        <a:spcAft>
                          <a:spcPts val="0"/>
                        </a:spcAft>
                        <a:buNone/>
                      </a:pPr>
                      <a:r>
                        <a:rPr lang="en" sz="900" u="none" strike="noStrike" cap="none"/>
                        <a:t>Motor to sylopharyngeus muscle (swallowing)</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14"/>
                  </a:ext>
                </a:extLst>
              </a:tr>
              <a:tr h="149634">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l" rtl="0">
                        <a:lnSpc>
                          <a:spcPct val="107000"/>
                        </a:lnSpc>
                        <a:spcBef>
                          <a:spcPts val="0"/>
                        </a:spcBef>
                        <a:spcAft>
                          <a:spcPts val="0"/>
                        </a:spcAft>
                        <a:buNone/>
                      </a:pPr>
                      <a:r>
                        <a:rPr lang="en" sz="900" u="none" strike="noStrike" cap="none"/>
                        <a:t>PSNS supply to parotid (salivary) gland</a:t>
                      </a:r>
                      <a:endParaRPr sz="1100" u="none" strike="noStrike" cap="none">
                        <a:latin typeface="Calibri"/>
                        <a:ea typeface="Calibri"/>
                        <a:cs typeface="Calibri"/>
                        <a:sym typeface="Calibri"/>
                      </a:endParaRPr>
                    </a:p>
                  </a:txBody>
                  <a:tcPr marL="39100" marR="39100" marT="0" marB="0"/>
                </a:tc>
                <a:extLst>
                  <a:ext uri="{0D108BD9-81ED-4DB2-BD59-A6C34878D82A}">
                    <a16:rowId xmlns:a16="http://schemas.microsoft.com/office/drawing/2014/main" val="10015"/>
                  </a:ext>
                </a:extLst>
              </a:tr>
              <a:tr h="161373">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l" rtl="0">
                        <a:lnSpc>
                          <a:spcPct val="107000"/>
                        </a:lnSpc>
                        <a:spcBef>
                          <a:spcPts val="0"/>
                        </a:spcBef>
                        <a:spcAft>
                          <a:spcPts val="0"/>
                        </a:spcAft>
                        <a:buNone/>
                      </a:pPr>
                      <a:r>
                        <a:rPr lang="en" sz="900" u="none" strike="noStrike" cap="none"/>
                        <a:t>Baroreceptors of the carotid sinus and chemoreceptors of the carotid body</a:t>
                      </a:r>
                      <a:endParaRPr sz="1100" u="none" strike="noStrike" cap="none">
                        <a:latin typeface="Calibri"/>
                        <a:ea typeface="Calibri"/>
                        <a:cs typeface="Calibri"/>
                        <a:sym typeface="Calibri"/>
                      </a:endParaRPr>
                    </a:p>
                  </a:txBody>
                  <a:tcPr marL="39100" marR="39100" marT="0" marB="0"/>
                </a:tc>
                <a:extLst>
                  <a:ext uri="{0D108BD9-81ED-4DB2-BD59-A6C34878D82A}">
                    <a16:rowId xmlns:a16="http://schemas.microsoft.com/office/drawing/2014/main" val="10016"/>
                  </a:ext>
                </a:extLst>
              </a:tr>
              <a:tr h="193615">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l" rtl="0">
                        <a:lnSpc>
                          <a:spcPct val="107000"/>
                        </a:lnSpc>
                        <a:spcBef>
                          <a:spcPts val="0"/>
                        </a:spcBef>
                        <a:spcAft>
                          <a:spcPts val="0"/>
                        </a:spcAft>
                        <a:buNone/>
                      </a:pPr>
                      <a:r>
                        <a:rPr lang="en" sz="900" u="none" strike="noStrike" cap="none"/>
                        <a:t>Posterior 1/3 of tongue, tympanic membrane</a:t>
                      </a:r>
                      <a:endParaRPr sz="1100" u="none" strike="noStrike" cap="none">
                        <a:latin typeface="Calibri"/>
                        <a:ea typeface="Calibri"/>
                        <a:cs typeface="Calibri"/>
                        <a:sym typeface="Calibri"/>
                      </a:endParaRPr>
                    </a:p>
                  </a:txBody>
                  <a:tcPr marL="39100" marR="39100" marT="0" marB="0"/>
                </a:tc>
                <a:extLst>
                  <a:ext uri="{0D108BD9-81ED-4DB2-BD59-A6C34878D82A}">
                    <a16:rowId xmlns:a16="http://schemas.microsoft.com/office/drawing/2014/main" val="10017"/>
                  </a:ext>
                </a:extLst>
              </a:tr>
              <a:tr h="149634">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Taste, posterior 1/3 of tongue</a:t>
                      </a:r>
                      <a:endParaRPr sz="1100" u="none" strike="noStrike" cap="none">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18"/>
                  </a:ext>
                </a:extLst>
              </a:tr>
              <a:tr h="149634">
                <a:tc rowSpan="4">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Vagus</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rowSpan="4">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p>
                    <a:p>
                      <a:pPr marL="0" marR="0" lvl="0" indent="0" algn="ctr" rtl="0">
                        <a:lnSpc>
                          <a:spcPct val="107000"/>
                        </a:lnSpc>
                        <a:spcBef>
                          <a:spcPts val="0"/>
                        </a:spcBef>
                        <a:spcAft>
                          <a:spcPts val="0"/>
                        </a:spcAft>
                        <a:buNone/>
                      </a:pPr>
                      <a:r>
                        <a:rPr lang="en" sz="900" u="none" strike="noStrike" cap="none"/>
                        <a:t>10</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tcPr>
                </a:tc>
                <a:tc>
                  <a:txBody>
                    <a:bodyPr/>
                    <a:lstStyle/>
                    <a:p>
                      <a:pPr marL="0" marR="0" lvl="0" indent="0" algn="l" rtl="0">
                        <a:lnSpc>
                          <a:spcPct val="107000"/>
                        </a:lnSpc>
                        <a:spcBef>
                          <a:spcPts val="0"/>
                        </a:spcBef>
                        <a:spcAft>
                          <a:spcPts val="0"/>
                        </a:spcAft>
                        <a:buNone/>
                      </a:pPr>
                      <a:r>
                        <a:rPr lang="en" sz="900" u="none" strike="noStrike" cap="none"/>
                        <a:t>Pharynx and larynx</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19"/>
                  </a:ext>
                </a:extLst>
              </a:tr>
              <a:tr h="155585">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l" rtl="0">
                        <a:lnSpc>
                          <a:spcPct val="107000"/>
                        </a:lnSpc>
                        <a:spcBef>
                          <a:spcPts val="0"/>
                        </a:spcBef>
                        <a:spcAft>
                          <a:spcPts val="0"/>
                        </a:spcAft>
                        <a:buNone/>
                      </a:pPr>
                      <a:r>
                        <a:rPr lang="en" sz="900" u="none" strike="noStrike" cap="none"/>
                        <a:t>PSNS supply to laryngeal and pharyngeal muscles and abdominal viscera</a:t>
                      </a:r>
                      <a:endParaRPr sz="1100" u="none" strike="noStrike" cap="none">
                        <a:latin typeface="Calibri"/>
                        <a:ea typeface="Calibri"/>
                        <a:cs typeface="Calibri"/>
                        <a:sym typeface="Calibri"/>
                      </a:endParaRPr>
                    </a:p>
                  </a:txBody>
                  <a:tcPr marL="39100" marR="39100" marT="0" marB="0"/>
                </a:tc>
                <a:extLst>
                  <a:ext uri="{0D108BD9-81ED-4DB2-BD59-A6C34878D82A}">
                    <a16:rowId xmlns:a16="http://schemas.microsoft.com/office/drawing/2014/main" val="10020"/>
                  </a:ext>
                </a:extLst>
              </a:tr>
              <a:tr h="161373">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tc>
                <a:tc>
                  <a:txBody>
                    <a:bodyPr/>
                    <a:lstStyle/>
                    <a:p>
                      <a:pPr marL="0" marR="0" lvl="0" indent="0" algn="l" rtl="0">
                        <a:lnSpc>
                          <a:spcPct val="107000"/>
                        </a:lnSpc>
                        <a:spcBef>
                          <a:spcPts val="0"/>
                        </a:spcBef>
                        <a:spcAft>
                          <a:spcPts val="0"/>
                        </a:spcAft>
                        <a:buNone/>
                      </a:pPr>
                      <a:r>
                        <a:rPr lang="en" sz="900" u="none" strike="noStrike" cap="none"/>
                        <a:t>Enable a vasoconstrictor response and increase blood pressure</a:t>
                      </a:r>
                      <a:endParaRPr sz="1100" u="none" strike="noStrike" cap="none">
                        <a:latin typeface="Calibri"/>
                        <a:ea typeface="Calibri"/>
                        <a:cs typeface="Calibri"/>
                        <a:sym typeface="Calibri"/>
                      </a:endParaRPr>
                    </a:p>
                  </a:txBody>
                  <a:tcPr marL="39100" marR="39100" marT="0" marB="0"/>
                </a:tc>
                <a:extLst>
                  <a:ext uri="{0D108BD9-81ED-4DB2-BD59-A6C34878D82A}">
                    <a16:rowId xmlns:a16="http://schemas.microsoft.com/office/drawing/2014/main" val="10021"/>
                  </a:ext>
                </a:extLst>
              </a:tr>
              <a:tr h="161373">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Sensation from a small area around the external ear</a:t>
                      </a:r>
                      <a:endParaRPr sz="1100" u="none" strike="noStrike" cap="none">
                        <a:latin typeface="Calibri"/>
                        <a:ea typeface="Calibri"/>
                        <a:cs typeface="Calibri"/>
                        <a:sym typeface="Calibri"/>
                      </a:endParaRPr>
                    </a:p>
                  </a:txBody>
                  <a:tcPr marL="39100" marR="39100" marT="0" marB="0">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22"/>
                  </a:ext>
                </a:extLst>
              </a:tr>
              <a:tr h="161373">
                <a:tc>
                  <a:txBody>
                    <a:bodyPr/>
                    <a:lstStyle/>
                    <a:p>
                      <a:pPr marL="0" marR="0" lvl="0" indent="0" algn="ctr" rtl="0">
                        <a:lnSpc>
                          <a:spcPct val="107000"/>
                        </a:lnSpc>
                        <a:spcBef>
                          <a:spcPts val="0"/>
                        </a:spcBef>
                        <a:spcAft>
                          <a:spcPts val="0"/>
                        </a:spcAft>
                        <a:buNone/>
                      </a:pPr>
                      <a:r>
                        <a:rPr lang="en" sz="900" u="none" strike="noStrike" cap="none"/>
                        <a:t>Accessory</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11</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a:t>Motor to sternomastoid and trapezius muscle</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23"/>
                  </a:ext>
                </a:extLst>
              </a:tr>
              <a:tr h="149634">
                <a:tc>
                  <a:txBody>
                    <a:bodyPr/>
                    <a:lstStyle/>
                    <a:p>
                      <a:pPr marL="0" marR="0" lvl="0" indent="0" algn="ctr" rtl="0">
                        <a:lnSpc>
                          <a:spcPct val="107000"/>
                        </a:lnSpc>
                        <a:spcBef>
                          <a:spcPts val="0"/>
                        </a:spcBef>
                        <a:spcAft>
                          <a:spcPts val="0"/>
                        </a:spcAft>
                        <a:buNone/>
                      </a:pPr>
                      <a:r>
                        <a:rPr lang="en" sz="900" u="none" strike="noStrike" cap="none"/>
                        <a:t>Hypoglossal</a:t>
                      </a:r>
                      <a:endParaRPr sz="1100" u="none" strike="noStrike" cap="none">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12</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X</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 sz="900" u="none" strike="noStrike" cap="none"/>
                        <a:t> </a:t>
                      </a:r>
                      <a:endParaRPr sz="1100" u="none" strike="noStrike" cap="none">
                        <a:latin typeface="Calibri"/>
                        <a:ea typeface="Calibri"/>
                        <a:cs typeface="Calibri"/>
                        <a:sym typeface="Calibri"/>
                      </a:endParaRPr>
                    </a:p>
                  </a:txBody>
                  <a:tcPr marL="39100" marR="39100" marT="0" marB="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 sz="900" u="none" strike="noStrike" cap="none" dirty="0"/>
                        <a:t>Swallowing and speech articulation</a:t>
                      </a:r>
                      <a:endParaRPr sz="1100" u="none" strike="noStrike" cap="none" dirty="0">
                        <a:latin typeface="Calibri"/>
                        <a:ea typeface="Calibri"/>
                        <a:cs typeface="Calibri"/>
                        <a:sym typeface="Calibri"/>
                      </a:endParaRPr>
                    </a:p>
                  </a:txBody>
                  <a:tcPr marL="39100" marR="39100" marT="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213CD-3BBA-6C1A-AFD0-EA0DECF45937}"/>
              </a:ext>
            </a:extLst>
          </p:cNvPr>
          <p:cNvSpPr>
            <a:spLocks noGrp="1"/>
          </p:cNvSpPr>
          <p:nvPr>
            <p:ph type="title"/>
          </p:nvPr>
        </p:nvSpPr>
        <p:spPr/>
        <p:txBody>
          <a:bodyPr/>
          <a:lstStyle/>
          <a:p>
            <a:r>
              <a:rPr lang="en-US" dirty="0"/>
              <a:t>Next Week</a:t>
            </a:r>
          </a:p>
        </p:txBody>
      </p:sp>
      <p:sp>
        <p:nvSpPr>
          <p:cNvPr id="3" name="Content Placeholder 2">
            <a:extLst>
              <a:ext uri="{FF2B5EF4-FFF2-40B4-BE49-F238E27FC236}">
                <a16:creationId xmlns:a16="http://schemas.microsoft.com/office/drawing/2014/main" id="{A6DF078F-B80F-92A4-253C-887AC55FF3EA}"/>
              </a:ext>
            </a:extLst>
          </p:cNvPr>
          <p:cNvSpPr>
            <a:spLocks noGrp="1"/>
          </p:cNvSpPr>
          <p:nvPr>
            <p:ph idx="1"/>
          </p:nvPr>
        </p:nvSpPr>
        <p:spPr/>
        <p:txBody>
          <a:bodyPr>
            <a:normAutofit/>
          </a:bodyPr>
          <a:lstStyle/>
          <a:p>
            <a:pPr marL="34290" indent="0">
              <a:buNone/>
            </a:pPr>
            <a:endParaRPr lang="en-US" dirty="0"/>
          </a:p>
          <a:p>
            <a:r>
              <a:rPr lang="en-US" dirty="0"/>
              <a:t>Bonus Quiz</a:t>
            </a:r>
          </a:p>
          <a:p>
            <a:pPr lvl="1"/>
            <a:r>
              <a:rPr lang="en-US" dirty="0"/>
              <a:t>This quiz will consist of questions related to today’s lecture and will replace your lowest quiz grade </a:t>
            </a:r>
          </a:p>
          <a:p>
            <a:r>
              <a:rPr lang="en-US" dirty="0"/>
              <a:t>Catch-up Day </a:t>
            </a:r>
          </a:p>
          <a:p>
            <a:pPr lvl="1"/>
            <a:r>
              <a:rPr lang="en-US" dirty="0"/>
              <a:t>Make up quizzes will be scheduled during this time</a:t>
            </a:r>
          </a:p>
        </p:txBody>
      </p:sp>
    </p:spTree>
    <p:extLst>
      <p:ext uri="{BB962C8B-B14F-4D97-AF65-F5344CB8AC3E}">
        <p14:creationId xmlns:p14="http://schemas.microsoft.com/office/powerpoint/2010/main" val="4211548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9"/>
          <p:cNvSpPr txBox="1">
            <a:spLocks noGrp="1"/>
          </p:cNvSpPr>
          <p:nvPr>
            <p:ph type="title"/>
          </p:nvPr>
        </p:nvSpPr>
        <p:spPr>
          <a:prstGeom prst="rect">
            <a:avLst/>
          </a:prstGeom>
        </p:spPr>
        <p:txBody>
          <a:bodyPr spcFirstLastPara="1" wrap="square" lIns="75575" tIns="37775" rIns="75575" bIns="37775" anchor="ctr" anchorCtr="0">
            <a:normAutofit/>
          </a:bodyPr>
          <a:lstStyle/>
          <a:p>
            <a:pPr marL="0" lvl="0" indent="0" algn="l" rtl="0">
              <a:spcBef>
                <a:spcPts val="0"/>
              </a:spcBef>
              <a:spcAft>
                <a:spcPts val="0"/>
              </a:spcAft>
              <a:buNone/>
            </a:pPr>
            <a:r>
              <a:rPr lang="en" dirty="0"/>
              <a:t>Bonus Points: +5 points on next quiz</a:t>
            </a:r>
            <a:endParaRPr dirty="0"/>
          </a:p>
        </p:txBody>
      </p:sp>
      <p:sp>
        <p:nvSpPr>
          <p:cNvPr id="258" name="Google Shape;258;p39"/>
          <p:cNvSpPr txBox="1">
            <a:spLocks noGrp="1"/>
          </p:cNvSpPr>
          <p:nvPr>
            <p:ph idx="1"/>
          </p:nvPr>
        </p:nvSpPr>
        <p:spPr>
          <a:prstGeom prst="rect">
            <a:avLst/>
          </a:prstGeom>
        </p:spPr>
        <p:txBody>
          <a:bodyPr spcFirstLastPara="1" wrap="square" lIns="75575" tIns="37775" rIns="75575" bIns="37775" anchor="t" anchorCtr="0">
            <a:normAutofit/>
          </a:bodyPr>
          <a:lstStyle/>
          <a:p>
            <a:pPr marL="457200" lvl="0" indent="-317500" algn="l" rtl="0">
              <a:spcBef>
                <a:spcPts val="700"/>
              </a:spcBef>
              <a:spcAft>
                <a:spcPts val="0"/>
              </a:spcAft>
              <a:buClr>
                <a:srgbClr val="000000"/>
              </a:buClr>
              <a:buSzPts val="1400"/>
              <a:buFont typeface="Arial"/>
              <a:buChar char="●"/>
            </a:pPr>
            <a:r>
              <a:rPr lang="en" sz="1400">
                <a:solidFill>
                  <a:srgbClr val="000000"/>
                </a:solidFill>
                <a:latin typeface="Arial"/>
                <a:ea typeface="Arial"/>
                <a:cs typeface="Arial"/>
                <a:sym typeface="Arial"/>
              </a:rPr>
              <a:t>Make a test with the materials you have learned today (with a test answer key)</a:t>
            </a:r>
            <a:endParaRPr sz="1400">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Make a study guide</a:t>
            </a:r>
            <a:endParaRPr sz="1400">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Make a quiz on quizlet </a:t>
            </a:r>
            <a:endParaRPr sz="1400">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Make note cards with the material</a:t>
            </a:r>
            <a:endParaRPr sz="1400">
              <a:solidFill>
                <a:srgbClr val="000000"/>
              </a:solidFill>
              <a:latin typeface="Arial"/>
              <a:ea typeface="Arial"/>
              <a:cs typeface="Arial"/>
              <a:sym typeface="Arial"/>
            </a:endParaRPr>
          </a:p>
          <a:p>
            <a:pPr marL="0" lvl="0" indent="0" algn="l" rtl="0">
              <a:spcBef>
                <a:spcPts val="1200"/>
              </a:spcBef>
              <a:spcAft>
                <a:spcPts val="0"/>
              </a:spcAft>
              <a:buNone/>
            </a:pPr>
            <a:endParaRPr sz="1400">
              <a:solidFill>
                <a:srgbClr val="000000"/>
              </a:solidFill>
              <a:latin typeface="Arial"/>
              <a:ea typeface="Arial"/>
              <a:cs typeface="Arial"/>
              <a:sym typeface="Arial"/>
            </a:endParaRPr>
          </a:p>
          <a:p>
            <a:pPr marL="0" lvl="0" indent="0" algn="l" rtl="0">
              <a:spcBef>
                <a:spcPts val="1200"/>
              </a:spcBef>
              <a:spcAft>
                <a:spcPts val="0"/>
              </a:spcAft>
              <a:buNone/>
            </a:pPr>
            <a:r>
              <a:rPr lang="en" sz="1400">
                <a:solidFill>
                  <a:srgbClr val="000000"/>
                </a:solidFill>
                <a:latin typeface="Arial"/>
                <a:ea typeface="Arial"/>
                <a:cs typeface="Arial"/>
                <a:sym typeface="Arial"/>
              </a:rPr>
              <a:t>Must include: Order of cranial nerves, cranial nerve categories and nerve function</a:t>
            </a:r>
            <a:endParaRPr sz="1400">
              <a:solidFill>
                <a:srgbClr val="000000"/>
              </a:solidFill>
              <a:latin typeface="Arial"/>
              <a:ea typeface="Arial"/>
              <a:cs typeface="Arial"/>
              <a:sym typeface="Arial"/>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Basis">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Basis</Template>
  <TotalTime>121</TotalTime>
  <Words>1525</Words>
  <Application>Microsoft Office PowerPoint</Application>
  <PresentationFormat>On-screen Show (16:9)</PresentationFormat>
  <Paragraphs>395</Paragraphs>
  <Slides>26</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Roboto</vt:lpstr>
      <vt:lpstr>Arial</vt:lpstr>
      <vt:lpstr>Calibri</vt:lpstr>
      <vt:lpstr>Corbel</vt:lpstr>
      <vt:lpstr>Basis</vt:lpstr>
      <vt:lpstr>Cranial Nerves</vt:lpstr>
      <vt:lpstr>Roman Numerals </vt:lpstr>
      <vt:lpstr>What are they?</vt:lpstr>
      <vt:lpstr>12 Cranial Nerves</vt:lpstr>
      <vt:lpstr>PowerPoint Presentation</vt:lpstr>
      <vt:lpstr>Activity: Create a mnemonic device</vt:lpstr>
      <vt:lpstr>PowerPoint Presentation</vt:lpstr>
      <vt:lpstr>PowerPoint Presentation</vt:lpstr>
      <vt:lpstr>6 Major Cranial Nerve Categories</vt:lpstr>
      <vt:lpstr>Activity: 6 Major Cranial Nerve Categories</vt:lpstr>
      <vt:lpstr>Cranial Nerve I – The Olfactory Nerve</vt:lpstr>
      <vt:lpstr>Cranial Nerve II – The Optic Nerve</vt:lpstr>
      <vt:lpstr>Cranial Nerve III – The Oculomotor Nerve</vt:lpstr>
      <vt:lpstr>Cranial Nerve IV – The Trochlear Nerve</vt:lpstr>
      <vt:lpstr>Cranial Nerve V – The Trigeminal Nerve</vt:lpstr>
      <vt:lpstr>Cranial Nerve VI – The Abducens Nerve</vt:lpstr>
      <vt:lpstr>Cranial Nerve VII – The Facial Nerve</vt:lpstr>
      <vt:lpstr>Cranial Nerve VIII – The Vestibulocochlear Nerve</vt:lpstr>
      <vt:lpstr>Cranial Nerve IX – The Glossopharyngeal Nerve</vt:lpstr>
      <vt:lpstr>Cranial Nerve X – The Vagus Nerve</vt:lpstr>
      <vt:lpstr>Cranial Nerve XI – The Accessory Nerve</vt:lpstr>
      <vt:lpstr>Cranial Nerve XII – The Hypoglossal Nerve</vt:lpstr>
      <vt:lpstr>Activity: Match the nerve to the function</vt:lpstr>
      <vt:lpstr>PowerPoint Presentation</vt:lpstr>
      <vt:lpstr>Next Week</vt:lpstr>
      <vt:lpstr>Bonus Points: +5 points on next 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Cranial Nerves</dc:title>
  <cp:lastModifiedBy>Dejeux, Mariana</cp:lastModifiedBy>
  <cp:revision>7</cp:revision>
  <dcterms:modified xsi:type="dcterms:W3CDTF">2024-11-11T18:37:42Z</dcterms:modified>
</cp:coreProperties>
</file>