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2"/>
  </p:notesMasterIdLst>
  <p:sldIdLst>
    <p:sldId id="290" r:id="rId2"/>
    <p:sldId id="296" r:id="rId3"/>
    <p:sldId id="260" r:id="rId4"/>
    <p:sldId id="297" r:id="rId5"/>
    <p:sldId id="263" r:id="rId6"/>
    <p:sldId id="298" r:id="rId7"/>
    <p:sldId id="264" r:id="rId8"/>
    <p:sldId id="267" r:id="rId9"/>
    <p:sldId id="268" r:id="rId10"/>
    <p:sldId id="299" r:id="rId11"/>
    <p:sldId id="300" r:id="rId12"/>
    <p:sldId id="308" r:id="rId13"/>
    <p:sldId id="301" r:id="rId14"/>
    <p:sldId id="302" r:id="rId15"/>
    <p:sldId id="303" r:id="rId16"/>
    <p:sldId id="295" r:id="rId17"/>
    <p:sldId id="304" r:id="rId18"/>
    <p:sldId id="305" r:id="rId19"/>
    <p:sldId id="306" r:id="rId20"/>
    <p:sldId id="30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032C6-E79B-4436-BE96-089A4DAC341A}" v="32" dt="2024-01-30T21:29:29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0858" autoAdjust="0"/>
  </p:normalViewPr>
  <p:slideViewPr>
    <p:cSldViewPr snapToGrid="0">
      <p:cViewPr varScale="1">
        <p:scale>
          <a:sx n="112" d="100"/>
          <a:sy n="112" d="100"/>
        </p:scale>
        <p:origin x="21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ke Reeves" clId="Web-{A19032C6-E79B-4436-BE96-089A4DAC341A}"/>
    <pc:docChg chg="addSld modSld sldOrd">
      <pc:chgData name="Blake Reeves" userId="" providerId="" clId="Web-{A19032C6-E79B-4436-BE96-089A4DAC341A}" dt="2024-01-30T21:29:27.940" v="27" actId="20577"/>
      <pc:docMkLst>
        <pc:docMk/>
      </pc:docMkLst>
      <pc:sldChg chg="delSp modSp new ord">
        <pc:chgData name="Blake Reeves" userId="" providerId="" clId="Web-{A19032C6-E79B-4436-BE96-089A4DAC341A}" dt="2024-01-30T21:29:27.940" v="27" actId="20577"/>
        <pc:sldMkLst>
          <pc:docMk/>
          <pc:sldMk cId="1649711036" sldId="309"/>
        </pc:sldMkLst>
        <pc:spChg chg="mod">
          <ac:chgData name="Blake Reeves" userId="" providerId="" clId="Web-{A19032C6-E79B-4436-BE96-089A4DAC341A}" dt="2024-01-30T21:29:27.940" v="27" actId="20577"/>
          <ac:spMkLst>
            <pc:docMk/>
            <pc:sldMk cId="1649711036" sldId="309"/>
            <ac:spMk id="2" creationId="{106D938B-E25B-EC03-7085-5D1DE4733AE5}"/>
          </ac:spMkLst>
        </pc:spChg>
        <pc:spChg chg="del">
          <ac:chgData name="Blake Reeves" userId="" providerId="" clId="Web-{A19032C6-E79B-4436-BE96-089A4DAC341A}" dt="2024-01-30T21:28:02.501" v="3"/>
          <ac:spMkLst>
            <pc:docMk/>
            <pc:sldMk cId="1649711036" sldId="309"/>
            <ac:spMk id="3" creationId="{B2E140A4-67ED-2428-BDFB-615F8738BA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FD7B0-0DEC-4807-B7B2-9518EE101B01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4265E-9D07-4D33-B63B-A780E8862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4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36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intracellular fluid (ICF) and extracellular fluid (ECF)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29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69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36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additional K+ ions leave the cell, going down their concentration gradient, the inside of the cell becomes more negative and the outside becomes more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57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example, the </a:t>
            </a:r>
            <a:r>
              <a:rPr lang="en-US" b="1" dirty="0"/>
              <a:t>concentration gradient sending K+ out of the cell is exactly opposed by the electrical gradient pulling K+ into the cell</a:t>
            </a:r>
            <a:r>
              <a:rPr lang="en-US" dirty="0"/>
              <a:t>. This is shown by the arrows that are equal in length but opposite in direction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06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265E-9D07-4D33-B63B-A780E8862C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79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5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0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77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9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3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8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9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3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A60CBAD-925E-483B-96D7-85F79216CFF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3714578-2A7B-4D82-86C2-743FDD3F8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3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4935-0C65-F639-524B-B3A0388C5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2885" y="1905079"/>
            <a:ext cx="4566230" cy="3437782"/>
          </a:xfrm>
        </p:spPr>
        <p:txBody>
          <a:bodyPr>
            <a:normAutofit/>
          </a:bodyPr>
          <a:lstStyle/>
          <a:p>
            <a:r>
              <a:rPr lang="en-US" sz="5000" dirty="0"/>
              <a:t>Equilibrium Potential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67019-9D1D-16F5-8664-B38D7FFEB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2885" y="2080548"/>
            <a:ext cx="4535850" cy="1543422"/>
          </a:xfrm>
        </p:spPr>
        <p:txBody>
          <a:bodyPr>
            <a:normAutofit/>
          </a:bodyPr>
          <a:lstStyle/>
          <a:p>
            <a:r>
              <a:rPr lang="en-US" sz="8000" dirty="0"/>
              <a:t>Lab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7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CA42-60E0-4C93-2966-668F8274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Resting Membrane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95978-C8C3-F619-6B8A-4CDE5C73A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resting neuron the cytosol along the inside of the membrane has a negative charge compared to the outside. This difference in electrical charge across the membrane is called the </a:t>
            </a:r>
            <a:r>
              <a:rPr lang="en-US" u="sng" dirty="0"/>
              <a:t>resting membrane potential </a:t>
            </a:r>
            <a:r>
              <a:rPr lang="en-US" dirty="0"/>
              <a:t>(or resting potential). The action potential is a reversal of this condition, the inside of the membrane briefly becomes positively charged relative to the outside. </a:t>
            </a:r>
          </a:p>
        </p:txBody>
      </p:sp>
      <p:pic>
        <p:nvPicPr>
          <p:cNvPr id="4" name="Picture 3" descr="A diagram of cell division&#10;&#10;Description automatically generated">
            <a:extLst>
              <a:ext uri="{FF2B5EF4-FFF2-40B4-BE49-F238E27FC236}">
                <a16:creationId xmlns:a16="http://schemas.microsoft.com/office/drawing/2014/main" id="{DA35AEC8-F374-58C3-C1FE-D44F12784D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72" b="19861"/>
          <a:stretch/>
        </p:blipFill>
        <p:spPr>
          <a:xfrm>
            <a:off x="4678281" y="3429000"/>
            <a:ext cx="8084356" cy="32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8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0477-1294-6BEC-D643-6C1B2645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Membrane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50A8-451E-A750-A0CF-2177B61B5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b="1" dirty="0">
                <a:solidFill>
                  <a:schemeClr val="tx1"/>
                </a:solidFill>
              </a:rPr>
              <a:t>Membrane Potential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en-US" u="sng" dirty="0">
                <a:solidFill>
                  <a:schemeClr val="tx1"/>
                </a:solidFill>
              </a:rPr>
              <a:t>electrical disequilibrium </a:t>
            </a:r>
            <a:r>
              <a:rPr lang="en-US" dirty="0">
                <a:solidFill>
                  <a:schemeClr val="tx1"/>
                </a:solidFill>
              </a:rPr>
              <a:t>that exists between the intracellular fluid (ICF) and extracellular fluid (ECF) of living cells (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baseline="-25000" dirty="0" err="1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) caused by the uneven distribution of electrical charge (i.e., ions) between the ECF and ICF</a:t>
            </a:r>
          </a:p>
        </p:txBody>
      </p:sp>
      <p:pic>
        <p:nvPicPr>
          <p:cNvPr id="6" name="Picture 5" descr="A diagram of cell division&#10;&#10;Description automatically generated">
            <a:extLst>
              <a:ext uri="{FF2B5EF4-FFF2-40B4-BE49-F238E27FC236}">
                <a16:creationId xmlns:a16="http://schemas.microsoft.com/office/drawing/2014/main" id="{E3F3034F-0E17-D999-ECA3-CC6AD80CF1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72" b="19861"/>
          <a:stretch/>
        </p:blipFill>
        <p:spPr>
          <a:xfrm>
            <a:off x="1950653" y="3040251"/>
            <a:ext cx="8599909" cy="345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19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3FAB-CF59-9E01-6B23-292918A5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Movement of 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E918-EFCB-60C4-DFE9-CC3F295E0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Ionic movements through channels are influenced by </a:t>
            </a:r>
            <a:r>
              <a:rPr lang="en-US" u="sng" dirty="0"/>
              <a:t>diffusion</a:t>
            </a:r>
            <a:r>
              <a:rPr lang="en-US" dirty="0"/>
              <a:t> and </a:t>
            </a:r>
            <a:r>
              <a:rPr lang="en-US" u="sng" dirty="0"/>
              <a:t>electricity</a:t>
            </a:r>
          </a:p>
        </p:txBody>
      </p:sp>
    </p:spTree>
    <p:extLst>
      <p:ext uri="{BB962C8B-B14F-4D97-AF65-F5344CB8AC3E}">
        <p14:creationId xmlns:p14="http://schemas.microsoft.com/office/powerpoint/2010/main" val="204314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0477-1294-6BEC-D643-6C1B2645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50A8-451E-A750-A0CF-2177B61B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95408"/>
            <a:ext cx="9872871" cy="4038600"/>
          </a:xfrm>
        </p:spPr>
        <p:txBody>
          <a:bodyPr/>
          <a:lstStyle/>
          <a:p>
            <a:pPr marL="274320" lvl="1" indent="0">
              <a:buNone/>
            </a:pPr>
            <a:r>
              <a:rPr lang="en-US" dirty="0">
                <a:solidFill>
                  <a:schemeClr val="tx1"/>
                </a:solidFill>
              </a:rPr>
              <a:t>Ions move from areas of high concentration to areas of low concentration. The difference in concentration is called the concentration gradient. </a:t>
            </a:r>
          </a:p>
        </p:txBody>
      </p:sp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8FC7F558-DD76-7CFF-0697-9E5F766B5A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4" t="34363"/>
          <a:stretch/>
        </p:blipFill>
        <p:spPr>
          <a:xfrm>
            <a:off x="794505" y="2628117"/>
            <a:ext cx="5133016" cy="3127574"/>
          </a:xfrm>
          <a:prstGeom prst="rect">
            <a:avLst/>
          </a:prstGeom>
        </p:spPr>
      </p:pic>
      <p:pic>
        <p:nvPicPr>
          <p:cNvPr id="11" name="Picture 10" descr="Screens screenshot of a computer&#10;&#10;Description automatically generated">
            <a:extLst>
              <a:ext uri="{FF2B5EF4-FFF2-40B4-BE49-F238E27FC236}">
                <a16:creationId xmlns:a16="http://schemas.microsoft.com/office/drawing/2014/main" id="{00DAAE54-AAD4-C6C7-802E-D7A79DD8B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452" y="1965960"/>
            <a:ext cx="7322957" cy="51260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9FC41B-BB33-BA25-5D4C-76CDA67A56C1}"/>
              </a:ext>
            </a:extLst>
          </p:cNvPr>
          <p:cNvSpPr/>
          <p:nvPr/>
        </p:nvSpPr>
        <p:spPr>
          <a:xfrm>
            <a:off x="1690487" y="4372215"/>
            <a:ext cx="199785" cy="1459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8D225-B2B9-6C7D-D9F6-4464B72809DE}"/>
              </a:ext>
            </a:extLst>
          </p:cNvPr>
          <p:cNvSpPr txBox="1"/>
          <p:nvPr/>
        </p:nvSpPr>
        <p:spPr>
          <a:xfrm>
            <a:off x="1613647" y="4352859"/>
            <a:ext cx="660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anion</a:t>
            </a:r>
          </a:p>
        </p:txBody>
      </p:sp>
    </p:spTree>
    <p:extLst>
      <p:ext uri="{BB962C8B-B14F-4D97-AF65-F5344CB8AC3E}">
        <p14:creationId xmlns:p14="http://schemas.microsoft.com/office/powerpoint/2010/main" val="3282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572C-CCC8-509F-4E9D-63DBE9E8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17A45-3368-F1F8-ADAD-D5479AB79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Ions are electrically charged particles: </a:t>
            </a:r>
            <a:r>
              <a:rPr lang="en-US" u="sng" dirty="0"/>
              <a:t>Opposites attract and like charges repel!</a:t>
            </a:r>
          </a:p>
          <a:p>
            <a:endParaRPr lang="en-US" u="sng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10F5A875-5D4C-C815-EDDC-D6E62A7214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4" t="34363"/>
          <a:stretch/>
        </p:blipFill>
        <p:spPr>
          <a:xfrm>
            <a:off x="3313102" y="2583456"/>
            <a:ext cx="6768350" cy="412399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32FD7E-EB92-E844-412A-B4A67A5DB0EB}"/>
              </a:ext>
            </a:extLst>
          </p:cNvPr>
          <p:cNvCxnSpPr/>
          <p:nvPr/>
        </p:nvCxnSpPr>
        <p:spPr>
          <a:xfrm>
            <a:off x="2335946" y="4233903"/>
            <a:ext cx="1321654" cy="7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E37EB3-AA0A-3BD5-6FE5-885A68A0AA50}"/>
              </a:ext>
            </a:extLst>
          </p:cNvPr>
          <p:cNvCxnSpPr/>
          <p:nvPr/>
        </p:nvCxnSpPr>
        <p:spPr>
          <a:xfrm>
            <a:off x="2442242" y="4510038"/>
            <a:ext cx="1321654" cy="7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C553D8-4C73-DA81-047F-7FB6EEF228C7}"/>
              </a:ext>
            </a:extLst>
          </p:cNvPr>
          <p:cNvCxnSpPr/>
          <p:nvPr/>
        </p:nvCxnSpPr>
        <p:spPr>
          <a:xfrm>
            <a:off x="2442242" y="4781347"/>
            <a:ext cx="1321654" cy="7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DAF164-3C42-A2BA-6C9E-FEF2C5EA7124}"/>
              </a:ext>
            </a:extLst>
          </p:cNvPr>
          <p:cNvCxnSpPr/>
          <p:nvPr/>
        </p:nvCxnSpPr>
        <p:spPr>
          <a:xfrm>
            <a:off x="2335946" y="3929552"/>
            <a:ext cx="1321654" cy="7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2565FF-FE7A-53E6-E745-BEF9131452E4}"/>
              </a:ext>
            </a:extLst>
          </p:cNvPr>
          <p:cNvSpPr txBox="1"/>
          <p:nvPr/>
        </p:nvSpPr>
        <p:spPr>
          <a:xfrm>
            <a:off x="1329338" y="3725967"/>
            <a:ext cx="12217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Negative charge</a:t>
            </a:r>
          </a:p>
          <a:p>
            <a:endParaRPr lang="en-US" sz="1000" dirty="0"/>
          </a:p>
          <a:p>
            <a:r>
              <a:rPr lang="en-US" sz="1000" dirty="0"/>
              <a:t>Positive Charge</a:t>
            </a:r>
          </a:p>
          <a:p>
            <a:endParaRPr lang="en-US" sz="1000" dirty="0"/>
          </a:p>
          <a:p>
            <a:r>
              <a:rPr lang="en-US" sz="1000" dirty="0"/>
              <a:t>Positive Charge</a:t>
            </a:r>
          </a:p>
          <a:p>
            <a:endParaRPr lang="en-US" sz="1000" dirty="0"/>
          </a:p>
          <a:p>
            <a:r>
              <a:rPr lang="en-US" sz="1000" dirty="0"/>
              <a:t>Negative Charge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AA8AD4-336F-6DAF-CD76-800D02679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4890844"/>
            <a:ext cx="40957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80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0477-1294-6BEC-D643-6C1B2645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Equilibrium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50A8-451E-A750-A0CF-2177B61B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01" y="1824150"/>
            <a:ext cx="7797523" cy="4038600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dirty="0">
                <a:solidFill>
                  <a:schemeClr val="tx1"/>
                </a:solidFill>
              </a:rPr>
              <a:t>A Selectively permeable membrane creates the membrane potential.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24370F-7C84-E54F-6EE0-95E88C5C83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79"/>
          <a:stretch/>
        </p:blipFill>
        <p:spPr>
          <a:xfrm>
            <a:off x="2672891" y="1965960"/>
            <a:ext cx="8716349" cy="47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0477-1294-6BEC-D643-6C1B2645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Equilibrium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50A8-451E-A750-A0CF-2177B61B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358" y="4533900"/>
            <a:ext cx="7151914" cy="1714500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How much K+ will leave the cell?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uncharged, like glucose, would diffuses out until [K]</a:t>
            </a:r>
            <a:r>
              <a:rPr lang="en-US" baseline="-25000" dirty="0">
                <a:solidFill>
                  <a:schemeClr val="tx1"/>
                </a:solidFill>
              </a:rPr>
              <a:t>out</a:t>
            </a:r>
            <a:r>
              <a:rPr lang="en-US" dirty="0">
                <a:solidFill>
                  <a:schemeClr val="tx1"/>
                </a:solidFill>
              </a:rPr>
              <a:t> = [K]</a:t>
            </a:r>
            <a:r>
              <a:rPr lang="en-US" baseline="-25000" dirty="0">
                <a:solidFill>
                  <a:schemeClr val="tx1"/>
                </a:solidFill>
              </a:rPr>
              <a:t>in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But K is + so, must consider electric gradient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tx1"/>
                </a:solidFill>
              </a:rPr>
              <a:t>Remember: opposite charges attract, like charges repel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B11AB2C-F29E-AA54-BB7D-105A19AF24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1" b="29337"/>
          <a:stretch/>
        </p:blipFill>
        <p:spPr>
          <a:xfrm>
            <a:off x="-1240989" y="1796142"/>
            <a:ext cx="9968238" cy="475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2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5F5D-F3A1-3EC0-FBAC-C2805D4C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Equilibrium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B29D-B7FD-6658-2285-881CD23E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2371" y="3837215"/>
            <a:ext cx="8419629" cy="4067695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>
                <a:solidFill>
                  <a:schemeClr val="tx1"/>
                </a:solidFill>
              </a:rPr>
              <a:t>Electrochemical Equilibrium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For any given concentration gradient [Ion]out – [Ion]in across a cell membrane, there is a membrane potential difference (i.e., electrical gradient) that exactly opposes ion movement down the concentration gradient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At this membrane potential, the cell is at </a:t>
            </a:r>
            <a:r>
              <a:rPr lang="en-US" i="1" dirty="0">
                <a:solidFill>
                  <a:schemeClr val="tx1"/>
                </a:solidFill>
              </a:rPr>
              <a:t>electrochemical equilibrium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There is no net movement of ions across the cell membrane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CEA6FAD-3219-8379-50C8-F74A2E5BC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6167" y="1504097"/>
            <a:ext cx="914401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10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3345-6D9C-1367-5290-EAA8EE66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we insert a leak channel for Na+, what happens? 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42043DC-EA34-539F-F1D1-7A8B6FE78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4" b="51054"/>
          <a:stretch/>
        </p:blipFill>
        <p:spPr>
          <a:xfrm>
            <a:off x="3163880" y="2135772"/>
            <a:ext cx="4466365" cy="4189469"/>
          </a:xfrm>
        </p:spPr>
      </p:pic>
    </p:spTree>
    <p:extLst>
      <p:ext uri="{BB962C8B-B14F-4D97-AF65-F5344CB8AC3E}">
        <p14:creationId xmlns:p14="http://schemas.microsoft.com/office/powerpoint/2010/main" val="275159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3345-6D9C-1367-5290-EAA8EE66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we insert a leak channel for Na+, what happens?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7EA05A-6CCB-A3D6-C175-F6161DC5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57" y="2779957"/>
            <a:ext cx="8582025" cy="3705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2E171B-3AF1-D1DE-60A5-35B9ED772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729" y="1447800"/>
            <a:ext cx="27146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30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D33F-A0AA-CB4D-FCFD-492A56BB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1862097"/>
            <a:ext cx="9875520" cy="1356360"/>
          </a:xfrm>
        </p:spPr>
        <p:txBody>
          <a:bodyPr/>
          <a:lstStyle/>
          <a:p>
            <a:r>
              <a:rPr lang="en-US" dirty="0"/>
              <a:t>You do </a:t>
            </a:r>
            <a:r>
              <a:rPr lang="en-US" u="sng" dirty="0"/>
              <a:t>not</a:t>
            </a:r>
            <a:r>
              <a:rPr lang="en-US" dirty="0"/>
              <a:t> need to memorize formulas or constants for this lab!</a:t>
            </a:r>
          </a:p>
        </p:txBody>
      </p:sp>
    </p:spTree>
    <p:extLst>
      <p:ext uri="{BB962C8B-B14F-4D97-AF65-F5344CB8AC3E}">
        <p14:creationId xmlns:p14="http://schemas.microsoft.com/office/powerpoint/2010/main" val="288406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48AD-0791-1108-4A8C-6317323E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Nernst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834C2-48BE-833D-CCEE-28F0A6643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Each ion has its own equilibrium potential- the steady electrical potential that would occur if the membrane were only permeable to that ion.</a:t>
            </a:r>
          </a:p>
          <a:p>
            <a:pPr marL="45720" indent="0">
              <a:buNone/>
            </a:pPr>
            <a:r>
              <a:rPr lang="en-US" dirty="0"/>
              <a:t>The exact value of an equilibrium potential can be calculated using the </a:t>
            </a:r>
            <a:r>
              <a:rPr lang="en-US" u="sng" dirty="0"/>
              <a:t>Nernst Equation</a:t>
            </a:r>
          </a:p>
        </p:txBody>
      </p:sp>
    </p:spTree>
    <p:extLst>
      <p:ext uri="{BB962C8B-B14F-4D97-AF65-F5344CB8AC3E}">
        <p14:creationId xmlns:p14="http://schemas.microsoft.com/office/powerpoint/2010/main" val="331562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07E606-BF14-4D30-A51F-0442F7656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4FA50-D06D-6740-8EE4-60965DA1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03" y="394447"/>
            <a:ext cx="6822744" cy="1356360"/>
          </a:xfrm>
        </p:spPr>
        <p:txBody>
          <a:bodyPr>
            <a:normAutofit/>
          </a:bodyPr>
          <a:lstStyle/>
          <a:p>
            <a:r>
              <a:rPr lang="en-US" dirty="0"/>
              <a:t>The Nernst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5F8BA-27B2-E48B-88C6-11C5583A6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452" y="4249270"/>
            <a:ext cx="10533695" cy="1846729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/>
              <a:t>Remember: equilibrium is the balance of diffusion (concentration gradient) and electricity (opposites attract)</a:t>
            </a:r>
          </a:p>
          <a:p>
            <a:pPr marL="45720" indent="0">
              <a:buNone/>
            </a:pPr>
            <a:r>
              <a:rPr lang="en-US" dirty="0"/>
              <a:t>Increasing the thermal energy of each particle increases diffusion and therefore increases the potential difference reached at equilibrium : </a:t>
            </a:r>
            <a:r>
              <a:rPr lang="en-US" dirty="0" err="1"/>
              <a:t>E</a:t>
            </a:r>
            <a:r>
              <a:rPr lang="en-US" sz="1100" dirty="0" err="1"/>
              <a:t>ion</a:t>
            </a:r>
            <a:r>
              <a:rPr lang="en-US" dirty="0"/>
              <a:t> is proportional to T</a:t>
            </a:r>
          </a:p>
          <a:p>
            <a:pPr marL="45720" indent="0">
              <a:buNone/>
            </a:pPr>
            <a:r>
              <a:rPr lang="en-US" dirty="0"/>
              <a:t>Increasing the electrical charge of each particle decreases the potential difference needed to balance diffusion: </a:t>
            </a:r>
            <a:r>
              <a:rPr lang="en-US" dirty="0" err="1"/>
              <a:t>E</a:t>
            </a:r>
            <a:r>
              <a:rPr lang="en-US" sz="1100" dirty="0" err="1"/>
              <a:t>ion</a:t>
            </a:r>
            <a:r>
              <a:rPr lang="en-US" dirty="0"/>
              <a:t> is inversely proportional to the charge of the ion (z)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5A60F-0B9D-13FA-3118-9A09B2EEB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136" y="1596156"/>
            <a:ext cx="64103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13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27AB-1D93-C6D9-1B54-C7FFC855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Nernst Equation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DD0C9D-61BB-E444-F2BF-9B353BB3F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05"/>
          <a:stretch/>
        </p:blipFill>
        <p:spPr>
          <a:xfrm>
            <a:off x="1641947" y="3849701"/>
            <a:ext cx="8908105" cy="2604887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34CE41-0DC8-248D-75BF-DA28CE6B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297" y="1682803"/>
            <a:ext cx="5211288" cy="2005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FF7CD9-5832-EEDD-5EEC-4ECA9D0C2D76}"/>
              </a:ext>
            </a:extLst>
          </p:cNvPr>
          <p:cNvSpPr txBox="1"/>
          <p:nvPr/>
        </p:nvSpPr>
        <p:spPr>
          <a:xfrm>
            <a:off x="7146151" y="1781543"/>
            <a:ext cx="3196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T:  273 +37= 310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6CBC05-B54B-0D8C-CA6C-936B0DBDC328}"/>
              </a:ext>
            </a:extLst>
          </p:cNvPr>
          <p:cNvCxnSpPr/>
          <p:nvPr/>
        </p:nvCxnSpPr>
        <p:spPr>
          <a:xfrm>
            <a:off x="7684034" y="1521439"/>
            <a:ext cx="0" cy="260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98C701-3EBE-5B15-168F-C15E4B8094F9}"/>
              </a:ext>
            </a:extLst>
          </p:cNvPr>
          <p:cNvCxnSpPr>
            <a:cxnSpLocks/>
          </p:cNvCxnSpPr>
          <p:nvPr/>
        </p:nvCxnSpPr>
        <p:spPr>
          <a:xfrm flipV="1">
            <a:off x="3649916" y="2184706"/>
            <a:ext cx="4249271" cy="1572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3513BB-365B-8CA6-46D9-1BD7642F8C3B}"/>
              </a:ext>
            </a:extLst>
          </p:cNvPr>
          <p:cNvSpPr txBox="1"/>
          <p:nvPr/>
        </p:nvSpPr>
        <p:spPr>
          <a:xfrm>
            <a:off x="7384356" y="921275"/>
            <a:ext cx="8452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Absolute temp in Celsius </a:t>
            </a:r>
          </a:p>
        </p:txBody>
      </p:sp>
    </p:spTree>
    <p:extLst>
      <p:ext uri="{BB962C8B-B14F-4D97-AF65-F5344CB8AC3E}">
        <p14:creationId xmlns:p14="http://schemas.microsoft.com/office/powerpoint/2010/main" val="4244465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1262-5232-DCF9-AF2F-BB78E221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Calculate E</a:t>
            </a:r>
            <a:r>
              <a:rPr lang="en-US" sz="1800" dirty="0"/>
              <a:t>k</a:t>
            </a:r>
            <a:r>
              <a:rPr lang="en-US" dirty="0"/>
              <a:t> if K+ is concentrated twentyfold inside of a cell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3D73F-CC7B-6F4D-962C-B5E2017A6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369" y="2309973"/>
            <a:ext cx="4616719" cy="11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45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1262-5232-DCF9-AF2F-BB78E221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Calculate E</a:t>
            </a:r>
            <a:r>
              <a:rPr lang="en-US" sz="1800" dirty="0"/>
              <a:t>k</a:t>
            </a:r>
            <a:r>
              <a:rPr lang="en-US" dirty="0"/>
              <a:t> if K+ is concentrated twentyfold inside of a cell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FD10FB-0B32-4E43-DE74-A50D032B3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598" y="2165566"/>
            <a:ext cx="6277855" cy="40292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51B46A-79A3-AE08-A7B7-55920E7FA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66" y="2309973"/>
            <a:ext cx="4616719" cy="11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3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E657-85EA-FB7E-C073-232A0D13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Goldman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1BD94-7A7B-CB05-1888-5677C66C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HOWEVER, real neurons are not permeable to only one ion at a time. They are permeable to multiple ions.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CAFB1-C3B2-A9C9-F8F5-8FA13CC2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18" y="3696117"/>
            <a:ext cx="10140364" cy="15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79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0F93-6602-89CA-007D-AFCB032F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809384"/>
            <a:ext cx="9875520" cy="1356360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Activity: Using the following table, calculate </a:t>
            </a:r>
            <a:r>
              <a:rPr lang="en-US" dirty="0" err="1"/>
              <a:t>V</a:t>
            </a:r>
            <a:r>
              <a:rPr lang="en-US" sz="2700" dirty="0" err="1"/>
              <a:t>m</a:t>
            </a:r>
            <a:r>
              <a:rPr lang="en-US" dirty="0"/>
              <a:t> if K+ ion permeability is 40 times greater than it is to Na+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2CB23-BB0D-F8EB-9511-D5E9BA88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864" y="3162636"/>
            <a:ext cx="7950412" cy="3118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E54C2-D2D9-40EE-DCEC-1DB914484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18" y="2291040"/>
            <a:ext cx="4060322" cy="93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45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0F93-6602-89CA-007D-AFCB032F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809384"/>
            <a:ext cx="9875520" cy="1356360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Activity: Using the following table, calculate </a:t>
            </a:r>
            <a:r>
              <a:rPr lang="en-US" dirty="0" err="1"/>
              <a:t>V</a:t>
            </a:r>
            <a:r>
              <a:rPr lang="en-US" sz="2700" dirty="0" err="1"/>
              <a:t>m</a:t>
            </a:r>
            <a:r>
              <a:rPr lang="en-US" dirty="0"/>
              <a:t> if K+ ion permeability is 40 times greater than it is to Na+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35074-AA73-0D1A-050D-C4488935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78" y="4297995"/>
            <a:ext cx="9986682" cy="2197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A29E8-59F3-F21B-9D77-F465FD69FC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232"/>
          <a:stretch/>
        </p:blipFill>
        <p:spPr>
          <a:xfrm>
            <a:off x="4658572" y="1878744"/>
            <a:ext cx="6840741" cy="23282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1A1C7A-7456-7261-924A-97929D284D69}"/>
              </a:ext>
            </a:extLst>
          </p:cNvPr>
          <p:cNvSpPr/>
          <p:nvPr/>
        </p:nvSpPr>
        <p:spPr>
          <a:xfrm>
            <a:off x="6892578" y="1249874"/>
            <a:ext cx="637775" cy="537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37769-CBA2-60B0-EB55-2411BD4E4272}"/>
              </a:ext>
            </a:extLst>
          </p:cNvPr>
          <p:cNvSpPr/>
          <p:nvPr/>
        </p:nvSpPr>
        <p:spPr>
          <a:xfrm>
            <a:off x="6141462" y="4779469"/>
            <a:ext cx="347704" cy="357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F1E3C-0912-7497-091A-F926866462CF}"/>
              </a:ext>
            </a:extLst>
          </p:cNvPr>
          <p:cNvSpPr/>
          <p:nvPr/>
        </p:nvSpPr>
        <p:spPr>
          <a:xfrm>
            <a:off x="6141461" y="5136755"/>
            <a:ext cx="347704" cy="357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86739-9EED-E591-E783-CA933B1B8099}"/>
              </a:ext>
            </a:extLst>
          </p:cNvPr>
          <p:cNvSpPr/>
          <p:nvPr/>
        </p:nvSpPr>
        <p:spPr>
          <a:xfrm>
            <a:off x="6954050" y="4840941"/>
            <a:ext cx="230521" cy="295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732C11-2777-4095-3E7C-32578477B3A7}"/>
              </a:ext>
            </a:extLst>
          </p:cNvPr>
          <p:cNvSpPr/>
          <p:nvPr/>
        </p:nvSpPr>
        <p:spPr>
          <a:xfrm>
            <a:off x="7184571" y="5167491"/>
            <a:ext cx="230521" cy="295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A2DC01-C35B-C022-11FD-DF40EA876203}"/>
              </a:ext>
            </a:extLst>
          </p:cNvPr>
          <p:cNvSpPr/>
          <p:nvPr/>
        </p:nvSpPr>
        <p:spPr>
          <a:xfrm>
            <a:off x="6187566" y="2687548"/>
            <a:ext cx="347704" cy="29390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4CE178-6542-34A8-FD30-0F12B69B37BD}"/>
              </a:ext>
            </a:extLst>
          </p:cNvPr>
          <p:cNvSpPr/>
          <p:nvPr/>
        </p:nvSpPr>
        <p:spPr>
          <a:xfrm>
            <a:off x="6489164" y="4842851"/>
            <a:ext cx="347704" cy="29390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BF8B09-296A-E362-87E2-E3AC13B1AC3F}"/>
              </a:ext>
            </a:extLst>
          </p:cNvPr>
          <p:cNvSpPr/>
          <p:nvPr/>
        </p:nvSpPr>
        <p:spPr>
          <a:xfrm>
            <a:off x="7890411" y="2686640"/>
            <a:ext cx="469817" cy="2939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4B0C0-50B7-0233-A839-9A7A3562A46B}"/>
              </a:ext>
            </a:extLst>
          </p:cNvPr>
          <p:cNvSpPr/>
          <p:nvPr/>
        </p:nvSpPr>
        <p:spPr>
          <a:xfrm>
            <a:off x="6440145" y="5167491"/>
            <a:ext cx="469817" cy="2939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1D02F9-CB52-8F61-90B9-3A3B0A365476}"/>
              </a:ext>
            </a:extLst>
          </p:cNvPr>
          <p:cNvSpPr/>
          <p:nvPr/>
        </p:nvSpPr>
        <p:spPr>
          <a:xfrm>
            <a:off x="6140497" y="3041493"/>
            <a:ext cx="559980" cy="29390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0DE920-45A5-FAF9-C411-1BECA538CFF7}"/>
              </a:ext>
            </a:extLst>
          </p:cNvPr>
          <p:cNvSpPr/>
          <p:nvPr/>
        </p:nvSpPr>
        <p:spPr>
          <a:xfrm>
            <a:off x="7211465" y="4842851"/>
            <a:ext cx="559980" cy="29390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78DDCE-364D-E383-3451-97FE98DA75ED}"/>
              </a:ext>
            </a:extLst>
          </p:cNvPr>
          <p:cNvSpPr/>
          <p:nvPr/>
        </p:nvSpPr>
        <p:spPr>
          <a:xfrm>
            <a:off x="7800248" y="3047017"/>
            <a:ext cx="559980" cy="29390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9B1B-1BCE-F47C-4AF9-F6C5B3C3809D}"/>
              </a:ext>
            </a:extLst>
          </p:cNvPr>
          <p:cNvSpPr/>
          <p:nvPr/>
        </p:nvSpPr>
        <p:spPr>
          <a:xfrm>
            <a:off x="7417395" y="5167491"/>
            <a:ext cx="361734" cy="29390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264F82-3606-ADA2-6D4F-16799812E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47" y="2959551"/>
            <a:ext cx="4060322" cy="93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3579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10298</TotalTime>
  <Words>669</Words>
  <Application>Microsoft Office PowerPoint</Application>
  <PresentationFormat>Widescreen</PresentationFormat>
  <Paragraphs>61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Corbel</vt:lpstr>
      <vt:lpstr>Basis</vt:lpstr>
      <vt:lpstr>Equilibrium Potential</vt:lpstr>
      <vt:lpstr>Resting Membrane Potential</vt:lpstr>
      <vt:lpstr>Membrane Potential</vt:lpstr>
      <vt:lpstr>The Movement of Ions</vt:lpstr>
      <vt:lpstr>Diffusion </vt:lpstr>
      <vt:lpstr>Electricity </vt:lpstr>
      <vt:lpstr>Equilibrium Potential</vt:lpstr>
      <vt:lpstr>Equilibrium Potential</vt:lpstr>
      <vt:lpstr>Equilibrium Potential</vt:lpstr>
      <vt:lpstr>Activity: we insert a leak channel for Na+, what happens?  </vt:lpstr>
      <vt:lpstr>Activity: we insert a leak channel for Na+, what happens?  </vt:lpstr>
      <vt:lpstr>You do not need to memorize formulas or constants for this lab!</vt:lpstr>
      <vt:lpstr>The Nernst Equation</vt:lpstr>
      <vt:lpstr>The Nernst Equation</vt:lpstr>
      <vt:lpstr>The Nernst Equation</vt:lpstr>
      <vt:lpstr>Activity: Calculate Ek if K+ is concentrated twentyfold inside of a cell</vt:lpstr>
      <vt:lpstr>Activity: Calculate Ek if K+ is concentrated twentyfold inside of a cell</vt:lpstr>
      <vt:lpstr>The Goldman Equation</vt:lpstr>
      <vt:lpstr>Activity: Using the following table, calculate Vm if K+ ion permeability is 40 times greater than it is to Na+</vt:lpstr>
      <vt:lpstr>Activity: Using the following table, calculate Vm if K+ ion permeability is 40 times greater than it is to Na+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Potential</dc:title>
  <dc:creator>Narvaiz, David</dc:creator>
  <cp:lastModifiedBy>Dejeux, Mariana</cp:lastModifiedBy>
  <cp:revision>26</cp:revision>
  <dcterms:created xsi:type="dcterms:W3CDTF">2022-09-09T19:58:10Z</dcterms:created>
  <dcterms:modified xsi:type="dcterms:W3CDTF">2025-02-10T17:29:43Z</dcterms:modified>
</cp:coreProperties>
</file>