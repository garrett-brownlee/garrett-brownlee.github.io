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2" r:id="rId1"/>
  </p:sldMasterIdLst>
  <p:notesMasterIdLst>
    <p:notesMasterId r:id="rId18"/>
  </p:notesMasterIdLst>
  <p:sldIdLst>
    <p:sldId id="256" r:id="rId2"/>
    <p:sldId id="257" r:id="rId3"/>
    <p:sldId id="258" r:id="rId4"/>
    <p:sldId id="260" r:id="rId5"/>
    <p:sldId id="263" r:id="rId6"/>
    <p:sldId id="261" r:id="rId7"/>
    <p:sldId id="265" r:id="rId8"/>
    <p:sldId id="266" r:id="rId9"/>
    <p:sldId id="269" r:id="rId10"/>
    <p:sldId id="270" r:id="rId11"/>
    <p:sldId id="272" r:id="rId12"/>
    <p:sldId id="273" r:id="rId13"/>
    <p:sldId id="277" r:id="rId14"/>
    <p:sldId id="278" r:id="rId15"/>
    <p:sldId id="279" r:id="rId16"/>
    <p:sldId id="280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76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600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350BA6-B9E4-417E-9820-9ED0F24F4422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69D8DD-0584-4212-A59B-030CC3E4A5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0542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because a patch of membrane that has just undergone one action potential is in a “refractory period” and cannot undergo another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69D8DD-0584-4212-A59B-030CC3E4A54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1963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https://www.researchgate.net/figure/Representative-action-potentials-APs-of-a-neuron-and-ventricular-myocyte-Note-the_fig2_226655066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69D8DD-0584-4212-A59B-030CC3E4A54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8913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https://www.researchgate.net/figure/Representative-action-potentials-APs-of-a-neuron-and-ventricular-myocyte-Note-the_fig2_226655066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69D8DD-0584-4212-A59B-030CC3E4A54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1881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504" y="770467"/>
            <a:ext cx="10782300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 spc="-12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512" y="4206876"/>
            <a:ext cx="9228201" cy="164592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C73785AA-B0E6-431F-81B3-B721F6278A2D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646E8B50-C57A-436B-8252-2DAF4B52BD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3538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785AA-B0E6-431F-81B3-B721F6278A2D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E8B50-C57A-436B-8252-2DAF4B52BD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8157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767419"/>
            <a:ext cx="10780776" cy="3355848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8800" b="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7512" y="4204209"/>
            <a:ext cx="9226296" cy="1645920"/>
          </a:xfrm>
        </p:spPr>
        <p:txBody>
          <a:bodyPr anchor="t">
            <a:normAutofit/>
          </a:bodyPr>
          <a:lstStyle>
            <a:lvl1pPr marL="0" indent="0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785AA-B0E6-431F-81B3-B721F6278A2D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E8B50-C57A-436B-8252-2DAF4B52BD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2674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6656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1330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785AA-B0E6-431F-81B3-B721F6278A2D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E8B50-C57A-436B-8252-2DAF4B52BD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55184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40467"/>
            <a:ext cx="4663440" cy="723400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6656" y="2753084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07608" y="2038435"/>
            <a:ext cx="4663440" cy="722376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07608" y="2750990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785AA-B0E6-431F-81B3-B721F6278A2D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E8B50-C57A-436B-8252-2DAF4B52BD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7328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785AA-B0E6-431F-81B3-B721F6278A2D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E8B50-C57A-436B-8252-2DAF4B52BD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21506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785AA-B0E6-431F-81B3-B721F6278A2D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E8B50-C57A-436B-8252-2DAF4B52BD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57271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261404" y="542282"/>
            <a:ext cx="338328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40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762000"/>
            <a:ext cx="60960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75982" y="2511813"/>
            <a:ext cx="3398520" cy="312698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785AA-B0E6-431F-81B3-B721F6278A2D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646E8B50-C57A-436B-8252-2DAF4B52BD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2284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224" y="5418667"/>
            <a:ext cx="10780776" cy="613283"/>
          </a:xfrm>
        </p:spPr>
        <p:txBody>
          <a:bodyPr anchor="b">
            <a:normAutofit/>
          </a:bodyPr>
          <a:lstStyle>
            <a:lvl1pPr>
              <a:defRPr sz="32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2192000" cy="5330952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t"/>
          <a:lstStyle>
            <a:lvl1pPr marL="0" indent="0" algn="ctr">
              <a:spcBef>
                <a:spcPts val="800"/>
              </a:spcBef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656" y="5909735"/>
            <a:ext cx="9229344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4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C73785AA-B0E6-431F-81B3-B721F6278A2D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646E8B50-C57A-436B-8252-2DAF4B52BD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4007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785AA-B0E6-431F-81B3-B721F6278A2D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E8B50-C57A-436B-8252-2DAF4B52BD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3860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43950" y="695325"/>
            <a:ext cx="2628900" cy="4800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1525" y="714375"/>
            <a:ext cx="7734300" cy="54006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785AA-B0E6-431F-81B3-B721F6278A2D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E8B50-C57A-436B-8252-2DAF4B52BD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2923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C73785AA-B0E6-431F-81B3-B721F6278A2D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 cap="all" baseline="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300" b="0">
                <a:ln>
                  <a:noFill/>
                </a:ln>
                <a:solidFill>
                  <a:schemeClr val="accent1">
                    <a:alpha val="25000"/>
                  </a:schemeClr>
                </a:solidFill>
                <a:latin typeface="+mj-lt"/>
              </a:defRPr>
            </a:lvl1pPr>
          </a:lstStyle>
          <a:p>
            <a:fld id="{646E8B50-C57A-436B-8252-2DAF4B52BD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2135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  <p:sldLayoutId id="2147483764" r:id="rId2"/>
    <p:sldLayoutId id="2147483765" r:id="rId3"/>
    <p:sldLayoutId id="2147483766" r:id="rId4"/>
    <p:sldLayoutId id="2147483767" r:id="rId5"/>
    <p:sldLayoutId id="2147483768" r:id="rId6"/>
    <p:sldLayoutId id="2147483769" r:id="rId7"/>
    <p:sldLayoutId id="2147483770" r:id="rId8"/>
    <p:sldLayoutId id="2147483771" r:id="rId9"/>
    <p:sldLayoutId id="2147483772" r:id="rId10"/>
    <p:sldLayoutId id="214748377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5400" kern="1200" spc="-12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85000"/>
        </a:lnSpc>
        <a:spcBef>
          <a:spcPts val="13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347472" indent="-3429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548640" indent="-54864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0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822960" indent="-82296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097280" indent="-109728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2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4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16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18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1E8DBE92-2331-4285-8226-D398190D3E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7B4CCA-6B66-634A-B7A4-55BC5BE817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66261" y="1067403"/>
            <a:ext cx="5830468" cy="4723194"/>
          </a:xfrm>
        </p:spPr>
        <p:txBody>
          <a:bodyPr anchor="ctr">
            <a:normAutofit/>
          </a:bodyPr>
          <a:lstStyle/>
          <a:p>
            <a:r>
              <a:rPr lang="en-US" sz="7200" b="1" dirty="0"/>
              <a:t>Lab 4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D6F6937-3B5A-4391-9F37-58A571B362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05908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E1131A-2770-DB0F-C379-CAE0A1CC6C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77490" y="1067403"/>
            <a:ext cx="2759857" cy="4723194"/>
          </a:xfrm>
        </p:spPr>
        <p:txBody>
          <a:bodyPr anchor="ctr">
            <a:normAutofit/>
          </a:bodyPr>
          <a:lstStyle/>
          <a:p>
            <a:r>
              <a:rPr lang="en-US" sz="2400">
                <a:solidFill>
                  <a:srgbClr val="FFFFFF"/>
                </a:solidFill>
              </a:rPr>
              <a:t>The last action potential day!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962AC3C-FEB4-4C6A-8CA6-D570CD009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43467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8041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3F619-E3C2-B48D-52A9-C4FB054C4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Today’s 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F66A55-CADC-F879-8B09-B6558CEF21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US" dirty="0"/>
              <a:t>Refractory Period</a:t>
            </a:r>
          </a:p>
          <a:p>
            <a:pPr marL="514350" indent="-514350">
              <a:buAutoNum type="arabicPeriod"/>
            </a:pPr>
            <a:r>
              <a:rPr lang="en-US" dirty="0"/>
              <a:t>The Calcium Action Potential</a:t>
            </a:r>
          </a:p>
          <a:p>
            <a:pPr marL="514350" indent="-514350">
              <a:buAutoNum type="arabicPeriod"/>
            </a:pPr>
            <a:r>
              <a:rPr lang="en-US" dirty="0"/>
              <a:t>The Neuromuscular Junction</a:t>
            </a:r>
          </a:p>
          <a:p>
            <a:pPr marL="514350" indent="-514350">
              <a:buAutoNum type="arabicPeriod"/>
            </a:pPr>
            <a:r>
              <a:rPr lang="en-US" dirty="0"/>
              <a:t>Interactions of Synaptic Potentials</a:t>
            </a:r>
          </a:p>
        </p:txBody>
      </p:sp>
    </p:spTree>
    <p:extLst>
      <p:ext uri="{BB962C8B-B14F-4D97-AF65-F5344CB8AC3E}">
        <p14:creationId xmlns:p14="http://schemas.microsoft.com/office/powerpoint/2010/main" val="3452171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1">
            <a:extLst>
              <a:ext uri="{FF2B5EF4-FFF2-40B4-BE49-F238E27FC236}">
                <a16:creationId xmlns:a16="http://schemas.microsoft.com/office/drawing/2014/main" id="{8936FD8C-AFAD-4D71-8838-D5AF061BEB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45767F7-6697-98CB-8D2A-D36D64B5D7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770467"/>
            <a:ext cx="3467051" cy="3352800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80000"/>
              </a:lnSpc>
            </a:pPr>
            <a:r>
              <a:rPr lang="en-US" sz="4200" dirty="0">
                <a:solidFill>
                  <a:srgbClr val="FFFFFF"/>
                </a:solidFill>
              </a:rPr>
              <a:t>Why is flow down an axon unidirectional?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FACF551-333C-4400-9712-C8D645B65A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9056" y="0"/>
            <a:ext cx="7552944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B11D4A3-0AF8-A28E-FD40-5B4DB763F2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6522" y="629265"/>
            <a:ext cx="5758011" cy="5585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19499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6C7C9A-533B-E40F-399D-1D019DDC8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0" y="499533"/>
            <a:ext cx="5142271" cy="165819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400">
                <a:solidFill>
                  <a:schemeClr val="accent1"/>
                </a:solidFill>
              </a:rPr>
              <a:t>The Refractory Period</a:t>
            </a:r>
          </a:p>
        </p:txBody>
      </p:sp>
      <p:pic>
        <p:nvPicPr>
          <p:cNvPr id="4" name="Picture 3" descr="A diagram with red lines and green dots&#10;&#10;Description automatically generated">
            <a:extLst>
              <a:ext uri="{FF2B5EF4-FFF2-40B4-BE49-F238E27FC236}">
                <a16:creationId xmlns:a16="http://schemas.microsoft.com/office/drawing/2014/main" id="{F48162F3-0795-182C-4B3E-BE24C4975B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373" y="1520929"/>
            <a:ext cx="5451627" cy="3816141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817D52-8C2F-41B0-D170-31435CAFB3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0" y="2192070"/>
            <a:ext cx="5142271" cy="3864732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85000"/>
              </a:lnSpc>
              <a:buFont typeface="Arial" pitchFamily="34" charset="0"/>
              <a:buChar char=" "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From the Latin </a:t>
            </a:r>
            <a:r>
              <a:rPr lang="en-US" i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refractarius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, which means “obstinate, stubborn”</a:t>
            </a:r>
          </a:p>
          <a:p>
            <a:pPr>
              <a:lnSpc>
                <a:spcPct val="85000"/>
              </a:lnSpc>
              <a:buFont typeface="Arial" pitchFamily="34" charset="0"/>
              <a:buChar char=" "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Once an action potential has begun, a second action potential cannot be triggered for about 1-2 msec. No matter how large the stimulus.</a:t>
            </a:r>
          </a:p>
          <a:p>
            <a:pPr>
              <a:lnSpc>
                <a:spcPct val="85000"/>
              </a:lnSpc>
              <a:buFont typeface="Arial" pitchFamily="34" charset="0"/>
              <a:buChar char=" "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This delay represents the time required for the Na+ channel gates to reset to their resting positions</a:t>
            </a:r>
          </a:p>
          <a:p>
            <a:pPr>
              <a:lnSpc>
                <a:spcPct val="85000"/>
              </a:lnSpc>
              <a:buFont typeface="Arial" pitchFamily="34" charset="0"/>
              <a:buChar char=" "/>
            </a:pP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But if these voltage gated sodium channels open with an increase in membrane potential, how do they also close at this potential?</a:t>
            </a:r>
          </a:p>
          <a:p>
            <a:pPr>
              <a:lnSpc>
                <a:spcPct val="85000"/>
              </a:lnSpc>
              <a:buFont typeface="Arial" pitchFamily="34" charset="0"/>
              <a:buChar char=" "/>
            </a:pPr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54358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B89B6DBE-5EB1-4977-8210-379351EE94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5992" y="0"/>
            <a:ext cx="4636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4FFBABFE-F9C0-10B6-0F20-8B41AB15EC12}"/>
              </a:ext>
            </a:extLst>
          </p:cNvPr>
          <p:cNvSpPr txBox="1">
            <a:spLocks/>
          </p:cNvSpPr>
          <p:nvPr/>
        </p:nvSpPr>
        <p:spPr>
          <a:xfrm>
            <a:off x="8173212" y="499533"/>
            <a:ext cx="3401568" cy="192024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85000"/>
              </a:lnSpc>
              <a:spcAft>
                <a:spcPts val="600"/>
              </a:spcAft>
            </a:pPr>
            <a:r>
              <a:rPr lang="en-US" sz="4000" spc="-120">
                <a:solidFill>
                  <a:srgbClr val="FFFFFF"/>
                </a:solidFill>
              </a:rPr>
              <a:t>Na+ Channels</a:t>
            </a:r>
          </a:p>
          <a:p>
            <a:pPr>
              <a:lnSpc>
                <a:spcPct val="85000"/>
              </a:lnSpc>
              <a:spcAft>
                <a:spcPts val="600"/>
              </a:spcAft>
            </a:pPr>
            <a:r>
              <a:rPr lang="en-US" sz="4000" spc="-120">
                <a:solidFill>
                  <a:srgbClr val="FFFFFF"/>
                </a:solidFill>
              </a:rPr>
              <a:t>Have 2 Gates</a:t>
            </a:r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B086CECF-0DE2-9D0C-1F06-ABD199AF2A3A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2"/>
          <a:srcRect l="-1429" t="3" r="1033" b="-6"/>
          <a:stretch/>
        </p:blipFill>
        <p:spPr>
          <a:xfrm>
            <a:off x="212036" y="697727"/>
            <a:ext cx="7099022" cy="5462546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8A3FA55-9064-72EB-5E59-C7D52DC445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173212" y="2419773"/>
            <a:ext cx="3401568" cy="3358092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85000"/>
              </a:lnSpc>
              <a:buFont typeface="Arial" pitchFamily="34" charset="0"/>
              <a:buChar char=" "/>
            </a:pPr>
            <a:r>
              <a:rPr lang="en-US">
                <a:solidFill>
                  <a:srgbClr val="FFFFFF"/>
                </a:solidFill>
              </a:rPr>
              <a:t>At the resting membrane potential, the activation gate (m-gate) closes the channel</a:t>
            </a:r>
          </a:p>
          <a:p>
            <a:pPr>
              <a:lnSpc>
                <a:spcPct val="85000"/>
              </a:lnSpc>
              <a:buFont typeface="Arial" pitchFamily="34" charset="0"/>
              <a:buChar char=" "/>
            </a:pPr>
            <a:r>
              <a:rPr lang="en-US">
                <a:solidFill>
                  <a:srgbClr val="FFFFFF"/>
                </a:solidFill>
              </a:rPr>
              <a:t>A depolarizing stimulus opens the activation gate</a:t>
            </a:r>
          </a:p>
          <a:p>
            <a:pPr>
              <a:lnSpc>
                <a:spcPct val="85000"/>
              </a:lnSpc>
              <a:buFont typeface="Arial" pitchFamily="34" charset="0"/>
              <a:buChar char=" "/>
            </a:pPr>
            <a:r>
              <a:rPr lang="en-US">
                <a:solidFill>
                  <a:srgbClr val="FFFFFF"/>
                </a:solidFill>
              </a:rPr>
              <a:t>Na+ enters the cell when the activation gate opens, and the cell becomes more positive</a:t>
            </a:r>
          </a:p>
          <a:p>
            <a:pPr>
              <a:lnSpc>
                <a:spcPct val="85000"/>
              </a:lnSpc>
              <a:buFont typeface="Arial" pitchFamily="34" charset="0"/>
              <a:buChar char=" "/>
            </a:pPr>
            <a:r>
              <a:rPr lang="en-US">
                <a:solidFill>
                  <a:srgbClr val="FFFFFF"/>
                </a:solidFill>
              </a:rPr>
              <a:t>When the cell becomes more positive on the inside, the inactivation gate closes (h-gate)</a:t>
            </a:r>
          </a:p>
          <a:p>
            <a:pPr>
              <a:lnSpc>
                <a:spcPct val="85000"/>
              </a:lnSpc>
              <a:buFont typeface="Arial" pitchFamily="34" charset="0"/>
              <a:buChar char=" "/>
            </a:pPr>
            <a:r>
              <a:rPr lang="en-US">
                <a:solidFill>
                  <a:srgbClr val="FFFFFF"/>
                </a:solidFill>
              </a:rPr>
              <a:t>Na+ can no longer enter the cell</a:t>
            </a:r>
          </a:p>
          <a:p>
            <a:pPr>
              <a:lnSpc>
                <a:spcPct val="85000"/>
              </a:lnSpc>
              <a:buFont typeface="Arial" pitchFamily="34" charset="0"/>
              <a:buChar char=" "/>
            </a:pPr>
            <a:r>
              <a:rPr lang="en-US">
                <a:solidFill>
                  <a:srgbClr val="FFFFFF"/>
                </a:solidFill>
              </a:rPr>
              <a:t>During repolarization, both gates reset to their original positions (close activation gate, open inactivation gate)</a:t>
            </a:r>
          </a:p>
        </p:txBody>
      </p:sp>
    </p:spTree>
    <p:extLst>
      <p:ext uri="{BB962C8B-B14F-4D97-AF65-F5344CB8AC3E}">
        <p14:creationId xmlns:p14="http://schemas.microsoft.com/office/powerpoint/2010/main" val="35272574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6C7C9A-533B-E40F-399D-1D019DDC8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0" y="499533"/>
            <a:ext cx="5142271" cy="165819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400">
                <a:solidFill>
                  <a:schemeClr val="accent1"/>
                </a:solidFill>
              </a:rPr>
              <a:t>The Relative Refractory Period</a:t>
            </a:r>
          </a:p>
        </p:txBody>
      </p:sp>
      <p:pic>
        <p:nvPicPr>
          <p:cNvPr id="4" name="Picture 3" descr="A diagram with red lines and green dots&#10;&#10;Description automatically generated">
            <a:extLst>
              <a:ext uri="{FF2B5EF4-FFF2-40B4-BE49-F238E27FC236}">
                <a16:creationId xmlns:a16="http://schemas.microsoft.com/office/drawing/2014/main" id="{8C514757-7B31-8EEC-97E8-E731443599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192" y="1360909"/>
            <a:ext cx="5451627" cy="3816141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817D52-8C2F-41B0-D170-31435CAFB3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0" y="2185848"/>
            <a:ext cx="5142271" cy="3864732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85000"/>
              </a:lnSpc>
              <a:buFont typeface="Arial" pitchFamily="34" charset="0"/>
              <a:buChar char=" "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Follows the absolute refractory period</a:t>
            </a:r>
          </a:p>
          <a:p>
            <a:pPr>
              <a:lnSpc>
                <a:spcPct val="85000"/>
              </a:lnSpc>
              <a:buFont typeface="Arial" pitchFamily="34" charset="0"/>
              <a:buChar char=" "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To stimulate an action potential during this period, must contend with 2 events:</a:t>
            </a:r>
          </a:p>
          <a:p>
            <a:pPr marL="285750" indent="-285750">
              <a:lnSpc>
                <a:spcPct val="85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Some but not all the Na+ gates have reset to their original positions</a:t>
            </a:r>
          </a:p>
          <a:p>
            <a:pPr marL="285750" indent="-285750">
              <a:lnSpc>
                <a:spcPct val="85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K+ channels are still open</a:t>
            </a:r>
          </a:p>
          <a:p>
            <a:pPr>
              <a:lnSpc>
                <a:spcPct val="85000"/>
              </a:lnSpc>
              <a:buFont typeface="Arial" pitchFamily="34" charset="0"/>
              <a:buChar char=" "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So, the threshold for an action potential is closer to zero, which requires a stronger stimulus to reach</a:t>
            </a:r>
          </a:p>
          <a:p>
            <a:pPr>
              <a:lnSpc>
                <a:spcPct val="85000"/>
              </a:lnSpc>
              <a:buFont typeface="Arial" pitchFamily="34" charset="0"/>
              <a:buChar char=" "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The action potential created will be of smaller amplitude than normal because of K+ channels still being open</a:t>
            </a:r>
          </a:p>
          <a:p>
            <a:pPr>
              <a:lnSpc>
                <a:spcPct val="85000"/>
              </a:lnSpc>
              <a:buFont typeface="Arial" pitchFamily="34" charset="0"/>
              <a:buChar char=" "/>
            </a:pPr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F0F46E1-9752-6FF4-30CA-26E9C372EC40}"/>
              </a:ext>
            </a:extLst>
          </p:cNvPr>
          <p:cNvCxnSpPr>
            <a:cxnSpLocks/>
          </p:cNvCxnSpPr>
          <p:nvPr/>
        </p:nvCxnSpPr>
        <p:spPr>
          <a:xfrm flipH="1" flipV="1">
            <a:off x="2750338" y="3527180"/>
            <a:ext cx="276947" cy="2458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91517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950FAA0-D41F-48DB-A462-0A15C21608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D22F12-AF62-EC7C-6B18-0A101F8B670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alphaModFix amt="25000"/>
          </a:blip>
          <a:srcRect t="13314" b="30436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629DDB2-A93F-C9D3-7C55-1151F303A8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770467"/>
            <a:ext cx="10782300" cy="33528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The Calcium Action Potential</a:t>
            </a:r>
          </a:p>
        </p:txBody>
      </p:sp>
    </p:spTree>
    <p:extLst>
      <p:ext uri="{BB962C8B-B14F-4D97-AF65-F5344CB8AC3E}">
        <p14:creationId xmlns:p14="http://schemas.microsoft.com/office/powerpoint/2010/main" val="41664230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AC172BD-EE9F-5314-E3B9-A4A3265BAC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400">
                <a:solidFill>
                  <a:schemeClr val="accent1"/>
                </a:solidFill>
              </a:rPr>
              <a:t>Cell types and function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E2C3A5F-6F91-864F-DD82-70FABA5A7F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76656" y="2011680"/>
            <a:ext cx="6875611" cy="3766185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85000"/>
              </a:lnSpc>
              <a:buFont typeface="Arial" pitchFamily="34" charset="0"/>
              <a:buChar char=" "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Endocrine cells for the secretion of hormones</a:t>
            </a:r>
          </a:p>
          <a:p>
            <a:pPr>
              <a:lnSpc>
                <a:spcPct val="85000"/>
              </a:lnSpc>
              <a:buFont typeface="Arial" pitchFamily="34" charset="0"/>
              <a:buChar char=" "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Neuronal cells for neurotransmitter release</a:t>
            </a:r>
          </a:p>
          <a:p>
            <a:pPr>
              <a:lnSpc>
                <a:spcPct val="85000"/>
              </a:lnSpc>
              <a:buFont typeface="Arial" pitchFamily="34" charset="0"/>
              <a:buChar char=" "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Visual transduction in rod photoreceptors</a:t>
            </a:r>
          </a:p>
          <a:p>
            <a:pPr>
              <a:lnSpc>
                <a:spcPct val="85000"/>
              </a:lnSpc>
              <a:buFont typeface="Arial" pitchFamily="34" charset="0"/>
              <a:buChar char=" "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Muscle Contraction (cardiac, skeletal, smooth)</a:t>
            </a:r>
          </a:p>
          <a:p>
            <a:pPr>
              <a:lnSpc>
                <a:spcPct val="85000"/>
              </a:lnSpc>
              <a:buFont typeface="Arial" pitchFamily="34" charset="0"/>
              <a:buChar char=" "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Cardiac pacemakers (autorhythmic cells)</a:t>
            </a:r>
          </a:p>
        </p:txBody>
      </p:sp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F78ABE07-2B8B-D521-0D54-472000D5877B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3"/>
          <a:srcRect t="3933" r="-2" b="-2"/>
          <a:stretch/>
        </p:blipFill>
        <p:spPr>
          <a:xfrm>
            <a:off x="6810782" y="1747377"/>
            <a:ext cx="4619217" cy="4695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02736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1">
            <a:extLst>
              <a:ext uri="{FF2B5EF4-FFF2-40B4-BE49-F238E27FC236}">
                <a16:creationId xmlns:a16="http://schemas.microsoft.com/office/drawing/2014/main" id="{B89B6DBE-5EB1-4977-8210-379351EE94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5992" y="0"/>
            <a:ext cx="4636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AC172BD-EE9F-5314-E3B9-A4A3265BAC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3212" y="499533"/>
            <a:ext cx="3401568" cy="192024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400" dirty="0"/>
              <a:t>Difference Between</a:t>
            </a:r>
            <a:br>
              <a:rPr lang="en-US" sz="3400" dirty="0"/>
            </a:br>
            <a:r>
              <a:rPr lang="en-US" sz="3400" dirty="0"/>
              <a:t>Na+ and Ca++</a:t>
            </a:r>
            <a:br>
              <a:rPr lang="en-US" sz="3400" dirty="0"/>
            </a:br>
            <a:r>
              <a:rPr lang="en-US" sz="3400" dirty="0"/>
              <a:t>Action Potentials</a:t>
            </a:r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1D997F83-5840-3ADD-E13C-BE8895751895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3"/>
          <a:srcRect t="-2" r="-86" b="3"/>
          <a:stretch/>
        </p:blipFill>
        <p:spPr>
          <a:xfrm>
            <a:off x="208408" y="1002685"/>
            <a:ext cx="7038974" cy="4852630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E2C3A5F-6F91-864F-DD82-70FABA5A7F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173212" y="2419773"/>
            <a:ext cx="3401568" cy="3358092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85000"/>
              </a:lnSpc>
              <a:buFont typeface="Arial" pitchFamily="34" charset="0"/>
              <a:buChar char=" "/>
            </a:pPr>
            <a:r>
              <a:rPr lang="en-US" sz="1500" dirty="0">
                <a:solidFill>
                  <a:srgbClr val="FFFFFF"/>
                </a:solidFill>
              </a:rPr>
              <a:t>L-type Ca++ channels take a long time to open and then stay open longer.</a:t>
            </a:r>
          </a:p>
          <a:p>
            <a:pPr>
              <a:lnSpc>
                <a:spcPct val="85000"/>
              </a:lnSpc>
              <a:buFont typeface="Arial" pitchFamily="34" charset="0"/>
              <a:buChar char=" "/>
            </a:pPr>
            <a:r>
              <a:rPr lang="en-US" sz="1500" dirty="0">
                <a:solidFill>
                  <a:srgbClr val="FFFFFF"/>
                </a:solidFill>
              </a:rPr>
              <a:t>Ca++ currents are slower and more prolonged than Na+ currents. </a:t>
            </a:r>
          </a:p>
          <a:p>
            <a:pPr>
              <a:lnSpc>
                <a:spcPct val="85000"/>
              </a:lnSpc>
              <a:buFont typeface="Arial" pitchFamily="34" charset="0"/>
              <a:buChar char=" "/>
            </a:pPr>
            <a:r>
              <a:rPr lang="en-US" sz="1500" dirty="0">
                <a:solidFill>
                  <a:srgbClr val="FFFFFF"/>
                </a:solidFill>
              </a:rPr>
              <a:t>A typical action potential in a neuron or skeletal muscle fiber lasts between 1 and 5 msec. In a contractile myocardial cell, the action potential typically lasts 200 msec or more.</a:t>
            </a:r>
          </a:p>
          <a:p>
            <a:pPr>
              <a:lnSpc>
                <a:spcPct val="85000"/>
              </a:lnSpc>
              <a:buFont typeface="Arial" pitchFamily="34" charset="0"/>
              <a:buChar char=" "/>
            </a:pPr>
            <a:r>
              <a:rPr lang="en-US" sz="1500" dirty="0">
                <a:solidFill>
                  <a:srgbClr val="FFFFFF"/>
                </a:solidFill>
              </a:rPr>
              <a:t>K+ is exiting during Ca++ entry. The action potential height is shorter.</a:t>
            </a:r>
          </a:p>
        </p:txBody>
      </p:sp>
    </p:spTree>
    <p:extLst>
      <p:ext uri="{BB962C8B-B14F-4D97-AF65-F5344CB8AC3E}">
        <p14:creationId xmlns:p14="http://schemas.microsoft.com/office/powerpoint/2010/main" val="4267928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936FD8C-AFAD-4D71-8838-D5AF061BEB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A2883BD-6C47-5283-1831-4C31CB15D8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0089" y="619431"/>
            <a:ext cx="6263149" cy="386920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7500" dirty="0">
                <a:solidFill>
                  <a:srgbClr val="FFFFFF"/>
                </a:solidFill>
              </a:rPr>
              <a:t>The Neuromuscular Junction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2149CBA-50B7-1B96-D1AC-6DCD0A47E6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999" y="1137984"/>
            <a:ext cx="4001315" cy="4572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37199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2">
            <a:extLst>
              <a:ext uri="{FF2B5EF4-FFF2-40B4-BE49-F238E27FC236}">
                <a16:creationId xmlns:a16="http://schemas.microsoft.com/office/drawing/2014/main" id="{B89B6DBE-5EB1-4977-8210-379351EE94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5992" y="0"/>
            <a:ext cx="4636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D4A7DA8-64DA-4074-F816-9AC548F900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3212" y="499533"/>
            <a:ext cx="3401568" cy="192024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/>
              <a:t>The NMJ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35422F8-3C9E-DCA0-ADE3-F595E9C49DE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74" t="-2896" r="-277" b="-8291"/>
          <a:stretch/>
        </p:blipFill>
        <p:spPr>
          <a:xfrm>
            <a:off x="924650" y="499533"/>
            <a:ext cx="5171350" cy="6283881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0A8778C-74D6-08F4-86DD-07E9B9F157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173212" y="2419773"/>
            <a:ext cx="3401568" cy="3358092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85000"/>
              </a:lnSpc>
              <a:buFont typeface="Arial" pitchFamily="34" charset="0"/>
              <a:buChar char=" "/>
            </a:pPr>
            <a:r>
              <a:rPr lang="en-US" dirty="0">
                <a:solidFill>
                  <a:srgbClr val="FFFFFF"/>
                </a:solidFill>
              </a:rPr>
              <a:t>A synaptic connection between the terminal end of a motor nerve and a muscle</a:t>
            </a:r>
          </a:p>
          <a:p>
            <a:pPr>
              <a:lnSpc>
                <a:spcPct val="85000"/>
              </a:lnSpc>
              <a:buFont typeface="Arial" pitchFamily="34" charset="0"/>
              <a:buChar char=" "/>
            </a:pPr>
            <a:r>
              <a:rPr lang="en-US" dirty="0">
                <a:solidFill>
                  <a:srgbClr val="FFFFFF"/>
                </a:solidFill>
              </a:rPr>
              <a:t>Acetylcholine is released from the synaptic terminal</a:t>
            </a:r>
          </a:p>
          <a:p>
            <a:pPr>
              <a:lnSpc>
                <a:spcPct val="85000"/>
              </a:lnSpc>
              <a:buFont typeface="Arial" pitchFamily="34" charset="0"/>
              <a:buChar char=" "/>
            </a:pPr>
            <a:r>
              <a:rPr lang="en-US" dirty="0">
                <a:solidFill>
                  <a:srgbClr val="FFFFFF"/>
                </a:solidFill>
              </a:rPr>
              <a:t>Binds to postsynaptic, nicotinic receptors, causing Na+ influx, K+ efflux of muscle fiber (Na+ influx greater, so depolarizes cell)</a:t>
            </a:r>
          </a:p>
          <a:p>
            <a:pPr>
              <a:lnSpc>
                <a:spcPct val="85000"/>
              </a:lnSpc>
              <a:buFont typeface="Arial" pitchFamily="34" charset="0"/>
              <a:buChar char=" "/>
            </a:pPr>
            <a:r>
              <a:rPr lang="en-US" dirty="0">
                <a:solidFill>
                  <a:srgbClr val="FFFFFF"/>
                </a:solidFill>
              </a:rPr>
              <a:t>Causes a postsynaptic “end plate current” to induce an “end plate potential” in the muscle fiber</a:t>
            </a:r>
          </a:p>
          <a:p>
            <a:pPr>
              <a:lnSpc>
                <a:spcPct val="85000"/>
              </a:lnSpc>
              <a:buFont typeface="Arial" pitchFamily="34" charset="0"/>
              <a:buChar char=" "/>
            </a:pPr>
            <a:r>
              <a:rPr lang="en-US" dirty="0">
                <a:solidFill>
                  <a:srgbClr val="FFFFFF"/>
                </a:solidFill>
              </a:rPr>
              <a:t>The end plate potential induces an action potential, which propagates along the muscle fiber</a:t>
            </a:r>
          </a:p>
        </p:txBody>
      </p:sp>
    </p:spTree>
    <p:extLst>
      <p:ext uri="{BB962C8B-B14F-4D97-AF65-F5344CB8AC3E}">
        <p14:creationId xmlns:p14="http://schemas.microsoft.com/office/powerpoint/2010/main" val="12197685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B89B6DBE-5EB1-4977-8210-379351EE94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5992" y="0"/>
            <a:ext cx="4636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1D5ABE-FFD5-1038-70FB-5B4307630E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3212" y="499533"/>
            <a:ext cx="3401568" cy="192024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/>
              <a:t>The NMJ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7E369158-EF7E-68D2-793E-46B86C37F1E8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2"/>
          <a:srcRect l="5510" r="5544" b="2"/>
          <a:stretch/>
        </p:blipFill>
        <p:spPr>
          <a:xfrm>
            <a:off x="633999" y="640080"/>
            <a:ext cx="6278529" cy="5588101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7A9DD2-1EFE-9A55-46E5-BD88CC726C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173212" y="2419773"/>
            <a:ext cx="3401568" cy="3358092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85000"/>
              </a:lnSpc>
              <a:buFont typeface="Arial" pitchFamily="34" charset="0"/>
              <a:buChar char=" "/>
            </a:pPr>
            <a:r>
              <a:rPr lang="en-US" sz="1800" dirty="0">
                <a:solidFill>
                  <a:srgbClr val="FFFFFF"/>
                </a:solidFill>
              </a:rPr>
              <a:t>The end plate potential in the muscle cell is equivalent to the graded potentials in neurons</a:t>
            </a:r>
          </a:p>
          <a:p>
            <a:pPr>
              <a:lnSpc>
                <a:spcPct val="85000"/>
              </a:lnSpc>
              <a:buFont typeface="Arial" pitchFamily="34" charset="0"/>
              <a:buChar char=" "/>
            </a:pPr>
            <a:r>
              <a:rPr lang="en-US" sz="1800" dirty="0">
                <a:solidFill>
                  <a:srgbClr val="FFFFFF"/>
                </a:solidFill>
              </a:rPr>
              <a:t>The action potential then propagates along the muscle fiber</a:t>
            </a:r>
          </a:p>
        </p:txBody>
      </p:sp>
    </p:spTree>
    <p:extLst>
      <p:ext uri="{BB962C8B-B14F-4D97-AF65-F5344CB8AC3E}">
        <p14:creationId xmlns:p14="http://schemas.microsoft.com/office/powerpoint/2010/main" val="7076632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3272506-0202-E32A-7A95-045A9618E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Interactions of Synaptic Potentials</a:t>
            </a:r>
          </a:p>
        </p:txBody>
      </p:sp>
    </p:spTree>
    <p:extLst>
      <p:ext uri="{BB962C8B-B14F-4D97-AF65-F5344CB8AC3E}">
        <p14:creationId xmlns:p14="http://schemas.microsoft.com/office/powerpoint/2010/main" val="34850036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B89B6DBE-5EB1-4977-8210-379351EE94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5992" y="0"/>
            <a:ext cx="4636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D29A3F6-F612-7EB0-37A0-359D479AC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3212" y="499533"/>
            <a:ext cx="3401568" cy="192024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/>
              <a:t>Post Synaptic Potentials</a:t>
            </a:r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B515BFC8-21A5-3767-E35D-E2EA422CE3B8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2"/>
          <a:srcRect l="5760" r="5760"/>
          <a:stretch/>
        </p:blipFill>
        <p:spPr>
          <a:xfrm>
            <a:off x="633999" y="640080"/>
            <a:ext cx="6278529" cy="5588101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7A28BB4-ABFC-0F83-635D-8FECEA6D4D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173212" y="2419773"/>
            <a:ext cx="3401568" cy="3358092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85000"/>
              </a:lnSpc>
              <a:buFont typeface="Arial" pitchFamily="34" charset="0"/>
              <a:buChar char=" "/>
            </a:pPr>
            <a:r>
              <a:rPr lang="en-US" sz="1800" b="1">
                <a:solidFill>
                  <a:srgbClr val="FFFFFF"/>
                </a:solidFill>
              </a:rPr>
              <a:t>Excitatory Post Synaptic Potentials </a:t>
            </a:r>
            <a:r>
              <a:rPr lang="en-US" sz="1800">
                <a:solidFill>
                  <a:srgbClr val="FFFFFF"/>
                </a:solidFill>
              </a:rPr>
              <a:t>(EPSP) – is a postsynaptic potential that makes the postsynaptic neuron MORE likely to fire an action potential.</a:t>
            </a:r>
          </a:p>
          <a:p>
            <a:pPr>
              <a:lnSpc>
                <a:spcPct val="85000"/>
              </a:lnSpc>
              <a:buFont typeface="Arial" pitchFamily="34" charset="0"/>
              <a:buChar char=" "/>
            </a:pPr>
            <a:r>
              <a:rPr lang="en-US" sz="1800">
                <a:solidFill>
                  <a:srgbClr val="FFFFFF"/>
                </a:solidFill>
              </a:rPr>
              <a:t>EPSPs in the CNS are primarily due to glutamate or acetylcholine</a:t>
            </a:r>
          </a:p>
          <a:p>
            <a:pPr>
              <a:lnSpc>
                <a:spcPct val="85000"/>
              </a:lnSpc>
              <a:buFont typeface="Arial" pitchFamily="34" charset="0"/>
              <a:buChar char=" "/>
            </a:pPr>
            <a:r>
              <a:rPr lang="en-US" sz="1800">
                <a:solidFill>
                  <a:srgbClr val="FFFFFF"/>
                </a:solidFill>
              </a:rPr>
              <a:t>Can involve Na+, K+, and Ca+</a:t>
            </a:r>
          </a:p>
          <a:p>
            <a:pPr>
              <a:lnSpc>
                <a:spcPct val="85000"/>
              </a:lnSpc>
              <a:buFont typeface="Arial" pitchFamily="34" charset="0"/>
              <a:buChar char=" "/>
            </a:pPr>
            <a:r>
              <a:rPr lang="en-US" sz="1800">
                <a:solidFill>
                  <a:srgbClr val="FFFFFF"/>
                </a:solidFill>
              </a:rPr>
              <a:t>EPSPs are graded (i.e., they have an additive effect)</a:t>
            </a:r>
            <a:endParaRPr lang="en-US" sz="18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87615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B89B6DBE-5EB1-4977-8210-379351EE94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5992" y="0"/>
            <a:ext cx="4636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D29A3F6-F612-7EB0-37A0-359D479AC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3212" y="499533"/>
            <a:ext cx="3401568" cy="192024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/>
              <a:t>Post Synaptic Potentials</a:t>
            </a:r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B515BFC8-21A5-3767-E35D-E2EA422CE3B8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2"/>
          <a:srcRect l="5760" r="5760"/>
          <a:stretch/>
        </p:blipFill>
        <p:spPr>
          <a:xfrm>
            <a:off x="633999" y="640080"/>
            <a:ext cx="6278529" cy="5588101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7A28BB4-ABFC-0F83-635D-8FECEA6D4D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173212" y="2419773"/>
            <a:ext cx="3401568" cy="3358092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85000"/>
              </a:lnSpc>
              <a:buFont typeface="Arial" pitchFamily="34" charset="0"/>
              <a:buChar char=" "/>
            </a:pPr>
            <a:r>
              <a:rPr lang="en-US" sz="1800" b="1" dirty="0">
                <a:solidFill>
                  <a:srgbClr val="FFFFFF"/>
                </a:solidFill>
              </a:rPr>
              <a:t>Inhibitory postsynaptic potential </a:t>
            </a:r>
            <a:r>
              <a:rPr lang="en-US" sz="1800" dirty="0">
                <a:solidFill>
                  <a:srgbClr val="FFFFFF"/>
                </a:solidFill>
              </a:rPr>
              <a:t>(IPSP) is a kind of synaptic potential that makes a postsynaptic neuron LESS likely to generate an action potential.</a:t>
            </a:r>
          </a:p>
          <a:p>
            <a:pPr>
              <a:lnSpc>
                <a:spcPct val="85000"/>
              </a:lnSpc>
              <a:buFont typeface="Arial" pitchFamily="34" charset="0"/>
              <a:buChar char=" "/>
            </a:pPr>
            <a:r>
              <a:rPr lang="en-US" sz="1800" dirty="0">
                <a:solidFill>
                  <a:srgbClr val="FFFFFF"/>
                </a:solidFill>
              </a:rPr>
              <a:t>In the CNS are primarily due to GABA</a:t>
            </a:r>
          </a:p>
          <a:p>
            <a:pPr>
              <a:lnSpc>
                <a:spcPct val="85000"/>
              </a:lnSpc>
              <a:buFont typeface="Arial" pitchFamily="34" charset="0"/>
              <a:buChar char=" "/>
            </a:pPr>
            <a:r>
              <a:rPr lang="en-US" sz="1800" dirty="0">
                <a:solidFill>
                  <a:srgbClr val="FFFFFF"/>
                </a:solidFill>
              </a:rPr>
              <a:t>Can involve Na+, K+, and Cl-</a:t>
            </a:r>
          </a:p>
          <a:p>
            <a:pPr>
              <a:lnSpc>
                <a:spcPct val="85000"/>
              </a:lnSpc>
              <a:buFont typeface="Arial" pitchFamily="34" charset="0"/>
              <a:buChar char=" "/>
            </a:pPr>
            <a:r>
              <a:rPr lang="en-US" sz="1800" dirty="0">
                <a:solidFill>
                  <a:srgbClr val="FFFFFF"/>
                </a:solidFill>
              </a:rPr>
              <a:t>IPSPs are graded (i.e., they have an additive effect)</a:t>
            </a:r>
          </a:p>
        </p:txBody>
      </p:sp>
    </p:spTree>
    <p:extLst>
      <p:ext uri="{BB962C8B-B14F-4D97-AF65-F5344CB8AC3E}">
        <p14:creationId xmlns:p14="http://schemas.microsoft.com/office/powerpoint/2010/main" val="10422141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8FE7B-4195-9D74-7138-7A11C5CC5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36310" y="499533"/>
            <a:ext cx="3706761" cy="165819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400">
                <a:solidFill>
                  <a:schemeClr val="accent1"/>
                </a:solidFill>
              </a:rPr>
              <a:t>Integration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FB03C75-F7BA-E677-4B8A-AE38889936A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210" r="2486"/>
          <a:stretch/>
        </p:blipFill>
        <p:spPr>
          <a:xfrm>
            <a:off x="633999" y="1428397"/>
            <a:ext cx="6912217" cy="4011466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663B01-4BBD-7EDC-22CF-DE8F9B2768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836310" y="2011680"/>
            <a:ext cx="3706761" cy="3864732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85000"/>
              </a:lnSpc>
              <a:buFont typeface="Arial" pitchFamily="34" charset="0"/>
              <a:buChar char=" "/>
            </a:pPr>
            <a:r>
              <a:rPr lang="en-US" sz="2000">
                <a:solidFill>
                  <a:schemeClr val="tx1">
                    <a:lumMod val="85000"/>
                    <a:lumOff val="15000"/>
                  </a:schemeClr>
                </a:solidFill>
              </a:rPr>
              <a:t>When multiple EPSPs occur close in time and space their combined effect is the sum of the individual EPSPs</a:t>
            </a:r>
          </a:p>
          <a:p>
            <a:pPr>
              <a:lnSpc>
                <a:spcPct val="85000"/>
              </a:lnSpc>
              <a:buFont typeface="Arial" pitchFamily="34" charset="0"/>
              <a:buChar char=" "/>
            </a:pPr>
            <a:r>
              <a:rPr lang="en-US" sz="2000">
                <a:solidFill>
                  <a:schemeClr val="tx1">
                    <a:lumMod val="85000"/>
                    <a:lumOff val="15000"/>
                  </a:schemeClr>
                </a:solidFill>
              </a:rPr>
              <a:t>EPSPs and IPSPs compete with each other at numerous synapses of a neuron</a:t>
            </a:r>
          </a:p>
          <a:p>
            <a:pPr>
              <a:lnSpc>
                <a:spcPct val="85000"/>
              </a:lnSpc>
              <a:buFont typeface="Arial" pitchFamily="34" charset="0"/>
              <a:buChar char=" "/>
            </a:pPr>
            <a:r>
              <a:rPr lang="en-US" sz="2000">
                <a:solidFill>
                  <a:schemeClr val="tx1">
                    <a:lumMod val="85000"/>
                    <a:lumOff val="15000"/>
                  </a:schemeClr>
                </a:solidFill>
              </a:rPr>
              <a:t>This determines whether or not the action potential is generated at the postsynaptic membrane</a:t>
            </a:r>
          </a:p>
        </p:txBody>
      </p:sp>
    </p:spTree>
    <p:extLst>
      <p:ext uri="{BB962C8B-B14F-4D97-AF65-F5344CB8AC3E}">
        <p14:creationId xmlns:p14="http://schemas.microsoft.com/office/powerpoint/2010/main" val="1151358515"/>
      </p:ext>
    </p:extLst>
  </p:cSld>
  <p:clrMapOvr>
    <a:masterClrMapping/>
  </p:clrMapOvr>
</p:sld>
</file>

<file path=ppt/theme/theme1.xml><?xml version="1.0" encoding="utf-8"?>
<a:theme xmlns:a="http://schemas.openxmlformats.org/drawingml/2006/main" name="Metropolitan">
  <a:themeElements>
    <a:clrScheme name="Metropolitan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F03B5E"/>
      </a:accent1>
      <a:accent2>
        <a:srgbClr val="DC6FEC"/>
      </a:accent2>
      <a:accent3>
        <a:srgbClr val="60B1F2"/>
      </a:accent3>
      <a:accent4>
        <a:srgbClr val="6AD5BB"/>
      </a:accent4>
      <a:accent5>
        <a:srgbClr val="E8AB4E"/>
      </a:accent5>
      <a:accent6>
        <a:srgbClr val="F56447"/>
      </a:accent6>
      <a:hlink>
        <a:srgbClr val="8F8F8F"/>
      </a:hlink>
      <a:folHlink>
        <a:srgbClr val="A5A5A5"/>
      </a:folHlink>
    </a:clrScheme>
    <a:fontScheme name="Metropolita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33ACF124-275F-44F2-8DE0-0A755069829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TM03457491[[fn=Metropolitan]]</Template>
  <TotalTime>42524</TotalTime>
  <Words>756</Words>
  <Application>Microsoft Office PowerPoint</Application>
  <PresentationFormat>Widescreen</PresentationFormat>
  <Paragraphs>71</Paragraphs>
  <Slides>16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Metropolitan</vt:lpstr>
      <vt:lpstr>Lab 4</vt:lpstr>
      <vt:lpstr>Today’s Topics</vt:lpstr>
      <vt:lpstr>Why is flow down an axon unidirectional?</vt:lpstr>
      <vt:lpstr>The Refractory Period</vt:lpstr>
      <vt:lpstr>PowerPoint Presentation</vt:lpstr>
      <vt:lpstr>The Relative Refractory Period</vt:lpstr>
      <vt:lpstr>The Calcium Action Potential</vt:lpstr>
      <vt:lpstr>Cell types and function</vt:lpstr>
      <vt:lpstr>Difference Between Na+ and Ca++ Action Potentials</vt:lpstr>
      <vt:lpstr>The Neuromuscular Junction</vt:lpstr>
      <vt:lpstr>The NMJ</vt:lpstr>
      <vt:lpstr>The NMJ</vt:lpstr>
      <vt:lpstr>Interactions of Synaptic Potentials</vt:lpstr>
      <vt:lpstr>Post Synaptic Potentials</vt:lpstr>
      <vt:lpstr>Post Synaptic Potentials</vt:lpstr>
      <vt:lpstr>Integration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Assignment 4</dc:title>
  <dc:creator>Narvaiz, David</dc:creator>
  <cp:lastModifiedBy>Dejeux, Mariana</cp:lastModifiedBy>
  <cp:revision>17</cp:revision>
  <dcterms:created xsi:type="dcterms:W3CDTF">2022-09-19T14:46:07Z</dcterms:created>
  <dcterms:modified xsi:type="dcterms:W3CDTF">2025-02-20T17:19:13Z</dcterms:modified>
</cp:coreProperties>
</file>